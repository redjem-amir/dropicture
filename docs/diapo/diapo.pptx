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5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313" r:id="rId10"/>
    <p:sldId id="314" r:id="rId11"/>
    <p:sldId id="315" r:id="rId12"/>
    <p:sldId id="316" r:id="rId13"/>
    <p:sldId id="317" r:id="rId14"/>
    <p:sldId id="318" r:id="rId15"/>
    <p:sldId id="319" r:id="rId16"/>
    <p:sldId id="320" r:id="rId17"/>
    <p:sldId id="321" r:id="rId18"/>
    <p:sldId id="322" r:id="rId19"/>
    <p:sldId id="323" r:id="rId20"/>
    <p:sldId id="324" r:id="rId21"/>
    <p:sldId id="325" r:id="rId22"/>
    <p:sldId id="326" r:id="rId23"/>
    <p:sldId id="327" r:id="rId24"/>
    <p:sldId id="328" r:id="rId25"/>
    <p:sldId id="329" r:id="rId26"/>
    <p:sldId id="330" r:id="rId27"/>
    <p:sldId id="331" r:id="rId28"/>
    <p:sldId id="332" r:id="rId29"/>
    <p:sldId id="333" r:id="rId30"/>
    <p:sldId id="334" r:id="rId31"/>
    <p:sldId id="335" r:id="rId32"/>
    <p:sldId id="336" r:id="rId33"/>
    <p:sldId id="337" r:id="rId34"/>
    <p:sldId id="338" r:id="rId35"/>
    <p:sldId id="339" r:id="rId36"/>
    <p:sldId id="340" r:id="rId37"/>
    <p:sldId id="341" r:id="rId38"/>
    <p:sldId id="342" r:id="rId39"/>
    <p:sldId id="343" r:id="rId40"/>
    <p:sldId id="344" r:id="rId41"/>
    <p:sldId id="345" r:id="rId42"/>
    <p:sldId id="346" r:id="rId43"/>
    <p:sldId id="347" r:id="rId44"/>
    <p:sldId id="348" r:id="rId45"/>
    <p:sldId id="312" r:id="rId5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523"/>
    <p:restoredTop sz="94610"/>
  </p:normalViewPr>
  <p:slideViewPr>
    <p:cSldViewPr snapToGrid="0" snapToObjects="1">
      <p:cViewPr varScale="1">
        <p:scale>
          <a:sx n="126" d="100"/>
          <a:sy n="126" d="100"/>
        </p:scale>
        <p:origin x="232" y="4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58" Type="http://schemas.openxmlformats.org/officeDocument/2006/relationships/slide" Target="slides/slide39.xml"/><Relationship Id="rId64" Type="http://schemas.openxmlformats.org/officeDocument/2006/relationships/notesMaster" Target="notesMasters/notesMaster1.xml"/><Relationship Id="rId65" Type="http://schemas.openxmlformats.org/officeDocument/2006/relationships/presProps" Target="presProps.xml"/><Relationship Id="rId66" Type="http://schemas.openxmlformats.org/officeDocument/2006/relationships/viewProps" Target="viewProps.xml"/><Relationship Id="rId67" Type="http://schemas.openxmlformats.org/officeDocument/2006/relationships/theme" Target="theme/theme1.xml"/><Relationship Id="rId6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078439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Bonjour, je suis Amir REDJEM, candidat au titre Expert en Informatique et Systèmes d'Information, option DevOps. Je vais vous présenter mon projet dropicture et la problématique qui structure l'ensemble de mon mémoire.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plan suit le modèle de présentation attendu par le jury ESI, en huit sections.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 remercie le jury de son écoute et propose de passer à la seconde partie de l'examen.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7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8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9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0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3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4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5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6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868680" y="68580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Titre RNCP N° 40573, Niveau 7 (Bac+5) | Expert en Informatique et Systèmes d'Information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68680" y="1325880"/>
            <a:ext cx="105156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4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Comment concevoir et déployer une infrastructure DevOps</a:t>
            </a:r>
            <a:endParaRPr lang="en-US" sz="2700" dirty="0"/>
          </a:p>
          <a:p>
            <a:pPr marL="0" indent="0">
              <a:lnSpc>
                <a:spcPts val="4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entièrement automatisée, sécurisée et écoresponsable,</a:t>
            </a:r>
            <a:endParaRPr lang="en-US" sz="2700" dirty="0"/>
          </a:p>
          <a:p>
            <a:pPr marL="0" indent="0">
              <a:lnSpc>
                <a:spcPts val="4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permettant la livraison continue d'une plateforme SaaS</a:t>
            </a:r>
            <a:endParaRPr lang="en-US" sz="2700" dirty="0"/>
          </a:p>
          <a:p>
            <a:pPr marL="0" indent="0">
              <a:lnSpc>
                <a:spcPts val="4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partage de médias tout en garantissant la qualité,</a:t>
            </a:r>
            <a:endParaRPr lang="en-US" sz="2700" dirty="0"/>
          </a:p>
          <a:p>
            <a:pPr marL="0" indent="0">
              <a:lnSpc>
                <a:spcPts val="4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l'observabilité et la maîtrise des coûts ?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868680" y="422452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E08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DevOps, plateforme dropicture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68680" y="4773168"/>
            <a:ext cx="4206240" cy="18288"/>
          </a:xfrm>
          <a:prstGeom prst="rect">
            <a:avLst/>
          </a:prstGeom>
          <a:solidFill>
            <a:srgbClr val="2C3E5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868680" y="495604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Amir REDJEM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68680" y="5321808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50" dirty="0">
                <a:solidFill>
                  <a:srgbClr val="8FA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Promotion 2024 / 2026, École LaPlateforme, Marseille</a:t>
            </a:r>
            <a:endParaRPr lang="en-US" sz="115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150" dirty="0">
                <a:solidFill>
                  <a:srgbClr val="8FA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Référent formation, Joris VERGULDEZOONE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766560" y="495604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Entreprise d'accueil, FDJ United, Vitrolles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766560" y="5321808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50" dirty="0">
                <a:solidFill>
                  <a:srgbClr val="8FA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Référent entreprise, Philippe AMERIO</a:t>
            </a:r>
            <a:endParaRPr lang="en-US" sz="115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150" dirty="0">
                <a:solidFill>
                  <a:srgbClr val="8FA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Soutenance du 03/08/2026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6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DÉROULÉ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226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Sommaire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638251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dropicture, Soutenance ESI, RNCP 40573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064240" y="6382512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627632"/>
            <a:ext cx="457200" cy="457200"/>
          </a:xfrm>
          <a:prstGeom prst="ellipse">
            <a:avLst/>
          </a:prstGeom>
          <a:solidFill>
            <a:srgbClr val="EEF3F7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548640" y="16276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207008" y="1572768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2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Présentation personnelle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1207008" y="192024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A5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Parcours et objectifs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2761488"/>
            <a:ext cx="457200" cy="457200"/>
          </a:xfrm>
          <a:prstGeom prst="ellipse">
            <a:avLst/>
          </a:prstGeom>
          <a:solidFill>
            <a:srgbClr val="EEF3F7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548640" y="2761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207008" y="2706624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2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Présentation de la problématique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1207008" y="3054096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A5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Contexte, enjeux, méthodologie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3895344"/>
            <a:ext cx="457200" cy="457200"/>
          </a:xfrm>
          <a:prstGeom prst="ellipse">
            <a:avLst/>
          </a:prstGeom>
          <a:solidFill>
            <a:srgbClr val="EEF3F7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548640" y="38953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207008" y="3840480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2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du SI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1207008" y="418795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A5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Cartographie, risques, conformité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5029200"/>
            <a:ext cx="457200" cy="457200"/>
          </a:xfrm>
          <a:prstGeom prst="ellipse">
            <a:avLst/>
          </a:prstGeom>
          <a:solidFill>
            <a:srgbClr val="EEF3F7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9" name="Text 17"/>
          <p:cNvSpPr/>
          <p:nvPr/>
        </p:nvSpPr>
        <p:spPr>
          <a:xfrm>
            <a:off x="548640" y="5029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207008" y="4974336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2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Besoins fonctionnels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1207008" y="532180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A5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Périmètre, priorisation, validation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309360" y="1627632"/>
            <a:ext cx="457200" cy="457200"/>
          </a:xfrm>
          <a:prstGeom prst="ellipse">
            <a:avLst/>
          </a:prstGeom>
          <a:solidFill>
            <a:srgbClr val="EEF3F7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3" name="Text 21"/>
          <p:cNvSpPr/>
          <p:nvPr/>
        </p:nvSpPr>
        <p:spPr>
          <a:xfrm>
            <a:off x="6309360" y="16276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967728" y="1572768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2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Implémentations techniques</a:t>
            </a:r>
            <a:endParaRPr lang="en-US" sz="1550" dirty="0"/>
          </a:p>
        </p:txBody>
      </p:sp>
      <p:sp>
        <p:nvSpPr>
          <p:cNvPr id="25" name="Text 23"/>
          <p:cNvSpPr/>
          <p:nvPr/>
        </p:nvSpPr>
        <p:spPr>
          <a:xfrm>
            <a:off x="6967728" y="192024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A5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Infrastructure, CI/CD, observabilité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309360" y="2761488"/>
            <a:ext cx="457200" cy="457200"/>
          </a:xfrm>
          <a:prstGeom prst="ellipse">
            <a:avLst/>
          </a:prstGeom>
          <a:solidFill>
            <a:srgbClr val="EEF3F7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7" name="Text 25"/>
          <p:cNvSpPr/>
          <p:nvPr/>
        </p:nvSpPr>
        <p:spPr>
          <a:xfrm>
            <a:off x="6309360" y="2761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967728" y="2706624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2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du projet et management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6967728" y="3054096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A5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Planning, risques, parties prenantes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309360" y="3895344"/>
            <a:ext cx="457200" cy="457200"/>
          </a:xfrm>
          <a:prstGeom prst="ellipse">
            <a:avLst/>
          </a:prstGeom>
          <a:solidFill>
            <a:srgbClr val="EEF3F7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1" name="Text 29"/>
          <p:cNvSpPr/>
          <p:nvPr/>
        </p:nvSpPr>
        <p:spPr>
          <a:xfrm>
            <a:off x="6309360" y="38953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967728" y="3840480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2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Analyses et perspectives</a:t>
            </a:r>
            <a:endParaRPr lang="en-US" sz="1550" dirty="0"/>
          </a:p>
        </p:txBody>
      </p:sp>
      <p:sp>
        <p:nvSpPr>
          <p:cNvPr id="33" name="Text 31"/>
          <p:cNvSpPr/>
          <p:nvPr/>
        </p:nvSpPr>
        <p:spPr>
          <a:xfrm>
            <a:off x="6967728" y="418795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A5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Résultats, REX, amélioration continue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309360" y="5029200"/>
            <a:ext cx="457200" cy="457200"/>
          </a:xfrm>
          <a:prstGeom prst="ellipse">
            <a:avLst/>
          </a:prstGeom>
          <a:solidFill>
            <a:srgbClr val="EEF3F7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5" name="Text 33"/>
          <p:cNvSpPr/>
          <p:nvPr/>
        </p:nvSpPr>
        <p:spPr>
          <a:xfrm>
            <a:off x="6309360" y="5029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6967728" y="4974336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2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et remerciements</a:t>
            </a:r>
            <a:endParaRPr lang="en-US" sz="1550" dirty="0"/>
          </a:p>
        </p:txBody>
      </p:sp>
      <p:sp>
        <p:nvSpPr>
          <p:cNvPr id="37" name="Text 35"/>
          <p:cNvSpPr/>
          <p:nvPr/>
        </p:nvSpPr>
        <p:spPr>
          <a:xfrm>
            <a:off x="6967728" y="532180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A5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Synthèse et échanges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ropicture-parcours-dia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ropicture-contexte-dia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ropicture-objectifs-dia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ropicture-problematique-dia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ropicture-veille-dia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ropicture-adr-dia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ropicture-hypotheses-dia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ropicture-cartographie-dia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ropicture-classes-dia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ropicture-mcd-dia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ropicture-mld-dia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ropicture-risques-dia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ropicture-swarm-dia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ropicture-sequence-upload-dia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ropicture-sequence-publication-dia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ropicture-sequence-session-dia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ropicture-securite-dia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ropicture-cas-usage-dia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ropicture-api-dia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ropicture-priorisation-dia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ropicture-exigences-secu-dia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ropicture-validation-dia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ropicture-topologie-dia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ropicture-stack-dia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ropicture-cicd-dia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ropicture-observabilite-dia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ropicture-sauvegarde-dia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ropicture-wbs-dia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ropicture-pert-dia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ropicture-planning-dia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ropicture-kpi-dia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ropicture-raci-dia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ropicture-resultats-dia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ropicture-rex-dia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ropicture-roadmap-dia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ropicture-conclusion-dia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0B17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868680" y="77724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6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8.2 REMERCIEMENTS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68680" y="114300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Merci de votre écoute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868680" y="2148840"/>
            <a:ext cx="5029200" cy="1188720"/>
          </a:xfrm>
          <a:prstGeom prst="roundRect">
            <a:avLst>
              <a:gd name="adj" fmla="val 4615"/>
            </a:avLst>
          </a:prstGeom>
          <a:solidFill>
            <a:srgbClr val="162A44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1124712" y="2295144"/>
            <a:ext cx="4517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École LaPlateforme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124712" y="2606040"/>
            <a:ext cx="45171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C4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l'équipe pédagogique, pour la qualité de l'encadrement dispensé tout au long du parcours.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263640" y="2148840"/>
            <a:ext cx="5029200" cy="1188720"/>
          </a:xfrm>
          <a:prstGeom prst="roundRect">
            <a:avLst>
              <a:gd name="adj" fmla="val 4615"/>
            </a:avLst>
          </a:prstGeom>
          <a:solidFill>
            <a:srgbClr val="162A44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6519672" y="2295144"/>
            <a:ext cx="4517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Joris VERGULDEZOONE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519672" y="2606040"/>
            <a:ext cx="45171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C4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Référent de formation, pour son accompagnement dans la définition de la problématique et la structuration du dossier.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868680" y="3520440"/>
            <a:ext cx="5029200" cy="1188720"/>
          </a:xfrm>
          <a:prstGeom prst="roundRect">
            <a:avLst>
              <a:gd name="adj" fmla="val 4615"/>
            </a:avLst>
          </a:prstGeom>
          <a:solidFill>
            <a:srgbClr val="162A44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1124712" y="3666744"/>
            <a:ext cx="4517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FDJ United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24712" y="3977640"/>
            <a:ext cx="45171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C4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d'accueil en alternance, pour l'environnement d'apprentissage offert.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63640" y="3520440"/>
            <a:ext cx="5029200" cy="1188720"/>
          </a:xfrm>
          <a:prstGeom prst="roundRect">
            <a:avLst>
              <a:gd name="adj" fmla="val 4615"/>
            </a:avLst>
          </a:prstGeom>
          <a:solidFill>
            <a:srgbClr val="162A44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6519672" y="3666744"/>
            <a:ext cx="4517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Philippe AMERIO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519672" y="3977640"/>
            <a:ext cx="45171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C4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Référent en entreprise, dont l'expérience opérationnelle en ingénierie DevOps a nourri la réflexion menée dans ce projet.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68680" y="5120640"/>
            <a:ext cx="10469880" cy="868680"/>
          </a:xfrm>
          <a:prstGeom prst="roundRect">
            <a:avLst>
              <a:gd name="adj" fmla="val 6316"/>
            </a:avLst>
          </a:prstGeom>
          <a:solidFill>
            <a:srgbClr val="00A896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868680" y="5120640"/>
            <a:ext cx="10469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B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vous propose de passer à la seconde partie de l'examen, je reste à votre disposition pour vos questions.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1064240" y="6382512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12075</Words>
  <Application>Microsoft Macintosh PowerPoint</Application>
  <PresentationFormat>Grand écran</PresentationFormat>
  <Paragraphs>1407</Paragraphs>
  <Slides>62</Slides>
  <Notes>62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62</vt:i4>
      </vt:variant>
    </vt:vector>
  </HeadingPairs>
  <TitlesOfParts>
    <vt:vector size="67" baseType="lpstr">
      <vt:lpstr>Arial</vt:lpstr>
      <vt:lpstr>Calibri</vt:lpstr>
      <vt:lpstr>Cambria</vt:lpstr>
      <vt:lpstr>Courier New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Soutenance ESI - dropicture</dc:title>
  <dc:subject>PptxGenJS Presentation</dc:subject>
  <dc:creator>Amir REDJEM</dc:creator>
  <cp:lastModifiedBy>Amir REDJEM</cp:lastModifiedBy>
  <cp:revision>2</cp:revision>
  <dcterms:created xsi:type="dcterms:W3CDTF">2026-07-20T20:56:11Z</dcterms:created>
  <dcterms:modified xsi:type="dcterms:W3CDTF">2026-07-20T21:08:00Z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33661bcb-cfa9-4fb2-a5e5-a05e20e0e81b_Enabled">
    <vt:lpwstr>true</vt:lpwstr>
  </property>
  <property fmtid="{D5CDD505-2E9C-101B-9397-08002B2CF9AE}" pid="3" name="MSIP_Label_33661bcb-cfa9-4fb2-a5e5-a05e20e0e81b_SetDate">
    <vt:lpwstr>2026-07-20T21:04:06Z</vt:lpwstr>
  </property>
  <property fmtid="{D5CDD505-2E9C-101B-9397-08002B2CF9AE}" pid="4" name="MSIP_Label_33661bcb-cfa9-4fb2-a5e5-a05e20e0e81b_Method">
    <vt:lpwstr>Privileged</vt:lpwstr>
  </property>
  <property fmtid="{D5CDD505-2E9C-101B-9397-08002B2CF9AE}" pid="5" name="MSIP_Label_33661bcb-cfa9-4fb2-a5e5-a05e20e0e81b_Name">
    <vt:lpwstr>PRIVÉ</vt:lpwstr>
  </property>
  <property fmtid="{D5CDD505-2E9C-101B-9397-08002B2CF9AE}" pid="6" name="MSIP_Label_33661bcb-cfa9-4fb2-a5e5-a05e20e0e81b_SiteId">
    <vt:lpwstr>b1a7639e-6f68-471f-a534-787509510be4</vt:lpwstr>
  </property>
  <property fmtid="{D5CDD505-2E9C-101B-9397-08002B2CF9AE}" pid="7" name="MSIP_Label_33661bcb-cfa9-4fb2-a5e5-a05e20e0e81b_ActionId">
    <vt:lpwstr>ab60c290-8364-46c7-95c0-0ed7a6d248ed</vt:lpwstr>
  </property>
  <property fmtid="{D5CDD505-2E9C-101B-9397-08002B2CF9AE}" pid="8" name="MSIP_Label_33661bcb-cfa9-4fb2-a5e5-a05e20e0e81b_ContentBits">
    <vt:lpwstr>0</vt:lpwstr>
  </property>
  <property fmtid="{D5CDD505-2E9C-101B-9397-08002B2CF9AE}" pid="9" name="MSIP_Label_33661bcb-cfa9-4fb2-a5e5-a05e20e0e81b_Tag">
    <vt:lpwstr>50, 0, 1, 1</vt:lpwstr>
  </property>
</Properties>
</file>