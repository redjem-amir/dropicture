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26" d="100"/>
          <a:sy n="126" d="100"/>
        </p:scale>
        <p:origin x="232"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843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suis Amir REDJEM, candidat au titre Expert en Informatique et Systèmes d'Information, option DevOps. Je vais vous présenter mon projet dropicture et la problématique qui structure l'ensemble de mon mémoire.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suit le modèle de présentation attendu par le jury ESI, en huit sections.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me présente rapidement : 24 ans, licence informatique à Aix-Marseille puis le cycle ESI à LaPlateforme. Aujourd'hui ingénieur DevOps en alternance chez FDJ United, un contexte de production à fort trafic qui a directement nourri ce projet.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parcours progresse du développement applicatif vers l'ingénierie des systèmes : quatre années d'expérience cumulées. L'alternance chez FDJ United est déterminante, puisque les technologies que j'y opère au quotidien sont celles que j'ai mobilisées et argumentées dans ce mémoire.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 le marché du partage de médias est dominé par des acteurs où la confidentialité n'est pas la priorité. dropicture prend le contre-pied. Mais derrière la promesse produit se trouve un enjeu d'ingénierie : bâtir la chaîne industrielle capable de produire, livrer et exploiter ce service de façon fiable, sécurisée et sobre.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articule six exigences qu'il faut traiter conjointement — c'est là que réside la valeur de la démarche, car des solutions éprouvées existent pour chacune prise isolément. J'en ai dérivé cinq objectifs opérationnels qui servent à la fois de fil conducteur et de grille d'évaluation.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questions de recherche déclinent la problématique générale. Elles ont chacune donné lieu à une hypothèse de travail, validée ou nuancée tout au long du dossier.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veille n'est pas une revue d'outils à la mode : c'est une méthode. Trois piliers, huit critères pondérés, et un tri par recoupement. Les deux évolutions de licence récentes illustrent pourquoi la réversibilité est devenue un critère de premier plan.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synthèse des résultats de la veille. Chaque ligne est une décision d'architecture tracée. Le point le plus discuté est l'orchestration : j'ai écarté Kubernetes non par méconnaissance — je l'opère au quotidien chez FDJ United — mais par proportionnalité.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hypothèses de travail, que je reprendrai en conclusion pour montrer en quoi elles sont confirmées ou nuancées par les résultats obtenus.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L'infrastructure n'est jamais configurée manuellement : elle est déclarée, versionnée puis appliquée. La cartographie couvre les quatre niveaux exigés par le référentiel et sert de base à l'analyse de risques.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est conduit avec lucidité : chaque point de vigilance est déjà assorti d'une mesure de maîtrise et constitue un axe du plan d'amélioration continue. C'est le gage d'une démarche crédible.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registre recense huit risques, cotés par probabilité et impact. Point important : les deux axes prioritaires du plan d'amélioration continue coïncident exactement avec les risques de criticité la plus élevée.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segmentation réseau est le cœur de la posture de sécurité au niveau de l'orchestration : elle réalise concrètement une défense en profondeur applicative.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référentiels encadrent le projet. La conformité n'est pas déclarative : chaque exigence est tracée jusqu'à une mesure technique concrète, cartographiée en annexe R du mémoire.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fonctions essentielles constituent le contrat fonctionnel minimal, toutes couvertes par la suite de tests automatisés. La publication sélective est la fonction différenciante : elle porte le positionnement produit.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acteurs et un héritage. Ce découpage par domaine assure une correspondance directe entre le besoin exprimé, l'exigence formalisée et le composant logiciel qui la réalise.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priorisation ne suit pas seulement la valeur d'usage : le critère d'obligation légale peut faire remonter une fonction secondaire au rang de priorité haute. C'est le cas de la suppression de compte.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exigences ne sont pas des ajouts ponctuels mais des propriétés transversales appliquées systématiquement. La détection de rejeu, en particulier, agit comme un capteur de sécurité autonome.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validation prend la forme de trois revues successives, dans un cadre de mission de conseil reconstitué. Chaque décision est tracée dans un ADR, ce qui permet de la réévaluer plus tard sans perdre le contexte.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conception applicative conditionne l'automatisation : un logiciel mal découpé ou peu testé reste impossible à déployer sereinement, quelle que soit la sophistication du pipeline.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montage multi-fournisseurs n'est pas fortuit : chaque besoin est affecté au fournisseur qui l'adresse au meilleur rapport qualité-prix. Le right-sizing, documenté service par service, relie directement l'allocation des ressources à la sobriété et à la maîtrise budgétaire.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L'homogénéité autour de TypeScript, du backend au frontend, réduit la charge cognitive et mutualise l'outillage de qualité. Rien de ce qui peut être vérifié ou déployé mécaniquement n'est laissé à une intervention manuelle.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est le point où la stratégie tout-en-code devient un mécanisme de livraison effectif. Deux optimisations méritent attention : la provision conditionnelle et la construction idempotente — elles servent autant la stabilité que la sobriété.</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choix illustre une décision d'architecture guidée par la sobriété : retenir l'outil dont la puissance correspond au besoin réel plutôt que le standard le plus lourd. Je maîtrise Kubernetes professionnellement — c'est précisément ce qui rend l'arbitrage crédible.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L'observabilité est ce qui transforme une infrastructure automatisée en infrastructure pilotable. Elle est présente dès le premier déploiement, jamais ajoutée après coup.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contribution la plus singulière du projet. Je revendique la transparence sur les hypothèses du modèle : ce n'est pas une mesure, c'est une estimation documentée et ajustable, dont le palier d'évolution naturel est Scaphandre ou Kepler sur bare-metal.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plans distincts : la préservation des données par un stockage objet durci, et la capacité de reconstruction portée par l'Infrastructure as Code. L'environnement n'est pas un actif fragile à préserver mais un ensemble jetable et reproductible.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méthodologie est hybride : cadrage prédictif (WBS, PERT, Gantt) pour le périmètre et les dépendances, exécution agile adaptée en sprints courts alignés sur les lots. Les trois artefacts de planification suivent.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L'infrastructure d'observabilité sert de source de vérité pour une partie des mesures : c'est un point de cohérence important entre la gestion de projet et la technique. Les métriques DORA sont la référence du domaine.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canaux privilégient les outils déjà au cœur de la chaîne DevOps. La visibilité offerte par l'observabilité joue un rôle de confiance : chaque acteur dispose d'une image partagée et vérifiable de l'état du système.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taille resserrée de l'équipe appelle un management de proximité orienté vers l'autonomie. Le développement des compétences a été traité comme un objectif de projet à part entière, et non comme un effet secondaire.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cinq objectifs opérationnels sont atteints. Je précise que ces résultats sont établis en conditions de validation : la montée en charge réelle et prolongée constitue l'étape naturelle de consolidation.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présente les points de vigilance non comme des lacunes mais comme des arbitrages assumés et documentés, chacun assorti d'un palier d'évolution identifié. C'est ce qui distingue une démarche mature d'une démarche défensive.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recommandations prolongent la logique de l'architecture retenue. Le point important : les deux priorités de moyen terme coïncident avec les deux risques de criticité la plus élevée du registre.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les trois hypothèses sont confirmées. L'infrastructure décrite constitue une base solide et évolutive, dont la valeur tient autant à sa capacité d'adaptation qu'à la qualité de son état actuel.</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remercie le jury de son écoute et propose de passer à la seconde partie de l'examen.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secours pour les questions du jury : elle établit la correspondance entre chaque bloc de compétences du référentiel et les sections de la présentation et du mémoire.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travail : elle récapitule les quinze schémas à produire, leur type, leur emplacement dans le deck et l'outil conseillé. À retirer avant la soutenance.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A896"/>
          </a:solidFill>
          <a:ln/>
        </p:spPr>
        <p:txBody>
          <a:bodyPr/>
          <a:lstStyle/>
          <a:p>
            <a:endParaRPr lang="fr-FR"/>
          </a:p>
        </p:txBody>
      </p:sp>
      <p:sp>
        <p:nvSpPr>
          <p:cNvPr id="3" name="Text 1"/>
          <p:cNvSpPr/>
          <p:nvPr/>
        </p:nvSpPr>
        <p:spPr>
          <a:xfrm>
            <a:off x="868680" y="685800"/>
            <a:ext cx="10607040" cy="32004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Titre RNCP N° 40573 — Niveau 7 (Bac+5)   |   Expert en Informatique et Systèmes d'Information</a:t>
            </a:r>
            <a:endParaRPr lang="en-US" sz="1200" dirty="0"/>
          </a:p>
        </p:txBody>
      </p:sp>
      <p:sp>
        <p:nvSpPr>
          <p:cNvPr id="4" name="Text 2"/>
          <p:cNvSpPr/>
          <p:nvPr/>
        </p:nvSpPr>
        <p:spPr>
          <a:xfrm>
            <a:off x="868680" y="1325880"/>
            <a:ext cx="10515600" cy="2834640"/>
          </a:xfrm>
          <a:prstGeom prst="rect">
            <a:avLst/>
          </a:prstGeom>
          <a:noFill/>
          <a:ln/>
        </p:spPr>
        <p:txBody>
          <a:bodyPr wrap="square" lIns="0" tIns="0" rIns="0" bIns="0" rtlCol="0" anchor="ctr"/>
          <a:lstStyle/>
          <a:p>
            <a:pPr marL="0" indent="0">
              <a:lnSpc>
                <a:spcPts val="4000"/>
              </a:lnSpc>
              <a:buNone/>
            </a:pPr>
            <a:r>
              <a:rPr lang="en-US" sz="2700" b="1" dirty="0">
                <a:solidFill>
                  <a:srgbClr val="FFFFFF"/>
                </a:solidFill>
                <a:latin typeface="Cambria" pitchFamily="34" charset="0"/>
                <a:ea typeface="Cambria" pitchFamily="34" charset="-122"/>
                <a:cs typeface="Cambria" pitchFamily="34" charset="-120"/>
              </a:rPr>
              <a:t>Comment concevoir et déployer une infrastructure DevOps</a:t>
            </a:r>
            <a:endParaRPr lang="en-US" sz="2700" dirty="0"/>
          </a:p>
          <a:p>
            <a:pPr marL="0" indent="0">
              <a:lnSpc>
                <a:spcPts val="4000"/>
              </a:lnSpc>
              <a:buNone/>
            </a:pPr>
            <a:r>
              <a:rPr lang="en-US" sz="2700" b="1" dirty="0">
                <a:solidFill>
                  <a:srgbClr val="FFFFFF"/>
                </a:solidFill>
                <a:latin typeface="Cambria" pitchFamily="34" charset="0"/>
                <a:ea typeface="Cambria" pitchFamily="34" charset="-122"/>
                <a:cs typeface="Cambria" pitchFamily="34" charset="-120"/>
              </a:rPr>
              <a:t>entièrement automatisée, sécurisée et éco-responsable,</a:t>
            </a:r>
            <a:endParaRPr lang="en-US" sz="2700" dirty="0"/>
          </a:p>
          <a:p>
            <a:pPr marL="0" indent="0">
              <a:lnSpc>
                <a:spcPts val="4000"/>
              </a:lnSpc>
              <a:buNone/>
            </a:pPr>
            <a:r>
              <a:rPr lang="en-US" sz="2700" b="1" dirty="0">
                <a:solidFill>
                  <a:srgbClr val="FFFFFF"/>
                </a:solidFill>
                <a:latin typeface="Cambria" pitchFamily="34" charset="0"/>
                <a:ea typeface="Cambria" pitchFamily="34" charset="-122"/>
                <a:cs typeface="Cambria" pitchFamily="34" charset="-120"/>
              </a:rPr>
              <a:t>permettant la livraison continue d'une plateforme SaaS</a:t>
            </a:r>
            <a:endParaRPr lang="en-US" sz="2700" dirty="0"/>
          </a:p>
          <a:p>
            <a:pPr marL="0" indent="0">
              <a:lnSpc>
                <a:spcPts val="4000"/>
              </a:lnSpc>
              <a:buNone/>
            </a:pPr>
            <a:r>
              <a:rPr lang="en-US" sz="2700" b="1" dirty="0">
                <a:solidFill>
                  <a:srgbClr val="FFFFFF"/>
                </a:solidFill>
                <a:latin typeface="Cambria" pitchFamily="34" charset="0"/>
                <a:ea typeface="Cambria" pitchFamily="34" charset="-122"/>
                <a:cs typeface="Cambria" pitchFamily="34" charset="-120"/>
              </a:rPr>
              <a:t>de partage de médias tout en garantissant la qualité,</a:t>
            </a:r>
            <a:endParaRPr lang="en-US" sz="2700" dirty="0"/>
          </a:p>
          <a:p>
            <a:pPr marL="0" indent="0">
              <a:lnSpc>
                <a:spcPts val="4000"/>
              </a:lnSpc>
              <a:buNone/>
            </a:pPr>
            <a:r>
              <a:rPr lang="en-US" sz="2700" b="1" dirty="0">
                <a:solidFill>
                  <a:srgbClr val="FFFFFF"/>
                </a:solidFill>
                <a:latin typeface="Cambria" pitchFamily="34" charset="0"/>
                <a:ea typeface="Cambria" pitchFamily="34" charset="-122"/>
                <a:cs typeface="Cambria" pitchFamily="34" charset="-120"/>
              </a:rPr>
              <a:t>l'observabilité et la maîtrise des coûts ?</a:t>
            </a:r>
            <a:endParaRPr lang="en-US" sz="2700" dirty="0"/>
          </a:p>
        </p:txBody>
      </p:sp>
      <p:sp>
        <p:nvSpPr>
          <p:cNvPr id="5" name="Text 3"/>
          <p:cNvSpPr/>
          <p:nvPr/>
        </p:nvSpPr>
        <p:spPr>
          <a:xfrm>
            <a:off x="868680" y="4224528"/>
            <a:ext cx="10515600" cy="365760"/>
          </a:xfrm>
          <a:prstGeom prst="rect">
            <a:avLst/>
          </a:prstGeom>
          <a:noFill/>
          <a:ln/>
        </p:spPr>
        <p:txBody>
          <a:bodyPr wrap="square" lIns="0" tIns="0" rIns="0" bIns="0" rtlCol="0" anchor="ctr"/>
          <a:lstStyle/>
          <a:p>
            <a:pPr marL="0" indent="0">
              <a:buNone/>
            </a:pPr>
            <a:r>
              <a:rPr lang="en-US" sz="1500" i="1" dirty="0">
                <a:solidFill>
                  <a:srgbClr val="E08A3C"/>
                </a:solidFill>
                <a:latin typeface="Calibri" pitchFamily="34" charset="0"/>
                <a:ea typeface="Calibri" pitchFamily="34" charset="-122"/>
                <a:cs typeface="Calibri" pitchFamily="34" charset="-120"/>
              </a:rPr>
              <a:t>Option DevOps — plateforme dropicture</a:t>
            </a:r>
            <a:endParaRPr lang="en-US" sz="1500" dirty="0"/>
          </a:p>
        </p:txBody>
      </p:sp>
      <p:sp>
        <p:nvSpPr>
          <p:cNvPr id="6" name="Shape 4"/>
          <p:cNvSpPr/>
          <p:nvPr/>
        </p:nvSpPr>
        <p:spPr>
          <a:xfrm>
            <a:off x="868680" y="4773168"/>
            <a:ext cx="4206240" cy="18288"/>
          </a:xfrm>
          <a:prstGeom prst="rect">
            <a:avLst/>
          </a:prstGeom>
          <a:solidFill>
            <a:srgbClr val="2C3E55"/>
          </a:solidFill>
          <a:ln/>
        </p:spPr>
        <p:txBody>
          <a:bodyPr/>
          <a:lstStyle/>
          <a:p>
            <a:endParaRPr lang="fr-FR"/>
          </a:p>
        </p:txBody>
      </p:sp>
      <p:sp>
        <p:nvSpPr>
          <p:cNvPr id="7" name="Text 5"/>
          <p:cNvSpPr/>
          <p:nvPr/>
        </p:nvSpPr>
        <p:spPr>
          <a:xfrm>
            <a:off x="868680" y="4956048"/>
            <a:ext cx="45720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Amir REDJEM</a:t>
            </a:r>
            <a:endParaRPr lang="en-US" sz="1700" dirty="0"/>
          </a:p>
        </p:txBody>
      </p:sp>
      <p:sp>
        <p:nvSpPr>
          <p:cNvPr id="8" name="Text 6"/>
          <p:cNvSpPr/>
          <p:nvPr/>
        </p:nvSpPr>
        <p:spPr>
          <a:xfrm>
            <a:off x="868680" y="5321808"/>
            <a:ext cx="5120640" cy="731520"/>
          </a:xfrm>
          <a:prstGeom prst="rect">
            <a:avLst/>
          </a:prstGeom>
          <a:noFill/>
          <a:ln/>
        </p:spPr>
        <p:txBody>
          <a:bodyPr wrap="square" lIns="0" tIns="0" rIns="0" bIns="0" rtlCol="0" anchor="ctr"/>
          <a:lstStyle/>
          <a:p>
            <a:pPr marL="0" indent="0">
              <a:lnSpc>
                <a:spcPts val="1600"/>
              </a:lnSpc>
              <a:buNone/>
            </a:pPr>
            <a:r>
              <a:rPr lang="en-US" sz="1150" dirty="0">
                <a:solidFill>
                  <a:srgbClr val="8FA6BC"/>
                </a:solidFill>
                <a:latin typeface="Calibri" pitchFamily="34" charset="0"/>
                <a:ea typeface="Calibri" pitchFamily="34" charset="-122"/>
                <a:cs typeface="Calibri" pitchFamily="34" charset="-120"/>
              </a:rPr>
              <a:t>Promotion 2024 / 2026 — École LaPlateforme, Marseille</a:t>
            </a:r>
            <a:endParaRPr lang="en-US" sz="1150" dirty="0"/>
          </a:p>
          <a:p>
            <a:pPr marL="0" indent="0">
              <a:lnSpc>
                <a:spcPts val="1600"/>
              </a:lnSpc>
              <a:buNone/>
            </a:pPr>
            <a:r>
              <a:rPr lang="en-US" sz="1150" dirty="0">
                <a:solidFill>
                  <a:srgbClr val="8FA6BC"/>
                </a:solidFill>
                <a:latin typeface="Calibri" pitchFamily="34" charset="0"/>
                <a:ea typeface="Calibri" pitchFamily="34" charset="-122"/>
                <a:cs typeface="Calibri" pitchFamily="34" charset="-120"/>
              </a:rPr>
              <a:t>Référent formation : Joris VERGULDEZOONE</a:t>
            </a:r>
            <a:endParaRPr lang="en-US" sz="1150" dirty="0"/>
          </a:p>
        </p:txBody>
      </p:sp>
      <p:sp>
        <p:nvSpPr>
          <p:cNvPr id="9" name="Text 7"/>
          <p:cNvSpPr/>
          <p:nvPr/>
        </p:nvSpPr>
        <p:spPr>
          <a:xfrm>
            <a:off x="6766560" y="4956048"/>
            <a:ext cx="4572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Entreprise d'accueil : FDJ United, Vitrolles</a:t>
            </a:r>
            <a:endParaRPr lang="en-US" sz="1300" dirty="0"/>
          </a:p>
        </p:txBody>
      </p:sp>
      <p:sp>
        <p:nvSpPr>
          <p:cNvPr id="10" name="Text 8"/>
          <p:cNvSpPr/>
          <p:nvPr/>
        </p:nvSpPr>
        <p:spPr>
          <a:xfrm>
            <a:off x="6766560" y="5321808"/>
            <a:ext cx="4572000" cy="731520"/>
          </a:xfrm>
          <a:prstGeom prst="rect">
            <a:avLst/>
          </a:prstGeom>
          <a:noFill/>
          <a:ln/>
        </p:spPr>
        <p:txBody>
          <a:bodyPr wrap="square" lIns="0" tIns="0" rIns="0" bIns="0" rtlCol="0" anchor="ctr"/>
          <a:lstStyle/>
          <a:p>
            <a:pPr marL="0" indent="0">
              <a:lnSpc>
                <a:spcPts val="1600"/>
              </a:lnSpc>
              <a:buNone/>
            </a:pPr>
            <a:r>
              <a:rPr lang="en-US" sz="1150" dirty="0">
                <a:solidFill>
                  <a:srgbClr val="8FA6BC"/>
                </a:solidFill>
                <a:latin typeface="Calibri" pitchFamily="34" charset="0"/>
                <a:ea typeface="Calibri" pitchFamily="34" charset="-122"/>
                <a:cs typeface="Calibri" pitchFamily="34" charset="-120"/>
              </a:rPr>
              <a:t>Référent entreprise : Philippe AMERIO</a:t>
            </a:r>
            <a:endParaRPr lang="en-US" sz="1150" dirty="0"/>
          </a:p>
          <a:p>
            <a:pPr marL="0" indent="0">
              <a:lnSpc>
                <a:spcPts val="1600"/>
              </a:lnSpc>
              <a:buNone/>
            </a:pPr>
            <a:r>
              <a:rPr lang="en-US" sz="1150" dirty="0">
                <a:solidFill>
                  <a:srgbClr val="8FA6BC"/>
                </a:solidFill>
                <a:latin typeface="Calibri" pitchFamily="34" charset="0"/>
                <a:ea typeface="Calibri" pitchFamily="34" charset="-122"/>
                <a:cs typeface="Calibri" pitchFamily="34" charset="-120"/>
              </a:rPr>
              <a:t>Soutenance du 03/08/2026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DÉROULÉ</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Sommaire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627632"/>
            <a:ext cx="457200" cy="457200"/>
          </a:xfrm>
          <a:prstGeom prst="ellipse">
            <a:avLst/>
          </a:prstGeom>
          <a:solidFill>
            <a:srgbClr val="EEF3F7"/>
          </a:solidFill>
          <a:ln/>
        </p:spPr>
        <p:txBody>
          <a:bodyPr/>
          <a:lstStyle/>
          <a:p>
            <a:endParaRPr lang="fr-FR"/>
          </a:p>
        </p:txBody>
      </p:sp>
      <p:sp>
        <p:nvSpPr>
          <p:cNvPr id="7" name="Text 5"/>
          <p:cNvSpPr/>
          <p:nvPr/>
        </p:nvSpPr>
        <p:spPr>
          <a:xfrm>
            <a:off x="548640" y="1627632"/>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207008" y="1572768"/>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Présentation personnelle</a:t>
            </a:r>
            <a:endParaRPr lang="en-US" sz="1550" dirty="0"/>
          </a:p>
        </p:txBody>
      </p:sp>
      <p:sp>
        <p:nvSpPr>
          <p:cNvPr id="9" name="Text 7"/>
          <p:cNvSpPr/>
          <p:nvPr/>
        </p:nvSpPr>
        <p:spPr>
          <a:xfrm>
            <a:off x="1207008" y="1920240"/>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Parcours et objectifs</a:t>
            </a:r>
            <a:endParaRPr lang="en-US" sz="1150" dirty="0"/>
          </a:p>
        </p:txBody>
      </p:sp>
      <p:sp>
        <p:nvSpPr>
          <p:cNvPr id="10" name="Shape 8"/>
          <p:cNvSpPr/>
          <p:nvPr/>
        </p:nvSpPr>
        <p:spPr>
          <a:xfrm>
            <a:off x="548640" y="2761488"/>
            <a:ext cx="457200" cy="457200"/>
          </a:xfrm>
          <a:prstGeom prst="ellipse">
            <a:avLst/>
          </a:prstGeom>
          <a:solidFill>
            <a:srgbClr val="EEF3F7"/>
          </a:solidFill>
          <a:ln/>
        </p:spPr>
        <p:txBody>
          <a:bodyPr/>
          <a:lstStyle/>
          <a:p>
            <a:endParaRPr lang="fr-FR"/>
          </a:p>
        </p:txBody>
      </p:sp>
      <p:sp>
        <p:nvSpPr>
          <p:cNvPr id="11" name="Text 9"/>
          <p:cNvSpPr/>
          <p:nvPr/>
        </p:nvSpPr>
        <p:spPr>
          <a:xfrm>
            <a:off x="548640" y="2761488"/>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207008" y="2706624"/>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Présentation de la problématique</a:t>
            </a:r>
            <a:endParaRPr lang="en-US" sz="1550" dirty="0"/>
          </a:p>
        </p:txBody>
      </p:sp>
      <p:sp>
        <p:nvSpPr>
          <p:cNvPr id="13" name="Text 11"/>
          <p:cNvSpPr/>
          <p:nvPr/>
        </p:nvSpPr>
        <p:spPr>
          <a:xfrm>
            <a:off x="1207008" y="3054096"/>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Contexte, enjeux, méthodologie</a:t>
            </a:r>
            <a:endParaRPr lang="en-US" sz="1150" dirty="0"/>
          </a:p>
        </p:txBody>
      </p:sp>
      <p:sp>
        <p:nvSpPr>
          <p:cNvPr id="14" name="Shape 12"/>
          <p:cNvSpPr/>
          <p:nvPr/>
        </p:nvSpPr>
        <p:spPr>
          <a:xfrm>
            <a:off x="548640" y="3895344"/>
            <a:ext cx="457200" cy="457200"/>
          </a:xfrm>
          <a:prstGeom prst="ellipse">
            <a:avLst/>
          </a:prstGeom>
          <a:solidFill>
            <a:srgbClr val="EEF3F7"/>
          </a:solidFill>
          <a:ln/>
        </p:spPr>
        <p:txBody>
          <a:bodyPr/>
          <a:lstStyle/>
          <a:p>
            <a:endParaRPr lang="fr-FR"/>
          </a:p>
        </p:txBody>
      </p:sp>
      <p:sp>
        <p:nvSpPr>
          <p:cNvPr id="15" name="Text 13"/>
          <p:cNvSpPr/>
          <p:nvPr/>
        </p:nvSpPr>
        <p:spPr>
          <a:xfrm>
            <a:off x="548640" y="3895344"/>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1207008" y="3840480"/>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Analyse du SI</a:t>
            </a:r>
            <a:endParaRPr lang="en-US" sz="1550" dirty="0"/>
          </a:p>
        </p:txBody>
      </p:sp>
      <p:sp>
        <p:nvSpPr>
          <p:cNvPr id="17" name="Text 15"/>
          <p:cNvSpPr/>
          <p:nvPr/>
        </p:nvSpPr>
        <p:spPr>
          <a:xfrm>
            <a:off x="1207008" y="4187952"/>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Cartographie, risques, conformité</a:t>
            </a:r>
            <a:endParaRPr lang="en-US" sz="1150" dirty="0"/>
          </a:p>
        </p:txBody>
      </p:sp>
      <p:sp>
        <p:nvSpPr>
          <p:cNvPr id="18" name="Shape 16"/>
          <p:cNvSpPr/>
          <p:nvPr/>
        </p:nvSpPr>
        <p:spPr>
          <a:xfrm>
            <a:off x="548640" y="5029200"/>
            <a:ext cx="457200" cy="457200"/>
          </a:xfrm>
          <a:prstGeom prst="ellipse">
            <a:avLst/>
          </a:prstGeom>
          <a:solidFill>
            <a:srgbClr val="EEF3F7"/>
          </a:solidFill>
          <a:ln/>
        </p:spPr>
        <p:txBody>
          <a:bodyPr/>
          <a:lstStyle/>
          <a:p>
            <a:endParaRPr lang="fr-FR"/>
          </a:p>
        </p:txBody>
      </p:sp>
      <p:sp>
        <p:nvSpPr>
          <p:cNvPr id="19" name="Text 17"/>
          <p:cNvSpPr/>
          <p:nvPr/>
        </p:nvSpPr>
        <p:spPr>
          <a:xfrm>
            <a:off x="548640" y="5029200"/>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4</a:t>
            </a:r>
            <a:endParaRPr lang="en-US" sz="1500" dirty="0"/>
          </a:p>
        </p:txBody>
      </p:sp>
      <p:sp>
        <p:nvSpPr>
          <p:cNvPr id="20" name="Text 18"/>
          <p:cNvSpPr/>
          <p:nvPr/>
        </p:nvSpPr>
        <p:spPr>
          <a:xfrm>
            <a:off x="1207008" y="4974336"/>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Besoins fonctionnels</a:t>
            </a:r>
            <a:endParaRPr lang="en-US" sz="1550" dirty="0"/>
          </a:p>
        </p:txBody>
      </p:sp>
      <p:sp>
        <p:nvSpPr>
          <p:cNvPr id="21" name="Text 19"/>
          <p:cNvSpPr/>
          <p:nvPr/>
        </p:nvSpPr>
        <p:spPr>
          <a:xfrm>
            <a:off x="1207008" y="5321808"/>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Périmètre, priorisation, validation</a:t>
            </a:r>
            <a:endParaRPr lang="en-US" sz="1150" dirty="0"/>
          </a:p>
        </p:txBody>
      </p:sp>
      <p:sp>
        <p:nvSpPr>
          <p:cNvPr id="22" name="Shape 20"/>
          <p:cNvSpPr/>
          <p:nvPr/>
        </p:nvSpPr>
        <p:spPr>
          <a:xfrm>
            <a:off x="6309360" y="1627632"/>
            <a:ext cx="457200" cy="457200"/>
          </a:xfrm>
          <a:prstGeom prst="ellipse">
            <a:avLst/>
          </a:prstGeom>
          <a:solidFill>
            <a:srgbClr val="EEF3F7"/>
          </a:solidFill>
          <a:ln/>
        </p:spPr>
        <p:txBody>
          <a:bodyPr/>
          <a:lstStyle/>
          <a:p>
            <a:endParaRPr lang="fr-FR"/>
          </a:p>
        </p:txBody>
      </p:sp>
      <p:sp>
        <p:nvSpPr>
          <p:cNvPr id="23" name="Text 21"/>
          <p:cNvSpPr/>
          <p:nvPr/>
        </p:nvSpPr>
        <p:spPr>
          <a:xfrm>
            <a:off x="6309360" y="1627632"/>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5</a:t>
            </a:r>
            <a:endParaRPr lang="en-US" sz="1500" dirty="0"/>
          </a:p>
        </p:txBody>
      </p:sp>
      <p:sp>
        <p:nvSpPr>
          <p:cNvPr id="24" name="Text 22"/>
          <p:cNvSpPr/>
          <p:nvPr/>
        </p:nvSpPr>
        <p:spPr>
          <a:xfrm>
            <a:off x="6967728" y="1572768"/>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Implémentations techniques</a:t>
            </a:r>
            <a:endParaRPr lang="en-US" sz="1550" dirty="0"/>
          </a:p>
        </p:txBody>
      </p:sp>
      <p:sp>
        <p:nvSpPr>
          <p:cNvPr id="25" name="Text 23"/>
          <p:cNvSpPr/>
          <p:nvPr/>
        </p:nvSpPr>
        <p:spPr>
          <a:xfrm>
            <a:off x="6967728" y="1920240"/>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Infrastructure, CI/CD, observabilité</a:t>
            </a:r>
            <a:endParaRPr lang="en-US" sz="1150" dirty="0"/>
          </a:p>
        </p:txBody>
      </p:sp>
      <p:sp>
        <p:nvSpPr>
          <p:cNvPr id="26" name="Shape 24"/>
          <p:cNvSpPr/>
          <p:nvPr/>
        </p:nvSpPr>
        <p:spPr>
          <a:xfrm>
            <a:off x="6309360" y="2761488"/>
            <a:ext cx="457200" cy="457200"/>
          </a:xfrm>
          <a:prstGeom prst="ellipse">
            <a:avLst/>
          </a:prstGeom>
          <a:solidFill>
            <a:srgbClr val="EEF3F7"/>
          </a:solidFill>
          <a:ln/>
        </p:spPr>
        <p:txBody>
          <a:bodyPr/>
          <a:lstStyle/>
          <a:p>
            <a:endParaRPr lang="fr-FR"/>
          </a:p>
        </p:txBody>
      </p:sp>
      <p:sp>
        <p:nvSpPr>
          <p:cNvPr id="27" name="Text 25"/>
          <p:cNvSpPr/>
          <p:nvPr/>
        </p:nvSpPr>
        <p:spPr>
          <a:xfrm>
            <a:off x="6309360" y="2761488"/>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6</a:t>
            </a:r>
            <a:endParaRPr lang="en-US" sz="1500" dirty="0"/>
          </a:p>
        </p:txBody>
      </p:sp>
      <p:sp>
        <p:nvSpPr>
          <p:cNvPr id="28" name="Text 26"/>
          <p:cNvSpPr/>
          <p:nvPr/>
        </p:nvSpPr>
        <p:spPr>
          <a:xfrm>
            <a:off x="6967728" y="2706624"/>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Gestion du projet et management</a:t>
            </a:r>
            <a:endParaRPr lang="en-US" sz="1550" dirty="0"/>
          </a:p>
        </p:txBody>
      </p:sp>
      <p:sp>
        <p:nvSpPr>
          <p:cNvPr id="29" name="Text 27"/>
          <p:cNvSpPr/>
          <p:nvPr/>
        </p:nvSpPr>
        <p:spPr>
          <a:xfrm>
            <a:off x="6967728" y="3054096"/>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Planning, risques, parties prenantes</a:t>
            </a:r>
            <a:endParaRPr lang="en-US" sz="1150" dirty="0"/>
          </a:p>
        </p:txBody>
      </p:sp>
      <p:sp>
        <p:nvSpPr>
          <p:cNvPr id="30" name="Shape 28"/>
          <p:cNvSpPr/>
          <p:nvPr/>
        </p:nvSpPr>
        <p:spPr>
          <a:xfrm>
            <a:off x="6309360" y="3895344"/>
            <a:ext cx="457200" cy="457200"/>
          </a:xfrm>
          <a:prstGeom prst="ellipse">
            <a:avLst/>
          </a:prstGeom>
          <a:solidFill>
            <a:srgbClr val="EEF3F7"/>
          </a:solidFill>
          <a:ln/>
        </p:spPr>
        <p:txBody>
          <a:bodyPr/>
          <a:lstStyle/>
          <a:p>
            <a:endParaRPr lang="fr-FR"/>
          </a:p>
        </p:txBody>
      </p:sp>
      <p:sp>
        <p:nvSpPr>
          <p:cNvPr id="31" name="Text 29"/>
          <p:cNvSpPr/>
          <p:nvPr/>
        </p:nvSpPr>
        <p:spPr>
          <a:xfrm>
            <a:off x="6309360" y="3895344"/>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7</a:t>
            </a:r>
            <a:endParaRPr lang="en-US" sz="1500" dirty="0"/>
          </a:p>
        </p:txBody>
      </p:sp>
      <p:sp>
        <p:nvSpPr>
          <p:cNvPr id="32" name="Text 30"/>
          <p:cNvSpPr/>
          <p:nvPr/>
        </p:nvSpPr>
        <p:spPr>
          <a:xfrm>
            <a:off x="6967728" y="3840480"/>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Analyses et perspectives</a:t>
            </a:r>
            <a:endParaRPr lang="en-US" sz="1550" dirty="0"/>
          </a:p>
        </p:txBody>
      </p:sp>
      <p:sp>
        <p:nvSpPr>
          <p:cNvPr id="33" name="Text 31"/>
          <p:cNvSpPr/>
          <p:nvPr/>
        </p:nvSpPr>
        <p:spPr>
          <a:xfrm>
            <a:off x="6967728" y="4187952"/>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Résultats, REX, amélioration continue</a:t>
            </a:r>
            <a:endParaRPr lang="en-US" sz="1150" dirty="0"/>
          </a:p>
        </p:txBody>
      </p:sp>
      <p:sp>
        <p:nvSpPr>
          <p:cNvPr id="34" name="Shape 32"/>
          <p:cNvSpPr/>
          <p:nvPr/>
        </p:nvSpPr>
        <p:spPr>
          <a:xfrm>
            <a:off x="6309360" y="5029200"/>
            <a:ext cx="457200" cy="457200"/>
          </a:xfrm>
          <a:prstGeom prst="ellipse">
            <a:avLst/>
          </a:prstGeom>
          <a:solidFill>
            <a:srgbClr val="EEF3F7"/>
          </a:solidFill>
          <a:ln/>
        </p:spPr>
        <p:txBody>
          <a:bodyPr/>
          <a:lstStyle/>
          <a:p>
            <a:endParaRPr lang="fr-FR"/>
          </a:p>
        </p:txBody>
      </p:sp>
      <p:sp>
        <p:nvSpPr>
          <p:cNvPr id="35" name="Text 33"/>
          <p:cNvSpPr/>
          <p:nvPr/>
        </p:nvSpPr>
        <p:spPr>
          <a:xfrm>
            <a:off x="6309360" y="5029200"/>
            <a:ext cx="457200" cy="457200"/>
          </a:xfrm>
          <a:prstGeom prst="rect">
            <a:avLst/>
          </a:prstGeom>
          <a:noFill/>
          <a:ln/>
        </p:spPr>
        <p:txBody>
          <a:bodyPr wrap="square" lIns="0" tIns="0" rIns="0" bIns="0" rtlCol="0" anchor="ctr"/>
          <a:lstStyle/>
          <a:p>
            <a:pPr marL="0" indent="0" algn="ctr">
              <a:buNone/>
            </a:pPr>
            <a:r>
              <a:rPr lang="en-US" sz="1500" b="1" dirty="0">
                <a:solidFill>
                  <a:srgbClr val="00A896"/>
                </a:solidFill>
                <a:latin typeface="Cambria" pitchFamily="34" charset="0"/>
                <a:ea typeface="Cambria" pitchFamily="34" charset="-122"/>
                <a:cs typeface="Cambria" pitchFamily="34" charset="-120"/>
              </a:rPr>
              <a:t>8</a:t>
            </a:r>
            <a:endParaRPr lang="en-US" sz="1500" dirty="0"/>
          </a:p>
        </p:txBody>
      </p:sp>
      <p:sp>
        <p:nvSpPr>
          <p:cNvPr id="36" name="Text 34"/>
          <p:cNvSpPr/>
          <p:nvPr/>
        </p:nvSpPr>
        <p:spPr>
          <a:xfrm>
            <a:off x="6967728" y="4974336"/>
            <a:ext cx="4663440" cy="347472"/>
          </a:xfrm>
          <a:prstGeom prst="rect">
            <a:avLst/>
          </a:prstGeom>
          <a:noFill/>
          <a:ln/>
        </p:spPr>
        <p:txBody>
          <a:bodyPr wrap="square" lIns="0" tIns="0" rIns="0" bIns="0" rtlCol="0" anchor="ctr"/>
          <a:lstStyle/>
          <a:p>
            <a:pPr marL="0" indent="0">
              <a:buNone/>
            </a:pPr>
            <a:r>
              <a:rPr lang="en-US" sz="1550" b="1" dirty="0">
                <a:solidFill>
                  <a:srgbClr val="12263F"/>
                </a:solidFill>
                <a:latin typeface="Calibri" pitchFamily="34" charset="0"/>
                <a:ea typeface="Calibri" pitchFamily="34" charset="-122"/>
                <a:cs typeface="Calibri" pitchFamily="34" charset="-120"/>
              </a:rPr>
              <a:t>Conclusion et remerciements</a:t>
            </a:r>
            <a:endParaRPr lang="en-US" sz="1550" dirty="0"/>
          </a:p>
        </p:txBody>
      </p:sp>
      <p:sp>
        <p:nvSpPr>
          <p:cNvPr id="37" name="Text 35"/>
          <p:cNvSpPr/>
          <p:nvPr/>
        </p:nvSpPr>
        <p:spPr>
          <a:xfrm>
            <a:off x="6967728" y="5321808"/>
            <a:ext cx="4663440" cy="274320"/>
          </a:xfrm>
          <a:prstGeom prst="rect">
            <a:avLst/>
          </a:prstGeom>
          <a:noFill/>
          <a:ln/>
        </p:spPr>
        <p:txBody>
          <a:bodyPr wrap="square" lIns="0" tIns="0" rIns="0" bIns="0" rtlCol="0" anchor="ctr"/>
          <a:lstStyle/>
          <a:p>
            <a:pPr marL="0" indent="0">
              <a:buNone/>
            </a:pPr>
            <a:r>
              <a:rPr lang="en-US" sz="1150" dirty="0">
                <a:solidFill>
                  <a:srgbClr val="4A5769"/>
                </a:solidFill>
                <a:latin typeface="Calibri" pitchFamily="34" charset="0"/>
                <a:ea typeface="Calibri" pitchFamily="34" charset="-122"/>
                <a:cs typeface="Calibri" pitchFamily="34" charset="-120"/>
              </a:rPr>
              <a:t>Synthèse et échanges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1</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Présentation personnelle</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Parcours académique, expérience professionnelle et objectifs de la soutenance</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1. PRÉSENTATION PERSONNELLE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Qui suis-je ?</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481328"/>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700784"/>
            <a:ext cx="384048" cy="384048"/>
          </a:xfrm>
          <a:prstGeom prst="ellipse">
            <a:avLst/>
          </a:prstGeom>
          <a:solidFill>
            <a:srgbClr val="00A896"/>
          </a:solidFill>
          <a:ln/>
        </p:spPr>
        <p:txBody>
          <a:bodyPr/>
          <a:lstStyle/>
          <a:p>
            <a:endParaRPr lang="fr-FR"/>
          </a:p>
        </p:txBody>
      </p:sp>
      <p:sp>
        <p:nvSpPr>
          <p:cNvPr id="8" name="Text 6"/>
          <p:cNvSpPr/>
          <p:nvPr/>
        </p:nvSpPr>
        <p:spPr>
          <a:xfrm>
            <a:off x="786384"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64208"/>
            <a:ext cx="251460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Identité</a:t>
            </a:r>
            <a:endParaRPr lang="en-US" sz="1400" dirty="0"/>
          </a:p>
        </p:txBody>
      </p:sp>
      <p:sp>
        <p:nvSpPr>
          <p:cNvPr id="10" name="Text 8"/>
          <p:cNvSpPr/>
          <p:nvPr/>
        </p:nvSpPr>
        <p:spPr>
          <a:xfrm>
            <a:off x="804672" y="2194560"/>
            <a:ext cx="3008376" cy="118872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Amir REDJEM, 29 ans.</a:t>
            </a:r>
            <a:endParaRPr lang="en-US" sz="1150" dirty="0"/>
          </a:p>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Candidat au titre « Expert en Informatique et Systèmes d'Information », niveau 7 (Bac+5).</a:t>
            </a:r>
            <a:endParaRPr lang="en-US" sz="1150" dirty="0"/>
          </a:p>
        </p:txBody>
      </p:sp>
      <p:sp>
        <p:nvSpPr>
          <p:cNvPr id="11" name="Shape 9"/>
          <p:cNvSpPr/>
          <p:nvPr/>
        </p:nvSpPr>
        <p:spPr>
          <a:xfrm>
            <a:off x="4334256" y="1481328"/>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4572000" y="1700784"/>
            <a:ext cx="384048" cy="384048"/>
          </a:xfrm>
          <a:prstGeom prst="ellipse">
            <a:avLst/>
          </a:prstGeom>
          <a:solidFill>
            <a:srgbClr val="00A896"/>
          </a:solidFill>
          <a:ln/>
        </p:spPr>
        <p:txBody>
          <a:bodyPr/>
          <a:lstStyle/>
          <a:p>
            <a:endParaRPr lang="fr-FR"/>
          </a:p>
        </p:txBody>
      </p:sp>
      <p:sp>
        <p:nvSpPr>
          <p:cNvPr id="13" name="Text 11"/>
          <p:cNvSpPr/>
          <p:nvPr/>
        </p:nvSpPr>
        <p:spPr>
          <a:xfrm>
            <a:off x="4572000"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84064" y="1664208"/>
            <a:ext cx="251460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Formation</a:t>
            </a:r>
            <a:endParaRPr lang="en-US" sz="1400" dirty="0"/>
          </a:p>
        </p:txBody>
      </p:sp>
      <p:sp>
        <p:nvSpPr>
          <p:cNvPr id="15" name="Text 13"/>
          <p:cNvSpPr/>
          <p:nvPr/>
        </p:nvSpPr>
        <p:spPr>
          <a:xfrm>
            <a:off x="4590288" y="2194560"/>
            <a:ext cx="3008376" cy="118872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Licence Informatique, Université d'Aix-Marseille (2020-2024).</a:t>
            </a:r>
            <a:endParaRPr lang="en-US" sz="1150" dirty="0"/>
          </a:p>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Cycle ESI, École LaPlateforme, Marseille (2024-2026).</a:t>
            </a:r>
            <a:endParaRPr lang="en-US" sz="1150" dirty="0"/>
          </a:p>
        </p:txBody>
      </p:sp>
      <p:sp>
        <p:nvSpPr>
          <p:cNvPr id="16" name="Shape 14"/>
          <p:cNvSpPr/>
          <p:nvPr/>
        </p:nvSpPr>
        <p:spPr>
          <a:xfrm>
            <a:off x="8119872" y="1481328"/>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8357616" y="1700784"/>
            <a:ext cx="384048" cy="384048"/>
          </a:xfrm>
          <a:prstGeom prst="ellipse">
            <a:avLst/>
          </a:prstGeom>
          <a:solidFill>
            <a:srgbClr val="00A896"/>
          </a:solidFill>
          <a:ln/>
        </p:spPr>
        <p:txBody>
          <a:bodyPr/>
          <a:lstStyle/>
          <a:p>
            <a:endParaRPr lang="fr-FR"/>
          </a:p>
        </p:txBody>
      </p:sp>
      <p:sp>
        <p:nvSpPr>
          <p:cNvPr id="18" name="Text 16"/>
          <p:cNvSpPr/>
          <p:nvPr/>
        </p:nvSpPr>
        <p:spPr>
          <a:xfrm>
            <a:off x="8357616"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69680" y="1664208"/>
            <a:ext cx="251460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Situation actuelle</a:t>
            </a:r>
            <a:endParaRPr lang="en-US" sz="1400" dirty="0"/>
          </a:p>
        </p:txBody>
      </p:sp>
      <p:sp>
        <p:nvSpPr>
          <p:cNvPr id="20" name="Text 18"/>
          <p:cNvSpPr/>
          <p:nvPr/>
        </p:nvSpPr>
        <p:spPr>
          <a:xfrm>
            <a:off x="8375904" y="2194560"/>
            <a:ext cx="3008376" cy="118872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Ingénieur DevOps en alternance chez FDJ United (Vitrolles) depuis septembre 2024.</a:t>
            </a:r>
            <a:endParaRPr lang="en-US" sz="1150" dirty="0"/>
          </a:p>
        </p:txBody>
      </p:sp>
      <p:sp>
        <p:nvSpPr>
          <p:cNvPr id="21" name="Text 19"/>
          <p:cNvSpPr/>
          <p:nvPr/>
        </p:nvSpPr>
        <p:spPr>
          <a:xfrm>
            <a:off x="548640" y="3886200"/>
            <a:ext cx="1106424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Socle de compétences mobilisé</a:t>
            </a:r>
            <a:endParaRPr lang="en-US" sz="1500" dirty="0"/>
          </a:p>
        </p:txBody>
      </p:sp>
      <p:sp>
        <p:nvSpPr>
          <p:cNvPr id="22" name="Shape 20"/>
          <p:cNvSpPr/>
          <p:nvPr/>
        </p:nvSpPr>
        <p:spPr>
          <a:xfrm>
            <a:off x="548640" y="4315968"/>
            <a:ext cx="2066544" cy="1051560"/>
          </a:xfrm>
          <a:prstGeom prst="roundRect">
            <a:avLst>
              <a:gd name="adj" fmla="val 5217"/>
            </a:avLst>
          </a:prstGeom>
          <a:solidFill>
            <a:srgbClr val="12263F"/>
          </a:solidFill>
          <a:ln/>
        </p:spPr>
        <p:txBody>
          <a:bodyPr/>
          <a:lstStyle/>
          <a:p>
            <a:endParaRPr lang="fr-FR"/>
          </a:p>
        </p:txBody>
      </p:sp>
      <p:sp>
        <p:nvSpPr>
          <p:cNvPr id="23" name="Text 21"/>
          <p:cNvSpPr/>
          <p:nvPr/>
        </p:nvSpPr>
        <p:spPr>
          <a:xfrm>
            <a:off x="694944" y="4443984"/>
            <a:ext cx="1773936"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Infrastructure as Code</a:t>
            </a:r>
            <a:endParaRPr lang="en-US" sz="1150" dirty="0"/>
          </a:p>
        </p:txBody>
      </p:sp>
      <p:sp>
        <p:nvSpPr>
          <p:cNvPr id="24" name="Text 22"/>
          <p:cNvSpPr/>
          <p:nvPr/>
        </p:nvSpPr>
        <p:spPr>
          <a:xfrm>
            <a:off x="694944" y="4754880"/>
            <a:ext cx="1773936" cy="502920"/>
          </a:xfrm>
          <a:prstGeom prst="rect">
            <a:avLst/>
          </a:prstGeom>
          <a:noFill/>
          <a:ln/>
        </p:spPr>
        <p:txBody>
          <a:bodyPr wrap="square" lIns="0" tIns="0" rIns="0" bIns="0" rtlCol="0" anchor="ctr"/>
          <a:lstStyle/>
          <a:p>
            <a:pPr marL="0" indent="0">
              <a:lnSpc>
                <a:spcPts val="1300"/>
              </a:lnSpc>
              <a:buNone/>
            </a:pPr>
            <a:r>
              <a:rPr lang="en-US" sz="1000" dirty="0">
                <a:solidFill>
                  <a:srgbClr val="9FC6D4"/>
                </a:solidFill>
                <a:latin typeface="Calibri" pitchFamily="34" charset="0"/>
                <a:ea typeface="Calibri" pitchFamily="34" charset="-122"/>
                <a:cs typeface="Calibri" pitchFamily="34" charset="-120"/>
              </a:rPr>
              <a:t>Terraform, Ansible</a:t>
            </a:r>
            <a:endParaRPr lang="en-US" sz="1000" dirty="0"/>
          </a:p>
        </p:txBody>
      </p:sp>
      <p:sp>
        <p:nvSpPr>
          <p:cNvPr id="25" name="Shape 23"/>
          <p:cNvSpPr/>
          <p:nvPr/>
        </p:nvSpPr>
        <p:spPr>
          <a:xfrm>
            <a:off x="2798064" y="4315968"/>
            <a:ext cx="2066544" cy="1051560"/>
          </a:xfrm>
          <a:prstGeom prst="roundRect">
            <a:avLst>
              <a:gd name="adj" fmla="val 5217"/>
            </a:avLst>
          </a:prstGeom>
          <a:solidFill>
            <a:srgbClr val="12263F"/>
          </a:solidFill>
          <a:ln/>
        </p:spPr>
        <p:txBody>
          <a:bodyPr/>
          <a:lstStyle/>
          <a:p>
            <a:endParaRPr lang="fr-FR"/>
          </a:p>
        </p:txBody>
      </p:sp>
      <p:sp>
        <p:nvSpPr>
          <p:cNvPr id="26" name="Text 24"/>
          <p:cNvSpPr/>
          <p:nvPr/>
        </p:nvSpPr>
        <p:spPr>
          <a:xfrm>
            <a:off x="2944368" y="4443984"/>
            <a:ext cx="1773936"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Conteneurisation</a:t>
            </a:r>
            <a:endParaRPr lang="en-US" sz="1150" dirty="0"/>
          </a:p>
        </p:txBody>
      </p:sp>
      <p:sp>
        <p:nvSpPr>
          <p:cNvPr id="27" name="Text 25"/>
          <p:cNvSpPr/>
          <p:nvPr/>
        </p:nvSpPr>
        <p:spPr>
          <a:xfrm>
            <a:off x="2944368" y="4754880"/>
            <a:ext cx="1773936" cy="502920"/>
          </a:xfrm>
          <a:prstGeom prst="rect">
            <a:avLst/>
          </a:prstGeom>
          <a:noFill/>
          <a:ln/>
        </p:spPr>
        <p:txBody>
          <a:bodyPr wrap="square" lIns="0" tIns="0" rIns="0" bIns="0" rtlCol="0" anchor="ctr"/>
          <a:lstStyle/>
          <a:p>
            <a:pPr marL="0" indent="0">
              <a:lnSpc>
                <a:spcPts val="1300"/>
              </a:lnSpc>
              <a:buNone/>
            </a:pPr>
            <a:r>
              <a:rPr lang="en-US" sz="1000" dirty="0">
                <a:solidFill>
                  <a:srgbClr val="9FC6D4"/>
                </a:solidFill>
                <a:latin typeface="Calibri" pitchFamily="34" charset="0"/>
                <a:ea typeface="Calibri" pitchFamily="34" charset="-122"/>
                <a:cs typeface="Calibri" pitchFamily="34" charset="-120"/>
              </a:rPr>
              <a:t>Docker, Swarm, Kubernetes</a:t>
            </a:r>
            <a:endParaRPr lang="en-US" sz="1000" dirty="0"/>
          </a:p>
        </p:txBody>
      </p:sp>
      <p:sp>
        <p:nvSpPr>
          <p:cNvPr id="28" name="Shape 26"/>
          <p:cNvSpPr/>
          <p:nvPr/>
        </p:nvSpPr>
        <p:spPr>
          <a:xfrm>
            <a:off x="5047488" y="4315968"/>
            <a:ext cx="2066544" cy="1051560"/>
          </a:xfrm>
          <a:prstGeom prst="roundRect">
            <a:avLst>
              <a:gd name="adj" fmla="val 5217"/>
            </a:avLst>
          </a:prstGeom>
          <a:solidFill>
            <a:srgbClr val="12263F"/>
          </a:solidFill>
          <a:ln/>
        </p:spPr>
        <p:txBody>
          <a:bodyPr/>
          <a:lstStyle/>
          <a:p>
            <a:endParaRPr lang="fr-FR"/>
          </a:p>
        </p:txBody>
      </p:sp>
      <p:sp>
        <p:nvSpPr>
          <p:cNvPr id="29" name="Text 27"/>
          <p:cNvSpPr/>
          <p:nvPr/>
        </p:nvSpPr>
        <p:spPr>
          <a:xfrm>
            <a:off x="5193792" y="4443984"/>
            <a:ext cx="1773936"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CI/CD</a:t>
            </a:r>
            <a:endParaRPr lang="en-US" sz="1150" dirty="0"/>
          </a:p>
        </p:txBody>
      </p:sp>
      <p:sp>
        <p:nvSpPr>
          <p:cNvPr id="30" name="Text 28"/>
          <p:cNvSpPr/>
          <p:nvPr/>
        </p:nvSpPr>
        <p:spPr>
          <a:xfrm>
            <a:off x="5193792" y="4754880"/>
            <a:ext cx="1773936" cy="502920"/>
          </a:xfrm>
          <a:prstGeom prst="rect">
            <a:avLst/>
          </a:prstGeom>
          <a:noFill/>
          <a:ln/>
        </p:spPr>
        <p:txBody>
          <a:bodyPr wrap="square" lIns="0" tIns="0" rIns="0" bIns="0" rtlCol="0" anchor="ctr"/>
          <a:lstStyle/>
          <a:p>
            <a:pPr marL="0" indent="0">
              <a:lnSpc>
                <a:spcPts val="1300"/>
              </a:lnSpc>
              <a:buNone/>
            </a:pPr>
            <a:r>
              <a:rPr lang="en-US" sz="1000" dirty="0">
                <a:solidFill>
                  <a:srgbClr val="9FC6D4"/>
                </a:solidFill>
                <a:latin typeface="Calibri" pitchFamily="34" charset="0"/>
                <a:ea typeface="Calibri" pitchFamily="34" charset="-122"/>
                <a:cs typeface="Calibri" pitchFamily="34" charset="-120"/>
              </a:rPr>
              <a:t>GitHub Actions, GitLab CI</a:t>
            </a:r>
            <a:endParaRPr lang="en-US" sz="1000" dirty="0"/>
          </a:p>
        </p:txBody>
      </p:sp>
      <p:sp>
        <p:nvSpPr>
          <p:cNvPr id="31" name="Shape 29"/>
          <p:cNvSpPr/>
          <p:nvPr/>
        </p:nvSpPr>
        <p:spPr>
          <a:xfrm>
            <a:off x="7296912" y="4315968"/>
            <a:ext cx="2066544" cy="1051560"/>
          </a:xfrm>
          <a:prstGeom prst="roundRect">
            <a:avLst>
              <a:gd name="adj" fmla="val 5217"/>
            </a:avLst>
          </a:prstGeom>
          <a:solidFill>
            <a:srgbClr val="12263F"/>
          </a:solidFill>
          <a:ln/>
        </p:spPr>
        <p:txBody>
          <a:bodyPr/>
          <a:lstStyle/>
          <a:p>
            <a:endParaRPr lang="fr-FR"/>
          </a:p>
        </p:txBody>
      </p:sp>
      <p:sp>
        <p:nvSpPr>
          <p:cNvPr id="32" name="Text 30"/>
          <p:cNvSpPr/>
          <p:nvPr/>
        </p:nvSpPr>
        <p:spPr>
          <a:xfrm>
            <a:off x="7443216" y="4443984"/>
            <a:ext cx="1773936"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Observabilité</a:t>
            </a:r>
            <a:endParaRPr lang="en-US" sz="1150" dirty="0"/>
          </a:p>
        </p:txBody>
      </p:sp>
      <p:sp>
        <p:nvSpPr>
          <p:cNvPr id="33" name="Text 31"/>
          <p:cNvSpPr/>
          <p:nvPr/>
        </p:nvSpPr>
        <p:spPr>
          <a:xfrm>
            <a:off x="7443216" y="4754880"/>
            <a:ext cx="1773936" cy="502920"/>
          </a:xfrm>
          <a:prstGeom prst="rect">
            <a:avLst/>
          </a:prstGeom>
          <a:noFill/>
          <a:ln/>
        </p:spPr>
        <p:txBody>
          <a:bodyPr wrap="square" lIns="0" tIns="0" rIns="0" bIns="0" rtlCol="0" anchor="ctr"/>
          <a:lstStyle/>
          <a:p>
            <a:pPr marL="0" indent="0">
              <a:lnSpc>
                <a:spcPts val="1300"/>
              </a:lnSpc>
              <a:buNone/>
            </a:pPr>
            <a:r>
              <a:rPr lang="en-US" sz="1000" dirty="0">
                <a:solidFill>
                  <a:srgbClr val="9FC6D4"/>
                </a:solidFill>
                <a:latin typeface="Calibri" pitchFamily="34" charset="0"/>
                <a:ea typeface="Calibri" pitchFamily="34" charset="-122"/>
                <a:cs typeface="Calibri" pitchFamily="34" charset="-120"/>
              </a:rPr>
              <a:t>Prometheus, Loki, Grafana</a:t>
            </a:r>
            <a:endParaRPr lang="en-US" sz="1000" dirty="0"/>
          </a:p>
        </p:txBody>
      </p:sp>
      <p:sp>
        <p:nvSpPr>
          <p:cNvPr id="34" name="Shape 32"/>
          <p:cNvSpPr/>
          <p:nvPr/>
        </p:nvSpPr>
        <p:spPr>
          <a:xfrm>
            <a:off x="9546336" y="4315968"/>
            <a:ext cx="2066544" cy="1051560"/>
          </a:xfrm>
          <a:prstGeom prst="roundRect">
            <a:avLst>
              <a:gd name="adj" fmla="val 5217"/>
            </a:avLst>
          </a:prstGeom>
          <a:solidFill>
            <a:srgbClr val="12263F"/>
          </a:solidFill>
          <a:ln/>
        </p:spPr>
        <p:txBody>
          <a:bodyPr/>
          <a:lstStyle/>
          <a:p>
            <a:endParaRPr lang="fr-FR"/>
          </a:p>
        </p:txBody>
      </p:sp>
      <p:sp>
        <p:nvSpPr>
          <p:cNvPr id="35" name="Text 33"/>
          <p:cNvSpPr/>
          <p:nvPr/>
        </p:nvSpPr>
        <p:spPr>
          <a:xfrm>
            <a:off x="9692640" y="4443984"/>
            <a:ext cx="1773936"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Développement</a:t>
            </a:r>
            <a:endParaRPr lang="en-US" sz="1150" dirty="0"/>
          </a:p>
        </p:txBody>
      </p:sp>
      <p:sp>
        <p:nvSpPr>
          <p:cNvPr id="36" name="Text 34"/>
          <p:cNvSpPr/>
          <p:nvPr/>
        </p:nvSpPr>
        <p:spPr>
          <a:xfrm>
            <a:off x="9692640" y="4754880"/>
            <a:ext cx="1773936" cy="502920"/>
          </a:xfrm>
          <a:prstGeom prst="rect">
            <a:avLst/>
          </a:prstGeom>
          <a:noFill/>
          <a:ln/>
        </p:spPr>
        <p:txBody>
          <a:bodyPr wrap="square" lIns="0" tIns="0" rIns="0" bIns="0" rtlCol="0" anchor="ctr"/>
          <a:lstStyle/>
          <a:p>
            <a:pPr marL="0" indent="0">
              <a:lnSpc>
                <a:spcPts val="1300"/>
              </a:lnSpc>
              <a:buNone/>
            </a:pPr>
            <a:r>
              <a:rPr lang="en-US" sz="1000" dirty="0">
                <a:solidFill>
                  <a:srgbClr val="9FC6D4"/>
                </a:solidFill>
                <a:latin typeface="Calibri" pitchFamily="34" charset="0"/>
                <a:ea typeface="Calibri" pitchFamily="34" charset="-122"/>
                <a:cs typeface="Calibri" pitchFamily="34" charset="-120"/>
              </a:rPr>
              <a:t>TypeScript, Go, Java, Bash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1. PRÉSENTATION PERSONNELLE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Parcours professionnel : du développement vers l'ingénierie DevOps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2304288"/>
            <a:ext cx="11064240" cy="27432"/>
          </a:xfrm>
          <a:prstGeom prst="rect">
            <a:avLst/>
          </a:prstGeom>
          <a:solidFill>
            <a:srgbClr val="EEF3F7"/>
          </a:solidFill>
          <a:ln/>
        </p:spPr>
        <p:txBody>
          <a:bodyPr/>
          <a:lstStyle/>
          <a:p>
            <a:endParaRPr lang="fr-FR"/>
          </a:p>
        </p:txBody>
      </p:sp>
      <p:sp>
        <p:nvSpPr>
          <p:cNvPr id="7" name="Shape 5"/>
          <p:cNvSpPr/>
          <p:nvPr/>
        </p:nvSpPr>
        <p:spPr>
          <a:xfrm>
            <a:off x="566928" y="2139696"/>
            <a:ext cx="365760" cy="365760"/>
          </a:xfrm>
          <a:prstGeom prst="ellipse">
            <a:avLst/>
          </a:prstGeom>
          <a:solidFill>
            <a:srgbClr val="12263F"/>
          </a:solidFill>
          <a:ln/>
        </p:spPr>
        <p:txBody>
          <a:bodyPr/>
          <a:lstStyle/>
          <a:p>
            <a:endParaRPr lang="fr-FR"/>
          </a:p>
        </p:txBody>
      </p:sp>
      <p:sp>
        <p:nvSpPr>
          <p:cNvPr id="8" name="Text 6"/>
          <p:cNvSpPr/>
          <p:nvPr/>
        </p:nvSpPr>
        <p:spPr>
          <a:xfrm>
            <a:off x="548640" y="1572768"/>
            <a:ext cx="3474720" cy="29260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2022-2023</a:t>
            </a:r>
            <a:endParaRPr lang="en-US" sz="1250" dirty="0"/>
          </a:p>
        </p:txBody>
      </p:sp>
      <p:sp>
        <p:nvSpPr>
          <p:cNvPr id="9" name="Text 7"/>
          <p:cNvSpPr/>
          <p:nvPr/>
        </p:nvSpPr>
        <p:spPr>
          <a:xfrm>
            <a:off x="548640" y="1865376"/>
            <a:ext cx="3474720" cy="292608"/>
          </a:xfrm>
          <a:prstGeom prst="rect">
            <a:avLst/>
          </a:prstGeom>
          <a:noFill/>
          <a:ln/>
        </p:spPr>
        <p:txBody>
          <a:bodyPr wrap="square" lIns="0" tIns="0" rIns="0" bIns="0" rtlCol="0" anchor="ctr"/>
          <a:lstStyle/>
          <a:p>
            <a:pPr marL="0" indent="0">
              <a:buNone/>
            </a:pPr>
            <a:r>
              <a:rPr lang="en-US" sz="1500" b="1" dirty="0">
                <a:solidFill>
                  <a:srgbClr val="12263F"/>
                </a:solidFill>
                <a:latin typeface="Cambria" pitchFamily="34" charset="0"/>
                <a:ea typeface="Cambria" pitchFamily="34" charset="-122"/>
                <a:cs typeface="Cambria" pitchFamily="34" charset="-120"/>
              </a:rPr>
              <a:t>IT Remote</a:t>
            </a:r>
            <a:endParaRPr lang="en-US" sz="1500" dirty="0"/>
          </a:p>
        </p:txBody>
      </p:sp>
      <p:sp>
        <p:nvSpPr>
          <p:cNvPr id="10" name="Text 8"/>
          <p:cNvSpPr/>
          <p:nvPr/>
        </p:nvSpPr>
        <p:spPr>
          <a:xfrm>
            <a:off x="548640" y="2688336"/>
            <a:ext cx="3474720" cy="274320"/>
          </a:xfrm>
          <a:prstGeom prst="rect">
            <a:avLst/>
          </a:prstGeom>
          <a:noFill/>
          <a:ln/>
        </p:spPr>
        <p:txBody>
          <a:bodyPr wrap="square" lIns="0" tIns="0" rIns="0" bIns="0" rtlCol="0" anchor="ctr"/>
          <a:lstStyle/>
          <a:p>
            <a:pPr marL="0" indent="0">
              <a:buNone/>
            </a:pPr>
            <a:r>
              <a:rPr lang="en-US" sz="1200" b="1" dirty="0" err="1">
                <a:solidFill>
                  <a:srgbClr val="12263F"/>
                </a:solidFill>
                <a:latin typeface="Calibri" pitchFamily="34" charset="0"/>
                <a:ea typeface="Calibri" pitchFamily="34" charset="-122"/>
                <a:cs typeface="Calibri" pitchFamily="34" charset="-120"/>
              </a:rPr>
              <a:t>Développeur</a:t>
            </a:r>
            <a:r>
              <a:rPr lang="en-US" sz="1200" b="1" dirty="0">
                <a:solidFill>
                  <a:srgbClr val="12263F"/>
                </a:solidFill>
                <a:latin typeface="Calibri" pitchFamily="34" charset="0"/>
                <a:ea typeface="Calibri" pitchFamily="34" charset="-122"/>
                <a:cs typeface="Calibri" pitchFamily="34" charset="-120"/>
              </a:rPr>
              <a:t> full-stack (CDI)</a:t>
            </a:r>
            <a:endParaRPr lang="en-US" sz="1200" dirty="0"/>
          </a:p>
        </p:txBody>
      </p:sp>
      <p:sp>
        <p:nvSpPr>
          <p:cNvPr id="11" name="Text 9"/>
          <p:cNvSpPr/>
          <p:nvPr/>
        </p:nvSpPr>
        <p:spPr>
          <a:xfrm>
            <a:off x="548640" y="3017520"/>
            <a:ext cx="3474720" cy="137160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Console d'administration et agents Windows ASP.NET Core, TypeScript. Cadre agile.</a:t>
            </a:r>
            <a:endParaRPr lang="en-US" sz="1150" dirty="0"/>
          </a:p>
        </p:txBody>
      </p:sp>
      <p:sp>
        <p:nvSpPr>
          <p:cNvPr id="12" name="Shape 10"/>
          <p:cNvSpPr/>
          <p:nvPr/>
        </p:nvSpPr>
        <p:spPr>
          <a:xfrm>
            <a:off x="4352544" y="2139696"/>
            <a:ext cx="365760" cy="365760"/>
          </a:xfrm>
          <a:prstGeom prst="ellipse">
            <a:avLst/>
          </a:prstGeom>
          <a:solidFill>
            <a:srgbClr val="12263F"/>
          </a:solidFill>
          <a:ln/>
        </p:spPr>
        <p:txBody>
          <a:bodyPr/>
          <a:lstStyle/>
          <a:p>
            <a:endParaRPr lang="fr-FR"/>
          </a:p>
        </p:txBody>
      </p:sp>
      <p:sp>
        <p:nvSpPr>
          <p:cNvPr id="13" name="Text 11"/>
          <p:cNvSpPr/>
          <p:nvPr/>
        </p:nvSpPr>
        <p:spPr>
          <a:xfrm>
            <a:off x="4334256" y="1572768"/>
            <a:ext cx="3474720" cy="29260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2023-2024</a:t>
            </a:r>
            <a:endParaRPr lang="en-US" sz="1250" dirty="0"/>
          </a:p>
        </p:txBody>
      </p:sp>
      <p:sp>
        <p:nvSpPr>
          <p:cNvPr id="14" name="Text 12"/>
          <p:cNvSpPr/>
          <p:nvPr/>
        </p:nvSpPr>
        <p:spPr>
          <a:xfrm>
            <a:off x="4334256" y="1865376"/>
            <a:ext cx="3474720" cy="292608"/>
          </a:xfrm>
          <a:prstGeom prst="rect">
            <a:avLst/>
          </a:prstGeom>
          <a:noFill/>
          <a:ln/>
        </p:spPr>
        <p:txBody>
          <a:bodyPr wrap="square" lIns="0" tIns="0" rIns="0" bIns="0" rtlCol="0" anchor="ctr"/>
          <a:lstStyle/>
          <a:p>
            <a:pPr marL="0" indent="0">
              <a:buNone/>
            </a:pPr>
            <a:r>
              <a:rPr lang="en-US" sz="1500" b="1" dirty="0">
                <a:solidFill>
                  <a:srgbClr val="12263F"/>
                </a:solidFill>
                <a:latin typeface="Cambria" pitchFamily="34" charset="0"/>
                <a:ea typeface="Cambria" pitchFamily="34" charset="-122"/>
                <a:cs typeface="Cambria" pitchFamily="34" charset="-120"/>
              </a:rPr>
              <a:t>Altares Dun &amp; Bradstreet</a:t>
            </a:r>
            <a:endParaRPr lang="en-US" sz="1500" dirty="0"/>
          </a:p>
        </p:txBody>
      </p:sp>
      <p:sp>
        <p:nvSpPr>
          <p:cNvPr id="15" name="Text 13"/>
          <p:cNvSpPr/>
          <p:nvPr/>
        </p:nvSpPr>
        <p:spPr>
          <a:xfrm>
            <a:off x="4334256" y="2688336"/>
            <a:ext cx="3474720" cy="274320"/>
          </a:xfrm>
          <a:prstGeom prst="rect">
            <a:avLst/>
          </a:prstGeom>
          <a:noFill/>
          <a:ln/>
        </p:spPr>
        <p:txBody>
          <a:bodyPr wrap="square" lIns="0" tIns="0" rIns="0" bIns="0" rtlCol="0" anchor="ctr"/>
          <a:lstStyle/>
          <a:p>
            <a:pPr marL="0" indent="0">
              <a:buNone/>
            </a:pPr>
            <a:r>
              <a:rPr lang="en-US" sz="1200" b="1" dirty="0" err="1">
                <a:solidFill>
                  <a:srgbClr val="12263F"/>
                </a:solidFill>
                <a:latin typeface="Calibri" pitchFamily="34" charset="0"/>
                <a:ea typeface="Calibri" pitchFamily="34" charset="-122"/>
                <a:cs typeface="Calibri" pitchFamily="34" charset="-120"/>
              </a:rPr>
              <a:t>Développeur</a:t>
            </a:r>
            <a:r>
              <a:rPr lang="en-US" sz="1200" b="1" dirty="0">
                <a:solidFill>
                  <a:srgbClr val="12263F"/>
                </a:solidFill>
                <a:latin typeface="Calibri" pitchFamily="34" charset="0"/>
                <a:ea typeface="Calibri" pitchFamily="34" charset="-122"/>
                <a:cs typeface="Calibri" pitchFamily="34" charset="-120"/>
              </a:rPr>
              <a:t> full-stack (alternance)</a:t>
            </a:r>
            <a:endParaRPr lang="en-US" sz="1200" dirty="0"/>
          </a:p>
        </p:txBody>
      </p:sp>
      <p:sp>
        <p:nvSpPr>
          <p:cNvPr id="16" name="Text 14"/>
          <p:cNvSpPr/>
          <p:nvPr/>
        </p:nvSpPr>
        <p:spPr>
          <a:xfrm>
            <a:off x="4334256" y="3017520"/>
            <a:ext cx="3474720" cy="137160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Front Next.js, back Java Spring Boot, recherche à grande échelle Elasticsearch, optimisation Oracle / MySQL.</a:t>
            </a:r>
            <a:endParaRPr lang="en-US" sz="1150" dirty="0"/>
          </a:p>
        </p:txBody>
      </p:sp>
      <p:sp>
        <p:nvSpPr>
          <p:cNvPr id="17" name="Shape 15"/>
          <p:cNvSpPr/>
          <p:nvPr/>
        </p:nvSpPr>
        <p:spPr>
          <a:xfrm>
            <a:off x="8138160" y="2139696"/>
            <a:ext cx="365760" cy="365760"/>
          </a:xfrm>
          <a:prstGeom prst="ellipse">
            <a:avLst/>
          </a:prstGeom>
          <a:solidFill>
            <a:srgbClr val="00A896"/>
          </a:solidFill>
          <a:ln/>
        </p:spPr>
        <p:txBody>
          <a:bodyPr/>
          <a:lstStyle/>
          <a:p>
            <a:endParaRPr lang="fr-FR"/>
          </a:p>
        </p:txBody>
      </p:sp>
      <p:sp>
        <p:nvSpPr>
          <p:cNvPr id="18" name="Text 16"/>
          <p:cNvSpPr/>
          <p:nvPr/>
        </p:nvSpPr>
        <p:spPr>
          <a:xfrm>
            <a:off x="8119872" y="1572768"/>
            <a:ext cx="3474720" cy="29260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2024-2026</a:t>
            </a:r>
            <a:endParaRPr lang="en-US" sz="1250" dirty="0"/>
          </a:p>
        </p:txBody>
      </p:sp>
      <p:sp>
        <p:nvSpPr>
          <p:cNvPr id="19" name="Text 17"/>
          <p:cNvSpPr/>
          <p:nvPr/>
        </p:nvSpPr>
        <p:spPr>
          <a:xfrm>
            <a:off x="8119872" y="1865376"/>
            <a:ext cx="3474720" cy="292608"/>
          </a:xfrm>
          <a:prstGeom prst="rect">
            <a:avLst/>
          </a:prstGeom>
          <a:noFill/>
          <a:ln/>
        </p:spPr>
        <p:txBody>
          <a:bodyPr wrap="square" lIns="0" tIns="0" rIns="0" bIns="0" rtlCol="0" anchor="ctr"/>
          <a:lstStyle/>
          <a:p>
            <a:pPr marL="0" indent="0">
              <a:buNone/>
            </a:pPr>
            <a:r>
              <a:rPr lang="en-US" sz="1500" b="1" dirty="0">
                <a:solidFill>
                  <a:srgbClr val="12263F"/>
                </a:solidFill>
                <a:latin typeface="Cambria" pitchFamily="34" charset="0"/>
                <a:ea typeface="Cambria" pitchFamily="34" charset="-122"/>
                <a:cs typeface="Cambria" pitchFamily="34" charset="-120"/>
              </a:rPr>
              <a:t>FDJ United</a:t>
            </a:r>
            <a:endParaRPr lang="en-US" sz="1500" dirty="0"/>
          </a:p>
        </p:txBody>
      </p:sp>
      <p:sp>
        <p:nvSpPr>
          <p:cNvPr id="20" name="Text 18"/>
          <p:cNvSpPr/>
          <p:nvPr/>
        </p:nvSpPr>
        <p:spPr>
          <a:xfrm>
            <a:off x="8119872" y="2688336"/>
            <a:ext cx="3474720" cy="27432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Ingénieur DevOps (alternance)</a:t>
            </a:r>
            <a:endParaRPr lang="en-US" sz="1200" dirty="0"/>
          </a:p>
        </p:txBody>
      </p:sp>
      <p:sp>
        <p:nvSpPr>
          <p:cNvPr id="21" name="Text 19"/>
          <p:cNvSpPr/>
          <p:nvPr/>
        </p:nvSpPr>
        <p:spPr>
          <a:xfrm>
            <a:off x="8119872" y="3017520"/>
            <a:ext cx="3474720" cy="137160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Plateforme interne self-service, Kubernetes, Terraform, Helm, GitLab CI, Bash &amp; Go, Prometheus, Loki. Production à fort trafic.</a:t>
            </a:r>
            <a:endParaRPr lang="en-US" sz="1150" dirty="0"/>
          </a:p>
        </p:txBody>
      </p:sp>
      <p:sp>
        <p:nvSpPr>
          <p:cNvPr id="22" name="Shape 20"/>
          <p:cNvSpPr/>
          <p:nvPr/>
        </p:nvSpPr>
        <p:spPr>
          <a:xfrm>
            <a:off x="548640" y="4709160"/>
            <a:ext cx="11064240" cy="1280160"/>
          </a:xfrm>
          <a:prstGeom prst="roundRect">
            <a:avLst>
              <a:gd name="adj" fmla="val 4286"/>
            </a:avLst>
          </a:prstGeom>
          <a:solidFill>
            <a:srgbClr val="EEF3F7"/>
          </a:solidFill>
          <a:ln/>
        </p:spPr>
        <p:txBody>
          <a:bodyPr/>
          <a:lstStyle/>
          <a:p>
            <a:endParaRPr lang="fr-FR"/>
          </a:p>
        </p:txBody>
      </p:sp>
      <p:sp>
        <p:nvSpPr>
          <p:cNvPr id="23" name="Text 21"/>
          <p:cNvSpPr/>
          <p:nvPr/>
        </p:nvSpPr>
        <p:spPr>
          <a:xfrm>
            <a:off x="868680" y="4864608"/>
            <a:ext cx="1042416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Objectifs de cette présentation</a:t>
            </a:r>
            <a:endParaRPr lang="en-US" sz="1400" dirty="0"/>
          </a:p>
        </p:txBody>
      </p:sp>
      <p:sp>
        <p:nvSpPr>
          <p:cNvPr id="24" name="Text 22"/>
          <p:cNvSpPr/>
          <p:nvPr/>
        </p:nvSpPr>
        <p:spPr>
          <a:xfrm>
            <a:off x="868680" y="5193792"/>
            <a:ext cx="10424160" cy="685800"/>
          </a:xfrm>
          <a:prstGeom prst="rect">
            <a:avLst/>
          </a:prstGeom>
          <a:noFill/>
          <a:ln/>
        </p:spPr>
        <p:txBody>
          <a:bodyPr wrap="square" lIns="0" tIns="0" rIns="0" bIns="0" rtlCol="0" anchor="ctr"/>
          <a:lstStyle/>
          <a:p>
            <a:pPr marL="0" indent="0">
              <a:lnSpc>
                <a:spcPts val="1600"/>
              </a:lnSpc>
              <a:buNone/>
            </a:pPr>
            <a:r>
              <a:rPr lang="en-US" sz="1200" dirty="0">
                <a:solidFill>
                  <a:srgbClr val="4A5769"/>
                </a:solidFill>
                <a:latin typeface="Calibri" pitchFamily="34" charset="0"/>
                <a:ea typeface="Calibri" pitchFamily="34" charset="-122"/>
                <a:cs typeface="Calibri" pitchFamily="34" charset="-120"/>
              </a:rPr>
              <a:t>Démontrer la capacité à concevoir, automatiser, sécuriser et exploiter une infrastructure DevOps complète, du code à la production — en apportant une réflexion argumentée plutôt qu'une description technique : chaque choix est explicité, comparé à ses alternatives et évalué à l'aune de ses conséquences.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2</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Présentation de la problématique</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Contexte, enjeux, méthodologie de l'étude et résultats attendus</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2.1 CONTEXTE ET IMPORTANCE DU SUJET</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 domaine : DevOps au service d'un SaaS de partage de médias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err="1">
                <a:solidFill>
                  <a:srgbClr val="9AA6B8"/>
                </a:solidFill>
                <a:latin typeface="Calibri" pitchFamily="34" charset="0"/>
                <a:ea typeface="Calibri" pitchFamily="34" charset="-122"/>
                <a:cs typeface="Calibri" pitchFamily="34" charset="-120"/>
              </a:rPr>
              <a:t>Dropicture</a:t>
            </a:r>
            <a:r>
              <a:rPr lang="en-US" sz="900" dirty="0">
                <a:solidFill>
                  <a:srgbClr val="9AA6B8"/>
                </a:solidFill>
                <a:latin typeface="Calibri" pitchFamily="34" charset="0"/>
                <a:ea typeface="Calibri" pitchFamily="34" charset="-122"/>
                <a:cs typeface="Calibri" pitchFamily="34" charset="-120"/>
              </a:rPr>
              <a:t> </a:t>
            </a:r>
            <a:r>
              <a:rPr lang="en-US" sz="900" dirty="0" err="1">
                <a:solidFill>
                  <a:srgbClr val="9AA6B8"/>
                </a:solidFill>
                <a:latin typeface="Calibri" pitchFamily="34" charset="0"/>
                <a:ea typeface="Calibri" pitchFamily="34" charset="-122"/>
                <a:cs typeface="Calibri" pitchFamily="34" charset="-120"/>
              </a:rPr>
              <a:t>Soutenance</a:t>
            </a:r>
            <a:r>
              <a:rPr lang="en-US" sz="900" dirty="0">
                <a:solidFill>
                  <a:srgbClr val="9AA6B8"/>
                </a:solidFill>
                <a:latin typeface="Calibri" pitchFamily="34" charset="0"/>
                <a:ea typeface="Calibri" pitchFamily="34" charset="-122"/>
                <a:cs typeface="Calibri" pitchFamily="34" charset="-120"/>
              </a:rPr>
              <a:t>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481328"/>
            <a:ext cx="5486400" cy="1965960"/>
          </a:xfrm>
          <a:prstGeom prst="roundRect">
            <a:avLst>
              <a:gd name="adj" fmla="val 2791"/>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700784"/>
            <a:ext cx="384048" cy="384048"/>
          </a:xfrm>
          <a:prstGeom prst="ellipse">
            <a:avLst/>
          </a:prstGeom>
          <a:solidFill>
            <a:srgbClr val="00A896"/>
          </a:solidFill>
          <a:ln/>
        </p:spPr>
        <p:txBody>
          <a:bodyPr/>
          <a:lstStyle/>
          <a:p>
            <a:endParaRPr lang="fr-FR"/>
          </a:p>
        </p:txBody>
      </p:sp>
      <p:sp>
        <p:nvSpPr>
          <p:cNvPr id="8" name="Text 6"/>
          <p:cNvSpPr/>
          <p:nvPr/>
        </p:nvSpPr>
        <p:spPr>
          <a:xfrm>
            <a:off x="786384"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64208"/>
            <a:ext cx="448056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Le </a:t>
            </a:r>
            <a:r>
              <a:rPr lang="en-US" sz="1400" b="1" dirty="0" err="1">
                <a:solidFill>
                  <a:srgbClr val="12263F"/>
                </a:solidFill>
                <a:latin typeface="Calibri" pitchFamily="34" charset="0"/>
                <a:ea typeface="Calibri" pitchFamily="34" charset="-122"/>
                <a:cs typeface="Calibri" pitchFamily="34" charset="-120"/>
              </a:rPr>
              <a:t>produit</a:t>
            </a:r>
            <a:r>
              <a:rPr lang="en-US" sz="1400" b="1" dirty="0">
                <a:solidFill>
                  <a:srgbClr val="12263F"/>
                </a:solidFill>
                <a:latin typeface="Calibri" pitchFamily="34" charset="0"/>
                <a:ea typeface="Calibri" pitchFamily="34" charset="-122"/>
                <a:cs typeface="Calibri" pitchFamily="34" charset="-120"/>
              </a:rPr>
              <a:t> </a:t>
            </a:r>
            <a:r>
              <a:rPr lang="en-US" sz="1400" b="1" dirty="0" err="1">
                <a:solidFill>
                  <a:srgbClr val="12263F"/>
                </a:solidFill>
                <a:latin typeface="Calibri" pitchFamily="34" charset="0"/>
                <a:ea typeface="Calibri" pitchFamily="34" charset="-122"/>
                <a:cs typeface="Calibri" pitchFamily="34" charset="-120"/>
              </a:rPr>
              <a:t>dropicture</a:t>
            </a:r>
            <a:endParaRPr lang="en-US" sz="1400" dirty="0"/>
          </a:p>
        </p:txBody>
      </p:sp>
      <p:sp>
        <p:nvSpPr>
          <p:cNvPr id="10" name="Text 8"/>
          <p:cNvSpPr/>
          <p:nvPr/>
        </p:nvSpPr>
        <p:spPr>
          <a:xfrm>
            <a:off x="804672" y="2194560"/>
            <a:ext cx="4974336" cy="10515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Plateforme SaaS de partage de photos et vidéos fondée sur un principe simple : tout est privé par défaut, seule une action explicite et révocable rend un contenu public. Positionnement différenciant face aux acteurs grand public.</a:t>
            </a:r>
            <a:endParaRPr lang="en-US" sz="1150" dirty="0"/>
          </a:p>
        </p:txBody>
      </p:sp>
      <p:sp>
        <p:nvSpPr>
          <p:cNvPr id="11" name="Shape 9"/>
          <p:cNvSpPr/>
          <p:nvPr/>
        </p:nvSpPr>
        <p:spPr>
          <a:xfrm>
            <a:off x="6163056" y="1481328"/>
            <a:ext cx="5486400" cy="1965960"/>
          </a:xfrm>
          <a:prstGeom prst="roundRect">
            <a:avLst>
              <a:gd name="adj" fmla="val 2791"/>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6400800" y="1700784"/>
            <a:ext cx="384048" cy="384048"/>
          </a:xfrm>
          <a:prstGeom prst="ellipse">
            <a:avLst/>
          </a:prstGeom>
          <a:solidFill>
            <a:srgbClr val="E08A3C"/>
          </a:solidFill>
          <a:ln/>
        </p:spPr>
        <p:txBody>
          <a:bodyPr/>
          <a:lstStyle/>
          <a:p>
            <a:endParaRPr lang="fr-FR"/>
          </a:p>
        </p:txBody>
      </p:sp>
      <p:sp>
        <p:nvSpPr>
          <p:cNvPr id="13" name="Text 11"/>
          <p:cNvSpPr/>
          <p:nvPr/>
        </p:nvSpPr>
        <p:spPr>
          <a:xfrm>
            <a:off x="6400800"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12864" y="1664208"/>
            <a:ext cx="448056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Le </a:t>
            </a:r>
            <a:r>
              <a:rPr lang="en-US" sz="1400" b="1" dirty="0" err="1">
                <a:solidFill>
                  <a:srgbClr val="12263F"/>
                </a:solidFill>
                <a:latin typeface="Calibri" pitchFamily="34" charset="0"/>
                <a:ea typeface="Calibri" pitchFamily="34" charset="-122"/>
                <a:cs typeface="Calibri" pitchFamily="34" charset="-120"/>
              </a:rPr>
              <a:t>domaine</a:t>
            </a:r>
            <a:r>
              <a:rPr lang="en-US" sz="1400" b="1" dirty="0">
                <a:solidFill>
                  <a:srgbClr val="12263F"/>
                </a:solidFill>
                <a:latin typeface="Calibri" pitchFamily="34" charset="0"/>
                <a:ea typeface="Calibri" pitchFamily="34" charset="-122"/>
                <a:cs typeface="Calibri" pitchFamily="34" charset="-120"/>
              </a:rPr>
              <a:t> </a:t>
            </a:r>
            <a:r>
              <a:rPr lang="en-US" sz="1400" b="1" dirty="0" err="1">
                <a:solidFill>
                  <a:srgbClr val="12263F"/>
                </a:solidFill>
                <a:latin typeface="Calibri" pitchFamily="34" charset="0"/>
                <a:ea typeface="Calibri" pitchFamily="34" charset="-122"/>
                <a:cs typeface="Calibri" pitchFamily="34" charset="-120"/>
              </a:rPr>
              <a:t>l'option</a:t>
            </a:r>
            <a:r>
              <a:rPr lang="en-US" sz="1400" b="1" dirty="0">
                <a:solidFill>
                  <a:srgbClr val="12263F"/>
                </a:solidFill>
                <a:latin typeface="Calibri" pitchFamily="34" charset="0"/>
                <a:ea typeface="Calibri" pitchFamily="34" charset="-122"/>
                <a:cs typeface="Calibri" pitchFamily="34" charset="-120"/>
              </a:rPr>
              <a:t> DevOps</a:t>
            </a:r>
            <a:endParaRPr lang="en-US" sz="1400" dirty="0"/>
          </a:p>
        </p:txBody>
      </p:sp>
      <p:sp>
        <p:nvSpPr>
          <p:cNvPr id="15" name="Text 13"/>
          <p:cNvSpPr/>
          <p:nvPr/>
        </p:nvSpPr>
        <p:spPr>
          <a:xfrm>
            <a:off x="6419088" y="2194560"/>
            <a:ext cx="4974336" cy="10515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Discipline née de la volonté de maîtriser la distance entre le code produit et son exécution en production, en automatisant la chaîne et en instaurant une culture de mesure et d'amélioration continue.</a:t>
            </a:r>
            <a:endParaRPr lang="en-US" sz="1150" dirty="0"/>
          </a:p>
        </p:txBody>
      </p:sp>
      <p:sp>
        <p:nvSpPr>
          <p:cNvPr id="16" name="Text 14"/>
          <p:cNvSpPr/>
          <p:nvPr/>
        </p:nvSpPr>
        <p:spPr>
          <a:xfrm>
            <a:off x="548640" y="3749040"/>
            <a:ext cx="11064240" cy="32004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Les exigences que le positionnement produit impose au système d'information</a:t>
            </a:r>
            <a:endParaRPr lang="en-US" sz="1400" dirty="0"/>
          </a:p>
        </p:txBody>
      </p:sp>
      <p:sp>
        <p:nvSpPr>
          <p:cNvPr id="17" name="Shape 15"/>
          <p:cNvSpPr/>
          <p:nvPr/>
        </p:nvSpPr>
        <p:spPr>
          <a:xfrm>
            <a:off x="548640" y="4187952"/>
            <a:ext cx="2624328" cy="1691640"/>
          </a:xfrm>
          <a:prstGeom prst="roundRect">
            <a:avLst>
              <a:gd name="adj" fmla="val 3243"/>
            </a:avLst>
          </a:prstGeom>
          <a:solidFill>
            <a:srgbClr val="12263F"/>
          </a:solidFill>
          <a:ln/>
        </p:spPr>
        <p:txBody>
          <a:bodyPr/>
          <a:lstStyle/>
          <a:p>
            <a:endParaRPr lang="fr-FR"/>
          </a:p>
        </p:txBody>
      </p:sp>
      <p:sp>
        <p:nvSpPr>
          <p:cNvPr id="18" name="Text 16"/>
          <p:cNvSpPr/>
          <p:nvPr/>
        </p:nvSpPr>
        <p:spPr>
          <a:xfrm>
            <a:off x="749808" y="4352544"/>
            <a:ext cx="2221992" cy="56692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Séparation privé / public</a:t>
            </a:r>
            <a:endParaRPr lang="en-US" sz="1250" dirty="0"/>
          </a:p>
        </p:txBody>
      </p:sp>
      <p:sp>
        <p:nvSpPr>
          <p:cNvPr id="19" name="Text 17"/>
          <p:cNvSpPr/>
          <p:nvPr/>
        </p:nvSpPr>
        <p:spPr>
          <a:xfrm>
            <a:off x="749808" y="4956048"/>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Garantie de bout en bout, du modèle de données jusqu'à la diffusion CDN</a:t>
            </a:r>
            <a:endParaRPr lang="en-US" sz="1050" dirty="0"/>
          </a:p>
        </p:txBody>
      </p:sp>
      <p:sp>
        <p:nvSpPr>
          <p:cNvPr id="20" name="Shape 18"/>
          <p:cNvSpPr/>
          <p:nvPr/>
        </p:nvSpPr>
        <p:spPr>
          <a:xfrm>
            <a:off x="3374136" y="4187952"/>
            <a:ext cx="2624328" cy="1691640"/>
          </a:xfrm>
          <a:prstGeom prst="roundRect">
            <a:avLst>
              <a:gd name="adj" fmla="val 3243"/>
            </a:avLst>
          </a:prstGeom>
          <a:solidFill>
            <a:srgbClr val="12263F"/>
          </a:solidFill>
          <a:ln/>
        </p:spPr>
        <p:txBody>
          <a:bodyPr/>
          <a:lstStyle/>
          <a:p>
            <a:endParaRPr lang="fr-FR"/>
          </a:p>
        </p:txBody>
      </p:sp>
      <p:sp>
        <p:nvSpPr>
          <p:cNvPr id="21" name="Text 19"/>
          <p:cNvSpPr/>
          <p:nvPr/>
        </p:nvSpPr>
        <p:spPr>
          <a:xfrm>
            <a:off x="3575304" y="4352544"/>
            <a:ext cx="2221992" cy="56692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Disponibilité &amp; performance</a:t>
            </a:r>
            <a:endParaRPr lang="en-US" sz="1250" dirty="0"/>
          </a:p>
        </p:txBody>
      </p:sp>
      <p:sp>
        <p:nvSpPr>
          <p:cNvPr id="22" name="Text 20"/>
          <p:cNvSpPr/>
          <p:nvPr/>
        </p:nvSpPr>
        <p:spPr>
          <a:xfrm>
            <a:off x="3575304" y="4956048"/>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Absorber la variabilité de charge, déployer sans interruption</a:t>
            </a:r>
            <a:endParaRPr lang="en-US" sz="1050" dirty="0"/>
          </a:p>
        </p:txBody>
      </p:sp>
      <p:sp>
        <p:nvSpPr>
          <p:cNvPr id="23" name="Shape 21"/>
          <p:cNvSpPr/>
          <p:nvPr/>
        </p:nvSpPr>
        <p:spPr>
          <a:xfrm>
            <a:off x="6199632" y="4187952"/>
            <a:ext cx="2624328" cy="1691640"/>
          </a:xfrm>
          <a:prstGeom prst="roundRect">
            <a:avLst>
              <a:gd name="adj" fmla="val 3243"/>
            </a:avLst>
          </a:prstGeom>
          <a:solidFill>
            <a:srgbClr val="12263F"/>
          </a:solidFill>
          <a:ln/>
        </p:spPr>
        <p:txBody>
          <a:bodyPr/>
          <a:lstStyle/>
          <a:p>
            <a:endParaRPr lang="fr-FR"/>
          </a:p>
        </p:txBody>
      </p:sp>
      <p:sp>
        <p:nvSpPr>
          <p:cNvPr id="24" name="Text 22"/>
          <p:cNvSpPr/>
          <p:nvPr/>
        </p:nvSpPr>
        <p:spPr>
          <a:xfrm>
            <a:off x="6400800" y="4352544"/>
            <a:ext cx="2221992" cy="56692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Conformité RGPD</a:t>
            </a:r>
            <a:endParaRPr lang="en-US" sz="1250" dirty="0"/>
          </a:p>
        </p:txBody>
      </p:sp>
      <p:sp>
        <p:nvSpPr>
          <p:cNvPr id="25" name="Text 23"/>
          <p:cNvSpPr/>
          <p:nvPr/>
        </p:nvSpPr>
        <p:spPr>
          <a:xfrm>
            <a:off x="6400800" y="4956048"/>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Données à caractère personnel, hébergement souverain, droit à l'effacement</a:t>
            </a:r>
            <a:endParaRPr lang="en-US" sz="1050" dirty="0"/>
          </a:p>
        </p:txBody>
      </p:sp>
      <p:sp>
        <p:nvSpPr>
          <p:cNvPr id="26" name="Shape 24"/>
          <p:cNvSpPr/>
          <p:nvPr/>
        </p:nvSpPr>
        <p:spPr>
          <a:xfrm>
            <a:off x="9025128" y="4187952"/>
            <a:ext cx="2624328" cy="1691640"/>
          </a:xfrm>
          <a:prstGeom prst="roundRect">
            <a:avLst>
              <a:gd name="adj" fmla="val 3243"/>
            </a:avLst>
          </a:prstGeom>
          <a:solidFill>
            <a:srgbClr val="12263F"/>
          </a:solidFill>
          <a:ln/>
        </p:spPr>
        <p:txBody>
          <a:bodyPr/>
          <a:lstStyle/>
          <a:p>
            <a:endParaRPr lang="fr-FR"/>
          </a:p>
        </p:txBody>
      </p:sp>
      <p:sp>
        <p:nvSpPr>
          <p:cNvPr id="27" name="Text 25"/>
          <p:cNvSpPr/>
          <p:nvPr/>
        </p:nvSpPr>
        <p:spPr>
          <a:xfrm>
            <a:off x="9226296" y="4352544"/>
            <a:ext cx="2221992" cy="566928"/>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Sobriété numérique</a:t>
            </a:r>
            <a:endParaRPr lang="en-US" sz="1250" dirty="0"/>
          </a:p>
        </p:txBody>
      </p:sp>
      <p:sp>
        <p:nvSpPr>
          <p:cNvPr id="28" name="Text 26"/>
          <p:cNvSpPr/>
          <p:nvPr/>
        </p:nvSpPr>
        <p:spPr>
          <a:xfrm>
            <a:off x="9226296" y="4956048"/>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Mesurer et maîtriser l'empreinte environnementale et financière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2.2 OBJECTIFS DE LA PRÉSENTATION</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La problématique et les cinq objectifs opérationnels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417320"/>
            <a:ext cx="11064240" cy="1325880"/>
          </a:xfrm>
          <a:prstGeom prst="roundRect">
            <a:avLst>
              <a:gd name="adj" fmla="val 4138"/>
            </a:avLst>
          </a:prstGeom>
          <a:solidFill>
            <a:srgbClr val="0B1729"/>
          </a:solidFill>
          <a:ln/>
        </p:spPr>
        <p:txBody>
          <a:bodyPr/>
          <a:lstStyle/>
          <a:p>
            <a:endParaRPr lang="fr-FR"/>
          </a:p>
        </p:txBody>
      </p:sp>
      <p:sp>
        <p:nvSpPr>
          <p:cNvPr id="7" name="Text 5"/>
          <p:cNvSpPr/>
          <p:nvPr/>
        </p:nvSpPr>
        <p:spPr>
          <a:xfrm>
            <a:off x="868680" y="1572768"/>
            <a:ext cx="10424160" cy="1051560"/>
          </a:xfrm>
          <a:prstGeom prst="rect">
            <a:avLst/>
          </a:prstGeom>
          <a:noFill/>
          <a:ln/>
        </p:spPr>
        <p:txBody>
          <a:bodyPr wrap="square" lIns="0" tIns="0" rIns="0" bIns="0" rtlCol="0" anchor="ctr"/>
          <a:lstStyle/>
          <a:p>
            <a:pPr marL="0" indent="0">
              <a:lnSpc>
                <a:spcPts val="2600"/>
              </a:lnSpc>
              <a:buNone/>
            </a:pPr>
            <a:r>
              <a:rPr lang="en-US" sz="1500" b="1" dirty="0">
                <a:solidFill>
                  <a:srgbClr val="FFFFFF"/>
                </a:solidFill>
                <a:latin typeface="Cambria" pitchFamily="34" charset="0"/>
                <a:ea typeface="Cambria" pitchFamily="34" charset="-122"/>
                <a:cs typeface="Cambria" pitchFamily="34" charset="-120"/>
              </a:rPr>
              <a:t>« Comment concevoir et déployer une infrastructure DevOps entièrement automatisée, sécurisée et éco-responsable,</a:t>
            </a:r>
            <a:endParaRPr lang="en-US" sz="1500" dirty="0"/>
          </a:p>
          <a:p>
            <a:pPr marL="0" indent="0">
              <a:lnSpc>
                <a:spcPts val="2600"/>
              </a:lnSpc>
              <a:buNone/>
            </a:pPr>
            <a:r>
              <a:rPr lang="en-US" sz="1500" b="1" dirty="0">
                <a:solidFill>
                  <a:srgbClr val="FFFFFF"/>
                </a:solidFill>
                <a:latin typeface="Cambria" pitchFamily="34" charset="0"/>
                <a:ea typeface="Cambria" pitchFamily="34" charset="-122"/>
                <a:cs typeface="Cambria" pitchFamily="34" charset="-120"/>
              </a:rPr>
              <a:t>permettant la livraison continue d'une plateforme SaaS de partage de médias tout en garantissant la qualité,</a:t>
            </a:r>
            <a:endParaRPr lang="en-US" sz="1500" dirty="0"/>
          </a:p>
          <a:p>
            <a:pPr marL="0" indent="0">
              <a:lnSpc>
                <a:spcPts val="2600"/>
              </a:lnSpc>
              <a:buNone/>
            </a:pPr>
            <a:r>
              <a:rPr lang="en-US" sz="1500" b="1" dirty="0">
                <a:solidFill>
                  <a:srgbClr val="FFFFFF"/>
                </a:solidFill>
                <a:latin typeface="Cambria" pitchFamily="34" charset="0"/>
                <a:ea typeface="Cambria" pitchFamily="34" charset="-122"/>
                <a:cs typeface="Cambria" pitchFamily="34" charset="-120"/>
              </a:rPr>
              <a:t>l'observabilité et la maîtrise des coûts ? »</a:t>
            </a:r>
            <a:endParaRPr lang="en-US" sz="1500" dirty="0"/>
          </a:p>
        </p:txBody>
      </p:sp>
      <p:sp>
        <p:nvSpPr>
          <p:cNvPr id="8" name="Shape 6"/>
          <p:cNvSpPr/>
          <p:nvPr/>
        </p:nvSpPr>
        <p:spPr>
          <a:xfrm>
            <a:off x="548640" y="3063240"/>
            <a:ext cx="2066544" cy="2788920"/>
          </a:xfrm>
          <a:prstGeom prst="roundRect">
            <a:avLst>
              <a:gd name="adj" fmla="val 2655"/>
            </a:avLst>
          </a:prstGeom>
          <a:solidFill>
            <a:srgbClr val="EEF3F7"/>
          </a:solidFill>
          <a:ln w="12700">
            <a:solidFill>
              <a:srgbClr val="EEF3F7"/>
            </a:solidFill>
            <a:prstDash val="solid"/>
          </a:ln>
        </p:spPr>
        <p:txBody>
          <a:bodyPr/>
          <a:lstStyle/>
          <a:p>
            <a:endParaRPr lang="fr-FR"/>
          </a:p>
        </p:txBody>
      </p:sp>
      <p:sp>
        <p:nvSpPr>
          <p:cNvPr id="9" name="Shape 7"/>
          <p:cNvSpPr/>
          <p:nvPr/>
        </p:nvSpPr>
        <p:spPr>
          <a:xfrm>
            <a:off x="786384" y="3282696"/>
            <a:ext cx="384048" cy="384048"/>
          </a:xfrm>
          <a:prstGeom prst="ellipse">
            <a:avLst/>
          </a:prstGeom>
          <a:solidFill>
            <a:srgbClr val="00A896"/>
          </a:solidFill>
          <a:ln/>
        </p:spPr>
        <p:txBody>
          <a:bodyPr/>
          <a:lstStyle/>
          <a:p>
            <a:endParaRPr lang="fr-FR"/>
          </a:p>
        </p:txBody>
      </p:sp>
      <p:sp>
        <p:nvSpPr>
          <p:cNvPr id="10" name="Text 8"/>
          <p:cNvSpPr/>
          <p:nvPr/>
        </p:nvSpPr>
        <p:spPr>
          <a:xfrm>
            <a:off x="786384" y="32826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298448" y="3246120"/>
            <a:ext cx="1060704" cy="45720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Automatisation</a:t>
            </a:r>
            <a:endParaRPr lang="en-US" sz="1200" dirty="0"/>
          </a:p>
        </p:txBody>
      </p:sp>
      <p:sp>
        <p:nvSpPr>
          <p:cNvPr id="12" name="Text 10"/>
          <p:cNvSpPr/>
          <p:nvPr/>
        </p:nvSpPr>
        <p:spPr>
          <a:xfrm>
            <a:off x="804672" y="3776472"/>
            <a:ext cx="1554480" cy="18745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Décrire l'intégralité de l'infrastructure en code versionné et reproductible, pour éliminer les opérations manuelles.</a:t>
            </a:r>
            <a:endParaRPr lang="en-US" sz="1050" dirty="0"/>
          </a:p>
        </p:txBody>
      </p:sp>
      <p:sp>
        <p:nvSpPr>
          <p:cNvPr id="13" name="Shape 11"/>
          <p:cNvSpPr/>
          <p:nvPr/>
        </p:nvSpPr>
        <p:spPr>
          <a:xfrm>
            <a:off x="2798064" y="3063240"/>
            <a:ext cx="2066544" cy="2788920"/>
          </a:xfrm>
          <a:prstGeom prst="roundRect">
            <a:avLst>
              <a:gd name="adj" fmla="val 2655"/>
            </a:avLst>
          </a:prstGeom>
          <a:solidFill>
            <a:srgbClr val="EEF3F7"/>
          </a:solidFill>
          <a:ln w="12700">
            <a:solidFill>
              <a:srgbClr val="EEF3F7"/>
            </a:solidFill>
            <a:prstDash val="solid"/>
          </a:ln>
        </p:spPr>
        <p:txBody>
          <a:bodyPr/>
          <a:lstStyle/>
          <a:p>
            <a:endParaRPr lang="fr-FR"/>
          </a:p>
        </p:txBody>
      </p:sp>
      <p:sp>
        <p:nvSpPr>
          <p:cNvPr id="14" name="Shape 12"/>
          <p:cNvSpPr/>
          <p:nvPr/>
        </p:nvSpPr>
        <p:spPr>
          <a:xfrm>
            <a:off x="3035808" y="3282696"/>
            <a:ext cx="384048" cy="384048"/>
          </a:xfrm>
          <a:prstGeom prst="ellipse">
            <a:avLst/>
          </a:prstGeom>
          <a:solidFill>
            <a:srgbClr val="00A896"/>
          </a:solidFill>
          <a:ln/>
        </p:spPr>
        <p:txBody>
          <a:bodyPr/>
          <a:lstStyle/>
          <a:p>
            <a:endParaRPr lang="fr-FR"/>
          </a:p>
        </p:txBody>
      </p:sp>
      <p:sp>
        <p:nvSpPr>
          <p:cNvPr id="15" name="Text 13"/>
          <p:cNvSpPr/>
          <p:nvPr/>
        </p:nvSpPr>
        <p:spPr>
          <a:xfrm>
            <a:off x="3035808" y="32826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3547872" y="3246120"/>
            <a:ext cx="1060704" cy="45720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Livraison continue</a:t>
            </a:r>
            <a:endParaRPr lang="en-US" sz="1200" dirty="0"/>
          </a:p>
        </p:txBody>
      </p:sp>
      <p:sp>
        <p:nvSpPr>
          <p:cNvPr id="17" name="Text 15"/>
          <p:cNvSpPr/>
          <p:nvPr/>
        </p:nvSpPr>
        <p:spPr>
          <a:xfrm>
            <a:off x="3054096" y="3776472"/>
            <a:ext cx="1554480" cy="18745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Mettre en place une chaîne CI/CD automatisant tests, artefacts et déploiement, avec portes de qualité et de sécurité.</a:t>
            </a:r>
            <a:endParaRPr lang="en-US" sz="1050" dirty="0"/>
          </a:p>
        </p:txBody>
      </p:sp>
      <p:sp>
        <p:nvSpPr>
          <p:cNvPr id="18" name="Shape 16"/>
          <p:cNvSpPr/>
          <p:nvPr/>
        </p:nvSpPr>
        <p:spPr>
          <a:xfrm>
            <a:off x="5047488" y="3063240"/>
            <a:ext cx="2066544" cy="2788920"/>
          </a:xfrm>
          <a:prstGeom prst="roundRect">
            <a:avLst>
              <a:gd name="adj" fmla="val 2655"/>
            </a:avLst>
          </a:prstGeom>
          <a:solidFill>
            <a:srgbClr val="EEF3F7"/>
          </a:solidFill>
          <a:ln w="12700">
            <a:solidFill>
              <a:srgbClr val="EEF3F7"/>
            </a:solidFill>
            <a:prstDash val="solid"/>
          </a:ln>
        </p:spPr>
        <p:txBody>
          <a:bodyPr/>
          <a:lstStyle/>
          <a:p>
            <a:endParaRPr lang="fr-FR"/>
          </a:p>
        </p:txBody>
      </p:sp>
      <p:sp>
        <p:nvSpPr>
          <p:cNvPr id="19" name="Shape 17"/>
          <p:cNvSpPr/>
          <p:nvPr/>
        </p:nvSpPr>
        <p:spPr>
          <a:xfrm>
            <a:off x="5285232" y="3282696"/>
            <a:ext cx="384048" cy="384048"/>
          </a:xfrm>
          <a:prstGeom prst="ellipse">
            <a:avLst/>
          </a:prstGeom>
          <a:solidFill>
            <a:srgbClr val="00A896"/>
          </a:solidFill>
          <a:ln/>
        </p:spPr>
        <p:txBody>
          <a:bodyPr/>
          <a:lstStyle/>
          <a:p>
            <a:endParaRPr lang="fr-FR"/>
          </a:p>
        </p:txBody>
      </p:sp>
      <p:sp>
        <p:nvSpPr>
          <p:cNvPr id="20" name="Text 18"/>
          <p:cNvSpPr/>
          <p:nvPr/>
        </p:nvSpPr>
        <p:spPr>
          <a:xfrm>
            <a:off x="5285232" y="32826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5797296" y="3246120"/>
            <a:ext cx="1060704" cy="45720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Orchestration</a:t>
            </a:r>
            <a:endParaRPr lang="en-US" sz="1200" dirty="0"/>
          </a:p>
        </p:txBody>
      </p:sp>
      <p:sp>
        <p:nvSpPr>
          <p:cNvPr id="22" name="Text 20"/>
          <p:cNvSpPr/>
          <p:nvPr/>
        </p:nvSpPr>
        <p:spPr>
          <a:xfrm>
            <a:off x="5303520" y="3776472"/>
            <a:ext cx="1554480" cy="18745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Assurer portabilité, scalabilité et résilience, avec mises à jour sans interruption et repli automatique.</a:t>
            </a:r>
            <a:endParaRPr lang="en-US" sz="1050" dirty="0"/>
          </a:p>
        </p:txBody>
      </p:sp>
      <p:sp>
        <p:nvSpPr>
          <p:cNvPr id="23" name="Shape 21"/>
          <p:cNvSpPr/>
          <p:nvPr/>
        </p:nvSpPr>
        <p:spPr>
          <a:xfrm>
            <a:off x="7296912" y="3063240"/>
            <a:ext cx="2066544" cy="2788920"/>
          </a:xfrm>
          <a:prstGeom prst="roundRect">
            <a:avLst>
              <a:gd name="adj" fmla="val 2655"/>
            </a:avLst>
          </a:prstGeom>
          <a:solidFill>
            <a:srgbClr val="EEF3F7"/>
          </a:solidFill>
          <a:ln w="12700">
            <a:solidFill>
              <a:srgbClr val="EEF3F7"/>
            </a:solidFill>
            <a:prstDash val="solid"/>
          </a:ln>
        </p:spPr>
        <p:txBody>
          <a:bodyPr/>
          <a:lstStyle/>
          <a:p>
            <a:endParaRPr lang="fr-FR"/>
          </a:p>
        </p:txBody>
      </p:sp>
      <p:sp>
        <p:nvSpPr>
          <p:cNvPr id="24" name="Shape 22"/>
          <p:cNvSpPr/>
          <p:nvPr/>
        </p:nvSpPr>
        <p:spPr>
          <a:xfrm>
            <a:off x="7534656" y="3282696"/>
            <a:ext cx="384048" cy="384048"/>
          </a:xfrm>
          <a:prstGeom prst="ellipse">
            <a:avLst/>
          </a:prstGeom>
          <a:solidFill>
            <a:srgbClr val="00A896"/>
          </a:solidFill>
          <a:ln/>
        </p:spPr>
        <p:txBody>
          <a:bodyPr/>
          <a:lstStyle/>
          <a:p>
            <a:endParaRPr lang="fr-FR"/>
          </a:p>
        </p:txBody>
      </p:sp>
      <p:sp>
        <p:nvSpPr>
          <p:cNvPr id="25" name="Text 23"/>
          <p:cNvSpPr/>
          <p:nvPr/>
        </p:nvSpPr>
        <p:spPr>
          <a:xfrm>
            <a:off x="7534656" y="32826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8046720" y="3246120"/>
            <a:ext cx="1060704" cy="45720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Observabilité</a:t>
            </a:r>
            <a:endParaRPr lang="en-US" sz="1200" dirty="0"/>
          </a:p>
        </p:txBody>
      </p:sp>
      <p:sp>
        <p:nvSpPr>
          <p:cNvPr id="27" name="Text 25"/>
          <p:cNvSpPr/>
          <p:nvPr/>
        </p:nvSpPr>
        <p:spPr>
          <a:xfrm>
            <a:off x="7552944" y="3776472"/>
            <a:ext cx="1554480" cy="18745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Couvrir métriques, journaux et alerting pour anticiper les incidents et optimiser les performances.</a:t>
            </a:r>
            <a:endParaRPr lang="en-US" sz="1050" dirty="0"/>
          </a:p>
        </p:txBody>
      </p:sp>
      <p:sp>
        <p:nvSpPr>
          <p:cNvPr id="28" name="Shape 26"/>
          <p:cNvSpPr/>
          <p:nvPr/>
        </p:nvSpPr>
        <p:spPr>
          <a:xfrm>
            <a:off x="9546336" y="3063240"/>
            <a:ext cx="2066544" cy="2788920"/>
          </a:xfrm>
          <a:prstGeom prst="roundRect">
            <a:avLst>
              <a:gd name="adj" fmla="val 2655"/>
            </a:avLst>
          </a:prstGeom>
          <a:solidFill>
            <a:srgbClr val="EEF3F7"/>
          </a:solidFill>
          <a:ln w="12700">
            <a:solidFill>
              <a:srgbClr val="EEF3F7"/>
            </a:solidFill>
            <a:prstDash val="solid"/>
          </a:ln>
        </p:spPr>
        <p:txBody>
          <a:bodyPr/>
          <a:lstStyle/>
          <a:p>
            <a:endParaRPr lang="fr-FR"/>
          </a:p>
        </p:txBody>
      </p:sp>
      <p:sp>
        <p:nvSpPr>
          <p:cNvPr id="29" name="Shape 27"/>
          <p:cNvSpPr/>
          <p:nvPr/>
        </p:nvSpPr>
        <p:spPr>
          <a:xfrm>
            <a:off x="9784080" y="3282696"/>
            <a:ext cx="384048" cy="384048"/>
          </a:xfrm>
          <a:prstGeom prst="ellipse">
            <a:avLst/>
          </a:prstGeom>
          <a:solidFill>
            <a:srgbClr val="E08A3C"/>
          </a:solidFill>
          <a:ln/>
        </p:spPr>
        <p:txBody>
          <a:bodyPr/>
          <a:lstStyle/>
          <a:p>
            <a:endParaRPr lang="fr-FR"/>
          </a:p>
        </p:txBody>
      </p:sp>
      <p:sp>
        <p:nvSpPr>
          <p:cNvPr id="30" name="Text 28"/>
          <p:cNvSpPr/>
          <p:nvPr/>
        </p:nvSpPr>
        <p:spPr>
          <a:xfrm>
            <a:off x="9784080" y="32826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0296144" y="3246120"/>
            <a:ext cx="1060704" cy="45720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Sécurité, conformité,</a:t>
            </a:r>
            <a:endParaRPr lang="en-US" sz="1200" dirty="0"/>
          </a:p>
          <a:p>
            <a:pPr marL="0" indent="0">
              <a:buNone/>
            </a:pPr>
            <a:r>
              <a:rPr lang="en-US" sz="1200" b="1" dirty="0">
                <a:solidFill>
                  <a:srgbClr val="12263F"/>
                </a:solidFill>
                <a:latin typeface="Calibri" pitchFamily="34" charset="0"/>
                <a:ea typeface="Calibri" pitchFamily="34" charset="-122"/>
                <a:cs typeface="Calibri" pitchFamily="34" charset="-120"/>
              </a:rPr>
              <a:t>éco-responsabilité</a:t>
            </a:r>
            <a:endParaRPr lang="en-US" sz="1200" dirty="0"/>
          </a:p>
        </p:txBody>
      </p:sp>
      <p:sp>
        <p:nvSpPr>
          <p:cNvPr id="32" name="Text 30"/>
          <p:cNvSpPr/>
          <p:nvPr/>
        </p:nvSpPr>
        <p:spPr>
          <a:xfrm>
            <a:off x="9802368" y="3776472"/>
            <a:ext cx="1554480" cy="18745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Objectif transversal : défense en profondeur, conformité réglementaire, sobriété mesurée à coût maîtrisé.</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2.3 ANALYSE DE LA PROBLÉMATIQUE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Les questions et défis à relever</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548640" y="1444752"/>
            <a:ext cx="11064240" cy="566928"/>
          </a:xfrm>
          <a:prstGeom prst="rect">
            <a:avLst/>
          </a:prstGeom>
          <a:noFill/>
          <a:ln/>
        </p:spPr>
        <p:txBody>
          <a:bodyPr wrap="square" lIns="0" tIns="0" rIns="0" bIns="0" rtlCol="0" anchor="ctr"/>
          <a:lstStyle/>
          <a:p>
            <a:pPr marL="0" indent="0">
              <a:lnSpc>
                <a:spcPts val="1800"/>
              </a:lnSpc>
              <a:buNone/>
            </a:pPr>
            <a:r>
              <a:rPr lang="en-US" sz="1300" i="1" dirty="0">
                <a:solidFill>
                  <a:srgbClr val="4A5769"/>
                </a:solidFill>
                <a:latin typeface="Calibri" pitchFamily="34" charset="0"/>
                <a:ea typeface="Calibri" pitchFamily="34" charset="-122"/>
                <a:cs typeface="Calibri" pitchFamily="34" charset="-120"/>
              </a:rPr>
              <a:t>La difficulté structurelle : la distance entre le code produit et son exécution en production. Chaque franchissement manuel de cette distance est une source d'erreur, de lenteur et de divergence entre environnements.</a:t>
            </a:r>
            <a:endParaRPr lang="en-US" sz="1300" dirty="0"/>
          </a:p>
        </p:txBody>
      </p:sp>
      <p:sp>
        <p:nvSpPr>
          <p:cNvPr id="7" name="Shape 5"/>
          <p:cNvSpPr/>
          <p:nvPr/>
        </p:nvSpPr>
        <p:spPr>
          <a:xfrm>
            <a:off x="548640" y="2212848"/>
            <a:ext cx="5449824" cy="1737360"/>
          </a:xfrm>
          <a:prstGeom prst="roundRect">
            <a:avLst>
              <a:gd name="adj" fmla="val 3158"/>
            </a:avLst>
          </a:prstGeom>
          <a:solidFill>
            <a:srgbClr val="EEF3F7"/>
          </a:solidFill>
          <a:ln w="12700">
            <a:solidFill>
              <a:srgbClr val="EEF3F7"/>
            </a:solidFill>
            <a:prstDash val="solid"/>
          </a:ln>
        </p:spPr>
        <p:txBody>
          <a:bodyPr/>
          <a:lstStyle/>
          <a:p>
            <a:endParaRPr lang="fr-FR"/>
          </a:p>
        </p:txBody>
      </p:sp>
      <p:sp>
        <p:nvSpPr>
          <p:cNvPr id="8" name="Shape 6"/>
          <p:cNvSpPr/>
          <p:nvPr/>
        </p:nvSpPr>
        <p:spPr>
          <a:xfrm>
            <a:off x="786384" y="2432304"/>
            <a:ext cx="384048" cy="384048"/>
          </a:xfrm>
          <a:prstGeom prst="ellipse">
            <a:avLst/>
          </a:prstGeom>
          <a:solidFill>
            <a:srgbClr val="00A896"/>
          </a:solidFill>
          <a:ln/>
        </p:spPr>
        <p:txBody>
          <a:bodyPr/>
          <a:lstStyle/>
          <a:p>
            <a:endParaRPr lang="fr-FR"/>
          </a:p>
        </p:txBody>
      </p:sp>
      <p:sp>
        <p:nvSpPr>
          <p:cNvPr id="9" name="Text 7"/>
          <p:cNvSpPr/>
          <p:nvPr/>
        </p:nvSpPr>
        <p:spPr>
          <a:xfrm>
            <a:off x="786384" y="24323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10" name="Text 8"/>
          <p:cNvSpPr/>
          <p:nvPr/>
        </p:nvSpPr>
        <p:spPr>
          <a:xfrm>
            <a:off x="1298448" y="2395728"/>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Reproductibilité</a:t>
            </a:r>
            <a:endParaRPr lang="en-US" sz="1400" dirty="0"/>
          </a:p>
        </p:txBody>
      </p:sp>
      <p:sp>
        <p:nvSpPr>
          <p:cNvPr id="11" name="Text 9"/>
          <p:cNvSpPr/>
          <p:nvPr/>
        </p:nvSpPr>
        <p:spPr>
          <a:xfrm>
            <a:off x="804672" y="2926080"/>
            <a:ext cx="4937760" cy="8229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Dans quelle mesure la description intégrale de l'infrastructure en code garantit-elle la reproductibilité et réduit-elle les incidents de configuration ?</a:t>
            </a:r>
            <a:endParaRPr lang="en-US" sz="1150" dirty="0"/>
          </a:p>
        </p:txBody>
      </p:sp>
      <p:sp>
        <p:nvSpPr>
          <p:cNvPr id="12" name="Shape 10"/>
          <p:cNvSpPr/>
          <p:nvPr/>
        </p:nvSpPr>
        <p:spPr>
          <a:xfrm>
            <a:off x="6163056" y="2212848"/>
            <a:ext cx="5449824" cy="1737360"/>
          </a:xfrm>
          <a:prstGeom prst="roundRect">
            <a:avLst>
              <a:gd name="adj" fmla="val 3158"/>
            </a:avLst>
          </a:prstGeom>
          <a:solidFill>
            <a:srgbClr val="EEF3F7"/>
          </a:solidFill>
          <a:ln w="12700">
            <a:solidFill>
              <a:srgbClr val="EEF3F7"/>
            </a:solidFill>
            <a:prstDash val="solid"/>
          </a:ln>
        </p:spPr>
        <p:txBody>
          <a:bodyPr/>
          <a:lstStyle/>
          <a:p>
            <a:endParaRPr lang="fr-FR"/>
          </a:p>
        </p:txBody>
      </p:sp>
      <p:sp>
        <p:nvSpPr>
          <p:cNvPr id="13" name="Shape 11"/>
          <p:cNvSpPr/>
          <p:nvPr/>
        </p:nvSpPr>
        <p:spPr>
          <a:xfrm>
            <a:off x="6400800" y="2432304"/>
            <a:ext cx="384048" cy="384048"/>
          </a:xfrm>
          <a:prstGeom prst="ellipse">
            <a:avLst/>
          </a:prstGeom>
          <a:solidFill>
            <a:srgbClr val="00A896"/>
          </a:solidFill>
          <a:ln/>
        </p:spPr>
        <p:txBody>
          <a:bodyPr/>
          <a:lstStyle/>
          <a:p>
            <a:endParaRPr lang="fr-FR"/>
          </a:p>
        </p:txBody>
      </p:sp>
      <p:sp>
        <p:nvSpPr>
          <p:cNvPr id="14" name="Text 12"/>
          <p:cNvSpPr/>
          <p:nvPr/>
        </p:nvSpPr>
        <p:spPr>
          <a:xfrm>
            <a:off x="6400800" y="24323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5" name="Text 13"/>
          <p:cNvSpPr/>
          <p:nvPr/>
        </p:nvSpPr>
        <p:spPr>
          <a:xfrm>
            <a:off x="6912864" y="2395728"/>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Vitesse vs qualité</a:t>
            </a:r>
            <a:endParaRPr lang="en-US" sz="1400" dirty="0"/>
          </a:p>
        </p:txBody>
      </p:sp>
      <p:sp>
        <p:nvSpPr>
          <p:cNvPr id="16" name="Text 14"/>
          <p:cNvSpPr/>
          <p:nvPr/>
        </p:nvSpPr>
        <p:spPr>
          <a:xfrm>
            <a:off x="6419088" y="2926080"/>
            <a:ext cx="4937760" cy="8229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Comment une chaîne de livraison continue concilie-t-elle la rapidité de déploiement avec l'exigence de qualité et de sécurité ?</a:t>
            </a:r>
            <a:endParaRPr lang="en-US" sz="1150" dirty="0"/>
          </a:p>
        </p:txBody>
      </p:sp>
      <p:sp>
        <p:nvSpPr>
          <p:cNvPr id="17" name="Shape 15"/>
          <p:cNvSpPr/>
          <p:nvPr/>
        </p:nvSpPr>
        <p:spPr>
          <a:xfrm>
            <a:off x="548640" y="4133088"/>
            <a:ext cx="5449824" cy="1737360"/>
          </a:xfrm>
          <a:prstGeom prst="roundRect">
            <a:avLst>
              <a:gd name="adj" fmla="val 3158"/>
            </a:avLst>
          </a:prstGeom>
          <a:solidFill>
            <a:srgbClr val="EEF3F7"/>
          </a:solidFill>
          <a:ln w="12700">
            <a:solidFill>
              <a:srgbClr val="EEF3F7"/>
            </a:solidFill>
            <a:prstDash val="solid"/>
          </a:ln>
        </p:spPr>
        <p:txBody>
          <a:bodyPr/>
          <a:lstStyle/>
          <a:p>
            <a:endParaRPr lang="fr-FR"/>
          </a:p>
        </p:txBody>
      </p:sp>
      <p:sp>
        <p:nvSpPr>
          <p:cNvPr id="18" name="Shape 16"/>
          <p:cNvSpPr/>
          <p:nvPr/>
        </p:nvSpPr>
        <p:spPr>
          <a:xfrm>
            <a:off x="786384" y="4352544"/>
            <a:ext cx="384048" cy="384048"/>
          </a:xfrm>
          <a:prstGeom prst="ellipse">
            <a:avLst/>
          </a:prstGeom>
          <a:solidFill>
            <a:srgbClr val="00A896"/>
          </a:solidFill>
          <a:ln/>
        </p:spPr>
        <p:txBody>
          <a:bodyPr/>
          <a:lstStyle/>
          <a:p>
            <a:endParaRPr lang="fr-FR"/>
          </a:p>
        </p:txBody>
      </p:sp>
      <p:sp>
        <p:nvSpPr>
          <p:cNvPr id="19" name="Text 17"/>
          <p:cNvSpPr/>
          <p:nvPr/>
        </p:nvSpPr>
        <p:spPr>
          <a:xfrm>
            <a:off x="786384" y="4352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20" name="Text 18"/>
          <p:cNvSpPr/>
          <p:nvPr/>
        </p:nvSpPr>
        <p:spPr>
          <a:xfrm>
            <a:off x="1298448" y="4315968"/>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Proportionnalité</a:t>
            </a:r>
            <a:endParaRPr lang="en-US" sz="1400" dirty="0"/>
          </a:p>
        </p:txBody>
      </p:sp>
      <p:sp>
        <p:nvSpPr>
          <p:cNvPr id="21" name="Text 19"/>
          <p:cNvSpPr/>
          <p:nvPr/>
        </p:nvSpPr>
        <p:spPr>
          <a:xfrm>
            <a:off x="804672" y="4846320"/>
            <a:ext cx="4937760" cy="8229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Quel orchestrateur offre le meilleur compromis entre capacités et simplicité d'exploitation pour un service de cette taille ?</a:t>
            </a:r>
            <a:endParaRPr lang="en-US" sz="1150" dirty="0"/>
          </a:p>
        </p:txBody>
      </p:sp>
      <p:sp>
        <p:nvSpPr>
          <p:cNvPr id="22" name="Shape 20"/>
          <p:cNvSpPr/>
          <p:nvPr/>
        </p:nvSpPr>
        <p:spPr>
          <a:xfrm>
            <a:off x="6163056" y="4133088"/>
            <a:ext cx="5449824" cy="1737360"/>
          </a:xfrm>
          <a:prstGeom prst="roundRect">
            <a:avLst>
              <a:gd name="adj" fmla="val 3158"/>
            </a:avLst>
          </a:prstGeom>
          <a:solidFill>
            <a:srgbClr val="EEF3F7"/>
          </a:solidFill>
          <a:ln w="12700">
            <a:solidFill>
              <a:srgbClr val="EEF3F7"/>
            </a:solidFill>
            <a:prstDash val="solid"/>
          </a:ln>
        </p:spPr>
        <p:txBody>
          <a:bodyPr/>
          <a:lstStyle/>
          <a:p>
            <a:endParaRPr lang="fr-FR"/>
          </a:p>
        </p:txBody>
      </p:sp>
      <p:sp>
        <p:nvSpPr>
          <p:cNvPr id="23" name="Shape 21"/>
          <p:cNvSpPr/>
          <p:nvPr/>
        </p:nvSpPr>
        <p:spPr>
          <a:xfrm>
            <a:off x="6400800" y="4352544"/>
            <a:ext cx="384048" cy="384048"/>
          </a:xfrm>
          <a:prstGeom prst="ellipse">
            <a:avLst/>
          </a:prstGeom>
          <a:solidFill>
            <a:srgbClr val="00A896"/>
          </a:solidFill>
          <a:ln/>
        </p:spPr>
        <p:txBody>
          <a:bodyPr/>
          <a:lstStyle/>
          <a:p>
            <a:endParaRPr lang="fr-FR"/>
          </a:p>
        </p:txBody>
      </p:sp>
      <p:sp>
        <p:nvSpPr>
          <p:cNvPr id="24" name="Text 22"/>
          <p:cNvSpPr/>
          <p:nvPr/>
        </p:nvSpPr>
        <p:spPr>
          <a:xfrm>
            <a:off x="6400800" y="4352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25" name="Text 23"/>
          <p:cNvSpPr/>
          <p:nvPr/>
        </p:nvSpPr>
        <p:spPr>
          <a:xfrm>
            <a:off x="6912864" y="4315968"/>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Mesurabilité</a:t>
            </a:r>
            <a:endParaRPr lang="en-US" sz="1400" dirty="0"/>
          </a:p>
        </p:txBody>
      </p:sp>
      <p:sp>
        <p:nvSpPr>
          <p:cNvPr id="26" name="Text 24"/>
          <p:cNvSpPr/>
          <p:nvPr/>
        </p:nvSpPr>
        <p:spPr>
          <a:xfrm>
            <a:off x="6419088" y="4846320"/>
            <a:ext cx="4937760" cy="8229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Comment mesurer et maîtriser la consommation de ressources d'une infrastructure cloud, où les compteurs matériels ne sont pas exposés ?</a:t>
            </a:r>
            <a:endParaRPr lang="en-US" sz="1150" dirty="0"/>
          </a:p>
        </p:txBody>
      </p:sp>
      <p:sp>
        <p:nvSpPr>
          <p:cNvPr id="27" name="Shape 25"/>
          <p:cNvSpPr/>
          <p:nvPr/>
        </p:nvSpPr>
        <p:spPr>
          <a:xfrm>
            <a:off x="548640" y="5614416"/>
            <a:ext cx="11064240" cy="566928"/>
          </a:xfrm>
          <a:prstGeom prst="roundRect">
            <a:avLst>
              <a:gd name="adj" fmla="val 9677"/>
            </a:avLst>
          </a:prstGeom>
          <a:solidFill>
            <a:srgbClr val="12263F"/>
          </a:solidFill>
          <a:ln/>
        </p:spPr>
        <p:txBody>
          <a:bodyPr/>
          <a:lstStyle/>
          <a:p>
            <a:endParaRPr lang="fr-FR"/>
          </a:p>
        </p:txBody>
      </p:sp>
      <p:sp>
        <p:nvSpPr>
          <p:cNvPr id="28" name="Text 26"/>
          <p:cNvSpPr/>
          <p:nvPr/>
        </p:nvSpPr>
        <p:spPr>
          <a:xfrm>
            <a:off x="868680" y="5705856"/>
            <a:ext cx="10424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Enjeu au-delà du projet : livrer vite, souvent et sans risque est un facteur de compétitivité — impact technique, économique, environnemental et réglementaire.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2.4 MÉTHODOLOGIE DE L'ÉTUDE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Une veille technologique structurée : sources, critères, tri</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417320"/>
            <a:ext cx="3520440" cy="2560320"/>
          </a:xfrm>
          <a:prstGeom prst="roundRect">
            <a:avLst>
              <a:gd name="adj" fmla="val 2143"/>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36776"/>
            <a:ext cx="384048" cy="384048"/>
          </a:xfrm>
          <a:prstGeom prst="ellipse">
            <a:avLst/>
          </a:prstGeom>
          <a:solidFill>
            <a:srgbClr val="00A896"/>
          </a:solidFill>
          <a:ln/>
        </p:spPr>
        <p:txBody>
          <a:bodyPr/>
          <a:lstStyle/>
          <a:p>
            <a:endParaRPr lang="fr-FR"/>
          </a:p>
        </p:txBody>
      </p:sp>
      <p:sp>
        <p:nvSpPr>
          <p:cNvPr id="8" name="Text 6"/>
          <p:cNvSpPr/>
          <p:nvPr/>
        </p:nvSpPr>
        <p:spPr>
          <a:xfrm>
            <a:off x="786384" y="1636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00200"/>
            <a:ext cx="251460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Sources qualifiées</a:t>
            </a:r>
            <a:endParaRPr lang="en-US" sz="1400" dirty="0"/>
          </a:p>
        </p:txBody>
      </p:sp>
      <p:sp>
        <p:nvSpPr>
          <p:cNvPr id="10" name="Text 8"/>
          <p:cNvSpPr/>
          <p:nvPr/>
        </p:nvSpPr>
        <p:spPr>
          <a:xfrm>
            <a:off x="804672" y="2130552"/>
            <a:ext cx="3008376" cy="164592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Sources primaires : docs officielles, notes de version, roadmaps</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Dépôts publics : vitalité, mainteneurs, délai de traitement CVE</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Radars sectoriels : ThoughtWorks, CNCF</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Corpus normatif : ANSSI, CNIL, OWASP, ISO/IEC 27001 &amp; 25010, RGESN, WCAG 2.2 / RGAA 4</a:t>
            </a:r>
            <a:endParaRPr lang="en-US" sz="980" dirty="0"/>
          </a:p>
        </p:txBody>
      </p:sp>
      <p:sp>
        <p:nvSpPr>
          <p:cNvPr id="11" name="Shape 9"/>
          <p:cNvSpPr/>
          <p:nvPr/>
        </p:nvSpPr>
        <p:spPr>
          <a:xfrm>
            <a:off x="4334256" y="1417320"/>
            <a:ext cx="3520440" cy="2560320"/>
          </a:xfrm>
          <a:prstGeom prst="roundRect">
            <a:avLst>
              <a:gd name="adj" fmla="val 2143"/>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4572000" y="1636776"/>
            <a:ext cx="384048" cy="384048"/>
          </a:xfrm>
          <a:prstGeom prst="ellipse">
            <a:avLst/>
          </a:prstGeom>
          <a:solidFill>
            <a:srgbClr val="00A896"/>
          </a:solidFill>
          <a:ln/>
        </p:spPr>
        <p:txBody>
          <a:bodyPr/>
          <a:lstStyle/>
          <a:p>
            <a:endParaRPr lang="fr-FR"/>
          </a:p>
        </p:txBody>
      </p:sp>
      <p:sp>
        <p:nvSpPr>
          <p:cNvPr id="13" name="Text 11"/>
          <p:cNvSpPr/>
          <p:nvPr/>
        </p:nvSpPr>
        <p:spPr>
          <a:xfrm>
            <a:off x="4572000" y="1636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84064" y="1600200"/>
            <a:ext cx="251460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Grille de 8 critères pondérés</a:t>
            </a:r>
            <a:endParaRPr lang="en-US" sz="1400" dirty="0"/>
          </a:p>
        </p:txBody>
      </p:sp>
      <p:sp>
        <p:nvSpPr>
          <p:cNvPr id="15" name="Text 13"/>
          <p:cNvSpPr/>
          <p:nvPr/>
        </p:nvSpPr>
        <p:spPr>
          <a:xfrm>
            <a:off x="4590288" y="2130552"/>
            <a:ext cx="3008376" cy="16459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Pérennité &amp; gouvernance · Adéquation fonctionnelle · Coût total de possession · Sécurité (ISO 27001, RGPD) · Sobriété (RGESN) · Accessibilité (WCAG / RGAA) · Courbe d'apprentissage · Réversibilité</a:t>
            </a:r>
            <a:endParaRPr lang="en-US" sz="1050" dirty="0"/>
          </a:p>
        </p:txBody>
      </p:sp>
      <p:sp>
        <p:nvSpPr>
          <p:cNvPr id="16" name="Shape 14"/>
          <p:cNvSpPr/>
          <p:nvPr/>
        </p:nvSpPr>
        <p:spPr>
          <a:xfrm>
            <a:off x="8119872" y="1417320"/>
            <a:ext cx="3520440" cy="2560320"/>
          </a:xfrm>
          <a:prstGeom prst="roundRect">
            <a:avLst>
              <a:gd name="adj" fmla="val 2143"/>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8357616" y="1636776"/>
            <a:ext cx="384048" cy="384048"/>
          </a:xfrm>
          <a:prstGeom prst="ellipse">
            <a:avLst/>
          </a:prstGeom>
          <a:solidFill>
            <a:srgbClr val="00A896"/>
          </a:solidFill>
          <a:ln/>
        </p:spPr>
        <p:txBody>
          <a:bodyPr/>
          <a:lstStyle/>
          <a:p>
            <a:endParaRPr lang="fr-FR"/>
          </a:p>
        </p:txBody>
      </p:sp>
      <p:sp>
        <p:nvSpPr>
          <p:cNvPr id="18" name="Text 16"/>
          <p:cNvSpPr/>
          <p:nvPr/>
        </p:nvSpPr>
        <p:spPr>
          <a:xfrm>
            <a:off x="8357616" y="1636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69680" y="1600200"/>
            <a:ext cx="251460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Tri et capitalisation</a:t>
            </a:r>
            <a:endParaRPr lang="en-US" sz="1400" dirty="0"/>
          </a:p>
        </p:txBody>
      </p:sp>
      <p:sp>
        <p:nvSpPr>
          <p:cNvPr id="20" name="Text 18"/>
          <p:cNvSpPr/>
          <p:nvPr/>
        </p:nvSpPr>
        <p:spPr>
          <a:xfrm>
            <a:off x="8375904" y="2130552"/>
            <a:ext cx="3008376" cy="164592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Une tendance n'est retenue que si elle est confirmée par plusieurs sources indépendantes et sortie de la phase spéculative.</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Chaque conclusion structurante devient une décision d'architecture formalisée (Contexte / Décision / Alternatives / Conséquences).</a:t>
            </a:r>
            <a:endParaRPr lang="en-US" sz="980" dirty="0"/>
          </a:p>
        </p:txBody>
      </p:sp>
      <p:sp>
        <p:nvSpPr>
          <p:cNvPr id="21" name="Text 19"/>
          <p:cNvSpPr/>
          <p:nvPr/>
        </p:nvSpPr>
        <p:spPr>
          <a:xfrm>
            <a:off x="548640" y="4160520"/>
            <a:ext cx="11064240" cy="32004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Points de vigilance identifiés : le risque de licence dans l'écosystème infrastructure</a:t>
            </a:r>
            <a:endParaRPr lang="en-US" sz="1400" dirty="0"/>
          </a:p>
        </p:txBody>
      </p:sp>
      <p:sp>
        <p:nvSpPr>
          <p:cNvPr id="22" name="Shape 20"/>
          <p:cNvSpPr/>
          <p:nvPr/>
        </p:nvSpPr>
        <p:spPr>
          <a:xfrm>
            <a:off x="548640" y="4599432"/>
            <a:ext cx="3520440" cy="1280160"/>
          </a:xfrm>
          <a:prstGeom prst="roundRect">
            <a:avLst>
              <a:gd name="adj" fmla="val 4286"/>
            </a:avLst>
          </a:prstGeom>
          <a:solidFill>
            <a:srgbClr val="12263F"/>
          </a:solidFill>
          <a:ln/>
        </p:spPr>
        <p:txBody>
          <a:bodyPr/>
          <a:lstStyle/>
          <a:p>
            <a:endParaRPr lang="fr-FR"/>
          </a:p>
        </p:txBody>
      </p:sp>
      <p:sp>
        <p:nvSpPr>
          <p:cNvPr id="23" name="Text 21"/>
          <p:cNvSpPr/>
          <p:nvPr/>
        </p:nvSpPr>
        <p:spPr>
          <a:xfrm>
            <a:off x="768096" y="4745736"/>
            <a:ext cx="3108960" cy="310896"/>
          </a:xfrm>
          <a:prstGeom prst="rect">
            <a:avLst/>
          </a:prstGeom>
          <a:noFill/>
          <a:ln/>
        </p:spPr>
        <p:txBody>
          <a:bodyPr wrap="square" lIns="0" tIns="0" rIns="0" bIns="0" rtlCol="0" anchor="ctr"/>
          <a:lstStyle/>
          <a:p>
            <a:pPr marL="0" indent="0">
              <a:buNone/>
            </a:pPr>
            <a:r>
              <a:rPr lang="en-US" sz="1200" b="1" dirty="0">
                <a:solidFill>
                  <a:srgbClr val="E08A3C"/>
                </a:solidFill>
                <a:latin typeface="Calibri" pitchFamily="34" charset="0"/>
                <a:ea typeface="Calibri" pitchFamily="34" charset="-122"/>
                <a:cs typeface="Calibri" pitchFamily="34" charset="-120"/>
              </a:rPr>
              <a:t>Terraform → BSL (2023)</a:t>
            </a:r>
            <a:endParaRPr lang="en-US" sz="1200" dirty="0"/>
          </a:p>
        </p:txBody>
      </p:sp>
      <p:sp>
        <p:nvSpPr>
          <p:cNvPr id="24" name="Text 22"/>
          <p:cNvSpPr/>
          <p:nvPr/>
        </p:nvSpPr>
        <p:spPr>
          <a:xfrm>
            <a:off x="768096" y="5074920"/>
            <a:ext cx="3108960" cy="71323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Fork communautaire OpenTofu (Linux Foundation) documenté comme trajectoire de repli, configuration compatible.</a:t>
            </a:r>
            <a:endParaRPr lang="en-US" sz="1050" dirty="0"/>
          </a:p>
        </p:txBody>
      </p:sp>
      <p:sp>
        <p:nvSpPr>
          <p:cNvPr id="25" name="Shape 23"/>
          <p:cNvSpPr/>
          <p:nvPr/>
        </p:nvSpPr>
        <p:spPr>
          <a:xfrm>
            <a:off x="4334256" y="4599432"/>
            <a:ext cx="3520440" cy="1280160"/>
          </a:xfrm>
          <a:prstGeom prst="roundRect">
            <a:avLst>
              <a:gd name="adj" fmla="val 4286"/>
            </a:avLst>
          </a:prstGeom>
          <a:solidFill>
            <a:srgbClr val="12263F"/>
          </a:solidFill>
          <a:ln/>
        </p:spPr>
        <p:txBody>
          <a:bodyPr/>
          <a:lstStyle/>
          <a:p>
            <a:endParaRPr lang="fr-FR"/>
          </a:p>
        </p:txBody>
      </p:sp>
      <p:sp>
        <p:nvSpPr>
          <p:cNvPr id="26" name="Text 24"/>
          <p:cNvSpPr/>
          <p:nvPr/>
        </p:nvSpPr>
        <p:spPr>
          <a:xfrm>
            <a:off x="4553712" y="4745736"/>
            <a:ext cx="3108960" cy="310896"/>
          </a:xfrm>
          <a:prstGeom prst="rect">
            <a:avLst/>
          </a:prstGeom>
          <a:noFill/>
          <a:ln/>
        </p:spPr>
        <p:txBody>
          <a:bodyPr wrap="square" lIns="0" tIns="0" rIns="0" bIns="0" rtlCol="0" anchor="ctr"/>
          <a:lstStyle/>
          <a:p>
            <a:pPr marL="0" indent="0">
              <a:buNone/>
            </a:pPr>
            <a:r>
              <a:rPr lang="en-US" sz="1200" b="1" dirty="0">
                <a:solidFill>
                  <a:srgbClr val="E08A3C"/>
                </a:solidFill>
                <a:latin typeface="Calibri" pitchFamily="34" charset="0"/>
                <a:ea typeface="Calibri" pitchFamily="34" charset="-122"/>
                <a:cs typeface="Calibri" pitchFamily="34" charset="-120"/>
              </a:rPr>
              <a:t>Redis → licence modifiée (2024)</a:t>
            </a:r>
            <a:endParaRPr lang="en-US" sz="1200" dirty="0"/>
          </a:p>
        </p:txBody>
      </p:sp>
      <p:sp>
        <p:nvSpPr>
          <p:cNvPr id="27" name="Text 25"/>
          <p:cNvSpPr/>
          <p:nvPr/>
        </p:nvSpPr>
        <p:spPr>
          <a:xfrm>
            <a:off x="4553712" y="5074920"/>
            <a:ext cx="3108960" cy="71323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Fork Valkey identifié comme alternative de repli à interface compatible.</a:t>
            </a:r>
            <a:endParaRPr lang="en-US" sz="1050" dirty="0"/>
          </a:p>
        </p:txBody>
      </p:sp>
      <p:sp>
        <p:nvSpPr>
          <p:cNvPr id="28" name="Shape 26"/>
          <p:cNvSpPr/>
          <p:nvPr/>
        </p:nvSpPr>
        <p:spPr>
          <a:xfrm>
            <a:off x="8119872" y="4599432"/>
            <a:ext cx="3520440" cy="1280160"/>
          </a:xfrm>
          <a:prstGeom prst="roundRect">
            <a:avLst>
              <a:gd name="adj" fmla="val 4286"/>
            </a:avLst>
          </a:prstGeom>
          <a:solidFill>
            <a:srgbClr val="12263F"/>
          </a:solidFill>
          <a:ln/>
        </p:spPr>
        <p:txBody>
          <a:bodyPr/>
          <a:lstStyle/>
          <a:p>
            <a:endParaRPr lang="fr-FR"/>
          </a:p>
        </p:txBody>
      </p:sp>
      <p:sp>
        <p:nvSpPr>
          <p:cNvPr id="29" name="Text 27"/>
          <p:cNvSpPr/>
          <p:nvPr/>
        </p:nvSpPr>
        <p:spPr>
          <a:xfrm>
            <a:off x="8339328" y="4745736"/>
            <a:ext cx="3108960" cy="310896"/>
          </a:xfrm>
          <a:prstGeom prst="rect">
            <a:avLst/>
          </a:prstGeom>
          <a:noFill/>
          <a:ln/>
        </p:spPr>
        <p:txBody>
          <a:bodyPr wrap="square" lIns="0" tIns="0" rIns="0" bIns="0" rtlCol="0" anchor="ctr"/>
          <a:lstStyle/>
          <a:p>
            <a:pPr marL="0" indent="0">
              <a:buNone/>
            </a:pPr>
            <a:r>
              <a:rPr lang="en-US" sz="1200" b="1" dirty="0">
                <a:solidFill>
                  <a:srgbClr val="E08A3C"/>
                </a:solidFill>
                <a:latin typeface="Calibri" pitchFamily="34" charset="0"/>
                <a:ea typeface="Calibri" pitchFamily="34" charset="-122"/>
                <a:cs typeface="Calibri" pitchFamily="34" charset="-120"/>
              </a:rPr>
              <a:t>Conséquence méthodologique</a:t>
            </a:r>
            <a:endParaRPr lang="en-US" sz="1200" dirty="0"/>
          </a:p>
        </p:txBody>
      </p:sp>
      <p:sp>
        <p:nvSpPr>
          <p:cNvPr id="30" name="Text 28"/>
          <p:cNvSpPr/>
          <p:nvPr/>
        </p:nvSpPr>
        <p:spPr>
          <a:xfrm>
            <a:off x="8339328" y="5074920"/>
            <a:ext cx="3108960" cy="71323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Le critère de réversibilité devient déterminant : aucun choix ne doit créer de verrouillage fournisseur irréversible.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2.4 MÉTHODOLOGIE DE L'ÉTUDE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Résultats de la veille : les choix structurants et leurs alternatives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481328"/>
            <a:ext cx="1828800" cy="384048"/>
          </a:xfrm>
          <a:prstGeom prst="rect">
            <a:avLst/>
          </a:prstGeom>
          <a:solidFill>
            <a:srgbClr val="12263F"/>
          </a:solidFill>
          <a:ln/>
        </p:spPr>
        <p:txBody>
          <a:bodyPr/>
          <a:lstStyle/>
          <a:p>
            <a:endParaRPr lang="fr-FR"/>
          </a:p>
        </p:txBody>
      </p:sp>
      <p:sp>
        <p:nvSpPr>
          <p:cNvPr id="7" name="Text 5"/>
          <p:cNvSpPr/>
          <p:nvPr/>
        </p:nvSpPr>
        <p:spPr>
          <a:xfrm>
            <a:off x="676656" y="1481328"/>
            <a:ext cx="1609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Domaine</a:t>
            </a:r>
            <a:endParaRPr lang="en-US" sz="1100" dirty="0"/>
          </a:p>
        </p:txBody>
      </p:sp>
      <p:sp>
        <p:nvSpPr>
          <p:cNvPr id="8" name="Shape 6"/>
          <p:cNvSpPr/>
          <p:nvPr/>
        </p:nvSpPr>
        <p:spPr>
          <a:xfrm>
            <a:off x="2377440" y="1481328"/>
            <a:ext cx="3154680" cy="384048"/>
          </a:xfrm>
          <a:prstGeom prst="rect">
            <a:avLst/>
          </a:prstGeom>
          <a:solidFill>
            <a:srgbClr val="12263F"/>
          </a:solidFill>
          <a:ln/>
        </p:spPr>
        <p:txBody>
          <a:bodyPr/>
          <a:lstStyle/>
          <a:p>
            <a:endParaRPr lang="fr-FR"/>
          </a:p>
        </p:txBody>
      </p:sp>
      <p:sp>
        <p:nvSpPr>
          <p:cNvPr id="9" name="Text 7"/>
          <p:cNvSpPr/>
          <p:nvPr/>
        </p:nvSpPr>
        <p:spPr>
          <a:xfrm>
            <a:off x="2505456" y="1481328"/>
            <a:ext cx="2935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Choix retenu</a:t>
            </a:r>
            <a:endParaRPr lang="en-US" sz="1100" dirty="0"/>
          </a:p>
        </p:txBody>
      </p:sp>
      <p:sp>
        <p:nvSpPr>
          <p:cNvPr id="10" name="Shape 8"/>
          <p:cNvSpPr/>
          <p:nvPr/>
        </p:nvSpPr>
        <p:spPr>
          <a:xfrm>
            <a:off x="5532120" y="1481328"/>
            <a:ext cx="2377440" cy="384048"/>
          </a:xfrm>
          <a:prstGeom prst="rect">
            <a:avLst/>
          </a:prstGeom>
          <a:solidFill>
            <a:srgbClr val="12263F"/>
          </a:solidFill>
          <a:ln/>
        </p:spPr>
        <p:txBody>
          <a:bodyPr/>
          <a:lstStyle/>
          <a:p>
            <a:endParaRPr lang="fr-FR"/>
          </a:p>
        </p:txBody>
      </p:sp>
      <p:sp>
        <p:nvSpPr>
          <p:cNvPr id="11" name="Text 9"/>
          <p:cNvSpPr/>
          <p:nvPr/>
        </p:nvSpPr>
        <p:spPr>
          <a:xfrm>
            <a:off x="5660136" y="1481328"/>
            <a:ext cx="2157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Alternatives écartées</a:t>
            </a:r>
            <a:endParaRPr lang="en-US" sz="1100" dirty="0"/>
          </a:p>
        </p:txBody>
      </p:sp>
      <p:sp>
        <p:nvSpPr>
          <p:cNvPr id="12" name="Shape 10"/>
          <p:cNvSpPr/>
          <p:nvPr/>
        </p:nvSpPr>
        <p:spPr>
          <a:xfrm>
            <a:off x="7909560" y="1481328"/>
            <a:ext cx="3703320" cy="384048"/>
          </a:xfrm>
          <a:prstGeom prst="rect">
            <a:avLst/>
          </a:prstGeom>
          <a:solidFill>
            <a:srgbClr val="12263F"/>
          </a:solidFill>
          <a:ln/>
        </p:spPr>
        <p:txBody>
          <a:bodyPr/>
          <a:lstStyle/>
          <a:p>
            <a:endParaRPr lang="fr-FR"/>
          </a:p>
        </p:txBody>
      </p:sp>
      <p:sp>
        <p:nvSpPr>
          <p:cNvPr id="13" name="Text 11"/>
          <p:cNvSpPr/>
          <p:nvPr/>
        </p:nvSpPr>
        <p:spPr>
          <a:xfrm>
            <a:off x="8037576" y="1481328"/>
            <a:ext cx="3483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Justification principale</a:t>
            </a:r>
            <a:endParaRPr lang="en-US" sz="1100" dirty="0"/>
          </a:p>
        </p:txBody>
      </p:sp>
      <p:sp>
        <p:nvSpPr>
          <p:cNvPr id="14" name="Shape 12"/>
          <p:cNvSpPr/>
          <p:nvPr/>
        </p:nvSpPr>
        <p:spPr>
          <a:xfrm>
            <a:off x="548640" y="1865376"/>
            <a:ext cx="1828800" cy="713232"/>
          </a:xfrm>
          <a:prstGeom prst="rect">
            <a:avLst/>
          </a:prstGeom>
          <a:solidFill>
            <a:srgbClr val="EEF3F7"/>
          </a:solidFill>
          <a:ln/>
        </p:spPr>
        <p:txBody>
          <a:bodyPr/>
          <a:lstStyle/>
          <a:p>
            <a:endParaRPr lang="fr-FR"/>
          </a:p>
        </p:txBody>
      </p:sp>
      <p:sp>
        <p:nvSpPr>
          <p:cNvPr id="15" name="Text 13"/>
          <p:cNvSpPr/>
          <p:nvPr/>
        </p:nvSpPr>
        <p:spPr>
          <a:xfrm>
            <a:off x="676656" y="1865376"/>
            <a:ext cx="1609344" cy="713232"/>
          </a:xfrm>
          <a:prstGeom prst="rect">
            <a:avLst/>
          </a:prstGeom>
          <a:noFill/>
          <a:ln/>
        </p:spPr>
        <p:txBody>
          <a:bodyPr wrap="square" lIns="0" tIns="0" rIns="0" bIns="0" rtlCol="0" anchor="ctr"/>
          <a:lstStyle/>
          <a:p>
            <a:pPr marL="0" indent="0">
              <a:lnSpc>
                <a:spcPts val="1300"/>
              </a:lnSpc>
              <a:buNone/>
            </a:pPr>
            <a:r>
              <a:rPr lang="en-US" sz="1000" b="1" dirty="0">
                <a:solidFill>
                  <a:srgbClr val="4A5769"/>
                </a:solidFill>
                <a:latin typeface="Calibri" pitchFamily="34" charset="0"/>
                <a:ea typeface="Calibri" pitchFamily="34" charset="-122"/>
                <a:cs typeface="Calibri" pitchFamily="34" charset="-120"/>
              </a:rPr>
              <a:t>Socle applicatif</a:t>
            </a:r>
            <a:endParaRPr lang="en-US" sz="1000" dirty="0"/>
          </a:p>
        </p:txBody>
      </p:sp>
      <p:sp>
        <p:nvSpPr>
          <p:cNvPr id="16" name="Shape 14"/>
          <p:cNvSpPr/>
          <p:nvPr/>
        </p:nvSpPr>
        <p:spPr>
          <a:xfrm>
            <a:off x="2377440" y="1865376"/>
            <a:ext cx="3154680" cy="713232"/>
          </a:xfrm>
          <a:prstGeom prst="rect">
            <a:avLst/>
          </a:prstGeom>
          <a:solidFill>
            <a:srgbClr val="EEF3F7"/>
          </a:solidFill>
          <a:ln/>
        </p:spPr>
        <p:txBody>
          <a:bodyPr/>
          <a:lstStyle/>
          <a:p>
            <a:endParaRPr lang="fr-FR"/>
          </a:p>
        </p:txBody>
      </p:sp>
      <p:sp>
        <p:nvSpPr>
          <p:cNvPr id="17" name="Text 15"/>
          <p:cNvSpPr/>
          <p:nvPr/>
        </p:nvSpPr>
        <p:spPr>
          <a:xfrm>
            <a:off x="2505456" y="1865376"/>
            <a:ext cx="2935224" cy="713232"/>
          </a:xfrm>
          <a:prstGeom prst="rect">
            <a:avLst/>
          </a:prstGeom>
          <a:noFill/>
          <a:ln/>
        </p:spPr>
        <p:txBody>
          <a:bodyPr wrap="square" lIns="0" tIns="0" rIns="0" bIns="0" rtlCol="0" anchor="ctr"/>
          <a:lstStyle/>
          <a:p>
            <a:pPr marL="0" indent="0">
              <a:lnSpc>
                <a:spcPts val="1300"/>
              </a:lnSpc>
              <a:buNone/>
            </a:pPr>
            <a:r>
              <a:rPr lang="en-US" sz="1000" dirty="0">
                <a:solidFill>
                  <a:srgbClr val="12263F"/>
                </a:solidFill>
                <a:latin typeface="Calibri" pitchFamily="34" charset="0"/>
                <a:ea typeface="Calibri" pitchFamily="34" charset="-122"/>
                <a:cs typeface="Calibri" pitchFamily="34" charset="-120"/>
              </a:rPr>
              <a:t>TypeScript unifié — NestJS 11 / Bun, Next.js 16</a:t>
            </a:r>
            <a:endParaRPr lang="en-US" sz="1000" dirty="0"/>
          </a:p>
        </p:txBody>
      </p:sp>
      <p:sp>
        <p:nvSpPr>
          <p:cNvPr id="18" name="Shape 16"/>
          <p:cNvSpPr/>
          <p:nvPr/>
        </p:nvSpPr>
        <p:spPr>
          <a:xfrm>
            <a:off x="5532120" y="1865376"/>
            <a:ext cx="2377440" cy="713232"/>
          </a:xfrm>
          <a:prstGeom prst="rect">
            <a:avLst/>
          </a:prstGeom>
          <a:solidFill>
            <a:srgbClr val="EEF3F7"/>
          </a:solidFill>
          <a:ln/>
        </p:spPr>
        <p:txBody>
          <a:bodyPr/>
          <a:lstStyle/>
          <a:p>
            <a:endParaRPr lang="fr-FR"/>
          </a:p>
        </p:txBody>
      </p:sp>
      <p:sp>
        <p:nvSpPr>
          <p:cNvPr id="19" name="Text 17"/>
          <p:cNvSpPr/>
          <p:nvPr/>
        </p:nvSpPr>
        <p:spPr>
          <a:xfrm>
            <a:off x="5660136" y="1865376"/>
            <a:ext cx="215798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Express nu, Fastify seul</a:t>
            </a:r>
            <a:endParaRPr lang="en-US" sz="1000" dirty="0"/>
          </a:p>
        </p:txBody>
      </p:sp>
      <p:sp>
        <p:nvSpPr>
          <p:cNvPr id="20" name="Shape 18"/>
          <p:cNvSpPr/>
          <p:nvPr/>
        </p:nvSpPr>
        <p:spPr>
          <a:xfrm>
            <a:off x="7909560" y="1865376"/>
            <a:ext cx="3703320" cy="713232"/>
          </a:xfrm>
          <a:prstGeom prst="rect">
            <a:avLst/>
          </a:prstGeom>
          <a:solidFill>
            <a:srgbClr val="EEF3F7"/>
          </a:solidFill>
          <a:ln/>
        </p:spPr>
        <p:txBody>
          <a:bodyPr/>
          <a:lstStyle/>
          <a:p>
            <a:endParaRPr lang="fr-FR"/>
          </a:p>
        </p:txBody>
      </p:sp>
      <p:sp>
        <p:nvSpPr>
          <p:cNvPr id="21" name="Text 19"/>
          <p:cNvSpPr/>
          <p:nvPr/>
        </p:nvSpPr>
        <p:spPr>
          <a:xfrm>
            <a:off x="8037576" y="1865376"/>
            <a:ext cx="348386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Mutualisation des compétences, SSR + export statique</a:t>
            </a:r>
            <a:endParaRPr lang="en-US" sz="1000" dirty="0"/>
          </a:p>
        </p:txBody>
      </p:sp>
      <p:sp>
        <p:nvSpPr>
          <p:cNvPr id="22" name="Shape 20"/>
          <p:cNvSpPr/>
          <p:nvPr/>
        </p:nvSpPr>
        <p:spPr>
          <a:xfrm>
            <a:off x="548640" y="2578608"/>
            <a:ext cx="1828800" cy="713232"/>
          </a:xfrm>
          <a:prstGeom prst="rect">
            <a:avLst/>
          </a:prstGeom>
          <a:solidFill>
            <a:srgbClr val="FFFFFF"/>
          </a:solidFill>
          <a:ln/>
        </p:spPr>
        <p:txBody>
          <a:bodyPr/>
          <a:lstStyle/>
          <a:p>
            <a:endParaRPr lang="fr-FR"/>
          </a:p>
        </p:txBody>
      </p:sp>
      <p:sp>
        <p:nvSpPr>
          <p:cNvPr id="23" name="Text 21"/>
          <p:cNvSpPr/>
          <p:nvPr/>
        </p:nvSpPr>
        <p:spPr>
          <a:xfrm>
            <a:off x="676656" y="2578608"/>
            <a:ext cx="1609344" cy="713232"/>
          </a:xfrm>
          <a:prstGeom prst="rect">
            <a:avLst/>
          </a:prstGeom>
          <a:noFill/>
          <a:ln/>
        </p:spPr>
        <p:txBody>
          <a:bodyPr wrap="square" lIns="0" tIns="0" rIns="0" bIns="0" rtlCol="0" anchor="ctr"/>
          <a:lstStyle/>
          <a:p>
            <a:pPr marL="0" indent="0">
              <a:lnSpc>
                <a:spcPts val="1300"/>
              </a:lnSpc>
              <a:buNone/>
            </a:pPr>
            <a:r>
              <a:rPr lang="en-US" sz="1000" b="1" dirty="0">
                <a:solidFill>
                  <a:srgbClr val="4A5769"/>
                </a:solidFill>
                <a:latin typeface="Calibri" pitchFamily="34" charset="0"/>
                <a:ea typeface="Calibri" pitchFamily="34" charset="-122"/>
                <a:cs typeface="Calibri" pitchFamily="34" charset="-120"/>
              </a:rPr>
              <a:t>Persistance</a:t>
            </a:r>
            <a:endParaRPr lang="en-US" sz="1000" dirty="0"/>
          </a:p>
        </p:txBody>
      </p:sp>
      <p:sp>
        <p:nvSpPr>
          <p:cNvPr id="24" name="Shape 22"/>
          <p:cNvSpPr/>
          <p:nvPr/>
        </p:nvSpPr>
        <p:spPr>
          <a:xfrm>
            <a:off x="2377440" y="2578608"/>
            <a:ext cx="3154680" cy="713232"/>
          </a:xfrm>
          <a:prstGeom prst="rect">
            <a:avLst/>
          </a:prstGeom>
          <a:solidFill>
            <a:srgbClr val="FFFFFF"/>
          </a:solidFill>
          <a:ln/>
        </p:spPr>
        <p:txBody>
          <a:bodyPr/>
          <a:lstStyle/>
          <a:p>
            <a:endParaRPr lang="fr-FR"/>
          </a:p>
        </p:txBody>
      </p:sp>
      <p:sp>
        <p:nvSpPr>
          <p:cNvPr id="25" name="Text 23"/>
          <p:cNvSpPr/>
          <p:nvPr/>
        </p:nvSpPr>
        <p:spPr>
          <a:xfrm>
            <a:off x="2505456" y="2578608"/>
            <a:ext cx="2935224" cy="713232"/>
          </a:xfrm>
          <a:prstGeom prst="rect">
            <a:avLst/>
          </a:prstGeom>
          <a:noFill/>
          <a:ln/>
        </p:spPr>
        <p:txBody>
          <a:bodyPr wrap="square" lIns="0" tIns="0" rIns="0" bIns="0" rtlCol="0" anchor="ctr"/>
          <a:lstStyle/>
          <a:p>
            <a:pPr marL="0" indent="0">
              <a:lnSpc>
                <a:spcPts val="1300"/>
              </a:lnSpc>
              <a:buNone/>
            </a:pPr>
            <a:r>
              <a:rPr lang="en-US" sz="1000" dirty="0">
                <a:solidFill>
                  <a:srgbClr val="12263F"/>
                </a:solidFill>
                <a:latin typeface="Calibri" pitchFamily="34" charset="0"/>
                <a:ea typeface="Calibri" pitchFamily="34" charset="-122"/>
                <a:cs typeface="Calibri" pitchFamily="34" charset="-120"/>
              </a:rPr>
              <a:t>PostgreSQL 18 + TypeORM, PgBouncer, Redis 8</a:t>
            </a:r>
            <a:endParaRPr lang="en-US" sz="1000" dirty="0"/>
          </a:p>
        </p:txBody>
      </p:sp>
      <p:sp>
        <p:nvSpPr>
          <p:cNvPr id="26" name="Shape 24"/>
          <p:cNvSpPr/>
          <p:nvPr/>
        </p:nvSpPr>
        <p:spPr>
          <a:xfrm>
            <a:off x="5532120" y="2578608"/>
            <a:ext cx="2377440" cy="713232"/>
          </a:xfrm>
          <a:prstGeom prst="rect">
            <a:avLst/>
          </a:prstGeom>
          <a:solidFill>
            <a:srgbClr val="FFFFFF"/>
          </a:solidFill>
          <a:ln/>
        </p:spPr>
        <p:txBody>
          <a:bodyPr/>
          <a:lstStyle/>
          <a:p>
            <a:endParaRPr lang="fr-FR"/>
          </a:p>
        </p:txBody>
      </p:sp>
      <p:sp>
        <p:nvSpPr>
          <p:cNvPr id="27" name="Text 25"/>
          <p:cNvSpPr/>
          <p:nvPr/>
        </p:nvSpPr>
        <p:spPr>
          <a:xfrm>
            <a:off x="5660136" y="2578608"/>
            <a:ext cx="215798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Schéma implicite, NoSQL</a:t>
            </a:r>
            <a:endParaRPr lang="en-US" sz="1000" dirty="0"/>
          </a:p>
        </p:txBody>
      </p:sp>
      <p:sp>
        <p:nvSpPr>
          <p:cNvPr id="28" name="Shape 26"/>
          <p:cNvSpPr/>
          <p:nvPr/>
        </p:nvSpPr>
        <p:spPr>
          <a:xfrm>
            <a:off x="7909560" y="2578608"/>
            <a:ext cx="3703320" cy="713232"/>
          </a:xfrm>
          <a:prstGeom prst="rect">
            <a:avLst/>
          </a:prstGeom>
          <a:solidFill>
            <a:srgbClr val="FFFFFF"/>
          </a:solidFill>
          <a:ln/>
        </p:spPr>
        <p:txBody>
          <a:bodyPr/>
          <a:lstStyle/>
          <a:p>
            <a:endParaRPr lang="fr-FR"/>
          </a:p>
        </p:txBody>
      </p:sp>
      <p:sp>
        <p:nvSpPr>
          <p:cNvPr id="29" name="Text 27"/>
          <p:cNvSpPr/>
          <p:nvPr/>
        </p:nvSpPr>
        <p:spPr>
          <a:xfrm>
            <a:off x="8037576" y="2578608"/>
            <a:ext cx="348386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Contrôle fin des index partiels (sobriété)</a:t>
            </a:r>
            <a:endParaRPr lang="en-US" sz="1000" dirty="0"/>
          </a:p>
        </p:txBody>
      </p:sp>
      <p:sp>
        <p:nvSpPr>
          <p:cNvPr id="30" name="Shape 28"/>
          <p:cNvSpPr/>
          <p:nvPr/>
        </p:nvSpPr>
        <p:spPr>
          <a:xfrm>
            <a:off x="548640" y="3291840"/>
            <a:ext cx="1828800" cy="713232"/>
          </a:xfrm>
          <a:prstGeom prst="rect">
            <a:avLst/>
          </a:prstGeom>
          <a:solidFill>
            <a:srgbClr val="EEF3F7"/>
          </a:solidFill>
          <a:ln/>
        </p:spPr>
        <p:txBody>
          <a:bodyPr/>
          <a:lstStyle/>
          <a:p>
            <a:endParaRPr lang="fr-FR"/>
          </a:p>
        </p:txBody>
      </p:sp>
      <p:sp>
        <p:nvSpPr>
          <p:cNvPr id="31" name="Text 29"/>
          <p:cNvSpPr/>
          <p:nvPr/>
        </p:nvSpPr>
        <p:spPr>
          <a:xfrm>
            <a:off x="676656" y="3291840"/>
            <a:ext cx="1609344" cy="713232"/>
          </a:xfrm>
          <a:prstGeom prst="rect">
            <a:avLst/>
          </a:prstGeom>
          <a:noFill/>
          <a:ln/>
        </p:spPr>
        <p:txBody>
          <a:bodyPr wrap="square" lIns="0" tIns="0" rIns="0" bIns="0" rtlCol="0" anchor="ctr"/>
          <a:lstStyle/>
          <a:p>
            <a:pPr marL="0" indent="0">
              <a:lnSpc>
                <a:spcPts val="1300"/>
              </a:lnSpc>
              <a:buNone/>
            </a:pPr>
            <a:r>
              <a:rPr lang="en-US" sz="1000" b="1" dirty="0">
                <a:solidFill>
                  <a:srgbClr val="4A5769"/>
                </a:solidFill>
                <a:latin typeface="Calibri" pitchFamily="34" charset="0"/>
                <a:ea typeface="Calibri" pitchFamily="34" charset="-122"/>
                <a:cs typeface="Calibri" pitchFamily="34" charset="-120"/>
              </a:rPr>
              <a:t>Orchestration</a:t>
            </a:r>
            <a:endParaRPr lang="en-US" sz="1000" dirty="0"/>
          </a:p>
        </p:txBody>
      </p:sp>
      <p:sp>
        <p:nvSpPr>
          <p:cNvPr id="32" name="Shape 30"/>
          <p:cNvSpPr/>
          <p:nvPr/>
        </p:nvSpPr>
        <p:spPr>
          <a:xfrm>
            <a:off x="2377440" y="3291840"/>
            <a:ext cx="3154680" cy="713232"/>
          </a:xfrm>
          <a:prstGeom prst="rect">
            <a:avLst/>
          </a:prstGeom>
          <a:solidFill>
            <a:srgbClr val="EEF3F7"/>
          </a:solidFill>
          <a:ln/>
        </p:spPr>
        <p:txBody>
          <a:bodyPr/>
          <a:lstStyle/>
          <a:p>
            <a:endParaRPr lang="fr-FR"/>
          </a:p>
        </p:txBody>
      </p:sp>
      <p:sp>
        <p:nvSpPr>
          <p:cNvPr id="33" name="Text 31"/>
          <p:cNvSpPr/>
          <p:nvPr/>
        </p:nvSpPr>
        <p:spPr>
          <a:xfrm>
            <a:off x="2505456" y="3291840"/>
            <a:ext cx="2935224" cy="713232"/>
          </a:xfrm>
          <a:prstGeom prst="rect">
            <a:avLst/>
          </a:prstGeom>
          <a:noFill/>
          <a:ln/>
        </p:spPr>
        <p:txBody>
          <a:bodyPr wrap="square" lIns="0" tIns="0" rIns="0" bIns="0" rtlCol="0" anchor="ctr"/>
          <a:lstStyle/>
          <a:p>
            <a:pPr marL="0" indent="0">
              <a:lnSpc>
                <a:spcPts val="1300"/>
              </a:lnSpc>
              <a:buNone/>
            </a:pPr>
            <a:r>
              <a:rPr lang="en-US" sz="1000" dirty="0">
                <a:solidFill>
                  <a:srgbClr val="12263F"/>
                </a:solidFill>
                <a:latin typeface="Calibri" pitchFamily="34" charset="0"/>
                <a:ea typeface="Calibri" pitchFamily="34" charset="-122"/>
                <a:cs typeface="Calibri" pitchFamily="34" charset="-120"/>
              </a:rPr>
              <a:t>Docker Swarm</a:t>
            </a:r>
            <a:endParaRPr lang="en-US" sz="1000" dirty="0"/>
          </a:p>
        </p:txBody>
      </p:sp>
      <p:sp>
        <p:nvSpPr>
          <p:cNvPr id="34" name="Shape 32"/>
          <p:cNvSpPr/>
          <p:nvPr/>
        </p:nvSpPr>
        <p:spPr>
          <a:xfrm>
            <a:off x="5532120" y="3291840"/>
            <a:ext cx="2377440" cy="713232"/>
          </a:xfrm>
          <a:prstGeom prst="rect">
            <a:avLst/>
          </a:prstGeom>
          <a:solidFill>
            <a:srgbClr val="EEF3F7"/>
          </a:solidFill>
          <a:ln/>
        </p:spPr>
        <p:txBody>
          <a:bodyPr/>
          <a:lstStyle/>
          <a:p>
            <a:endParaRPr lang="fr-FR"/>
          </a:p>
        </p:txBody>
      </p:sp>
      <p:sp>
        <p:nvSpPr>
          <p:cNvPr id="35" name="Text 33"/>
          <p:cNvSpPr/>
          <p:nvPr/>
        </p:nvSpPr>
        <p:spPr>
          <a:xfrm>
            <a:off x="5660136" y="3291840"/>
            <a:ext cx="215798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Kubernetes, k3s, Nomad</a:t>
            </a:r>
            <a:endParaRPr lang="en-US" sz="1000" dirty="0"/>
          </a:p>
        </p:txBody>
      </p:sp>
      <p:sp>
        <p:nvSpPr>
          <p:cNvPr id="36" name="Shape 34"/>
          <p:cNvSpPr/>
          <p:nvPr/>
        </p:nvSpPr>
        <p:spPr>
          <a:xfrm>
            <a:off x="7909560" y="3291840"/>
            <a:ext cx="3703320" cy="713232"/>
          </a:xfrm>
          <a:prstGeom prst="rect">
            <a:avLst/>
          </a:prstGeom>
          <a:solidFill>
            <a:srgbClr val="EEF3F7"/>
          </a:solidFill>
          <a:ln/>
        </p:spPr>
        <p:txBody>
          <a:bodyPr/>
          <a:lstStyle/>
          <a:p>
            <a:endParaRPr lang="fr-FR"/>
          </a:p>
        </p:txBody>
      </p:sp>
      <p:sp>
        <p:nvSpPr>
          <p:cNvPr id="37" name="Text 35"/>
          <p:cNvSpPr/>
          <p:nvPr/>
        </p:nvSpPr>
        <p:spPr>
          <a:xfrm>
            <a:off x="8037576" y="3291840"/>
            <a:ext cx="348386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Proportionnalité : complexité et coût disproportionnés à cette échelle</a:t>
            </a:r>
            <a:endParaRPr lang="en-US" sz="1000" dirty="0"/>
          </a:p>
        </p:txBody>
      </p:sp>
      <p:sp>
        <p:nvSpPr>
          <p:cNvPr id="38" name="Shape 36"/>
          <p:cNvSpPr/>
          <p:nvPr/>
        </p:nvSpPr>
        <p:spPr>
          <a:xfrm>
            <a:off x="548640" y="4005072"/>
            <a:ext cx="1828800" cy="713232"/>
          </a:xfrm>
          <a:prstGeom prst="rect">
            <a:avLst/>
          </a:prstGeom>
          <a:solidFill>
            <a:srgbClr val="FFFFFF"/>
          </a:solidFill>
          <a:ln/>
        </p:spPr>
        <p:txBody>
          <a:bodyPr/>
          <a:lstStyle/>
          <a:p>
            <a:endParaRPr lang="fr-FR"/>
          </a:p>
        </p:txBody>
      </p:sp>
      <p:sp>
        <p:nvSpPr>
          <p:cNvPr id="39" name="Text 37"/>
          <p:cNvSpPr/>
          <p:nvPr/>
        </p:nvSpPr>
        <p:spPr>
          <a:xfrm>
            <a:off x="676656" y="4005072"/>
            <a:ext cx="1609344" cy="713232"/>
          </a:xfrm>
          <a:prstGeom prst="rect">
            <a:avLst/>
          </a:prstGeom>
          <a:noFill/>
          <a:ln/>
        </p:spPr>
        <p:txBody>
          <a:bodyPr wrap="square" lIns="0" tIns="0" rIns="0" bIns="0" rtlCol="0" anchor="ctr"/>
          <a:lstStyle/>
          <a:p>
            <a:pPr marL="0" indent="0">
              <a:lnSpc>
                <a:spcPts val="1300"/>
              </a:lnSpc>
              <a:buNone/>
            </a:pPr>
            <a:r>
              <a:rPr lang="en-US" sz="1000" b="1" dirty="0">
                <a:solidFill>
                  <a:srgbClr val="4A5769"/>
                </a:solidFill>
                <a:latin typeface="Calibri" pitchFamily="34" charset="0"/>
                <a:ea typeface="Calibri" pitchFamily="34" charset="-122"/>
                <a:cs typeface="Calibri" pitchFamily="34" charset="-120"/>
              </a:rPr>
              <a:t>Infrastructure as Code</a:t>
            </a:r>
            <a:endParaRPr lang="en-US" sz="1000" dirty="0"/>
          </a:p>
        </p:txBody>
      </p:sp>
      <p:sp>
        <p:nvSpPr>
          <p:cNvPr id="40" name="Shape 38"/>
          <p:cNvSpPr/>
          <p:nvPr/>
        </p:nvSpPr>
        <p:spPr>
          <a:xfrm>
            <a:off x="2377440" y="4005072"/>
            <a:ext cx="3154680" cy="713232"/>
          </a:xfrm>
          <a:prstGeom prst="rect">
            <a:avLst/>
          </a:prstGeom>
          <a:solidFill>
            <a:srgbClr val="FFFFFF"/>
          </a:solidFill>
          <a:ln/>
        </p:spPr>
        <p:txBody>
          <a:bodyPr/>
          <a:lstStyle/>
          <a:p>
            <a:endParaRPr lang="fr-FR"/>
          </a:p>
        </p:txBody>
      </p:sp>
      <p:sp>
        <p:nvSpPr>
          <p:cNvPr id="41" name="Text 39"/>
          <p:cNvSpPr/>
          <p:nvPr/>
        </p:nvSpPr>
        <p:spPr>
          <a:xfrm>
            <a:off x="2505456" y="4005072"/>
            <a:ext cx="2935224" cy="713232"/>
          </a:xfrm>
          <a:prstGeom prst="rect">
            <a:avLst/>
          </a:prstGeom>
          <a:noFill/>
          <a:ln/>
        </p:spPr>
        <p:txBody>
          <a:bodyPr wrap="square" lIns="0" tIns="0" rIns="0" bIns="0" rtlCol="0" anchor="ctr"/>
          <a:lstStyle/>
          <a:p>
            <a:pPr marL="0" indent="0">
              <a:lnSpc>
                <a:spcPts val="1300"/>
              </a:lnSpc>
              <a:buNone/>
            </a:pPr>
            <a:r>
              <a:rPr lang="en-US" sz="1000" dirty="0">
                <a:solidFill>
                  <a:srgbClr val="12263F"/>
                </a:solidFill>
                <a:latin typeface="Calibri" pitchFamily="34" charset="0"/>
                <a:ea typeface="Calibri" pitchFamily="34" charset="-122"/>
                <a:cs typeface="Calibri" pitchFamily="34" charset="-120"/>
              </a:rPr>
              <a:t>Terraform (provisioning) + Ansible (configuration)</a:t>
            </a:r>
            <a:endParaRPr lang="en-US" sz="1000" dirty="0"/>
          </a:p>
        </p:txBody>
      </p:sp>
      <p:sp>
        <p:nvSpPr>
          <p:cNvPr id="42" name="Shape 40"/>
          <p:cNvSpPr/>
          <p:nvPr/>
        </p:nvSpPr>
        <p:spPr>
          <a:xfrm>
            <a:off x="5532120" y="4005072"/>
            <a:ext cx="2377440" cy="713232"/>
          </a:xfrm>
          <a:prstGeom prst="rect">
            <a:avLst/>
          </a:prstGeom>
          <a:solidFill>
            <a:srgbClr val="FFFFFF"/>
          </a:solidFill>
          <a:ln/>
        </p:spPr>
        <p:txBody>
          <a:bodyPr/>
          <a:lstStyle/>
          <a:p>
            <a:endParaRPr lang="fr-FR"/>
          </a:p>
        </p:txBody>
      </p:sp>
      <p:sp>
        <p:nvSpPr>
          <p:cNvPr id="43" name="Text 41"/>
          <p:cNvSpPr/>
          <p:nvPr/>
        </p:nvSpPr>
        <p:spPr>
          <a:xfrm>
            <a:off x="5660136" y="4005072"/>
            <a:ext cx="215798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OpenTofu (repli)</a:t>
            </a:r>
            <a:endParaRPr lang="en-US" sz="1000" dirty="0"/>
          </a:p>
        </p:txBody>
      </p:sp>
      <p:sp>
        <p:nvSpPr>
          <p:cNvPr id="44" name="Shape 42"/>
          <p:cNvSpPr/>
          <p:nvPr/>
        </p:nvSpPr>
        <p:spPr>
          <a:xfrm>
            <a:off x="7909560" y="4005072"/>
            <a:ext cx="3703320" cy="713232"/>
          </a:xfrm>
          <a:prstGeom prst="rect">
            <a:avLst/>
          </a:prstGeom>
          <a:solidFill>
            <a:srgbClr val="FFFFFF"/>
          </a:solidFill>
          <a:ln/>
        </p:spPr>
        <p:txBody>
          <a:bodyPr/>
          <a:lstStyle/>
          <a:p>
            <a:endParaRPr lang="fr-FR"/>
          </a:p>
        </p:txBody>
      </p:sp>
      <p:sp>
        <p:nvSpPr>
          <p:cNvPr id="45" name="Text 43"/>
          <p:cNvSpPr/>
          <p:nvPr/>
        </p:nvSpPr>
        <p:spPr>
          <a:xfrm>
            <a:off x="8037576" y="4005072"/>
            <a:ext cx="348386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Séparation nette des cycles de vie, idempotence</a:t>
            </a:r>
            <a:endParaRPr lang="en-US" sz="1000" dirty="0"/>
          </a:p>
        </p:txBody>
      </p:sp>
      <p:sp>
        <p:nvSpPr>
          <p:cNvPr id="46" name="Shape 44"/>
          <p:cNvSpPr/>
          <p:nvPr/>
        </p:nvSpPr>
        <p:spPr>
          <a:xfrm>
            <a:off x="548640" y="4718304"/>
            <a:ext cx="1828800" cy="713232"/>
          </a:xfrm>
          <a:prstGeom prst="rect">
            <a:avLst/>
          </a:prstGeom>
          <a:solidFill>
            <a:srgbClr val="EEF3F7"/>
          </a:solidFill>
          <a:ln/>
        </p:spPr>
        <p:txBody>
          <a:bodyPr/>
          <a:lstStyle/>
          <a:p>
            <a:endParaRPr lang="fr-FR"/>
          </a:p>
        </p:txBody>
      </p:sp>
      <p:sp>
        <p:nvSpPr>
          <p:cNvPr id="47" name="Text 45"/>
          <p:cNvSpPr/>
          <p:nvPr/>
        </p:nvSpPr>
        <p:spPr>
          <a:xfrm>
            <a:off x="676656" y="4718304"/>
            <a:ext cx="1609344" cy="713232"/>
          </a:xfrm>
          <a:prstGeom prst="rect">
            <a:avLst/>
          </a:prstGeom>
          <a:noFill/>
          <a:ln/>
        </p:spPr>
        <p:txBody>
          <a:bodyPr wrap="square" lIns="0" tIns="0" rIns="0" bIns="0" rtlCol="0" anchor="ctr"/>
          <a:lstStyle/>
          <a:p>
            <a:pPr marL="0" indent="0">
              <a:lnSpc>
                <a:spcPts val="1300"/>
              </a:lnSpc>
              <a:buNone/>
            </a:pPr>
            <a:r>
              <a:rPr lang="en-US" sz="1000" b="1" dirty="0">
                <a:solidFill>
                  <a:srgbClr val="4A5769"/>
                </a:solidFill>
                <a:latin typeface="Calibri" pitchFamily="34" charset="0"/>
                <a:ea typeface="Calibri" pitchFamily="34" charset="-122"/>
                <a:cs typeface="Calibri" pitchFamily="34" charset="-120"/>
              </a:rPr>
              <a:t>Observabilité</a:t>
            </a:r>
            <a:endParaRPr lang="en-US" sz="1000" dirty="0"/>
          </a:p>
        </p:txBody>
      </p:sp>
      <p:sp>
        <p:nvSpPr>
          <p:cNvPr id="48" name="Shape 46"/>
          <p:cNvSpPr/>
          <p:nvPr/>
        </p:nvSpPr>
        <p:spPr>
          <a:xfrm>
            <a:off x="2377440" y="4718304"/>
            <a:ext cx="3154680" cy="713232"/>
          </a:xfrm>
          <a:prstGeom prst="rect">
            <a:avLst/>
          </a:prstGeom>
          <a:solidFill>
            <a:srgbClr val="EEF3F7"/>
          </a:solidFill>
          <a:ln/>
        </p:spPr>
        <p:txBody>
          <a:bodyPr/>
          <a:lstStyle/>
          <a:p>
            <a:endParaRPr lang="fr-FR"/>
          </a:p>
        </p:txBody>
      </p:sp>
      <p:sp>
        <p:nvSpPr>
          <p:cNvPr id="49" name="Text 47"/>
          <p:cNvSpPr/>
          <p:nvPr/>
        </p:nvSpPr>
        <p:spPr>
          <a:xfrm>
            <a:off x="2505456" y="4718304"/>
            <a:ext cx="2935224" cy="713232"/>
          </a:xfrm>
          <a:prstGeom prst="rect">
            <a:avLst/>
          </a:prstGeom>
          <a:noFill/>
          <a:ln/>
        </p:spPr>
        <p:txBody>
          <a:bodyPr wrap="square" lIns="0" tIns="0" rIns="0" bIns="0" rtlCol="0" anchor="ctr"/>
          <a:lstStyle/>
          <a:p>
            <a:pPr marL="0" indent="0">
              <a:lnSpc>
                <a:spcPts val="1300"/>
              </a:lnSpc>
              <a:buNone/>
            </a:pPr>
            <a:r>
              <a:rPr lang="en-US" sz="1000" dirty="0">
                <a:solidFill>
                  <a:srgbClr val="12263F"/>
                </a:solidFill>
                <a:latin typeface="Calibri" pitchFamily="34" charset="0"/>
                <a:ea typeface="Calibri" pitchFamily="34" charset="-122"/>
                <a:cs typeface="Calibri" pitchFamily="34" charset="-120"/>
              </a:rPr>
              <a:t>Prometheus, Alertmanager, Loki, Alloy, Grafana</a:t>
            </a:r>
            <a:endParaRPr lang="en-US" sz="1000" dirty="0"/>
          </a:p>
        </p:txBody>
      </p:sp>
      <p:sp>
        <p:nvSpPr>
          <p:cNvPr id="50" name="Shape 48"/>
          <p:cNvSpPr/>
          <p:nvPr/>
        </p:nvSpPr>
        <p:spPr>
          <a:xfrm>
            <a:off x="5532120" y="4718304"/>
            <a:ext cx="2377440" cy="713232"/>
          </a:xfrm>
          <a:prstGeom prst="rect">
            <a:avLst/>
          </a:prstGeom>
          <a:solidFill>
            <a:srgbClr val="EEF3F7"/>
          </a:solidFill>
          <a:ln/>
        </p:spPr>
        <p:txBody>
          <a:bodyPr/>
          <a:lstStyle/>
          <a:p>
            <a:endParaRPr lang="fr-FR"/>
          </a:p>
        </p:txBody>
      </p:sp>
      <p:sp>
        <p:nvSpPr>
          <p:cNvPr id="51" name="Text 49"/>
          <p:cNvSpPr/>
          <p:nvPr/>
        </p:nvSpPr>
        <p:spPr>
          <a:xfrm>
            <a:off x="5660136" y="4718304"/>
            <a:ext cx="215798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Datadog / New Relic, ELK</a:t>
            </a:r>
            <a:endParaRPr lang="en-US" sz="1000" dirty="0"/>
          </a:p>
        </p:txBody>
      </p:sp>
      <p:sp>
        <p:nvSpPr>
          <p:cNvPr id="52" name="Shape 50"/>
          <p:cNvSpPr/>
          <p:nvPr/>
        </p:nvSpPr>
        <p:spPr>
          <a:xfrm>
            <a:off x="7909560" y="4718304"/>
            <a:ext cx="3703320" cy="713232"/>
          </a:xfrm>
          <a:prstGeom prst="rect">
            <a:avLst/>
          </a:prstGeom>
          <a:solidFill>
            <a:srgbClr val="EEF3F7"/>
          </a:solidFill>
          <a:ln/>
        </p:spPr>
        <p:txBody>
          <a:bodyPr/>
          <a:lstStyle/>
          <a:p>
            <a:endParaRPr lang="fr-FR"/>
          </a:p>
        </p:txBody>
      </p:sp>
      <p:sp>
        <p:nvSpPr>
          <p:cNvPr id="53" name="Text 51"/>
          <p:cNvSpPr/>
          <p:nvPr/>
        </p:nvSpPr>
        <p:spPr>
          <a:xfrm>
            <a:off x="8037576" y="4718304"/>
            <a:ext cx="348386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Souveraineté des données, aucun coût de licence, tout versionné</a:t>
            </a:r>
            <a:endParaRPr lang="en-US" sz="1000" dirty="0"/>
          </a:p>
        </p:txBody>
      </p:sp>
      <p:sp>
        <p:nvSpPr>
          <p:cNvPr id="54" name="Shape 52"/>
          <p:cNvSpPr/>
          <p:nvPr/>
        </p:nvSpPr>
        <p:spPr>
          <a:xfrm>
            <a:off x="548640" y="5431536"/>
            <a:ext cx="1828800" cy="713232"/>
          </a:xfrm>
          <a:prstGeom prst="rect">
            <a:avLst/>
          </a:prstGeom>
          <a:solidFill>
            <a:srgbClr val="FFFFFF"/>
          </a:solidFill>
          <a:ln/>
        </p:spPr>
        <p:txBody>
          <a:bodyPr/>
          <a:lstStyle/>
          <a:p>
            <a:endParaRPr lang="fr-FR"/>
          </a:p>
        </p:txBody>
      </p:sp>
      <p:sp>
        <p:nvSpPr>
          <p:cNvPr id="55" name="Text 53"/>
          <p:cNvSpPr/>
          <p:nvPr/>
        </p:nvSpPr>
        <p:spPr>
          <a:xfrm>
            <a:off x="676656" y="5431536"/>
            <a:ext cx="1609344" cy="713232"/>
          </a:xfrm>
          <a:prstGeom prst="rect">
            <a:avLst/>
          </a:prstGeom>
          <a:noFill/>
          <a:ln/>
        </p:spPr>
        <p:txBody>
          <a:bodyPr wrap="square" lIns="0" tIns="0" rIns="0" bIns="0" rtlCol="0" anchor="ctr"/>
          <a:lstStyle/>
          <a:p>
            <a:pPr marL="0" indent="0">
              <a:lnSpc>
                <a:spcPts val="1300"/>
              </a:lnSpc>
              <a:buNone/>
            </a:pPr>
            <a:r>
              <a:rPr lang="en-US" sz="1000" b="1" dirty="0">
                <a:solidFill>
                  <a:srgbClr val="4A5769"/>
                </a:solidFill>
                <a:latin typeface="Calibri" pitchFamily="34" charset="0"/>
                <a:ea typeface="Calibri" pitchFamily="34" charset="-122"/>
                <a:cs typeface="Calibri" pitchFamily="34" charset="-120"/>
              </a:rPr>
              <a:t>Hébergement</a:t>
            </a:r>
            <a:endParaRPr lang="en-US" sz="1000" dirty="0"/>
          </a:p>
        </p:txBody>
      </p:sp>
      <p:sp>
        <p:nvSpPr>
          <p:cNvPr id="56" name="Shape 54"/>
          <p:cNvSpPr/>
          <p:nvPr/>
        </p:nvSpPr>
        <p:spPr>
          <a:xfrm>
            <a:off x="2377440" y="5431536"/>
            <a:ext cx="3154680" cy="713232"/>
          </a:xfrm>
          <a:prstGeom prst="rect">
            <a:avLst/>
          </a:prstGeom>
          <a:solidFill>
            <a:srgbClr val="FFFFFF"/>
          </a:solidFill>
          <a:ln/>
        </p:spPr>
        <p:txBody>
          <a:bodyPr/>
          <a:lstStyle/>
          <a:p>
            <a:endParaRPr lang="fr-FR"/>
          </a:p>
        </p:txBody>
      </p:sp>
      <p:sp>
        <p:nvSpPr>
          <p:cNvPr id="57" name="Text 55"/>
          <p:cNvSpPr/>
          <p:nvPr/>
        </p:nvSpPr>
        <p:spPr>
          <a:xfrm>
            <a:off x="2505456" y="5431536"/>
            <a:ext cx="2935224" cy="713232"/>
          </a:xfrm>
          <a:prstGeom prst="rect">
            <a:avLst/>
          </a:prstGeom>
          <a:noFill/>
          <a:ln/>
        </p:spPr>
        <p:txBody>
          <a:bodyPr wrap="square" lIns="0" tIns="0" rIns="0" bIns="0" rtlCol="0" anchor="ctr"/>
          <a:lstStyle/>
          <a:p>
            <a:pPr marL="0" indent="0">
              <a:lnSpc>
                <a:spcPts val="1300"/>
              </a:lnSpc>
              <a:buNone/>
            </a:pPr>
            <a:r>
              <a:rPr lang="en-US" sz="1000" dirty="0">
                <a:solidFill>
                  <a:srgbClr val="12263F"/>
                </a:solidFill>
                <a:latin typeface="Calibri" pitchFamily="34" charset="0"/>
                <a:ea typeface="Calibri" pitchFamily="34" charset="-122"/>
                <a:cs typeface="Calibri" pitchFamily="34" charset="-120"/>
              </a:rPr>
              <a:t>Hetzner (calcul) + Cloudflare (edge) + AWS eu-west-3 (S3/CDN)</a:t>
            </a:r>
            <a:endParaRPr lang="en-US" sz="1000" dirty="0"/>
          </a:p>
        </p:txBody>
      </p:sp>
      <p:sp>
        <p:nvSpPr>
          <p:cNvPr id="58" name="Shape 56"/>
          <p:cNvSpPr/>
          <p:nvPr/>
        </p:nvSpPr>
        <p:spPr>
          <a:xfrm>
            <a:off x="5532120" y="5431536"/>
            <a:ext cx="2377440" cy="713232"/>
          </a:xfrm>
          <a:prstGeom prst="rect">
            <a:avLst/>
          </a:prstGeom>
          <a:solidFill>
            <a:srgbClr val="FFFFFF"/>
          </a:solidFill>
          <a:ln/>
        </p:spPr>
        <p:txBody>
          <a:bodyPr/>
          <a:lstStyle/>
          <a:p>
            <a:endParaRPr lang="fr-FR"/>
          </a:p>
        </p:txBody>
      </p:sp>
      <p:sp>
        <p:nvSpPr>
          <p:cNvPr id="59" name="Text 57"/>
          <p:cNvSpPr/>
          <p:nvPr/>
        </p:nvSpPr>
        <p:spPr>
          <a:xfrm>
            <a:off x="5660136" y="5431536"/>
            <a:ext cx="215798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Hyperscaler unique, PaaS</a:t>
            </a:r>
            <a:endParaRPr lang="en-US" sz="1000" dirty="0"/>
          </a:p>
        </p:txBody>
      </p:sp>
      <p:sp>
        <p:nvSpPr>
          <p:cNvPr id="60" name="Shape 58"/>
          <p:cNvSpPr/>
          <p:nvPr/>
        </p:nvSpPr>
        <p:spPr>
          <a:xfrm>
            <a:off x="7909560" y="5431536"/>
            <a:ext cx="3703320" cy="713232"/>
          </a:xfrm>
          <a:prstGeom prst="rect">
            <a:avLst/>
          </a:prstGeom>
          <a:solidFill>
            <a:srgbClr val="FFFFFF"/>
          </a:solidFill>
          <a:ln/>
        </p:spPr>
        <p:txBody>
          <a:bodyPr/>
          <a:lstStyle/>
          <a:p>
            <a:endParaRPr lang="fr-FR"/>
          </a:p>
        </p:txBody>
      </p:sp>
      <p:sp>
        <p:nvSpPr>
          <p:cNvPr id="61" name="Text 59"/>
          <p:cNvSpPr/>
          <p:nvPr/>
        </p:nvSpPr>
        <p:spPr>
          <a:xfrm>
            <a:off x="8037576" y="5431536"/>
            <a:ext cx="3483864" cy="713232"/>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Coût, souveraineté UE, résilience multi-fournisseurs</a:t>
            </a:r>
            <a:endParaRPr lang="en-US" sz="1000" dirty="0"/>
          </a:p>
        </p:txBody>
      </p:sp>
      <p:sp>
        <p:nvSpPr>
          <p:cNvPr id="62" name="Text 60"/>
          <p:cNvSpPr/>
          <p:nvPr/>
        </p:nvSpPr>
        <p:spPr>
          <a:xfrm>
            <a:off x="548640" y="6199632"/>
            <a:ext cx="11064240" cy="274320"/>
          </a:xfrm>
          <a:prstGeom prst="rect">
            <a:avLst/>
          </a:prstGeom>
          <a:noFill/>
          <a:ln/>
        </p:spPr>
        <p:txBody>
          <a:bodyPr wrap="square" lIns="0" tIns="0" rIns="0" bIns="0" rtlCol="0" anchor="ctr"/>
          <a:lstStyle/>
          <a:p>
            <a:pPr marL="0" indent="0">
              <a:buNone/>
            </a:pPr>
            <a:r>
              <a:rPr lang="en-US" sz="1050" i="1" dirty="0">
                <a:solidFill>
                  <a:srgbClr val="00A896"/>
                </a:solidFill>
                <a:latin typeface="Calibri" pitchFamily="34" charset="0"/>
                <a:ea typeface="Calibri" pitchFamily="34" charset="-122"/>
                <a:cs typeface="Calibri" pitchFamily="34" charset="-120"/>
              </a:rPr>
              <a:t>Éco-conception : la mesure RAPL restant propre au bare-metal, la veille a orienté vers un modèle d'estimation logicielle documenté (détaillé en 5.3).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2.5 RÉSULTATS ATTENDUS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Hypothèses de travail et impact escompté</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481328"/>
            <a:ext cx="11064240" cy="1005840"/>
          </a:xfrm>
          <a:prstGeom prst="roundRect">
            <a:avLst>
              <a:gd name="adj" fmla="val 5455"/>
            </a:avLst>
          </a:prstGeom>
          <a:solidFill>
            <a:srgbClr val="EEF3F7"/>
          </a:solidFill>
          <a:ln/>
        </p:spPr>
        <p:txBody>
          <a:bodyPr/>
          <a:lstStyle/>
          <a:p>
            <a:endParaRPr lang="fr-FR"/>
          </a:p>
        </p:txBody>
      </p:sp>
      <p:sp>
        <p:nvSpPr>
          <p:cNvPr id="7" name="Shape 5"/>
          <p:cNvSpPr/>
          <p:nvPr/>
        </p:nvSpPr>
        <p:spPr>
          <a:xfrm>
            <a:off x="786384" y="1755648"/>
            <a:ext cx="457200" cy="457200"/>
          </a:xfrm>
          <a:prstGeom prst="ellipse">
            <a:avLst/>
          </a:prstGeom>
          <a:solidFill>
            <a:srgbClr val="00A896"/>
          </a:solidFill>
          <a:ln/>
        </p:spPr>
        <p:txBody>
          <a:bodyPr/>
          <a:lstStyle/>
          <a:p>
            <a:endParaRPr lang="fr-FR"/>
          </a:p>
        </p:txBody>
      </p:sp>
      <p:sp>
        <p:nvSpPr>
          <p:cNvPr id="8" name="Text 6"/>
          <p:cNvSpPr/>
          <p:nvPr/>
        </p:nvSpPr>
        <p:spPr>
          <a:xfrm>
            <a:off x="786384" y="1755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9" name="Text 7"/>
          <p:cNvSpPr/>
          <p:nvPr/>
        </p:nvSpPr>
        <p:spPr>
          <a:xfrm>
            <a:off x="1426464" y="1481328"/>
            <a:ext cx="9966960" cy="1005840"/>
          </a:xfrm>
          <a:prstGeom prst="rect">
            <a:avLst/>
          </a:prstGeom>
          <a:noFill/>
          <a:ln/>
        </p:spPr>
        <p:txBody>
          <a:bodyPr wrap="square" lIns="0" tIns="0" rIns="0" bIns="0" rtlCol="0" anchor="ctr"/>
          <a:lstStyle/>
          <a:p>
            <a:pPr marL="0" indent="0">
              <a:lnSpc>
                <a:spcPts val="1800"/>
              </a:lnSpc>
              <a:buNone/>
            </a:pPr>
            <a:r>
              <a:rPr lang="en-US" sz="1250" dirty="0">
                <a:solidFill>
                  <a:srgbClr val="12263F"/>
                </a:solidFill>
                <a:latin typeface="Calibri" pitchFamily="34" charset="0"/>
                <a:ea typeface="Calibri" pitchFamily="34" charset="-122"/>
                <a:cs typeface="Calibri" pitchFamily="34" charset="-120"/>
              </a:rPr>
              <a:t>Une automatisation de bout en bout, fondée sur l'IaC et le GitOps, améliore simultanément la fiabilité et la vitesse des déploiements.</a:t>
            </a:r>
            <a:endParaRPr lang="en-US" sz="1250" dirty="0"/>
          </a:p>
        </p:txBody>
      </p:sp>
      <p:sp>
        <p:nvSpPr>
          <p:cNvPr id="10" name="Shape 8"/>
          <p:cNvSpPr/>
          <p:nvPr/>
        </p:nvSpPr>
        <p:spPr>
          <a:xfrm>
            <a:off x="548640" y="2633472"/>
            <a:ext cx="11064240" cy="1005840"/>
          </a:xfrm>
          <a:prstGeom prst="roundRect">
            <a:avLst>
              <a:gd name="adj" fmla="val 5455"/>
            </a:avLst>
          </a:prstGeom>
          <a:solidFill>
            <a:srgbClr val="EEF3F7"/>
          </a:solidFill>
          <a:ln/>
        </p:spPr>
        <p:txBody>
          <a:bodyPr/>
          <a:lstStyle/>
          <a:p>
            <a:endParaRPr lang="fr-FR"/>
          </a:p>
        </p:txBody>
      </p:sp>
      <p:sp>
        <p:nvSpPr>
          <p:cNvPr id="11" name="Shape 9"/>
          <p:cNvSpPr/>
          <p:nvPr/>
        </p:nvSpPr>
        <p:spPr>
          <a:xfrm>
            <a:off x="786384" y="2907792"/>
            <a:ext cx="457200" cy="457200"/>
          </a:xfrm>
          <a:prstGeom prst="ellipse">
            <a:avLst/>
          </a:prstGeom>
          <a:solidFill>
            <a:srgbClr val="00A896"/>
          </a:solidFill>
          <a:ln/>
        </p:spPr>
        <p:txBody>
          <a:bodyPr/>
          <a:lstStyle/>
          <a:p>
            <a:endParaRPr lang="fr-FR"/>
          </a:p>
        </p:txBody>
      </p:sp>
      <p:sp>
        <p:nvSpPr>
          <p:cNvPr id="12" name="Text 10"/>
          <p:cNvSpPr/>
          <p:nvPr/>
        </p:nvSpPr>
        <p:spPr>
          <a:xfrm>
            <a:off x="786384" y="290779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3" name="Text 11"/>
          <p:cNvSpPr/>
          <p:nvPr/>
        </p:nvSpPr>
        <p:spPr>
          <a:xfrm>
            <a:off x="1426464" y="2633472"/>
            <a:ext cx="9966960" cy="1005840"/>
          </a:xfrm>
          <a:prstGeom prst="rect">
            <a:avLst/>
          </a:prstGeom>
          <a:noFill/>
          <a:ln/>
        </p:spPr>
        <p:txBody>
          <a:bodyPr wrap="square" lIns="0" tIns="0" rIns="0" bIns="0" rtlCol="0" anchor="ctr"/>
          <a:lstStyle/>
          <a:p>
            <a:pPr marL="0" indent="0">
              <a:lnSpc>
                <a:spcPts val="1800"/>
              </a:lnSpc>
              <a:buNone/>
            </a:pPr>
            <a:r>
              <a:rPr lang="en-US" sz="1250" dirty="0">
                <a:solidFill>
                  <a:srgbClr val="12263F"/>
                </a:solidFill>
                <a:latin typeface="Calibri" pitchFamily="34" charset="0"/>
                <a:ea typeface="Calibri" pitchFamily="34" charset="-122"/>
                <a:cs typeface="Calibri" pitchFamily="34" charset="-120"/>
              </a:rPr>
              <a:t>Une orchestration adaptée à la taille du cluster garantit portabilité, scalabilité et résilience avec un excellent rapport capacités / simplicité d'exploitation.</a:t>
            </a:r>
            <a:endParaRPr lang="en-US" sz="1250" dirty="0"/>
          </a:p>
        </p:txBody>
      </p:sp>
      <p:sp>
        <p:nvSpPr>
          <p:cNvPr id="14" name="Shape 12"/>
          <p:cNvSpPr/>
          <p:nvPr/>
        </p:nvSpPr>
        <p:spPr>
          <a:xfrm>
            <a:off x="548640" y="3785616"/>
            <a:ext cx="11064240" cy="1005840"/>
          </a:xfrm>
          <a:prstGeom prst="roundRect">
            <a:avLst>
              <a:gd name="adj" fmla="val 5455"/>
            </a:avLst>
          </a:prstGeom>
          <a:solidFill>
            <a:srgbClr val="EEF3F7"/>
          </a:solidFill>
          <a:ln/>
        </p:spPr>
        <p:txBody>
          <a:bodyPr/>
          <a:lstStyle/>
          <a:p>
            <a:endParaRPr lang="fr-FR"/>
          </a:p>
        </p:txBody>
      </p:sp>
      <p:sp>
        <p:nvSpPr>
          <p:cNvPr id="15" name="Shape 13"/>
          <p:cNvSpPr/>
          <p:nvPr/>
        </p:nvSpPr>
        <p:spPr>
          <a:xfrm>
            <a:off x="786384" y="4059936"/>
            <a:ext cx="457200" cy="457200"/>
          </a:xfrm>
          <a:prstGeom prst="ellipse">
            <a:avLst/>
          </a:prstGeom>
          <a:solidFill>
            <a:srgbClr val="00A896"/>
          </a:solidFill>
          <a:ln/>
        </p:spPr>
        <p:txBody>
          <a:bodyPr/>
          <a:lstStyle/>
          <a:p>
            <a:endParaRPr lang="fr-FR"/>
          </a:p>
        </p:txBody>
      </p:sp>
      <p:sp>
        <p:nvSpPr>
          <p:cNvPr id="16" name="Text 14"/>
          <p:cNvSpPr/>
          <p:nvPr/>
        </p:nvSpPr>
        <p:spPr>
          <a:xfrm>
            <a:off x="786384" y="405993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17" name="Text 15"/>
          <p:cNvSpPr/>
          <p:nvPr/>
        </p:nvSpPr>
        <p:spPr>
          <a:xfrm>
            <a:off x="1426464" y="3785616"/>
            <a:ext cx="9966960" cy="1005840"/>
          </a:xfrm>
          <a:prstGeom prst="rect">
            <a:avLst/>
          </a:prstGeom>
          <a:noFill/>
          <a:ln/>
        </p:spPr>
        <p:txBody>
          <a:bodyPr wrap="square" lIns="0" tIns="0" rIns="0" bIns="0" rtlCol="0" anchor="ctr"/>
          <a:lstStyle/>
          <a:p>
            <a:pPr marL="0" indent="0">
              <a:lnSpc>
                <a:spcPts val="1800"/>
              </a:lnSpc>
              <a:buNone/>
            </a:pPr>
            <a:r>
              <a:rPr lang="en-US" sz="1250" dirty="0">
                <a:solidFill>
                  <a:srgbClr val="12263F"/>
                </a:solidFill>
                <a:latin typeface="Calibri" pitchFamily="34" charset="0"/>
                <a:ea typeface="Calibri" pitchFamily="34" charset="-122"/>
                <a:cs typeface="Calibri" pitchFamily="34" charset="-120"/>
              </a:rPr>
              <a:t>Une stratégie d'observabilité intégrée, complétée d'une estimation de la consommation énergétique, rend l'éco-responsabilité pilotable et compatible avec la maîtrise des coûts.</a:t>
            </a:r>
            <a:endParaRPr lang="en-US" sz="1250" dirty="0"/>
          </a:p>
        </p:txBody>
      </p:sp>
      <p:sp>
        <p:nvSpPr>
          <p:cNvPr id="18" name="Text 16"/>
          <p:cNvSpPr/>
          <p:nvPr/>
        </p:nvSpPr>
        <p:spPr>
          <a:xfrm>
            <a:off x="548640" y="502920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Impact attendu</a:t>
            </a:r>
            <a:endParaRPr lang="en-US" sz="1400" dirty="0"/>
          </a:p>
        </p:txBody>
      </p:sp>
      <p:sp>
        <p:nvSpPr>
          <p:cNvPr id="19" name="Shape 17"/>
          <p:cNvSpPr/>
          <p:nvPr/>
        </p:nvSpPr>
        <p:spPr>
          <a:xfrm>
            <a:off x="548640" y="5394960"/>
            <a:ext cx="3520440" cy="868680"/>
          </a:xfrm>
          <a:prstGeom prst="roundRect">
            <a:avLst>
              <a:gd name="adj" fmla="val 6316"/>
            </a:avLst>
          </a:prstGeom>
          <a:solidFill>
            <a:srgbClr val="12263F"/>
          </a:solidFill>
          <a:ln/>
        </p:spPr>
        <p:txBody>
          <a:bodyPr/>
          <a:lstStyle/>
          <a:p>
            <a:endParaRPr lang="fr-FR"/>
          </a:p>
        </p:txBody>
      </p:sp>
      <p:sp>
        <p:nvSpPr>
          <p:cNvPr id="20" name="Text 18"/>
          <p:cNvSpPr/>
          <p:nvPr/>
        </p:nvSpPr>
        <p:spPr>
          <a:xfrm>
            <a:off x="768096" y="5504688"/>
            <a:ext cx="3108960" cy="256032"/>
          </a:xfrm>
          <a:prstGeom prst="rect">
            <a:avLst/>
          </a:prstGeom>
          <a:noFill/>
          <a:ln/>
        </p:spPr>
        <p:txBody>
          <a:bodyPr wrap="square" lIns="0" tIns="0" rIns="0" bIns="0" rtlCol="0" anchor="ctr"/>
          <a:lstStyle/>
          <a:p>
            <a:pPr marL="0" indent="0">
              <a:buNone/>
            </a:pPr>
            <a:r>
              <a:rPr lang="en-US" sz="1150" b="1" dirty="0">
                <a:solidFill>
                  <a:srgbClr val="E08A3C"/>
                </a:solidFill>
                <a:latin typeface="Calibri" pitchFamily="34" charset="0"/>
                <a:ea typeface="Calibri" pitchFamily="34" charset="-122"/>
                <a:cs typeface="Calibri" pitchFamily="34" charset="-120"/>
              </a:rPr>
              <a:t>Technique</a:t>
            </a:r>
            <a:endParaRPr lang="en-US" sz="1150" dirty="0"/>
          </a:p>
        </p:txBody>
      </p:sp>
      <p:sp>
        <p:nvSpPr>
          <p:cNvPr id="21" name="Text 19"/>
          <p:cNvSpPr/>
          <p:nvPr/>
        </p:nvSpPr>
        <p:spPr>
          <a:xfrm>
            <a:off x="768096" y="5760720"/>
            <a:ext cx="3108960" cy="45720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Fiabilisation et accélération de la livraison, réduction du taux d'échec des changements</a:t>
            </a:r>
            <a:endParaRPr lang="en-US" sz="1000" dirty="0"/>
          </a:p>
        </p:txBody>
      </p:sp>
      <p:sp>
        <p:nvSpPr>
          <p:cNvPr id="22" name="Shape 20"/>
          <p:cNvSpPr/>
          <p:nvPr/>
        </p:nvSpPr>
        <p:spPr>
          <a:xfrm>
            <a:off x="4334256" y="5394960"/>
            <a:ext cx="3520440" cy="868680"/>
          </a:xfrm>
          <a:prstGeom prst="roundRect">
            <a:avLst>
              <a:gd name="adj" fmla="val 6316"/>
            </a:avLst>
          </a:prstGeom>
          <a:solidFill>
            <a:srgbClr val="12263F"/>
          </a:solidFill>
          <a:ln/>
        </p:spPr>
        <p:txBody>
          <a:bodyPr/>
          <a:lstStyle/>
          <a:p>
            <a:endParaRPr lang="fr-FR"/>
          </a:p>
        </p:txBody>
      </p:sp>
      <p:sp>
        <p:nvSpPr>
          <p:cNvPr id="23" name="Text 21"/>
          <p:cNvSpPr/>
          <p:nvPr/>
        </p:nvSpPr>
        <p:spPr>
          <a:xfrm>
            <a:off x="4553712" y="5504688"/>
            <a:ext cx="3108960" cy="256032"/>
          </a:xfrm>
          <a:prstGeom prst="rect">
            <a:avLst/>
          </a:prstGeom>
          <a:noFill/>
          <a:ln/>
        </p:spPr>
        <p:txBody>
          <a:bodyPr wrap="square" lIns="0" tIns="0" rIns="0" bIns="0" rtlCol="0" anchor="ctr"/>
          <a:lstStyle/>
          <a:p>
            <a:pPr marL="0" indent="0">
              <a:buNone/>
            </a:pPr>
            <a:r>
              <a:rPr lang="en-US" sz="1150" b="1" dirty="0">
                <a:solidFill>
                  <a:srgbClr val="E08A3C"/>
                </a:solidFill>
                <a:latin typeface="Calibri" pitchFamily="34" charset="0"/>
                <a:ea typeface="Calibri" pitchFamily="34" charset="-122"/>
                <a:cs typeface="Calibri" pitchFamily="34" charset="-120"/>
              </a:rPr>
              <a:t>Économique</a:t>
            </a:r>
            <a:endParaRPr lang="en-US" sz="1150" dirty="0"/>
          </a:p>
        </p:txBody>
      </p:sp>
      <p:sp>
        <p:nvSpPr>
          <p:cNvPr id="24" name="Text 22"/>
          <p:cNvSpPr/>
          <p:nvPr/>
        </p:nvSpPr>
        <p:spPr>
          <a:xfrm>
            <a:off x="4553712" y="5760720"/>
            <a:ext cx="3108960" cy="45720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Réduction du gaspillage de ressources, trajectoire de coûts anticipée et alertée</a:t>
            </a:r>
            <a:endParaRPr lang="en-US" sz="1000" dirty="0"/>
          </a:p>
        </p:txBody>
      </p:sp>
      <p:sp>
        <p:nvSpPr>
          <p:cNvPr id="25" name="Shape 23"/>
          <p:cNvSpPr/>
          <p:nvPr/>
        </p:nvSpPr>
        <p:spPr>
          <a:xfrm>
            <a:off x="8119872" y="5394960"/>
            <a:ext cx="3520440" cy="868680"/>
          </a:xfrm>
          <a:prstGeom prst="roundRect">
            <a:avLst>
              <a:gd name="adj" fmla="val 6316"/>
            </a:avLst>
          </a:prstGeom>
          <a:solidFill>
            <a:srgbClr val="12263F"/>
          </a:solidFill>
          <a:ln/>
        </p:spPr>
        <p:txBody>
          <a:bodyPr/>
          <a:lstStyle/>
          <a:p>
            <a:endParaRPr lang="fr-FR"/>
          </a:p>
        </p:txBody>
      </p:sp>
      <p:sp>
        <p:nvSpPr>
          <p:cNvPr id="26" name="Text 24"/>
          <p:cNvSpPr/>
          <p:nvPr/>
        </p:nvSpPr>
        <p:spPr>
          <a:xfrm>
            <a:off x="8339328" y="5504688"/>
            <a:ext cx="3108960" cy="256032"/>
          </a:xfrm>
          <a:prstGeom prst="rect">
            <a:avLst/>
          </a:prstGeom>
          <a:noFill/>
          <a:ln/>
        </p:spPr>
        <p:txBody>
          <a:bodyPr wrap="square" lIns="0" tIns="0" rIns="0" bIns="0" rtlCol="0" anchor="ctr"/>
          <a:lstStyle/>
          <a:p>
            <a:pPr marL="0" indent="0">
              <a:buNone/>
            </a:pPr>
            <a:r>
              <a:rPr lang="en-US" sz="1150" b="1" dirty="0">
                <a:solidFill>
                  <a:srgbClr val="E08A3C"/>
                </a:solidFill>
                <a:latin typeface="Calibri" pitchFamily="34" charset="0"/>
                <a:ea typeface="Calibri" pitchFamily="34" charset="-122"/>
                <a:cs typeface="Calibri" pitchFamily="34" charset="-120"/>
              </a:rPr>
              <a:t>Réglementaire</a:t>
            </a:r>
            <a:endParaRPr lang="en-US" sz="1150" dirty="0"/>
          </a:p>
        </p:txBody>
      </p:sp>
      <p:sp>
        <p:nvSpPr>
          <p:cNvPr id="27" name="Text 25"/>
          <p:cNvSpPr/>
          <p:nvPr/>
        </p:nvSpPr>
        <p:spPr>
          <a:xfrm>
            <a:off x="8339328" y="5760720"/>
            <a:ext cx="3108960" cy="45720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Limitation de l'exposition aux risques juridiques et réputationnels (RGPD)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3</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Analyse du système d'information</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Cartographie, architecture, vulnérabilités, flux critiques et conformité</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3.1 ARCHITECTURE ET CONFIGURATION DU SYSTÈME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Les quatre niveaux du SI et les quatre rôles de nœuds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548640" y="1417320"/>
            <a:ext cx="5449824"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Cartographie du SI — les 4 niveaux fondamentaux</a:t>
            </a:r>
            <a:endParaRPr lang="en-US" sz="1400" dirty="0"/>
          </a:p>
        </p:txBody>
      </p:sp>
      <p:sp>
        <p:nvSpPr>
          <p:cNvPr id="7" name="Shape 5"/>
          <p:cNvSpPr/>
          <p:nvPr/>
        </p:nvSpPr>
        <p:spPr>
          <a:xfrm>
            <a:off x="548640" y="1810512"/>
            <a:ext cx="5449824" cy="969264"/>
          </a:xfrm>
          <a:prstGeom prst="roundRect">
            <a:avLst>
              <a:gd name="adj" fmla="val 4717"/>
            </a:avLst>
          </a:prstGeom>
          <a:solidFill>
            <a:srgbClr val="EEF3F7"/>
          </a:solidFill>
          <a:ln/>
        </p:spPr>
        <p:txBody>
          <a:bodyPr/>
          <a:lstStyle/>
          <a:p>
            <a:endParaRPr lang="fr-FR"/>
          </a:p>
        </p:txBody>
      </p:sp>
      <p:sp>
        <p:nvSpPr>
          <p:cNvPr id="8" name="Shape 6"/>
          <p:cNvSpPr/>
          <p:nvPr/>
        </p:nvSpPr>
        <p:spPr>
          <a:xfrm>
            <a:off x="786384" y="2093976"/>
            <a:ext cx="402336" cy="402336"/>
          </a:xfrm>
          <a:prstGeom prst="ellipse">
            <a:avLst/>
          </a:prstGeom>
          <a:solidFill>
            <a:srgbClr val="00A896"/>
          </a:solidFill>
          <a:ln/>
        </p:spPr>
        <p:txBody>
          <a:bodyPr/>
          <a:lstStyle/>
          <a:p>
            <a:endParaRPr lang="fr-FR"/>
          </a:p>
        </p:txBody>
      </p:sp>
      <p:sp>
        <p:nvSpPr>
          <p:cNvPr id="9" name="Text 7"/>
          <p:cNvSpPr/>
          <p:nvPr/>
        </p:nvSpPr>
        <p:spPr>
          <a:xfrm>
            <a:off x="786384" y="2093976"/>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371600" y="1920240"/>
            <a:ext cx="4389120" cy="27432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Métier</a:t>
            </a:r>
            <a:endParaRPr lang="en-US" sz="1250" dirty="0"/>
          </a:p>
        </p:txBody>
      </p:sp>
      <p:sp>
        <p:nvSpPr>
          <p:cNvPr id="11" name="Text 9"/>
          <p:cNvSpPr/>
          <p:nvPr/>
        </p:nvSpPr>
        <p:spPr>
          <a:xfrm>
            <a:off x="1371600" y="2194560"/>
            <a:ext cx="4389120" cy="51206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Partage maîtrisé, confidentialité par défaut, publication sélective et révocable</a:t>
            </a:r>
            <a:endParaRPr lang="en-US" sz="1030" dirty="0"/>
          </a:p>
        </p:txBody>
      </p:sp>
      <p:sp>
        <p:nvSpPr>
          <p:cNvPr id="12" name="Shape 10"/>
          <p:cNvSpPr/>
          <p:nvPr/>
        </p:nvSpPr>
        <p:spPr>
          <a:xfrm>
            <a:off x="548640" y="2889504"/>
            <a:ext cx="5449824" cy="969264"/>
          </a:xfrm>
          <a:prstGeom prst="roundRect">
            <a:avLst>
              <a:gd name="adj" fmla="val 4717"/>
            </a:avLst>
          </a:prstGeom>
          <a:solidFill>
            <a:srgbClr val="EEF3F7"/>
          </a:solidFill>
          <a:ln/>
        </p:spPr>
        <p:txBody>
          <a:bodyPr/>
          <a:lstStyle/>
          <a:p>
            <a:endParaRPr lang="fr-FR"/>
          </a:p>
        </p:txBody>
      </p:sp>
      <p:sp>
        <p:nvSpPr>
          <p:cNvPr id="13" name="Shape 11"/>
          <p:cNvSpPr/>
          <p:nvPr/>
        </p:nvSpPr>
        <p:spPr>
          <a:xfrm>
            <a:off x="786384" y="3172968"/>
            <a:ext cx="402336" cy="402336"/>
          </a:xfrm>
          <a:prstGeom prst="ellipse">
            <a:avLst/>
          </a:prstGeom>
          <a:solidFill>
            <a:srgbClr val="00A896"/>
          </a:solidFill>
          <a:ln/>
        </p:spPr>
        <p:txBody>
          <a:bodyPr/>
          <a:lstStyle/>
          <a:p>
            <a:endParaRPr lang="fr-FR"/>
          </a:p>
        </p:txBody>
      </p:sp>
      <p:sp>
        <p:nvSpPr>
          <p:cNvPr id="14" name="Text 12"/>
          <p:cNvSpPr/>
          <p:nvPr/>
        </p:nvSpPr>
        <p:spPr>
          <a:xfrm>
            <a:off x="786384" y="3172968"/>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371600" y="2999232"/>
            <a:ext cx="4389120" cy="27432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Fonctionnel</a:t>
            </a:r>
            <a:endParaRPr lang="en-US" sz="1250" dirty="0"/>
          </a:p>
        </p:txBody>
      </p:sp>
      <p:sp>
        <p:nvSpPr>
          <p:cNvPr id="16" name="Text 14"/>
          <p:cNvSpPr/>
          <p:nvPr/>
        </p:nvSpPr>
        <p:spPr>
          <a:xfrm>
            <a:off x="1371600" y="3273552"/>
            <a:ext cx="4389120" cy="51206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Authentification, bibliothèque, albums, publication, profil public, fil social, recherche</a:t>
            </a:r>
            <a:endParaRPr lang="en-US" sz="1030" dirty="0"/>
          </a:p>
        </p:txBody>
      </p:sp>
      <p:sp>
        <p:nvSpPr>
          <p:cNvPr id="17" name="Shape 15"/>
          <p:cNvSpPr/>
          <p:nvPr/>
        </p:nvSpPr>
        <p:spPr>
          <a:xfrm>
            <a:off x="548640" y="3968496"/>
            <a:ext cx="5449824" cy="969264"/>
          </a:xfrm>
          <a:prstGeom prst="roundRect">
            <a:avLst>
              <a:gd name="adj" fmla="val 4717"/>
            </a:avLst>
          </a:prstGeom>
          <a:solidFill>
            <a:srgbClr val="EEF3F7"/>
          </a:solidFill>
          <a:ln/>
        </p:spPr>
        <p:txBody>
          <a:bodyPr/>
          <a:lstStyle/>
          <a:p>
            <a:endParaRPr lang="fr-FR"/>
          </a:p>
        </p:txBody>
      </p:sp>
      <p:sp>
        <p:nvSpPr>
          <p:cNvPr id="18" name="Shape 16"/>
          <p:cNvSpPr/>
          <p:nvPr/>
        </p:nvSpPr>
        <p:spPr>
          <a:xfrm>
            <a:off x="786384" y="4251960"/>
            <a:ext cx="402336" cy="402336"/>
          </a:xfrm>
          <a:prstGeom prst="ellipse">
            <a:avLst/>
          </a:prstGeom>
          <a:solidFill>
            <a:srgbClr val="00A896"/>
          </a:solidFill>
          <a:ln/>
        </p:spPr>
        <p:txBody>
          <a:bodyPr/>
          <a:lstStyle/>
          <a:p>
            <a:endParaRPr lang="fr-FR"/>
          </a:p>
        </p:txBody>
      </p:sp>
      <p:sp>
        <p:nvSpPr>
          <p:cNvPr id="19" name="Text 17"/>
          <p:cNvSpPr/>
          <p:nvPr/>
        </p:nvSpPr>
        <p:spPr>
          <a:xfrm>
            <a:off x="786384" y="425196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371600" y="4078224"/>
            <a:ext cx="4389120" cy="27432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Applicatif</a:t>
            </a:r>
            <a:endParaRPr lang="en-US" sz="1250" dirty="0"/>
          </a:p>
        </p:txBody>
      </p:sp>
      <p:sp>
        <p:nvSpPr>
          <p:cNvPr id="21" name="Text 19"/>
          <p:cNvSpPr/>
          <p:nvPr/>
        </p:nvSpPr>
        <p:spPr>
          <a:xfrm>
            <a:off x="1371600" y="4352544"/>
            <a:ext cx="4389120" cy="51206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API NestJS 11 / Bun, application Next.js 16, site statique, monorepo GitOps</a:t>
            </a:r>
            <a:endParaRPr lang="en-US" sz="1030" dirty="0"/>
          </a:p>
        </p:txBody>
      </p:sp>
      <p:sp>
        <p:nvSpPr>
          <p:cNvPr id="22" name="Shape 20"/>
          <p:cNvSpPr/>
          <p:nvPr/>
        </p:nvSpPr>
        <p:spPr>
          <a:xfrm>
            <a:off x="548640" y="5047488"/>
            <a:ext cx="5449824" cy="969264"/>
          </a:xfrm>
          <a:prstGeom prst="roundRect">
            <a:avLst>
              <a:gd name="adj" fmla="val 4717"/>
            </a:avLst>
          </a:prstGeom>
          <a:solidFill>
            <a:srgbClr val="EEF3F7"/>
          </a:solidFill>
          <a:ln/>
        </p:spPr>
        <p:txBody>
          <a:bodyPr/>
          <a:lstStyle/>
          <a:p>
            <a:endParaRPr lang="fr-FR"/>
          </a:p>
        </p:txBody>
      </p:sp>
      <p:sp>
        <p:nvSpPr>
          <p:cNvPr id="23" name="Shape 21"/>
          <p:cNvSpPr/>
          <p:nvPr/>
        </p:nvSpPr>
        <p:spPr>
          <a:xfrm>
            <a:off x="786384" y="5330952"/>
            <a:ext cx="402336" cy="402336"/>
          </a:xfrm>
          <a:prstGeom prst="ellipse">
            <a:avLst/>
          </a:prstGeom>
          <a:solidFill>
            <a:srgbClr val="00A896"/>
          </a:solidFill>
          <a:ln/>
        </p:spPr>
        <p:txBody>
          <a:bodyPr/>
          <a:lstStyle/>
          <a:p>
            <a:endParaRPr lang="fr-FR"/>
          </a:p>
        </p:txBody>
      </p:sp>
      <p:sp>
        <p:nvSpPr>
          <p:cNvPr id="24" name="Text 22"/>
          <p:cNvSpPr/>
          <p:nvPr/>
        </p:nvSpPr>
        <p:spPr>
          <a:xfrm>
            <a:off x="786384" y="533095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371600" y="5157216"/>
            <a:ext cx="4389120" cy="27432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Infrastructure</a:t>
            </a:r>
            <a:endParaRPr lang="en-US" sz="1250" dirty="0"/>
          </a:p>
        </p:txBody>
      </p:sp>
      <p:sp>
        <p:nvSpPr>
          <p:cNvPr id="26" name="Text 24"/>
          <p:cNvSpPr/>
          <p:nvPr/>
        </p:nvSpPr>
        <p:spPr>
          <a:xfrm>
            <a:off x="1371600" y="5431536"/>
            <a:ext cx="4389120" cy="51206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Cluster Docker Swarm (Hetzner), périphérie Cloudflare, S3 + CloudFront (AWS eu-west-3)</a:t>
            </a:r>
            <a:endParaRPr lang="en-US" sz="1030" dirty="0"/>
          </a:p>
        </p:txBody>
      </p:sp>
      <p:sp>
        <p:nvSpPr>
          <p:cNvPr id="27" name="Text 25"/>
          <p:cNvSpPr/>
          <p:nvPr/>
        </p:nvSpPr>
        <p:spPr>
          <a:xfrm>
            <a:off x="6190488" y="1417320"/>
            <a:ext cx="5449824"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Topologie — spécialisation par rôle</a:t>
            </a:r>
            <a:endParaRPr lang="en-US" sz="1400" dirty="0"/>
          </a:p>
        </p:txBody>
      </p:sp>
      <p:sp>
        <p:nvSpPr>
          <p:cNvPr id="28" name="Shape 26"/>
          <p:cNvSpPr/>
          <p:nvPr/>
        </p:nvSpPr>
        <p:spPr>
          <a:xfrm>
            <a:off x="6190488" y="1810512"/>
            <a:ext cx="5449824" cy="1965960"/>
          </a:xfrm>
          <a:prstGeom prst="roundRect">
            <a:avLst>
              <a:gd name="adj" fmla="val 2791"/>
            </a:avLst>
          </a:prstGeom>
          <a:solidFill>
            <a:srgbClr val="12263F"/>
          </a:solidFill>
          <a:ln/>
        </p:spPr>
        <p:txBody>
          <a:bodyPr/>
          <a:lstStyle/>
          <a:p>
            <a:endParaRPr lang="fr-FR"/>
          </a:p>
        </p:txBody>
      </p:sp>
      <p:sp>
        <p:nvSpPr>
          <p:cNvPr id="29" name="Text 27"/>
          <p:cNvSpPr/>
          <p:nvPr/>
        </p:nvSpPr>
        <p:spPr>
          <a:xfrm>
            <a:off x="6446520" y="1956816"/>
            <a:ext cx="4937760" cy="1005840"/>
          </a:xfrm>
          <a:prstGeom prst="rect">
            <a:avLst/>
          </a:prstGeom>
          <a:noFill/>
          <a:ln/>
        </p:spPr>
        <p:txBody>
          <a:bodyPr wrap="square" lIns="0" tIns="0" rIns="0" bIns="0" rtlCol="0" anchor="ctr"/>
          <a:lstStyle/>
          <a:p>
            <a:pPr marL="0" indent="0">
              <a:lnSpc>
                <a:spcPts val="1600"/>
              </a:lnSpc>
              <a:buNone/>
            </a:pPr>
            <a:r>
              <a:rPr lang="en-US" sz="1100" dirty="0">
                <a:solidFill>
                  <a:srgbClr val="C4D3E0"/>
                </a:solidFill>
                <a:latin typeface="Calibri" pitchFamily="34" charset="0"/>
                <a:ea typeface="Calibri" pitchFamily="34" charset="-122"/>
                <a:cs typeface="Calibri" pitchFamily="34" charset="-120"/>
              </a:rPr>
              <a:t>proxy — Traefik, Redis, stack d'observabilité</a:t>
            </a:r>
            <a:endParaRPr lang="en-US" sz="1100" dirty="0"/>
          </a:p>
          <a:p>
            <a:pPr marL="0" indent="0">
              <a:lnSpc>
                <a:spcPts val="1600"/>
              </a:lnSpc>
              <a:buNone/>
            </a:pPr>
            <a:r>
              <a:rPr lang="en-US" sz="1100" dirty="0">
                <a:solidFill>
                  <a:srgbClr val="C4D3E0"/>
                </a:solidFill>
                <a:latin typeface="Calibri" pitchFamily="34" charset="0"/>
                <a:ea typeface="Calibri" pitchFamily="34" charset="-122"/>
                <a:cs typeface="Calibri" pitchFamily="34" charset="-120"/>
              </a:rPr>
              <a:t>db — PostgreSQL 18 + PgBouncer</a:t>
            </a:r>
            <a:endParaRPr lang="en-US" sz="1100" dirty="0"/>
          </a:p>
          <a:p>
            <a:pPr marL="0" indent="0">
              <a:lnSpc>
                <a:spcPts val="1600"/>
              </a:lnSpc>
              <a:buNone/>
            </a:pPr>
            <a:r>
              <a:rPr lang="en-US" sz="1100" dirty="0">
                <a:solidFill>
                  <a:srgbClr val="C4D3E0"/>
                </a:solidFill>
                <a:latin typeface="Calibri" pitchFamily="34" charset="0"/>
                <a:ea typeface="Calibri" pitchFamily="34" charset="-122"/>
                <a:cs typeface="Calibri" pitchFamily="34" charset="-120"/>
              </a:rPr>
              <a:t>backend — API NestJS / Bun (n répliques)</a:t>
            </a:r>
            <a:endParaRPr lang="en-US" sz="1100" dirty="0"/>
          </a:p>
          <a:p>
            <a:pPr marL="0" indent="0">
              <a:lnSpc>
                <a:spcPts val="1600"/>
              </a:lnSpc>
              <a:buNone/>
            </a:pPr>
            <a:r>
              <a:rPr lang="en-US" sz="1100" dirty="0">
                <a:solidFill>
                  <a:srgbClr val="C4D3E0"/>
                </a:solidFill>
                <a:latin typeface="Calibri" pitchFamily="34" charset="0"/>
                <a:ea typeface="Calibri" pitchFamily="34" charset="-122"/>
                <a:cs typeface="Calibri" pitchFamily="34" charset="-120"/>
              </a:rPr>
              <a:t>frontend — Next.js 16 (n répliques)</a:t>
            </a:r>
            <a:endParaRPr lang="en-US" sz="1100" dirty="0"/>
          </a:p>
        </p:txBody>
      </p:sp>
      <p:sp>
        <p:nvSpPr>
          <p:cNvPr id="30" name="Text 28"/>
          <p:cNvSpPr/>
          <p:nvPr/>
        </p:nvSpPr>
        <p:spPr>
          <a:xfrm>
            <a:off x="6446520" y="3035808"/>
            <a:ext cx="4937760" cy="603504"/>
          </a:xfrm>
          <a:prstGeom prst="rect">
            <a:avLst/>
          </a:prstGeom>
          <a:noFill/>
          <a:ln/>
        </p:spPr>
        <p:txBody>
          <a:bodyPr wrap="square" lIns="0" tIns="0" rIns="0" bIns="0" rtlCol="0" anchor="ctr"/>
          <a:lstStyle/>
          <a:p>
            <a:pPr marL="0" indent="0">
              <a:lnSpc>
                <a:spcPts val="1300"/>
              </a:lnSpc>
              <a:buNone/>
            </a:pPr>
            <a:r>
              <a:rPr lang="en-US" sz="1000" i="1" dirty="0">
                <a:solidFill>
                  <a:srgbClr val="00A896"/>
                </a:solidFill>
                <a:latin typeface="Calibri" pitchFamily="34" charset="0"/>
                <a:ea typeface="Calibri" pitchFamily="34" charset="-122"/>
                <a:cs typeface="Calibri" pitchFamily="34" charset="-120"/>
              </a:rPr>
              <a:t>Placement contraint par labels Swarm (node.labels.dropicture.role) : un ordonnancement déterministe, des responsabilités isolées.</a:t>
            </a:r>
            <a:endParaRPr lang="en-US" sz="1000" dirty="0"/>
          </a:p>
        </p:txBody>
      </p:sp>
      <p:sp>
        <p:nvSpPr>
          <p:cNvPr id="31" name="Shape 29"/>
          <p:cNvSpPr/>
          <p:nvPr/>
        </p:nvSpPr>
        <p:spPr>
          <a:xfrm>
            <a:off x="6190488" y="3931920"/>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32" name="Text 30"/>
          <p:cNvSpPr/>
          <p:nvPr/>
        </p:nvSpPr>
        <p:spPr>
          <a:xfrm>
            <a:off x="6446520" y="4114800"/>
            <a:ext cx="493776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Configurations déterminantes</a:t>
            </a:r>
            <a:endParaRPr lang="en-US" sz="1400" dirty="0"/>
          </a:p>
        </p:txBody>
      </p:sp>
      <p:sp>
        <p:nvSpPr>
          <p:cNvPr id="33" name="Text 31"/>
          <p:cNvSpPr/>
          <p:nvPr/>
        </p:nvSpPr>
        <p:spPr>
          <a:xfrm>
            <a:off x="6446520" y="4645152"/>
            <a:ext cx="4937760" cy="128016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Provisioning Terraform paramétrique : rôle → type d'instance × nombre de répliques</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Réseau privé Hetzner dédié ; plan de contrôle Swarm (port 2377) jamais exposé publiquement</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Ports 80/443 ouverts aux seules plages d'adresses Cloudflare ; administration par clé uniquement</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MTU des réseaux overlay réduite à 1400 octets (encapsulation du réseau privé)</a:t>
            </a:r>
            <a:endParaRPr lang="en-US" sz="980" dirty="0"/>
          </a:p>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 Réservations et limites déclarées service par service (right-sizing)</a:t>
            </a:r>
            <a:endParaRPr lang="en-US" sz="9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3.1 ARCHITECTURE ET CONFIGURATION DU SYSTÈME</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 — Cartographie du système d'information</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en couches : quatre bandes horizontales superposées, reliées par des flèches verticales de dépendance</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Donner au jury une vue d'ensemble immédiate du SI et prouver l'inventaire complet des quatre niveaux fondamentaux exigés par le référentiel. C'est le schéma qui fonde ensuite l'analyse de risques et le diagnostic.</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Bande MÉTIER : partage privé par défaut, albums, publication sélective, fil social et profils publics</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Bande FONCTIONNELLE : authentification, bibliothèque, albums, publication, découverte, profils, paramètres</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Bande APPLICATIVE : frontend Next.js, site statique, API NestJS, PostgreSQL, Redis, S3 + CloudFront</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Bande INFRASTRUCTURE : Docker Swarm sur Hetzner, Traefik, Cloudflare, AWS, Terraform / Ansible / CI-CD, stack d'observabilité</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Flèches verticales montrant que chaque niveau s'appuie sur le niveau inférieur</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Aucune donnée chiffrée ni détail d'implémentation : ce schéma reste volontairement macroscopique</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draw.io, Mermaid (flowchart avec subgraphs) ou Excalidraw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BC1 · C4 — cartographie complète avec inventaire des 4 niveaux (métier, fonctionnel, applicatif, infrastructure)</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3.1 ARCHITECTURE ET CONFIGURATION DU SYSTÈME</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2 — Topologie de l'infrastructure et du déploiement</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Schéma d'architecture physique : zones encadrées par fournisseur, nœuds représentés par des boîtes, liens réseau typés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Montrer la spécialisation par rôle du cluster et la répartition des responsabilités entre les trois fournisseurs. Ce schéma justifie visuellement l'arbitrage cloud / on-premise et le montage multi-fournisseurs.</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Zone Cloudflare en périphérie : DNS, WAF, terminaison TLS stricte, protection volumétrique</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Zone Hetzner Cloud : les quatre rôles de nœuds (proxy, db, backend ×n, frontend ×n) dans un réseau privé dédié</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Zone AWS eu-west-3 : buckets S3 (médias, sauvegardes, état Terraform), CloudFront, WAF, SSM, Budgets</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services hébergés par chaque nœud : Traefik + Redis + observabilité sur proxy, PostgreSQL + PgBouncer sur db</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sens du trafic entrant (utilisateur → Cloudflare → Traefik → applications) distingué des flux internes</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mention des ports ouverts (80/443 restreints aux plages Cloudflare) et du plan de contrôle Swarm non exposé</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draw.io avec les jeux d'icônes AWS / Cloudflare, ou Excalidraw pour un rendu plus sobre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BC1 · C7-C8 et BC4C · C28 — comparaison d'architectures, composants, interactions et dépendances</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3.2 ÉVALUATION DES VULNÉRABILITÉS ET DES RISQUES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Diagnostic du SI : forces, vigilances, opportunités, menaces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371600"/>
            <a:ext cx="5449824" cy="2377440"/>
          </a:xfrm>
          <a:prstGeom prst="roundRect">
            <a:avLst>
              <a:gd name="adj" fmla="val 2308"/>
            </a:avLst>
          </a:prstGeom>
          <a:solidFill>
            <a:srgbClr val="EEF3F7"/>
          </a:solidFill>
          <a:ln/>
        </p:spPr>
        <p:txBody>
          <a:bodyPr/>
          <a:lstStyle/>
          <a:p>
            <a:endParaRPr lang="fr-FR"/>
          </a:p>
        </p:txBody>
      </p:sp>
      <p:sp>
        <p:nvSpPr>
          <p:cNvPr id="7" name="Shape 5"/>
          <p:cNvSpPr/>
          <p:nvPr/>
        </p:nvSpPr>
        <p:spPr>
          <a:xfrm>
            <a:off x="786384" y="1591056"/>
            <a:ext cx="237744" cy="237744"/>
          </a:xfrm>
          <a:prstGeom prst="ellipse">
            <a:avLst/>
          </a:prstGeom>
          <a:solidFill>
            <a:srgbClr val="00A896"/>
          </a:solidFill>
          <a:ln/>
        </p:spPr>
        <p:txBody>
          <a:bodyPr/>
          <a:lstStyle/>
          <a:p>
            <a:endParaRPr lang="fr-FR"/>
          </a:p>
        </p:txBody>
      </p:sp>
      <p:sp>
        <p:nvSpPr>
          <p:cNvPr id="8" name="Text 6"/>
          <p:cNvSpPr/>
          <p:nvPr/>
        </p:nvSpPr>
        <p:spPr>
          <a:xfrm>
            <a:off x="1133856" y="1554480"/>
            <a:ext cx="4663440" cy="310896"/>
          </a:xfrm>
          <a:prstGeom prst="rect">
            <a:avLst/>
          </a:prstGeom>
          <a:noFill/>
          <a:ln/>
        </p:spPr>
        <p:txBody>
          <a:bodyPr wrap="square" lIns="0" tIns="0" rIns="0" bIns="0" rtlCol="0" anchor="ctr"/>
          <a:lstStyle/>
          <a:p>
            <a:pPr marL="0" indent="0">
              <a:buNone/>
            </a:pPr>
            <a:r>
              <a:rPr lang="en-US" sz="1200" b="1" kern="0" spc="100" dirty="0">
                <a:solidFill>
                  <a:srgbClr val="00A896"/>
                </a:solidFill>
                <a:latin typeface="Calibri" pitchFamily="34" charset="0"/>
                <a:ea typeface="Calibri" pitchFamily="34" charset="-122"/>
                <a:cs typeface="Calibri" pitchFamily="34" charset="-120"/>
              </a:rPr>
              <a:t>FORCES</a:t>
            </a:r>
            <a:endParaRPr lang="en-US" sz="1200" dirty="0"/>
          </a:p>
        </p:txBody>
      </p:sp>
      <p:sp>
        <p:nvSpPr>
          <p:cNvPr id="9" name="Text 7"/>
          <p:cNvSpPr/>
          <p:nvPr/>
        </p:nvSpPr>
        <p:spPr>
          <a:xfrm>
            <a:off x="822960" y="1938528"/>
            <a:ext cx="4937760" cy="1737360"/>
          </a:xfrm>
          <a:prstGeom prst="rect">
            <a:avLst/>
          </a:prstGeom>
          <a:noFill/>
          <a:ln/>
        </p:spPr>
        <p:txBody>
          <a:bodyPr wrap="square" lIns="0" tIns="0" rIns="0" bIns="0" rtlCol="0" anchor="ctr"/>
          <a:lstStyle/>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Automatisation intégrale (IaC + CI/CD)</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Sécurité en défense en profondeur, cartographiée ISO/IEC 27001:2022</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Observabilité mature (métriques, logs, alerting)</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Éco-responsabilité native et instrumentée</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Coûts maîtrisés (hébergeur européen, alertes budget)</a:t>
            </a:r>
            <a:endParaRPr lang="en-US" sz="980" dirty="0"/>
          </a:p>
        </p:txBody>
      </p:sp>
      <p:sp>
        <p:nvSpPr>
          <p:cNvPr id="10" name="Shape 8"/>
          <p:cNvSpPr/>
          <p:nvPr/>
        </p:nvSpPr>
        <p:spPr>
          <a:xfrm>
            <a:off x="6163056" y="1371600"/>
            <a:ext cx="5449824" cy="2377440"/>
          </a:xfrm>
          <a:prstGeom prst="roundRect">
            <a:avLst>
              <a:gd name="adj" fmla="val 2308"/>
            </a:avLst>
          </a:prstGeom>
          <a:solidFill>
            <a:srgbClr val="EEF3F7"/>
          </a:solidFill>
          <a:ln/>
        </p:spPr>
        <p:txBody>
          <a:bodyPr/>
          <a:lstStyle/>
          <a:p>
            <a:endParaRPr lang="fr-FR"/>
          </a:p>
        </p:txBody>
      </p:sp>
      <p:sp>
        <p:nvSpPr>
          <p:cNvPr id="11" name="Shape 9"/>
          <p:cNvSpPr/>
          <p:nvPr/>
        </p:nvSpPr>
        <p:spPr>
          <a:xfrm>
            <a:off x="6400800" y="1591056"/>
            <a:ext cx="237744" cy="237744"/>
          </a:xfrm>
          <a:prstGeom prst="ellipse">
            <a:avLst/>
          </a:prstGeom>
          <a:solidFill>
            <a:srgbClr val="E08A3C"/>
          </a:solidFill>
          <a:ln/>
        </p:spPr>
        <p:txBody>
          <a:bodyPr/>
          <a:lstStyle/>
          <a:p>
            <a:endParaRPr lang="fr-FR"/>
          </a:p>
        </p:txBody>
      </p:sp>
      <p:sp>
        <p:nvSpPr>
          <p:cNvPr id="12" name="Text 10"/>
          <p:cNvSpPr/>
          <p:nvPr/>
        </p:nvSpPr>
        <p:spPr>
          <a:xfrm>
            <a:off x="6748272" y="1554480"/>
            <a:ext cx="4663440" cy="310896"/>
          </a:xfrm>
          <a:prstGeom prst="rect">
            <a:avLst/>
          </a:prstGeom>
          <a:noFill/>
          <a:ln/>
        </p:spPr>
        <p:txBody>
          <a:bodyPr wrap="square" lIns="0" tIns="0" rIns="0" bIns="0" rtlCol="0" anchor="ctr"/>
          <a:lstStyle/>
          <a:p>
            <a:pPr marL="0" indent="0">
              <a:buNone/>
            </a:pPr>
            <a:r>
              <a:rPr lang="en-US" sz="1200" b="1" kern="0" spc="100" dirty="0">
                <a:solidFill>
                  <a:srgbClr val="E08A3C"/>
                </a:solidFill>
                <a:latin typeface="Calibri" pitchFamily="34" charset="0"/>
                <a:ea typeface="Calibri" pitchFamily="34" charset="-122"/>
                <a:cs typeface="Calibri" pitchFamily="34" charset="-120"/>
              </a:rPr>
              <a:t>POINTS DE VIGILANCE</a:t>
            </a:r>
            <a:endParaRPr lang="en-US" sz="1200" dirty="0"/>
          </a:p>
        </p:txBody>
      </p:sp>
      <p:sp>
        <p:nvSpPr>
          <p:cNvPr id="13" name="Text 11"/>
          <p:cNvSpPr/>
          <p:nvPr/>
        </p:nvSpPr>
        <p:spPr>
          <a:xfrm>
            <a:off x="6437376" y="1938528"/>
            <a:ext cx="4937760" cy="1737360"/>
          </a:xfrm>
          <a:prstGeom prst="rect">
            <a:avLst/>
          </a:prstGeom>
          <a:noFill/>
          <a:ln/>
        </p:spPr>
        <p:txBody>
          <a:bodyPr wrap="square" lIns="0" tIns="0" rIns="0" bIns="0" rtlCol="0" anchor="ctr"/>
          <a:lstStyle/>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Concentration de fonctions sur le nœud proxy</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Analyses de sécurité automatisées à enrichir (SCA, SAST, scan d'images)</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Mesure de couverture de tests à généraliser</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Gestion des secrets répartie multi-fournisseurs</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Écosystème Swarm plus ciblé que Kubernetes</a:t>
            </a:r>
            <a:endParaRPr lang="en-US" sz="980" dirty="0"/>
          </a:p>
        </p:txBody>
      </p:sp>
      <p:sp>
        <p:nvSpPr>
          <p:cNvPr id="14" name="Shape 12"/>
          <p:cNvSpPr/>
          <p:nvPr/>
        </p:nvSpPr>
        <p:spPr>
          <a:xfrm>
            <a:off x="548640" y="3858768"/>
            <a:ext cx="5449824" cy="2377440"/>
          </a:xfrm>
          <a:prstGeom prst="roundRect">
            <a:avLst>
              <a:gd name="adj" fmla="val 2308"/>
            </a:avLst>
          </a:prstGeom>
          <a:solidFill>
            <a:srgbClr val="EEF3F7"/>
          </a:solidFill>
          <a:ln/>
        </p:spPr>
        <p:txBody>
          <a:bodyPr/>
          <a:lstStyle/>
          <a:p>
            <a:endParaRPr lang="fr-FR"/>
          </a:p>
        </p:txBody>
      </p:sp>
      <p:sp>
        <p:nvSpPr>
          <p:cNvPr id="15" name="Shape 13"/>
          <p:cNvSpPr/>
          <p:nvPr/>
        </p:nvSpPr>
        <p:spPr>
          <a:xfrm>
            <a:off x="786384" y="4078224"/>
            <a:ext cx="237744" cy="237744"/>
          </a:xfrm>
          <a:prstGeom prst="ellipse">
            <a:avLst/>
          </a:prstGeom>
          <a:solidFill>
            <a:srgbClr val="3D7CA8"/>
          </a:solidFill>
          <a:ln/>
        </p:spPr>
        <p:txBody>
          <a:bodyPr/>
          <a:lstStyle/>
          <a:p>
            <a:endParaRPr lang="fr-FR"/>
          </a:p>
        </p:txBody>
      </p:sp>
      <p:sp>
        <p:nvSpPr>
          <p:cNvPr id="16" name="Text 14"/>
          <p:cNvSpPr/>
          <p:nvPr/>
        </p:nvSpPr>
        <p:spPr>
          <a:xfrm>
            <a:off x="1133856" y="4041648"/>
            <a:ext cx="4663440" cy="310896"/>
          </a:xfrm>
          <a:prstGeom prst="rect">
            <a:avLst/>
          </a:prstGeom>
          <a:noFill/>
          <a:ln/>
        </p:spPr>
        <p:txBody>
          <a:bodyPr wrap="square" lIns="0" tIns="0" rIns="0" bIns="0" rtlCol="0" anchor="ctr"/>
          <a:lstStyle/>
          <a:p>
            <a:pPr marL="0" indent="0">
              <a:buNone/>
            </a:pPr>
            <a:r>
              <a:rPr lang="en-US" sz="1200" b="1" kern="0" spc="100" dirty="0">
                <a:solidFill>
                  <a:srgbClr val="3D7CA8"/>
                </a:solidFill>
                <a:latin typeface="Calibri" pitchFamily="34" charset="0"/>
                <a:ea typeface="Calibri" pitchFamily="34" charset="-122"/>
                <a:cs typeface="Calibri" pitchFamily="34" charset="-120"/>
              </a:rPr>
              <a:t>OPPORTUNITÉS</a:t>
            </a:r>
            <a:endParaRPr lang="en-US" sz="1200" dirty="0"/>
          </a:p>
        </p:txBody>
      </p:sp>
      <p:sp>
        <p:nvSpPr>
          <p:cNvPr id="17" name="Text 15"/>
          <p:cNvSpPr/>
          <p:nvPr/>
        </p:nvSpPr>
        <p:spPr>
          <a:xfrm>
            <a:off x="822960" y="4425696"/>
            <a:ext cx="4937760" cy="1737360"/>
          </a:xfrm>
          <a:prstGeom prst="rect">
            <a:avLst/>
          </a:prstGeom>
          <a:noFill/>
          <a:ln/>
        </p:spPr>
        <p:txBody>
          <a:bodyPr wrap="square" lIns="0" tIns="0" rIns="0" bIns="0" rtlCol="0" anchor="ctr"/>
          <a:lstStyle/>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Outillage d'analyse de sécurité de plus en plus mature et peu coûteux</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Mesure énergétique réelle sur matériel dédié</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Réversibilité préservée (OpenTofu, Valkey, k3s)</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Exploitation assistée par IA (prédiction d'incidents)</a:t>
            </a:r>
            <a:endParaRPr lang="en-US" sz="980" dirty="0"/>
          </a:p>
        </p:txBody>
      </p:sp>
      <p:sp>
        <p:nvSpPr>
          <p:cNvPr id="18" name="Shape 16"/>
          <p:cNvSpPr/>
          <p:nvPr/>
        </p:nvSpPr>
        <p:spPr>
          <a:xfrm>
            <a:off x="6163056" y="3858768"/>
            <a:ext cx="5449824" cy="2377440"/>
          </a:xfrm>
          <a:prstGeom prst="roundRect">
            <a:avLst>
              <a:gd name="adj" fmla="val 2308"/>
            </a:avLst>
          </a:prstGeom>
          <a:solidFill>
            <a:srgbClr val="EEF3F7"/>
          </a:solidFill>
          <a:ln/>
        </p:spPr>
        <p:txBody>
          <a:bodyPr/>
          <a:lstStyle/>
          <a:p>
            <a:endParaRPr lang="fr-FR"/>
          </a:p>
        </p:txBody>
      </p:sp>
      <p:sp>
        <p:nvSpPr>
          <p:cNvPr id="19" name="Shape 17"/>
          <p:cNvSpPr/>
          <p:nvPr/>
        </p:nvSpPr>
        <p:spPr>
          <a:xfrm>
            <a:off x="6400800" y="4078224"/>
            <a:ext cx="237744" cy="237744"/>
          </a:xfrm>
          <a:prstGeom prst="ellipse">
            <a:avLst/>
          </a:prstGeom>
          <a:solidFill>
            <a:srgbClr val="9B4B4B"/>
          </a:solidFill>
          <a:ln/>
        </p:spPr>
        <p:txBody>
          <a:bodyPr/>
          <a:lstStyle/>
          <a:p>
            <a:endParaRPr lang="fr-FR"/>
          </a:p>
        </p:txBody>
      </p:sp>
      <p:sp>
        <p:nvSpPr>
          <p:cNvPr id="20" name="Text 18"/>
          <p:cNvSpPr/>
          <p:nvPr/>
        </p:nvSpPr>
        <p:spPr>
          <a:xfrm>
            <a:off x="6748272" y="4041648"/>
            <a:ext cx="4663440" cy="310896"/>
          </a:xfrm>
          <a:prstGeom prst="rect">
            <a:avLst/>
          </a:prstGeom>
          <a:noFill/>
          <a:ln/>
        </p:spPr>
        <p:txBody>
          <a:bodyPr wrap="square" lIns="0" tIns="0" rIns="0" bIns="0" rtlCol="0" anchor="ctr"/>
          <a:lstStyle/>
          <a:p>
            <a:pPr marL="0" indent="0">
              <a:buNone/>
            </a:pPr>
            <a:r>
              <a:rPr lang="en-US" sz="1200" b="1" kern="0" spc="100" dirty="0">
                <a:solidFill>
                  <a:srgbClr val="9B4B4B"/>
                </a:solidFill>
                <a:latin typeface="Calibri" pitchFamily="34" charset="0"/>
                <a:ea typeface="Calibri" pitchFamily="34" charset="-122"/>
                <a:cs typeface="Calibri" pitchFamily="34" charset="-120"/>
              </a:rPr>
              <a:t>MENACES</a:t>
            </a:r>
            <a:endParaRPr lang="en-US" sz="1200" dirty="0"/>
          </a:p>
        </p:txBody>
      </p:sp>
      <p:sp>
        <p:nvSpPr>
          <p:cNvPr id="21" name="Text 19"/>
          <p:cNvSpPr/>
          <p:nvPr/>
        </p:nvSpPr>
        <p:spPr>
          <a:xfrm>
            <a:off x="6437376" y="4425696"/>
            <a:ext cx="4937760" cy="1737360"/>
          </a:xfrm>
          <a:prstGeom prst="rect">
            <a:avLst/>
          </a:prstGeom>
          <a:noFill/>
          <a:ln/>
        </p:spPr>
        <p:txBody>
          <a:bodyPr wrap="square" lIns="0" tIns="0" rIns="0" bIns="0" rtlCol="0" anchor="ctr"/>
          <a:lstStyle/>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Évolutions des modèles de licence (BSL, Redis)</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Dépendance à des fournisseurs tiers</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Durcissement continu du cadre réglementaire</a:t>
            </a:r>
            <a:endParaRPr lang="en-US" sz="980" dirty="0"/>
          </a:p>
          <a:p>
            <a:pPr marL="342900" indent="-342900">
              <a:spcAft>
                <a:spcPts val="300"/>
              </a:spcAft>
              <a:buSzPct val="100000"/>
              <a:buChar char="▪"/>
            </a:pPr>
            <a:r>
              <a:rPr lang="en-US" sz="980" dirty="0">
                <a:solidFill>
                  <a:srgbClr val="4A5769"/>
                </a:solidFill>
                <a:latin typeface="Calibri" pitchFamily="34" charset="0"/>
                <a:ea typeface="Calibri" pitchFamily="34" charset="-122"/>
                <a:cs typeface="Calibri" pitchFamily="34" charset="-120"/>
              </a:rPr>
              <a:t>Pression constante des menaces de sécurité</a:t>
            </a:r>
            <a:endParaRPr lang="en-US" sz="9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3.2 ÉVALUATION DES VULNÉRABILITÉS ET DES RISQUES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Registre des risques : 8 risques cotés, 2 prioritaires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48640" y="1417320"/>
            <a:ext cx="5449824" cy="2377440"/>
          </a:xfrm>
          <a:prstGeom prst="roundRect">
            <a:avLst>
              <a:gd name="adj" fmla="val 2308"/>
            </a:avLst>
          </a:prstGeom>
          <a:solidFill>
            <a:srgbClr val="12263F"/>
          </a:solidFill>
          <a:ln/>
        </p:spPr>
        <p:txBody>
          <a:bodyPr/>
          <a:lstStyle/>
          <a:p>
            <a:endParaRPr lang="fr-FR"/>
          </a:p>
        </p:txBody>
      </p:sp>
      <p:sp>
        <p:nvSpPr>
          <p:cNvPr id="7" name="Text 5"/>
          <p:cNvSpPr/>
          <p:nvPr/>
        </p:nvSpPr>
        <p:spPr>
          <a:xfrm>
            <a:off x="822960" y="1572768"/>
            <a:ext cx="4937760" cy="292608"/>
          </a:xfrm>
          <a:prstGeom prst="rect">
            <a:avLst/>
          </a:prstGeom>
          <a:noFill/>
          <a:ln/>
        </p:spPr>
        <p:txBody>
          <a:bodyPr wrap="square" lIns="0" tIns="0" rIns="0" bIns="0" rtlCol="0" anchor="ctr"/>
          <a:lstStyle/>
          <a:p>
            <a:pPr marL="0" indent="0">
              <a:buNone/>
            </a:pPr>
            <a:r>
              <a:rPr lang="en-US" sz="1350" b="1" dirty="0">
                <a:solidFill>
                  <a:srgbClr val="E08A3C"/>
                </a:solidFill>
                <a:latin typeface="Calibri" pitchFamily="34" charset="0"/>
                <a:ea typeface="Calibri" pitchFamily="34" charset="-122"/>
                <a:cs typeface="Calibri" pitchFamily="34" charset="-120"/>
              </a:rPr>
              <a:t>R1 — Perte du nœud proxy</a:t>
            </a:r>
            <a:endParaRPr lang="en-US" sz="1350" dirty="0"/>
          </a:p>
        </p:txBody>
      </p:sp>
      <p:sp>
        <p:nvSpPr>
          <p:cNvPr id="8" name="Text 6"/>
          <p:cNvSpPr/>
          <p:nvPr/>
        </p:nvSpPr>
        <p:spPr>
          <a:xfrm>
            <a:off x="822960" y="1901952"/>
            <a:ext cx="4937760" cy="1737360"/>
          </a:xfrm>
          <a:prstGeom prst="rect">
            <a:avLst/>
          </a:prstGeom>
          <a:noFill/>
          <a:ln/>
        </p:spPr>
        <p:txBody>
          <a:bodyPr wrap="square" lIns="0" tIns="0" rIns="0" bIns="0" rtlCol="0" anchor="ctr"/>
          <a:lstStyle/>
          <a:p>
            <a:pPr marL="0" indent="0">
              <a:lnSpc>
                <a:spcPts val="1500"/>
              </a:lnSpc>
              <a:buNone/>
            </a:pPr>
            <a:r>
              <a:rPr lang="en-US" sz="1080" dirty="0">
                <a:solidFill>
                  <a:srgbClr val="C4D3E0"/>
                </a:solidFill>
                <a:latin typeface="Calibri" pitchFamily="34" charset="0"/>
                <a:ea typeface="Calibri" pitchFamily="34" charset="-122"/>
                <a:cs typeface="Calibri" pitchFamily="34" charset="-120"/>
              </a:rPr>
              <a:t>Le nœud concentre Traefik, Redis et la stack d'observabilité. Impact élevé et probabilité non négligeable.</a:t>
            </a:r>
            <a:endParaRPr lang="en-US" sz="1080" dirty="0"/>
          </a:p>
          <a:p>
            <a:pPr marL="0" indent="0">
              <a:lnSpc>
                <a:spcPts val="1500"/>
              </a:lnSpc>
              <a:buNone/>
            </a:pPr>
            <a:r>
              <a:rPr lang="en-US" sz="1080" dirty="0">
                <a:solidFill>
                  <a:srgbClr val="C4D3E0"/>
                </a:solidFill>
                <a:latin typeface="Calibri" pitchFamily="34" charset="0"/>
                <a:ea typeface="Calibri" pitchFamily="34" charset="-122"/>
                <a:cs typeface="Calibri" pitchFamily="34" charset="-120"/>
              </a:rPr>
              <a:t>Maîtrise actuelle : persistance des données sur disque, plan de reconstruction intégralement piloté par le code, sauvegardes versionnées.</a:t>
            </a:r>
            <a:endParaRPr lang="en-US" sz="1080" dirty="0"/>
          </a:p>
          <a:p>
            <a:pPr marL="0" indent="0">
              <a:lnSpc>
                <a:spcPts val="1500"/>
              </a:lnSpc>
              <a:buNone/>
            </a:pPr>
            <a:r>
              <a:rPr lang="en-US" sz="1080" dirty="0">
                <a:solidFill>
                  <a:srgbClr val="C4D3E0"/>
                </a:solidFill>
                <a:latin typeface="Calibri" pitchFamily="34" charset="0"/>
                <a:ea typeface="Calibri" pitchFamily="34" charset="-122"/>
                <a:cs typeface="Calibri" pitchFamily="34" charset="-120"/>
              </a:rPr>
              <a:t>Traitement de fond : évolution vers la haute disponibilité.</a:t>
            </a:r>
            <a:endParaRPr lang="en-US" sz="1080" dirty="0"/>
          </a:p>
        </p:txBody>
      </p:sp>
      <p:sp>
        <p:nvSpPr>
          <p:cNvPr id="9" name="Shape 7"/>
          <p:cNvSpPr/>
          <p:nvPr/>
        </p:nvSpPr>
        <p:spPr>
          <a:xfrm>
            <a:off x="6190488" y="1417320"/>
            <a:ext cx="5449824" cy="2377440"/>
          </a:xfrm>
          <a:prstGeom prst="roundRect">
            <a:avLst>
              <a:gd name="adj" fmla="val 2308"/>
            </a:avLst>
          </a:prstGeom>
          <a:solidFill>
            <a:srgbClr val="12263F"/>
          </a:solidFill>
          <a:ln/>
        </p:spPr>
        <p:txBody>
          <a:bodyPr/>
          <a:lstStyle/>
          <a:p>
            <a:endParaRPr lang="fr-FR"/>
          </a:p>
        </p:txBody>
      </p:sp>
      <p:sp>
        <p:nvSpPr>
          <p:cNvPr id="10" name="Text 8"/>
          <p:cNvSpPr/>
          <p:nvPr/>
        </p:nvSpPr>
        <p:spPr>
          <a:xfrm>
            <a:off x="6464808" y="1572768"/>
            <a:ext cx="4937760" cy="292608"/>
          </a:xfrm>
          <a:prstGeom prst="rect">
            <a:avLst/>
          </a:prstGeom>
          <a:noFill/>
          <a:ln/>
        </p:spPr>
        <p:txBody>
          <a:bodyPr wrap="square" lIns="0" tIns="0" rIns="0" bIns="0" rtlCol="0" anchor="ctr"/>
          <a:lstStyle/>
          <a:p>
            <a:pPr marL="0" indent="0">
              <a:buNone/>
            </a:pPr>
            <a:r>
              <a:rPr lang="en-US" sz="1350" b="1" dirty="0">
                <a:solidFill>
                  <a:srgbClr val="E08A3C"/>
                </a:solidFill>
                <a:latin typeface="Calibri" pitchFamily="34" charset="0"/>
                <a:ea typeface="Calibri" pitchFamily="34" charset="-122"/>
                <a:cs typeface="Calibri" pitchFamily="34" charset="-120"/>
              </a:rPr>
              <a:t>R3 — Vol ou rejeu de session</a:t>
            </a:r>
            <a:endParaRPr lang="en-US" sz="1350" dirty="0"/>
          </a:p>
        </p:txBody>
      </p:sp>
      <p:sp>
        <p:nvSpPr>
          <p:cNvPr id="11" name="Text 9"/>
          <p:cNvSpPr/>
          <p:nvPr/>
        </p:nvSpPr>
        <p:spPr>
          <a:xfrm>
            <a:off x="6464808" y="1901952"/>
            <a:ext cx="4937760" cy="1737360"/>
          </a:xfrm>
          <a:prstGeom prst="rect">
            <a:avLst/>
          </a:prstGeom>
          <a:noFill/>
          <a:ln/>
        </p:spPr>
        <p:txBody>
          <a:bodyPr wrap="square" lIns="0" tIns="0" rIns="0" bIns="0" rtlCol="0" anchor="ctr"/>
          <a:lstStyle/>
          <a:p>
            <a:pPr marL="0" indent="0">
              <a:lnSpc>
                <a:spcPts val="1500"/>
              </a:lnSpc>
              <a:buNone/>
            </a:pPr>
            <a:r>
              <a:rPr lang="en-US" sz="1080" dirty="0">
                <a:solidFill>
                  <a:srgbClr val="C4D3E0"/>
                </a:solidFill>
                <a:latin typeface="Calibri" pitchFamily="34" charset="0"/>
                <a:ea typeface="Calibri" pitchFamily="34" charset="-122"/>
                <a:cs typeface="Calibri" pitchFamily="34" charset="-120"/>
              </a:rPr>
              <a:t>Risque portant directement sur la confidentialité des bibliothèques privées.</a:t>
            </a:r>
            <a:endParaRPr lang="en-US" sz="1080" dirty="0"/>
          </a:p>
          <a:p>
            <a:pPr marL="0" indent="0">
              <a:lnSpc>
                <a:spcPts val="1500"/>
              </a:lnSpc>
              <a:buNone/>
            </a:pPr>
            <a:r>
              <a:rPr lang="en-US" sz="1080" dirty="0">
                <a:solidFill>
                  <a:srgbClr val="C4D3E0"/>
                </a:solidFill>
                <a:latin typeface="Calibri" pitchFamily="34" charset="0"/>
                <a:ea typeface="Calibri" pitchFamily="34" charset="-122"/>
                <a:cs typeface="Calibri" pitchFamily="34" charset="-120"/>
              </a:rPr>
              <a:t>Maîtrise : cookie strictement protégé, rotation des jetons par nonce unique sous verrou, détection de rejeu révoquant la lignée de sessions, compteur tokenVersion pour une révocation globale immédiate.</a:t>
            </a:r>
            <a:endParaRPr lang="en-US" sz="1080" dirty="0"/>
          </a:p>
        </p:txBody>
      </p:sp>
      <p:sp>
        <p:nvSpPr>
          <p:cNvPr id="12" name="Text 10"/>
          <p:cNvSpPr/>
          <p:nvPr/>
        </p:nvSpPr>
        <p:spPr>
          <a:xfrm>
            <a:off x="548640" y="3977640"/>
            <a:ext cx="11091672"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Mitigations des six autres risques</a:t>
            </a:r>
            <a:endParaRPr lang="en-US" sz="1400" dirty="0"/>
          </a:p>
        </p:txBody>
      </p:sp>
      <p:sp>
        <p:nvSpPr>
          <p:cNvPr id="13" name="Shape 11"/>
          <p:cNvSpPr/>
          <p:nvPr/>
        </p:nvSpPr>
        <p:spPr>
          <a:xfrm>
            <a:off x="548640" y="4370832"/>
            <a:ext cx="3520440" cy="804672"/>
          </a:xfrm>
          <a:prstGeom prst="roundRect">
            <a:avLst>
              <a:gd name="adj" fmla="val 5682"/>
            </a:avLst>
          </a:prstGeom>
          <a:solidFill>
            <a:srgbClr val="EEF3F7"/>
          </a:solidFill>
          <a:ln/>
        </p:spPr>
        <p:txBody>
          <a:bodyPr/>
          <a:lstStyle/>
          <a:p>
            <a:endParaRPr lang="fr-FR"/>
          </a:p>
        </p:txBody>
      </p:sp>
      <p:sp>
        <p:nvSpPr>
          <p:cNvPr id="14" name="Text 12"/>
          <p:cNvSpPr/>
          <p:nvPr/>
        </p:nvSpPr>
        <p:spPr>
          <a:xfrm>
            <a:off x="768096" y="4462272"/>
            <a:ext cx="3108960" cy="256032"/>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R2 Fuite de secrets</a:t>
            </a:r>
            <a:endParaRPr lang="en-US" sz="1100" dirty="0"/>
          </a:p>
        </p:txBody>
      </p:sp>
      <p:sp>
        <p:nvSpPr>
          <p:cNvPr id="15" name="Text 13"/>
          <p:cNvSpPr/>
          <p:nvPr/>
        </p:nvSpPr>
        <p:spPr>
          <a:xfrm>
            <a:off x="768096" y="4718304"/>
            <a:ext cx="3108960" cy="402336"/>
          </a:xfrm>
          <a:prstGeom prst="rect">
            <a:avLst/>
          </a:prstGeom>
          <a:noFill/>
          <a:ln/>
        </p:spPr>
        <p:txBody>
          <a:bodyPr wrap="square" lIns="0" tIns="0" rIns="0" bIns="0" rtlCol="0" anchor="ctr"/>
          <a:lstStyle/>
          <a:p>
            <a:pPr marL="0" indent="0">
              <a:lnSpc>
                <a:spcPts val="1200"/>
              </a:lnSpc>
              <a:buNone/>
            </a:pPr>
            <a:r>
              <a:rPr lang="en-US" sz="950" dirty="0">
                <a:solidFill>
                  <a:srgbClr val="4A5769"/>
                </a:solidFill>
                <a:latin typeface="Calibri" pitchFamily="34" charset="0"/>
                <a:ea typeface="Calibri" pitchFamily="34" charset="-122"/>
                <a:cs typeface="Calibri" pitchFamily="34" charset="-120"/>
              </a:rPr>
              <a:t>Stockage hors du dépôt Git, moindre privilège, assertions de présence avant déploiement</a:t>
            </a:r>
            <a:endParaRPr lang="en-US" sz="950" dirty="0"/>
          </a:p>
        </p:txBody>
      </p:sp>
      <p:sp>
        <p:nvSpPr>
          <p:cNvPr id="16" name="Shape 14"/>
          <p:cNvSpPr/>
          <p:nvPr/>
        </p:nvSpPr>
        <p:spPr>
          <a:xfrm>
            <a:off x="4334256" y="4370832"/>
            <a:ext cx="3520440" cy="804672"/>
          </a:xfrm>
          <a:prstGeom prst="roundRect">
            <a:avLst>
              <a:gd name="adj" fmla="val 5682"/>
            </a:avLst>
          </a:prstGeom>
          <a:solidFill>
            <a:srgbClr val="EEF3F7"/>
          </a:solidFill>
          <a:ln/>
        </p:spPr>
        <p:txBody>
          <a:bodyPr/>
          <a:lstStyle/>
          <a:p>
            <a:endParaRPr lang="fr-FR"/>
          </a:p>
        </p:txBody>
      </p:sp>
      <p:sp>
        <p:nvSpPr>
          <p:cNvPr id="17" name="Text 15"/>
          <p:cNvSpPr/>
          <p:nvPr/>
        </p:nvSpPr>
        <p:spPr>
          <a:xfrm>
            <a:off x="4553712" y="4462272"/>
            <a:ext cx="3108960" cy="256032"/>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R4 Dépassement de coûts</a:t>
            </a:r>
            <a:endParaRPr lang="en-US" sz="1100" dirty="0"/>
          </a:p>
        </p:txBody>
      </p:sp>
      <p:sp>
        <p:nvSpPr>
          <p:cNvPr id="18" name="Text 16"/>
          <p:cNvSpPr/>
          <p:nvPr/>
        </p:nvSpPr>
        <p:spPr>
          <a:xfrm>
            <a:off x="4553712" y="4718304"/>
            <a:ext cx="3108960" cy="402336"/>
          </a:xfrm>
          <a:prstGeom prst="rect">
            <a:avLst/>
          </a:prstGeom>
          <a:noFill/>
          <a:ln/>
        </p:spPr>
        <p:txBody>
          <a:bodyPr wrap="square" lIns="0" tIns="0" rIns="0" bIns="0" rtlCol="0" anchor="ctr"/>
          <a:lstStyle/>
          <a:p>
            <a:pPr marL="0" indent="0">
              <a:lnSpc>
                <a:spcPts val="1200"/>
              </a:lnSpc>
              <a:buNone/>
            </a:pPr>
            <a:r>
              <a:rPr lang="en-US" sz="950" dirty="0">
                <a:solidFill>
                  <a:srgbClr val="4A5769"/>
                </a:solidFill>
                <a:latin typeface="Calibri" pitchFamily="34" charset="0"/>
                <a:ea typeface="Calibri" pitchFamily="34" charset="-122"/>
                <a:cs typeface="Calibri" pitchFamily="34" charset="-120"/>
              </a:rPr>
              <a:t>AWS Budgets, right-sizing des services, cycle de vie du stockage S3</a:t>
            </a:r>
            <a:endParaRPr lang="en-US" sz="950" dirty="0"/>
          </a:p>
        </p:txBody>
      </p:sp>
      <p:sp>
        <p:nvSpPr>
          <p:cNvPr id="19" name="Shape 17"/>
          <p:cNvSpPr/>
          <p:nvPr/>
        </p:nvSpPr>
        <p:spPr>
          <a:xfrm>
            <a:off x="8119872" y="4370832"/>
            <a:ext cx="3520440" cy="804672"/>
          </a:xfrm>
          <a:prstGeom prst="roundRect">
            <a:avLst>
              <a:gd name="adj" fmla="val 5682"/>
            </a:avLst>
          </a:prstGeom>
          <a:solidFill>
            <a:srgbClr val="EEF3F7"/>
          </a:solidFill>
          <a:ln/>
        </p:spPr>
        <p:txBody>
          <a:bodyPr/>
          <a:lstStyle/>
          <a:p>
            <a:endParaRPr lang="fr-FR"/>
          </a:p>
        </p:txBody>
      </p:sp>
      <p:sp>
        <p:nvSpPr>
          <p:cNvPr id="20" name="Text 18"/>
          <p:cNvSpPr/>
          <p:nvPr/>
        </p:nvSpPr>
        <p:spPr>
          <a:xfrm>
            <a:off x="8339328" y="4462272"/>
            <a:ext cx="3108960" cy="256032"/>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R5 Perte de données</a:t>
            </a:r>
            <a:endParaRPr lang="en-US" sz="1100" dirty="0"/>
          </a:p>
        </p:txBody>
      </p:sp>
      <p:sp>
        <p:nvSpPr>
          <p:cNvPr id="21" name="Text 19"/>
          <p:cNvSpPr/>
          <p:nvPr/>
        </p:nvSpPr>
        <p:spPr>
          <a:xfrm>
            <a:off x="8339328" y="4718304"/>
            <a:ext cx="3108960" cy="402336"/>
          </a:xfrm>
          <a:prstGeom prst="rect">
            <a:avLst/>
          </a:prstGeom>
          <a:noFill/>
          <a:ln/>
        </p:spPr>
        <p:txBody>
          <a:bodyPr wrap="square" lIns="0" tIns="0" rIns="0" bIns="0" rtlCol="0" anchor="ctr"/>
          <a:lstStyle/>
          <a:p>
            <a:pPr marL="0" indent="0">
              <a:lnSpc>
                <a:spcPts val="1200"/>
              </a:lnSpc>
              <a:buNone/>
            </a:pPr>
            <a:r>
              <a:rPr lang="en-US" sz="950" dirty="0">
                <a:solidFill>
                  <a:srgbClr val="4A5769"/>
                </a:solidFill>
                <a:latin typeface="Calibri" pitchFamily="34" charset="0"/>
                <a:ea typeface="Calibri" pitchFamily="34" charset="-122"/>
                <a:cs typeface="Calibri" pitchFamily="34" charset="-120"/>
              </a:rPr>
              <a:t>Sauvegardes versionnées et verrouillées (Object Lock GOVERNANCE)</a:t>
            </a:r>
            <a:endParaRPr lang="en-US" sz="950" dirty="0"/>
          </a:p>
        </p:txBody>
      </p:sp>
      <p:sp>
        <p:nvSpPr>
          <p:cNvPr id="22" name="Shape 20"/>
          <p:cNvSpPr/>
          <p:nvPr/>
        </p:nvSpPr>
        <p:spPr>
          <a:xfrm>
            <a:off x="548640" y="5285232"/>
            <a:ext cx="3520440" cy="804672"/>
          </a:xfrm>
          <a:prstGeom prst="roundRect">
            <a:avLst>
              <a:gd name="adj" fmla="val 5682"/>
            </a:avLst>
          </a:prstGeom>
          <a:solidFill>
            <a:srgbClr val="EEF3F7"/>
          </a:solidFill>
          <a:ln/>
        </p:spPr>
        <p:txBody>
          <a:bodyPr/>
          <a:lstStyle/>
          <a:p>
            <a:endParaRPr lang="fr-FR"/>
          </a:p>
        </p:txBody>
      </p:sp>
      <p:sp>
        <p:nvSpPr>
          <p:cNvPr id="23" name="Text 21"/>
          <p:cNvSpPr/>
          <p:nvPr/>
        </p:nvSpPr>
        <p:spPr>
          <a:xfrm>
            <a:off x="768096" y="5376672"/>
            <a:ext cx="3108960" cy="256032"/>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R6 Indisponibilité fournisseur</a:t>
            </a:r>
            <a:endParaRPr lang="en-US" sz="1100" dirty="0"/>
          </a:p>
        </p:txBody>
      </p:sp>
      <p:sp>
        <p:nvSpPr>
          <p:cNvPr id="24" name="Text 22"/>
          <p:cNvSpPr/>
          <p:nvPr/>
        </p:nvSpPr>
        <p:spPr>
          <a:xfrm>
            <a:off x="768096" y="5632704"/>
            <a:ext cx="3108960" cy="402336"/>
          </a:xfrm>
          <a:prstGeom prst="rect">
            <a:avLst/>
          </a:prstGeom>
          <a:noFill/>
          <a:ln/>
        </p:spPr>
        <p:txBody>
          <a:bodyPr wrap="square" lIns="0" tIns="0" rIns="0" bIns="0" rtlCol="0" anchor="ctr"/>
          <a:lstStyle/>
          <a:p>
            <a:pPr marL="0" indent="0">
              <a:lnSpc>
                <a:spcPts val="1200"/>
              </a:lnSpc>
              <a:buNone/>
            </a:pPr>
            <a:r>
              <a:rPr lang="en-US" sz="950" dirty="0">
                <a:solidFill>
                  <a:srgbClr val="4A5769"/>
                </a:solidFill>
                <a:latin typeface="Calibri" pitchFamily="34" charset="0"/>
                <a:ea typeface="Calibri" pitchFamily="34" charset="-122"/>
                <a:cs typeface="Calibri" pitchFamily="34" charset="-120"/>
              </a:rPr>
              <a:t>Reproductibilité de l'infrastructure par le code, redéploiement rapide</a:t>
            </a:r>
            <a:endParaRPr lang="en-US" sz="950" dirty="0"/>
          </a:p>
        </p:txBody>
      </p:sp>
      <p:sp>
        <p:nvSpPr>
          <p:cNvPr id="25" name="Shape 23"/>
          <p:cNvSpPr/>
          <p:nvPr/>
        </p:nvSpPr>
        <p:spPr>
          <a:xfrm>
            <a:off x="4334256" y="5285232"/>
            <a:ext cx="3520440" cy="804672"/>
          </a:xfrm>
          <a:prstGeom prst="roundRect">
            <a:avLst>
              <a:gd name="adj" fmla="val 5682"/>
            </a:avLst>
          </a:prstGeom>
          <a:solidFill>
            <a:srgbClr val="EEF3F7"/>
          </a:solidFill>
          <a:ln/>
        </p:spPr>
        <p:txBody>
          <a:bodyPr/>
          <a:lstStyle/>
          <a:p>
            <a:endParaRPr lang="fr-FR"/>
          </a:p>
        </p:txBody>
      </p:sp>
      <p:sp>
        <p:nvSpPr>
          <p:cNvPr id="26" name="Text 24"/>
          <p:cNvSpPr/>
          <p:nvPr/>
        </p:nvSpPr>
        <p:spPr>
          <a:xfrm>
            <a:off x="4553712" y="5376672"/>
            <a:ext cx="3108960" cy="256032"/>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R7 Régression au déploiement</a:t>
            </a:r>
            <a:endParaRPr lang="en-US" sz="1100" dirty="0"/>
          </a:p>
        </p:txBody>
      </p:sp>
      <p:sp>
        <p:nvSpPr>
          <p:cNvPr id="27" name="Text 25"/>
          <p:cNvSpPr/>
          <p:nvPr/>
        </p:nvSpPr>
        <p:spPr>
          <a:xfrm>
            <a:off x="4553712" y="5632704"/>
            <a:ext cx="3108960" cy="402336"/>
          </a:xfrm>
          <a:prstGeom prst="rect">
            <a:avLst/>
          </a:prstGeom>
          <a:noFill/>
          <a:ln/>
        </p:spPr>
        <p:txBody>
          <a:bodyPr wrap="square" lIns="0" tIns="0" rIns="0" bIns="0" rtlCol="0" anchor="ctr"/>
          <a:lstStyle/>
          <a:p>
            <a:pPr marL="0" indent="0">
              <a:lnSpc>
                <a:spcPts val="1200"/>
              </a:lnSpc>
              <a:buNone/>
            </a:pPr>
            <a:r>
              <a:rPr lang="en-US" sz="950" dirty="0">
                <a:solidFill>
                  <a:srgbClr val="4A5769"/>
                </a:solidFill>
                <a:latin typeface="Calibri" pitchFamily="34" charset="0"/>
                <a:ea typeface="Calibri" pitchFamily="34" charset="-122"/>
                <a:cs typeface="Calibri" pitchFamily="34" charset="-120"/>
              </a:rPr>
              <a:t>Tests en intégration, images immuables, rollout progressif + rollback automatique</a:t>
            </a:r>
            <a:endParaRPr lang="en-US" sz="950" dirty="0"/>
          </a:p>
        </p:txBody>
      </p:sp>
      <p:sp>
        <p:nvSpPr>
          <p:cNvPr id="28" name="Shape 26"/>
          <p:cNvSpPr/>
          <p:nvPr/>
        </p:nvSpPr>
        <p:spPr>
          <a:xfrm>
            <a:off x="8119872" y="5285232"/>
            <a:ext cx="3520440" cy="804672"/>
          </a:xfrm>
          <a:prstGeom prst="roundRect">
            <a:avLst>
              <a:gd name="adj" fmla="val 5682"/>
            </a:avLst>
          </a:prstGeom>
          <a:solidFill>
            <a:srgbClr val="EEF3F7"/>
          </a:solidFill>
          <a:ln/>
        </p:spPr>
        <p:txBody>
          <a:bodyPr/>
          <a:lstStyle/>
          <a:p>
            <a:endParaRPr lang="fr-FR"/>
          </a:p>
        </p:txBody>
      </p:sp>
      <p:sp>
        <p:nvSpPr>
          <p:cNvPr id="29" name="Text 27"/>
          <p:cNvSpPr/>
          <p:nvPr/>
        </p:nvSpPr>
        <p:spPr>
          <a:xfrm>
            <a:off x="8339328" y="5376672"/>
            <a:ext cx="3108960" cy="256032"/>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R8 Non-conformité RGPD</a:t>
            </a:r>
            <a:endParaRPr lang="en-US" sz="1100" dirty="0"/>
          </a:p>
        </p:txBody>
      </p:sp>
      <p:sp>
        <p:nvSpPr>
          <p:cNvPr id="30" name="Text 28"/>
          <p:cNvSpPr/>
          <p:nvPr/>
        </p:nvSpPr>
        <p:spPr>
          <a:xfrm>
            <a:off x="8339328" y="5632704"/>
            <a:ext cx="3108960" cy="402336"/>
          </a:xfrm>
          <a:prstGeom prst="rect">
            <a:avLst/>
          </a:prstGeom>
          <a:noFill/>
          <a:ln/>
        </p:spPr>
        <p:txBody>
          <a:bodyPr wrap="square" lIns="0" tIns="0" rIns="0" bIns="0" rtlCol="0" anchor="ctr"/>
          <a:lstStyle/>
          <a:p>
            <a:pPr marL="0" indent="0">
              <a:lnSpc>
                <a:spcPts val="1200"/>
              </a:lnSpc>
              <a:buNone/>
            </a:pPr>
            <a:r>
              <a:rPr lang="en-US" sz="950" dirty="0">
                <a:solidFill>
                  <a:srgbClr val="4A5769"/>
                </a:solidFill>
                <a:latin typeface="Calibri" pitchFamily="34" charset="0"/>
                <a:ea typeface="Calibri" pitchFamily="34" charset="-122"/>
                <a:cs typeface="Calibri" pitchFamily="34" charset="-120"/>
              </a:rPr>
              <a:t>Minimisation, droit à l'effacement, chiffrement, hébergement souverain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3.2 ÉVALUATION DES VULNÉRABILITÉS ET DES RISQUES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3 — Matrice des risques probabilité / impact</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Matrice à deux axes (probabilité en abscisse, impact en ordonnée) avec quadrants colorés et risques positionnés en points étiquetés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Rendre visible la hiérarchisation des huit risques et démontrer que les priorités du plan d'amélioration continue découlent bien de la cotation, et non d'une intuition.</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échelle explicite sur trois niveaux pour chaque axe (faible / moyen / élevé)</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Quatre quadrants nommés et colorés : à surveiller, critique à traiter, acceptable, à maîtriser</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huit risques R1 à R8 positionnés et étiquetés lisiblement, sans chevauchement</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R1 (perte du nœud proxy) et R3 (vol ou rejeu de session) visuellement détachés en criticité maximale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légende rappelant que la criticité est le produit probabilité × impact</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code couleur cohérent avec celui utilisé dans le reste du dossier</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Excel / Google Sheets (nuage de points avec étiquettes) ou draw.io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BC2 · C17 — matrice de risques avec codes couleurs, échelle de probabilité et d'impact, hiérarchisation</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3.3 ANALYSE DES FLUX DE DONNÉES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Segmentation réseau et processus critiques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48640" y="1417320"/>
            <a:ext cx="11091672"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Cinq réseaux overlay — principe du moindre privilège</a:t>
            </a:r>
            <a:endParaRPr lang="en-US" sz="1400" dirty="0"/>
          </a:p>
        </p:txBody>
      </p:sp>
      <p:sp>
        <p:nvSpPr>
          <p:cNvPr id="7" name="Shape 5"/>
          <p:cNvSpPr/>
          <p:nvPr/>
        </p:nvSpPr>
        <p:spPr>
          <a:xfrm>
            <a:off x="548640" y="1810512"/>
            <a:ext cx="2066544" cy="1371600"/>
          </a:xfrm>
          <a:prstGeom prst="roundRect">
            <a:avLst>
              <a:gd name="adj" fmla="val 4000"/>
            </a:avLst>
          </a:prstGeom>
          <a:solidFill>
            <a:srgbClr val="12263F"/>
          </a:solidFill>
          <a:ln/>
        </p:spPr>
        <p:txBody>
          <a:bodyPr/>
          <a:lstStyle/>
          <a:p>
            <a:endParaRPr lang="fr-FR"/>
          </a:p>
        </p:txBody>
      </p:sp>
      <p:sp>
        <p:nvSpPr>
          <p:cNvPr id="8" name="Text 6"/>
          <p:cNvSpPr/>
          <p:nvPr/>
        </p:nvSpPr>
        <p:spPr>
          <a:xfrm>
            <a:off x="731520" y="1956816"/>
            <a:ext cx="1737360" cy="274320"/>
          </a:xfrm>
          <a:prstGeom prst="rect">
            <a:avLst/>
          </a:prstGeom>
          <a:noFill/>
          <a:ln/>
        </p:spPr>
        <p:txBody>
          <a:bodyPr wrap="square" lIns="0" tIns="0" rIns="0" bIns="0" rtlCol="0" anchor="ctr"/>
          <a:lstStyle/>
          <a:p>
            <a:pPr marL="0" indent="0">
              <a:buNone/>
            </a:pPr>
            <a:r>
              <a:rPr lang="en-US" sz="1250" b="1" dirty="0">
                <a:solidFill>
                  <a:srgbClr val="00A896"/>
                </a:solidFill>
                <a:latin typeface="Courier New" pitchFamily="34" charset="0"/>
                <a:ea typeface="Courier New" pitchFamily="34" charset="-122"/>
                <a:cs typeface="Courier New" pitchFamily="34" charset="-120"/>
              </a:rPr>
              <a:t>frontend</a:t>
            </a:r>
            <a:endParaRPr lang="en-US" sz="1250" dirty="0"/>
          </a:p>
        </p:txBody>
      </p:sp>
      <p:sp>
        <p:nvSpPr>
          <p:cNvPr id="9" name="Text 7"/>
          <p:cNvSpPr/>
          <p:nvPr/>
        </p:nvSpPr>
        <p:spPr>
          <a:xfrm>
            <a:off x="731520" y="2267712"/>
            <a:ext cx="1737360" cy="786384"/>
          </a:xfrm>
          <a:prstGeom prst="rect">
            <a:avLst/>
          </a:prstGeom>
          <a:noFill/>
          <a:ln/>
        </p:spPr>
        <p:txBody>
          <a:bodyPr wrap="square" lIns="0" tIns="0" rIns="0" bIns="0" rtlCol="0" anchor="ctr"/>
          <a:lstStyle/>
          <a:p>
            <a:pPr marL="0" indent="0">
              <a:lnSpc>
                <a:spcPts val="1250"/>
              </a:lnSpc>
              <a:buNone/>
            </a:pPr>
            <a:r>
              <a:rPr lang="en-US" sz="950" dirty="0">
                <a:solidFill>
                  <a:srgbClr val="C4D3E0"/>
                </a:solidFill>
                <a:latin typeface="Calibri" pitchFamily="34" charset="0"/>
                <a:ea typeface="Calibri" pitchFamily="34" charset="-122"/>
                <a:cs typeface="Calibri" pitchFamily="34" charset="-120"/>
              </a:rPr>
              <a:t>Trafic entrant depuis le proxy vers les applications</a:t>
            </a:r>
            <a:endParaRPr lang="en-US" sz="950" dirty="0"/>
          </a:p>
        </p:txBody>
      </p:sp>
      <p:sp>
        <p:nvSpPr>
          <p:cNvPr id="10" name="Shape 8"/>
          <p:cNvSpPr/>
          <p:nvPr/>
        </p:nvSpPr>
        <p:spPr>
          <a:xfrm>
            <a:off x="2798064" y="1810512"/>
            <a:ext cx="2066544" cy="1371600"/>
          </a:xfrm>
          <a:prstGeom prst="roundRect">
            <a:avLst>
              <a:gd name="adj" fmla="val 4000"/>
            </a:avLst>
          </a:prstGeom>
          <a:solidFill>
            <a:srgbClr val="12263F"/>
          </a:solidFill>
          <a:ln/>
        </p:spPr>
        <p:txBody>
          <a:bodyPr/>
          <a:lstStyle/>
          <a:p>
            <a:endParaRPr lang="fr-FR"/>
          </a:p>
        </p:txBody>
      </p:sp>
      <p:sp>
        <p:nvSpPr>
          <p:cNvPr id="11" name="Text 9"/>
          <p:cNvSpPr/>
          <p:nvPr/>
        </p:nvSpPr>
        <p:spPr>
          <a:xfrm>
            <a:off x="2980944" y="1956816"/>
            <a:ext cx="1737360" cy="274320"/>
          </a:xfrm>
          <a:prstGeom prst="rect">
            <a:avLst/>
          </a:prstGeom>
          <a:noFill/>
          <a:ln/>
        </p:spPr>
        <p:txBody>
          <a:bodyPr wrap="square" lIns="0" tIns="0" rIns="0" bIns="0" rtlCol="0" anchor="ctr"/>
          <a:lstStyle/>
          <a:p>
            <a:pPr marL="0" indent="0">
              <a:buNone/>
            </a:pPr>
            <a:r>
              <a:rPr lang="en-US" sz="1250" b="1" dirty="0">
                <a:solidFill>
                  <a:srgbClr val="E08A3C"/>
                </a:solidFill>
                <a:latin typeface="Courier New" pitchFamily="34" charset="0"/>
                <a:ea typeface="Courier New" pitchFamily="34" charset="-122"/>
                <a:cs typeface="Courier New" pitchFamily="34" charset="-120"/>
              </a:rPr>
              <a:t>backend</a:t>
            </a:r>
            <a:endParaRPr lang="en-US" sz="1250" dirty="0"/>
          </a:p>
        </p:txBody>
      </p:sp>
      <p:sp>
        <p:nvSpPr>
          <p:cNvPr id="12" name="Text 10"/>
          <p:cNvSpPr/>
          <p:nvPr/>
        </p:nvSpPr>
        <p:spPr>
          <a:xfrm>
            <a:off x="2980944" y="2267712"/>
            <a:ext cx="1737360" cy="786384"/>
          </a:xfrm>
          <a:prstGeom prst="rect">
            <a:avLst/>
          </a:prstGeom>
          <a:noFill/>
          <a:ln/>
        </p:spPr>
        <p:txBody>
          <a:bodyPr wrap="square" lIns="0" tIns="0" rIns="0" bIns="0" rtlCol="0" anchor="ctr"/>
          <a:lstStyle/>
          <a:p>
            <a:pPr marL="0" indent="0">
              <a:lnSpc>
                <a:spcPts val="1250"/>
              </a:lnSpc>
              <a:buNone/>
            </a:pPr>
            <a:r>
              <a:rPr lang="en-US" sz="950" dirty="0">
                <a:solidFill>
                  <a:srgbClr val="C4D3E0"/>
                </a:solidFill>
                <a:latin typeface="Calibri" pitchFamily="34" charset="0"/>
                <a:ea typeface="Calibri" pitchFamily="34" charset="-122"/>
                <a:cs typeface="Calibri" pitchFamily="34" charset="-120"/>
              </a:rPr>
              <a:t>API ↔ base de données et cache — déclaré internal</a:t>
            </a:r>
            <a:endParaRPr lang="en-US" sz="950" dirty="0"/>
          </a:p>
        </p:txBody>
      </p:sp>
      <p:sp>
        <p:nvSpPr>
          <p:cNvPr id="13" name="Shape 11"/>
          <p:cNvSpPr/>
          <p:nvPr/>
        </p:nvSpPr>
        <p:spPr>
          <a:xfrm>
            <a:off x="5047488" y="1810512"/>
            <a:ext cx="2066544" cy="1371600"/>
          </a:xfrm>
          <a:prstGeom prst="roundRect">
            <a:avLst>
              <a:gd name="adj" fmla="val 4000"/>
            </a:avLst>
          </a:prstGeom>
          <a:solidFill>
            <a:srgbClr val="12263F"/>
          </a:solidFill>
          <a:ln/>
        </p:spPr>
        <p:txBody>
          <a:bodyPr/>
          <a:lstStyle/>
          <a:p>
            <a:endParaRPr lang="fr-FR"/>
          </a:p>
        </p:txBody>
      </p:sp>
      <p:sp>
        <p:nvSpPr>
          <p:cNvPr id="14" name="Text 12"/>
          <p:cNvSpPr/>
          <p:nvPr/>
        </p:nvSpPr>
        <p:spPr>
          <a:xfrm>
            <a:off x="5230368" y="1956816"/>
            <a:ext cx="1737360" cy="274320"/>
          </a:xfrm>
          <a:prstGeom prst="rect">
            <a:avLst/>
          </a:prstGeom>
          <a:noFill/>
          <a:ln/>
        </p:spPr>
        <p:txBody>
          <a:bodyPr wrap="square" lIns="0" tIns="0" rIns="0" bIns="0" rtlCol="0" anchor="ctr"/>
          <a:lstStyle/>
          <a:p>
            <a:pPr marL="0" indent="0">
              <a:buNone/>
            </a:pPr>
            <a:r>
              <a:rPr lang="en-US" sz="1250" b="1" dirty="0">
                <a:solidFill>
                  <a:srgbClr val="E08A3C"/>
                </a:solidFill>
                <a:latin typeface="Courier New" pitchFamily="34" charset="0"/>
                <a:ea typeface="Courier New" pitchFamily="34" charset="-122"/>
                <a:cs typeface="Courier New" pitchFamily="34" charset="-120"/>
              </a:rPr>
              <a:t>socket</a:t>
            </a:r>
            <a:endParaRPr lang="en-US" sz="1250" dirty="0"/>
          </a:p>
        </p:txBody>
      </p:sp>
      <p:sp>
        <p:nvSpPr>
          <p:cNvPr id="15" name="Text 13"/>
          <p:cNvSpPr/>
          <p:nvPr/>
        </p:nvSpPr>
        <p:spPr>
          <a:xfrm>
            <a:off x="5230368" y="2267712"/>
            <a:ext cx="1737360" cy="786384"/>
          </a:xfrm>
          <a:prstGeom prst="rect">
            <a:avLst/>
          </a:prstGeom>
          <a:noFill/>
          <a:ln/>
        </p:spPr>
        <p:txBody>
          <a:bodyPr wrap="square" lIns="0" tIns="0" rIns="0" bIns="0" rtlCol="0" anchor="ctr"/>
          <a:lstStyle/>
          <a:p>
            <a:pPr marL="0" indent="0">
              <a:lnSpc>
                <a:spcPts val="1250"/>
              </a:lnSpc>
              <a:buNone/>
            </a:pPr>
            <a:r>
              <a:rPr lang="en-US" sz="950" dirty="0">
                <a:solidFill>
                  <a:srgbClr val="C4D3E0"/>
                </a:solidFill>
                <a:latin typeface="Calibri" pitchFamily="34" charset="0"/>
                <a:ea typeface="Calibri" pitchFamily="34" charset="-122"/>
                <a:cs typeface="Calibri" pitchFamily="34" charset="-120"/>
              </a:rPr>
              <a:t>Accès filtré à l'API Docker — déclaré internal</a:t>
            </a:r>
            <a:endParaRPr lang="en-US" sz="950" dirty="0"/>
          </a:p>
        </p:txBody>
      </p:sp>
      <p:sp>
        <p:nvSpPr>
          <p:cNvPr id="16" name="Shape 14"/>
          <p:cNvSpPr/>
          <p:nvPr/>
        </p:nvSpPr>
        <p:spPr>
          <a:xfrm>
            <a:off x="7296912" y="1810512"/>
            <a:ext cx="2066544" cy="1371600"/>
          </a:xfrm>
          <a:prstGeom prst="roundRect">
            <a:avLst>
              <a:gd name="adj" fmla="val 4000"/>
            </a:avLst>
          </a:prstGeom>
          <a:solidFill>
            <a:srgbClr val="12263F"/>
          </a:solidFill>
          <a:ln/>
        </p:spPr>
        <p:txBody>
          <a:bodyPr/>
          <a:lstStyle/>
          <a:p>
            <a:endParaRPr lang="fr-FR"/>
          </a:p>
        </p:txBody>
      </p:sp>
      <p:sp>
        <p:nvSpPr>
          <p:cNvPr id="17" name="Text 15"/>
          <p:cNvSpPr/>
          <p:nvPr/>
        </p:nvSpPr>
        <p:spPr>
          <a:xfrm>
            <a:off x="7479792" y="1956816"/>
            <a:ext cx="1737360" cy="274320"/>
          </a:xfrm>
          <a:prstGeom prst="rect">
            <a:avLst/>
          </a:prstGeom>
          <a:noFill/>
          <a:ln/>
        </p:spPr>
        <p:txBody>
          <a:bodyPr wrap="square" lIns="0" tIns="0" rIns="0" bIns="0" rtlCol="0" anchor="ctr"/>
          <a:lstStyle/>
          <a:p>
            <a:pPr marL="0" indent="0">
              <a:buNone/>
            </a:pPr>
            <a:r>
              <a:rPr lang="en-US" sz="1250" b="1" dirty="0">
                <a:solidFill>
                  <a:srgbClr val="3D7CA8"/>
                </a:solidFill>
                <a:latin typeface="Courier New" pitchFamily="34" charset="0"/>
                <a:ea typeface="Courier New" pitchFamily="34" charset="-122"/>
                <a:cs typeface="Courier New" pitchFamily="34" charset="-120"/>
              </a:rPr>
              <a:t>egress</a:t>
            </a:r>
            <a:endParaRPr lang="en-US" sz="1250" dirty="0"/>
          </a:p>
        </p:txBody>
      </p:sp>
      <p:sp>
        <p:nvSpPr>
          <p:cNvPr id="18" name="Text 16"/>
          <p:cNvSpPr/>
          <p:nvPr/>
        </p:nvSpPr>
        <p:spPr>
          <a:xfrm>
            <a:off x="7479792" y="2267712"/>
            <a:ext cx="1737360" cy="786384"/>
          </a:xfrm>
          <a:prstGeom prst="rect">
            <a:avLst/>
          </a:prstGeom>
          <a:noFill/>
          <a:ln/>
        </p:spPr>
        <p:txBody>
          <a:bodyPr wrap="square" lIns="0" tIns="0" rIns="0" bIns="0" rtlCol="0" anchor="ctr"/>
          <a:lstStyle/>
          <a:p>
            <a:pPr marL="0" indent="0">
              <a:lnSpc>
                <a:spcPts val="1250"/>
              </a:lnSpc>
              <a:buNone/>
            </a:pPr>
            <a:r>
              <a:rPr lang="en-US" sz="950" dirty="0">
                <a:solidFill>
                  <a:srgbClr val="C4D3E0"/>
                </a:solidFill>
                <a:latin typeface="Calibri" pitchFamily="34" charset="0"/>
                <a:ea typeface="Calibri" pitchFamily="34" charset="-122"/>
                <a:cs typeface="Calibri" pitchFamily="34" charset="-120"/>
              </a:rPr>
              <a:t>Sorties vers Internet et les services AWS</a:t>
            </a:r>
            <a:endParaRPr lang="en-US" sz="950" dirty="0"/>
          </a:p>
        </p:txBody>
      </p:sp>
      <p:sp>
        <p:nvSpPr>
          <p:cNvPr id="19" name="Shape 17"/>
          <p:cNvSpPr/>
          <p:nvPr/>
        </p:nvSpPr>
        <p:spPr>
          <a:xfrm>
            <a:off x="9546336" y="1810512"/>
            <a:ext cx="2066544" cy="1371600"/>
          </a:xfrm>
          <a:prstGeom prst="roundRect">
            <a:avLst>
              <a:gd name="adj" fmla="val 4000"/>
            </a:avLst>
          </a:prstGeom>
          <a:solidFill>
            <a:srgbClr val="12263F"/>
          </a:solidFill>
          <a:ln/>
        </p:spPr>
        <p:txBody>
          <a:bodyPr/>
          <a:lstStyle/>
          <a:p>
            <a:endParaRPr lang="fr-FR"/>
          </a:p>
        </p:txBody>
      </p:sp>
      <p:sp>
        <p:nvSpPr>
          <p:cNvPr id="20" name="Text 18"/>
          <p:cNvSpPr/>
          <p:nvPr/>
        </p:nvSpPr>
        <p:spPr>
          <a:xfrm>
            <a:off x="9729216" y="1956816"/>
            <a:ext cx="1737360" cy="274320"/>
          </a:xfrm>
          <a:prstGeom prst="rect">
            <a:avLst/>
          </a:prstGeom>
          <a:noFill/>
          <a:ln/>
        </p:spPr>
        <p:txBody>
          <a:bodyPr wrap="square" lIns="0" tIns="0" rIns="0" bIns="0" rtlCol="0" anchor="ctr"/>
          <a:lstStyle/>
          <a:p>
            <a:pPr marL="0" indent="0">
              <a:buNone/>
            </a:pPr>
            <a:r>
              <a:rPr lang="en-US" sz="1250" b="1" dirty="0">
                <a:solidFill>
                  <a:srgbClr val="3D7CA8"/>
                </a:solidFill>
                <a:latin typeface="Courier New" pitchFamily="34" charset="0"/>
                <a:ea typeface="Courier New" pitchFamily="34" charset="-122"/>
                <a:cs typeface="Courier New" pitchFamily="34" charset="-120"/>
              </a:rPr>
              <a:t>monitoring</a:t>
            </a:r>
            <a:endParaRPr lang="en-US" sz="1250" dirty="0"/>
          </a:p>
        </p:txBody>
      </p:sp>
      <p:sp>
        <p:nvSpPr>
          <p:cNvPr id="21" name="Text 19"/>
          <p:cNvSpPr/>
          <p:nvPr/>
        </p:nvSpPr>
        <p:spPr>
          <a:xfrm>
            <a:off x="9729216" y="2267712"/>
            <a:ext cx="1737360" cy="786384"/>
          </a:xfrm>
          <a:prstGeom prst="rect">
            <a:avLst/>
          </a:prstGeom>
          <a:noFill/>
          <a:ln/>
        </p:spPr>
        <p:txBody>
          <a:bodyPr wrap="square" lIns="0" tIns="0" rIns="0" bIns="0" rtlCol="0" anchor="ctr"/>
          <a:lstStyle/>
          <a:p>
            <a:pPr marL="0" indent="0">
              <a:lnSpc>
                <a:spcPts val="1250"/>
              </a:lnSpc>
              <a:buNone/>
            </a:pPr>
            <a:r>
              <a:rPr lang="en-US" sz="950" dirty="0">
                <a:solidFill>
                  <a:srgbClr val="C4D3E0"/>
                </a:solidFill>
                <a:latin typeface="Calibri" pitchFamily="34" charset="0"/>
                <a:ea typeface="Calibri" pitchFamily="34" charset="-122"/>
                <a:cs typeface="Calibri" pitchFamily="34" charset="-120"/>
              </a:rPr>
              <a:t>Transport de la télémétrie (métriques et journaux)</a:t>
            </a:r>
            <a:endParaRPr lang="en-US" sz="950" dirty="0"/>
          </a:p>
        </p:txBody>
      </p:sp>
      <p:sp>
        <p:nvSpPr>
          <p:cNvPr id="22" name="Shape 20"/>
          <p:cNvSpPr/>
          <p:nvPr/>
        </p:nvSpPr>
        <p:spPr>
          <a:xfrm>
            <a:off x="548640" y="3383280"/>
            <a:ext cx="5449824" cy="1371600"/>
          </a:xfrm>
          <a:prstGeom prst="roundRect">
            <a:avLst>
              <a:gd name="adj" fmla="val 4000"/>
            </a:avLst>
          </a:prstGeom>
          <a:solidFill>
            <a:srgbClr val="EEF3F7"/>
          </a:solidFill>
          <a:ln w="12700">
            <a:solidFill>
              <a:srgbClr val="EEF3F7"/>
            </a:solidFill>
            <a:prstDash val="solid"/>
          </a:ln>
        </p:spPr>
        <p:txBody>
          <a:bodyPr/>
          <a:lstStyle/>
          <a:p>
            <a:endParaRPr lang="fr-FR"/>
          </a:p>
        </p:txBody>
      </p:sp>
      <p:sp>
        <p:nvSpPr>
          <p:cNvPr id="23" name="Shape 21"/>
          <p:cNvSpPr/>
          <p:nvPr/>
        </p:nvSpPr>
        <p:spPr>
          <a:xfrm>
            <a:off x="786384" y="3602736"/>
            <a:ext cx="384048" cy="384048"/>
          </a:xfrm>
          <a:prstGeom prst="ellipse">
            <a:avLst/>
          </a:prstGeom>
          <a:solidFill>
            <a:srgbClr val="00A896"/>
          </a:solidFill>
          <a:ln/>
        </p:spPr>
        <p:txBody>
          <a:bodyPr/>
          <a:lstStyle/>
          <a:p>
            <a:endParaRPr lang="fr-FR"/>
          </a:p>
        </p:txBody>
      </p:sp>
      <p:sp>
        <p:nvSpPr>
          <p:cNvPr id="24" name="Text 22"/>
          <p:cNvSpPr/>
          <p:nvPr/>
        </p:nvSpPr>
        <p:spPr>
          <a:xfrm>
            <a:off x="786384" y="36027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5" name="Text 23"/>
          <p:cNvSpPr/>
          <p:nvPr/>
        </p:nvSpPr>
        <p:spPr>
          <a:xfrm>
            <a:off x="1298448" y="3566160"/>
            <a:ext cx="4443984"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Deux réseaux internal</a:t>
            </a:r>
            <a:endParaRPr lang="en-US" sz="1300" dirty="0"/>
          </a:p>
        </p:txBody>
      </p:sp>
      <p:sp>
        <p:nvSpPr>
          <p:cNvPr id="26" name="Text 24"/>
          <p:cNvSpPr/>
          <p:nvPr/>
        </p:nvSpPr>
        <p:spPr>
          <a:xfrm>
            <a:off x="804672" y="4096512"/>
            <a:ext cx="4937760" cy="45720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PostgreSQL et Redis ne sont jamais joignables depuis Internet ; l'API Docker demeure inatteignable hors du cluster.</a:t>
            </a:r>
            <a:endParaRPr lang="en-US" sz="1050" dirty="0"/>
          </a:p>
        </p:txBody>
      </p:sp>
      <p:sp>
        <p:nvSpPr>
          <p:cNvPr id="27" name="Shape 25"/>
          <p:cNvSpPr/>
          <p:nvPr/>
        </p:nvSpPr>
        <p:spPr>
          <a:xfrm>
            <a:off x="6190488" y="3383280"/>
            <a:ext cx="5449824" cy="1371600"/>
          </a:xfrm>
          <a:prstGeom prst="roundRect">
            <a:avLst>
              <a:gd name="adj" fmla="val 4000"/>
            </a:avLst>
          </a:prstGeom>
          <a:solidFill>
            <a:srgbClr val="EEF3F7"/>
          </a:solidFill>
          <a:ln w="12700">
            <a:solidFill>
              <a:srgbClr val="EEF3F7"/>
            </a:solidFill>
            <a:prstDash val="solid"/>
          </a:ln>
        </p:spPr>
        <p:txBody>
          <a:bodyPr/>
          <a:lstStyle/>
          <a:p>
            <a:endParaRPr lang="fr-FR"/>
          </a:p>
        </p:txBody>
      </p:sp>
      <p:sp>
        <p:nvSpPr>
          <p:cNvPr id="28" name="Shape 26"/>
          <p:cNvSpPr/>
          <p:nvPr/>
        </p:nvSpPr>
        <p:spPr>
          <a:xfrm>
            <a:off x="6428232" y="3602736"/>
            <a:ext cx="384048" cy="384048"/>
          </a:xfrm>
          <a:prstGeom prst="ellipse">
            <a:avLst/>
          </a:prstGeom>
          <a:solidFill>
            <a:srgbClr val="E08A3C"/>
          </a:solidFill>
          <a:ln/>
        </p:spPr>
        <p:txBody>
          <a:bodyPr/>
          <a:lstStyle/>
          <a:p>
            <a:endParaRPr lang="fr-FR"/>
          </a:p>
        </p:txBody>
      </p:sp>
      <p:sp>
        <p:nvSpPr>
          <p:cNvPr id="29" name="Text 27"/>
          <p:cNvSpPr/>
          <p:nvPr/>
        </p:nvSpPr>
        <p:spPr>
          <a:xfrm>
            <a:off x="6428232" y="36027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0" name="Text 28"/>
          <p:cNvSpPr/>
          <p:nvPr/>
        </p:nvSpPr>
        <p:spPr>
          <a:xfrm>
            <a:off x="6940296" y="3566160"/>
            <a:ext cx="4443984"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Socket-proxy en lecture seule</a:t>
            </a:r>
            <a:endParaRPr lang="en-US" sz="1300" dirty="0"/>
          </a:p>
        </p:txBody>
      </p:sp>
      <p:sp>
        <p:nvSpPr>
          <p:cNvPr id="31" name="Text 29"/>
          <p:cNvSpPr/>
          <p:nvPr/>
        </p:nvSpPr>
        <p:spPr>
          <a:xfrm>
            <a:off x="6446520" y="4096512"/>
            <a:ext cx="4937760" cy="45720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Traefik n'accède jamais directement à /var/run/docker.sock : il passe par un mandataire n'exposant que les points d'accès nécessaires à la découverte de services.</a:t>
            </a:r>
            <a:endParaRPr lang="en-US" sz="1050" dirty="0"/>
          </a:p>
        </p:txBody>
      </p:sp>
      <p:sp>
        <p:nvSpPr>
          <p:cNvPr id="32" name="Shape 30"/>
          <p:cNvSpPr/>
          <p:nvPr/>
        </p:nvSpPr>
        <p:spPr>
          <a:xfrm>
            <a:off x="548640" y="4892040"/>
            <a:ext cx="5449824" cy="1234440"/>
          </a:xfrm>
          <a:prstGeom prst="roundRect">
            <a:avLst>
              <a:gd name="adj" fmla="val 4444"/>
            </a:avLst>
          </a:prstGeom>
          <a:solidFill>
            <a:srgbClr val="EEF3F7"/>
          </a:solidFill>
          <a:ln w="12700">
            <a:solidFill>
              <a:srgbClr val="EEF3F7"/>
            </a:solidFill>
            <a:prstDash val="solid"/>
          </a:ln>
        </p:spPr>
        <p:txBody>
          <a:bodyPr/>
          <a:lstStyle/>
          <a:p>
            <a:endParaRPr lang="fr-FR"/>
          </a:p>
        </p:txBody>
      </p:sp>
      <p:sp>
        <p:nvSpPr>
          <p:cNvPr id="33" name="Shape 31"/>
          <p:cNvSpPr/>
          <p:nvPr/>
        </p:nvSpPr>
        <p:spPr>
          <a:xfrm>
            <a:off x="786384" y="5111496"/>
            <a:ext cx="384048" cy="384048"/>
          </a:xfrm>
          <a:prstGeom prst="ellipse">
            <a:avLst/>
          </a:prstGeom>
          <a:solidFill>
            <a:srgbClr val="00A896"/>
          </a:solidFill>
          <a:ln/>
        </p:spPr>
        <p:txBody>
          <a:bodyPr/>
          <a:lstStyle/>
          <a:p>
            <a:endParaRPr lang="fr-FR"/>
          </a:p>
        </p:txBody>
      </p:sp>
      <p:sp>
        <p:nvSpPr>
          <p:cNvPr id="34" name="Text 32"/>
          <p:cNvSpPr/>
          <p:nvPr/>
        </p:nvSpPr>
        <p:spPr>
          <a:xfrm>
            <a:off x="786384" y="5111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5" name="Text 33"/>
          <p:cNvSpPr/>
          <p:nvPr/>
        </p:nvSpPr>
        <p:spPr>
          <a:xfrm>
            <a:off x="1298448" y="5074920"/>
            <a:ext cx="4443984"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Trois processus critiques modélisés</a:t>
            </a:r>
            <a:endParaRPr lang="en-US" sz="1300" dirty="0"/>
          </a:p>
        </p:txBody>
      </p:sp>
      <p:sp>
        <p:nvSpPr>
          <p:cNvPr id="36" name="Text 34"/>
          <p:cNvSpPr/>
          <p:nvPr/>
        </p:nvSpPr>
        <p:spPr>
          <a:xfrm>
            <a:off x="804672" y="5605272"/>
            <a:ext cx="4937760" cy="32004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Téléversement en flux · publication et dépublication · session sécurisée — diagrammes de séquence présentés en annexe.</a:t>
            </a:r>
            <a:endParaRPr lang="en-US" sz="1050" dirty="0"/>
          </a:p>
        </p:txBody>
      </p:sp>
      <p:sp>
        <p:nvSpPr>
          <p:cNvPr id="37" name="Shape 35"/>
          <p:cNvSpPr/>
          <p:nvPr/>
        </p:nvSpPr>
        <p:spPr>
          <a:xfrm>
            <a:off x="6190488" y="4892040"/>
            <a:ext cx="5449824" cy="1234440"/>
          </a:xfrm>
          <a:prstGeom prst="roundRect">
            <a:avLst>
              <a:gd name="adj" fmla="val 4444"/>
            </a:avLst>
          </a:prstGeom>
          <a:solidFill>
            <a:srgbClr val="EEF3F7"/>
          </a:solidFill>
          <a:ln w="12700">
            <a:solidFill>
              <a:srgbClr val="EEF3F7"/>
            </a:solidFill>
            <a:prstDash val="solid"/>
          </a:ln>
        </p:spPr>
        <p:txBody>
          <a:bodyPr/>
          <a:lstStyle/>
          <a:p>
            <a:endParaRPr lang="fr-FR"/>
          </a:p>
        </p:txBody>
      </p:sp>
      <p:sp>
        <p:nvSpPr>
          <p:cNvPr id="38" name="Shape 36"/>
          <p:cNvSpPr/>
          <p:nvPr/>
        </p:nvSpPr>
        <p:spPr>
          <a:xfrm>
            <a:off x="6428232" y="5111496"/>
            <a:ext cx="384048" cy="384048"/>
          </a:xfrm>
          <a:prstGeom prst="ellipse">
            <a:avLst/>
          </a:prstGeom>
          <a:solidFill>
            <a:srgbClr val="E08A3C"/>
          </a:solidFill>
          <a:ln/>
        </p:spPr>
        <p:txBody>
          <a:bodyPr/>
          <a:lstStyle/>
          <a:p>
            <a:endParaRPr lang="fr-FR"/>
          </a:p>
        </p:txBody>
      </p:sp>
      <p:sp>
        <p:nvSpPr>
          <p:cNvPr id="39" name="Text 37"/>
          <p:cNvSpPr/>
          <p:nvPr/>
        </p:nvSpPr>
        <p:spPr>
          <a:xfrm>
            <a:off x="6428232" y="5111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0" name="Text 38"/>
          <p:cNvSpPr/>
          <p:nvPr/>
        </p:nvSpPr>
        <p:spPr>
          <a:xfrm>
            <a:off x="6940296" y="5074920"/>
            <a:ext cx="4443984"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Points de contrôle instrumentés</a:t>
            </a:r>
            <a:endParaRPr lang="en-US" sz="1300" dirty="0"/>
          </a:p>
        </p:txBody>
      </p:sp>
      <p:sp>
        <p:nvSpPr>
          <p:cNvPr id="41" name="Text 39"/>
          <p:cNvSpPr/>
          <p:nvPr/>
        </p:nvSpPr>
        <p:spPr>
          <a:xfrm>
            <a:off x="6446520" y="5605272"/>
            <a:ext cx="4937760" cy="32004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Journaux d'accès HTTP structurés en JSON : méthode, route, statut, adresse IP, identifiant utilisateur, quota et durée de traitement.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3.3 ANALYSE DES FLUX DE DONNÉES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4 — Conteneurisation, services et segmentation réseau</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flux avec zones réseau matérialisées par des cadres colorés, services représentés par des conteneurs et liens de rattachement</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Démontrer concrètement la défense en profondeur au niveau de l'orchestration : quel service parle à quel service, et surtout ce qui n'est joignable par personne depuis l'extérieur.</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cinq réseaux overlay : frontend, backend, socket, egress, monitoring</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marquage visuel net (hachures ou cadre plein) sur les deux réseaux déclarés internal : backend et socket</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rattachement de chaque service à ses réseaux : Traefik, frontend, backend, PostgreSQL, PgBouncer, Redis</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socket-proxy interposé entre Traefik et l'API Docker, avec la mention lecture seule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point d'entrée unique du trafic externe, pour montrer qu'il n'existe aucune autre porte</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MTU réduite à 1400 octets annotée sur les réseaux overlay</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draw.io ou Mermaid (flowchart avec subgraphs nommés par réseau)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BC4C · C30 — orchestration et cloisonnement ; BC1 · C8 — schémas d'interactions entre composants</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3.4 ÉTUDE DE LA CONFORMITÉ ET DES NORMES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Référentiels appliqués et couverture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548640" y="1444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7" name="Text 5"/>
          <p:cNvSpPr/>
          <p:nvPr/>
        </p:nvSpPr>
        <p:spPr>
          <a:xfrm>
            <a:off x="804672" y="1627632"/>
            <a:ext cx="3008376"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RGPD</a:t>
            </a:r>
            <a:endParaRPr lang="en-US" sz="1400" dirty="0"/>
          </a:p>
        </p:txBody>
      </p:sp>
      <p:sp>
        <p:nvSpPr>
          <p:cNvPr id="8" name="Text 6"/>
          <p:cNvSpPr/>
          <p:nvPr/>
        </p:nvSpPr>
        <p:spPr>
          <a:xfrm>
            <a:off x="804672" y="2157984"/>
            <a:ext cx="3008376" cy="11887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Minimisation des données, droit à l'effacement par cascade en base et sur S3, chiffrement au repos (AES-256) et en transit, hébergement UE (Hetzner Allemagne, AWS eu-west-3).</a:t>
            </a:r>
            <a:endParaRPr lang="en-US" sz="1050" dirty="0"/>
          </a:p>
        </p:txBody>
      </p:sp>
      <p:sp>
        <p:nvSpPr>
          <p:cNvPr id="9" name="Shape 7"/>
          <p:cNvSpPr/>
          <p:nvPr/>
        </p:nvSpPr>
        <p:spPr>
          <a:xfrm>
            <a:off x="4334256" y="1444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0" name="Text 8"/>
          <p:cNvSpPr/>
          <p:nvPr/>
        </p:nvSpPr>
        <p:spPr>
          <a:xfrm>
            <a:off x="4590288" y="1627632"/>
            <a:ext cx="3008376"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ISO/IEC 27001:2022</a:t>
            </a:r>
            <a:endParaRPr lang="en-US" sz="1400" dirty="0"/>
          </a:p>
        </p:txBody>
      </p:sp>
      <p:sp>
        <p:nvSpPr>
          <p:cNvPr id="11" name="Text 9"/>
          <p:cNvSpPr/>
          <p:nvPr/>
        </p:nvSpPr>
        <p:spPr>
          <a:xfrm>
            <a:off x="4590288" y="2157984"/>
            <a:ext cx="3008376" cy="11887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Cartographie complète des mesures de défense en profondeur sur les chapitres organisationnels, physiques et technologiques (sauvegarde, cryptographie, contrôle d'accès).</a:t>
            </a:r>
            <a:endParaRPr lang="en-US" sz="1050" dirty="0"/>
          </a:p>
        </p:txBody>
      </p:sp>
      <p:sp>
        <p:nvSpPr>
          <p:cNvPr id="12" name="Shape 10"/>
          <p:cNvSpPr/>
          <p:nvPr/>
        </p:nvSpPr>
        <p:spPr>
          <a:xfrm>
            <a:off x="8119872" y="1444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3" name="Text 11"/>
          <p:cNvSpPr/>
          <p:nvPr/>
        </p:nvSpPr>
        <p:spPr>
          <a:xfrm>
            <a:off x="8375904" y="1627632"/>
            <a:ext cx="3008376"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OWASP</a:t>
            </a:r>
            <a:endParaRPr lang="en-US" sz="1400" dirty="0"/>
          </a:p>
        </p:txBody>
      </p:sp>
      <p:sp>
        <p:nvSpPr>
          <p:cNvPr id="14" name="Text 12"/>
          <p:cNvSpPr/>
          <p:nvPr/>
        </p:nvSpPr>
        <p:spPr>
          <a:xfrm>
            <a:off x="8375904" y="2157984"/>
            <a:ext cx="3008376" cy="11887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Top 10 et ASVS : validation en liste blanche, Argon2id, en-têtes de sécurité, limitation de débit adossée à Redis, plafonnement du corps des requêtes.</a:t>
            </a:r>
            <a:endParaRPr lang="en-US" sz="1050" dirty="0"/>
          </a:p>
        </p:txBody>
      </p:sp>
      <p:sp>
        <p:nvSpPr>
          <p:cNvPr id="15" name="Shape 13"/>
          <p:cNvSpPr/>
          <p:nvPr/>
        </p:nvSpPr>
        <p:spPr>
          <a:xfrm>
            <a:off x="548640" y="3730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6" name="Text 14"/>
          <p:cNvSpPr/>
          <p:nvPr/>
        </p:nvSpPr>
        <p:spPr>
          <a:xfrm>
            <a:off x="804672" y="3913632"/>
            <a:ext cx="3008376"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RGESN / GreenIT</a:t>
            </a:r>
            <a:endParaRPr lang="en-US" sz="1400" dirty="0"/>
          </a:p>
        </p:txBody>
      </p:sp>
      <p:sp>
        <p:nvSpPr>
          <p:cNvPr id="17" name="Text 15"/>
          <p:cNvSpPr/>
          <p:nvPr/>
        </p:nvSpPr>
        <p:spPr>
          <a:xfrm>
            <a:off x="804672" y="4443984"/>
            <a:ext cx="3008376" cy="11887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Right-sizing, cycle de vie du stockage, cache immuable et compression, index partiels, région à mix électrique documenté, mesure énergétique instrumentée.</a:t>
            </a:r>
            <a:endParaRPr lang="en-US" sz="1050" dirty="0"/>
          </a:p>
        </p:txBody>
      </p:sp>
      <p:sp>
        <p:nvSpPr>
          <p:cNvPr id="18" name="Shape 16"/>
          <p:cNvSpPr/>
          <p:nvPr/>
        </p:nvSpPr>
        <p:spPr>
          <a:xfrm>
            <a:off x="4334256" y="3730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9" name="Text 17"/>
          <p:cNvSpPr/>
          <p:nvPr/>
        </p:nvSpPr>
        <p:spPr>
          <a:xfrm>
            <a:off x="4590288" y="3913632"/>
            <a:ext cx="3008376"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WCAG 2.2 / RGAA 4</a:t>
            </a:r>
            <a:endParaRPr lang="en-US" sz="1400" dirty="0"/>
          </a:p>
        </p:txBody>
      </p:sp>
      <p:sp>
        <p:nvSpPr>
          <p:cNvPr id="20" name="Text 18"/>
          <p:cNvSpPr/>
          <p:nvPr/>
        </p:nvSpPr>
        <p:spPr>
          <a:xfrm>
            <a:off x="4590288" y="4443984"/>
            <a:ext cx="3008376" cy="11887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Structure sémantique et attributs adaptés sur les surfaces exposées aux utilisateurs ; documentation d'automatisation adaptée aux différents profils.</a:t>
            </a:r>
            <a:endParaRPr lang="en-US" sz="1050" dirty="0"/>
          </a:p>
        </p:txBody>
      </p:sp>
      <p:sp>
        <p:nvSpPr>
          <p:cNvPr id="21" name="Shape 19"/>
          <p:cNvSpPr/>
          <p:nvPr/>
        </p:nvSpPr>
        <p:spPr>
          <a:xfrm>
            <a:off x="8119872" y="3730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22" name="Text 20"/>
          <p:cNvSpPr/>
          <p:nvPr/>
        </p:nvSpPr>
        <p:spPr>
          <a:xfrm>
            <a:off x="8375904" y="3913632"/>
            <a:ext cx="3008376"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ISO/IEC 25010</a:t>
            </a:r>
            <a:endParaRPr lang="en-US" sz="1400" dirty="0"/>
          </a:p>
        </p:txBody>
      </p:sp>
      <p:sp>
        <p:nvSpPr>
          <p:cNvPr id="23" name="Text 21"/>
          <p:cNvSpPr/>
          <p:nvPr/>
        </p:nvSpPr>
        <p:spPr>
          <a:xfrm>
            <a:off x="8375904" y="4443984"/>
            <a:ext cx="3008376" cy="1188720"/>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Grille de qualité logicielle mobilisée dans la veille et les critères d'acceptation.</a:t>
            </a:r>
            <a:endParaRPr lang="en-US" sz="1050" dirty="0"/>
          </a:p>
        </p:txBody>
      </p:sp>
      <p:sp>
        <p:nvSpPr>
          <p:cNvPr id="24" name="Shape 22"/>
          <p:cNvSpPr/>
          <p:nvPr/>
        </p:nvSpPr>
        <p:spPr>
          <a:xfrm>
            <a:off x="548640" y="6035040"/>
            <a:ext cx="11064240" cy="0"/>
          </a:xfrm>
          <a:prstGeom prst="roundRect">
            <a:avLst/>
          </a:prstGeom>
          <a:solidFill>
            <a:srgbClr val="FFFFFF"/>
          </a:solidFill>
          <a:ln/>
        </p:spPr>
        <p:txBody>
          <a:bodyPr/>
          <a:lstStyle/>
          <a:p>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4</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Besoins fonctionnels</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Description, priorisation, exigences de sécurité et validation avec les parties prenantes</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4.1 DESCRIPTION DES FONCTIONNALITÉS REQUISES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 périmètre du produit minimum viable : 8 fonctions essentielles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44475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64208"/>
            <a:ext cx="384048" cy="384048"/>
          </a:xfrm>
          <a:prstGeom prst="ellipse">
            <a:avLst/>
          </a:prstGeom>
          <a:solidFill>
            <a:srgbClr val="00A896"/>
          </a:solidFill>
          <a:ln/>
        </p:spPr>
        <p:txBody>
          <a:bodyPr/>
          <a:lstStyle/>
          <a:p>
            <a:endParaRPr lang="fr-FR"/>
          </a:p>
        </p:txBody>
      </p:sp>
      <p:sp>
        <p:nvSpPr>
          <p:cNvPr id="8" name="Text 6"/>
          <p:cNvSpPr/>
          <p:nvPr/>
        </p:nvSpPr>
        <p:spPr>
          <a:xfrm>
            <a:off x="786384"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Authentification &amp; compte</a:t>
            </a:r>
            <a:endParaRPr lang="en-US" sz="1150" dirty="0"/>
          </a:p>
        </p:txBody>
      </p:sp>
      <p:sp>
        <p:nvSpPr>
          <p:cNvPr id="10" name="Text 8"/>
          <p:cNvSpPr/>
          <p:nvPr/>
        </p:nvSpPr>
        <p:spPr>
          <a:xfrm>
            <a:off x="804672" y="215798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Inscription, connexion, maintien de session, déconnexion</a:t>
            </a:r>
            <a:endParaRPr lang="en-US" sz="1000" dirty="0"/>
          </a:p>
        </p:txBody>
      </p:sp>
      <p:sp>
        <p:nvSpPr>
          <p:cNvPr id="11" name="Shape 9"/>
          <p:cNvSpPr/>
          <p:nvPr/>
        </p:nvSpPr>
        <p:spPr>
          <a:xfrm>
            <a:off x="3374136" y="144475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3611880" y="1664208"/>
            <a:ext cx="384048" cy="384048"/>
          </a:xfrm>
          <a:prstGeom prst="ellipse">
            <a:avLst/>
          </a:prstGeom>
          <a:solidFill>
            <a:srgbClr val="00A896"/>
          </a:solidFill>
          <a:ln/>
        </p:spPr>
        <p:txBody>
          <a:bodyPr/>
          <a:lstStyle/>
          <a:p>
            <a:endParaRPr lang="fr-FR"/>
          </a:p>
        </p:txBody>
      </p:sp>
      <p:sp>
        <p:nvSpPr>
          <p:cNvPr id="13" name="Text 11"/>
          <p:cNvSpPr/>
          <p:nvPr/>
        </p:nvSpPr>
        <p:spPr>
          <a:xfrm>
            <a:off x="3611880"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123944"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Téléversement en flux</a:t>
            </a:r>
            <a:endParaRPr lang="en-US" sz="1150" dirty="0"/>
          </a:p>
        </p:txBody>
      </p:sp>
      <p:sp>
        <p:nvSpPr>
          <p:cNvPr id="15" name="Text 13"/>
          <p:cNvSpPr/>
          <p:nvPr/>
        </p:nvSpPr>
        <p:spPr>
          <a:xfrm>
            <a:off x="3630168" y="215798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Fichiers volumineux acheminés vers S3 sans saturer la mémoire, contrôle de taille et quota</a:t>
            </a:r>
            <a:endParaRPr lang="en-US" sz="1000" dirty="0"/>
          </a:p>
        </p:txBody>
      </p:sp>
      <p:sp>
        <p:nvSpPr>
          <p:cNvPr id="16" name="Shape 14"/>
          <p:cNvSpPr/>
          <p:nvPr/>
        </p:nvSpPr>
        <p:spPr>
          <a:xfrm>
            <a:off x="6199632" y="144475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6437376" y="1664208"/>
            <a:ext cx="384048" cy="384048"/>
          </a:xfrm>
          <a:prstGeom prst="ellipse">
            <a:avLst/>
          </a:prstGeom>
          <a:solidFill>
            <a:srgbClr val="00A896"/>
          </a:solidFill>
          <a:ln/>
        </p:spPr>
        <p:txBody>
          <a:bodyPr/>
          <a:lstStyle/>
          <a:p>
            <a:endParaRPr lang="fr-FR"/>
          </a:p>
        </p:txBody>
      </p:sp>
      <p:sp>
        <p:nvSpPr>
          <p:cNvPr id="18" name="Text 16"/>
          <p:cNvSpPr/>
          <p:nvPr/>
        </p:nvSpPr>
        <p:spPr>
          <a:xfrm>
            <a:off x="6437376"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949440"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Bibliothèque privée</a:t>
            </a:r>
            <a:endParaRPr lang="en-US" sz="1150" dirty="0"/>
          </a:p>
        </p:txBody>
      </p:sp>
      <p:sp>
        <p:nvSpPr>
          <p:cNvPr id="20" name="Text 18"/>
          <p:cNvSpPr/>
          <p:nvPr/>
        </p:nvSpPr>
        <p:spPr>
          <a:xfrm>
            <a:off x="6455664" y="215798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Espace personnel de consultation et gestion de l'intégralité des médias</a:t>
            </a:r>
            <a:endParaRPr lang="en-US" sz="1000" dirty="0"/>
          </a:p>
        </p:txBody>
      </p:sp>
      <p:sp>
        <p:nvSpPr>
          <p:cNvPr id="21" name="Shape 19"/>
          <p:cNvSpPr/>
          <p:nvPr/>
        </p:nvSpPr>
        <p:spPr>
          <a:xfrm>
            <a:off x="9025128" y="144475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22" name="Shape 20"/>
          <p:cNvSpPr/>
          <p:nvPr/>
        </p:nvSpPr>
        <p:spPr>
          <a:xfrm>
            <a:off x="9262872" y="1664208"/>
            <a:ext cx="384048" cy="384048"/>
          </a:xfrm>
          <a:prstGeom prst="ellipse">
            <a:avLst/>
          </a:prstGeom>
          <a:solidFill>
            <a:srgbClr val="00A896"/>
          </a:solidFill>
          <a:ln/>
        </p:spPr>
        <p:txBody>
          <a:bodyPr/>
          <a:lstStyle/>
          <a:p>
            <a:endParaRPr lang="fr-FR"/>
          </a:p>
        </p:txBody>
      </p:sp>
      <p:sp>
        <p:nvSpPr>
          <p:cNvPr id="23" name="Text 21"/>
          <p:cNvSpPr/>
          <p:nvPr/>
        </p:nvSpPr>
        <p:spPr>
          <a:xfrm>
            <a:off x="9262872"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774936"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Organisation en albums</a:t>
            </a:r>
            <a:endParaRPr lang="en-US" sz="1150" dirty="0"/>
          </a:p>
        </p:txBody>
      </p:sp>
      <p:sp>
        <p:nvSpPr>
          <p:cNvPr id="25" name="Text 23"/>
          <p:cNvSpPr/>
          <p:nvPr/>
        </p:nvSpPr>
        <p:spPr>
          <a:xfrm>
            <a:off x="9281160" y="215798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Regroupement ordonné, placement et média de couverture</a:t>
            </a:r>
            <a:endParaRPr lang="en-US" sz="1000" dirty="0"/>
          </a:p>
        </p:txBody>
      </p:sp>
      <p:sp>
        <p:nvSpPr>
          <p:cNvPr id="26" name="Shape 24"/>
          <p:cNvSpPr/>
          <p:nvPr/>
        </p:nvSpPr>
        <p:spPr>
          <a:xfrm>
            <a:off x="548640" y="331927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27" name="Shape 25"/>
          <p:cNvSpPr/>
          <p:nvPr/>
        </p:nvSpPr>
        <p:spPr>
          <a:xfrm>
            <a:off x="786384" y="3538728"/>
            <a:ext cx="384048" cy="384048"/>
          </a:xfrm>
          <a:prstGeom prst="ellipse">
            <a:avLst/>
          </a:prstGeom>
          <a:solidFill>
            <a:srgbClr val="00A896"/>
          </a:solidFill>
          <a:ln/>
        </p:spPr>
        <p:txBody>
          <a:bodyPr/>
          <a:lstStyle/>
          <a:p>
            <a:endParaRPr lang="fr-FR"/>
          </a:p>
        </p:txBody>
      </p:sp>
      <p:sp>
        <p:nvSpPr>
          <p:cNvPr id="28" name="Text 26"/>
          <p:cNvSpPr/>
          <p:nvPr/>
        </p:nvSpPr>
        <p:spPr>
          <a:xfrm>
            <a:off x="786384" y="3538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1298448" y="350215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Publication sélective</a:t>
            </a:r>
            <a:endParaRPr lang="en-US" sz="1150" dirty="0"/>
          </a:p>
        </p:txBody>
      </p:sp>
      <p:sp>
        <p:nvSpPr>
          <p:cNvPr id="30" name="Text 28"/>
          <p:cNvSpPr/>
          <p:nvPr/>
        </p:nvSpPr>
        <p:spPr>
          <a:xfrm>
            <a:off x="804672" y="403250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Cœur du positionnement : publier / dépublier explicitement, invalidation du cache CDN</a:t>
            </a:r>
            <a:endParaRPr lang="en-US" sz="1000" dirty="0"/>
          </a:p>
        </p:txBody>
      </p:sp>
      <p:sp>
        <p:nvSpPr>
          <p:cNvPr id="31" name="Shape 29"/>
          <p:cNvSpPr/>
          <p:nvPr/>
        </p:nvSpPr>
        <p:spPr>
          <a:xfrm>
            <a:off x="3374136" y="331927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32" name="Shape 30"/>
          <p:cNvSpPr/>
          <p:nvPr/>
        </p:nvSpPr>
        <p:spPr>
          <a:xfrm>
            <a:off x="3611880" y="3538728"/>
            <a:ext cx="384048" cy="384048"/>
          </a:xfrm>
          <a:prstGeom prst="ellipse">
            <a:avLst/>
          </a:prstGeom>
          <a:solidFill>
            <a:srgbClr val="00A896"/>
          </a:solidFill>
          <a:ln/>
        </p:spPr>
        <p:txBody>
          <a:bodyPr/>
          <a:lstStyle/>
          <a:p>
            <a:endParaRPr lang="fr-FR"/>
          </a:p>
        </p:txBody>
      </p:sp>
      <p:sp>
        <p:nvSpPr>
          <p:cNvPr id="33" name="Text 31"/>
          <p:cNvSpPr/>
          <p:nvPr/>
        </p:nvSpPr>
        <p:spPr>
          <a:xfrm>
            <a:off x="3611880" y="3538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4123944" y="350215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Profil public</a:t>
            </a:r>
            <a:endParaRPr lang="en-US" sz="1150" dirty="0"/>
          </a:p>
        </p:txBody>
      </p:sp>
      <p:sp>
        <p:nvSpPr>
          <p:cNvPr id="35" name="Text 33"/>
          <p:cNvSpPr/>
          <p:nvPr/>
        </p:nvSpPr>
        <p:spPr>
          <a:xfrm>
            <a:off x="3630168" y="403250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Adresse dédiée exposant la sélection publiée, biographie et avatar</a:t>
            </a:r>
            <a:endParaRPr lang="en-US" sz="1000" dirty="0"/>
          </a:p>
        </p:txBody>
      </p:sp>
      <p:sp>
        <p:nvSpPr>
          <p:cNvPr id="36" name="Shape 34"/>
          <p:cNvSpPr/>
          <p:nvPr/>
        </p:nvSpPr>
        <p:spPr>
          <a:xfrm>
            <a:off x="6199632" y="331927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37" name="Shape 35"/>
          <p:cNvSpPr/>
          <p:nvPr/>
        </p:nvSpPr>
        <p:spPr>
          <a:xfrm>
            <a:off x="6437376" y="3538728"/>
            <a:ext cx="384048" cy="384048"/>
          </a:xfrm>
          <a:prstGeom prst="ellipse">
            <a:avLst/>
          </a:prstGeom>
          <a:solidFill>
            <a:srgbClr val="00A896"/>
          </a:solidFill>
          <a:ln/>
        </p:spPr>
        <p:txBody>
          <a:bodyPr/>
          <a:lstStyle/>
          <a:p>
            <a:endParaRPr lang="fr-FR"/>
          </a:p>
        </p:txBody>
      </p:sp>
      <p:sp>
        <p:nvSpPr>
          <p:cNvPr id="38" name="Text 36"/>
          <p:cNvSpPr/>
          <p:nvPr/>
        </p:nvSpPr>
        <p:spPr>
          <a:xfrm>
            <a:off x="6437376" y="3538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9" name="Text 37"/>
          <p:cNvSpPr/>
          <p:nvPr/>
        </p:nvSpPr>
        <p:spPr>
          <a:xfrm>
            <a:off x="6949440" y="350215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Fil social léger</a:t>
            </a:r>
            <a:endParaRPr lang="en-US" sz="1150" dirty="0"/>
          </a:p>
        </p:txBody>
      </p:sp>
      <p:sp>
        <p:nvSpPr>
          <p:cNvPr id="40" name="Text 38"/>
          <p:cNvSpPr/>
          <p:nvPr/>
        </p:nvSpPr>
        <p:spPr>
          <a:xfrm>
            <a:off x="6455664" y="403250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Abonnements, fil public ou restreint aux abonnements</a:t>
            </a:r>
            <a:endParaRPr lang="en-US" sz="1000" dirty="0"/>
          </a:p>
        </p:txBody>
      </p:sp>
      <p:sp>
        <p:nvSpPr>
          <p:cNvPr id="41" name="Shape 39"/>
          <p:cNvSpPr/>
          <p:nvPr/>
        </p:nvSpPr>
        <p:spPr>
          <a:xfrm>
            <a:off x="9025128" y="3319272"/>
            <a:ext cx="2624328" cy="1691640"/>
          </a:xfrm>
          <a:prstGeom prst="roundRect">
            <a:avLst>
              <a:gd name="adj" fmla="val 3243"/>
            </a:avLst>
          </a:prstGeom>
          <a:solidFill>
            <a:srgbClr val="EEF3F7"/>
          </a:solidFill>
          <a:ln w="12700">
            <a:solidFill>
              <a:srgbClr val="EEF3F7"/>
            </a:solidFill>
            <a:prstDash val="solid"/>
          </a:ln>
        </p:spPr>
        <p:txBody>
          <a:bodyPr/>
          <a:lstStyle/>
          <a:p>
            <a:endParaRPr lang="fr-FR"/>
          </a:p>
        </p:txBody>
      </p:sp>
      <p:sp>
        <p:nvSpPr>
          <p:cNvPr id="42" name="Shape 40"/>
          <p:cNvSpPr/>
          <p:nvPr/>
        </p:nvSpPr>
        <p:spPr>
          <a:xfrm>
            <a:off x="9262872" y="3538728"/>
            <a:ext cx="384048" cy="384048"/>
          </a:xfrm>
          <a:prstGeom prst="ellipse">
            <a:avLst/>
          </a:prstGeom>
          <a:solidFill>
            <a:srgbClr val="00A896"/>
          </a:solidFill>
          <a:ln/>
        </p:spPr>
        <p:txBody>
          <a:bodyPr/>
          <a:lstStyle/>
          <a:p>
            <a:endParaRPr lang="fr-FR"/>
          </a:p>
        </p:txBody>
      </p:sp>
      <p:sp>
        <p:nvSpPr>
          <p:cNvPr id="43" name="Text 41"/>
          <p:cNvSpPr/>
          <p:nvPr/>
        </p:nvSpPr>
        <p:spPr>
          <a:xfrm>
            <a:off x="9262872" y="3538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4" name="Text 42"/>
          <p:cNvSpPr/>
          <p:nvPr/>
        </p:nvSpPr>
        <p:spPr>
          <a:xfrm>
            <a:off x="9774936" y="350215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Recherche de profils</a:t>
            </a:r>
            <a:endParaRPr lang="en-US" sz="1150" dirty="0"/>
          </a:p>
        </p:txBody>
      </p:sp>
      <p:sp>
        <p:nvSpPr>
          <p:cNvPr id="45" name="Text 43"/>
          <p:cNvSpPr/>
          <p:nvPr/>
        </p:nvSpPr>
        <p:spPr>
          <a:xfrm>
            <a:off x="9281160" y="4032504"/>
            <a:ext cx="2112264" cy="77724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Découvrabilité au sein de la plateforme</a:t>
            </a:r>
            <a:endParaRPr lang="en-US" sz="1000" dirty="0"/>
          </a:p>
        </p:txBody>
      </p:sp>
      <p:sp>
        <p:nvSpPr>
          <p:cNvPr id="46" name="Shape 44"/>
          <p:cNvSpPr/>
          <p:nvPr/>
        </p:nvSpPr>
        <p:spPr>
          <a:xfrm>
            <a:off x="548640" y="5285232"/>
            <a:ext cx="11064240" cy="868680"/>
          </a:xfrm>
          <a:prstGeom prst="roundRect">
            <a:avLst>
              <a:gd name="adj" fmla="val 6316"/>
            </a:avLst>
          </a:prstGeom>
          <a:solidFill>
            <a:srgbClr val="12263F"/>
          </a:solidFill>
          <a:ln/>
        </p:spPr>
        <p:txBody>
          <a:bodyPr/>
          <a:lstStyle/>
          <a:p>
            <a:endParaRPr lang="fr-FR"/>
          </a:p>
        </p:txBody>
      </p:sp>
      <p:sp>
        <p:nvSpPr>
          <p:cNvPr id="47" name="Text 45"/>
          <p:cNvSpPr/>
          <p:nvPr/>
        </p:nvSpPr>
        <p:spPr>
          <a:xfrm>
            <a:off x="868680" y="5413248"/>
            <a:ext cx="10424160" cy="621792"/>
          </a:xfrm>
          <a:prstGeom prst="rect">
            <a:avLst/>
          </a:prstGeom>
          <a:noFill/>
          <a:ln/>
        </p:spPr>
        <p:txBody>
          <a:bodyPr wrap="square" lIns="0" tIns="0" rIns="0" bIns="0" rtlCol="0" anchor="ctr"/>
          <a:lstStyle/>
          <a:p>
            <a:pPr marL="0" indent="0">
              <a:lnSpc>
                <a:spcPts val="1500"/>
              </a:lnSpc>
              <a:buNone/>
            </a:pPr>
            <a:r>
              <a:rPr lang="en-US" sz="1100" dirty="0">
                <a:solidFill>
                  <a:srgbClr val="C4D3E0"/>
                </a:solidFill>
                <a:latin typeface="Calibri" pitchFamily="34" charset="0"/>
                <a:ea typeface="Calibri" pitchFamily="34" charset="-122"/>
                <a:cs typeface="Calibri" pitchFamily="34" charset="-120"/>
              </a:rPr>
              <a:t>Fonctionnalités secondaires : clé d'API émise à l'inscription, paramètres de compte, gestion avatar/biographie, téléchargement de ses médias, statistiques publiques et suppression complète du compte — cette dernière matérialisant le droit à l'effacement RGPD (cascade base + stockage objet + invalidation des sessions).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4.1 DESCRIPTION DES FONCTIONNALITÉS REQUISES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Modélisation : deux acteurs, un héritage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48640" y="1481328"/>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700784"/>
            <a:ext cx="384048" cy="384048"/>
          </a:xfrm>
          <a:prstGeom prst="ellipse">
            <a:avLst/>
          </a:prstGeom>
          <a:solidFill>
            <a:srgbClr val="00A896"/>
          </a:solidFill>
          <a:ln/>
        </p:spPr>
        <p:txBody>
          <a:bodyPr/>
          <a:lstStyle/>
          <a:p>
            <a:endParaRPr lang="fr-FR"/>
          </a:p>
        </p:txBody>
      </p:sp>
      <p:sp>
        <p:nvSpPr>
          <p:cNvPr id="8" name="Text 6"/>
          <p:cNvSpPr/>
          <p:nvPr/>
        </p:nvSpPr>
        <p:spPr>
          <a:xfrm>
            <a:off x="786384"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9" name="Text 7"/>
          <p:cNvSpPr/>
          <p:nvPr/>
        </p:nvSpPr>
        <p:spPr>
          <a:xfrm>
            <a:off x="1298448" y="1664208"/>
            <a:ext cx="4443984" cy="45720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Visiteur</a:t>
            </a:r>
            <a:endParaRPr lang="en-US" sz="1500" dirty="0"/>
          </a:p>
        </p:txBody>
      </p:sp>
      <p:sp>
        <p:nvSpPr>
          <p:cNvPr id="10" name="Text 8"/>
          <p:cNvSpPr/>
          <p:nvPr/>
        </p:nvSpPr>
        <p:spPr>
          <a:xfrm>
            <a:off x="804672" y="2194560"/>
            <a:ext cx="4937760" cy="12801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Périmètre public, accessible sans authentification : inscription, connexion, consultation des profils et galeries publiques, recherche de profils, statistiques publiques.</a:t>
            </a:r>
            <a:endParaRPr lang="en-US" sz="1150" dirty="0"/>
          </a:p>
        </p:txBody>
      </p:sp>
      <p:sp>
        <p:nvSpPr>
          <p:cNvPr id="11" name="Shape 9"/>
          <p:cNvSpPr/>
          <p:nvPr/>
        </p:nvSpPr>
        <p:spPr>
          <a:xfrm>
            <a:off x="6190488" y="1481328"/>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6428232" y="1700784"/>
            <a:ext cx="384048" cy="384048"/>
          </a:xfrm>
          <a:prstGeom prst="ellipse">
            <a:avLst/>
          </a:prstGeom>
          <a:solidFill>
            <a:srgbClr val="E08A3C"/>
          </a:solidFill>
          <a:ln/>
        </p:spPr>
        <p:txBody>
          <a:bodyPr/>
          <a:lstStyle/>
          <a:p>
            <a:endParaRPr lang="fr-FR"/>
          </a:p>
        </p:txBody>
      </p:sp>
      <p:sp>
        <p:nvSpPr>
          <p:cNvPr id="13" name="Text 11"/>
          <p:cNvSpPr/>
          <p:nvPr/>
        </p:nvSpPr>
        <p:spPr>
          <a:xfrm>
            <a:off x="6428232"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p:nvPr/>
        </p:nvSpPr>
        <p:spPr>
          <a:xfrm>
            <a:off x="6940296" y="1664208"/>
            <a:ext cx="4443984" cy="45720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Membre</a:t>
            </a:r>
            <a:endParaRPr lang="en-US" sz="1500" dirty="0"/>
          </a:p>
        </p:txBody>
      </p:sp>
      <p:sp>
        <p:nvSpPr>
          <p:cNvPr id="15" name="Text 13"/>
          <p:cNvSpPr/>
          <p:nvPr/>
        </p:nvSpPr>
        <p:spPr>
          <a:xfrm>
            <a:off x="6446520" y="2194560"/>
            <a:ext cx="4937760" cy="1280160"/>
          </a:xfrm>
          <a:prstGeom prst="rect">
            <a:avLst/>
          </a:prstGeom>
          <a:noFill/>
          <a:ln/>
        </p:spPr>
        <p:txBody>
          <a:bodyPr wrap="square" lIns="0" tIns="0" rIns="0" bIns="0" rtlCol="0" anchor="ctr"/>
          <a:lstStyle/>
          <a:p>
            <a:pPr marL="0" indent="0">
              <a:lnSpc>
                <a:spcPts val="1500"/>
              </a:lnSpc>
              <a:buNone/>
            </a:pPr>
            <a:r>
              <a:rPr lang="en-US" sz="1150" dirty="0">
                <a:solidFill>
                  <a:srgbClr val="4A5769"/>
                </a:solidFill>
                <a:latin typeface="Calibri" pitchFamily="34" charset="0"/>
                <a:ea typeface="Calibri" pitchFamily="34" charset="-122"/>
                <a:cs typeface="Calibri" pitchFamily="34" charset="-120"/>
              </a:rPr>
              <a:t>Hérite de l'intégralité des capacités du visiteur et accède aux fonctions authentifiées : téléversement, organisation en albums, publication sélective, suivi d'autres créateurs, gestion de compte et de la clé d'API.</a:t>
            </a:r>
            <a:endParaRPr lang="en-US" sz="1150" dirty="0"/>
          </a:p>
        </p:txBody>
      </p:sp>
      <p:sp>
        <p:nvSpPr>
          <p:cNvPr id="16" name="Shape 14"/>
          <p:cNvSpPr/>
          <p:nvPr/>
        </p:nvSpPr>
        <p:spPr>
          <a:xfrm>
            <a:off x="548640" y="3886200"/>
            <a:ext cx="11091672" cy="1143000"/>
          </a:xfrm>
          <a:prstGeom prst="roundRect">
            <a:avLst>
              <a:gd name="adj" fmla="val 4800"/>
            </a:avLst>
          </a:prstGeom>
          <a:solidFill>
            <a:srgbClr val="12263F"/>
          </a:solidFill>
          <a:ln/>
        </p:spPr>
        <p:txBody>
          <a:bodyPr/>
          <a:lstStyle/>
          <a:p>
            <a:endParaRPr lang="fr-FR"/>
          </a:p>
        </p:txBody>
      </p:sp>
      <p:sp>
        <p:nvSpPr>
          <p:cNvPr id="17" name="Text 15"/>
          <p:cNvSpPr/>
          <p:nvPr/>
        </p:nvSpPr>
        <p:spPr>
          <a:xfrm>
            <a:off x="822960" y="4023360"/>
            <a:ext cx="10515600" cy="27432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Des cas d'utilisation vérifiables</a:t>
            </a:r>
            <a:endParaRPr lang="en-US" sz="1300" dirty="0"/>
          </a:p>
        </p:txBody>
      </p:sp>
      <p:sp>
        <p:nvSpPr>
          <p:cNvPr id="18" name="Text 16"/>
          <p:cNvSpPr/>
          <p:nvPr/>
        </p:nvSpPr>
        <p:spPr>
          <a:xfrm>
            <a:off x="822960" y="4334256"/>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C4D3E0"/>
                </a:solidFill>
                <a:latin typeface="Calibri" pitchFamily="34" charset="0"/>
                <a:ea typeface="Calibri" pitchFamily="34" charset="-122"/>
                <a:cs typeface="Calibri" pitchFamily="34" charset="-120"/>
              </a:rPr>
              <a:t>Chaque cas est assorti de préconditions et de résultats attendus explicites. Ces critères d'acceptation constituent la base de la vérifiabilité ultérieure des exigences et alimentent directement la stratégie de tests : les huit fonctions essentielles sont toutes couvertes par la suite automatisée.</a:t>
            </a:r>
            <a:endParaRPr lang="en-US" sz="1150" dirty="0"/>
          </a:p>
        </p:txBody>
      </p:sp>
      <p:sp>
        <p:nvSpPr>
          <p:cNvPr id="19" name="Text 17"/>
          <p:cNvSpPr/>
          <p:nvPr/>
        </p:nvSpPr>
        <p:spPr>
          <a:xfrm>
            <a:off x="548640" y="5212080"/>
            <a:ext cx="11091672" cy="274320"/>
          </a:xfrm>
          <a:prstGeom prst="rect">
            <a:avLst/>
          </a:prstGeom>
          <a:noFill/>
          <a:ln/>
        </p:spPr>
        <p:txBody>
          <a:bodyPr wrap="square" lIns="0" tIns="0" rIns="0" bIns="0" rtlCol="0" anchor="ctr"/>
          <a:lstStyle/>
          <a:p>
            <a:pPr marL="0" indent="0">
              <a:buNone/>
            </a:pPr>
            <a:r>
              <a:rPr lang="en-US" sz="1100" dirty="0">
                <a:solidFill>
                  <a:srgbClr val="4A5769"/>
                </a:solidFill>
                <a:latin typeface="Calibri" pitchFamily="34" charset="0"/>
                <a:ea typeface="Calibri" pitchFamily="34" charset="-122"/>
                <a:cs typeface="Calibri" pitchFamily="34" charset="-120"/>
              </a:rPr>
              <a:t>Les exigences fonctionnelles sont rattachées à six domaines cohérents, qui structurent aussi l'organisation de l'API :</a:t>
            </a:r>
            <a:endParaRPr lang="en-US" sz="1100" dirty="0"/>
          </a:p>
        </p:txBody>
      </p:sp>
      <p:sp>
        <p:nvSpPr>
          <p:cNvPr id="20" name="Shape 18"/>
          <p:cNvSpPr/>
          <p:nvPr/>
        </p:nvSpPr>
        <p:spPr>
          <a:xfrm>
            <a:off x="548640" y="5541264"/>
            <a:ext cx="1691640" cy="457200"/>
          </a:xfrm>
          <a:prstGeom prst="roundRect">
            <a:avLst>
              <a:gd name="adj" fmla="val 10000"/>
            </a:avLst>
          </a:prstGeom>
          <a:solidFill>
            <a:srgbClr val="EEF3F7"/>
          </a:solidFill>
          <a:ln/>
        </p:spPr>
        <p:txBody>
          <a:bodyPr/>
          <a:lstStyle/>
          <a:p>
            <a:endParaRPr lang="fr-FR"/>
          </a:p>
        </p:txBody>
      </p:sp>
      <p:sp>
        <p:nvSpPr>
          <p:cNvPr id="21" name="Text 19"/>
          <p:cNvSpPr/>
          <p:nvPr/>
        </p:nvSpPr>
        <p:spPr>
          <a:xfrm>
            <a:off x="548640" y="5541264"/>
            <a:ext cx="1691640" cy="457200"/>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Authentification</a:t>
            </a:r>
            <a:endParaRPr lang="en-US" sz="1000" dirty="0"/>
          </a:p>
        </p:txBody>
      </p:sp>
      <p:sp>
        <p:nvSpPr>
          <p:cNvPr id="22" name="Shape 20"/>
          <p:cNvSpPr/>
          <p:nvPr/>
        </p:nvSpPr>
        <p:spPr>
          <a:xfrm>
            <a:off x="2423160" y="5541264"/>
            <a:ext cx="1691640" cy="457200"/>
          </a:xfrm>
          <a:prstGeom prst="roundRect">
            <a:avLst>
              <a:gd name="adj" fmla="val 10000"/>
            </a:avLst>
          </a:prstGeom>
          <a:solidFill>
            <a:srgbClr val="EEF3F7"/>
          </a:solidFill>
          <a:ln/>
        </p:spPr>
        <p:txBody>
          <a:bodyPr/>
          <a:lstStyle/>
          <a:p>
            <a:endParaRPr lang="fr-FR"/>
          </a:p>
        </p:txBody>
      </p:sp>
      <p:sp>
        <p:nvSpPr>
          <p:cNvPr id="23" name="Text 21"/>
          <p:cNvSpPr/>
          <p:nvPr/>
        </p:nvSpPr>
        <p:spPr>
          <a:xfrm>
            <a:off x="2423160" y="5541264"/>
            <a:ext cx="1691640" cy="457200"/>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Bibliothèque</a:t>
            </a:r>
            <a:endParaRPr lang="en-US" sz="1000" dirty="0"/>
          </a:p>
        </p:txBody>
      </p:sp>
      <p:sp>
        <p:nvSpPr>
          <p:cNvPr id="24" name="Shape 22"/>
          <p:cNvSpPr/>
          <p:nvPr/>
        </p:nvSpPr>
        <p:spPr>
          <a:xfrm>
            <a:off x="4297680" y="5541264"/>
            <a:ext cx="1691640" cy="457200"/>
          </a:xfrm>
          <a:prstGeom prst="roundRect">
            <a:avLst>
              <a:gd name="adj" fmla="val 10000"/>
            </a:avLst>
          </a:prstGeom>
          <a:solidFill>
            <a:srgbClr val="EEF3F7"/>
          </a:solidFill>
          <a:ln/>
        </p:spPr>
        <p:txBody>
          <a:bodyPr/>
          <a:lstStyle/>
          <a:p>
            <a:endParaRPr lang="fr-FR"/>
          </a:p>
        </p:txBody>
      </p:sp>
      <p:sp>
        <p:nvSpPr>
          <p:cNvPr id="25" name="Text 23"/>
          <p:cNvSpPr/>
          <p:nvPr/>
        </p:nvSpPr>
        <p:spPr>
          <a:xfrm>
            <a:off x="4297680" y="5541264"/>
            <a:ext cx="1691640" cy="457200"/>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Profil</a:t>
            </a:r>
            <a:endParaRPr lang="en-US" sz="1000" dirty="0"/>
          </a:p>
        </p:txBody>
      </p:sp>
      <p:sp>
        <p:nvSpPr>
          <p:cNvPr id="26" name="Shape 24"/>
          <p:cNvSpPr/>
          <p:nvPr/>
        </p:nvSpPr>
        <p:spPr>
          <a:xfrm>
            <a:off x="6172200" y="5541264"/>
            <a:ext cx="1691640" cy="457200"/>
          </a:xfrm>
          <a:prstGeom prst="roundRect">
            <a:avLst>
              <a:gd name="adj" fmla="val 10000"/>
            </a:avLst>
          </a:prstGeom>
          <a:solidFill>
            <a:srgbClr val="EEF3F7"/>
          </a:solidFill>
          <a:ln/>
        </p:spPr>
        <p:txBody>
          <a:bodyPr/>
          <a:lstStyle/>
          <a:p>
            <a:endParaRPr lang="fr-FR"/>
          </a:p>
        </p:txBody>
      </p:sp>
      <p:sp>
        <p:nvSpPr>
          <p:cNvPr id="27" name="Text 25"/>
          <p:cNvSpPr/>
          <p:nvPr/>
        </p:nvSpPr>
        <p:spPr>
          <a:xfrm>
            <a:off x="6172200" y="5541264"/>
            <a:ext cx="1691640" cy="457200"/>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Découverte</a:t>
            </a:r>
            <a:endParaRPr lang="en-US" sz="1000" dirty="0"/>
          </a:p>
        </p:txBody>
      </p:sp>
      <p:sp>
        <p:nvSpPr>
          <p:cNvPr id="28" name="Shape 26"/>
          <p:cNvSpPr/>
          <p:nvPr/>
        </p:nvSpPr>
        <p:spPr>
          <a:xfrm>
            <a:off x="8046720" y="5541264"/>
            <a:ext cx="1691640" cy="457200"/>
          </a:xfrm>
          <a:prstGeom prst="roundRect">
            <a:avLst>
              <a:gd name="adj" fmla="val 10000"/>
            </a:avLst>
          </a:prstGeom>
          <a:solidFill>
            <a:srgbClr val="EEF3F7"/>
          </a:solidFill>
          <a:ln/>
        </p:spPr>
        <p:txBody>
          <a:bodyPr/>
          <a:lstStyle/>
          <a:p>
            <a:endParaRPr lang="fr-FR"/>
          </a:p>
        </p:txBody>
      </p:sp>
      <p:sp>
        <p:nvSpPr>
          <p:cNvPr id="29" name="Text 27"/>
          <p:cNvSpPr/>
          <p:nvPr/>
        </p:nvSpPr>
        <p:spPr>
          <a:xfrm>
            <a:off x="8046720" y="5541264"/>
            <a:ext cx="1691640" cy="457200"/>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Paramètres</a:t>
            </a:r>
            <a:endParaRPr lang="en-US" sz="1000" dirty="0"/>
          </a:p>
        </p:txBody>
      </p:sp>
      <p:sp>
        <p:nvSpPr>
          <p:cNvPr id="30" name="Shape 28"/>
          <p:cNvSpPr/>
          <p:nvPr/>
        </p:nvSpPr>
        <p:spPr>
          <a:xfrm>
            <a:off x="9921240" y="5541264"/>
            <a:ext cx="1691640" cy="457200"/>
          </a:xfrm>
          <a:prstGeom prst="roundRect">
            <a:avLst>
              <a:gd name="adj" fmla="val 10000"/>
            </a:avLst>
          </a:prstGeom>
          <a:solidFill>
            <a:srgbClr val="EEF3F7"/>
          </a:solidFill>
          <a:ln/>
        </p:spPr>
        <p:txBody>
          <a:bodyPr/>
          <a:lstStyle/>
          <a:p>
            <a:endParaRPr lang="fr-FR"/>
          </a:p>
        </p:txBody>
      </p:sp>
      <p:sp>
        <p:nvSpPr>
          <p:cNvPr id="31" name="Text 29"/>
          <p:cNvSpPr/>
          <p:nvPr/>
        </p:nvSpPr>
        <p:spPr>
          <a:xfrm>
            <a:off x="9921240" y="5541264"/>
            <a:ext cx="1691640" cy="457200"/>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Interface publique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4.1 DESCRIPTION DES FONCTIONNALITÉS REQUISES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5 — Diagramme de cas d'utilisation (UML)</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cas d'utilisation UML : deux acteurs à gauche, cas d'utilisation en ellipses regroupés en deux paquets, relation d'héritage entre acteurs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Formaliser le périmètre fonctionnel de façon vérifiable et montrer que le membre hérite intégralement du périmètre public. C'est le pivot entre l'expression du besoin et la stratégie de tests.</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Deux acteurs : Visiteur et Membre, reliés par une relation de généralisation (le membre hérite du visiteur)</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Paquet « Partie publique » : s'inscrire, se connecter, consulter un profil public, consulter la galerie, rechercher des profils</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Paquet « Partie authentifiée » : téléverser, organiser des albums, publier / dépublier, consulter son fil, suivre, gérer son profil, gérer ses paramètres et sa clé d'API, supprimer son compte</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L'acteur secondaire « Stockage S3 / CloudFront » relié par des relations pointillées (stocke, invalide le cache)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huit fonctions essentielles du MVP distinguées des fonctionnalités secondaires</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orientation la plus horizontale possible : un diagramme trop vertical devient illisible en soutenance</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PlantUML (syntaxe usecase) ou draw.io avec la bibliothèque UML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BC2 · C13 et BC3 · C22 — modélisation des processus métier, chaque fonctionnalité décrite et priorisée</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4.2 PRIORISATION DES FONCTIONNALITÉS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Critères de hiérarchisation et arbitrages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48640" y="141732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Critères de priorisation retenus</a:t>
            </a:r>
            <a:endParaRPr lang="en-US" sz="1400" dirty="0"/>
          </a:p>
        </p:txBody>
      </p:sp>
      <p:sp>
        <p:nvSpPr>
          <p:cNvPr id="7" name="Shape 5"/>
          <p:cNvSpPr/>
          <p:nvPr/>
        </p:nvSpPr>
        <p:spPr>
          <a:xfrm>
            <a:off x="548640" y="1783080"/>
            <a:ext cx="2624328" cy="1600200"/>
          </a:xfrm>
          <a:prstGeom prst="roundRect">
            <a:avLst>
              <a:gd name="adj" fmla="val 3429"/>
            </a:avLst>
          </a:prstGeom>
          <a:solidFill>
            <a:srgbClr val="EEF3F7"/>
          </a:solidFill>
          <a:ln w="12700">
            <a:solidFill>
              <a:srgbClr val="EEF3F7"/>
            </a:solidFill>
            <a:prstDash val="solid"/>
          </a:ln>
        </p:spPr>
        <p:txBody>
          <a:bodyPr/>
          <a:lstStyle/>
          <a:p>
            <a:endParaRPr lang="fr-FR"/>
          </a:p>
        </p:txBody>
      </p:sp>
      <p:sp>
        <p:nvSpPr>
          <p:cNvPr id="8" name="Shape 6"/>
          <p:cNvSpPr/>
          <p:nvPr/>
        </p:nvSpPr>
        <p:spPr>
          <a:xfrm>
            <a:off x="786384" y="2002536"/>
            <a:ext cx="384048" cy="384048"/>
          </a:xfrm>
          <a:prstGeom prst="ellipse">
            <a:avLst/>
          </a:prstGeom>
          <a:solidFill>
            <a:srgbClr val="00A896"/>
          </a:solidFill>
          <a:ln/>
        </p:spPr>
        <p:txBody>
          <a:bodyPr/>
          <a:lstStyle/>
          <a:p>
            <a:endParaRPr lang="fr-FR"/>
          </a:p>
        </p:txBody>
      </p:sp>
      <p:sp>
        <p:nvSpPr>
          <p:cNvPr id="9" name="Text 7"/>
          <p:cNvSpPr/>
          <p:nvPr/>
        </p:nvSpPr>
        <p:spPr>
          <a:xfrm>
            <a:off x="786384" y="20025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298448" y="1965960"/>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Criticité produit</a:t>
            </a:r>
            <a:endParaRPr lang="en-US" sz="1150" dirty="0"/>
          </a:p>
        </p:txBody>
      </p:sp>
      <p:sp>
        <p:nvSpPr>
          <p:cNvPr id="11" name="Text 9"/>
          <p:cNvSpPr/>
          <p:nvPr/>
        </p:nvSpPr>
        <p:spPr>
          <a:xfrm>
            <a:off x="804672" y="2496312"/>
            <a:ext cx="2112264" cy="68580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La fonction porte-t-elle le positionnement différenciant (confidentialité par défaut) ?</a:t>
            </a:r>
            <a:endParaRPr lang="en-US" sz="1000" dirty="0"/>
          </a:p>
        </p:txBody>
      </p:sp>
      <p:sp>
        <p:nvSpPr>
          <p:cNvPr id="12" name="Shape 10"/>
          <p:cNvSpPr/>
          <p:nvPr/>
        </p:nvSpPr>
        <p:spPr>
          <a:xfrm>
            <a:off x="3374136" y="1783080"/>
            <a:ext cx="2624328" cy="1600200"/>
          </a:xfrm>
          <a:prstGeom prst="roundRect">
            <a:avLst>
              <a:gd name="adj" fmla="val 3429"/>
            </a:avLst>
          </a:prstGeom>
          <a:solidFill>
            <a:srgbClr val="EEF3F7"/>
          </a:solidFill>
          <a:ln w="12700">
            <a:solidFill>
              <a:srgbClr val="EEF3F7"/>
            </a:solidFill>
            <a:prstDash val="solid"/>
          </a:ln>
        </p:spPr>
        <p:txBody>
          <a:bodyPr/>
          <a:lstStyle/>
          <a:p>
            <a:endParaRPr lang="fr-FR"/>
          </a:p>
        </p:txBody>
      </p:sp>
      <p:sp>
        <p:nvSpPr>
          <p:cNvPr id="13" name="Shape 11"/>
          <p:cNvSpPr/>
          <p:nvPr/>
        </p:nvSpPr>
        <p:spPr>
          <a:xfrm>
            <a:off x="3611880" y="2002536"/>
            <a:ext cx="384048" cy="384048"/>
          </a:xfrm>
          <a:prstGeom prst="ellipse">
            <a:avLst/>
          </a:prstGeom>
          <a:solidFill>
            <a:srgbClr val="00A896"/>
          </a:solidFill>
          <a:ln/>
        </p:spPr>
        <p:txBody>
          <a:bodyPr/>
          <a:lstStyle/>
          <a:p>
            <a:endParaRPr lang="fr-FR"/>
          </a:p>
        </p:txBody>
      </p:sp>
      <p:sp>
        <p:nvSpPr>
          <p:cNvPr id="14" name="Text 12"/>
          <p:cNvSpPr/>
          <p:nvPr/>
        </p:nvSpPr>
        <p:spPr>
          <a:xfrm>
            <a:off x="3611880" y="20025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123944" y="1965960"/>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Impact sécurité</a:t>
            </a:r>
            <a:endParaRPr lang="en-US" sz="1150" dirty="0"/>
          </a:p>
        </p:txBody>
      </p:sp>
      <p:sp>
        <p:nvSpPr>
          <p:cNvPr id="16" name="Text 14"/>
          <p:cNvSpPr/>
          <p:nvPr/>
        </p:nvSpPr>
        <p:spPr>
          <a:xfrm>
            <a:off x="3630168" y="2496312"/>
            <a:ext cx="2112264" cy="68580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Une défaillance aurait-elle des conséquences sur la confidentialité, l'intégrité ou la disponibilité ?</a:t>
            </a:r>
            <a:endParaRPr lang="en-US" sz="1000" dirty="0"/>
          </a:p>
        </p:txBody>
      </p:sp>
      <p:sp>
        <p:nvSpPr>
          <p:cNvPr id="17" name="Shape 15"/>
          <p:cNvSpPr/>
          <p:nvPr/>
        </p:nvSpPr>
        <p:spPr>
          <a:xfrm>
            <a:off x="6199632" y="1783080"/>
            <a:ext cx="2624328" cy="1600200"/>
          </a:xfrm>
          <a:prstGeom prst="roundRect">
            <a:avLst>
              <a:gd name="adj" fmla="val 3429"/>
            </a:avLst>
          </a:prstGeom>
          <a:solidFill>
            <a:srgbClr val="EEF3F7"/>
          </a:solidFill>
          <a:ln w="12700">
            <a:solidFill>
              <a:srgbClr val="EEF3F7"/>
            </a:solidFill>
            <a:prstDash val="solid"/>
          </a:ln>
        </p:spPr>
        <p:txBody>
          <a:bodyPr/>
          <a:lstStyle/>
          <a:p>
            <a:endParaRPr lang="fr-FR"/>
          </a:p>
        </p:txBody>
      </p:sp>
      <p:sp>
        <p:nvSpPr>
          <p:cNvPr id="18" name="Shape 16"/>
          <p:cNvSpPr/>
          <p:nvPr/>
        </p:nvSpPr>
        <p:spPr>
          <a:xfrm>
            <a:off x="6437376" y="2002536"/>
            <a:ext cx="384048" cy="384048"/>
          </a:xfrm>
          <a:prstGeom prst="ellipse">
            <a:avLst/>
          </a:prstGeom>
          <a:solidFill>
            <a:srgbClr val="00A896"/>
          </a:solidFill>
          <a:ln/>
        </p:spPr>
        <p:txBody>
          <a:bodyPr/>
          <a:lstStyle/>
          <a:p>
            <a:endParaRPr lang="fr-FR"/>
          </a:p>
        </p:txBody>
      </p:sp>
      <p:sp>
        <p:nvSpPr>
          <p:cNvPr id="19" name="Text 17"/>
          <p:cNvSpPr/>
          <p:nvPr/>
        </p:nvSpPr>
        <p:spPr>
          <a:xfrm>
            <a:off x="6437376" y="20025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6949440" y="1965960"/>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Obligation légale</a:t>
            </a:r>
            <a:endParaRPr lang="en-US" sz="1150" dirty="0"/>
          </a:p>
        </p:txBody>
      </p:sp>
      <p:sp>
        <p:nvSpPr>
          <p:cNvPr id="21" name="Text 19"/>
          <p:cNvSpPr/>
          <p:nvPr/>
        </p:nvSpPr>
        <p:spPr>
          <a:xfrm>
            <a:off x="6455664" y="2496312"/>
            <a:ext cx="2112264" cy="68580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L'exigence découle-t-elle du RGPD ou d'une norme applicable ?</a:t>
            </a:r>
            <a:endParaRPr lang="en-US" sz="1000" dirty="0"/>
          </a:p>
        </p:txBody>
      </p:sp>
      <p:sp>
        <p:nvSpPr>
          <p:cNvPr id="22" name="Shape 20"/>
          <p:cNvSpPr/>
          <p:nvPr/>
        </p:nvSpPr>
        <p:spPr>
          <a:xfrm>
            <a:off x="9025128" y="1783080"/>
            <a:ext cx="2624328" cy="1600200"/>
          </a:xfrm>
          <a:prstGeom prst="roundRect">
            <a:avLst>
              <a:gd name="adj" fmla="val 3429"/>
            </a:avLst>
          </a:prstGeom>
          <a:solidFill>
            <a:srgbClr val="EEF3F7"/>
          </a:solidFill>
          <a:ln w="12700">
            <a:solidFill>
              <a:srgbClr val="EEF3F7"/>
            </a:solidFill>
            <a:prstDash val="solid"/>
          </a:ln>
        </p:spPr>
        <p:txBody>
          <a:bodyPr/>
          <a:lstStyle/>
          <a:p>
            <a:endParaRPr lang="fr-FR"/>
          </a:p>
        </p:txBody>
      </p:sp>
      <p:sp>
        <p:nvSpPr>
          <p:cNvPr id="23" name="Shape 21"/>
          <p:cNvSpPr/>
          <p:nvPr/>
        </p:nvSpPr>
        <p:spPr>
          <a:xfrm>
            <a:off x="9262872" y="2002536"/>
            <a:ext cx="384048" cy="384048"/>
          </a:xfrm>
          <a:prstGeom prst="ellipse">
            <a:avLst/>
          </a:prstGeom>
          <a:solidFill>
            <a:srgbClr val="00A896"/>
          </a:solidFill>
          <a:ln/>
        </p:spPr>
        <p:txBody>
          <a:bodyPr/>
          <a:lstStyle/>
          <a:p>
            <a:endParaRPr lang="fr-FR"/>
          </a:p>
        </p:txBody>
      </p:sp>
      <p:sp>
        <p:nvSpPr>
          <p:cNvPr id="24" name="Text 22"/>
          <p:cNvSpPr/>
          <p:nvPr/>
        </p:nvSpPr>
        <p:spPr>
          <a:xfrm>
            <a:off x="9262872" y="20025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9774936" y="1965960"/>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Complexité de mise en œuvre</a:t>
            </a:r>
            <a:endParaRPr lang="en-US" sz="1150" dirty="0"/>
          </a:p>
        </p:txBody>
      </p:sp>
      <p:sp>
        <p:nvSpPr>
          <p:cNvPr id="26" name="Text 24"/>
          <p:cNvSpPr/>
          <p:nvPr/>
        </p:nvSpPr>
        <p:spPr>
          <a:xfrm>
            <a:off x="9281160" y="2496312"/>
            <a:ext cx="2112264" cy="68580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Quel effort au regard de la valeur apportée à l'utilisateur final ?</a:t>
            </a:r>
            <a:endParaRPr lang="en-US" sz="1000" dirty="0"/>
          </a:p>
        </p:txBody>
      </p:sp>
      <p:sp>
        <p:nvSpPr>
          <p:cNvPr id="27" name="Text 25"/>
          <p:cNvSpPr/>
          <p:nvPr/>
        </p:nvSpPr>
        <p:spPr>
          <a:xfrm>
            <a:off x="548640" y="361188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Résultat de l'arbitrage</a:t>
            </a:r>
            <a:endParaRPr lang="en-US" sz="1400" dirty="0"/>
          </a:p>
        </p:txBody>
      </p:sp>
      <p:sp>
        <p:nvSpPr>
          <p:cNvPr id="28" name="Shape 26"/>
          <p:cNvSpPr/>
          <p:nvPr/>
        </p:nvSpPr>
        <p:spPr>
          <a:xfrm>
            <a:off x="548640" y="4023360"/>
            <a:ext cx="11064240" cy="603504"/>
          </a:xfrm>
          <a:prstGeom prst="roundRect">
            <a:avLst>
              <a:gd name="adj" fmla="val 9091"/>
            </a:avLst>
          </a:prstGeom>
          <a:solidFill>
            <a:srgbClr val="EEF3F7"/>
          </a:solidFill>
          <a:ln/>
        </p:spPr>
        <p:txBody>
          <a:bodyPr/>
          <a:lstStyle/>
          <a:p>
            <a:endParaRPr lang="fr-FR"/>
          </a:p>
        </p:txBody>
      </p:sp>
      <p:sp>
        <p:nvSpPr>
          <p:cNvPr id="29" name="Shape 27"/>
          <p:cNvSpPr/>
          <p:nvPr/>
        </p:nvSpPr>
        <p:spPr>
          <a:xfrm>
            <a:off x="731520" y="4142232"/>
            <a:ext cx="2286000" cy="365760"/>
          </a:xfrm>
          <a:prstGeom prst="roundRect">
            <a:avLst>
              <a:gd name="adj" fmla="val 12500"/>
            </a:avLst>
          </a:prstGeom>
          <a:solidFill>
            <a:srgbClr val="00A896"/>
          </a:solidFill>
          <a:ln/>
        </p:spPr>
        <p:txBody>
          <a:bodyPr/>
          <a:lstStyle/>
          <a:p>
            <a:endParaRPr lang="fr-FR"/>
          </a:p>
        </p:txBody>
      </p:sp>
      <p:sp>
        <p:nvSpPr>
          <p:cNvPr id="30" name="Text 28"/>
          <p:cNvSpPr/>
          <p:nvPr/>
        </p:nvSpPr>
        <p:spPr>
          <a:xfrm>
            <a:off x="731520" y="4142232"/>
            <a:ext cx="22860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MVP — priorité haute</a:t>
            </a:r>
            <a:endParaRPr lang="en-US" sz="1050" dirty="0"/>
          </a:p>
        </p:txBody>
      </p:sp>
      <p:sp>
        <p:nvSpPr>
          <p:cNvPr id="31" name="Text 29"/>
          <p:cNvSpPr/>
          <p:nvPr/>
        </p:nvSpPr>
        <p:spPr>
          <a:xfrm>
            <a:off x="3200400" y="4023360"/>
            <a:ext cx="8138160" cy="603504"/>
          </a:xfrm>
          <a:prstGeom prst="rect">
            <a:avLst/>
          </a:prstGeom>
          <a:noFill/>
          <a:ln/>
        </p:spPr>
        <p:txBody>
          <a:bodyPr wrap="square" lIns="0" tIns="0" rIns="0" bIns="0" rtlCol="0" anchor="ctr"/>
          <a:lstStyle/>
          <a:p>
            <a:pPr marL="0" indent="0">
              <a:buNone/>
            </a:pPr>
            <a:r>
              <a:rPr lang="en-US" sz="1100" dirty="0">
                <a:solidFill>
                  <a:srgbClr val="4A5769"/>
                </a:solidFill>
                <a:latin typeface="Calibri" pitchFamily="34" charset="0"/>
                <a:ea typeface="Calibri" pitchFamily="34" charset="-122"/>
                <a:cs typeface="Calibri" pitchFamily="34" charset="-120"/>
              </a:rPr>
              <a:t>Authentification sécurisée · Téléversement en flux · Bibliothèque privée · Publication sélective · Profil public</a:t>
            </a:r>
            <a:endParaRPr lang="en-US" sz="1100" dirty="0"/>
          </a:p>
        </p:txBody>
      </p:sp>
      <p:sp>
        <p:nvSpPr>
          <p:cNvPr id="32" name="Shape 30"/>
          <p:cNvSpPr/>
          <p:nvPr/>
        </p:nvSpPr>
        <p:spPr>
          <a:xfrm>
            <a:off x="548640" y="4736592"/>
            <a:ext cx="11064240" cy="603504"/>
          </a:xfrm>
          <a:prstGeom prst="roundRect">
            <a:avLst>
              <a:gd name="adj" fmla="val 9091"/>
            </a:avLst>
          </a:prstGeom>
          <a:solidFill>
            <a:srgbClr val="EEF3F7"/>
          </a:solidFill>
          <a:ln/>
        </p:spPr>
        <p:txBody>
          <a:bodyPr/>
          <a:lstStyle/>
          <a:p>
            <a:endParaRPr lang="fr-FR"/>
          </a:p>
        </p:txBody>
      </p:sp>
      <p:sp>
        <p:nvSpPr>
          <p:cNvPr id="33" name="Shape 31"/>
          <p:cNvSpPr/>
          <p:nvPr/>
        </p:nvSpPr>
        <p:spPr>
          <a:xfrm>
            <a:off x="731520" y="4855464"/>
            <a:ext cx="2286000" cy="365760"/>
          </a:xfrm>
          <a:prstGeom prst="roundRect">
            <a:avLst>
              <a:gd name="adj" fmla="val 12500"/>
            </a:avLst>
          </a:prstGeom>
          <a:solidFill>
            <a:srgbClr val="3D7CA8"/>
          </a:solidFill>
          <a:ln/>
        </p:spPr>
        <p:txBody>
          <a:bodyPr/>
          <a:lstStyle/>
          <a:p>
            <a:endParaRPr lang="fr-FR"/>
          </a:p>
        </p:txBody>
      </p:sp>
      <p:sp>
        <p:nvSpPr>
          <p:cNvPr id="34" name="Text 32"/>
          <p:cNvSpPr/>
          <p:nvPr/>
        </p:nvSpPr>
        <p:spPr>
          <a:xfrm>
            <a:off x="731520" y="4855464"/>
            <a:ext cx="22860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Priorité moyenne</a:t>
            </a:r>
            <a:endParaRPr lang="en-US" sz="1050" dirty="0"/>
          </a:p>
        </p:txBody>
      </p:sp>
      <p:sp>
        <p:nvSpPr>
          <p:cNvPr id="35" name="Text 33"/>
          <p:cNvSpPr/>
          <p:nvPr/>
        </p:nvSpPr>
        <p:spPr>
          <a:xfrm>
            <a:off x="3200400" y="4736592"/>
            <a:ext cx="8138160" cy="603504"/>
          </a:xfrm>
          <a:prstGeom prst="rect">
            <a:avLst/>
          </a:prstGeom>
          <a:noFill/>
          <a:ln/>
        </p:spPr>
        <p:txBody>
          <a:bodyPr wrap="square" lIns="0" tIns="0" rIns="0" bIns="0" rtlCol="0" anchor="ctr"/>
          <a:lstStyle/>
          <a:p>
            <a:pPr marL="0" indent="0">
              <a:buNone/>
            </a:pPr>
            <a:r>
              <a:rPr lang="en-US" sz="1100" dirty="0">
                <a:solidFill>
                  <a:srgbClr val="4A5769"/>
                </a:solidFill>
                <a:latin typeface="Calibri" pitchFamily="34" charset="0"/>
                <a:ea typeface="Calibri" pitchFamily="34" charset="-122"/>
                <a:cs typeface="Calibri" pitchFamily="34" charset="-120"/>
              </a:rPr>
              <a:t>Albums et placements ordonnés · Fil social et abonnements · Recherche de profils</a:t>
            </a:r>
            <a:endParaRPr lang="en-US" sz="1100" dirty="0"/>
          </a:p>
        </p:txBody>
      </p:sp>
      <p:sp>
        <p:nvSpPr>
          <p:cNvPr id="36" name="Shape 34"/>
          <p:cNvSpPr/>
          <p:nvPr/>
        </p:nvSpPr>
        <p:spPr>
          <a:xfrm>
            <a:off x="548640" y="5449824"/>
            <a:ext cx="11064240" cy="603504"/>
          </a:xfrm>
          <a:prstGeom prst="roundRect">
            <a:avLst>
              <a:gd name="adj" fmla="val 9091"/>
            </a:avLst>
          </a:prstGeom>
          <a:solidFill>
            <a:srgbClr val="EEF3F7"/>
          </a:solidFill>
          <a:ln/>
        </p:spPr>
        <p:txBody>
          <a:bodyPr/>
          <a:lstStyle/>
          <a:p>
            <a:endParaRPr lang="fr-FR"/>
          </a:p>
        </p:txBody>
      </p:sp>
      <p:sp>
        <p:nvSpPr>
          <p:cNvPr id="37" name="Shape 35"/>
          <p:cNvSpPr/>
          <p:nvPr/>
        </p:nvSpPr>
        <p:spPr>
          <a:xfrm>
            <a:off x="731520" y="5568696"/>
            <a:ext cx="2286000" cy="365760"/>
          </a:xfrm>
          <a:prstGeom prst="roundRect">
            <a:avLst>
              <a:gd name="adj" fmla="val 12500"/>
            </a:avLst>
          </a:prstGeom>
          <a:solidFill>
            <a:srgbClr val="8797AB"/>
          </a:solidFill>
          <a:ln/>
        </p:spPr>
        <p:txBody>
          <a:bodyPr/>
          <a:lstStyle/>
          <a:p>
            <a:endParaRPr lang="fr-FR"/>
          </a:p>
        </p:txBody>
      </p:sp>
      <p:sp>
        <p:nvSpPr>
          <p:cNvPr id="38" name="Text 36"/>
          <p:cNvSpPr/>
          <p:nvPr/>
        </p:nvSpPr>
        <p:spPr>
          <a:xfrm>
            <a:off x="731520" y="5568696"/>
            <a:ext cx="22860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Priorité basse (hors MVP)</a:t>
            </a:r>
            <a:endParaRPr lang="en-US" sz="1050" dirty="0"/>
          </a:p>
        </p:txBody>
      </p:sp>
      <p:sp>
        <p:nvSpPr>
          <p:cNvPr id="39" name="Text 37"/>
          <p:cNvSpPr/>
          <p:nvPr/>
        </p:nvSpPr>
        <p:spPr>
          <a:xfrm>
            <a:off x="3200400" y="5449824"/>
            <a:ext cx="8138160" cy="603504"/>
          </a:xfrm>
          <a:prstGeom prst="rect">
            <a:avLst/>
          </a:prstGeom>
          <a:noFill/>
          <a:ln/>
        </p:spPr>
        <p:txBody>
          <a:bodyPr wrap="square" lIns="0" tIns="0" rIns="0" bIns="0" rtlCol="0" anchor="ctr"/>
          <a:lstStyle/>
          <a:p>
            <a:pPr marL="0" indent="0">
              <a:buNone/>
            </a:pPr>
            <a:r>
              <a:rPr lang="en-US" sz="1100" dirty="0">
                <a:solidFill>
                  <a:srgbClr val="4A5769"/>
                </a:solidFill>
                <a:latin typeface="Calibri" pitchFamily="34" charset="0"/>
                <a:ea typeface="Calibri" pitchFamily="34" charset="-122"/>
                <a:cs typeface="Calibri" pitchFamily="34" charset="-120"/>
              </a:rPr>
              <a:t>Clé d'API · Paramètres avancés · Statistiques publiques · Téléchargement de ses médias</a:t>
            </a:r>
            <a:endParaRPr lang="en-US" sz="1100" dirty="0"/>
          </a:p>
        </p:txBody>
      </p:sp>
      <p:sp>
        <p:nvSpPr>
          <p:cNvPr id="40" name="Text 38"/>
          <p:cNvSpPr/>
          <p:nvPr/>
        </p:nvSpPr>
        <p:spPr>
          <a:xfrm>
            <a:off x="548640" y="6217920"/>
            <a:ext cx="11064240" cy="274320"/>
          </a:xfrm>
          <a:prstGeom prst="rect">
            <a:avLst/>
          </a:prstGeom>
          <a:noFill/>
          <a:ln/>
        </p:spPr>
        <p:txBody>
          <a:bodyPr wrap="square" lIns="0" tIns="0" rIns="0" bIns="0" rtlCol="0" anchor="ctr"/>
          <a:lstStyle/>
          <a:p>
            <a:pPr marL="0" indent="0">
              <a:buNone/>
            </a:pPr>
            <a:r>
              <a:rPr lang="en-US" sz="1050" i="1" dirty="0">
                <a:solidFill>
                  <a:srgbClr val="00A896"/>
                </a:solidFill>
                <a:latin typeface="Calibri" pitchFamily="34" charset="0"/>
                <a:ea typeface="Calibri" pitchFamily="34" charset="-122"/>
                <a:cs typeface="Calibri" pitchFamily="34" charset="-120"/>
              </a:rPr>
              <a:t>La suppression de compte, secondaire à l'usage, est traitée en priorité haute : elle matérialise une obligation légale (droit à l'effacement).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4.3 EXIGENCES SPÉCIFIQUES : SÉCURITÉ ET TRAITEMENT DES DONNÉES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Contrôles d'accès, chiffrement, sauvegarde et conformité</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48640" y="1444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64208"/>
            <a:ext cx="384048" cy="384048"/>
          </a:xfrm>
          <a:prstGeom prst="ellipse">
            <a:avLst/>
          </a:prstGeom>
          <a:solidFill>
            <a:srgbClr val="00A896"/>
          </a:solidFill>
          <a:ln/>
        </p:spPr>
        <p:txBody>
          <a:bodyPr/>
          <a:lstStyle/>
          <a:p>
            <a:endParaRPr lang="fr-FR"/>
          </a:p>
        </p:txBody>
      </p:sp>
      <p:sp>
        <p:nvSpPr>
          <p:cNvPr id="8" name="Text 6"/>
          <p:cNvSpPr/>
          <p:nvPr/>
        </p:nvSpPr>
        <p:spPr>
          <a:xfrm>
            <a:off x="786384"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27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Authentification</a:t>
            </a:r>
            <a:endParaRPr lang="en-US" sz="1250" dirty="0"/>
          </a:p>
        </p:txBody>
      </p:sp>
      <p:sp>
        <p:nvSpPr>
          <p:cNvPr id="10" name="Text 8"/>
          <p:cNvSpPr/>
          <p:nvPr/>
        </p:nvSpPr>
        <p:spPr>
          <a:xfrm>
            <a:off x="804672" y="2157984"/>
            <a:ext cx="3008376" cy="118872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Argon2id (memory-hard) pour le hachage des mots de passe. Sessions opaques sid.nonce : aucune donnée exploitable côté navigateur, référence vers un état Redis.</a:t>
            </a:r>
            <a:endParaRPr lang="en-US" sz="1000" dirty="0"/>
          </a:p>
        </p:txBody>
      </p:sp>
      <p:sp>
        <p:nvSpPr>
          <p:cNvPr id="11" name="Shape 9"/>
          <p:cNvSpPr/>
          <p:nvPr/>
        </p:nvSpPr>
        <p:spPr>
          <a:xfrm>
            <a:off x="4334256" y="1444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4572000" y="1664208"/>
            <a:ext cx="384048" cy="384048"/>
          </a:xfrm>
          <a:prstGeom prst="ellipse">
            <a:avLst/>
          </a:prstGeom>
          <a:solidFill>
            <a:srgbClr val="00A896"/>
          </a:solidFill>
          <a:ln/>
        </p:spPr>
        <p:txBody>
          <a:bodyPr/>
          <a:lstStyle/>
          <a:p>
            <a:endParaRPr lang="fr-FR"/>
          </a:p>
        </p:txBody>
      </p:sp>
      <p:sp>
        <p:nvSpPr>
          <p:cNvPr id="13" name="Text 11"/>
          <p:cNvSpPr/>
          <p:nvPr/>
        </p:nvSpPr>
        <p:spPr>
          <a:xfrm>
            <a:off x="4572000"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84064" y="1627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Cycle de vie des sessions</a:t>
            </a:r>
            <a:endParaRPr lang="en-US" sz="1250" dirty="0"/>
          </a:p>
        </p:txBody>
      </p:sp>
      <p:sp>
        <p:nvSpPr>
          <p:cNvPr id="15" name="Text 13"/>
          <p:cNvSpPr/>
          <p:nvPr/>
        </p:nvSpPr>
        <p:spPr>
          <a:xfrm>
            <a:off x="4590288" y="2157984"/>
            <a:ext cx="3008376" cy="118872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Rotation par nonce à chaque rafraîchissement, détection de rejeu déclenchant la révocation de la lignée, compteur tokenVersion pour révocation globale immédiate.</a:t>
            </a:r>
            <a:endParaRPr lang="en-US" sz="1000" dirty="0"/>
          </a:p>
        </p:txBody>
      </p:sp>
      <p:sp>
        <p:nvSpPr>
          <p:cNvPr id="16" name="Shape 14"/>
          <p:cNvSpPr/>
          <p:nvPr/>
        </p:nvSpPr>
        <p:spPr>
          <a:xfrm>
            <a:off x="8119872" y="1444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8357616" y="1664208"/>
            <a:ext cx="384048" cy="384048"/>
          </a:xfrm>
          <a:prstGeom prst="ellipse">
            <a:avLst/>
          </a:prstGeom>
          <a:solidFill>
            <a:srgbClr val="00A896"/>
          </a:solidFill>
          <a:ln/>
        </p:spPr>
        <p:txBody>
          <a:bodyPr/>
          <a:lstStyle/>
          <a:p>
            <a:endParaRPr lang="fr-FR"/>
          </a:p>
        </p:txBody>
      </p:sp>
      <p:sp>
        <p:nvSpPr>
          <p:cNvPr id="18" name="Text 16"/>
          <p:cNvSpPr/>
          <p:nvPr/>
        </p:nvSpPr>
        <p:spPr>
          <a:xfrm>
            <a:off x="8357616"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69680" y="1627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Fenêtres de validité</a:t>
            </a:r>
            <a:endParaRPr lang="en-US" sz="1250" dirty="0"/>
          </a:p>
        </p:txBody>
      </p:sp>
      <p:sp>
        <p:nvSpPr>
          <p:cNvPr id="20" name="Text 18"/>
          <p:cNvSpPr/>
          <p:nvPr/>
        </p:nvSpPr>
        <p:spPr>
          <a:xfrm>
            <a:off x="8375904" y="2157984"/>
            <a:ext cx="3008376" cy="118872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Glissante 30 min · absolue 8 h · jeton d'accès 5 min — arbitrage entre confort d'usage et surface d'attaque réduite.</a:t>
            </a:r>
            <a:endParaRPr lang="en-US" sz="1000" dirty="0"/>
          </a:p>
        </p:txBody>
      </p:sp>
      <p:sp>
        <p:nvSpPr>
          <p:cNvPr id="21" name="Shape 19"/>
          <p:cNvSpPr/>
          <p:nvPr/>
        </p:nvSpPr>
        <p:spPr>
          <a:xfrm>
            <a:off x="548640" y="3730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22" name="Shape 20"/>
          <p:cNvSpPr/>
          <p:nvPr/>
        </p:nvSpPr>
        <p:spPr>
          <a:xfrm>
            <a:off x="786384" y="3950208"/>
            <a:ext cx="384048" cy="384048"/>
          </a:xfrm>
          <a:prstGeom prst="ellipse">
            <a:avLst/>
          </a:prstGeom>
          <a:solidFill>
            <a:srgbClr val="00A896"/>
          </a:solidFill>
          <a:ln/>
        </p:spPr>
        <p:txBody>
          <a:bodyPr/>
          <a:lstStyle/>
          <a:p>
            <a:endParaRPr lang="fr-FR"/>
          </a:p>
        </p:txBody>
      </p:sp>
      <p:sp>
        <p:nvSpPr>
          <p:cNvPr id="23" name="Text 21"/>
          <p:cNvSpPr/>
          <p:nvPr/>
        </p:nvSpPr>
        <p:spPr>
          <a:xfrm>
            <a:off x="786384"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298448" y="3913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Contrôle d'accès</a:t>
            </a:r>
            <a:endParaRPr lang="en-US" sz="1250" dirty="0"/>
          </a:p>
        </p:txBody>
      </p:sp>
      <p:sp>
        <p:nvSpPr>
          <p:cNvPr id="25" name="Text 23"/>
          <p:cNvSpPr/>
          <p:nvPr/>
        </p:nvSpPr>
        <p:spPr>
          <a:xfrm>
            <a:off x="804672" y="4443984"/>
            <a:ext cx="3008376" cy="118872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Validation systématique en liste blanche (toute propriété non déclarée est rejetée), clause d'appartenance sur chaque opération, secrets exclus des lectures par défaut au niveau du modèle.</a:t>
            </a:r>
            <a:endParaRPr lang="en-US" sz="1000" dirty="0"/>
          </a:p>
        </p:txBody>
      </p:sp>
      <p:sp>
        <p:nvSpPr>
          <p:cNvPr id="26" name="Shape 24"/>
          <p:cNvSpPr/>
          <p:nvPr/>
        </p:nvSpPr>
        <p:spPr>
          <a:xfrm>
            <a:off x="4334256" y="3730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27" name="Shape 25"/>
          <p:cNvSpPr/>
          <p:nvPr/>
        </p:nvSpPr>
        <p:spPr>
          <a:xfrm>
            <a:off x="4572000" y="3950208"/>
            <a:ext cx="384048" cy="384048"/>
          </a:xfrm>
          <a:prstGeom prst="ellipse">
            <a:avLst/>
          </a:prstGeom>
          <a:solidFill>
            <a:srgbClr val="00A896"/>
          </a:solidFill>
          <a:ln/>
        </p:spPr>
        <p:txBody>
          <a:bodyPr/>
          <a:lstStyle/>
          <a:p>
            <a:endParaRPr lang="fr-FR"/>
          </a:p>
        </p:txBody>
      </p:sp>
      <p:sp>
        <p:nvSpPr>
          <p:cNvPr id="28" name="Text 26"/>
          <p:cNvSpPr/>
          <p:nvPr/>
        </p:nvSpPr>
        <p:spPr>
          <a:xfrm>
            <a:off x="4572000"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5084064" y="3913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Chiffrement</a:t>
            </a:r>
            <a:endParaRPr lang="en-US" sz="1250" dirty="0"/>
          </a:p>
        </p:txBody>
      </p:sp>
      <p:sp>
        <p:nvSpPr>
          <p:cNvPr id="30" name="Text 28"/>
          <p:cNvSpPr/>
          <p:nvPr/>
        </p:nvSpPr>
        <p:spPr>
          <a:xfrm>
            <a:off x="4590288" y="4443984"/>
            <a:ext cx="3008376" cy="118872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AES-256 au repos sur tous les buckets, transport systématiquement chiffré, politique refusant explicitement toute connexion non sécurisée, TLS strict en périphérie.</a:t>
            </a:r>
            <a:endParaRPr lang="en-US" sz="1000" dirty="0"/>
          </a:p>
        </p:txBody>
      </p:sp>
      <p:sp>
        <p:nvSpPr>
          <p:cNvPr id="31" name="Shape 29"/>
          <p:cNvSpPr/>
          <p:nvPr/>
        </p:nvSpPr>
        <p:spPr>
          <a:xfrm>
            <a:off x="8119872" y="3730752"/>
            <a:ext cx="3520440" cy="2103120"/>
          </a:xfrm>
          <a:prstGeom prst="roundRect">
            <a:avLst>
              <a:gd name="adj" fmla="val 2609"/>
            </a:avLst>
          </a:prstGeom>
          <a:solidFill>
            <a:srgbClr val="EEF3F7"/>
          </a:solidFill>
          <a:ln w="12700">
            <a:solidFill>
              <a:srgbClr val="EEF3F7"/>
            </a:solidFill>
            <a:prstDash val="solid"/>
          </a:ln>
        </p:spPr>
        <p:txBody>
          <a:bodyPr/>
          <a:lstStyle/>
          <a:p>
            <a:endParaRPr lang="fr-FR"/>
          </a:p>
        </p:txBody>
      </p:sp>
      <p:sp>
        <p:nvSpPr>
          <p:cNvPr id="32" name="Shape 30"/>
          <p:cNvSpPr/>
          <p:nvPr/>
        </p:nvSpPr>
        <p:spPr>
          <a:xfrm>
            <a:off x="8357616" y="3950208"/>
            <a:ext cx="384048" cy="384048"/>
          </a:xfrm>
          <a:prstGeom prst="ellipse">
            <a:avLst/>
          </a:prstGeom>
          <a:solidFill>
            <a:srgbClr val="00A896"/>
          </a:solidFill>
          <a:ln/>
        </p:spPr>
        <p:txBody>
          <a:bodyPr/>
          <a:lstStyle/>
          <a:p>
            <a:endParaRPr lang="fr-FR"/>
          </a:p>
        </p:txBody>
      </p:sp>
      <p:sp>
        <p:nvSpPr>
          <p:cNvPr id="33" name="Text 31"/>
          <p:cNvSpPr/>
          <p:nvPr/>
        </p:nvSpPr>
        <p:spPr>
          <a:xfrm>
            <a:off x="8357616"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8869680" y="3913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Sauvegarde &amp; effacement</a:t>
            </a:r>
            <a:endParaRPr lang="en-US" sz="1250" dirty="0"/>
          </a:p>
        </p:txBody>
      </p:sp>
      <p:sp>
        <p:nvSpPr>
          <p:cNvPr id="35" name="Text 33"/>
          <p:cNvSpPr/>
          <p:nvPr/>
        </p:nvSpPr>
        <p:spPr>
          <a:xfrm>
            <a:off x="8375904" y="4443984"/>
            <a:ext cx="3008376" cy="118872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Versionnage S3 + Object Lock (GOVERNANCE), cycle de vie vers Glacier. Suppression en cascade base + objet + sessions : droit à l'effacement RGPD.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4.4 VALIDATION DES BESOINS AVEC LES PARTIES PRENANTES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Quatre acteurs, trois revues, une traçabilité</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48640" y="1444752"/>
            <a:ext cx="2624328" cy="1554480"/>
          </a:xfrm>
          <a:prstGeom prst="roundRect">
            <a:avLst>
              <a:gd name="adj" fmla="val 3529"/>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64208"/>
            <a:ext cx="384048" cy="384048"/>
          </a:xfrm>
          <a:prstGeom prst="ellipse">
            <a:avLst/>
          </a:prstGeom>
          <a:solidFill>
            <a:srgbClr val="00A896"/>
          </a:solidFill>
          <a:ln/>
        </p:spPr>
        <p:txBody>
          <a:bodyPr/>
          <a:lstStyle/>
          <a:p>
            <a:endParaRPr lang="fr-FR"/>
          </a:p>
        </p:txBody>
      </p:sp>
      <p:sp>
        <p:nvSpPr>
          <p:cNvPr id="8" name="Text 6"/>
          <p:cNvSpPr/>
          <p:nvPr/>
        </p:nvSpPr>
        <p:spPr>
          <a:xfrm>
            <a:off x="786384"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Porteur du produit</a:t>
            </a:r>
            <a:endParaRPr lang="en-US" sz="1150" dirty="0"/>
          </a:p>
        </p:txBody>
      </p:sp>
      <p:sp>
        <p:nvSpPr>
          <p:cNvPr id="10" name="Text 8"/>
          <p:cNvSpPr/>
          <p:nvPr/>
        </p:nvSpPr>
        <p:spPr>
          <a:xfrm>
            <a:off x="804672" y="2157984"/>
            <a:ext cx="2112264" cy="64008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Garant de la vision et de la priorisation</a:t>
            </a:r>
            <a:endParaRPr lang="en-US" sz="1000" dirty="0"/>
          </a:p>
        </p:txBody>
      </p:sp>
      <p:sp>
        <p:nvSpPr>
          <p:cNvPr id="11" name="Shape 9"/>
          <p:cNvSpPr/>
          <p:nvPr/>
        </p:nvSpPr>
        <p:spPr>
          <a:xfrm>
            <a:off x="3374136" y="1444752"/>
            <a:ext cx="2624328" cy="1554480"/>
          </a:xfrm>
          <a:prstGeom prst="roundRect">
            <a:avLst>
              <a:gd name="adj" fmla="val 3529"/>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3611880" y="1664208"/>
            <a:ext cx="384048" cy="384048"/>
          </a:xfrm>
          <a:prstGeom prst="ellipse">
            <a:avLst/>
          </a:prstGeom>
          <a:solidFill>
            <a:srgbClr val="00A896"/>
          </a:solidFill>
          <a:ln/>
        </p:spPr>
        <p:txBody>
          <a:bodyPr/>
          <a:lstStyle/>
          <a:p>
            <a:endParaRPr lang="fr-FR"/>
          </a:p>
        </p:txBody>
      </p:sp>
      <p:sp>
        <p:nvSpPr>
          <p:cNvPr id="13" name="Text 11"/>
          <p:cNvSpPr/>
          <p:nvPr/>
        </p:nvSpPr>
        <p:spPr>
          <a:xfrm>
            <a:off x="3611880"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123944"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Utilisateurs cibles</a:t>
            </a:r>
            <a:endParaRPr lang="en-US" sz="1150" dirty="0"/>
          </a:p>
        </p:txBody>
      </p:sp>
      <p:sp>
        <p:nvSpPr>
          <p:cNvPr id="15" name="Text 13"/>
          <p:cNvSpPr/>
          <p:nvPr/>
        </p:nvSpPr>
        <p:spPr>
          <a:xfrm>
            <a:off x="3630168" y="2157984"/>
            <a:ext cx="2112264" cy="64008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Créateurs soucieux de la maîtrise de leur contenu — attentes traduites en scénarios</a:t>
            </a:r>
            <a:endParaRPr lang="en-US" sz="1000" dirty="0"/>
          </a:p>
        </p:txBody>
      </p:sp>
      <p:sp>
        <p:nvSpPr>
          <p:cNvPr id="16" name="Shape 14"/>
          <p:cNvSpPr/>
          <p:nvPr/>
        </p:nvSpPr>
        <p:spPr>
          <a:xfrm>
            <a:off x="6199632" y="1444752"/>
            <a:ext cx="2624328" cy="1554480"/>
          </a:xfrm>
          <a:prstGeom prst="roundRect">
            <a:avLst>
              <a:gd name="adj" fmla="val 3529"/>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6437376" y="1664208"/>
            <a:ext cx="384048" cy="384048"/>
          </a:xfrm>
          <a:prstGeom prst="ellipse">
            <a:avLst/>
          </a:prstGeom>
          <a:solidFill>
            <a:srgbClr val="00A896"/>
          </a:solidFill>
          <a:ln/>
        </p:spPr>
        <p:txBody>
          <a:bodyPr/>
          <a:lstStyle/>
          <a:p>
            <a:endParaRPr lang="fr-FR"/>
          </a:p>
        </p:txBody>
      </p:sp>
      <p:sp>
        <p:nvSpPr>
          <p:cNvPr id="18" name="Text 16"/>
          <p:cNvSpPr/>
          <p:nvPr/>
        </p:nvSpPr>
        <p:spPr>
          <a:xfrm>
            <a:off x="6437376"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949440"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Sponsor du projet</a:t>
            </a:r>
            <a:endParaRPr lang="en-US" sz="1150" dirty="0"/>
          </a:p>
        </p:txBody>
      </p:sp>
      <p:sp>
        <p:nvSpPr>
          <p:cNvPr id="20" name="Text 18"/>
          <p:cNvSpPr/>
          <p:nvPr/>
        </p:nvSpPr>
        <p:spPr>
          <a:xfrm>
            <a:off x="6455664" y="2157984"/>
            <a:ext cx="2112264" cy="64008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Attentif à la maîtrise des coûts et au respect des délais</a:t>
            </a:r>
            <a:endParaRPr lang="en-US" sz="1000" dirty="0"/>
          </a:p>
        </p:txBody>
      </p:sp>
      <p:sp>
        <p:nvSpPr>
          <p:cNvPr id="21" name="Shape 19"/>
          <p:cNvSpPr/>
          <p:nvPr/>
        </p:nvSpPr>
        <p:spPr>
          <a:xfrm>
            <a:off x="9025128" y="1444752"/>
            <a:ext cx="2624328" cy="1554480"/>
          </a:xfrm>
          <a:prstGeom prst="roundRect">
            <a:avLst>
              <a:gd name="adj" fmla="val 3529"/>
            </a:avLst>
          </a:prstGeom>
          <a:solidFill>
            <a:srgbClr val="EEF3F7"/>
          </a:solidFill>
          <a:ln w="12700">
            <a:solidFill>
              <a:srgbClr val="EEF3F7"/>
            </a:solidFill>
            <a:prstDash val="solid"/>
          </a:ln>
        </p:spPr>
        <p:txBody>
          <a:bodyPr/>
          <a:lstStyle/>
          <a:p>
            <a:endParaRPr lang="fr-FR"/>
          </a:p>
        </p:txBody>
      </p:sp>
      <p:sp>
        <p:nvSpPr>
          <p:cNvPr id="22" name="Shape 20"/>
          <p:cNvSpPr/>
          <p:nvPr/>
        </p:nvSpPr>
        <p:spPr>
          <a:xfrm>
            <a:off x="9262872" y="1664208"/>
            <a:ext cx="384048" cy="384048"/>
          </a:xfrm>
          <a:prstGeom prst="ellipse">
            <a:avLst/>
          </a:prstGeom>
          <a:solidFill>
            <a:srgbClr val="00A896"/>
          </a:solidFill>
          <a:ln/>
        </p:spPr>
        <p:txBody>
          <a:bodyPr/>
          <a:lstStyle/>
          <a:p>
            <a:endParaRPr lang="fr-FR"/>
          </a:p>
        </p:txBody>
      </p:sp>
      <p:sp>
        <p:nvSpPr>
          <p:cNvPr id="23" name="Text 21"/>
          <p:cNvSpPr/>
          <p:nvPr/>
        </p:nvSpPr>
        <p:spPr>
          <a:xfrm>
            <a:off x="9262872"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774936" y="1627632"/>
            <a:ext cx="1618488"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Référent protection des données</a:t>
            </a:r>
            <a:endParaRPr lang="en-US" sz="1150" dirty="0"/>
          </a:p>
        </p:txBody>
      </p:sp>
      <p:sp>
        <p:nvSpPr>
          <p:cNvPr id="25" name="Text 23"/>
          <p:cNvSpPr/>
          <p:nvPr/>
        </p:nvSpPr>
        <p:spPr>
          <a:xfrm>
            <a:off x="9281160" y="2157984"/>
            <a:ext cx="2112264" cy="640080"/>
          </a:xfrm>
          <a:prstGeom prst="rect">
            <a:avLst/>
          </a:prstGeom>
          <a:noFill/>
          <a:ln/>
        </p:spPr>
        <p:txBody>
          <a:bodyPr wrap="square" lIns="0" tIns="0" rIns="0" bIns="0" rtlCol="0" anchor="ctr"/>
          <a:lstStyle/>
          <a:p>
            <a:pPr marL="0" indent="0">
              <a:lnSpc>
                <a:spcPts val="1500"/>
              </a:lnSpc>
              <a:buNone/>
            </a:pPr>
            <a:r>
              <a:rPr lang="en-US" sz="1000" dirty="0">
                <a:solidFill>
                  <a:srgbClr val="4A5769"/>
                </a:solidFill>
                <a:latin typeface="Calibri" pitchFamily="34" charset="0"/>
                <a:ea typeface="Calibri" pitchFamily="34" charset="-122"/>
                <a:cs typeface="Calibri" pitchFamily="34" charset="-120"/>
              </a:rPr>
              <a:t>Garant de la conformité au RGPD</a:t>
            </a:r>
            <a:endParaRPr lang="en-US" sz="1000" dirty="0"/>
          </a:p>
        </p:txBody>
      </p:sp>
      <p:sp>
        <p:nvSpPr>
          <p:cNvPr id="26" name="Text 24"/>
          <p:cNvSpPr/>
          <p:nvPr/>
        </p:nvSpPr>
        <p:spPr>
          <a:xfrm>
            <a:off x="548640" y="324612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Le processus de validation</a:t>
            </a:r>
            <a:endParaRPr lang="en-US" sz="1400" dirty="0"/>
          </a:p>
        </p:txBody>
      </p:sp>
      <p:sp>
        <p:nvSpPr>
          <p:cNvPr id="27" name="Shape 25"/>
          <p:cNvSpPr/>
          <p:nvPr/>
        </p:nvSpPr>
        <p:spPr>
          <a:xfrm>
            <a:off x="548640" y="3639312"/>
            <a:ext cx="3520440" cy="1234440"/>
          </a:xfrm>
          <a:prstGeom prst="roundRect">
            <a:avLst>
              <a:gd name="adj" fmla="val 4444"/>
            </a:avLst>
          </a:prstGeom>
          <a:solidFill>
            <a:srgbClr val="12263F"/>
          </a:solidFill>
          <a:ln/>
        </p:spPr>
        <p:txBody>
          <a:bodyPr/>
          <a:lstStyle/>
          <a:p>
            <a:endParaRPr lang="fr-FR"/>
          </a:p>
        </p:txBody>
      </p:sp>
      <p:sp>
        <p:nvSpPr>
          <p:cNvPr id="28" name="Text 26"/>
          <p:cNvSpPr/>
          <p:nvPr/>
        </p:nvSpPr>
        <p:spPr>
          <a:xfrm>
            <a:off x="768096" y="3785616"/>
            <a:ext cx="3108960" cy="45720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Revue des cas d'utilisation</a:t>
            </a:r>
            <a:endParaRPr lang="en-US" sz="1200" dirty="0"/>
          </a:p>
        </p:txBody>
      </p:sp>
      <p:sp>
        <p:nvSpPr>
          <p:cNvPr id="29" name="Text 27"/>
          <p:cNvSpPr/>
          <p:nvPr/>
        </p:nvSpPr>
        <p:spPr>
          <a:xfrm>
            <a:off x="768096" y="4261104"/>
            <a:ext cx="3108960" cy="54864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Confirmation du périmètre fonctionnel et des critères d'acceptation</a:t>
            </a:r>
            <a:endParaRPr lang="en-US" sz="1000" dirty="0"/>
          </a:p>
        </p:txBody>
      </p:sp>
      <p:sp>
        <p:nvSpPr>
          <p:cNvPr id="30" name="Shape 28"/>
          <p:cNvSpPr/>
          <p:nvPr/>
        </p:nvSpPr>
        <p:spPr>
          <a:xfrm>
            <a:off x="4334256" y="3639312"/>
            <a:ext cx="3520440" cy="1234440"/>
          </a:xfrm>
          <a:prstGeom prst="roundRect">
            <a:avLst>
              <a:gd name="adj" fmla="val 4444"/>
            </a:avLst>
          </a:prstGeom>
          <a:solidFill>
            <a:srgbClr val="12263F"/>
          </a:solidFill>
          <a:ln/>
        </p:spPr>
        <p:txBody>
          <a:bodyPr/>
          <a:lstStyle/>
          <a:p>
            <a:endParaRPr lang="fr-FR"/>
          </a:p>
        </p:txBody>
      </p:sp>
      <p:sp>
        <p:nvSpPr>
          <p:cNvPr id="31" name="Text 29"/>
          <p:cNvSpPr/>
          <p:nvPr/>
        </p:nvSpPr>
        <p:spPr>
          <a:xfrm>
            <a:off x="4553712" y="3785616"/>
            <a:ext cx="3108960" cy="45720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Revue des exigences non fonctionnelles</a:t>
            </a:r>
            <a:endParaRPr lang="en-US" sz="1200" dirty="0"/>
          </a:p>
        </p:txBody>
      </p:sp>
      <p:sp>
        <p:nvSpPr>
          <p:cNvPr id="32" name="Text 30"/>
          <p:cNvSpPr/>
          <p:nvPr/>
        </p:nvSpPr>
        <p:spPr>
          <a:xfrm>
            <a:off x="4553712" y="4261104"/>
            <a:ext cx="3108960" cy="54864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Arbitrage des priorités : performance, sécurité, sobriété, disponibilité, vie privée</a:t>
            </a:r>
            <a:endParaRPr lang="en-US" sz="1000" dirty="0"/>
          </a:p>
        </p:txBody>
      </p:sp>
      <p:sp>
        <p:nvSpPr>
          <p:cNvPr id="33" name="Shape 31"/>
          <p:cNvSpPr/>
          <p:nvPr/>
        </p:nvSpPr>
        <p:spPr>
          <a:xfrm>
            <a:off x="8119872" y="3639312"/>
            <a:ext cx="3520440" cy="1234440"/>
          </a:xfrm>
          <a:prstGeom prst="roundRect">
            <a:avLst>
              <a:gd name="adj" fmla="val 4444"/>
            </a:avLst>
          </a:prstGeom>
          <a:solidFill>
            <a:srgbClr val="12263F"/>
          </a:solidFill>
          <a:ln/>
        </p:spPr>
        <p:txBody>
          <a:bodyPr/>
          <a:lstStyle/>
          <a:p>
            <a:endParaRPr lang="fr-FR"/>
          </a:p>
        </p:txBody>
      </p:sp>
      <p:sp>
        <p:nvSpPr>
          <p:cNvPr id="34" name="Text 32"/>
          <p:cNvSpPr/>
          <p:nvPr/>
        </p:nvSpPr>
        <p:spPr>
          <a:xfrm>
            <a:off x="8339328" y="3785616"/>
            <a:ext cx="3108960" cy="45720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Revue de conformité</a:t>
            </a:r>
            <a:endParaRPr lang="en-US" sz="1200" dirty="0"/>
          </a:p>
        </p:txBody>
      </p:sp>
      <p:sp>
        <p:nvSpPr>
          <p:cNvPr id="35" name="Text 33"/>
          <p:cNvSpPr/>
          <p:nvPr/>
        </p:nvSpPr>
        <p:spPr>
          <a:xfrm>
            <a:off x="8339328" y="4261104"/>
            <a:ext cx="3108960" cy="54864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Vérification de l'adéquation aux contraintes réglementaires (RGPD, ISO, accessibilité)</a:t>
            </a:r>
            <a:endParaRPr lang="en-US" sz="1000" dirty="0"/>
          </a:p>
        </p:txBody>
      </p:sp>
      <p:sp>
        <p:nvSpPr>
          <p:cNvPr id="36" name="Shape 34"/>
          <p:cNvSpPr/>
          <p:nvPr/>
        </p:nvSpPr>
        <p:spPr>
          <a:xfrm>
            <a:off x="548640" y="5120640"/>
            <a:ext cx="11064240" cy="1051560"/>
          </a:xfrm>
          <a:prstGeom prst="roundRect">
            <a:avLst>
              <a:gd name="adj" fmla="val 5217"/>
            </a:avLst>
          </a:prstGeom>
          <a:solidFill>
            <a:srgbClr val="EEF3F7"/>
          </a:solidFill>
          <a:ln/>
        </p:spPr>
        <p:txBody>
          <a:bodyPr/>
          <a:lstStyle/>
          <a:p>
            <a:endParaRPr lang="fr-FR"/>
          </a:p>
        </p:txBody>
      </p:sp>
      <p:sp>
        <p:nvSpPr>
          <p:cNvPr id="37" name="Text 35"/>
          <p:cNvSpPr/>
          <p:nvPr/>
        </p:nvSpPr>
        <p:spPr>
          <a:xfrm>
            <a:off x="868680" y="5248656"/>
            <a:ext cx="10424160" cy="27432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Documentation des retours et traçabilité</a:t>
            </a:r>
            <a:endParaRPr lang="en-US" sz="1300" dirty="0"/>
          </a:p>
        </p:txBody>
      </p:sp>
      <p:sp>
        <p:nvSpPr>
          <p:cNvPr id="38" name="Text 36"/>
          <p:cNvSpPr/>
          <p:nvPr/>
        </p:nvSpPr>
        <p:spPr>
          <a:xfrm>
            <a:off x="868680" y="5541264"/>
            <a:ext cx="10424160" cy="548640"/>
          </a:xfrm>
          <a:prstGeom prst="rect">
            <a:avLst/>
          </a:prstGeom>
          <a:noFill/>
          <a:ln/>
        </p:spPr>
        <p:txBody>
          <a:bodyPr wrap="square" lIns="0" tIns="0" rIns="0" bIns="0" rtlCol="0" anchor="ctr"/>
          <a:lstStyle/>
          <a:p>
            <a:pPr marL="0" indent="0">
              <a:lnSpc>
                <a:spcPts val="1500"/>
              </a:lnSpc>
              <a:buNone/>
            </a:pPr>
            <a:r>
              <a:rPr lang="en-US" sz="1100" dirty="0">
                <a:solidFill>
                  <a:srgbClr val="4A5769"/>
                </a:solidFill>
                <a:latin typeface="Calibri" pitchFamily="34" charset="0"/>
                <a:ea typeface="Calibri" pitchFamily="34" charset="-122"/>
                <a:cs typeface="Calibri" pitchFamily="34" charset="-120"/>
              </a:rPr>
              <a:t>Les décisions structurantes issues de ces revues sont consignées dans un journal d'architecture au format Contexte / Décision / Alternatives / Conséquences. Cette validation itérative a permis de figer un cahier des charges fonctionnel stable, décliné en cas d'utilisation vérifiables, servant de référence contractuelle pour la conception, le développement et la stratégie de tests.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5</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Implémentations techniques</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Conception applicative, infrastructure, outillage, monitoring et plans de reprise</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5.0 CONCEPTION DE L'APPLICATION</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Un modèle de données sobre et une architecture testable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48640" y="1444752"/>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64208"/>
            <a:ext cx="384048" cy="384048"/>
          </a:xfrm>
          <a:prstGeom prst="ellipse">
            <a:avLst/>
          </a:prstGeom>
          <a:solidFill>
            <a:srgbClr val="00A896"/>
          </a:solidFill>
          <a:ln/>
        </p:spPr>
        <p:txBody>
          <a:bodyPr/>
          <a:lstStyle/>
          <a:p>
            <a:endParaRPr lang="fr-FR"/>
          </a:p>
        </p:txBody>
      </p:sp>
      <p:sp>
        <p:nvSpPr>
          <p:cNvPr id="8" name="Text 6"/>
          <p:cNvSpPr/>
          <p:nvPr/>
        </p:nvSpPr>
        <p:spPr>
          <a:xfrm>
            <a:off x="786384"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27632"/>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5 tables suffisent</a:t>
            </a:r>
            <a:endParaRPr lang="en-US" sz="1400" dirty="0"/>
          </a:p>
        </p:txBody>
      </p:sp>
      <p:sp>
        <p:nvSpPr>
          <p:cNvPr id="10" name="Text 8"/>
          <p:cNvSpPr/>
          <p:nvPr/>
        </p:nvSpPr>
        <p:spPr>
          <a:xfrm>
            <a:off x="804672" y="2157984"/>
            <a:ext cx="4937760" cy="1280160"/>
          </a:xfrm>
          <a:prstGeom prst="rect">
            <a:avLst/>
          </a:prstGeom>
          <a:noFill/>
          <a:ln/>
        </p:spPr>
        <p:txBody>
          <a:bodyPr wrap="square" lIns="0" tIns="0" rIns="0" bIns="0" rtlCol="0" anchor="ctr"/>
          <a:lstStyle/>
          <a:p>
            <a:pPr marL="0" indent="0">
              <a:lnSpc>
                <a:spcPts val="1500"/>
              </a:lnSpc>
              <a:buNone/>
            </a:pPr>
            <a:r>
              <a:rPr lang="en-US" sz="1100" dirty="0">
                <a:solidFill>
                  <a:srgbClr val="4A5769"/>
                </a:solidFill>
                <a:latin typeface="Calibri" pitchFamily="34" charset="0"/>
                <a:ea typeface="Calibri" pitchFamily="34" charset="-122"/>
                <a:cs typeface="Calibri" pitchFamily="34" charset="-120"/>
              </a:rPr>
              <a:t>Comptes, médias, albums, placements, abonnements. Clés primaires composites sur les tables d'association, aucune colonne technique superflue, taille des fichiers sur entier long.</a:t>
            </a:r>
            <a:endParaRPr lang="en-US" sz="1100" dirty="0"/>
          </a:p>
        </p:txBody>
      </p:sp>
      <p:sp>
        <p:nvSpPr>
          <p:cNvPr id="11" name="Shape 9"/>
          <p:cNvSpPr/>
          <p:nvPr/>
        </p:nvSpPr>
        <p:spPr>
          <a:xfrm>
            <a:off x="6190488" y="1444752"/>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6428232" y="1664208"/>
            <a:ext cx="384048" cy="384048"/>
          </a:xfrm>
          <a:prstGeom prst="ellipse">
            <a:avLst/>
          </a:prstGeom>
          <a:solidFill>
            <a:srgbClr val="00A896"/>
          </a:solidFill>
          <a:ln/>
        </p:spPr>
        <p:txBody>
          <a:bodyPr/>
          <a:lstStyle/>
          <a:p>
            <a:endParaRPr lang="fr-FR"/>
          </a:p>
        </p:txBody>
      </p:sp>
      <p:sp>
        <p:nvSpPr>
          <p:cNvPr id="13" name="Text 11"/>
          <p:cNvSpPr/>
          <p:nvPr/>
        </p:nvSpPr>
        <p:spPr>
          <a:xfrm>
            <a:off x="6428232"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40296" y="1627632"/>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Décomposition par domaine</a:t>
            </a:r>
            <a:endParaRPr lang="en-US" sz="1400" dirty="0"/>
          </a:p>
        </p:txBody>
      </p:sp>
      <p:sp>
        <p:nvSpPr>
          <p:cNvPr id="15" name="Text 13"/>
          <p:cNvSpPr/>
          <p:nvPr/>
        </p:nvSpPr>
        <p:spPr>
          <a:xfrm>
            <a:off x="6446520" y="2157984"/>
            <a:ext cx="4937760" cy="1280160"/>
          </a:xfrm>
          <a:prstGeom prst="rect">
            <a:avLst/>
          </a:prstGeom>
          <a:noFill/>
          <a:ln/>
        </p:spPr>
        <p:txBody>
          <a:bodyPr wrap="square" lIns="0" tIns="0" rIns="0" bIns="0" rtlCol="0" anchor="ctr"/>
          <a:lstStyle/>
          <a:p>
            <a:pPr marL="0" indent="0">
              <a:lnSpc>
                <a:spcPts val="1500"/>
              </a:lnSpc>
              <a:buNone/>
            </a:pPr>
            <a:r>
              <a:rPr lang="en-US" sz="1100" dirty="0">
                <a:solidFill>
                  <a:srgbClr val="4A5769"/>
                </a:solidFill>
                <a:latin typeface="Calibri" pitchFamily="34" charset="0"/>
                <a:ea typeface="Calibri" pitchFamily="34" charset="-122"/>
                <a:cs typeface="Calibri" pitchFamily="34" charset="-120"/>
              </a:rPr>
              <a:t>Un contrôleur = un domaine (auth, bibliothèque, profil, découverte, paramètres, public). Trois services injectables : AuthService, MediaService, RedisService.</a:t>
            </a:r>
            <a:endParaRPr lang="en-US" sz="1100" dirty="0"/>
          </a:p>
        </p:txBody>
      </p:sp>
      <p:sp>
        <p:nvSpPr>
          <p:cNvPr id="16" name="Shape 14"/>
          <p:cNvSpPr/>
          <p:nvPr/>
        </p:nvSpPr>
        <p:spPr>
          <a:xfrm>
            <a:off x="548640" y="3822192"/>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786384" y="4041648"/>
            <a:ext cx="384048" cy="384048"/>
          </a:xfrm>
          <a:prstGeom prst="ellipse">
            <a:avLst/>
          </a:prstGeom>
          <a:solidFill>
            <a:srgbClr val="00A896"/>
          </a:solidFill>
          <a:ln/>
        </p:spPr>
        <p:txBody>
          <a:bodyPr/>
          <a:lstStyle/>
          <a:p>
            <a:endParaRPr lang="fr-FR"/>
          </a:p>
        </p:txBody>
      </p:sp>
      <p:sp>
        <p:nvSpPr>
          <p:cNvPr id="18" name="Text 16"/>
          <p:cNvSpPr/>
          <p:nvPr/>
        </p:nvSpPr>
        <p:spPr>
          <a:xfrm>
            <a:off x="786384" y="40416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4005072"/>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Patterns de conception</a:t>
            </a:r>
            <a:endParaRPr lang="en-US" sz="1400" dirty="0"/>
          </a:p>
        </p:txBody>
      </p:sp>
      <p:sp>
        <p:nvSpPr>
          <p:cNvPr id="20" name="Text 18"/>
          <p:cNvSpPr/>
          <p:nvPr/>
        </p:nvSpPr>
        <p:spPr>
          <a:xfrm>
            <a:off x="804672" y="4535424"/>
            <a:ext cx="4937760" cy="1280160"/>
          </a:xfrm>
          <a:prstGeom prst="rect">
            <a:avLst/>
          </a:prstGeom>
          <a:noFill/>
          <a:ln/>
        </p:spPr>
        <p:txBody>
          <a:bodyPr wrap="square" lIns="0" tIns="0" rIns="0" bIns="0" rtlCol="0" anchor="ctr"/>
          <a:lstStyle/>
          <a:p>
            <a:pPr marL="0" indent="0">
              <a:lnSpc>
                <a:spcPts val="1500"/>
              </a:lnSpc>
              <a:buNone/>
            </a:pPr>
            <a:r>
              <a:rPr lang="en-US" sz="1100" dirty="0">
                <a:solidFill>
                  <a:srgbClr val="4A5769"/>
                </a:solidFill>
                <a:latin typeface="Calibri" pitchFamily="34" charset="0"/>
                <a:ea typeface="Calibri" pitchFamily="34" charset="-122"/>
                <a:cs typeface="Calibri" pitchFamily="34" charset="-120"/>
              </a:rPr>
              <a:t>Injection de dépendances, Repository + Query Builder, DTO validés en liste blanche, pagination par curseur opaque, deux stratégies Passport (cookie et clé d'API).</a:t>
            </a:r>
            <a:endParaRPr lang="en-US" sz="1100" dirty="0"/>
          </a:p>
        </p:txBody>
      </p:sp>
      <p:sp>
        <p:nvSpPr>
          <p:cNvPr id="21" name="Shape 19"/>
          <p:cNvSpPr/>
          <p:nvPr/>
        </p:nvSpPr>
        <p:spPr>
          <a:xfrm>
            <a:off x="6190488" y="3822192"/>
            <a:ext cx="5449824" cy="2194560"/>
          </a:xfrm>
          <a:prstGeom prst="roundRect">
            <a:avLst>
              <a:gd name="adj" fmla="val 2500"/>
            </a:avLst>
          </a:prstGeom>
          <a:solidFill>
            <a:srgbClr val="EEF3F7"/>
          </a:solidFill>
          <a:ln w="12700">
            <a:solidFill>
              <a:srgbClr val="EEF3F7"/>
            </a:solidFill>
            <a:prstDash val="solid"/>
          </a:ln>
        </p:spPr>
        <p:txBody>
          <a:bodyPr/>
          <a:lstStyle/>
          <a:p>
            <a:endParaRPr lang="fr-FR"/>
          </a:p>
        </p:txBody>
      </p:sp>
      <p:sp>
        <p:nvSpPr>
          <p:cNvPr id="22" name="Shape 20"/>
          <p:cNvSpPr/>
          <p:nvPr/>
        </p:nvSpPr>
        <p:spPr>
          <a:xfrm>
            <a:off x="6428232" y="4041648"/>
            <a:ext cx="384048" cy="384048"/>
          </a:xfrm>
          <a:prstGeom prst="ellipse">
            <a:avLst/>
          </a:prstGeom>
          <a:solidFill>
            <a:srgbClr val="00A896"/>
          </a:solidFill>
          <a:ln/>
        </p:spPr>
        <p:txBody>
          <a:bodyPr/>
          <a:lstStyle/>
          <a:p>
            <a:endParaRPr lang="fr-FR"/>
          </a:p>
        </p:txBody>
      </p:sp>
      <p:sp>
        <p:nvSpPr>
          <p:cNvPr id="23" name="Text 21"/>
          <p:cNvSpPr/>
          <p:nvPr/>
        </p:nvSpPr>
        <p:spPr>
          <a:xfrm>
            <a:off x="6428232" y="40416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40296" y="4005072"/>
            <a:ext cx="4443984"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Éco-conception</a:t>
            </a:r>
            <a:endParaRPr lang="en-US" sz="1400" dirty="0"/>
          </a:p>
        </p:txBody>
      </p:sp>
      <p:sp>
        <p:nvSpPr>
          <p:cNvPr id="25" name="Text 23"/>
          <p:cNvSpPr/>
          <p:nvPr/>
        </p:nvSpPr>
        <p:spPr>
          <a:xfrm>
            <a:off x="6446520" y="4535424"/>
            <a:ext cx="4937760" cy="1280160"/>
          </a:xfrm>
          <a:prstGeom prst="rect">
            <a:avLst/>
          </a:prstGeom>
          <a:noFill/>
          <a:ln/>
        </p:spPr>
        <p:txBody>
          <a:bodyPr wrap="square" lIns="0" tIns="0" rIns="0" bIns="0" rtlCol="0" anchor="ctr"/>
          <a:lstStyle/>
          <a:p>
            <a:pPr marL="0" indent="0">
              <a:lnSpc>
                <a:spcPts val="1500"/>
              </a:lnSpc>
              <a:buNone/>
            </a:pPr>
            <a:r>
              <a:rPr lang="en-US" sz="1100" dirty="0">
                <a:solidFill>
                  <a:srgbClr val="4A5769"/>
                </a:solidFill>
                <a:latin typeface="Calibri" pitchFamily="34" charset="0"/>
                <a:ea typeface="Calibri" pitchFamily="34" charset="-122"/>
                <a:cs typeface="Calibri" pitchFamily="34" charset="-120"/>
              </a:rPr>
              <a:t>Index partiels ne référençant que les lignes publiées ; suppression en cascade portant techniquement le droit à l'effacement ; refus de bufferiser les fichiers volumineux.</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5.0 CONCEPTION DE L'APPLICATION</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6 — Modèle conceptuel de données (Merise)</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MCD au formalisme Merise : entités rectangulaires avec leurs propriétés, associations losanges portant les cardinalités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Prouver la sobriété du modèle (cinq tables suffisent) et rendre visibles les cascades de suppression qui portent techniquement le droit à l'effacement du RGPD.</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cinq entités : COMPTE, MEDIA, ALBUM, PLACEMENT, ABONNEMENT, avec leurs propriétés typées</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cardinalités explicites sur chaque patte d'association (0,n / 1,1 / 0,1)</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L'association réflexive « suit » sur COMPTE pour matérialiser les abonnements</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références douces (avatar d'un compte, couverture d'un album) distinguées des liens en cascade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champ publie_le sur MEDIA mis en évidence : c'est lui qui commande la visibilité publique</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annotation signalant les index partiels prévus sur les seules lignes publiées</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Looping, JMerise, ou draw.io / Mermaid (erDiagram) pour un rendu plus rapide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BC2 · C13 — contenu et schémas des bases de données clairs ; BC3 · C21 — conception de l'architecture applicative</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5.0 CONCEPTION DE L'APPLICATION</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7 — Diagramme de classes du backend (UML)</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classes UML : contrôleurs, services et entités avec leurs attributs et méthodes publiques, flèches de dépendance orientées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Justifier les patterns de conception retenus et démontrer que l'architecture est modulaire, réutilisable et testable — condition d'une automatisation sereine.</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six contrôleurs de domaine : Auth, Library, Profile, Discover, Settings, Public</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trois services injectables : AuthService, MediaService, RedisService, avec leurs méthodes principales</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deux stratégies Passport : session par cookie et clé d'API</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cinq entités de persistance avec leurs attributs typés</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flèches de dépendance illustrant l'injection de dépendances (contrôleur → service → dépôt)</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regroupement visuel par domaine pour que la décomposition « un contrôleur, un domaine » saute aux yeux</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PlantUML (syntaxe class) ou draw.io avec la bibliothèque UML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BC3 · C24 — justification des patterns pour le logiciel et pour les classes (architecture modulaire et maintenable)</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5.1 INFRASTRUCTURE ET ENVIRONNEMENT DE DÉPLOIEMENT</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Trois fournisseurs, chacun sur sa force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48640" y="1444752"/>
            <a:ext cx="3520440" cy="1965960"/>
          </a:xfrm>
          <a:prstGeom prst="roundRect">
            <a:avLst>
              <a:gd name="adj" fmla="val 2791"/>
            </a:avLst>
          </a:prstGeom>
          <a:solidFill>
            <a:srgbClr val="12263F"/>
          </a:solidFill>
          <a:ln/>
        </p:spPr>
        <p:txBody>
          <a:bodyPr/>
          <a:lstStyle/>
          <a:p>
            <a:endParaRPr lang="fr-FR"/>
          </a:p>
        </p:txBody>
      </p:sp>
      <p:sp>
        <p:nvSpPr>
          <p:cNvPr id="7" name="Text 5"/>
          <p:cNvSpPr/>
          <p:nvPr/>
        </p:nvSpPr>
        <p:spPr>
          <a:xfrm>
            <a:off x="786384" y="1591056"/>
            <a:ext cx="3063240" cy="237744"/>
          </a:xfrm>
          <a:prstGeom prst="rect">
            <a:avLst/>
          </a:prstGeom>
          <a:noFill/>
          <a:ln/>
        </p:spPr>
        <p:txBody>
          <a:bodyPr wrap="square" lIns="0" tIns="0" rIns="0" bIns="0" rtlCol="0" anchor="ctr"/>
          <a:lstStyle/>
          <a:p>
            <a:pPr marL="0" indent="0">
              <a:buNone/>
            </a:pPr>
            <a:r>
              <a:rPr lang="en-US" sz="950" b="1" kern="0" spc="140" dirty="0">
                <a:solidFill>
                  <a:srgbClr val="00A896"/>
                </a:solidFill>
                <a:latin typeface="Calibri" pitchFamily="34" charset="0"/>
                <a:ea typeface="Calibri" pitchFamily="34" charset="-122"/>
                <a:cs typeface="Calibri" pitchFamily="34" charset="-120"/>
              </a:rPr>
              <a:t>CALCUL</a:t>
            </a:r>
            <a:endParaRPr lang="en-US" sz="950" dirty="0"/>
          </a:p>
        </p:txBody>
      </p:sp>
      <p:sp>
        <p:nvSpPr>
          <p:cNvPr id="8" name="Text 6"/>
          <p:cNvSpPr/>
          <p:nvPr/>
        </p:nvSpPr>
        <p:spPr>
          <a:xfrm>
            <a:off x="786384" y="1847088"/>
            <a:ext cx="3063240" cy="32918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Hetzner Cloud</a:t>
            </a:r>
            <a:endParaRPr lang="en-US" sz="1600" dirty="0"/>
          </a:p>
        </p:txBody>
      </p:sp>
      <p:sp>
        <p:nvSpPr>
          <p:cNvPr id="9" name="Text 7"/>
          <p:cNvSpPr/>
          <p:nvPr/>
        </p:nvSpPr>
        <p:spPr>
          <a:xfrm>
            <a:off x="786384" y="2231136"/>
            <a:ext cx="3063240" cy="10515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Cluster Docker Swarm de VM louées, organisées par rôle. Réseau privé dédié + sous-réseau. Rapport performance-prix élevé au sein de l'UE (Allemagne).</a:t>
            </a:r>
            <a:endParaRPr lang="en-US" sz="1050" dirty="0"/>
          </a:p>
        </p:txBody>
      </p:sp>
      <p:sp>
        <p:nvSpPr>
          <p:cNvPr id="10" name="Shape 8"/>
          <p:cNvSpPr/>
          <p:nvPr/>
        </p:nvSpPr>
        <p:spPr>
          <a:xfrm>
            <a:off x="4334256" y="1444752"/>
            <a:ext cx="3520440" cy="1965960"/>
          </a:xfrm>
          <a:prstGeom prst="roundRect">
            <a:avLst>
              <a:gd name="adj" fmla="val 2791"/>
            </a:avLst>
          </a:prstGeom>
          <a:solidFill>
            <a:srgbClr val="12263F"/>
          </a:solidFill>
          <a:ln/>
        </p:spPr>
        <p:txBody>
          <a:bodyPr/>
          <a:lstStyle/>
          <a:p>
            <a:endParaRPr lang="fr-FR"/>
          </a:p>
        </p:txBody>
      </p:sp>
      <p:sp>
        <p:nvSpPr>
          <p:cNvPr id="11" name="Text 9"/>
          <p:cNvSpPr/>
          <p:nvPr/>
        </p:nvSpPr>
        <p:spPr>
          <a:xfrm>
            <a:off x="4572000" y="1591056"/>
            <a:ext cx="3063240" cy="237744"/>
          </a:xfrm>
          <a:prstGeom prst="rect">
            <a:avLst/>
          </a:prstGeom>
          <a:noFill/>
          <a:ln/>
        </p:spPr>
        <p:txBody>
          <a:bodyPr wrap="square" lIns="0" tIns="0" rIns="0" bIns="0" rtlCol="0" anchor="ctr"/>
          <a:lstStyle/>
          <a:p>
            <a:pPr marL="0" indent="0">
              <a:buNone/>
            </a:pPr>
            <a:r>
              <a:rPr lang="en-US" sz="950" b="1" kern="0" spc="140" dirty="0">
                <a:solidFill>
                  <a:srgbClr val="3D7CA8"/>
                </a:solidFill>
                <a:latin typeface="Calibri" pitchFamily="34" charset="0"/>
                <a:ea typeface="Calibri" pitchFamily="34" charset="-122"/>
                <a:cs typeface="Calibri" pitchFamily="34" charset="-120"/>
              </a:rPr>
              <a:t>PÉRIPHÉRIE</a:t>
            </a:r>
            <a:endParaRPr lang="en-US" sz="950" dirty="0"/>
          </a:p>
        </p:txBody>
      </p:sp>
      <p:sp>
        <p:nvSpPr>
          <p:cNvPr id="12" name="Text 10"/>
          <p:cNvSpPr/>
          <p:nvPr/>
        </p:nvSpPr>
        <p:spPr>
          <a:xfrm>
            <a:off x="4572000" y="1847088"/>
            <a:ext cx="3063240" cy="32918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Cloudflare</a:t>
            </a:r>
            <a:endParaRPr lang="en-US" sz="1600" dirty="0"/>
          </a:p>
        </p:txBody>
      </p:sp>
      <p:sp>
        <p:nvSpPr>
          <p:cNvPr id="13" name="Text 11"/>
          <p:cNvSpPr/>
          <p:nvPr/>
        </p:nvSpPr>
        <p:spPr>
          <a:xfrm>
            <a:off x="4572000" y="2231136"/>
            <a:ext cx="3063240" cy="10515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DNS, pare-feu applicatif (WAF), terminaison TLS stricte, protection volumétrique. Mutualise une protection difficile à reconstituer soi-même.</a:t>
            </a:r>
            <a:endParaRPr lang="en-US" sz="1050" dirty="0"/>
          </a:p>
        </p:txBody>
      </p:sp>
      <p:sp>
        <p:nvSpPr>
          <p:cNvPr id="14" name="Shape 12"/>
          <p:cNvSpPr/>
          <p:nvPr/>
        </p:nvSpPr>
        <p:spPr>
          <a:xfrm>
            <a:off x="8119872" y="1444752"/>
            <a:ext cx="3520440" cy="1965960"/>
          </a:xfrm>
          <a:prstGeom prst="roundRect">
            <a:avLst>
              <a:gd name="adj" fmla="val 2791"/>
            </a:avLst>
          </a:prstGeom>
          <a:solidFill>
            <a:srgbClr val="12263F"/>
          </a:solidFill>
          <a:ln/>
        </p:spPr>
        <p:txBody>
          <a:bodyPr/>
          <a:lstStyle/>
          <a:p>
            <a:endParaRPr lang="fr-FR"/>
          </a:p>
        </p:txBody>
      </p:sp>
      <p:sp>
        <p:nvSpPr>
          <p:cNvPr id="15" name="Text 13"/>
          <p:cNvSpPr/>
          <p:nvPr/>
        </p:nvSpPr>
        <p:spPr>
          <a:xfrm>
            <a:off x="8357616" y="1591056"/>
            <a:ext cx="3063240" cy="237744"/>
          </a:xfrm>
          <a:prstGeom prst="rect">
            <a:avLst/>
          </a:prstGeom>
          <a:noFill/>
          <a:ln/>
        </p:spPr>
        <p:txBody>
          <a:bodyPr wrap="square" lIns="0" tIns="0" rIns="0" bIns="0" rtlCol="0" anchor="ctr"/>
          <a:lstStyle/>
          <a:p>
            <a:pPr marL="0" indent="0">
              <a:buNone/>
            </a:pPr>
            <a:r>
              <a:rPr lang="en-US" sz="950" b="1" kern="0" spc="140" dirty="0">
                <a:solidFill>
                  <a:srgbClr val="E08A3C"/>
                </a:solidFill>
                <a:latin typeface="Calibri" pitchFamily="34" charset="0"/>
                <a:ea typeface="Calibri" pitchFamily="34" charset="-122"/>
                <a:cs typeface="Calibri" pitchFamily="34" charset="-120"/>
              </a:rPr>
              <a:t>DONNÉES &amp; DIFFUSION</a:t>
            </a:r>
            <a:endParaRPr lang="en-US" sz="950" dirty="0"/>
          </a:p>
        </p:txBody>
      </p:sp>
      <p:sp>
        <p:nvSpPr>
          <p:cNvPr id="16" name="Text 14"/>
          <p:cNvSpPr/>
          <p:nvPr/>
        </p:nvSpPr>
        <p:spPr>
          <a:xfrm>
            <a:off x="8357616" y="1847088"/>
            <a:ext cx="3063240" cy="32918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AWS eu-west-3</a:t>
            </a:r>
            <a:endParaRPr lang="en-US" sz="1600" dirty="0"/>
          </a:p>
        </p:txBody>
      </p:sp>
      <p:sp>
        <p:nvSpPr>
          <p:cNvPr id="17" name="Text 15"/>
          <p:cNvSpPr/>
          <p:nvPr/>
        </p:nvSpPr>
        <p:spPr>
          <a:xfrm>
            <a:off x="8357616" y="2231136"/>
            <a:ext cx="3063240" cy="105156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S3 (médias, sauvegardes, état Terraform), CloudFront + WAF, ACM, SSM, Budgets. Durabilité éprouvée et CDN mature.</a:t>
            </a:r>
            <a:endParaRPr lang="en-US" sz="1050" dirty="0"/>
          </a:p>
        </p:txBody>
      </p:sp>
      <p:sp>
        <p:nvSpPr>
          <p:cNvPr id="18" name="Text 16"/>
          <p:cNvSpPr/>
          <p:nvPr/>
        </p:nvSpPr>
        <p:spPr>
          <a:xfrm>
            <a:off x="548640" y="3657600"/>
            <a:ext cx="548640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Arbitrage cloud / on-premise / hybride</a:t>
            </a:r>
            <a:endParaRPr lang="en-US" sz="1400" dirty="0"/>
          </a:p>
        </p:txBody>
      </p:sp>
      <p:sp>
        <p:nvSpPr>
          <p:cNvPr id="19" name="Text 17"/>
          <p:cNvSpPr/>
          <p:nvPr/>
        </p:nvSpPr>
        <p:spPr>
          <a:xfrm>
            <a:off x="548640" y="4041648"/>
            <a:ext cx="5449824" cy="192024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4A5769"/>
                </a:solidFill>
                <a:latin typeface="Calibri" pitchFamily="34" charset="0"/>
                <a:ea typeface="Calibri" pitchFamily="34" charset="-122"/>
                <a:cs typeface="Calibri" pitchFamily="34" charset="-120"/>
              </a:rPr>
              <a:t>On-premise écarté : investissement matériel, gestion physique, pas d'élasticité — et surtout pas d'exposition programmatique, ce qui contredit le principe même de l'IaC.</a:t>
            </a:r>
            <a:endParaRPr lang="en-US" sz="1100" dirty="0"/>
          </a:p>
          <a:p>
            <a:pPr marL="342900" indent="-342900">
              <a:spcAft>
                <a:spcPts val="800"/>
              </a:spcAft>
              <a:buSzPct val="100000"/>
              <a:buChar char="▪"/>
            </a:pPr>
            <a:r>
              <a:rPr lang="en-US" sz="1100" dirty="0">
                <a:solidFill>
                  <a:srgbClr val="4A5769"/>
                </a:solidFill>
                <a:latin typeface="Calibri" pitchFamily="34" charset="0"/>
                <a:ea typeface="Calibri" pitchFamily="34" charset="-122"/>
                <a:cs typeface="Calibri" pitchFamily="34" charset="-120"/>
              </a:rPr>
              <a:t>Hybride écarté : cumulerait les contraintes des deux mondes sans existant à interconnecter (le projet démarre sans dette d'infrastructure).</a:t>
            </a:r>
            <a:endParaRPr lang="en-US" sz="1100" dirty="0"/>
          </a:p>
          <a:p>
            <a:pPr marL="342900" indent="-342900">
              <a:spcAft>
                <a:spcPts val="800"/>
              </a:spcAft>
              <a:buSzPct val="100000"/>
              <a:buChar char="▪"/>
            </a:pPr>
            <a:r>
              <a:rPr lang="en-US" sz="1100" dirty="0">
                <a:solidFill>
                  <a:srgbClr val="4A5769"/>
                </a:solidFill>
                <a:latin typeface="Calibri" pitchFamily="34" charset="0"/>
                <a:ea typeface="Calibri" pitchFamily="34" charset="-122"/>
                <a:cs typeface="Calibri" pitchFamily="34" charset="-120"/>
              </a:rPr>
              <a:t>Cloud retenu : nature opex, élasticité, et pilotage intégral par API — condition sine qua non de l'Infrastructure as Code.</a:t>
            </a:r>
            <a:endParaRPr lang="en-US" sz="1100" dirty="0"/>
          </a:p>
        </p:txBody>
      </p:sp>
      <p:sp>
        <p:nvSpPr>
          <p:cNvPr id="20" name="Text 18"/>
          <p:cNvSpPr/>
          <p:nvPr/>
        </p:nvSpPr>
        <p:spPr>
          <a:xfrm>
            <a:off x="6309360" y="3657600"/>
            <a:ext cx="533095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Right-sizing : la sobriété chiffrée</a:t>
            </a:r>
            <a:endParaRPr lang="en-US" sz="1400" dirty="0"/>
          </a:p>
        </p:txBody>
      </p:sp>
      <p:sp>
        <p:nvSpPr>
          <p:cNvPr id="21" name="Shape 19"/>
          <p:cNvSpPr/>
          <p:nvPr/>
        </p:nvSpPr>
        <p:spPr>
          <a:xfrm>
            <a:off x="6309360" y="4041648"/>
            <a:ext cx="5330952" cy="365760"/>
          </a:xfrm>
          <a:prstGeom prst="rect">
            <a:avLst/>
          </a:prstGeom>
          <a:solidFill>
            <a:srgbClr val="EEF3F7"/>
          </a:solidFill>
          <a:ln/>
        </p:spPr>
        <p:txBody>
          <a:bodyPr/>
          <a:lstStyle/>
          <a:p>
            <a:endParaRPr lang="fr-FR"/>
          </a:p>
        </p:txBody>
      </p:sp>
      <p:sp>
        <p:nvSpPr>
          <p:cNvPr id="22" name="Text 20"/>
          <p:cNvSpPr/>
          <p:nvPr/>
        </p:nvSpPr>
        <p:spPr>
          <a:xfrm>
            <a:off x="6437376" y="4041648"/>
            <a:ext cx="2286000" cy="365760"/>
          </a:xfrm>
          <a:prstGeom prst="rect">
            <a:avLst/>
          </a:prstGeom>
          <a:noFill/>
          <a:ln/>
        </p:spPr>
        <p:txBody>
          <a:bodyPr wrap="square" lIns="0" tIns="0" rIns="0" bIns="0" rtlCol="0" anchor="ctr"/>
          <a:lstStyle/>
          <a:p>
            <a:pPr marL="0" indent="0">
              <a:buNone/>
            </a:pPr>
            <a:r>
              <a:rPr lang="en-US" sz="1050" b="1" dirty="0">
                <a:solidFill>
                  <a:srgbClr val="12263F"/>
                </a:solidFill>
                <a:latin typeface="Calibri" pitchFamily="34" charset="0"/>
                <a:ea typeface="Calibri" pitchFamily="34" charset="-122"/>
                <a:cs typeface="Calibri" pitchFamily="34" charset="-120"/>
              </a:rPr>
              <a:t>PostgreSQL</a:t>
            </a:r>
            <a:endParaRPr lang="en-US" sz="1050" dirty="0"/>
          </a:p>
        </p:txBody>
      </p:sp>
      <p:sp>
        <p:nvSpPr>
          <p:cNvPr id="23" name="Text 21"/>
          <p:cNvSpPr/>
          <p:nvPr/>
        </p:nvSpPr>
        <p:spPr>
          <a:xfrm>
            <a:off x="8778240" y="4041648"/>
            <a:ext cx="2743200" cy="365760"/>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réserve 1 vCPU / 2 Go — limite 3,4 vCPU / 6 Go</a:t>
            </a:r>
            <a:endParaRPr lang="en-US" sz="1000" dirty="0"/>
          </a:p>
        </p:txBody>
      </p:sp>
      <p:sp>
        <p:nvSpPr>
          <p:cNvPr id="24" name="Shape 22"/>
          <p:cNvSpPr/>
          <p:nvPr/>
        </p:nvSpPr>
        <p:spPr>
          <a:xfrm>
            <a:off x="6309360" y="4443984"/>
            <a:ext cx="5330952" cy="365760"/>
          </a:xfrm>
          <a:prstGeom prst="rect">
            <a:avLst/>
          </a:prstGeom>
          <a:solidFill>
            <a:srgbClr val="FFFFFF"/>
          </a:solidFill>
          <a:ln/>
        </p:spPr>
        <p:txBody>
          <a:bodyPr/>
          <a:lstStyle/>
          <a:p>
            <a:endParaRPr lang="fr-FR"/>
          </a:p>
        </p:txBody>
      </p:sp>
      <p:sp>
        <p:nvSpPr>
          <p:cNvPr id="25" name="Text 23"/>
          <p:cNvSpPr/>
          <p:nvPr/>
        </p:nvSpPr>
        <p:spPr>
          <a:xfrm>
            <a:off x="6437376" y="4443984"/>
            <a:ext cx="2286000" cy="365760"/>
          </a:xfrm>
          <a:prstGeom prst="rect">
            <a:avLst/>
          </a:prstGeom>
          <a:noFill/>
          <a:ln/>
        </p:spPr>
        <p:txBody>
          <a:bodyPr wrap="square" lIns="0" tIns="0" rIns="0" bIns="0" rtlCol="0" anchor="ctr"/>
          <a:lstStyle/>
          <a:p>
            <a:pPr marL="0" indent="0">
              <a:buNone/>
            </a:pPr>
            <a:r>
              <a:rPr lang="en-US" sz="1050" b="1" dirty="0">
                <a:solidFill>
                  <a:srgbClr val="12263F"/>
                </a:solidFill>
                <a:latin typeface="Calibri" pitchFamily="34" charset="0"/>
                <a:ea typeface="Calibri" pitchFamily="34" charset="-122"/>
                <a:cs typeface="Calibri" pitchFamily="34" charset="-120"/>
              </a:rPr>
              <a:t>Backend</a:t>
            </a:r>
            <a:endParaRPr lang="en-US" sz="1050" dirty="0"/>
          </a:p>
        </p:txBody>
      </p:sp>
      <p:sp>
        <p:nvSpPr>
          <p:cNvPr id="26" name="Text 24"/>
          <p:cNvSpPr/>
          <p:nvPr/>
        </p:nvSpPr>
        <p:spPr>
          <a:xfrm>
            <a:off x="8778240" y="4443984"/>
            <a:ext cx="2743200" cy="365760"/>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réserve 384 Mo — limite 1 280 Mo</a:t>
            </a:r>
            <a:endParaRPr lang="en-US" sz="1000" dirty="0"/>
          </a:p>
        </p:txBody>
      </p:sp>
      <p:sp>
        <p:nvSpPr>
          <p:cNvPr id="27" name="Shape 25"/>
          <p:cNvSpPr/>
          <p:nvPr/>
        </p:nvSpPr>
        <p:spPr>
          <a:xfrm>
            <a:off x="6309360" y="4846320"/>
            <a:ext cx="5330952" cy="365760"/>
          </a:xfrm>
          <a:prstGeom prst="rect">
            <a:avLst/>
          </a:prstGeom>
          <a:solidFill>
            <a:srgbClr val="EEF3F7"/>
          </a:solidFill>
          <a:ln/>
        </p:spPr>
        <p:txBody>
          <a:bodyPr/>
          <a:lstStyle/>
          <a:p>
            <a:endParaRPr lang="fr-FR"/>
          </a:p>
        </p:txBody>
      </p:sp>
      <p:sp>
        <p:nvSpPr>
          <p:cNvPr id="28" name="Text 26"/>
          <p:cNvSpPr/>
          <p:nvPr/>
        </p:nvSpPr>
        <p:spPr>
          <a:xfrm>
            <a:off x="6437376" y="4846320"/>
            <a:ext cx="2286000" cy="365760"/>
          </a:xfrm>
          <a:prstGeom prst="rect">
            <a:avLst/>
          </a:prstGeom>
          <a:noFill/>
          <a:ln/>
        </p:spPr>
        <p:txBody>
          <a:bodyPr wrap="square" lIns="0" tIns="0" rIns="0" bIns="0" rtlCol="0" anchor="ctr"/>
          <a:lstStyle/>
          <a:p>
            <a:pPr marL="0" indent="0">
              <a:buNone/>
            </a:pPr>
            <a:r>
              <a:rPr lang="en-US" sz="1050" b="1" dirty="0">
                <a:solidFill>
                  <a:srgbClr val="12263F"/>
                </a:solidFill>
                <a:latin typeface="Calibri" pitchFamily="34" charset="0"/>
                <a:ea typeface="Calibri" pitchFamily="34" charset="-122"/>
                <a:cs typeface="Calibri" pitchFamily="34" charset="-120"/>
              </a:rPr>
              <a:t>Frontend</a:t>
            </a:r>
            <a:endParaRPr lang="en-US" sz="1050" dirty="0"/>
          </a:p>
        </p:txBody>
      </p:sp>
      <p:sp>
        <p:nvSpPr>
          <p:cNvPr id="29" name="Text 27"/>
          <p:cNvSpPr/>
          <p:nvPr/>
        </p:nvSpPr>
        <p:spPr>
          <a:xfrm>
            <a:off x="8778240" y="4846320"/>
            <a:ext cx="2743200" cy="365760"/>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réserve 256 Mo — limite 960 Mo</a:t>
            </a:r>
            <a:endParaRPr lang="en-US" sz="1000" dirty="0"/>
          </a:p>
        </p:txBody>
      </p:sp>
      <p:sp>
        <p:nvSpPr>
          <p:cNvPr id="30" name="Shape 28"/>
          <p:cNvSpPr/>
          <p:nvPr/>
        </p:nvSpPr>
        <p:spPr>
          <a:xfrm>
            <a:off x="6309360" y="5248656"/>
            <a:ext cx="5330952" cy="365760"/>
          </a:xfrm>
          <a:prstGeom prst="rect">
            <a:avLst/>
          </a:prstGeom>
          <a:solidFill>
            <a:srgbClr val="FFFFFF"/>
          </a:solidFill>
          <a:ln/>
        </p:spPr>
        <p:txBody>
          <a:bodyPr/>
          <a:lstStyle/>
          <a:p>
            <a:endParaRPr lang="fr-FR"/>
          </a:p>
        </p:txBody>
      </p:sp>
      <p:sp>
        <p:nvSpPr>
          <p:cNvPr id="31" name="Text 29"/>
          <p:cNvSpPr/>
          <p:nvPr/>
        </p:nvSpPr>
        <p:spPr>
          <a:xfrm>
            <a:off x="6437376" y="5248656"/>
            <a:ext cx="2286000" cy="365760"/>
          </a:xfrm>
          <a:prstGeom prst="rect">
            <a:avLst/>
          </a:prstGeom>
          <a:noFill/>
          <a:ln/>
        </p:spPr>
        <p:txBody>
          <a:bodyPr wrap="square" lIns="0" tIns="0" rIns="0" bIns="0" rtlCol="0" anchor="ctr"/>
          <a:lstStyle/>
          <a:p>
            <a:pPr marL="0" indent="0">
              <a:buNone/>
            </a:pPr>
            <a:r>
              <a:rPr lang="en-US" sz="1050" b="1" dirty="0">
                <a:solidFill>
                  <a:srgbClr val="12263F"/>
                </a:solidFill>
                <a:latin typeface="Calibri" pitchFamily="34" charset="0"/>
                <a:ea typeface="Calibri" pitchFamily="34" charset="-122"/>
                <a:cs typeface="Calibri" pitchFamily="34" charset="-120"/>
              </a:rPr>
              <a:t>Traefik, PgBouncer, Redis</a:t>
            </a:r>
            <a:endParaRPr lang="en-US" sz="1050" dirty="0"/>
          </a:p>
        </p:txBody>
      </p:sp>
      <p:sp>
        <p:nvSpPr>
          <p:cNvPr id="32" name="Text 30"/>
          <p:cNvSpPr/>
          <p:nvPr/>
        </p:nvSpPr>
        <p:spPr>
          <a:xfrm>
            <a:off x="8778240" y="5248656"/>
            <a:ext cx="2743200" cy="365760"/>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empreintes modestes</a:t>
            </a:r>
            <a:endParaRPr lang="en-US" sz="1000" dirty="0"/>
          </a:p>
        </p:txBody>
      </p:sp>
      <p:sp>
        <p:nvSpPr>
          <p:cNvPr id="33" name="Shape 31"/>
          <p:cNvSpPr/>
          <p:nvPr/>
        </p:nvSpPr>
        <p:spPr>
          <a:xfrm>
            <a:off x="6309360" y="5650992"/>
            <a:ext cx="5330952" cy="365760"/>
          </a:xfrm>
          <a:prstGeom prst="rect">
            <a:avLst/>
          </a:prstGeom>
          <a:solidFill>
            <a:srgbClr val="EEF3F7"/>
          </a:solidFill>
          <a:ln/>
        </p:spPr>
        <p:txBody>
          <a:bodyPr/>
          <a:lstStyle/>
          <a:p>
            <a:endParaRPr lang="fr-FR"/>
          </a:p>
        </p:txBody>
      </p:sp>
      <p:sp>
        <p:nvSpPr>
          <p:cNvPr id="34" name="Text 32"/>
          <p:cNvSpPr/>
          <p:nvPr/>
        </p:nvSpPr>
        <p:spPr>
          <a:xfrm>
            <a:off x="6437376" y="5650992"/>
            <a:ext cx="2286000" cy="365760"/>
          </a:xfrm>
          <a:prstGeom prst="rect">
            <a:avLst/>
          </a:prstGeom>
          <a:noFill/>
          <a:ln/>
        </p:spPr>
        <p:txBody>
          <a:bodyPr wrap="square" lIns="0" tIns="0" rIns="0" bIns="0" rtlCol="0" anchor="ctr"/>
          <a:lstStyle/>
          <a:p>
            <a:pPr marL="0" indent="0">
              <a:buNone/>
            </a:pPr>
            <a:r>
              <a:rPr lang="en-US" sz="1050" b="1" dirty="0">
                <a:solidFill>
                  <a:srgbClr val="12263F"/>
                </a:solidFill>
                <a:latin typeface="Calibri" pitchFamily="34" charset="0"/>
                <a:ea typeface="Calibri" pitchFamily="34" charset="-122"/>
                <a:cs typeface="Calibri" pitchFamily="34" charset="-120"/>
              </a:rPr>
              <a:t>Agents d'observabilité (mode global)</a:t>
            </a:r>
            <a:endParaRPr lang="en-US" sz="1050" dirty="0"/>
          </a:p>
        </p:txBody>
      </p:sp>
      <p:sp>
        <p:nvSpPr>
          <p:cNvPr id="35" name="Text 33"/>
          <p:cNvSpPr/>
          <p:nvPr/>
        </p:nvSpPr>
        <p:spPr>
          <a:xfrm>
            <a:off x="8778240" y="5650992"/>
            <a:ext cx="2743200" cy="365760"/>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empreinte volontairement minimale</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5.2 TECHNOLOGIES ET OUTILS UTILISÉS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La chaîne complète, du poste de développement à la production</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48640" y="1444752"/>
            <a:ext cx="5449824" cy="2212848"/>
          </a:xfrm>
          <a:prstGeom prst="roundRect">
            <a:avLst>
              <a:gd name="adj" fmla="val 2479"/>
            </a:avLst>
          </a:prstGeom>
          <a:solidFill>
            <a:srgbClr val="EEF3F7"/>
          </a:solidFill>
          <a:ln/>
        </p:spPr>
        <p:txBody>
          <a:bodyPr/>
          <a:lstStyle/>
          <a:p>
            <a:endParaRPr lang="fr-FR"/>
          </a:p>
        </p:txBody>
      </p:sp>
      <p:sp>
        <p:nvSpPr>
          <p:cNvPr id="7" name="Text 5"/>
          <p:cNvSpPr/>
          <p:nvPr/>
        </p:nvSpPr>
        <p:spPr>
          <a:xfrm>
            <a:off x="822960" y="1645920"/>
            <a:ext cx="4937760" cy="329184"/>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Applicatif</a:t>
            </a:r>
            <a:endParaRPr lang="en-US" sz="1400" dirty="0"/>
          </a:p>
        </p:txBody>
      </p:sp>
      <p:sp>
        <p:nvSpPr>
          <p:cNvPr id="8" name="Text 6"/>
          <p:cNvSpPr/>
          <p:nvPr/>
        </p:nvSpPr>
        <p:spPr>
          <a:xfrm>
            <a:off x="822960" y="2066544"/>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NestJS 11 sur runtime Bun</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Next.js 16 (SSR + export statique)</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TypeORM · PostgreSQL 18 · PgBouncer</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Redis 8 (sessions, cache, verrous, throttling)</a:t>
            </a:r>
            <a:endParaRPr lang="en-US" sz="1050" dirty="0"/>
          </a:p>
        </p:txBody>
      </p:sp>
      <p:sp>
        <p:nvSpPr>
          <p:cNvPr id="9" name="Shape 7"/>
          <p:cNvSpPr/>
          <p:nvPr/>
        </p:nvSpPr>
        <p:spPr>
          <a:xfrm>
            <a:off x="6163056" y="1444752"/>
            <a:ext cx="5449824" cy="2212848"/>
          </a:xfrm>
          <a:prstGeom prst="roundRect">
            <a:avLst>
              <a:gd name="adj" fmla="val 2479"/>
            </a:avLst>
          </a:prstGeom>
          <a:solidFill>
            <a:srgbClr val="EEF3F7"/>
          </a:solidFill>
          <a:ln/>
        </p:spPr>
        <p:txBody>
          <a:bodyPr/>
          <a:lstStyle/>
          <a:p>
            <a:endParaRPr lang="fr-FR"/>
          </a:p>
        </p:txBody>
      </p:sp>
      <p:sp>
        <p:nvSpPr>
          <p:cNvPr id="10" name="Text 8"/>
          <p:cNvSpPr/>
          <p:nvPr/>
        </p:nvSpPr>
        <p:spPr>
          <a:xfrm>
            <a:off x="6437376" y="1645920"/>
            <a:ext cx="4937760" cy="329184"/>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Algorithmes clés</a:t>
            </a:r>
            <a:endParaRPr lang="en-US" sz="1400" dirty="0"/>
          </a:p>
        </p:txBody>
      </p:sp>
      <p:sp>
        <p:nvSpPr>
          <p:cNvPr id="11" name="Text 9"/>
          <p:cNvSpPr/>
          <p:nvPr/>
        </p:nvSpPr>
        <p:spPr>
          <a:xfrm>
            <a:off x="6437376" y="2066544"/>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Argon2id — hachage memory-hard</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Sessions opaques + rotation par nonce</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Pagination par curseur (keyset)</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Upload multipart en flux, index partiels</a:t>
            </a:r>
            <a:endParaRPr lang="en-US" sz="1050" dirty="0"/>
          </a:p>
        </p:txBody>
      </p:sp>
      <p:sp>
        <p:nvSpPr>
          <p:cNvPr id="12" name="Shape 10"/>
          <p:cNvSpPr/>
          <p:nvPr/>
        </p:nvSpPr>
        <p:spPr>
          <a:xfrm>
            <a:off x="548640" y="3840480"/>
            <a:ext cx="5449824" cy="2212848"/>
          </a:xfrm>
          <a:prstGeom prst="roundRect">
            <a:avLst>
              <a:gd name="adj" fmla="val 2479"/>
            </a:avLst>
          </a:prstGeom>
          <a:solidFill>
            <a:srgbClr val="EEF3F7"/>
          </a:solidFill>
          <a:ln/>
        </p:spPr>
        <p:txBody>
          <a:bodyPr/>
          <a:lstStyle/>
          <a:p>
            <a:endParaRPr lang="fr-FR"/>
          </a:p>
        </p:txBody>
      </p:sp>
      <p:sp>
        <p:nvSpPr>
          <p:cNvPr id="13" name="Text 11"/>
          <p:cNvSpPr/>
          <p:nvPr/>
        </p:nvSpPr>
        <p:spPr>
          <a:xfrm>
            <a:off x="822960" y="4041648"/>
            <a:ext cx="4937760" cy="329184"/>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Infrastructure &amp; CI/CD</a:t>
            </a:r>
            <a:endParaRPr lang="en-US" sz="1400" dirty="0"/>
          </a:p>
        </p:txBody>
      </p:sp>
      <p:sp>
        <p:nvSpPr>
          <p:cNvPr id="14" name="Text 12"/>
          <p:cNvSpPr/>
          <p:nvPr/>
        </p:nvSpPr>
        <p:spPr>
          <a:xfrm>
            <a:off x="822960" y="4462272"/>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Terraform (provisioning) · Ansible (configuration)</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Docker multi-étapes · Docker Swarm</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GitHub Actions (3 pipelines) · GHCR</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Git comme source de vérité unique (GitOps)</a:t>
            </a:r>
            <a:endParaRPr lang="en-US" sz="1050" dirty="0"/>
          </a:p>
        </p:txBody>
      </p:sp>
      <p:sp>
        <p:nvSpPr>
          <p:cNvPr id="15" name="Shape 13"/>
          <p:cNvSpPr/>
          <p:nvPr/>
        </p:nvSpPr>
        <p:spPr>
          <a:xfrm>
            <a:off x="6163056" y="3840480"/>
            <a:ext cx="5449824" cy="2212848"/>
          </a:xfrm>
          <a:prstGeom prst="roundRect">
            <a:avLst>
              <a:gd name="adj" fmla="val 2479"/>
            </a:avLst>
          </a:prstGeom>
          <a:solidFill>
            <a:srgbClr val="EEF3F7"/>
          </a:solidFill>
          <a:ln/>
        </p:spPr>
        <p:txBody>
          <a:bodyPr/>
          <a:lstStyle/>
          <a:p>
            <a:endParaRPr lang="fr-FR"/>
          </a:p>
        </p:txBody>
      </p:sp>
      <p:sp>
        <p:nvSpPr>
          <p:cNvPr id="16" name="Text 14"/>
          <p:cNvSpPr/>
          <p:nvPr/>
        </p:nvSpPr>
        <p:spPr>
          <a:xfrm>
            <a:off x="6437376" y="4041648"/>
            <a:ext cx="4937760" cy="329184"/>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Qualité &amp; observabilité</a:t>
            </a:r>
            <a:endParaRPr lang="en-US" sz="1400" dirty="0"/>
          </a:p>
        </p:txBody>
      </p:sp>
      <p:sp>
        <p:nvSpPr>
          <p:cNvPr id="17" name="Text 15"/>
          <p:cNvSpPr/>
          <p:nvPr/>
        </p:nvSpPr>
        <p:spPr>
          <a:xfrm>
            <a:off x="6437376" y="4462272"/>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ESLint · Prettier · husky · lint-staged</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218 tests Jest + ts-jest + supertest</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terraform fmt / validate en porte bloquante</a:t>
            </a:r>
            <a:endParaRPr lang="en-US" sz="1050" dirty="0"/>
          </a:p>
          <a:p>
            <a:pPr marL="342900" indent="-342900">
              <a:spcAft>
                <a:spcPts val="500"/>
              </a:spcAft>
              <a:buSzPct val="100000"/>
              <a:buChar char="▪"/>
            </a:pPr>
            <a:r>
              <a:rPr lang="en-US" sz="1050" dirty="0">
                <a:solidFill>
                  <a:srgbClr val="4A5769"/>
                </a:solidFill>
                <a:latin typeface="Calibri" pitchFamily="34" charset="0"/>
                <a:ea typeface="Calibri" pitchFamily="34" charset="-122"/>
                <a:cs typeface="Calibri" pitchFamily="34" charset="-120"/>
              </a:rPr>
              <a:t>Prometheus · Loki · Grafana · Alertmanager</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5.2 TECHNOLOGIES ET OUTILS UTILISÉS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 pipeline CI/CD : six étapes chaînées, des portes bloquantes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48640" y="1444752"/>
            <a:ext cx="3520440" cy="2029968"/>
          </a:xfrm>
          <a:prstGeom prst="roundRect">
            <a:avLst>
              <a:gd name="adj" fmla="val 2703"/>
            </a:avLst>
          </a:prstGeom>
          <a:solidFill>
            <a:srgbClr val="12263F"/>
          </a:solidFill>
          <a:ln/>
        </p:spPr>
        <p:txBody>
          <a:bodyPr/>
          <a:lstStyle/>
          <a:p>
            <a:endParaRPr lang="fr-FR"/>
          </a:p>
        </p:txBody>
      </p:sp>
      <p:sp>
        <p:nvSpPr>
          <p:cNvPr id="7" name="Shape 5"/>
          <p:cNvSpPr/>
          <p:nvPr/>
        </p:nvSpPr>
        <p:spPr>
          <a:xfrm>
            <a:off x="786384" y="1645920"/>
            <a:ext cx="365760" cy="365760"/>
          </a:xfrm>
          <a:prstGeom prst="ellipse">
            <a:avLst/>
          </a:prstGeom>
          <a:solidFill>
            <a:srgbClr val="00A896"/>
          </a:solidFill>
          <a:ln/>
        </p:spPr>
        <p:txBody>
          <a:bodyPr/>
          <a:lstStyle/>
          <a:p>
            <a:endParaRPr lang="fr-FR"/>
          </a:p>
        </p:txBody>
      </p:sp>
      <p:sp>
        <p:nvSpPr>
          <p:cNvPr id="8" name="Text 6"/>
          <p:cNvSpPr/>
          <p:nvPr/>
        </p:nvSpPr>
        <p:spPr>
          <a:xfrm>
            <a:off x="786384" y="16459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61872" y="1645920"/>
            <a:ext cx="2651760" cy="365760"/>
          </a:xfrm>
          <a:prstGeom prst="rect">
            <a:avLst/>
          </a:prstGeom>
          <a:noFill/>
          <a:ln/>
        </p:spPr>
        <p:txBody>
          <a:bodyPr wrap="square" lIns="0" tIns="0" rIns="0" bIns="0" rtlCol="0" anchor="ctr"/>
          <a:lstStyle/>
          <a:p>
            <a:pPr marL="0" indent="0">
              <a:buNone/>
            </a:pPr>
            <a:r>
              <a:rPr lang="en-US" sz="1300" b="1" dirty="0">
                <a:solidFill>
                  <a:srgbClr val="00A896"/>
                </a:solidFill>
                <a:latin typeface="Courier New" pitchFamily="34" charset="0"/>
                <a:ea typeface="Courier New" pitchFamily="34" charset="-122"/>
                <a:cs typeface="Courier New" pitchFamily="34" charset="-120"/>
              </a:rPr>
              <a:t>checks</a:t>
            </a:r>
            <a:endParaRPr lang="en-US" sz="1300" dirty="0"/>
          </a:p>
        </p:txBody>
      </p:sp>
      <p:sp>
        <p:nvSpPr>
          <p:cNvPr id="10" name="Text 8"/>
          <p:cNvSpPr/>
          <p:nvPr/>
        </p:nvSpPr>
        <p:spPr>
          <a:xfrm>
            <a:off x="804672" y="2121408"/>
            <a:ext cx="3017520" cy="1243584"/>
          </a:xfrm>
          <a:prstGeom prst="rect">
            <a:avLst/>
          </a:prstGeom>
          <a:noFill/>
          <a:ln/>
        </p:spPr>
        <p:txBody>
          <a:bodyPr wrap="square" lIns="0" tIns="0" rIns="0" bIns="0" rtlCol="0" anchor="ctr"/>
          <a:lstStyle/>
          <a:p>
            <a:pPr marL="0" indent="0">
              <a:lnSpc>
                <a:spcPts val="1200"/>
              </a:lnSpc>
              <a:buNone/>
            </a:pPr>
            <a:r>
              <a:rPr lang="en-US" sz="930" dirty="0">
                <a:solidFill>
                  <a:srgbClr val="C4D3E0"/>
                </a:solidFill>
                <a:latin typeface="Calibri" pitchFamily="34" charset="0"/>
                <a:ea typeface="Calibri" pitchFamily="34" charset="-122"/>
                <a:cs typeface="Calibri" pitchFamily="34" charset="-120"/>
              </a:rPr>
              <a:t>218 tests Jest exécutés via bun run test --ci, plus terraform fmt -check et terraform validate. Porte de qualité bloquante : aucune image n'est construite et aucun serveur n'est touché tant que le code et l'infrastructure ne sont pas jugés sains.</a:t>
            </a:r>
            <a:endParaRPr lang="en-US" sz="930" dirty="0"/>
          </a:p>
        </p:txBody>
      </p:sp>
      <p:sp>
        <p:nvSpPr>
          <p:cNvPr id="11" name="Shape 9"/>
          <p:cNvSpPr/>
          <p:nvPr/>
        </p:nvSpPr>
        <p:spPr>
          <a:xfrm>
            <a:off x="4334256" y="1444752"/>
            <a:ext cx="3520440" cy="2029968"/>
          </a:xfrm>
          <a:prstGeom prst="roundRect">
            <a:avLst>
              <a:gd name="adj" fmla="val 2703"/>
            </a:avLst>
          </a:prstGeom>
          <a:solidFill>
            <a:srgbClr val="EEF3F7"/>
          </a:solidFill>
          <a:ln/>
        </p:spPr>
        <p:txBody>
          <a:bodyPr/>
          <a:lstStyle/>
          <a:p>
            <a:endParaRPr lang="fr-FR"/>
          </a:p>
        </p:txBody>
      </p:sp>
      <p:sp>
        <p:nvSpPr>
          <p:cNvPr id="12" name="Shape 10"/>
          <p:cNvSpPr/>
          <p:nvPr/>
        </p:nvSpPr>
        <p:spPr>
          <a:xfrm>
            <a:off x="4572000" y="1645920"/>
            <a:ext cx="365760" cy="365760"/>
          </a:xfrm>
          <a:prstGeom prst="ellipse">
            <a:avLst/>
          </a:prstGeom>
          <a:solidFill>
            <a:srgbClr val="12263F"/>
          </a:solidFill>
          <a:ln/>
        </p:spPr>
        <p:txBody>
          <a:bodyPr/>
          <a:lstStyle/>
          <a:p>
            <a:endParaRPr lang="fr-FR"/>
          </a:p>
        </p:txBody>
      </p:sp>
      <p:sp>
        <p:nvSpPr>
          <p:cNvPr id="13" name="Text 11"/>
          <p:cNvSpPr/>
          <p:nvPr/>
        </p:nvSpPr>
        <p:spPr>
          <a:xfrm>
            <a:off x="4572000" y="16459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5047488" y="1645920"/>
            <a:ext cx="2651760" cy="365760"/>
          </a:xfrm>
          <a:prstGeom prst="rect">
            <a:avLst/>
          </a:prstGeom>
          <a:noFill/>
          <a:ln/>
        </p:spPr>
        <p:txBody>
          <a:bodyPr wrap="square" lIns="0" tIns="0" rIns="0" bIns="0" rtlCol="0" anchor="ctr"/>
          <a:lstStyle/>
          <a:p>
            <a:pPr marL="0" indent="0">
              <a:buNone/>
            </a:pPr>
            <a:r>
              <a:rPr lang="en-US" sz="1300" b="1" dirty="0">
                <a:solidFill>
                  <a:srgbClr val="12263F"/>
                </a:solidFill>
                <a:latin typeface="Courier New" pitchFamily="34" charset="0"/>
                <a:ea typeface="Courier New" pitchFamily="34" charset="-122"/>
                <a:cs typeface="Courier New" pitchFamily="34" charset="-120"/>
              </a:rPr>
              <a:t>versions</a:t>
            </a:r>
            <a:endParaRPr lang="en-US" sz="1300" dirty="0"/>
          </a:p>
        </p:txBody>
      </p:sp>
      <p:sp>
        <p:nvSpPr>
          <p:cNvPr id="15" name="Text 13"/>
          <p:cNvSpPr/>
          <p:nvPr/>
        </p:nvSpPr>
        <p:spPr>
          <a:xfrm>
            <a:off x="4590288" y="2121408"/>
            <a:ext cx="3017520" cy="1243584"/>
          </a:xfrm>
          <a:prstGeom prst="rect">
            <a:avLst/>
          </a:prstGeom>
          <a:noFill/>
          <a:ln/>
        </p:spPr>
        <p:txBody>
          <a:bodyPr wrap="square" lIns="0" tIns="0" rIns="0" bIns="0" rtlCol="0" anchor="ctr"/>
          <a:lstStyle/>
          <a:p>
            <a:pPr marL="0" indent="0">
              <a:lnSpc>
                <a:spcPts val="1200"/>
              </a:lnSpc>
              <a:buNone/>
            </a:pPr>
            <a:r>
              <a:rPr lang="en-US" sz="930" dirty="0">
                <a:solidFill>
                  <a:srgbClr val="4A5769"/>
                </a:solidFill>
                <a:latin typeface="Calibri" pitchFamily="34" charset="0"/>
                <a:ea typeface="Calibri" pitchFamily="34" charset="-122"/>
                <a:cs typeface="Calibri" pitchFamily="34" charset="-120"/>
              </a:rPr>
              <a:t>Calcul, pour chaque service, d'une étiquette d'image égale au SHA du dernier commit ayant modifié son répertoire. C'est le pivot de l'immutabilité : sans changement de code, la même image est réutilisée à l'identique.</a:t>
            </a:r>
            <a:endParaRPr lang="en-US" sz="930" dirty="0"/>
          </a:p>
        </p:txBody>
      </p:sp>
      <p:sp>
        <p:nvSpPr>
          <p:cNvPr id="16" name="Shape 14"/>
          <p:cNvSpPr/>
          <p:nvPr/>
        </p:nvSpPr>
        <p:spPr>
          <a:xfrm>
            <a:off x="8119872" y="1444752"/>
            <a:ext cx="3520440" cy="2029968"/>
          </a:xfrm>
          <a:prstGeom prst="roundRect">
            <a:avLst>
              <a:gd name="adj" fmla="val 2703"/>
            </a:avLst>
          </a:prstGeom>
          <a:solidFill>
            <a:srgbClr val="EEF3F7"/>
          </a:solidFill>
          <a:ln/>
        </p:spPr>
        <p:txBody>
          <a:bodyPr/>
          <a:lstStyle/>
          <a:p>
            <a:endParaRPr lang="fr-FR"/>
          </a:p>
        </p:txBody>
      </p:sp>
      <p:sp>
        <p:nvSpPr>
          <p:cNvPr id="17" name="Shape 15"/>
          <p:cNvSpPr/>
          <p:nvPr/>
        </p:nvSpPr>
        <p:spPr>
          <a:xfrm>
            <a:off x="8357616" y="1645920"/>
            <a:ext cx="365760" cy="365760"/>
          </a:xfrm>
          <a:prstGeom prst="ellipse">
            <a:avLst/>
          </a:prstGeom>
          <a:solidFill>
            <a:srgbClr val="12263F"/>
          </a:solidFill>
          <a:ln/>
        </p:spPr>
        <p:txBody>
          <a:bodyPr/>
          <a:lstStyle/>
          <a:p>
            <a:endParaRPr lang="fr-FR"/>
          </a:p>
        </p:txBody>
      </p:sp>
      <p:sp>
        <p:nvSpPr>
          <p:cNvPr id="18" name="Text 16"/>
          <p:cNvSpPr/>
          <p:nvPr/>
        </p:nvSpPr>
        <p:spPr>
          <a:xfrm>
            <a:off x="8357616" y="16459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833104" y="1645920"/>
            <a:ext cx="2651760" cy="365760"/>
          </a:xfrm>
          <a:prstGeom prst="rect">
            <a:avLst/>
          </a:prstGeom>
          <a:noFill/>
          <a:ln/>
        </p:spPr>
        <p:txBody>
          <a:bodyPr wrap="square" lIns="0" tIns="0" rIns="0" bIns="0" rtlCol="0" anchor="ctr"/>
          <a:lstStyle/>
          <a:p>
            <a:pPr marL="0" indent="0">
              <a:buNone/>
            </a:pPr>
            <a:r>
              <a:rPr lang="en-US" sz="1300" b="1" dirty="0">
                <a:solidFill>
                  <a:srgbClr val="12263F"/>
                </a:solidFill>
                <a:latin typeface="Courier New" pitchFamily="34" charset="0"/>
                <a:ea typeface="Courier New" pitchFamily="34" charset="-122"/>
                <a:cs typeface="Courier New" pitchFamily="34" charset="-120"/>
              </a:rPr>
              <a:t>terraform</a:t>
            </a:r>
            <a:endParaRPr lang="en-US" sz="1300" dirty="0"/>
          </a:p>
        </p:txBody>
      </p:sp>
      <p:sp>
        <p:nvSpPr>
          <p:cNvPr id="20" name="Text 18"/>
          <p:cNvSpPr/>
          <p:nvPr/>
        </p:nvSpPr>
        <p:spPr>
          <a:xfrm>
            <a:off x="8375904" y="2121408"/>
            <a:ext cx="3017520" cy="1243584"/>
          </a:xfrm>
          <a:prstGeom prst="rect">
            <a:avLst/>
          </a:prstGeom>
          <a:noFill/>
          <a:ln/>
        </p:spPr>
        <p:txBody>
          <a:bodyPr wrap="square" lIns="0" tIns="0" rIns="0" bIns="0" rtlCol="0" anchor="ctr"/>
          <a:lstStyle/>
          <a:p>
            <a:pPr marL="0" indent="0">
              <a:lnSpc>
                <a:spcPts val="1200"/>
              </a:lnSpc>
              <a:buNone/>
            </a:pPr>
            <a:r>
              <a:rPr lang="en-US" sz="930" dirty="0">
                <a:solidFill>
                  <a:srgbClr val="4A5769"/>
                </a:solidFill>
                <a:latin typeface="Calibri" pitchFamily="34" charset="0"/>
                <a:ea typeface="Calibri" pitchFamily="34" charset="-122"/>
                <a:cs typeface="Calibri" pitchFamily="34" charset="-120"/>
              </a:rPr>
              <a:t>plan -detailed-exitcode distingue trois issues : aucun changement, changement à appliquer, erreur. L'apply n'a lieu que dans le deuxième cas, et cette décision est propagée aux étapes suivantes.</a:t>
            </a:r>
            <a:endParaRPr lang="en-US" sz="930" dirty="0"/>
          </a:p>
        </p:txBody>
      </p:sp>
      <p:sp>
        <p:nvSpPr>
          <p:cNvPr id="21" name="Shape 19"/>
          <p:cNvSpPr/>
          <p:nvPr/>
        </p:nvSpPr>
        <p:spPr>
          <a:xfrm>
            <a:off x="548640" y="3657600"/>
            <a:ext cx="3520440" cy="2029968"/>
          </a:xfrm>
          <a:prstGeom prst="roundRect">
            <a:avLst>
              <a:gd name="adj" fmla="val 2703"/>
            </a:avLst>
          </a:prstGeom>
          <a:solidFill>
            <a:srgbClr val="EEF3F7"/>
          </a:solidFill>
          <a:ln/>
        </p:spPr>
        <p:txBody>
          <a:bodyPr/>
          <a:lstStyle/>
          <a:p>
            <a:endParaRPr lang="fr-FR"/>
          </a:p>
        </p:txBody>
      </p:sp>
      <p:sp>
        <p:nvSpPr>
          <p:cNvPr id="22" name="Shape 20"/>
          <p:cNvSpPr/>
          <p:nvPr/>
        </p:nvSpPr>
        <p:spPr>
          <a:xfrm>
            <a:off x="786384" y="3858768"/>
            <a:ext cx="365760" cy="365760"/>
          </a:xfrm>
          <a:prstGeom prst="ellipse">
            <a:avLst/>
          </a:prstGeom>
          <a:solidFill>
            <a:srgbClr val="12263F"/>
          </a:solidFill>
          <a:ln/>
        </p:spPr>
        <p:txBody>
          <a:bodyPr/>
          <a:lstStyle/>
          <a:p>
            <a:endParaRPr lang="fr-FR"/>
          </a:p>
        </p:txBody>
      </p:sp>
      <p:sp>
        <p:nvSpPr>
          <p:cNvPr id="23" name="Text 21"/>
          <p:cNvSpPr/>
          <p:nvPr/>
        </p:nvSpPr>
        <p:spPr>
          <a:xfrm>
            <a:off x="786384" y="38587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261872" y="3858768"/>
            <a:ext cx="2651760" cy="365760"/>
          </a:xfrm>
          <a:prstGeom prst="rect">
            <a:avLst/>
          </a:prstGeom>
          <a:noFill/>
          <a:ln/>
        </p:spPr>
        <p:txBody>
          <a:bodyPr wrap="square" lIns="0" tIns="0" rIns="0" bIns="0" rtlCol="0" anchor="ctr"/>
          <a:lstStyle/>
          <a:p>
            <a:pPr marL="0" indent="0">
              <a:buNone/>
            </a:pPr>
            <a:r>
              <a:rPr lang="en-US" sz="1300" b="1" dirty="0">
                <a:solidFill>
                  <a:srgbClr val="12263F"/>
                </a:solidFill>
                <a:latin typeface="Courier New" pitchFamily="34" charset="0"/>
                <a:ea typeface="Courier New" pitchFamily="34" charset="-122"/>
                <a:cs typeface="Courier New" pitchFamily="34" charset="-120"/>
              </a:rPr>
              <a:t>build</a:t>
            </a:r>
            <a:endParaRPr lang="en-US" sz="1300" dirty="0"/>
          </a:p>
        </p:txBody>
      </p:sp>
      <p:sp>
        <p:nvSpPr>
          <p:cNvPr id="25" name="Text 23"/>
          <p:cNvSpPr/>
          <p:nvPr/>
        </p:nvSpPr>
        <p:spPr>
          <a:xfrm>
            <a:off x="804672" y="4334256"/>
            <a:ext cx="3017520" cy="1243584"/>
          </a:xfrm>
          <a:prstGeom prst="rect">
            <a:avLst/>
          </a:prstGeom>
          <a:noFill/>
          <a:ln/>
        </p:spPr>
        <p:txBody>
          <a:bodyPr wrap="square" lIns="0" tIns="0" rIns="0" bIns="0" rtlCol="0" anchor="ctr"/>
          <a:lstStyle/>
          <a:p>
            <a:pPr marL="0" indent="0">
              <a:lnSpc>
                <a:spcPts val="1200"/>
              </a:lnSpc>
              <a:buNone/>
            </a:pPr>
            <a:r>
              <a:rPr lang="en-US" sz="930" dirty="0">
                <a:solidFill>
                  <a:srgbClr val="4A5769"/>
                </a:solidFill>
                <a:latin typeface="Calibri" pitchFamily="34" charset="0"/>
                <a:ea typeface="Calibri" pitchFamily="34" charset="-122"/>
                <a:cs typeface="Calibri" pitchFamily="34" charset="-120"/>
              </a:rPr>
              <a:t>Interrogation préalable du registre GHCR : si l'image portant l'étiquette SHA existe déjà, la construction est purement sautée. Sinon, build avec cache de couches GitHub Actions, puis push sous deux étiquettes.</a:t>
            </a:r>
            <a:endParaRPr lang="en-US" sz="930" dirty="0"/>
          </a:p>
        </p:txBody>
      </p:sp>
      <p:sp>
        <p:nvSpPr>
          <p:cNvPr id="26" name="Shape 24"/>
          <p:cNvSpPr/>
          <p:nvPr/>
        </p:nvSpPr>
        <p:spPr>
          <a:xfrm>
            <a:off x="4334256" y="3657600"/>
            <a:ext cx="3520440" cy="2029968"/>
          </a:xfrm>
          <a:prstGeom prst="roundRect">
            <a:avLst>
              <a:gd name="adj" fmla="val 2703"/>
            </a:avLst>
          </a:prstGeom>
          <a:solidFill>
            <a:srgbClr val="EEF3F7"/>
          </a:solidFill>
          <a:ln/>
        </p:spPr>
        <p:txBody>
          <a:bodyPr/>
          <a:lstStyle/>
          <a:p>
            <a:endParaRPr lang="fr-FR"/>
          </a:p>
        </p:txBody>
      </p:sp>
      <p:sp>
        <p:nvSpPr>
          <p:cNvPr id="27" name="Shape 25"/>
          <p:cNvSpPr/>
          <p:nvPr/>
        </p:nvSpPr>
        <p:spPr>
          <a:xfrm>
            <a:off x="4572000" y="3858768"/>
            <a:ext cx="365760" cy="365760"/>
          </a:xfrm>
          <a:prstGeom prst="ellipse">
            <a:avLst/>
          </a:prstGeom>
          <a:solidFill>
            <a:srgbClr val="12263F"/>
          </a:solidFill>
          <a:ln/>
        </p:spPr>
        <p:txBody>
          <a:bodyPr/>
          <a:lstStyle/>
          <a:p>
            <a:endParaRPr lang="fr-FR"/>
          </a:p>
        </p:txBody>
      </p:sp>
      <p:sp>
        <p:nvSpPr>
          <p:cNvPr id="28" name="Text 26"/>
          <p:cNvSpPr/>
          <p:nvPr/>
        </p:nvSpPr>
        <p:spPr>
          <a:xfrm>
            <a:off x="4572000" y="38587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5047488" y="3858768"/>
            <a:ext cx="2651760" cy="365760"/>
          </a:xfrm>
          <a:prstGeom prst="rect">
            <a:avLst/>
          </a:prstGeom>
          <a:noFill/>
          <a:ln/>
        </p:spPr>
        <p:txBody>
          <a:bodyPr wrap="square" lIns="0" tIns="0" rIns="0" bIns="0" rtlCol="0" anchor="ctr"/>
          <a:lstStyle/>
          <a:p>
            <a:pPr marL="0" indent="0">
              <a:buNone/>
            </a:pPr>
            <a:r>
              <a:rPr lang="en-US" sz="1300" b="1" dirty="0">
                <a:solidFill>
                  <a:srgbClr val="12263F"/>
                </a:solidFill>
                <a:latin typeface="Courier New" pitchFamily="34" charset="0"/>
                <a:ea typeface="Courier New" pitchFamily="34" charset="-122"/>
                <a:cs typeface="Courier New" pitchFamily="34" charset="-120"/>
              </a:rPr>
              <a:t>provision</a:t>
            </a:r>
            <a:endParaRPr lang="en-US" sz="1300" dirty="0"/>
          </a:p>
        </p:txBody>
      </p:sp>
      <p:sp>
        <p:nvSpPr>
          <p:cNvPr id="30" name="Text 28"/>
          <p:cNvSpPr/>
          <p:nvPr/>
        </p:nvSpPr>
        <p:spPr>
          <a:xfrm>
            <a:off x="4590288" y="4334256"/>
            <a:ext cx="3017520" cy="1243584"/>
          </a:xfrm>
          <a:prstGeom prst="rect">
            <a:avLst/>
          </a:prstGeom>
          <a:noFill/>
          <a:ln/>
        </p:spPr>
        <p:txBody>
          <a:bodyPr wrap="square" lIns="0" tIns="0" rIns="0" bIns="0" rtlCol="0" anchor="ctr"/>
          <a:lstStyle/>
          <a:p>
            <a:pPr marL="0" indent="0">
              <a:lnSpc>
                <a:spcPts val="1200"/>
              </a:lnSpc>
              <a:buNone/>
            </a:pPr>
            <a:r>
              <a:rPr lang="en-US" sz="930" dirty="0">
                <a:solidFill>
                  <a:srgbClr val="4A5769"/>
                </a:solidFill>
                <a:latin typeface="Calibri" pitchFamily="34" charset="0"/>
                <a:ea typeface="Calibri" pitchFamily="34" charset="-122"/>
                <a:cs typeface="Calibri" pitchFamily="34" charset="-120"/>
              </a:rPr>
              <a:t>Playbook Ansible reconfigurant les nœuds et le cluster Swarm — déclenché uniquement si Terraform a effectivement modifié la topologie. Reconfigurer des serveurs inchangés serait inutile et risqué.</a:t>
            </a:r>
            <a:endParaRPr lang="en-US" sz="930" dirty="0"/>
          </a:p>
        </p:txBody>
      </p:sp>
      <p:sp>
        <p:nvSpPr>
          <p:cNvPr id="31" name="Shape 29"/>
          <p:cNvSpPr/>
          <p:nvPr/>
        </p:nvSpPr>
        <p:spPr>
          <a:xfrm>
            <a:off x="8119872" y="3657600"/>
            <a:ext cx="3520440" cy="2029968"/>
          </a:xfrm>
          <a:prstGeom prst="roundRect">
            <a:avLst>
              <a:gd name="adj" fmla="val 2703"/>
            </a:avLst>
          </a:prstGeom>
          <a:solidFill>
            <a:srgbClr val="EEF3F7"/>
          </a:solidFill>
          <a:ln/>
        </p:spPr>
        <p:txBody>
          <a:bodyPr/>
          <a:lstStyle/>
          <a:p>
            <a:endParaRPr lang="fr-FR"/>
          </a:p>
        </p:txBody>
      </p:sp>
      <p:sp>
        <p:nvSpPr>
          <p:cNvPr id="32" name="Shape 30"/>
          <p:cNvSpPr/>
          <p:nvPr/>
        </p:nvSpPr>
        <p:spPr>
          <a:xfrm>
            <a:off x="8357616" y="3858768"/>
            <a:ext cx="365760" cy="365760"/>
          </a:xfrm>
          <a:prstGeom prst="ellipse">
            <a:avLst/>
          </a:prstGeom>
          <a:solidFill>
            <a:srgbClr val="12263F"/>
          </a:solidFill>
          <a:ln/>
        </p:spPr>
        <p:txBody>
          <a:bodyPr/>
          <a:lstStyle/>
          <a:p>
            <a:endParaRPr lang="fr-FR"/>
          </a:p>
        </p:txBody>
      </p:sp>
      <p:sp>
        <p:nvSpPr>
          <p:cNvPr id="33" name="Text 31"/>
          <p:cNvSpPr/>
          <p:nvPr/>
        </p:nvSpPr>
        <p:spPr>
          <a:xfrm>
            <a:off x="8357616" y="38587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4" name="Text 32"/>
          <p:cNvSpPr/>
          <p:nvPr/>
        </p:nvSpPr>
        <p:spPr>
          <a:xfrm>
            <a:off x="8833104" y="3858768"/>
            <a:ext cx="2651760" cy="365760"/>
          </a:xfrm>
          <a:prstGeom prst="rect">
            <a:avLst/>
          </a:prstGeom>
          <a:noFill/>
          <a:ln/>
        </p:spPr>
        <p:txBody>
          <a:bodyPr wrap="square" lIns="0" tIns="0" rIns="0" bIns="0" rtlCol="0" anchor="ctr"/>
          <a:lstStyle/>
          <a:p>
            <a:pPr marL="0" indent="0">
              <a:buNone/>
            </a:pPr>
            <a:r>
              <a:rPr lang="en-US" sz="1300" b="1" dirty="0">
                <a:solidFill>
                  <a:srgbClr val="12263F"/>
                </a:solidFill>
                <a:latin typeface="Courier New" pitchFamily="34" charset="0"/>
                <a:ea typeface="Courier New" pitchFamily="34" charset="-122"/>
                <a:cs typeface="Courier New" pitchFamily="34" charset="-120"/>
              </a:rPr>
              <a:t>deploy</a:t>
            </a:r>
            <a:endParaRPr lang="en-US" sz="1300" dirty="0"/>
          </a:p>
        </p:txBody>
      </p:sp>
      <p:sp>
        <p:nvSpPr>
          <p:cNvPr id="35" name="Text 33"/>
          <p:cNvSpPr/>
          <p:nvPr/>
        </p:nvSpPr>
        <p:spPr>
          <a:xfrm>
            <a:off x="8375904" y="4334256"/>
            <a:ext cx="3017520" cy="1243584"/>
          </a:xfrm>
          <a:prstGeom prst="rect">
            <a:avLst/>
          </a:prstGeom>
          <a:noFill/>
          <a:ln/>
        </p:spPr>
        <p:txBody>
          <a:bodyPr wrap="square" lIns="0" tIns="0" rIns="0" bIns="0" rtlCol="0" anchor="ctr"/>
          <a:lstStyle/>
          <a:p>
            <a:pPr marL="0" indent="0">
              <a:lnSpc>
                <a:spcPts val="1200"/>
              </a:lnSpc>
              <a:buNone/>
            </a:pPr>
            <a:r>
              <a:rPr lang="en-US" sz="930" dirty="0">
                <a:solidFill>
                  <a:srgbClr val="4A5769"/>
                </a:solidFill>
                <a:latin typeface="Calibri" pitchFamily="34" charset="0"/>
                <a:ea typeface="Calibri" pitchFamily="34" charset="-122"/>
                <a:cs typeface="Calibri" pitchFamily="34" charset="-120"/>
              </a:rPr>
              <a:t>Rollout de la pile, puis exécution des migrations TypeORM après le déploiement, dans un conteneur éphémère raccordé au réseau interne, une fois la sonde pg_isready satisfaite. Rejouable sans effet de bord.</a:t>
            </a:r>
            <a:endParaRPr lang="en-US" sz="930" dirty="0"/>
          </a:p>
        </p:txBody>
      </p:sp>
      <p:sp>
        <p:nvSpPr>
          <p:cNvPr id="36" name="Shape 34"/>
          <p:cNvSpPr/>
          <p:nvPr/>
        </p:nvSpPr>
        <p:spPr>
          <a:xfrm>
            <a:off x="548640" y="5870448"/>
            <a:ext cx="11091672" cy="457200"/>
          </a:xfrm>
          <a:prstGeom prst="roundRect">
            <a:avLst>
              <a:gd name="adj" fmla="val 10000"/>
            </a:avLst>
          </a:prstGeom>
          <a:solidFill>
            <a:srgbClr val="12263F"/>
          </a:solidFill>
          <a:ln/>
        </p:spPr>
        <p:txBody>
          <a:bodyPr/>
          <a:lstStyle/>
          <a:p>
            <a:endParaRPr lang="fr-FR"/>
          </a:p>
        </p:txBody>
      </p:sp>
      <p:sp>
        <p:nvSpPr>
          <p:cNvPr id="37" name="Text 35"/>
          <p:cNvSpPr/>
          <p:nvPr/>
        </p:nvSpPr>
        <p:spPr>
          <a:xfrm>
            <a:off x="548640" y="5870448"/>
            <a:ext cx="11091672" cy="457200"/>
          </a:xfrm>
          <a:prstGeom prst="rect">
            <a:avLst/>
          </a:prstGeom>
          <a:noFill/>
          <a:ln/>
        </p:spPr>
        <p:txBody>
          <a:bodyPr wrap="square" lIns="0" tIns="0" rIns="0" bIns="0" rtlCol="0" anchor="ctr"/>
          <a:lstStyle/>
          <a:p>
            <a:pPr marL="0" indent="0" algn="ctr">
              <a:buNone/>
            </a:pPr>
            <a:r>
              <a:rPr lang="en-US" sz="1000" dirty="0">
                <a:solidFill>
                  <a:srgbClr val="C4D3E0"/>
                </a:solidFill>
                <a:latin typeface="Calibri" pitchFamily="34" charset="0"/>
                <a:ea typeface="Calibri" pitchFamily="34" charset="-122"/>
                <a:cs typeface="Calibri" pitchFamily="34" charset="-120"/>
              </a:rPr>
              <a:t>Garde-fous : le pipeline saas-cdn refuse tout plan hors périmètre ou détruisant un bucket critique · secrets injectés depuis les environnements GitHub · permissions minimales · groupe de concurrence.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5.2 TECHNOLOGIES ET OUTILS UTILISÉS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8 — Chaîne de déploiement CI/CD du SaaS</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flux orienté de gauche à droite, avec deux phases encadrées (intégration puis déploiement) et des branches conditionnelles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Rendre lisible en un coup d'œil l'enchaînement des six jobs et leurs dépendances réelles, ainsi que les points où le pipeline se bloque ou s'économise du travail.</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six étapes nommées : checks, versions, terraform, build, provision, deploy</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dépendances réelles entre jobs (certaines s'exécutent en parallèle, pas en file d'attente)</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porte de qualité bloquante sur checks, matérialisée par un symbole d'arrêt</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deux branchements conditionnels : apply seulement si écart Terraform, build sauté si l'image SHA existe déjà</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L'exécution des migrations TypeORM après le rollout, dans un conteneur éphémère</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encadré séparé pour les deux autres pipelines (site statique et périmètre CDN / sauvegardes)</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Mermaid (flowchart LR) ou draw.io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BC4C · C29 — conception et implémentation des pipelines CI/CD, pratiques GitOps, qualité et sécurité du code</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5.2 TECHNOLOGIES ET OUTILS UTILISÉS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Orchestration : pourquoi Docker Swarm plutôt que Kubernetes ?</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48640" y="1371600"/>
            <a:ext cx="5449824" cy="2450592"/>
          </a:xfrm>
          <a:prstGeom prst="roundRect">
            <a:avLst>
              <a:gd name="adj" fmla="val 2239"/>
            </a:avLst>
          </a:prstGeom>
          <a:solidFill>
            <a:srgbClr val="EEF3F7"/>
          </a:solidFill>
          <a:ln/>
        </p:spPr>
        <p:txBody>
          <a:bodyPr/>
          <a:lstStyle/>
          <a:p>
            <a:endParaRPr lang="fr-FR"/>
          </a:p>
        </p:txBody>
      </p:sp>
      <p:sp>
        <p:nvSpPr>
          <p:cNvPr id="7" name="Text 5"/>
          <p:cNvSpPr/>
          <p:nvPr/>
        </p:nvSpPr>
        <p:spPr>
          <a:xfrm>
            <a:off x="822960" y="1591056"/>
            <a:ext cx="4937760"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Kubernetes — écarté par proportionnalité</a:t>
            </a:r>
            <a:endParaRPr lang="en-US" sz="1400" dirty="0"/>
          </a:p>
        </p:txBody>
      </p:sp>
      <p:sp>
        <p:nvSpPr>
          <p:cNvPr id="8" name="Text 6"/>
          <p:cNvSpPr/>
          <p:nvPr/>
        </p:nvSpPr>
        <p:spPr>
          <a:xfrm>
            <a:off x="822960" y="1938528"/>
            <a:ext cx="4937760" cy="1783080"/>
          </a:xfrm>
          <a:prstGeom prst="rect">
            <a:avLst/>
          </a:prstGeom>
          <a:noFill/>
          <a:ln/>
        </p:spPr>
        <p:txBody>
          <a:bodyPr wrap="square" lIns="0" tIns="0" rIns="0" bIns="0" rtlCol="0" anchor="ctr"/>
          <a:lstStyle/>
          <a:p>
            <a:pPr marL="342900" indent="-342900">
              <a:spcAft>
                <a:spcPts val="400"/>
              </a:spcAft>
              <a:buSzPct val="100000"/>
              <a:buChar char="▪"/>
            </a:pPr>
            <a:r>
              <a:rPr lang="en-US" sz="1030" dirty="0">
                <a:solidFill>
                  <a:srgbClr val="4A5769"/>
                </a:solidFill>
                <a:latin typeface="Calibri" pitchFamily="34" charset="0"/>
                <a:ea typeface="Calibri" pitchFamily="34" charset="-122"/>
                <a:cs typeface="Calibri" pitchFamily="34" charset="-120"/>
              </a:rPr>
              <a:t>Plan de contrôle à maintenir, écosystème d'objets et de contrôleurs</a:t>
            </a:r>
            <a:endParaRPr lang="en-US" sz="1030" dirty="0"/>
          </a:p>
          <a:p>
            <a:pPr marL="342900" indent="-342900">
              <a:spcAft>
                <a:spcPts val="400"/>
              </a:spcAft>
              <a:buSzPct val="100000"/>
              <a:buChar char="▪"/>
            </a:pPr>
            <a:r>
              <a:rPr lang="en-US" sz="1030" dirty="0">
                <a:solidFill>
                  <a:srgbClr val="4A5769"/>
                </a:solidFill>
                <a:latin typeface="Calibri" pitchFamily="34" charset="0"/>
                <a:ea typeface="Calibri" pitchFamily="34" charset="-122"/>
                <a:cs typeface="Calibri" pitchFamily="34" charset="-120"/>
              </a:rPr>
              <a:t>Surcoût de calcul permanent, donc coût financier et énergétique</a:t>
            </a:r>
            <a:endParaRPr lang="en-US" sz="1030" dirty="0"/>
          </a:p>
          <a:p>
            <a:pPr marL="342900" indent="-342900">
              <a:spcAft>
                <a:spcPts val="400"/>
              </a:spcAft>
              <a:buSzPct val="100000"/>
              <a:buChar char="▪"/>
            </a:pPr>
            <a:r>
              <a:rPr lang="en-US" sz="1030" dirty="0">
                <a:solidFill>
                  <a:srgbClr val="4A5769"/>
                </a:solidFill>
                <a:latin typeface="Calibri" pitchFamily="34" charset="0"/>
                <a:ea typeface="Calibri" pitchFamily="34" charset="-122"/>
                <a:cs typeface="Calibri" pitchFamily="34" charset="-120"/>
              </a:rPr>
              <a:t>Complexité opérationnelle sans contrepartie décisive sur quelques nœuds opérés par une équipe restreinte</a:t>
            </a:r>
            <a:endParaRPr lang="en-US" sz="1030" dirty="0"/>
          </a:p>
          <a:p>
            <a:pPr marL="342900" indent="-342900">
              <a:spcAft>
                <a:spcPts val="400"/>
              </a:spcAft>
              <a:buSzPct val="100000"/>
              <a:buChar char="▪"/>
            </a:pPr>
            <a:r>
              <a:rPr lang="en-US" sz="1030" dirty="0">
                <a:solidFill>
                  <a:srgbClr val="4A5769"/>
                </a:solidFill>
                <a:latin typeface="Calibri" pitchFamily="34" charset="0"/>
                <a:ea typeface="Calibri" pitchFamily="34" charset="-122"/>
                <a:cs typeface="Calibri" pitchFamily="34" charset="-120"/>
              </a:rPr>
              <a:t>Conservé comme cible d'évolution (k3s, Nomad également évalués)</a:t>
            </a:r>
            <a:endParaRPr lang="en-US" sz="1030" dirty="0"/>
          </a:p>
        </p:txBody>
      </p:sp>
      <p:sp>
        <p:nvSpPr>
          <p:cNvPr id="9" name="Shape 7"/>
          <p:cNvSpPr/>
          <p:nvPr/>
        </p:nvSpPr>
        <p:spPr>
          <a:xfrm>
            <a:off x="6190488" y="1371600"/>
            <a:ext cx="5449824" cy="2450592"/>
          </a:xfrm>
          <a:prstGeom prst="roundRect">
            <a:avLst>
              <a:gd name="adj" fmla="val 2239"/>
            </a:avLst>
          </a:prstGeom>
          <a:solidFill>
            <a:srgbClr val="12263F"/>
          </a:solidFill>
          <a:ln/>
        </p:spPr>
        <p:txBody>
          <a:bodyPr/>
          <a:lstStyle/>
          <a:p>
            <a:endParaRPr lang="fr-FR"/>
          </a:p>
        </p:txBody>
      </p:sp>
      <p:sp>
        <p:nvSpPr>
          <p:cNvPr id="10" name="Text 8"/>
          <p:cNvSpPr/>
          <p:nvPr/>
        </p:nvSpPr>
        <p:spPr>
          <a:xfrm>
            <a:off x="6464808" y="1591056"/>
            <a:ext cx="4937760" cy="310896"/>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Docker Swarm — retenu</a:t>
            </a:r>
            <a:endParaRPr lang="en-US" sz="1400" dirty="0"/>
          </a:p>
        </p:txBody>
      </p:sp>
      <p:sp>
        <p:nvSpPr>
          <p:cNvPr id="11" name="Text 9"/>
          <p:cNvSpPr/>
          <p:nvPr/>
        </p:nvSpPr>
        <p:spPr>
          <a:xfrm>
            <a:off x="6464808" y="1938528"/>
            <a:ext cx="4937760" cy="1783080"/>
          </a:xfrm>
          <a:prstGeom prst="rect">
            <a:avLst/>
          </a:prstGeom>
          <a:noFill/>
          <a:ln/>
        </p:spPr>
        <p:txBody>
          <a:bodyPr wrap="square" lIns="0" tIns="0" rIns="0" bIns="0" rtlCol="0" anchor="ctr"/>
          <a:lstStyle/>
          <a:p>
            <a:pPr marL="342900" indent="-342900">
              <a:spcAft>
                <a:spcPts val="400"/>
              </a:spcAft>
              <a:buSzPct val="100000"/>
              <a:buChar char="▪"/>
            </a:pPr>
            <a:r>
              <a:rPr lang="en-US" sz="1030" dirty="0">
                <a:solidFill>
                  <a:srgbClr val="C4D3E0"/>
                </a:solidFill>
                <a:latin typeface="Calibri" pitchFamily="34" charset="0"/>
                <a:ea typeface="Calibri" pitchFamily="34" charset="-122"/>
                <a:cs typeface="Calibri" pitchFamily="34" charset="-120"/>
              </a:rPr>
              <a:t>Intégré au moteur Docker : surcharge opérationnelle minimale</a:t>
            </a:r>
            <a:endParaRPr lang="en-US" sz="1030" dirty="0"/>
          </a:p>
          <a:p>
            <a:pPr marL="342900" indent="-342900">
              <a:spcAft>
                <a:spcPts val="400"/>
              </a:spcAft>
              <a:buSzPct val="100000"/>
              <a:buChar char="▪"/>
            </a:pPr>
            <a:r>
              <a:rPr lang="en-US" sz="1030" dirty="0">
                <a:solidFill>
                  <a:srgbClr val="C4D3E0"/>
                </a:solidFill>
                <a:latin typeface="Calibri" pitchFamily="34" charset="0"/>
                <a:ea typeface="Calibri" pitchFamily="34" charset="-122"/>
                <a:cs typeface="Calibri" pitchFamily="34" charset="-120"/>
              </a:rPr>
              <a:t>Placement par contraintes de labels, mise à jour progressive avec rollback</a:t>
            </a:r>
            <a:endParaRPr lang="en-US" sz="1030" dirty="0"/>
          </a:p>
          <a:p>
            <a:pPr marL="342900" indent="-342900">
              <a:spcAft>
                <a:spcPts val="400"/>
              </a:spcAft>
              <a:buSzPct val="100000"/>
              <a:buChar char="▪"/>
            </a:pPr>
            <a:r>
              <a:rPr lang="en-US" sz="1030" dirty="0">
                <a:solidFill>
                  <a:srgbClr val="C4D3E0"/>
                </a:solidFill>
                <a:latin typeface="Calibri" pitchFamily="34" charset="0"/>
                <a:ea typeface="Calibri" pitchFamily="34" charset="-122"/>
                <a:cs typeface="Calibri" pitchFamily="34" charset="-120"/>
              </a:rPr>
              <a:t>Réseaux overlay chiffrables, configs et secrets natifs</a:t>
            </a:r>
            <a:endParaRPr lang="en-US" sz="1030" dirty="0"/>
          </a:p>
          <a:p>
            <a:pPr marL="342900" indent="-342900">
              <a:spcAft>
                <a:spcPts val="400"/>
              </a:spcAft>
              <a:buSzPct val="100000"/>
              <a:buChar char="▪"/>
            </a:pPr>
            <a:r>
              <a:rPr lang="en-US" sz="1030" dirty="0">
                <a:solidFill>
                  <a:srgbClr val="C4D3E0"/>
                </a:solidFill>
                <a:latin typeface="Calibri" pitchFamily="34" charset="0"/>
                <a:ea typeface="Calibri" pitchFamily="34" charset="-122"/>
                <a:cs typeface="Calibri" pitchFamily="34" charset="-120"/>
              </a:rPr>
              <a:t>Portabilité préservée : pile Compose déclarative, images conformes OCI</a:t>
            </a:r>
            <a:endParaRPr lang="en-US" sz="1030" dirty="0"/>
          </a:p>
        </p:txBody>
      </p:sp>
      <p:sp>
        <p:nvSpPr>
          <p:cNvPr id="12" name="Shape 10"/>
          <p:cNvSpPr/>
          <p:nvPr/>
        </p:nvSpPr>
        <p:spPr>
          <a:xfrm>
            <a:off x="548640" y="4023360"/>
            <a:ext cx="3520440" cy="2084832"/>
          </a:xfrm>
          <a:prstGeom prst="roundRect">
            <a:avLst>
              <a:gd name="adj" fmla="val 2632"/>
            </a:avLst>
          </a:prstGeom>
          <a:solidFill>
            <a:srgbClr val="EEF3F7"/>
          </a:solidFill>
          <a:ln w="12700">
            <a:solidFill>
              <a:srgbClr val="EEF3F7"/>
            </a:solidFill>
            <a:prstDash val="solid"/>
          </a:ln>
        </p:spPr>
        <p:txBody>
          <a:bodyPr/>
          <a:lstStyle/>
          <a:p>
            <a:endParaRPr lang="fr-FR"/>
          </a:p>
        </p:txBody>
      </p:sp>
      <p:sp>
        <p:nvSpPr>
          <p:cNvPr id="13" name="Shape 11"/>
          <p:cNvSpPr/>
          <p:nvPr/>
        </p:nvSpPr>
        <p:spPr>
          <a:xfrm>
            <a:off x="786384" y="4242816"/>
            <a:ext cx="384048" cy="384048"/>
          </a:xfrm>
          <a:prstGeom prst="ellipse">
            <a:avLst/>
          </a:prstGeom>
          <a:solidFill>
            <a:srgbClr val="00A896"/>
          </a:solidFill>
          <a:ln/>
        </p:spPr>
        <p:txBody>
          <a:bodyPr/>
          <a:lstStyle/>
          <a:p>
            <a:endParaRPr lang="fr-FR"/>
          </a:p>
        </p:txBody>
      </p:sp>
      <p:sp>
        <p:nvSpPr>
          <p:cNvPr id="14" name="Text 12"/>
          <p:cNvSpPr/>
          <p:nvPr/>
        </p:nvSpPr>
        <p:spPr>
          <a:xfrm>
            <a:off x="786384" y="42428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1298448" y="4206240"/>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Mise à jour différenciée</a:t>
            </a:r>
            <a:endParaRPr lang="en-US" sz="1250" dirty="0"/>
          </a:p>
        </p:txBody>
      </p:sp>
      <p:sp>
        <p:nvSpPr>
          <p:cNvPr id="16" name="Text 14"/>
          <p:cNvSpPr/>
          <p:nvPr/>
        </p:nvSpPr>
        <p:spPr>
          <a:xfrm>
            <a:off x="804672" y="4736592"/>
            <a:ext cx="3008376" cy="1170432"/>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Services sans état : start-first (nouvelle réplique saine avant retrait de l'ancienne).</a:t>
            </a:r>
            <a:endParaRPr lang="en-US" sz="1030" dirty="0"/>
          </a:p>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Services à état : stop-first pour préserver la cohérence des données.</a:t>
            </a:r>
            <a:endParaRPr lang="en-US" sz="1030" dirty="0"/>
          </a:p>
        </p:txBody>
      </p:sp>
      <p:sp>
        <p:nvSpPr>
          <p:cNvPr id="17" name="Shape 15"/>
          <p:cNvSpPr/>
          <p:nvPr/>
        </p:nvSpPr>
        <p:spPr>
          <a:xfrm>
            <a:off x="4334256" y="4023360"/>
            <a:ext cx="3520440" cy="2084832"/>
          </a:xfrm>
          <a:prstGeom prst="roundRect">
            <a:avLst>
              <a:gd name="adj" fmla="val 2632"/>
            </a:avLst>
          </a:prstGeom>
          <a:solidFill>
            <a:srgbClr val="EEF3F7"/>
          </a:solidFill>
          <a:ln w="12700">
            <a:solidFill>
              <a:srgbClr val="EEF3F7"/>
            </a:solidFill>
            <a:prstDash val="solid"/>
          </a:ln>
        </p:spPr>
        <p:txBody>
          <a:bodyPr/>
          <a:lstStyle/>
          <a:p>
            <a:endParaRPr lang="fr-FR"/>
          </a:p>
        </p:txBody>
      </p:sp>
      <p:sp>
        <p:nvSpPr>
          <p:cNvPr id="18" name="Shape 16"/>
          <p:cNvSpPr/>
          <p:nvPr/>
        </p:nvSpPr>
        <p:spPr>
          <a:xfrm>
            <a:off x="4572000" y="4242816"/>
            <a:ext cx="384048" cy="384048"/>
          </a:xfrm>
          <a:prstGeom prst="ellipse">
            <a:avLst/>
          </a:prstGeom>
          <a:solidFill>
            <a:srgbClr val="00A896"/>
          </a:solidFill>
          <a:ln/>
        </p:spPr>
        <p:txBody>
          <a:bodyPr/>
          <a:lstStyle/>
          <a:p>
            <a:endParaRPr lang="fr-FR"/>
          </a:p>
        </p:txBody>
      </p:sp>
      <p:sp>
        <p:nvSpPr>
          <p:cNvPr id="19" name="Text 17"/>
          <p:cNvSpPr/>
          <p:nvPr/>
        </p:nvSpPr>
        <p:spPr>
          <a:xfrm>
            <a:off x="4572000" y="42428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5084064" y="4206240"/>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Rollback automatique</a:t>
            </a:r>
            <a:endParaRPr lang="en-US" sz="1250" dirty="0"/>
          </a:p>
        </p:txBody>
      </p:sp>
      <p:sp>
        <p:nvSpPr>
          <p:cNvPr id="21" name="Text 19"/>
          <p:cNvSpPr/>
          <p:nvPr/>
        </p:nvSpPr>
        <p:spPr>
          <a:xfrm>
            <a:off x="4590288" y="4736592"/>
            <a:ext cx="3008376" cy="1170432"/>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failure_action = rollback : un déploiement défaillant se rétracte de lui-même vers le dernier état sain, sans intervention humaine.</a:t>
            </a:r>
            <a:endParaRPr lang="en-US" sz="1030" dirty="0"/>
          </a:p>
        </p:txBody>
      </p:sp>
      <p:sp>
        <p:nvSpPr>
          <p:cNvPr id="22" name="Shape 20"/>
          <p:cNvSpPr/>
          <p:nvPr/>
        </p:nvSpPr>
        <p:spPr>
          <a:xfrm>
            <a:off x="8119872" y="4023360"/>
            <a:ext cx="3520440" cy="2084832"/>
          </a:xfrm>
          <a:prstGeom prst="roundRect">
            <a:avLst>
              <a:gd name="adj" fmla="val 2632"/>
            </a:avLst>
          </a:prstGeom>
          <a:solidFill>
            <a:srgbClr val="EEF3F7"/>
          </a:solidFill>
          <a:ln w="12700">
            <a:solidFill>
              <a:srgbClr val="EEF3F7"/>
            </a:solidFill>
            <a:prstDash val="solid"/>
          </a:ln>
        </p:spPr>
        <p:txBody>
          <a:bodyPr/>
          <a:lstStyle/>
          <a:p>
            <a:endParaRPr lang="fr-FR"/>
          </a:p>
        </p:txBody>
      </p:sp>
      <p:sp>
        <p:nvSpPr>
          <p:cNvPr id="23" name="Shape 21"/>
          <p:cNvSpPr/>
          <p:nvPr/>
        </p:nvSpPr>
        <p:spPr>
          <a:xfrm>
            <a:off x="8357616" y="4242816"/>
            <a:ext cx="384048" cy="384048"/>
          </a:xfrm>
          <a:prstGeom prst="ellipse">
            <a:avLst/>
          </a:prstGeom>
          <a:solidFill>
            <a:srgbClr val="00A896"/>
          </a:solidFill>
          <a:ln/>
        </p:spPr>
        <p:txBody>
          <a:bodyPr/>
          <a:lstStyle/>
          <a:p>
            <a:endParaRPr lang="fr-FR"/>
          </a:p>
        </p:txBody>
      </p:sp>
      <p:sp>
        <p:nvSpPr>
          <p:cNvPr id="24" name="Text 22"/>
          <p:cNvSpPr/>
          <p:nvPr/>
        </p:nvSpPr>
        <p:spPr>
          <a:xfrm>
            <a:off x="8357616" y="42428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8869680" y="4206240"/>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Scaling déclaratif</a:t>
            </a:r>
            <a:endParaRPr lang="en-US" sz="1250" dirty="0"/>
          </a:p>
        </p:txBody>
      </p:sp>
      <p:sp>
        <p:nvSpPr>
          <p:cNvPr id="26" name="Text 24"/>
          <p:cNvSpPr/>
          <p:nvPr/>
        </p:nvSpPr>
        <p:spPr>
          <a:xfrm>
            <a:off x="8375904" y="4736592"/>
            <a:ext cx="3008376" cy="1170432"/>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Le nombre de répliques n'est pas figé : il est dérivé du nombre de nœuds déclarés dans Terraform, avec assertions de cohérence.</a:t>
            </a:r>
            <a:endParaRPr lang="en-US" sz="103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5.3 MONITORING ET ALERTING</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Une chaîne d'observabilité entièrement versionnée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48640" y="1444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64208"/>
            <a:ext cx="384048" cy="384048"/>
          </a:xfrm>
          <a:prstGeom prst="ellipse">
            <a:avLst/>
          </a:prstGeom>
          <a:solidFill>
            <a:srgbClr val="00A896"/>
          </a:solidFill>
          <a:ln/>
        </p:spPr>
        <p:txBody>
          <a:bodyPr/>
          <a:lstStyle/>
          <a:p>
            <a:endParaRPr lang="fr-FR"/>
          </a:p>
        </p:txBody>
      </p:sp>
      <p:sp>
        <p:nvSpPr>
          <p:cNvPr id="8" name="Text 6"/>
          <p:cNvSpPr/>
          <p:nvPr/>
        </p:nvSpPr>
        <p:spPr>
          <a:xfrm>
            <a:off x="786384"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9" name="Text 7"/>
          <p:cNvSpPr/>
          <p:nvPr/>
        </p:nvSpPr>
        <p:spPr>
          <a:xfrm>
            <a:off x="1298448" y="1627632"/>
            <a:ext cx="2514600"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Métriques — Prometheus</a:t>
            </a:r>
            <a:endParaRPr lang="en-US" sz="1300" dirty="0"/>
          </a:p>
        </p:txBody>
      </p:sp>
      <p:sp>
        <p:nvSpPr>
          <p:cNvPr id="10" name="Text 8"/>
          <p:cNvSpPr/>
          <p:nvPr/>
        </p:nvSpPr>
        <p:spPr>
          <a:xfrm>
            <a:off x="804672" y="2157984"/>
            <a:ext cx="3008376" cy="1234440"/>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Collecte toutes les 15 s, rétention bornée à 15 jours ou 10 Go. Cibles : Prometheus lui-même, Alertmanager, Traefik (entrypoints, services, routeurs), node-exporter par nœud et cAdvisor par conteneur, ces deux agents déployés en mode global.</a:t>
            </a:r>
            <a:endParaRPr lang="en-US" sz="1030" dirty="0"/>
          </a:p>
        </p:txBody>
      </p:sp>
      <p:sp>
        <p:nvSpPr>
          <p:cNvPr id="11" name="Shape 9"/>
          <p:cNvSpPr/>
          <p:nvPr/>
        </p:nvSpPr>
        <p:spPr>
          <a:xfrm>
            <a:off x="4334256" y="1444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4572000" y="1664208"/>
            <a:ext cx="384048" cy="384048"/>
          </a:xfrm>
          <a:prstGeom prst="ellipse">
            <a:avLst/>
          </a:prstGeom>
          <a:solidFill>
            <a:srgbClr val="3D7CA8"/>
          </a:solidFill>
          <a:ln/>
        </p:spPr>
        <p:txBody>
          <a:bodyPr/>
          <a:lstStyle/>
          <a:p>
            <a:endParaRPr lang="fr-FR"/>
          </a:p>
        </p:txBody>
      </p:sp>
      <p:sp>
        <p:nvSpPr>
          <p:cNvPr id="13" name="Text 11"/>
          <p:cNvSpPr/>
          <p:nvPr/>
        </p:nvSpPr>
        <p:spPr>
          <a:xfrm>
            <a:off x="4572000"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14" name="Text 12"/>
          <p:cNvSpPr/>
          <p:nvPr/>
        </p:nvSpPr>
        <p:spPr>
          <a:xfrm>
            <a:off x="5084064" y="1627632"/>
            <a:ext cx="2514600"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Journaux — Loki + Alloy</a:t>
            </a:r>
            <a:endParaRPr lang="en-US" sz="1300" dirty="0"/>
          </a:p>
        </p:txBody>
      </p:sp>
      <p:sp>
        <p:nvSpPr>
          <p:cNvPr id="15" name="Text 13"/>
          <p:cNvSpPr/>
          <p:nvPr/>
        </p:nvSpPr>
        <p:spPr>
          <a:xfrm>
            <a:off x="4590288" y="2157984"/>
            <a:ext cx="3008376" cy="1234440"/>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Alloy, en mode global, découvre les conteneurs via le socket Docker et ré-étiquette les flux par service, pile, conteneur et nœud. Le backend émet des journaux d'accès HTTP structurés en JSON : recherches et agrégations fines.</a:t>
            </a:r>
            <a:endParaRPr lang="en-US" sz="1030" dirty="0"/>
          </a:p>
        </p:txBody>
      </p:sp>
      <p:sp>
        <p:nvSpPr>
          <p:cNvPr id="16" name="Shape 14"/>
          <p:cNvSpPr/>
          <p:nvPr/>
        </p:nvSpPr>
        <p:spPr>
          <a:xfrm>
            <a:off x="8119872" y="1444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8357616" y="1664208"/>
            <a:ext cx="384048" cy="384048"/>
          </a:xfrm>
          <a:prstGeom prst="ellipse">
            <a:avLst/>
          </a:prstGeom>
          <a:solidFill>
            <a:srgbClr val="E08A3C"/>
          </a:solidFill>
          <a:ln/>
        </p:spPr>
        <p:txBody>
          <a:bodyPr/>
          <a:lstStyle/>
          <a:p>
            <a:endParaRPr lang="fr-FR"/>
          </a:p>
        </p:txBody>
      </p:sp>
      <p:sp>
        <p:nvSpPr>
          <p:cNvPr id="18" name="Text 16"/>
          <p:cNvSpPr/>
          <p:nvPr/>
        </p:nvSpPr>
        <p:spPr>
          <a:xfrm>
            <a:off x="8357616"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19" name="Text 17"/>
          <p:cNvSpPr/>
          <p:nvPr/>
        </p:nvSpPr>
        <p:spPr>
          <a:xfrm>
            <a:off x="8869680" y="1627632"/>
            <a:ext cx="2514600" cy="4572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Restitution — Grafana</a:t>
            </a:r>
            <a:endParaRPr lang="en-US" sz="1300" dirty="0"/>
          </a:p>
        </p:txBody>
      </p:sp>
      <p:sp>
        <p:nvSpPr>
          <p:cNvPr id="20" name="Text 18"/>
          <p:cNvSpPr/>
          <p:nvPr/>
        </p:nvSpPr>
        <p:spPr>
          <a:xfrm>
            <a:off x="8375904" y="2157984"/>
            <a:ext cx="3008376" cy="1234440"/>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Trois tableaux de bord provisionnés par le code : vue d'ensemble (nœuds actifs, conteneurs, req/s, taux de 5xx, ressources, latence p95), vue journaux et vue énergie. L'observabilité est elle-même reconstructible.</a:t>
            </a:r>
            <a:endParaRPr lang="en-US" sz="1030" dirty="0"/>
          </a:p>
        </p:txBody>
      </p:sp>
      <p:sp>
        <p:nvSpPr>
          <p:cNvPr id="21" name="Text 19"/>
          <p:cNvSpPr/>
          <p:nvPr/>
        </p:nvSpPr>
        <p:spPr>
          <a:xfrm>
            <a:off x="548640" y="3794760"/>
            <a:ext cx="11091672"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Neuf règles d'alerte évaluées en continu par Prometheus, routées par Alertmanager</a:t>
            </a:r>
            <a:endParaRPr lang="en-US" sz="1400" dirty="0"/>
          </a:p>
        </p:txBody>
      </p:sp>
      <p:sp>
        <p:nvSpPr>
          <p:cNvPr id="22" name="Shape 20"/>
          <p:cNvSpPr/>
          <p:nvPr/>
        </p:nvSpPr>
        <p:spPr>
          <a:xfrm>
            <a:off x="548640" y="4187952"/>
            <a:ext cx="2624328" cy="1481328"/>
          </a:xfrm>
          <a:prstGeom prst="roundRect">
            <a:avLst>
              <a:gd name="adj" fmla="val 3704"/>
            </a:avLst>
          </a:prstGeom>
          <a:solidFill>
            <a:srgbClr val="12263F"/>
          </a:solidFill>
          <a:ln/>
        </p:spPr>
        <p:txBody>
          <a:bodyPr/>
          <a:lstStyle/>
          <a:p>
            <a:endParaRPr lang="fr-FR"/>
          </a:p>
        </p:txBody>
      </p:sp>
      <p:sp>
        <p:nvSpPr>
          <p:cNvPr id="23" name="Text 21"/>
          <p:cNvSpPr/>
          <p:nvPr/>
        </p:nvSpPr>
        <p:spPr>
          <a:xfrm>
            <a:off x="749808" y="4334256"/>
            <a:ext cx="2240280" cy="402336"/>
          </a:xfrm>
          <a:prstGeom prst="rect">
            <a:avLst/>
          </a:prstGeom>
          <a:noFill/>
          <a:ln/>
        </p:spPr>
        <p:txBody>
          <a:bodyPr wrap="square" lIns="0" tIns="0" rIns="0" bIns="0" rtlCol="0" anchor="ctr"/>
          <a:lstStyle/>
          <a:p>
            <a:pPr marL="0" indent="0">
              <a:buNone/>
            </a:pPr>
            <a:r>
              <a:rPr lang="en-US" sz="1100" b="1" dirty="0">
                <a:solidFill>
                  <a:srgbClr val="E08A3C"/>
                </a:solidFill>
                <a:latin typeface="Calibri" pitchFamily="34" charset="0"/>
                <a:ea typeface="Calibri" pitchFamily="34" charset="-122"/>
                <a:cs typeface="Calibri" pitchFamily="34" charset="-120"/>
              </a:rPr>
              <a:t>Disponibilité — 2 règles</a:t>
            </a:r>
            <a:endParaRPr lang="en-US" sz="1100" dirty="0"/>
          </a:p>
        </p:txBody>
      </p:sp>
      <p:sp>
        <p:nvSpPr>
          <p:cNvPr id="24" name="Text 22"/>
          <p:cNvSpPr/>
          <p:nvPr/>
        </p:nvSpPr>
        <p:spPr>
          <a:xfrm>
            <a:off x="749808" y="4754880"/>
            <a:ext cx="2240280" cy="822960"/>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Cible ou nœud ne répondant plus pendant 5 minutes (criticité maximale)</a:t>
            </a:r>
            <a:endParaRPr lang="en-US" sz="950" dirty="0"/>
          </a:p>
        </p:txBody>
      </p:sp>
      <p:sp>
        <p:nvSpPr>
          <p:cNvPr id="25" name="Shape 23"/>
          <p:cNvSpPr/>
          <p:nvPr/>
        </p:nvSpPr>
        <p:spPr>
          <a:xfrm>
            <a:off x="3374136" y="4187952"/>
            <a:ext cx="2624328" cy="1481328"/>
          </a:xfrm>
          <a:prstGeom prst="roundRect">
            <a:avLst>
              <a:gd name="adj" fmla="val 3704"/>
            </a:avLst>
          </a:prstGeom>
          <a:solidFill>
            <a:srgbClr val="12263F"/>
          </a:solidFill>
          <a:ln/>
        </p:spPr>
        <p:txBody>
          <a:bodyPr/>
          <a:lstStyle/>
          <a:p>
            <a:endParaRPr lang="fr-FR"/>
          </a:p>
        </p:txBody>
      </p:sp>
      <p:sp>
        <p:nvSpPr>
          <p:cNvPr id="26" name="Text 24"/>
          <p:cNvSpPr/>
          <p:nvPr/>
        </p:nvSpPr>
        <p:spPr>
          <a:xfrm>
            <a:off x="3575304" y="4334256"/>
            <a:ext cx="2240280" cy="402336"/>
          </a:xfrm>
          <a:prstGeom prst="rect">
            <a:avLst/>
          </a:prstGeom>
          <a:noFill/>
          <a:ln/>
        </p:spPr>
        <p:txBody>
          <a:bodyPr wrap="square" lIns="0" tIns="0" rIns="0" bIns="0" rtlCol="0" anchor="ctr"/>
          <a:lstStyle/>
          <a:p>
            <a:pPr marL="0" indent="0">
              <a:buNone/>
            </a:pPr>
            <a:r>
              <a:rPr lang="en-US" sz="1100" b="1" dirty="0">
                <a:solidFill>
                  <a:srgbClr val="E08A3C"/>
                </a:solidFill>
                <a:latin typeface="Calibri" pitchFamily="34" charset="0"/>
                <a:ea typeface="Calibri" pitchFamily="34" charset="-122"/>
                <a:cs typeface="Calibri" pitchFamily="34" charset="-120"/>
              </a:rPr>
              <a:t>Santé des nœuds — 4 règles</a:t>
            </a:r>
            <a:endParaRPr lang="en-US" sz="1100" dirty="0"/>
          </a:p>
        </p:txBody>
      </p:sp>
      <p:sp>
        <p:nvSpPr>
          <p:cNvPr id="27" name="Text 25"/>
          <p:cNvSpPr/>
          <p:nvPr/>
        </p:nvSpPr>
        <p:spPr>
          <a:xfrm>
            <a:off x="3575304" y="4754880"/>
            <a:ext cx="2240280" cy="822960"/>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CPU soutenu &gt; 90 % · mémoire disponible &lt; 10 % · saturation disque projetée sur 24 h · espace libre &lt; 10 %</a:t>
            </a:r>
            <a:endParaRPr lang="en-US" sz="950" dirty="0"/>
          </a:p>
        </p:txBody>
      </p:sp>
      <p:sp>
        <p:nvSpPr>
          <p:cNvPr id="28" name="Shape 26"/>
          <p:cNvSpPr/>
          <p:nvPr/>
        </p:nvSpPr>
        <p:spPr>
          <a:xfrm>
            <a:off x="6199632" y="4187952"/>
            <a:ext cx="2624328" cy="1481328"/>
          </a:xfrm>
          <a:prstGeom prst="roundRect">
            <a:avLst>
              <a:gd name="adj" fmla="val 3704"/>
            </a:avLst>
          </a:prstGeom>
          <a:solidFill>
            <a:srgbClr val="12263F"/>
          </a:solidFill>
          <a:ln/>
        </p:spPr>
        <p:txBody>
          <a:bodyPr/>
          <a:lstStyle/>
          <a:p>
            <a:endParaRPr lang="fr-FR"/>
          </a:p>
        </p:txBody>
      </p:sp>
      <p:sp>
        <p:nvSpPr>
          <p:cNvPr id="29" name="Text 27"/>
          <p:cNvSpPr/>
          <p:nvPr/>
        </p:nvSpPr>
        <p:spPr>
          <a:xfrm>
            <a:off x="6400800" y="4334256"/>
            <a:ext cx="2240280" cy="402336"/>
          </a:xfrm>
          <a:prstGeom prst="rect">
            <a:avLst/>
          </a:prstGeom>
          <a:noFill/>
          <a:ln/>
        </p:spPr>
        <p:txBody>
          <a:bodyPr wrap="square" lIns="0" tIns="0" rIns="0" bIns="0" rtlCol="0" anchor="ctr"/>
          <a:lstStyle/>
          <a:p>
            <a:pPr marL="0" indent="0">
              <a:buNone/>
            </a:pPr>
            <a:r>
              <a:rPr lang="en-US" sz="1100" b="1" dirty="0">
                <a:solidFill>
                  <a:srgbClr val="E08A3C"/>
                </a:solidFill>
                <a:latin typeface="Calibri" pitchFamily="34" charset="0"/>
                <a:ea typeface="Calibri" pitchFamily="34" charset="-122"/>
                <a:cs typeface="Calibri" pitchFamily="34" charset="-120"/>
              </a:rPr>
              <a:t>Santé applicative — 2 règles</a:t>
            </a:r>
            <a:endParaRPr lang="en-US" sz="1100" dirty="0"/>
          </a:p>
        </p:txBody>
      </p:sp>
      <p:sp>
        <p:nvSpPr>
          <p:cNvPr id="30" name="Text 28"/>
          <p:cNvSpPr/>
          <p:nvPr/>
        </p:nvSpPr>
        <p:spPr>
          <a:xfrm>
            <a:off x="6400800" y="4754880"/>
            <a:ext cx="2240280" cy="822960"/>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Taux d'erreurs 5xx &gt; 5 % · latence au 95ᵉ percentile &gt; 1 s · redémarrages répétés de conteneur</a:t>
            </a:r>
            <a:endParaRPr lang="en-US" sz="950" dirty="0"/>
          </a:p>
        </p:txBody>
      </p:sp>
      <p:sp>
        <p:nvSpPr>
          <p:cNvPr id="31" name="Shape 29"/>
          <p:cNvSpPr/>
          <p:nvPr/>
        </p:nvSpPr>
        <p:spPr>
          <a:xfrm>
            <a:off x="9025128" y="4187952"/>
            <a:ext cx="2624328" cy="1481328"/>
          </a:xfrm>
          <a:prstGeom prst="roundRect">
            <a:avLst>
              <a:gd name="adj" fmla="val 3704"/>
            </a:avLst>
          </a:prstGeom>
          <a:solidFill>
            <a:srgbClr val="00A896"/>
          </a:solidFill>
          <a:ln/>
        </p:spPr>
        <p:txBody>
          <a:bodyPr/>
          <a:lstStyle/>
          <a:p>
            <a:endParaRPr lang="fr-FR"/>
          </a:p>
        </p:txBody>
      </p:sp>
      <p:sp>
        <p:nvSpPr>
          <p:cNvPr id="32" name="Text 30"/>
          <p:cNvSpPr/>
          <p:nvPr/>
        </p:nvSpPr>
        <p:spPr>
          <a:xfrm>
            <a:off x="9226296" y="4334256"/>
            <a:ext cx="2240280" cy="402336"/>
          </a:xfrm>
          <a:prstGeom prst="rect">
            <a:avLst/>
          </a:prstGeom>
          <a:noFill/>
          <a:ln/>
        </p:spPr>
        <p:txBody>
          <a:bodyPr wrap="square" lIns="0" tIns="0" rIns="0" bIns="0" rtlCol="0" anchor="ctr"/>
          <a:lstStyle/>
          <a:p>
            <a:pPr marL="0" indent="0">
              <a:buNone/>
            </a:pPr>
            <a:r>
              <a:rPr lang="en-US" sz="1100" b="1" dirty="0">
                <a:solidFill>
                  <a:srgbClr val="0B1729"/>
                </a:solidFill>
                <a:latin typeface="Calibri" pitchFamily="34" charset="0"/>
                <a:ea typeface="Calibri" pitchFamily="34" charset="-122"/>
                <a:cs typeface="Calibri" pitchFamily="34" charset="-120"/>
              </a:rPr>
              <a:t>Éco-responsabilité — 1 règle</a:t>
            </a:r>
            <a:endParaRPr lang="en-US" sz="1100" dirty="0"/>
          </a:p>
        </p:txBody>
      </p:sp>
      <p:sp>
        <p:nvSpPr>
          <p:cNvPr id="33" name="Text 31"/>
          <p:cNvSpPr/>
          <p:nvPr/>
        </p:nvSpPr>
        <p:spPr>
          <a:xfrm>
            <a:off x="9226296" y="4754880"/>
            <a:ext cx="2240280" cy="822960"/>
          </a:xfrm>
          <a:prstGeom prst="rect">
            <a:avLst/>
          </a:prstGeom>
          <a:noFill/>
          <a:ln/>
        </p:spPr>
        <p:txBody>
          <a:bodyPr wrap="square" lIns="0" tIns="0" rIns="0" bIns="0" rtlCol="0" anchor="ctr"/>
          <a:lstStyle/>
          <a:p>
            <a:pPr marL="0" indent="0">
              <a:lnSpc>
                <a:spcPts val="1200"/>
              </a:lnSpc>
              <a:buNone/>
            </a:pPr>
            <a:r>
              <a:rPr lang="en-US" sz="950" dirty="0">
                <a:solidFill>
                  <a:srgbClr val="0B3A34"/>
                </a:solidFill>
                <a:latin typeface="Calibri" pitchFamily="34" charset="0"/>
                <a:ea typeface="Calibri" pitchFamily="34" charset="-122"/>
                <a:cs typeface="Calibri" pitchFamily="34" charset="-120"/>
              </a:rPr>
              <a:t>ConsommationEnergetiqueElevee : puissance estimée du cluster &gt; 200 W soutenus pendant 15 minutes</a:t>
            </a:r>
            <a:endParaRPr lang="en-US" sz="950" dirty="0"/>
          </a:p>
        </p:txBody>
      </p:sp>
      <p:sp>
        <p:nvSpPr>
          <p:cNvPr id="34" name="Text 32"/>
          <p:cNvSpPr/>
          <p:nvPr/>
        </p:nvSpPr>
        <p:spPr>
          <a:xfrm>
            <a:off x="548640" y="5852160"/>
            <a:ext cx="11091672" cy="310896"/>
          </a:xfrm>
          <a:prstGeom prst="rect">
            <a:avLst/>
          </a:prstGeom>
          <a:noFill/>
          <a:ln/>
        </p:spPr>
        <p:txBody>
          <a:bodyPr wrap="square" lIns="0" tIns="0" rIns="0" bIns="0" rtlCol="0" anchor="ctr"/>
          <a:lstStyle/>
          <a:p>
            <a:pPr marL="0" indent="0">
              <a:buNone/>
            </a:pPr>
            <a:r>
              <a:rPr lang="en-US" sz="1050" i="1" dirty="0">
                <a:solidFill>
                  <a:srgbClr val="00A896"/>
                </a:solidFill>
                <a:latin typeface="Calibri" pitchFamily="34" charset="0"/>
                <a:ea typeface="Calibri" pitchFamily="34" charset="-122"/>
                <a:cs typeface="Calibri" pitchFamily="34" charset="-120"/>
              </a:rPr>
              <a:t>Les seuils transforment des signaux bruts en événements qualifiés : latence et erreurs signalent une dégradation avant qu'elle ne devienne une panne, les métriques de ressources guident le réajustement des réservations et limites.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5.3 MONITORING ET ALERTING</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9 — Architecture de la supervision et de l'observabilité</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flux de données : sources instrumentées à gauche, collecteurs au centre, stockage et restitution à droite</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Montrer que métriques, journaux et alertes forment une chaîne cohérente et auto-hébergée, et situer visuellement l'apport du volet énergétique.</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sources : Traefik (/metrics), node-exporter et cAdvisor déployés en mode global sur chaque nœud</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deux flux distincts : métriques vers Prometheus (scrape 15 s), journaux via Alloy vers Loki</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Prometheus et Loki comme sources de données de Grafana, avec les trois tableaux de bord provisionnés</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Alertmanager en aval de Prometheus, avec le routage vers courriel ou messagerie d'équipe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règles d'enregistrement du modèle énergétique branchées sur node-exporter, identifiées par une couleur distincte</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annotation sur la rétention bornée (15 jours ou 10 Go) qui participe à la sobriété</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draw.io ou Mermaid (flowchart LR avec subgraph « collecte globale »)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BC4C · C31 — stratégie de monitoring et d'observabilité, dashboards et alerting complets</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5.3 MONITORING ET ALERTING</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La contribution distinctive : instrumenter l'empreinte énergétique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48640" y="1417320"/>
            <a:ext cx="11064240" cy="1417320"/>
          </a:xfrm>
          <a:prstGeom prst="roundRect">
            <a:avLst>
              <a:gd name="adj" fmla="val 3871"/>
            </a:avLst>
          </a:prstGeom>
          <a:solidFill>
            <a:srgbClr val="0B1729"/>
          </a:solidFill>
          <a:ln/>
        </p:spPr>
        <p:txBody>
          <a:bodyPr/>
          <a:lstStyle/>
          <a:p>
            <a:endParaRPr lang="fr-FR"/>
          </a:p>
        </p:txBody>
      </p:sp>
      <p:sp>
        <p:nvSpPr>
          <p:cNvPr id="7" name="Text 5"/>
          <p:cNvSpPr/>
          <p:nvPr/>
        </p:nvSpPr>
        <p:spPr>
          <a:xfrm>
            <a:off x="868680" y="1554480"/>
            <a:ext cx="4572000" cy="274320"/>
          </a:xfrm>
          <a:prstGeom prst="rect">
            <a:avLst/>
          </a:prstGeom>
          <a:noFill/>
          <a:ln/>
        </p:spPr>
        <p:txBody>
          <a:bodyPr wrap="square" lIns="0" tIns="0" rIns="0" bIns="0" rtlCol="0" anchor="ctr"/>
          <a:lstStyle/>
          <a:p>
            <a:pPr marL="0" indent="0">
              <a:buNone/>
            </a:pPr>
            <a:r>
              <a:rPr lang="en-US" sz="1200" b="1" dirty="0">
                <a:solidFill>
                  <a:srgbClr val="E08A3C"/>
                </a:solidFill>
                <a:latin typeface="Calibri" pitchFamily="34" charset="0"/>
                <a:ea typeface="Calibri" pitchFamily="34" charset="-122"/>
                <a:cs typeface="Calibri" pitchFamily="34" charset="-120"/>
              </a:rPr>
              <a:t>Le problème</a:t>
            </a:r>
            <a:endParaRPr lang="en-US" sz="1200" dirty="0"/>
          </a:p>
        </p:txBody>
      </p:sp>
      <p:sp>
        <p:nvSpPr>
          <p:cNvPr id="8" name="Text 6"/>
          <p:cNvSpPr/>
          <p:nvPr/>
        </p:nvSpPr>
        <p:spPr>
          <a:xfrm>
            <a:off x="868680" y="1847088"/>
            <a:ext cx="5029200" cy="731520"/>
          </a:xfrm>
          <a:prstGeom prst="rect">
            <a:avLst/>
          </a:prstGeom>
          <a:noFill/>
          <a:ln/>
        </p:spPr>
        <p:txBody>
          <a:bodyPr wrap="square" lIns="0" tIns="0" rIns="0" bIns="0" rtlCol="0" anchor="ctr"/>
          <a:lstStyle/>
          <a:p>
            <a:pPr marL="0" indent="0">
              <a:lnSpc>
                <a:spcPts val="1600"/>
              </a:lnSpc>
              <a:buNone/>
            </a:pPr>
            <a:r>
              <a:rPr lang="en-US" sz="1150" dirty="0">
                <a:solidFill>
                  <a:srgbClr val="C4D3E0"/>
                </a:solidFill>
                <a:latin typeface="Calibri" pitchFamily="34" charset="0"/>
                <a:ea typeface="Calibri" pitchFamily="34" charset="-122"/>
                <a:cs typeface="Calibri" pitchFamily="34" charset="-120"/>
              </a:rPr>
              <a:t>Les compteurs matériels RAPL (/sys/class/powercap) demeurent propres au bare-metal.</a:t>
            </a:r>
            <a:endParaRPr lang="en-US" sz="1150" dirty="0"/>
          </a:p>
          <a:p>
            <a:pPr marL="0" indent="0">
              <a:lnSpc>
                <a:spcPts val="1600"/>
              </a:lnSpc>
              <a:buNone/>
            </a:pPr>
            <a:r>
              <a:rPr lang="en-US" sz="1150" dirty="0">
                <a:solidFill>
                  <a:srgbClr val="C4D3E0"/>
                </a:solidFill>
                <a:latin typeface="Calibri" pitchFamily="34" charset="0"/>
                <a:ea typeface="Calibri" pitchFamily="34" charset="-122"/>
                <a:cs typeface="Calibri" pitchFamily="34" charset="-120"/>
              </a:rPr>
              <a:t>Sur des VM louées chez un fournisseur cloud, aucune mesure directe n'est possible.</a:t>
            </a:r>
            <a:endParaRPr lang="en-US" sz="1150" dirty="0"/>
          </a:p>
        </p:txBody>
      </p:sp>
      <p:sp>
        <p:nvSpPr>
          <p:cNvPr id="9" name="Text 7"/>
          <p:cNvSpPr/>
          <p:nvPr/>
        </p:nvSpPr>
        <p:spPr>
          <a:xfrm>
            <a:off x="6309360" y="1554480"/>
            <a:ext cx="5029200" cy="27432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La réponse : un modèle d'estimation documenté</a:t>
            </a:r>
            <a:endParaRPr lang="en-US" sz="1200" dirty="0"/>
          </a:p>
        </p:txBody>
      </p:sp>
      <p:sp>
        <p:nvSpPr>
          <p:cNvPr id="10" name="Text 8"/>
          <p:cNvSpPr/>
          <p:nvPr/>
        </p:nvSpPr>
        <p:spPr>
          <a:xfrm>
            <a:off x="6309360" y="1883664"/>
            <a:ext cx="5029200" cy="36576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P(nœud) = nb_vCPU × ( P_idle + (P_max − P_idle) × utilisation )</a:t>
            </a:r>
            <a:endParaRPr lang="en-US" sz="1300" dirty="0"/>
          </a:p>
        </p:txBody>
      </p:sp>
      <p:sp>
        <p:nvSpPr>
          <p:cNvPr id="11" name="Text 9"/>
          <p:cNvSpPr/>
          <p:nvPr/>
        </p:nvSpPr>
        <p:spPr>
          <a:xfrm>
            <a:off x="6309360" y="2286000"/>
            <a:ext cx="5029200" cy="411480"/>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avec P_idle = 1,5 W et P_max = 6 W par vCPU, dérivé de l'utilisation CPU relevée par node-exporter.</a:t>
            </a:r>
            <a:endParaRPr lang="en-US" sz="1050" dirty="0"/>
          </a:p>
        </p:txBody>
      </p:sp>
      <p:sp>
        <p:nvSpPr>
          <p:cNvPr id="12" name="Shape 10"/>
          <p:cNvSpPr/>
          <p:nvPr/>
        </p:nvSpPr>
        <p:spPr>
          <a:xfrm>
            <a:off x="548640" y="3063240"/>
            <a:ext cx="2624328" cy="1371600"/>
          </a:xfrm>
          <a:prstGeom prst="roundRect">
            <a:avLst>
              <a:gd name="adj" fmla="val 4000"/>
            </a:avLst>
          </a:prstGeom>
          <a:solidFill>
            <a:srgbClr val="EEF3F7"/>
          </a:solidFill>
          <a:ln/>
        </p:spPr>
        <p:txBody>
          <a:bodyPr/>
          <a:lstStyle/>
          <a:p>
            <a:endParaRPr lang="fr-FR"/>
          </a:p>
        </p:txBody>
      </p:sp>
      <p:sp>
        <p:nvSpPr>
          <p:cNvPr id="13" name="Text 11"/>
          <p:cNvSpPr/>
          <p:nvPr/>
        </p:nvSpPr>
        <p:spPr>
          <a:xfrm>
            <a:off x="676656" y="3246120"/>
            <a:ext cx="2368296" cy="502920"/>
          </a:xfrm>
          <a:prstGeom prst="rect">
            <a:avLst/>
          </a:prstGeom>
          <a:noFill/>
          <a:ln/>
        </p:spPr>
        <p:txBody>
          <a:bodyPr wrap="square" lIns="0" tIns="0" rIns="0" bIns="0" rtlCol="0" anchor="ctr"/>
          <a:lstStyle/>
          <a:p>
            <a:pPr marL="0" indent="0" algn="ctr">
              <a:buNone/>
            </a:pPr>
            <a:r>
              <a:rPr lang="en-US" sz="2400" b="1" dirty="0">
                <a:solidFill>
                  <a:srgbClr val="00A896"/>
                </a:solidFill>
                <a:latin typeface="Cambria" pitchFamily="34" charset="0"/>
                <a:ea typeface="Cambria" pitchFamily="34" charset="-122"/>
                <a:cs typeface="Cambria" pitchFamily="34" charset="-120"/>
              </a:rPr>
              <a:t>1,5 → 6 W</a:t>
            </a:r>
            <a:endParaRPr lang="en-US" sz="2400" dirty="0"/>
          </a:p>
        </p:txBody>
      </p:sp>
      <p:sp>
        <p:nvSpPr>
          <p:cNvPr id="14" name="Text 12"/>
          <p:cNvSpPr/>
          <p:nvPr/>
        </p:nvSpPr>
        <p:spPr>
          <a:xfrm>
            <a:off x="676656" y="3785616"/>
            <a:ext cx="2368296" cy="548640"/>
          </a:xfrm>
          <a:prstGeom prst="rect">
            <a:avLst/>
          </a:prstGeom>
          <a:noFill/>
          <a:ln/>
        </p:spPr>
        <p:txBody>
          <a:bodyPr wrap="square" lIns="0" tIns="0" rIns="0" bIns="0" rtlCol="0" anchor="ctr"/>
          <a:lstStyle/>
          <a:p>
            <a:pPr marL="0" indent="0" algn="ctr">
              <a:lnSpc>
                <a:spcPts val="1300"/>
              </a:lnSpc>
              <a:buNone/>
            </a:pPr>
            <a:r>
              <a:rPr lang="en-US" sz="1000" dirty="0">
                <a:solidFill>
                  <a:srgbClr val="4A5769"/>
                </a:solidFill>
                <a:latin typeface="Calibri" pitchFamily="34" charset="0"/>
                <a:ea typeface="Calibri" pitchFamily="34" charset="-122"/>
                <a:cs typeface="Calibri" pitchFamily="34" charset="-120"/>
              </a:rPr>
              <a:t>par vCPU (repos → pleine charge)</a:t>
            </a:r>
            <a:endParaRPr lang="en-US" sz="1000" dirty="0"/>
          </a:p>
        </p:txBody>
      </p:sp>
      <p:sp>
        <p:nvSpPr>
          <p:cNvPr id="15" name="Shape 13"/>
          <p:cNvSpPr/>
          <p:nvPr/>
        </p:nvSpPr>
        <p:spPr>
          <a:xfrm>
            <a:off x="3374136" y="3063240"/>
            <a:ext cx="2624328" cy="1371600"/>
          </a:xfrm>
          <a:prstGeom prst="roundRect">
            <a:avLst>
              <a:gd name="adj" fmla="val 4000"/>
            </a:avLst>
          </a:prstGeom>
          <a:solidFill>
            <a:srgbClr val="EEF3F7"/>
          </a:solidFill>
          <a:ln/>
        </p:spPr>
        <p:txBody>
          <a:bodyPr/>
          <a:lstStyle/>
          <a:p>
            <a:endParaRPr lang="fr-FR"/>
          </a:p>
        </p:txBody>
      </p:sp>
      <p:sp>
        <p:nvSpPr>
          <p:cNvPr id="16" name="Text 14"/>
          <p:cNvSpPr/>
          <p:nvPr/>
        </p:nvSpPr>
        <p:spPr>
          <a:xfrm>
            <a:off x="3502152" y="3246120"/>
            <a:ext cx="2368296" cy="502920"/>
          </a:xfrm>
          <a:prstGeom prst="rect">
            <a:avLst/>
          </a:prstGeom>
          <a:noFill/>
          <a:ln/>
        </p:spPr>
        <p:txBody>
          <a:bodyPr wrap="square" lIns="0" tIns="0" rIns="0" bIns="0" rtlCol="0" anchor="ctr"/>
          <a:lstStyle/>
          <a:p>
            <a:pPr marL="0" indent="0" algn="ctr">
              <a:buNone/>
            </a:pPr>
            <a:r>
              <a:rPr lang="en-US" sz="2400" b="1" dirty="0">
                <a:solidFill>
                  <a:srgbClr val="E08A3C"/>
                </a:solidFill>
                <a:latin typeface="Cambria" pitchFamily="34" charset="0"/>
                <a:ea typeface="Cambria" pitchFamily="34" charset="-122"/>
                <a:cs typeface="Cambria" pitchFamily="34" charset="-120"/>
              </a:rPr>
              <a:t>380</a:t>
            </a:r>
            <a:endParaRPr lang="en-US" sz="2400" dirty="0"/>
          </a:p>
        </p:txBody>
      </p:sp>
      <p:sp>
        <p:nvSpPr>
          <p:cNvPr id="17" name="Text 15"/>
          <p:cNvSpPr/>
          <p:nvPr/>
        </p:nvSpPr>
        <p:spPr>
          <a:xfrm>
            <a:off x="3502152" y="3785616"/>
            <a:ext cx="2368296" cy="548640"/>
          </a:xfrm>
          <a:prstGeom prst="rect">
            <a:avLst/>
          </a:prstGeom>
          <a:noFill/>
          <a:ln/>
        </p:spPr>
        <p:txBody>
          <a:bodyPr wrap="square" lIns="0" tIns="0" rIns="0" bIns="0" rtlCol="0" anchor="ctr"/>
          <a:lstStyle/>
          <a:p>
            <a:pPr marL="0" indent="0" algn="ctr">
              <a:lnSpc>
                <a:spcPts val="1300"/>
              </a:lnSpc>
              <a:buNone/>
            </a:pPr>
            <a:r>
              <a:rPr lang="en-US" sz="1000" dirty="0">
                <a:solidFill>
                  <a:srgbClr val="4A5769"/>
                </a:solidFill>
                <a:latin typeface="Calibri" pitchFamily="34" charset="0"/>
                <a:ea typeface="Calibri" pitchFamily="34" charset="-122"/>
                <a:cs typeface="Calibri" pitchFamily="34" charset="-120"/>
              </a:rPr>
              <a:t>gCO₂eq/kWh — mix électrique allemand</a:t>
            </a:r>
            <a:endParaRPr lang="en-US" sz="1000" dirty="0"/>
          </a:p>
        </p:txBody>
      </p:sp>
      <p:sp>
        <p:nvSpPr>
          <p:cNvPr id="18" name="Shape 16"/>
          <p:cNvSpPr/>
          <p:nvPr/>
        </p:nvSpPr>
        <p:spPr>
          <a:xfrm>
            <a:off x="6199632" y="3063240"/>
            <a:ext cx="2624328" cy="1371600"/>
          </a:xfrm>
          <a:prstGeom prst="roundRect">
            <a:avLst>
              <a:gd name="adj" fmla="val 4000"/>
            </a:avLst>
          </a:prstGeom>
          <a:solidFill>
            <a:srgbClr val="EEF3F7"/>
          </a:solidFill>
          <a:ln/>
        </p:spPr>
        <p:txBody>
          <a:bodyPr/>
          <a:lstStyle/>
          <a:p>
            <a:endParaRPr lang="fr-FR"/>
          </a:p>
        </p:txBody>
      </p:sp>
      <p:sp>
        <p:nvSpPr>
          <p:cNvPr id="19" name="Text 17"/>
          <p:cNvSpPr/>
          <p:nvPr/>
        </p:nvSpPr>
        <p:spPr>
          <a:xfrm>
            <a:off x="6327648" y="3246120"/>
            <a:ext cx="2368296" cy="502920"/>
          </a:xfrm>
          <a:prstGeom prst="rect">
            <a:avLst/>
          </a:prstGeom>
          <a:noFill/>
          <a:ln/>
        </p:spPr>
        <p:txBody>
          <a:bodyPr wrap="square" lIns="0" tIns="0" rIns="0" bIns="0" rtlCol="0" anchor="ctr"/>
          <a:lstStyle/>
          <a:p>
            <a:pPr marL="0" indent="0" algn="ctr">
              <a:buNone/>
            </a:pPr>
            <a:r>
              <a:rPr lang="en-US" sz="2400" b="1" dirty="0">
                <a:solidFill>
                  <a:srgbClr val="3D7CA8"/>
                </a:solidFill>
                <a:latin typeface="Cambria" pitchFamily="34" charset="0"/>
                <a:ea typeface="Cambria" pitchFamily="34" charset="-122"/>
                <a:cs typeface="Cambria" pitchFamily="34" charset="-120"/>
              </a:rPr>
              <a:t>200 W</a:t>
            </a:r>
            <a:endParaRPr lang="en-US" sz="2400" dirty="0"/>
          </a:p>
        </p:txBody>
      </p:sp>
      <p:sp>
        <p:nvSpPr>
          <p:cNvPr id="20" name="Text 18"/>
          <p:cNvSpPr/>
          <p:nvPr/>
        </p:nvSpPr>
        <p:spPr>
          <a:xfrm>
            <a:off x="6327648" y="3785616"/>
            <a:ext cx="2368296" cy="548640"/>
          </a:xfrm>
          <a:prstGeom prst="rect">
            <a:avLst/>
          </a:prstGeom>
          <a:noFill/>
          <a:ln/>
        </p:spPr>
        <p:txBody>
          <a:bodyPr wrap="square" lIns="0" tIns="0" rIns="0" bIns="0" rtlCol="0" anchor="ctr"/>
          <a:lstStyle/>
          <a:p>
            <a:pPr marL="0" indent="0" algn="ctr">
              <a:lnSpc>
                <a:spcPts val="1300"/>
              </a:lnSpc>
              <a:buNone/>
            </a:pPr>
            <a:r>
              <a:rPr lang="en-US" sz="1000" dirty="0">
                <a:solidFill>
                  <a:srgbClr val="4A5769"/>
                </a:solidFill>
                <a:latin typeface="Calibri" pitchFamily="34" charset="0"/>
                <a:ea typeface="Calibri" pitchFamily="34" charset="-122"/>
                <a:cs typeface="Calibri" pitchFamily="34" charset="-120"/>
              </a:rPr>
              <a:t>seuil d'alerte, 15 min soutenues</a:t>
            </a:r>
            <a:endParaRPr lang="en-US" sz="1000" dirty="0"/>
          </a:p>
        </p:txBody>
      </p:sp>
      <p:sp>
        <p:nvSpPr>
          <p:cNvPr id="21" name="Shape 19"/>
          <p:cNvSpPr/>
          <p:nvPr/>
        </p:nvSpPr>
        <p:spPr>
          <a:xfrm>
            <a:off x="9025128" y="3063240"/>
            <a:ext cx="2624328" cy="1371600"/>
          </a:xfrm>
          <a:prstGeom prst="roundRect">
            <a:avLst>
              <a:gd name="adj" fmla="val 4000"/>
            </a:avLst>
          </a:prstGeom>
          <a:solidFill>
            <a:srgbClr val="EEF3F7"/>
          </a:solidFill>
          <a:ln/>
        </p:spPr>
        <p:txBody>
          <a:bodyPr/>
          <a:lstStyle/>
          <a:p>
            <a:endParaRPr lang="fr-FR"/>
          </a:p>
        </p:txBody>
      </p:sp>
      <p:sp>
        <p:nvSpPr>
          <p:cNvPr id="22" name="Text 20"/>
          <p:cNvSpPr/>
          <p:nvPr/>
        </p:nvSpPr>
        <p:spPr>
          <a:xfrm>
            <a:off x="9153144" y="3246120"/>
            <a:ext cx="2368296" cy="502920"/>
          </a:xfrm>
          <a:prstGeom prst="rect">
            <a:avLst/>
          </a:prstGeom>
          <a:noFill/>
          <a:ln/>
        </p:spPr>
        <p:txBody>
          <a:bodyPr wrap="square" lIns="0" tIns="0" rIns="0" bIns="0" rtlCol="0" anchor="ctr"/>
          <a:lstStyle/>
          <a:p>
            <a:pPr marL="0" indent="0" algn="ctr">
              <a:buNone/>
            </a:pPr>
            <a:r>
              <a:rPr lang="en-US" sz="2400" b="1" dirty="0">
                <a:solidFill>
                  <a:srgbClr val="12263F"/>
                </a:solidFill>
                <a:latin typeface="Cambria" pitchFamily="34" charset="0"/>
                <a:ea typeface="Cambria" pitchFamily="34" charset="-122"/>
                <a:cs typeface="Cambria" pitchFamily="34" charset="-120"/>
              </a:rPr>
              <a:t>kWh / jour</a:t>
            </a:r>
            <a:endParaRPr lang="en-US" sz="2400" dirty="0"/>
          </a:p>
        </p:txBody>
      </p:sp>
      <p:sp>
        <p:nvSpPr>
          <p:cNvPr id="23" name="Text 21"/>
          <p:cNvSpPr/>
          <p:nvPr/>
        </p:nvSpPr>
        <p:spPr>
          <a:xfrm>
            <a:off x="9153144" y="3785616"/>
            <a:ext cx="2368296" cy="548640"/>
          </a:xfrm>
          <a:prstGeom prst="rect">
            <a:avLst/>
          </a:prstGeom>
          <a:noFill/>
          <a:ln/>
        </p:spPr>
        <p:txBody>
          <a:bodyPr wrap="square" lIns="0" tIns="0" rIns="0" bIns="0" rtlCol="0" anchor="ctr"/>
          <a:lstStyle/>
          <a:p>
            <a:pPr marL="0" indent="0" algn="ctr">
              <a:lnSpc>
                <a:spcPts val="1300"/>
              </a:lnSpc>
              <a:buNone/>
            </a:pPr>
            <a:r>
              <a:rPr lang="en-US" sz="1000" dirty="0">
                <a:solidFill>
                  <a:srgbClr val="4A5769"/>
                </a:solidFill>
                <a:latin typeface="Calibri" pitchFamily="34" charset="0"/>
                <a:ea typeface="Calibri" pitchFamily="34" charset="-122"/>
                <a:cs typeface="Calibri" pitchFamily="34" charset="-120"/>
              </a:rPr>
              <a:t>énergie projetée, agrégée au cluster</a:t>
            </a:r>
            <a:endParaRPr lang="en-US" sz="1000" dirty="0"/>
          </a:p>
        </p:txBody>
      </p:sp>
      <p:sp>
        <p:nvSpPr>
          <p:cNvPr id="24" name="Shape 22"/>
          <p:cNvSpPr/>
          <p:nvPr/>
        </p:nvSpPr>
        <p:spPr>
          <a:xfrm>
            <a:off x="548640" y="4663440"/>
            <a:ext cx="3520440" cy="1463040"/>
          </a:xfrm>
          <a:prstGeom prst="roundRect">
            <a:avLst>
              <a:gd name="adj" fmla="val 3750"/>
            </a:avLst>
          </a:prstGeom>
          <a:solidFill>
            <a:srgbClr val="12263F"/>
          </a:solidFill>
          <a:ln/>
        </p:spPr>
        <p:txBody>
          <a:bodyPr/>
          <a:lstStyle/>
          <a:p>
            <a:endParaRPr lang="fr-FR"/>
          </a:p>
        </p:txBody>
      </p:sp>
      <p:sp>
        <p:nvSpPr>
          <p:cNvPr id="25" name="Text 23"/>
          <p:cNvSpPr/>
          <p:nvPr/>
        </p:nvSpPr>
        <p:spPr>
          <a:xfrm>
            <a:off x="768096" y="4828032"/>
            <a:ext cx="3108960" cy="27432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Éco-responsabilité</a:t>
            </a:r>
            <a:endParaRPr lang="en-US" sz="1200" dirty="0"/>
          </a:p>
        </p:txBody>
      </p:sp>
      <p:sp>
        <p:nvSpPr>
          <p:cNvPr id="26" name="Text 24"/>
          <p:cNvSpPr/>
          <p:nvPr/>
        </p:nvSpPr>
        <p:spPr>
          <a:xfrm>
            <a:off x="768096" y="5120640"/>
            <a:ext cx="3108960" cy="91440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Visibilité chiffrée sur une consommation jusqu'alors non mesurée, règle d'alerte dédiée ConsommationEnergetiqueElevee.</a:t>
            </a:r>
            <a:endParaRPr lang="en-US" sz="1000" dirty="0"/>
          </a:p>
        </p:txBody>
      </p:sp>
      <p:sp>
        <p:nvSpPr>
          <p:cNvPr id="27" name="Shape 25"/>
          <p:cNvSpPr/>
          <p:nvPr/>
        </p:nvSpPr>
        <p:spPr>
          <a:xfrm>
            <a:off x="4334256" y="4663440"/>
            <a:ext cx="3520440" cy="1463040"/>
          </a:xfrm>
          <a:prstGeom prst="roundRect">
            <a:avLst>
              <a:gd name="adj" fmla="val 3750"/>
            </a:avLst>
          </a:prstGeom>
          <a:solidFill>
            <a:srgbClr val="12263F"/>
          </a:solidFill>
          <a:ln/>
        </p:spPr>
        <p:txBody>
          <a:bodyPr/>
          <a:lstStyle/>
          <a:p>
            <a:endParaRPr lang="fr-FR"/>
          </a:p>
        </p:txBody>
      </p:sp>
      <p:sp>
        <p:nvSpPr>
          <p:cNvPr id="28" name="Text 26"/>
          <p:cNvSpPr/>
          <p:nvPr/>
        </p:nvSpPr>
        <p:spPr>
          <a:xfrm>
            <a:off x="4553712" y="4828032"/>
            <a:ext cx="3108960" cy="27432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Maîtrise des coûts</a:t>
            </a:r>
            <a:endParaRPr lang="en-US" sz="1200" dirty="0"/>
          </a:p>
        </p:txBody>
      </p:sp>
      <p:sp>
        <p:nvSpPr>
          <p:cNvPr id="29" name="Text 27"/>
          <p:cNvSpPr/>
          <p:nvPr/>
        </p:nvSpPr>
        <p:spPr>
          <a:xfrm>
            <a:off x="4553712" y="5120640"/>
            <a:ext cx="3108960" cy="91440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La puissance consommée est un proxy direct de la facture d'exploitation ; elle guide le réajustement des réservations.</a:t>
            </a:r>
            <a:endParaRPr lang="en-US" sz="1000" dirty="0"/>
          </a:p>
        </p:txBody>
      </p:sp>
      <p:sp>
        <p:nvSpPr>
          <p:cNvPr id="30" name="Shape 28"/>
          <p:cNvSpPr/>
          <p:nvPr/>
        </p:nvSpPr>
        <p:spPr>
          <a:xfrm>
            <a:off x="8119872" y="4663440"/>
            <a:ext cx="3520440" cy="1463040"/>
          </a:xfrm>
          <a:prstGeom prst="roundRect">
            <a:avLst>
              <a:gd name="adj" fmla="val 3750"/>
            </a:avLst>
          </a:prstGeom>
          <a:solidFill>
            <a:srgbClr val="12263F"/>
          </a:solidFill>
          <a:ln/>
        </p:spPr>
        <p:txBody>
          <a:bodyPr/>
          <a:lstStyle/>
          <a:p>
            <a:endParaRPr lang="fr-FR"/>
          </a:p>
        </p:txBody>
      </p:sp>
      <p:sp>
        <p:nvSpPr>
          <p:cNvPr id="31" name="Text 29"/>
          <p:cNvSpPr/>
          <p:nvPr/>
        </p:nvSpPr>
        <p:spPr>
          <a:xfrm>
            <a:off x="8339328" y="4828032"/>
            <a:ext cx="3108960" cy="27432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Observabilité</a:t>
            </a:r>
            <a:endParaRPr lang="en-US" sz="1200" dirty="0"/>
          </a:p>
        </p:txBody>
      </p:sp>
      <p:sp>
        <p:nvSpPr>
          <p:cNvPr id="32" name="Text 30"/>
          <p:cNvSpPr/>
          <p:nvPr/>
        </p:nvSpPr>
        <p:spPr>
          <a:xfrm>
            <a:off x="8339328" y="5120640"/>
            <a:ext cx="3108960" cy="91440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Une préoccupation environnementale devient une métrique de premier ordre, surveillée au même titre que la latence.</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5.4 PLANS DE SAUVEGARDE ET DE RÉCUPÉRATION</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Protéger les données, reconstruire l'infrastructure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48640" y="1417320"/>
            <a:ext cx="5449824" cy="310896"/>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Stratégie de sauvegarde des données</a:t>
            </a:r>
            <a:endParaRPr lang="en-US" sz="1500" dirty="0"/>
          </a:p>
        </p:txBody>
      </p:sp>
      <p:sp>
        <p:nvSpPr>
          <p:cNvPr id="7" name="Shape 5"/>
          <p:cNvSpPr/>
          <p:nvPr/>
        </p:nvSpPr>
        <p:spPr>
          <a:xfrm>
            <a:off x="548640" y="1810512"/>
            <a:ext cx="5449824" cy="987552"/>
          </a:xfrm>
          <a:prstGeom prst="roundRect">
            <a:avLst>
              <a:gd name="adj" fmla="val 4630"/>
            </a:avLst>
          </a:prstGeom>
          <a:solidFill>
            <a:srgbClr val="EEF3F7"/>
          </a:solidFill>
          <a:ln/>
        </p:spPr>
        <p:txBody>
          <a:bodyPr/>
          <a:lstStyle/>
          <a:p>
            <a:endParaRPr lang="fr-FR"/>
          </a:p>
        </p:txBody>
      </p:sp>
      <p:sp>
        <p:nvSpPr>
          <p:cNvPr id="8" name="Text 6"/>
          <p:cNvSpPr/>
          <p:nvPr/>
        </p:nvSpPr>
        <p:spPr>
          <a:xfrm>
            <a:off x="804672" y="1938528"/>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Versionnage S3</a:t>
            </a:r>
            <a:endParaRPr lang="en-US" sz="1200" dirty="0"/>
          </a:p>
        </p:txBody>
      </p:sp>
      <p:sp>
        <p:nvSpPr>
          <p:cNvPr id="9" name="Text 7"/>
          <p:cNvSpPr/>
          <p:nvPr/>
        </p:nvSpPr>
        <p:spPr>
          <a:xfrm>
            <a:off x="804672" y="2212848"/>
            <a:ext cx="4937760" cy="512064"/>
          </a:xfrm>
          <a:prstGeom prst="rect">
            <a:avLst/>
          </a:prstGeom>
          <a:noFill/>
          <a:ln/>
        </p:spPr>
        <p:txBody>
          <a:bodyPr wrap="square" lIns="0" tIns="0" rIns="0" bIns="0" rtlCol="0" anchor="ctr"/>
          <a:lstStyle/>
          <a:p>
            <a:pPr marL="0" indent="0">
              <a:lnSpc>
                <a:spcPts val="1300"/>
              </a:lnSpc>
              <a:buNone/>
            </a:pPr>
            <a:r>
              <a:rPr lang="en-US" sz="1050" dirty="0">
                <a:solidFill>
                  <a:srgbClr val="4A5769"/>
                </a:solidFill>
                <a:latin typeface="Calibri" pitchFamily="34" charset="0"/>
                <a:ea typeface="Calibri" pitchFamily="34" charset="-122"/>
                <a:cs typeface="Calibri" pitchFamily="34" charset="-120"/>
              </a:rPr>
              <a:t>Aucune écriture n'écrase définitivement une version antérieure.</a:t>
            </a:r>
            <a:endParaRPr lang="en-US" sz="1050" dirty="0"/>
          </a:p>
        </p:txBody>
      </p:sp>
      <p:sp>
        <p:nvSpPr>
          <p:cNvPr id="10" name="Shape 8"/>
          <p:cNvSpPr/>
          <p:nvPr/>
        </p:nvSpPr>
        <p:spPr>
          <a:xfrm>
            <a:off x="548640" y="2907792"/>
            <a:ext cx="5449824" cy="987552"/>
          </a:xfrm>
          <a:prstGeom prst="roundRect">
            <a:avLst>
              <a:gd name="adj" fmla="val 4630"/>
            </a:avLst>
          </a:prstGeom>
          <a:solidFill>
            <a:srgbClr val="EEF3F7"/>
          </a:solidFill>
          <a:ln/>
        </p:spPr>
        <p:txBody>
          <a:bodyPr/>
          <a:lstStyle/>
          <a:p>
            <a:endParaRPr lang="fr-FR"/>
          </a:p>
        </p:txBody>
      </p:sp>
      <p:sp>
        <p:nvSpPr>
          <p:cNvPr id="11" name="Text 9"/>
          <p:cNvSpPr/>
          <p:nvPr/>
        </p:nvSpPr>
        <p:spPr>
          <a:xfrm>
            <a:off x="804672" y="3035808"/>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Object Lock (GOVERNANCE)</a:t>
            </a:r>
            <a:endParaRPr lang="en-US" sz="1200" dirty="0"/>
          </a:p>
        </p:txBody>
      </p:sp>
      <p:sp>
        <p:nvSpPr>
          <p:cNvPr id="12" name="Text 10"/>
          <p:cNvSpPr/>
          <p:nvPr/>
        </p:nvSpPr>
        <p:spPr>
          <a:xfrm>
            <a:off x="804672" y="3310128"/>
            <a:ext cx="4937760" cy="512064"/>
          </a:xfrm>
          <a:prstGeom prst="rect">
            <a:avLst/>
          </a:prstGeom>
          <a:noFill/>
          <a:ln/>
        </p:spPr>
        <p:txBody>
          <a:bodyPr wrap="square" lIns="0" tIns="0" rIns="0" bIns="0" rtlCol="0" anchor="ctr"/>
          <a:lstStyle/>
          <a:p>
            <a:pPr marL="0" indent="0">
              <a:lnSpc>
                <a:spcPts val="1300"/>
              </a:lnSpc>
              <a:buNone/>
            </a:pPr>
            <a:r>
              <a:rPr lang="en-US" sz="1050" dirty="0">
                <a:solidFill>
                  <a:srgbClr val="4A5769"/>
                </a:solidFill>
                <a:latin typeface="Calibri" pitchFamily="34" charset="0"/>
                <a:ea typeface="Calibri" pitchFamily="34" charset="-122"/>
                <a:cs typeface="Calibri" pitchFamily="34" charset="-120"/>
              </a:rPr>
              <a:t>Conservation immuable : une sauvegarde ne peut être ni altérée ni supprimée avant échéance — protection contre le rançongiciel.</a:t>
            </a:r>
            <a:endParaRPr lang="en-US" sz="1050" dirty="0"/>
          </a:p>
        </p:txBody>
      </p:sp>
      <p:sp>
        <p:nvSpPr>
          <p:cNvPr id="13" name="Shape 11"/>
          <p:cNvSpPr/>
          <p:nvPr/>
        </p:nvSpPr>
        <p:spPr>
          <a:xfrm>
            <a:off x="548640" y="4005072"/>
            <a:ext cx="5449824" cy="987552"/>
          </a:xfrm>
          <a:prstGeom prst="roundRect">
            <a:avLst>
              <a:gd name="adj" fmla="val 4630"/>
            </a:avLst>
          </a:prstGeom>
          <a:solidFill>
            <a:srgbClr val="EEF3F7"/>
          </a:solidFill>
          <a:ln/>
        </p:spPr>
        <p:txBody>
          <a:bodyPr/>
          <a:lstStyle/>
          <a:p>
            <a:endParaRPr lang="fr-FR"/>
          </a:p>
        </p:txBody>
      </p:sp>
      <p:sp>
        <p:nvSpPr>
          <p:cNvPr id="14" name="Text 12"/>
          <p:cNvSpPr/>
          <p:nvPr/>
        </p:nvSpPr>
        <p:spPr>
          <a:xfrm>
            <a:off x="804672" y="4133088"/>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Cycle de vie</a:t>
            </a:r>
            <a:endParaRPr lang="en-US" sz="1200" dirty="0"/>
          </a:p>
        </p:txBody>
      </p:sp>
      <p:sp>
        <p:nvSpPr>
          <p:cNvPr id="15" name="Text 13"/>
          <p:cNvSpPr/>
          <p:nvPr/>
        </p:nvSpPr>
        <p:spPr>
          <a:xfrm>
            <a:off x="804672" y="4407408"/>
            <a:ext cx="4937760" cy="512064"/>
          </a:xfrm>
          <a:prstGeom prst="rect">
            <a:avLst/>
          </a:prstGeom>
          <a:noFill/>
          <a:ln/>
        </p:spPr>
        <p:txBody>
          <a:bodyPr wrap="square" lIns="0" tIns="0" rIns="0" bIns="0" rtlCol="0" anchor="ctr"/>
          <a:lstStyle/>
          <a:p>
            <a:pPr marL="0" indent="0">
              <a:lnSpc>
                <a:spcPts val="1300"/>
              </a:lnSpc>
              <a:buNone/>
            </a:pPr>
            <a:r>
              <a:rPr lang="en-US" sz="1050" dirty="0">
                <a:solidFill>
                  <a:srgbClr val="4A5769"/>
                </a:solidFill>
                <a:latin typeface="Calibri" pitchFamily="34" charset="0"/>
                <a:ea typeface="Calibri" pitchFamily="34" charset="-122"/>
                <a:cs typeface="Calibri" pitchFamily="34" charset="-120"/>
              </a:rPr>
              <a:t>Quotidiennes → classe d'accès peu fréquent à 30 j. Mensuelles → Glacier. Purge automatique des versions périmées et multipart inachevés.</a:t>
            </a:r>
            <a:endParaRPr lang="en-US" sz="1050" dirty="0"/>
          </a:p>
        </p:txBody>
      </p:sp>
      <p:sp>
        <p:nvSpPr>
          <p:cNvPr id="16" name="Shape 14"/>
          <p:cNvSpPr/>
          <p:nvPr/>
        </p:nvSpPr>
        <p:spPr>
          <a:xfrm>
            <a:off x="548640" y="5102352"/>
            <a:ext cx="5449824" cy="987552"/>
          </a:xfrm>
          <a:prstGeom prst="roundRect">
            <a:avLst>
              <a:gd name="adj" fmla="val 4630"/>
            </a:avLst>
          </a:prstGeom>
          <a:solidFill>
            <a:srgbClr val="EEF3F7"/>
          </a:solidFill>
          <a:ln/>
        </p:spPr>
        <p:txBody>
          <a:bodyPr/>
          <a:lstStyle/>
          <a:p>
            <a:endParaRPr lang="fr-FR"/>
          </a:p>
        </p:txBody>
      </p:sp>
      <p:sp>
        <p:nvSpPr>
          <p:cNvPr id="17" name="Text 15"/>
          <p:cNvSpPr/>
          <p:nvPr/>
        </p:nvSpPr>
        <p:spPr>
          <a:xfrm>
            <a:off x="804672" y="5230368"/>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Chiffrement</a:t>
            </a:r>
            <a:endParaRPr lang="en-US" sz="1200" dirty="0"/>
          </a:p>
        </p:txBody>
      </p:sp>
      <p:sp>
        <p:nvSpPr>
          <p:cNvPr id="18" name="Text 16"/>
          <p:cNvSpPr/>
          <p:nvPr/>
        </p:nvSpPr>
        <p:spPr>
          <a:xfrm>
            <a:off x="804672" y="5504688"/>
            <a:ext cx="4937760" cy="512064"/>
          </a:xfrm>
          <a:prstGeom prst="rect">
            <a:avLst/>
          </a:prstGeom>
          <a:noFill/>
          <a:ln/>
        </p:spPr>
        <p:txBody>
          <a:bodyPr wrap="square" lIns="0" tIns="0" rIns="0" bIns="0" rtlCol="0" anchor="ctr"/>
          <a:lstStyle/>
          <a:p>
            <a:pPr marL="0" indent="0">
              <a:lnSpc>
                <a:spcPts val="1300"/>
              </a:lnSpc>
              <a:buNone/>
            </a:pPr>
            <a:r>
              <a:rPr lang="en-US" sz="1050" dirty="0">
                <a:solidFill>
                  <a:srgbClr val="4A5769"/>
                </a:solidFill>
                <a:latin typeface="Calibri" pitchFamily="34" charset="0"/>
                <a:ea typeface="Calibri" pitchFamily="34" charset="-122"/>
                <a:cs typeface="Calibri" pitchFamily="34" charset="-120"/>
              </a:rPr>
              <a:t>AES-256 sur tous les buckets. État Terraform chiffré, versionné, verrouillé — sauvegarde aussi critique que celle des données métier.</a:t>
            </a:r>
            <a:endParaRPr lang="en-US" sz="1050" dirty="0"/>
          </a:p>
        </p:txBody>
      </p:sp>
      <p:sp>
        <p:nvSpPr>
          <p:cNvPr id="19" name="Text 17"/>
          <p:cNvSpPr/>
          <p:nvPr/>
        </p:nvSpPr>
        <p:spPr>
          <a:xfrm>
            <a:off x="6190488" y="1417320"/>
            <a:ext cx="5449824" cy="310896"/>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Plan de reprise après sinistre (PRA)</a:t>
            </a:r>
            <a:endParaRPr lang="en-US" sz="1500" dirty="0"/>
          </a:p>
        </p:txBody>
      </p:sp>
      <p:sp>
        <p:nvSpPr>
          <p:cNvPr id="20" name="Shape 18"/>
          <p:cNvSpPr/>
          <p:nvPr/>
        </p:nvSpPr>
        <p:spPr>
          <a:xfrm>
            <a:off x="6190488" y="1810512"/>
            <a:ext cx="5449824" cy="2377440"/>
          </a:xfrm>
          <a:prstGeom prst="roundRect">
            <a:avLst>
              <a:gd name="adj" fmla="val 2308"/>
            </a:avLst>
          </a:prstGeom>
          <a:solidFill>
            <a:srgbClr val="12263F"/>
          </a:solidFill>
          <a:ln/>
        </p:spPr>
        <p:txBody>
          <a:bodyPr/>
          <a:lstStyle/>
          <a:p>
            <a:endParaRPr lang="fr-FR"/>
          </a:p>
        </p:txBody>
      </p:sp>
      <p:sp>
        <p:nvSpPr>
          <p:cNvPr id="21" name="Text 19"/>
          <p:cNvSpPr/>
          <p:nvPr/>
        </p:nvSpPr>
        <p:spPr>
          <a:xfrm>
            <a:off x="6446520" y="1956816"/>
            <a:ext cx="4937760" cy="548640"/>
          </a:xfrm>
          <a:prstGeom prst="rect">
            <a:avLst/>
          </a:prstGeom>
          <a:noFill/>
          <a:ln/>
        </p:spPr>
        <p:txBody>
          <a:bodyPr wrap="square" lIns="0" tIns="0" rIns="0" bIns="0" rtlCol="0" anchor="ctr"/>
          <a:lstStyle/>
          <a:p>
            <a:pPr marL="0" indent="0">
              <a:lnSpc>
                <a:spcPts val="1500"/>
              </a:lnSpc>
              <a:buNone/>
            </a:pPr>
            <a:r>
              <a:rPr lang="en-US" sz="1150" i="1" dirty="0">
                <a:solidFill>
                  <a:srgbClr val="00A896"/>
                </a:solidFill>
                <a:latin typeface="Calibri" pitchFamily="34" charset="0"/>
                <a:ea typeface="Calibri" pitchFamily="34" charset="-122"/>
                <a:cs typeface="Calibri" pitchFamily="34" charset="-120"/>
              </a:rPr>
              <a:t>La reconstruction n'est pas une opération exceptionnelle : c'est l'exécution ordonnée de la même chaîne outillée qui produit l'infrastructure au quotidien.</a:t>
            </a:r>
            <a:endParaRPr lang="en-US" sz="1150" dirty="0"/>
          </a:p>
        </p:txBody>
      </p:sp>
      <p:sp>
        <p:nvSpPr>
          <p:cNvPr id="22" name="Text 20"/>
          <p:cNvSpPr/>
          <p:nvPr/>
        </p:nvSpPr>
        <p:spPr>
          <a:xfrm>
            <a:off x="6446520" y="2578608"/>
            <a:ext cx="4937760" cy="146304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C4D3E0"/>
                </a:solidFill>
                <a:latin typeface="Calibri" pitchFamily="34" charset="0"/>
                <a:ea typeface="Calibri" pitchFamily="34" charset="-122"/>
                <a:cs typeface="Calibri" pitchFamily="34" charset="-120"/>
              </a:rPr>
              <a:t>Terraform recrée serveurs, réseau privé, pare-feu, buckets, distribution CDN et réglages Cloudflare</a:t>
            </a:r>
            <a:endParaRPr lang="en-US" sz="1000" dirty="0"/>
          </a:p>
          <a:p>
            <a:pPr marL="342900" indent="-342900">
              <a:spcAft>
                <a:spcPts val="500"/>
              </a:spcAft>
              <a:buSzPct val="100000"/>
              <a:buChar char="▪"/>
            </a:pPr>
            <a:r>
              <a:rPr lang="en-US" sz="1000" dirty="0">
                <a:solidFill>
                  <a:srgbClr val="C4D3E0"/>
                </a:solidFill>
                <a:latin typeface="Calibri" pitchFamily="34" charset="0"/>
                <a:ea typeface="Calibri" pitchFamily="34" charset="-122"/>
                <a:cs typeface="Calibri" pitchFamily="34" charset="-120"/>
              </a:rPr>
              <a:t>Ansible réinstalle Docker, ré-applique le durcissement, réinitialise Swarm, redistribue configs et secrets, redéploie la pile, rejoue les migrations</a:t>
            </a:r>
            <a:endParaRPr lang="en-US" sz="1000" dirty="0"/>
          </a:p>
          <a:p>
            <a:pPr marL="342900" indent="-342900">
              <a:spcAft>
                <a:spcPts val="500"/>
              </a:spcAft>
              <a:buSzPct val="100000"/>
              <a:buChar char="▪"/>
            </a:pPr>
            <a:r>
              <a:rPr lang="en-US" sz="1000" dirty="0">
                <a:solidFill>
                  <a:srgbClr val="C4D3E0"/>
                </a:solidFill>
                <a:latin typeface="Calibri" pitchFamily="34" charset="0"/>
                <a:ea typeface="Calibri" pitchFamily="34" charset="-122"/>
                <a:cs typeface="Calibri" pitchFamily="34" charset="-120"/>
              </a:rPr>
              <a:t>Architecture sans état sur les nœuds de calcul : médias dans S3, base isolée et adossée à ses sauvegardes</a:t>
            </a:r>
            <a:endParaRPr lang="en-US" sz="1000" dirty="0"/>
          </a:p>
          <a:p>
            <a:pPr marL="342900" indent="-342900">
              <a:spcAft>
                <a:spcPts val="500"/>
              </a:spcAft>
              <a:buSzPct val="100000"/>
              <a:buChar char="▪"/>
            </a:pPr>
            <a:r>
              <a:rPr lang="en-US" sz="1000" dirty="0">
                <a:solidFill>
                  <a:srgbClr val="C4D3E0"/>
                </a:solidFill>
                <a:latin typeface="Calibri" pitchFamily="34" charset="0"/>
                <a:ea typeface="Calibri" pitchFamily="34" charset="-122"/>
                <a:cs typeface="Calibri" pitchFamily="34" charset="-120"/>
              </a:rPr>
              <a:t>Le délai de rétablissement se mesure à la durée d'exécution de la chaîne, non à une remise en état manuelle</a:t>
            </a:r>
            <a:endParaRPr lang="en-US" sz="1000" dirty="0"/>
          </a:p>
        </p:txBody>
      </p:sp>
      <p:sp>
        <p:nvSpPr>
          <p:cNvPr id="23" name="Shape 21"/>
          <p:cNvSpPr/>
          <p:nvPr/>
        </p:nvSpPr>
        <p:spPr>
          <a:xfrm>
            <a:off x="6190488" y="4407408"/>
            <a:ext cx="5449824" cy="1700784"/>
          </a:xfrm>
          <a:prstGeom prst="roundRect">
            <a:avLst>
              <a:gd name="adj" fmla="val 3226"/>
            </a:avLst>
          </a:prstGeom>
          <a:solidFill>
            <a:srgbClr val="EEF3F7"/>
          </a:solidFill>
          <a:ln w="12700">
            <a:solidFill>
              <a:srgbClr val="EEF3F7"/>
            </a:solidFill>
            <a:prstDash val="solid"/>
          </a:ln>
        </p:spPr>
        <p:txBody>
          <a:bodyPr/>
          <a:lstStyle/>
          <a:p>
            <a:endParaRPr lang="fr-FR"/>
          </a:p>
        </p:txBody>
      </p:sp>
      <p:sp>
        <p:nvSpPr>
          <p:cNvPr id="24" name="Text 22"/>
          <p:cNvSpPr/>
          <p:nvPr/>
        </p:nvSpPr>
        <p:spPr>
          <a:xfrm>
            <a:off x="6446520" y="4590288"/>
            <a:ext cx="4937760" cy="45720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Maturité et paliers d'évolution identifiés</a:t>
            </a:r>
            <a:endParaRPr lang="en-US" sz="1400" dirty="0"/>
          </a:p>
        </p:txBody>
      </p:sp>
      <p:sp>
        <p:nvSpPr>
          <p:cNvPr id="25" name="Text 23"/>
          <p:cNvSpPr/>
          <p:nvPr/>
        </p:nvSpPr>
        <p:spPr>
          <a:xfrm>
            <a:off x="6446520" y="5120640"/>
            <a:ext cx="4937760" cy="786384"/>
          </a:xfrm>
          <a:prstGeom prst="rect">
            <a:avLst/>
          </a:prstGeom>
          <a:noFill/>
          <a:ln/>
        </p:spPr>
        <p:txBody>
          <a:bodyPr wrap="square" lIns="0" tIns="0" rIns="0" bIns="0" rtlCol="0" anchor="ctr"/>
          <a:lstStyle/>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Les briques du PRA sont en place et fonctionnelles (versionnage, Object Lock, état distant, reconstruction par le code). Un runbook documente l'enchaînement en situation de crise.</a:t>
            </a:r>
            <a:endParaRPr lang="en-US" sz="1050" dirty="0"/>
          </a:p>
          <a:p>
            <a:pPr marL="0" indent="0">
              <a:lnSpc>
                <a:spcPts val="1500"/>
              </a:lnSpc>
              <a:buNone/>
            </a:pPr>
            <a:r>
              <a:rPr lang="en-US" sz="1050" dirty="0">
                <a:solidFill>
                  <a:srgbClr val="4A5769"/>
                </a:solidFill>
                <a:latin typeface="Calibri" pitchFamily="34" charset="0"/>
                <a:ea typeface="Calibri" pitchFamily="34" charset="-122"/>
                <a:cs typeface="Calibri" pitchFamily="34" charset="-120"/>
              </a:rPr>
              <a:t>Prochains paliers : exercice périodique de restauration de bout en bout, vérification automatisée des sauvegardes, suivi d'un objectif de point de reprise (RPO).</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6</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Gestion du projet et management</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Planning, ressources, indicateurs, risques et coordination des parties prenantes</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6.1 ÉLABORATION DU PLANNING</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Méthode, lots, chemin critique, jalons et budget</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44</a:t>
            </a:r>
            <a:endParaRPr lang="en-US" sz="900" dirty="0"/>
          </a:p>
        </p:txBody>
      </p:sp>
      <p:sp>
        <p:nvSpPr>
          <p:cNvPr id="6" name="Text 4"/>
          <p:cNvSpPr/>
          <p:nvPr/>
        </p:nvSpPr>
        <p:spPr>
          <a:xfrm>
            <a:off x="548640" y="1417320"/>
            <a:ext cx="5449824" cy="310896"/>
          </a:xfrm>
          <a:prstGeom prst="rect">
            <a:avLst/>
          </a:prstGeom>
          <a:noFill/>
          <a:ln/>
        </p:spPr>
        <p:txBody>
          <a:bodyPr wrap="square" lIns="0" tIns="0" rIns="0" bIns="0" rtlCol="0" anchor="ctr"/>
          <a:lstStyle/>
          <a:p>
            <a:pPr marL="0" indent="0">
              <a:buNone/>
            </a:pPr>
            <a:r>
              <a:rPr lang="en-US" sz="1350" b="1" dirty="0">
                <a:solidFill>
                  <a:srgbClr val="12263F"/>
                </a:solidFill>
                <a:latin typeface="Calibri" pitchFamily="34" charset="0"/>
                <a:ea typeface="Calibri" pitchFamily="34" charset="-122"/>
                <a:cs typeface="Calibri" pitchFamily="34" charset="-120"/>
              </a:rPr>
              <a:t>Décomposition en 8 lots de travail — ~69 jours-homme</a:t>
            </a:r>
            <a:endParaRPr lang="en-US" sz="1350" dirty="0"/>
          </a:p>
        </p:txBody>
      </p:sp>
      <p:sp>
        <p:nvSpPr>
          <p:cNvPr id="7" name="Shape 5"/>
          <p:cNvSpPr/>
          <p:nvPr/>
        </p:nvSpPr>
        <p:spPr>
          <a:xfrm>
            <a:off x="548640" y="1810512"/>
            <a:ext cx="5449824" cy="365760"/>
          </a:xfrm>
          <a:prstGeom prst="rect">
            <a:avLst/>
          </a:prstGeom>
          <a:solidFill>
            <a:srgbClr val="EEF3F7"/>
          </a:solidFill>
          <a:ln/>
        </p:spPr>
        <p:txBody>
          <a:bodyPr/>
          <a:lstStyle/>
          <a:p>
            <a:endParaRPr lang="fr-FR"/>
          </a:p>
        </p:txBody>
      </p:sp>
      <p:sp>
        <p:nvSpPr>
          <p:cNvPr id="8" name="Shape 6"/>
          <p:cNvSpPr/>
          <p:nvPr/>
        </p:nvSpPr>
        <p:spPr>
          <a:xfrm>
            <a:off x="694944" y="1865376"/>
            <a:ext cx="256032" cy="256032"/>
          </a:xfrm>
          <a:prstGeom prst="ellipse">
            <a:avLst/>
          </a:prstGeom>
          <a:solidFill>
            <a:srgbClr val="00A896"/>
          </a:solidFill>
          <a:ln/>
        </p:spPr>
        <p:txBody>
          <a:bodyPr/>
          <a:lstStyle/>
          <a:p>
            <a:endParaRPr lang="fr-FR"/>
          </a:p>
        </p:txBody>
      </p:sp>
      <p:sp>
        <p:nvSpPr>
          <p:cNvPr id="9" name="Text 7"/>
          <p:cNvSpPr/>
          <p:nvPr/>
        </p:nvSpPr>
        <p:spPr>
          <a:xfrm>
            <a:off x="694944" y="1865376"/>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a:t>
            </a:r>
            <a:endParaRPr lang="en-US" sz="950" dirty="0"/>
          </a:p>
        </p:txBody>
      </p:sp>
      <p:sp>
        <p:nvSpPr>
          <p:cNvPr id="10" name="Text 8"/>
          <p:cNvSpPr/>
          <p:nvPr/>
        </p:nvSpPr>
        <p:spPr>
          <a:xfrm>
            <a:off x="1078992" y="1810512"/>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Cadrage et conception</a:t>
            </a:r>
            <a:endParaRPr lang="en-US" sz="1100" dirty="0"/>
          </a:p>
        </p:txBody>
      </p:sp>
      <p:sp>
        <p:nvSpPr>
          <p:cNvPr id="11" name="Text 9"/>
          <p:cNvSpPr/>
          <p:nvPr/>
        </p:nvSpPr>
        <p:spPr>
          <a:xfrm>
            <a:off x="4206240" y="1810512"/>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Non fonct.</a:t>
            </a:r>
            <a:endParaRPr lang="en-US" sz="950" dirty="0"/>
          </a:p>
        </p:txBody>
      </p:sp>
      <p:sp>
        <p:nvSpPr>
          <p:cNvPr id="12" name="Shape 10"/>
          <p:cNvSpPr/>
          <p:nvPr/>
        </p:nvSpPr>
        <p:spPr>
          <a:xfrm>
            <a:off x="548640" y="2212848"/>
            <a:ext cx="5449824" cy="365760"/>
          </a:xfrm>
          <a:prstGeom prst="rect">
            <a:avLst/>
          </a:prstGeom>
          <a:solidFill>
            <a:srgbClr val="FFFFFF"/>
          </a:solidFill>
          <a:ln/>
        </p:spPr>
        <p:txBody>
          <a:bodyPr/>
          <a:lstStyle/>
          <a:p>
            <a:endParaRPr lang="fr-FR"/>
          </a:p>
        </p:txBody>
      </p:sp>
      <p:sp>
        <p:nvSpPr>
          <p:cNvPr id="13" name="Shape 11"/>
          <p:cNvSpPr/>
          <p:nvPr/>
        </p:nvSpPr>
        <p:spPr>
          <a:xfrm>
            <a:off x="694944" y="2267712"/>
            <a:ext cx="256032" cy="256032"/>
          </a:xfrm>
          <a:prstGeom prst="ellipse">
            <a:avLst/>
          </a:prstGeom>
          <a:solidFill>
            <a:srgbClr val="00A896"/>
          </a:solidFill>
          <a:ln/>
        </p:spPr>
        <p:txBody>
          <a:bodyPr/>
          <a:lstStyle/>
          <a:p>
            <a:endParaRPr lang="fr-FR"/>
          </a:p>
        </p:txBody>
      </p:sp>
      <p:sp>
        <p:nvSpPr>
          <p:cNvPr id="14" name="Text 12"/>
          <p:cNvSpPr/>
          <p:nvPr/>
        </p:nvSpPr>
        <p:spPr>
          <a:xfrm>
            <a:off x="694944" y="2267712"/>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a:t>
            </a:r>
            <a:endParaRPr lang="en-US" sz="950" dirty="0"/>
          </a:p>
        </p:txBody>
      </p:sp>
      <p:sp>
        <p:nvSpPr>
          <p:cNvPr id="15" name="Text 13"/>
          <p:cNvSpPr/>
          <p:nvPr/>
        </p:nvSpPr>
        <p:spPr>
          <a:xfrm>
            <a:off x="1078992" y="2212848"/>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Infrastructure IaC</a:t>
            </a:r>
            <a:endParaRPr lang="en-US" sz="1100" dirty="0"/>
          </a:p>
        </p:txBody>
      </p:sp>
      <p:sp>
        <p:nvSpPr>
          <p:cNvPr id="16" name="Text 14"/>
          <p:cNvSpPr/>
          <p:nvPr/>
        </p:nvSpPr>
        <p:spPr>
          <a:xfrm>
            <a:off x="4206240" y="2212848"/>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Non fonct.</a:t>
            </a:r>
            <a:endParaRPr lang="en-US" sz="950" dirty="0"/>
          </a:p>
        </p:txBody>
      </p:sp>
      <p:sp>
        <p:nvSpPr>
          <p:cNvPr id="17" name="Shape 15"/>
          <p:cNvSpPr/>
          <p:nvPr/>
        </p:nvSpPr>
        <p:spPr>
          <a:xfrm>
            <a:off x="548640" y="2615184"/>
            <a:ext cx="5449824" cy="365760"/>
          </a:xfrm>
          <a:prstGeom prst="rect">
            <a:avLst/>
          </a:prstGeom>
          <a:solidFill>
            <a:srgbClr val="EEF3F7"/>
          </a:solidFill>
          <a:ln/>
        </p:spPr>
        <p:txBody>
          <a:bodyPr/>
          <a:lstStyle/>
          <a:p>
            <a:endParaRPr lang="fr-FR"/>
          </a:p>
        </p:txBody>
      </p:sp>
      <p:sp>
        <p:nvSpPr>
          <p:cNvPr id="18" name="Shape 16"/>
          <p:cNvSpPr/>
          <p:nvPr/>
        </p:nvSpPr>
        <p:spPr>
          <a:xfrm>
            <a:off x="694944" y="2670048"/>
            <a:ext cx="256032" cy="256032"/>
          </a:xfrm>
          <a:prstGeom prst="ellipse">
            <a:avLst/>
          </a:prstGeom>
          <a:solidFill>
            <a:srgbClr val="E08A3C"/>
          </a:solidFill>
          <a:ln/>
        </p:spPr>
        <p:txBody>
          <a:bodyPr/>
          <a:lstStyle/>
          <a:p>
            <a:endParaRPr lang="fr-FR"/>
          </a:p>
        </p:txBody>
      </p:sp>
      <p:sp>
        <p:nvSpPr>
          <p:cNvPr id="19" name="Text 17"/>
          <p:cNvSpPr/>
          <p:nvPr/>
        </p:nvSpPr>
        <p:spPr>
          <a:xfrm>
            <a:off x="694944" y="267004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a:t>
            </a:r>
            <a:endParaRPr lang="en-US" sz="950" dirty="0"/>
          </a:p>
        </p:txBody>
      </p:sp>
      <p:sp>
        <p:nvSpPr>
          <p:cNvPr id="20" name="Text 18"/>
          <p:cNvSpPr/>
          <p:nvPr/>
        </p:nvSpPr>
        <p:spPr>
          <a:xfrm>
            <a:off x="1078992" y="2615184"/>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Backend API</a:t>
            </a:r>
            <a:endParaRPr lang="en-US" sz="1100" dirty="0"/>
          </a:p>
        </p:txBody>
      </p:sp>
      <p:sp>
        <p:nvSpPr>
          <p:cNvPr id="21" name="Text 19"/>
          <p:cNvSpPr/>
          <p:nvPr/>
        </p:nvSpPr>
        <p:spPr>
          <a:xfrm>
            <a:off x="4206240" y="2615184"/>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Fonctionnel</a:t>
            </a:r>
            <a:endParaRPr lang="en-US" sz="950" dirty="0"/>
          </a:p>
        </p:txBody>
      </p:sp>
      <p:sp>
        <p:nvSpPr>
          <p:cNvPr id="22" name="Shape 20"/>
          <p:cNvSpPr/>
          <p:nvPr/>
        </p:nvSpPr>
        <p:spPr>
          <a:xfrm>
            <a:off x="548640" y="3017520"/>
            <a:ext cx="5449824" cy="365760"/>
          </a:xfrm>
          <a:prstGeom prst="rect">
            <a:avLst/>
          </a:prstGeom>
          <a:solidFill>
            <a:srgbClr val="FFFFFF"/>
          </a:solidFill>
          <a:ln/>
        </p:spPr>
        <p:txBody>
          <a:bodyPr/>
          <a:lstStyle/>
          <a:p>
            <a:endParaRPr lang="fr-FR"/>
          </a:p>
        </p:txBody>
      </p:sp>
      <p:sp>
        <p:nvSpPr>
          <p:cNvPr id="23" name="Shape 21"/>
          <p:cNvSpPr/>
          <p:nvPr/>
        </p:nvSpPr>
        <p:spPr>
          <a:xfrm>
            <a:off x="694944" y="3072384"/>
            <a:ext cx="256032" cy="256032"/>
          </a:xfrm>
          <a:prstGeom prst="ellipse">
            <a:avLst/>
          </a:prstGeom>
          <a:solidFill>
            <a:srgbClr val="E08A3C"/>
          </a:solidFill>
          <a:ln/>
        </p:spPr>
        <p:txBody>
          <a:bodyPr/>
          <a:lstStyle/>
          <a:p>
            <a:endParaRPr lang="fr-FR"/>
          </a:p>
        </p:txBody>
      </p:sp>
      <p:sp>
        <p:nvSpPr>
          <p:cNvPr id="24" name="Text 22"/>
          <p:cNvSpPr/>
          <p:nvPr/>
        </p:nvSpPr>
        <p:spPr>
          <a:xfrm>
            <a:off x="694944" y="3072384"/>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
            </a:r>
            <a:endParaRPr lang="en-US" sz="950" dirty="0"/>
          </a:p>
        </p:txBody>
      </p:sp>
      <p:sp>
        <p:nvSpPr>
          <p:cNvPr id="25" name="Text 23"/>
          <p:cNvSpPr/>
          <p:nvPr/>
        </p:nvSpPr>
        <p:spPr>
          <a:xfrm>
            <a:off x="1078992" y="3017520"/>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Frontend et site</a:t>
            </a:r>
            <a:endParaRPr lang="en-US" sz="1100" dirty="0"/>
          </a:p>
        </p:txBody>
      </p:sp>
      <p:sp>
        <p:nvSpPr>
          <p:cNvPr id="26" name="Text 24"/>
          <p:cNvSpPr/>
          <p:nvPr/>
        </p:nvSpPr>
        <p:spPr>
          <a:xfrm>
            <a:off x="4206240" y="3017520"/>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Fonctionnel</a:t>
            </a:r>
            <a:endParaRPr lang="en-US" sz="950" dirty="0"/>
          </a:p>
        </p:txBody>
      </p:sp>
      <p:sp>
        <p:nvSpPr>
          <p:cNvPr id="27" name="Shape 25"/>
          <p:cNvSpPr/>
          <p:nvPr/>
        </p:nvSpPr>
        <p:spPr>
          <a:xfrm>
            <a:off x="548640" y="3419856"/>
            <a:ext cx="5449824" cy="365760"/>
          </a:xfrm>
          <a:prstGeom prst="rect">
            <a:avLst/>
          </a:prstGeom>
          <a:solidFill>
            <a:srgbClr val="EEF3F7"/>
          </a:solidFill>
          <a:ln/>
        </p:spPr>
        <p:txBody>
          <a:bodyPr/>
          <a:lstStyle/>
          <a:p>
            <a:endParaRPr lang="fr-FR"/>
          </a:p>
        </p:txBody>
      </p:sp>
      <p:sp>
        <p:nvSpPr>
          <p:cNvPr id="28" name="Shape 26"/>
          <p:cNvSpPr/>
          <p:nvPr/>
        </p:nvSpPr>
        <p:spPr>
          <a:xfrm>
            <a:off x="694944" y="3474720"/>
            <a:ext cx="256032" cy="256032"/>
          </a:xfrm>
          <a:prstGeom prst="ellipse">
            <a:avLst/>
          </a:prstGeom>
          <a:solidFill>
            <a:srgbClr val="00A896"/>
          </a:solidFill>
          <a:ln/>
        </p:spPr>
        <p:txBody>
          <a:bodyPr/>
          <a:lstStyle/>
          <a:p>
            <a:endParaRPr lang="fr-FR"/>
          </a:p>
        </p:txBody>
      </p:sp>
      <p:sp>
        <p:nvSpPr>
          <p:cNvPr id="29" name="Text 27"/>
          <p:cNvSpPr/>
          <p:nvPr/>
        </p:nvSpPr>
        <p:spPr>
          <a:xfrm>
            <a:off x="694944" y="3474720"/>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a:t>
            </a:r>
            <a:endParaRPr lang="en-US" sz="950" dirty="0"/>
          </a:p>
        </p:txBody>
      </p:sp>
      <p:sp>
        <p:nvSpPr>
          <p:cNvPr id="30" name="Text 28"/>
          <p:cNvSpPr/>
          <p:nvPr/>
        </p:nvSpPr>
        <p:spPr>
          <a:xfrm>
            <a:off x="1078992" y="3419856"/>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Chaîne CI/CD</a:t>
            </a:r>
            <a:endParaRPr lang="en-US" sz="1100" dirty="0"/>
          </a:p>
        </p:txBody>
      </p:sp>
      <p:sp>
        <p:nvSpPr>
          <p:cNvPr id="31" name="Text 29"/>
          <p:cNvSpPr/>
          <p:nvPr/>
        </p:nvSpPr>
        <p:spPr>
          <a:xfrm>
            <a:off x="4206240" y="3419856"/>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Non fonct.</a:t>
            </a:r>
            <a:endParaRPr lang="en-US" sz="950" dirty="0"/>
          </a:p>
        </p:txBody>
      </p:sp>
      <p:sp>
        <p:nvSpPr>
          <p:cNvPr id="32" name="Shape 30"/>
          <p:cNvSpPr/>
          <p:nvPr/>
        </p:nvSpPr>
        <p:spPr>
          <a:xfrm>
            <a:off x="548640" y="3822192"/>
            <a:ext cx="5449824" cy="365760"/>
          </a:xfrm>
          <a:prstGeom prst="rect">
            <a:avLst/>
          </a:prstGeom>
          <a:solidFill>
            <a:srgbClr val="FFFFFF"/>
          </a:solidFill>
          <a:ln/>
        </p:spPr>
        <p:txBody>
          <a:bodyPr/>
          <a:lstStyle/>
          <a:p>
            <a:endParaRPr lang="fr-FR"/>
          </a:p>
        </p:txBody>
      </p:sp>
      <p:sp>
        <p:nvSpPr>
          <p:cNvPr id="33" name="Shape 31"/>
          <p:cNvSpPr/>
          <p:nvPr/>
        </p:nvSpPr>
        <p:spPr>
          <a:xfrm>
            <a:off x="694944" y="3877056"/>
            <a:ext cx="256032" cy="256032"/>
          </a:xfrm>
          <a:prstGeom prst="ellipse">
            <a:avLst/>
          </a:prstGeom>
          <a:solidFill>
            <a:srgbClr val="00A896"/>
          </a:solidFill>
          <a:ln/>
        </p:spPr>
        <p:txBody>
          <a:bodyPr/>
          <a:lstStyle/>
          <a:p>
            <a:endParaRPr lang="fr-FR"/>
          </a:p>
        </p:txBody>
      </p:sp>
      <p:sp>
        <p:nvSpPr>
          <p:cNvPr id="34" name="Text 32"/>
          <p:cNvSpPr/>
          <p:nvPr/>
        </p:nvSpPr>
        <p:spPr>
          <a:xfrm>
            <a:off x="694944" y="3877056"/>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a:t>
            </a:r>
            <a:endParaRPr lang="en-US" sz="950" dirty="0"/>
          </a:p>
        </p:txBody>
      </p:sp>
      <p:sp>
        <p:nvSpPr>
          <p:cNvPr id="35" name="Text 33"/>
          <p:cNvSpPr/>
          <p:nvPr/>
        </p:nvSpPr>
        <p:spPr>
          <a:xfrm>
            <a:off x="1078992" y="3822192"/>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Observabilité</a:t>
            </a:r>
            <a:endParaRPr lang="en-US" sz="1100" dirty="0"/>
          </a:p>
        </p:txBody>
      </p:sp>
      <p:sp>
        <p:nvSpPr>
          <p:cNvPr id="36" name="Text 34"/>
          <p:cNvSpPr/>
          <p:nvPr/>
        </p:nvSpPr>
        <p:spPr>
          <a:xfrm>
            <a:off x="4206240" y="3822192"/>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Non fonct.</a:t>
            </a:r>
            <a:endParaRPr lang="en-US" sz="950" dirty="0"/>
          </a:p>
        </p:txBody>
      </p:sp>
      <p:sp>
        <p:nvSpPr>
          <p:cNvPr id="37" name="Shape 35"/>
          <p:cNvSpPr/>
          <p:nvPr/>
        </p:nvSpPr>
        <p:spPr>
          <a:xfrm>
            <a:off x="548640" y="4224528"/>
            <a:ext cx="5449824" cy="365760"/>
          </a:xfrm>
          <a:prstGeom prst="rect">
            <a:avLst/>
          </a:prstGeom>
          <a:solidFill>
            <a:srgbClr val="EEF3F7"/>
          </a:solidFill>
          <a:ln/>
        </p:spPr>
        <p:txBody>
          <a:bodyPr/>
          <a:lstStyle/>
          <a:p>
            <a:endParaRPr lang="fr-FR"/>
          </a:p>
        </p:txBody>
      </p:sp>
      <p:sp>
        <p:nvSpPr>
          <p:cNvPr id="38" name="Shape 36"/>
          <p:cNvSpPr/>
          <p:nvPr/>
        </p:nvSpPr>
        <p:spPr>
          <a:xfrm>
            <a:off x="694944" y="4279392"/>
            <a:ext cx="256032" cy="256032"/>
          </a:xfrm>
          <a:prstGeom prst="ellipse">
            <a:avLst/>
          </a:prstGeom>
          <a:solidFill>
            <a:srgbClr val="00A896"/>
          </a:solidFill>
          <a:ln/>
        </p:spPr>
        <p:txBody>
          <a:bodyPr/>
          <a:lstStyle/>
          <a:p>
            <a:endParaRPr lang="fr-FR"/>
          </a:p>
        </p:txBody>
      </p:sp>
      <p:sp>
        <p:nvSpPr>
          <p:cNvPr id="39" name="Text 37"/>
          <p:cNvSpPr/>
          <p:nvPr/>
        </p:nvSpPr>
        <p:spPr>
          <a:xfrm>
            <a:off x="694944" y="4279392"/>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a:t>
            </a:r>
            <a:endParaRPr lang="en-US" sz="950" dirty="0"/>
          </a:p>
        </p:txBody>
      </p:sp>
      <p:sp>
        <p:nvSpPr>
          <p:cNvPr id="40" name="Text 38"/>
          <p:cNvSpPr/>
          <p:nvPr/>
        </p:nvSpPr>
        <p:spPr>
          <a:xfrm>
            <a:off x="1078992" y="4224528"/>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Sécurité et conformité</a:t>
            </a:r>
            <a:endParaRPr lang="en-US" sz="1100" dirty="0"/>
          </a:p>
        </p:txBody>
      </p:sp>
      <p:sp>
        <p:nvSpPr>
          <p:cNvPr id="41" name="Text 39"/>
          <p:cNvSpPr/>
          <p:nvPr/>
        </p:nvSpPr>
        <p:spPr>
          <a:xfrm>
            <a:off x="4206240" y="4224528"/>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Non fonct.</a:t>
            </a:r>
            <a:endParaRPr lang="en-US" sz="950" dirty="0"/>
          </a:p>
        </p:txBody>
      </p:sp>
      <p:sp>
        <p:nvSpPr>
          <p:cNvPr id="42" name="Shape 40"/>
          <p:cNvSpPr/>
          <p:nvPr/>
        </p:nvSpPr>
        <p:spPr>
          <a:xfrm>
            <a:off x="548640" y="4626864"/>
            <a:ext cx="5449824" cy="365760"/>
          </a:xfrm>
          <a:prstGeom prst="rect">
            <a:avLst/>
          </a:prstGeom>
          <a:solidFill>
            <a:srgbClr val="FFFFFF"/>
          </a:solidFill>
          <a:ln/>
        </p:spPr>
        <p:txBody>
          <a:bodyPr/>
          <a:lstStyle/>
          <a:p>
            <a:endParaRPr lang="fr-FR"/>
          </a:p>
        </p:txBody>
      </p:sp>
      <p:sp>
        <p:nvSpPr>
          <p:cNvPr id="43" name="Shape 41"/>
          <p:cNvSpPr/>
          <p:nvPr/>
        </p:nvSpPr>
        <p:spPr>
          <a:xfrm>
            <a:off x="694944" y="4681728"/>
            <a:ext cx="256032" cy="256032"/>
          </a:xfrm>
          <a:prstGeom prst="ellipse">
            <a:avLst/>
          </a:prstGeom>
          <a:solidFill>
            <a:srgbClr val="00A896"/>
          </a:solidFill>
          <a:ln/>
        </p:spPr>
        <p:txBody>
          <a:bodyPr/>
          <a:lstStyle/>
          <a:p>
            <a:endParaRPr lang="fr-FR"/>
          </a:p>
        </p:txBody>
      </p:sp>
      <p:sp>
        <p:nvSpPr>
          <p:cNvPr id="44" name="Text 42"/>
          <p:cNvSpPr/>
          <p:nvPr/>
        </p:nvSpPr>
        <p:spPr>
          <a:xfrm>
            <a:off x="694944" y="468172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p>
        </p:txBody>
      </p:sp>
      <p:sp>
        <p:nvSpPr>
          <p:cNvPr id="45" name="Text 43"/>
          <p:cNvSpPr/>
          <p:nvPr/>
        </p:nvSpPr>
        <p:spPr>
          <a:xfrm>
            <a:off x="1078992" y="4626864"/>
            <a:ext cx="3108960" cy="365760"/>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Documentation et soutenance</a:t>
            </a:r>
            <a:endParaRPr lang="en-US" sz="1100" dirty="0"/>
          </a:p>
        </p:txBody>
      </p:sp>
      <p:sp>
        <p:nvSpPr>
          <p:cNvPr id="46" name="Text 44"/>
          <p:cNvSpPr/>
          <p:nvPr/>
        </p:nvSpPr>
        <p:spPr>
          <a:xfrm>
            <a:off x="4206240" y="4626864"/>
            <a:ext cx="1664208" cy="365760"/>
          </a:xfrm>
          <a:prstGeom prst="rect">
            <a:avLst/>
          </a:prstGeom>
          <a:noFill/>
          <a:ln/>
        </p:spPr>
        <p:txBody>
          <a:bodyPr wrap="square" lIns="0" tIns="0" rIns="0" bIns="0" rtlCol="0" anchor="ctr"/>
          <a:lstStyle/>
          <a:p>
            <a:pPr marL="0" indent="0" algn="r">
              <a:buNone/>
            </a:pPr>
            <a:r>
              <a:rPr lang="en-US" sz="950" dirty="0">
                <a:solidFill>
                  <a:srgbClr val="4A5769"/>
                </a:solidFill>
                <a:latin typeface="Calibri" pitchFamily="34" charset="0"/>
                <a:ea typeface="Calibri" pitchFamily="34" charset="-122"/>
                <a:cs typeface="Calibri" pitchFamily="34" charset="-120"/>
              </a:rPr>
              <a:t>Non fonct.</a:t>
            </a:r>
            <a:endParaRPr lang="en-US" sz="950" dirty="0"/>
          </a:p>
        </p:txBody>
      </p:sp>
      <p:sp>
        <p:nvSpPr>
          <p:cNvPr id="47" name="Text 45"/>
          <p:cNvSpPr/>
          <p:nvPr/>
        </p:nvSpPr>
        <p:spPr>
          <a:xfrm>
            <a:off x="548640" y="5120640"/>
            <a:ext cx="5449824" cy="274320"/>
          </a:xfrm>
          <a:prstGeom prst="rect">
            <a:avLst/>
          </a:prstGeom>
          <a:noFill/>
          <a:ln/>
        </p:spPr>
        <p:txBody>
          <a:bodyPr wrap="square" lIns="0" tIns="0" rIns="0" bIns="0" rtlCol="0" anchor="ctr"/>
          <a:lstStyle/>
          <a:p>
            <a:pPr marL="0" indent="0">
              <a:buNone/>
            </a:pPr>
            <a:r>
              <a:rPr lang="en-US" sz="1000" i="1" dirty="0">
                <a:solidFill>
                  <a:srgbClr val="00A896"/>
                </a:solidFill>
                <a:latin typeface="Calibri" pitchFamily="34" charset="0"/>
                <a:ea typeface="Calibri" pitchFamily="34" charset="-122"/>
                <a:cs typeface="Calibri" pitchFamily="34" charset="-120"/>
              </a:rPr>
              <a:t>Le poids des lots non fonctionnels est caractéristique d'un projet à dominante DevOps.</a:t>
            </a:r>
            <a:endParaRPr lang="en-US" sz="1000" dirty="0"/>
          </a:p>
        </p:txBody>
      </p:sp>
      <p:sp>
        <p:nvSpPr>
          <p:cNvPr id="48" name="Shape 46"/>
          <p:cNvSpPr/>
          <p:nvPr/>
        </p:nvSpPr>
        <p:spPr>
          <a:xfrm>
            <a:off x="6190488" y="1417320"/>
            <a:ext cx="5449824" cy="1554480"/>
          </a:xfrm>
          <a:prstGeom prst="roundRect">
            <a:avLst>
              <a:gd name="adj" fmla="val 3529"/>
            </a:avLst>
          </a:prstGeom>
          <a:solidFill>
            <a:srgbClr val="12263F"/>
          </a:solidFill>
          <a:ln/>
        </p:spPr>
        <p:txBody>
          <a:bodyPr/>
          <a:lstStyle/>
          <a:p>
            <a:endParaRPr lang="fr-FR"/>
          </a:p>
        </p:txBody>
      </p:sp>
      <p:sp>
        <p:nvSpPr>
          <p:cNvPr id="49" name="Text 47"/>
          <p:cNvSpPr/>
          <p:nvPr/>
        </p:nvSpPr>
        <p:spPr>
          <a:xfrm>
            <a:off x="6446520" y="1554480"/>
            <a:ext cx="4937760" cy="274320"/>
          </a:xfrm>
          <a:prstGeom prst="rect">
            <a:avLst/>
          </a:prstGeom>
          <a:noFill/>
          <a:ln/>
        </p:spPr>
        <p:txBody>
          <a:bodyPr wrap="square" lIns="0" tIns="0" rIns="0" bIns="0" rtlCol="0" anchor="ctr"/>
          <a:lstStyle/>
          <a:p>
            <a:pPr marL="0" indent="0">
              <a:buNone/>
            </a:pPr>
            <a:r>
              <a:rPr lang="en-US" sz="1300" b="1" dirty="0">
                <a:solidFill>
                  <a:srgbClr val="E08A3C"/>
                </a:solidFill>
                <a:latin typeface="Calibri" pitchFamily="34" charset="0"/>
                <a:ea typeface="Calibri" pitchFamily="34" charset="-122"/>
                <a:cs typeface="Calibri" pitchFamily="34" charset="-120"/>
              </a:rPr>
              <a:t>Chemin critique — 40 jours</a:t>
            </a:r>
            <a:endParaRPr lang="en-US" sz="1300" dirty="0"/>
          </a:p>
        </p:txBody>
      </p:sp>
      <p:sp>
        <p:nvSpPr>
          <p:cNvPr id="50" name="Text 48"/>
          <p:cNvSpPr/>
          <p:nvPr/>
        </p:nvSpPr>
        <p:spPr>
          <a:xfrm>
            <a:off x="6446520" y="1865376"/>
            <a:ext cx="4937760" cy="1005840"/>
          </a:xfrm>
          <a:prstGeom prst="rect">
            <a:avLst/>
          </a:prstGeom>
          <a:noFill/>
          <a:ln/>
        </p:spPr>
        <p:txBody>
          <a:bodyPr wrap="square" lIns="0" tIns="0" rIns="0" bIns="0" rtlCol="0" anchor="ctr"/>
          <a:lstStyle/>
          <a:p>
            <a:pPr marL="0" indent="0">
              <a:lnSpc>
                <a:spcPts val="1350"/>
              </a:lnSpc>
              <a:buNone/>
            </a:pPr>
            <a:r>
              <a:rPr lang="en-US" sz="1030" dirty="0">
                <a:solidFill>
                  <a:srgbClr val="C4D3E0"/>
                </a:solidFill>
                <a:latin typeface="Calibri" pitchFamily="34" charset="0"/>
                <a:ea typeface="Calibri" pitchFamily="34" charset="-122"/>
                <a:cs typeface="Calibri" pitchFamily="34" charset="-120"/>
              </a:rPr>
              <a:t>A → C → D → F → H</a:t>
            </a:r>
            <a:endParaRPr lang="en-US" sz="1030" dirty="0"/>
          </a:p>
          <a:p>
            <a:pPr marL="0" indent="0">
              <a:lnSpc>
                <a:spcPts val="1350"/>
              </a:lnSpc>
              <a:buNone/>
            </a:pPr>
            <a:r>
              <a:rPr lang="en-US" sz="1030" dirty="0">
                <a:solidFill>
                  <a:srgbClr val="C4D3E0"/>
                </a:solidFill>
                <a:latin typeface="Calibri" pitchFamily="34" charset="0"/>
                <a:ea typeface="Calibri" pitchFamily="34" charset="-122"/>
                <a:cs typeface="Calibri" pitchFamily="34" charset="-120"/>
              </a:rPr>
              <a:t>Cadrage et conception, backend API, CI/CD, observabilité, documentation et rétrospective.</a:t>
            </a:r>
            <a:endParaRPr lang="en-US" sz="1030" dirty="0"/>
          </a:p>
          <a:p>
            <a:pPr marL="0" indent="0">
              <a:lnSpc>
                <a:spcPts val="1350"/>
              </a:lnSpc>
              <a:buNone/>
            </a:pPr>
            <a:r>
              <a:rPr lang="en-US" sz="1030" dirty="0">
                <a:solidFill>
                  <a:srgbClr val="C4D3E0"/>
                </a:solidFill>
                <a:latin typeface="Calibri" pitchFamily="34" charset="0"/>
                <a:ea typeface="Calibri" pitchFamily="34" charset="-122"/>
                <a:cs typeface="Calibri" pitchFamily="34" charset="-120"/>
              </a:rPr>
              <a:t>Infrastructure IaC, frontend et sécurité disposent d'une marge : ils absorbent un retard sans décaler la fin.</a:t>
            </a:r>
            <a:endParaRPr lang="en-US" sz="1030" dirty="0"/>
          </a:p>
        </p:txBody>
      </p:sp>
      <p:sp>
        <p:nvSpPr>
          <p:cNvPr id="51" name="Text 49"/>
          <p:cNvSpPr/>
          <p:nvPr/>
        </p:nvSpPr>
        <p:spPr>
          <a:xfrm>
            <a:off x="6190488" y="3127248"/>
            <a:ext cx="5449824" cy="27432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Cinq jalons de contrôle</a:t>
            </a:r>
            <a:endParaRPr lang="en-US" sz="1300" dirty="0"/>
          </a:p>
        </p:txBody>
      </p:sp>
      <p:sp>
        <p:nvSpPr>
          <p:cNvPr id="52" name="Shape 50"/>
          <p:cNvSpPr/>
          <p:nvPr/>
        </p:nvSpPr>
        <p:spPr>
          <a:xfrm>
            <a:off x="6272784" y="3511296"/>
            <a:ext cx="329184" cy="329184"/>
          </a:xfrm>
          <a:prstGeom prst="ellipse">
            <a:avLst/>
          </a:prstGeom>
          <a:solidFill>
            <a:srgbClr val="00A896"/>
          </a:solidFill>
          <a:ln/>
        </p:spPr>
        <p:txBody>
          <a:bodyPr/>
          <a:lstStyle/>
          <a:p>
            <a:endParaRPr lang="fr-FR"/>
          </a:p>
        </p:txBody>
      </p:sp>
      <p:sp>
        <p:nvSpPr>
          <p:cNvPr id="53" name="Text 51"/>
          <p:cNvSpPr/>
          <p:nvPr/>
        </p:nvSpPr>
        <p:spPr>
          <a:xfrm>
            <a:off x="6272784" y="3511296"/>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M1</a:t>
            </a:r>
            <a:endParaRPr lang="en-US" sz="950" dirty="0"/>
          </a:p>
        </p:txBody>
      </p:sp>
      <p:sp>
        <p:nvSpPr>
          <p:cNvPr id="54" name="Text 52"/>
          <p:cNvSpPr/>
          <p:nvPr/>
        </p:nvSpPr>
        <p:spPr>
          <a:xfrm>
            <a:off x="6729984" y="3474720"/>
            <a:ext cx="4754880" cy="402336"/>
          </a:xfrm>
          <a:prstGeom prst="rect">
            <a:avLst/>
          </a:prstGeom>
          <a:noFill/>
          <a:ln/>
        </p:spPr>
        <p:txBody>
          <a:bodyPr wrap="square" lIns="0" tIns="0" rIns="0" bIns="0" rtlCol="0" anchor="ctr"/>
          <a:lstStyle/>
          <a:p>
            <a:pPr marL="0" indent="0">
              <a:buNone/>
            </a:pPr>
            <a:r>
              <a:rPr lang="en-US" sz="1100" dirty="0">
                <a:solidFill>
                  <a:srgbClr val="12263F"/>
                </a:solidFill>
                <a:latin typeface="Calibri" pitchFamily="34" charset="0"/>
                <a:ea typeface="Calibri" pitchFamily="34" charset="-122"/>
                <a:cs typeface="Calibri" pitchFamily="34" charset="-120"/>
              </a:rPr>
              <a:t>Dossiers de conception validés</a:t>
            </a:r>
            <a:endParaRPr lang="en-US" sz="1100" dirty="0"/>
          </a:p>
        </p:txBody>
      </p:sp>
      <p:sp>
        <p:nvSpPr>
          <p:cNvPr id="55" name="Shape 53"/>
          <p:cNvSpPr/>
          <p:nvPr/>
        </p:nvSpPr>
        <p:spPr>
          <a:xfrm>
            <a:off x="6272784" y="3950208"/>
            <a:ext cx="329184" cy="329184"/>
          </a:xfrm>
          <a:prstGeom prst="ellipse">
            <a:avLst/>
          </a:prstGeom>
          <a:solidFill>
            <a:srgbClr val="00A896"/>
          </a:solidFill>
          <a:ln/>
        </p:spPr>
        <p:txBody>
          <a:bodyPr/>
          <a:lstStyle/>
          <a:p>
            <a:endParaRPr lang="fr-FR"/>
          </a:p>
        </p:txBody>
      </p:sp>
      <p:sp>
        <p:nvSpPr>
          <p:cNvPr id="56" name="Text 54"/>
          <p:cNvSpPr/>
          <p:nvPr/>
        </p:nvSpPr>
        <p:spPr>
          <a:xfrm>
            <a:off x="6272784" y="3950208"/>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M2</a:t>
            </a:r>
            <a:endParaRPr lang="en-US" sz="950" dirty="0"/>
          </a:p>
        </p:txBody>
      </p:sp>
      <p:sp>
        <p:nvSpPr>
          <p:cNvPr id="57" name="Text 55"/>
          <p:cNvSpPr/>
          <p:nvPr/>
        </p:nvSpPr>
        <p:spPr>
          <a:xfrm>
            <a:off x="6729984" y="3913632"/>
            <a:ext cx="4754880" cy="402336"/>
          </a:xfrm>
          <a:prstGeom prst="rect">
            <a:avLst/>
          </a:prstGeom>
          <a:noFill/>
          <a:ln/>
        </p:spPr>
        <p:txBody>
          <a:bodyPr wrap="square" lIns="0" tIns="0" rIns="0" bIns="0" rtlCol="0" anchor="ctr"/>
          <a:lstStyle/>
          <a:p>
            <a:pPr marL="0" indent="0">
              <a:buNone/>
            </a:pPr>
            <a:r>
              <a:rPr lang="en-US" sz="1100" dirty="0">
                <a:solidFill>
                  <a:srgbClr val="12263F"/>
                </a:solidFill>
                <a:latin typeface="Calibri" pitchFamily="34" charset="0"/>
                <a:ea typeface="Calibri" pitchFamily="34" charset="-122"/>
                <a:cs typeface="Calibri" pitchFamily="34" charset="-120"/>
              </a:rPr>
              <a:t>Infrastructure déployée par l'IaC</a:t>
            </a:r>
            <a:endParaRPr lang="en-US" sz="1100" dirty="0"/>
          </a:p>
        </p:txBody>
      </p:sp>
      <p:sp>
        <p:nvSpPr>
          <p:cNvPr id="58" name="Shape 56"/>
          <p:cNvSpPr/>
          <p:nvPr/>
        </p:nvSpPr>
        <p:spPr>
          <a:xfrm>
            <a:off x="6272784" y="4389120"/>
            <a:ext cx="329184" cy="329184"/>
          </a:xfrm>
          <a:prstGeom prst="ellipse">
            <a:avLst/>
          </a:prstGeom>
          <a:solidFill>
            <a:srgbClr val="00A896"/>
          </a:solidFill>
          <a:ln/>
        </p:spPr>
        <p:txBody>
          <a:bodyPr/>
          <a:lstStyle/>
          <a:p>
            <a:endParaRPr lang="fr-FR"/>
          </a:p>
        </p:txBody>
      </p:sp>
      <p:sp>
        <p:nvSpPr>
          <p:cNvPr id="59" name="Text 57"/>
          <p:cNvSpPr/>
          <p:nvPr/>
        </p:nvSpPr>
        <p:spPr>
          <a:xfrm>
            <a:off x="6272784" y="4389120"/>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M3</a:t>
            </a:r>
            <a:endParaRPr lang="en-US" sz="950" dirty="0"/>
          </a:p>
        </p:txBody>
      </p:sp>
      <p:sp>
        <p:nvSpPr>
          <p:cNvPr id="60" name="Text 58"/>
          <p:cNvSpPr/>
          <p:nvPr/>
        </p:nvSpPr>
        <p:spPr>
          <a:xfrm>
            <a:off x="6729984" y="4352544"/>
            <a:ext cx="4754880" cy="402336"/>
          </a:xfrm>
          <a:prstGeom prst="rect">
            <a:avLst/>
          </a:prstGeom>
          <a:noFill/>
          <a:ln/>
        </p:spPr>
        <p:txBody>
          <a:bodyPr wrap="square" lIns="0" tIns="0" rIns="0" bIns="0" rtlCol="0" anchor="ctr"/>
          <a:lstStyle/>
          <a:p>
            <a:pPr marL="0" indent="0">
              <a:buNone/>
            </a:pPr>
            <a:r>
              <a:rPr lang="en-US" sz="1100" dirty="0">
                <a:solidFill>
                  <a:srgbClr val="12263F"/>
                </a:solidFill>
                <a:latin typeface="Calibri" pitchFamily="34" charset="0"/>
                <a:ea typeface="Calibri" pitchFamily="34" charset="-122"/>
                <a:cs typeface="Calibri" pitchFamily="34" charset="-120"/>
              </a:rPr>
              <a:t>Application fonctionnelle</a:t>
            </a:r>
            <a:endParaRPr lang="en-US" sz="1100" dirty="0"/>
          </a:p>
        </p:txBody>
      </p:sp>
      <p:sp>
        <p:nvSpPr>
          <p:cNvPr id="61" name="Shape 59"/>
          <p:cNvSpPr/>
          <p:nvPr/>
        </p:nvSpPr>
        <p:spPr>
          <a:xfrm>
            <a:off x="6272784" y="4828032"/>
            <a:ext cx="329184" cy="329184"/>
          </a:xfrm>
          <a:prstGeom prst="ellipse">
            <a:avLst/>
          </a:prstGeom>
          <a:solidFill>
            <a:srgbClr val="00A896"/>
          </a:solidFill>
          <a:ln/>
        </p:spPr>
        <p:txBody>
          <a:bodyPr/>
          <a:lstStyle/>
          <a:p>
            <a:endParaRPr lang="fr-FR"/>
          </a:p>
        </p:txBody>
      </p:sp>
      <p:sp>
        <p:nvSpPr>
          <p:cNvPr id="62" name="Text 60"/>
          <p:cNvSpPr/>
          <p:nvPr/>
        </p:nvSpPr>
        <p:spPr>
          <a:xfrm>
            <a:off x="6272784" y="4828032"/>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M4</a:t>
            </a:r>
            <a:endParaRPr lang="en-US" sz="950" dirty="0"/>
          </a:p>
        </p:txBody>
      </p:sp>
      <p:sp>
        <p:nvSpPr>
          <p:cNvPr id="63" name="Text 61"/>
          <p:cNvSpPr/>
          <p:nvPr/>
        </p:nvSpPr>
        <p:spPr>
          <a:xfrm>
            <a:off x="6729984" y="4791456"/>
            <a:ext cx="4754880" cy="402336"/>
          </a:xfrm>
          <a:prstGeom prst="rect">
            <a:avLst/>
          </a:prstGeom>
          <a:noFill/>
          <a:ln/>
        </p:spPr>
        <p:txBody>
          <a:bodyPr wrap="square" lIns="0" tIns="0" rIns="0" bIns="0" rtlCol="0" anchor="ctr"/>
          <a:lstStyle/>
          <a:p>
            <a:pPr marL="0" indent="0">
              <a:buNone/>
            </a:pPr>
            <a:r>
              <a:rPr lang="en-US" sz="1100" dirty="0">
                <a:solidFill>
                  <a:srgbClr val="12263F"/>
                </a:solidFill>
                <a:latin typeface="Calibri" pitchFamily="34" charset="0"/>
                <a:ea typeface="Calibri" pitchFamily="34" charset="-122"/>
                <a:cs typeface="Calibri" pitchFamily="34" charset="-120"/>
              </a:rPr>
              <a:t>Pipeline et observabilité en place</a:t>
            </a:r>
            <a:endParaRPr lang="en-US" sz="1100" dirty="0"/>
          </a:p>
        </p:txBody>
      </p:sp>
      <p:sp>
        <p:nvSpPr>
          <p:cNvPr id="64" name="Shape 62"/>
          <p:cNvSpPr/>
          <p:nvPr/>
        </p:nvSpPr>
        <p:spPr>
          <a:xfrm>
            <a:off x="6272784" y="5266944"/>
            <a:ext cx="329184" cy="329184"/>
          </a:xfrm>
          <a:prstGeom prst="ellipse">
            <a:avLst/>
          </a:prstGeom>
          <a:solidFill>
            <a:srgbClr val="00A896"/>
          </a:solidFill>
          <a:ln/>
        </p:spPr>
        <p:txBody>
          <a:bodyPr/>
          <a:lstStyle/>
          <a:p>
            <a:endParaRPr lang="fr-FR"/>
          </a:p>
        </p:txBody>
      </p:sp>
      <p:sp>
        <p:nvSpPr>
          <p:cNvPr id="65" name="Text 63"/>
          <p:cNvSpPr/>
          <p:nvPr/>
        </p:nvSpPr>
        <p:spPr>
          <a:xfrm>
            <a:off x="6272784" y="5266944"/>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M5</a:t>
            </a:r>
            <a:endParaRPr lang="en-US" sz="950" dirty="0"/>
          </a:p>
        </p:txBody>
      </p:sp>
      <p:sp>
        <p:nvSpPr>
          <p:cNvPr id="66" name="Text 64"/>
          <p:cNvSpPr/>
          <p:nvPr/>
        </p:nvSpPr>
        <p:spPr>
          <a:xfrm>
            <a:off x="6729984" y="5230368"/>
            <a:ext cx="4754880" cy="402336"/>
          </a:xfrm>
          <a:prstGeom prst="rect">
            <a:avLst/>
          </a:prstGeom>
          <a:noFill/>
          <a:ln/>
        </p:spPr>
        <p:txBody>
          <a:bodyPr wrap="square" lIns="0" tIns="0" rIns="0" bIns="0" rtlCol="0" anchor="ctr"/>
          <a:lstStyle/>
          <a:p>
            <a:pPr marL="0" indent="0">
              <a:buNone/>
            </a:pPr>
            <a:r>
              <a:rPr lang="en-US" sz="1100" dirty="0">
                <a:solidFill>
                  <a:srgbClr val="12263F"/>
                </a:solidFill>
                <a:latin typeface="Calibri" pitchFamily="34" charset="0"/>
                <a:ea typeface="Calibri" pitchFamily="34" charset="-122"/>
                <a:cs typeface="Calibri" pitchFamily="34" charset="-120"/>
              </a:rPr>
              <a:t>Dossier technique et REX</a:t>
            </a:r>
            <a:endParaRPr lang="en-US" sz="1100" dirty="0"/>
          </a:p>
        </p:txBody>
      </p:sp>
      <p:sp>
        <p:nvSpPr>
          <p:cNvPr id="67" name="Text 65"/>
          <p:cNvSpPr/>
          <p:nvPr/>
        </p:nvSpPr>
        <p:spPr>
          <a:xfrm>
            <a:off x="6190488" y="5669280"/>
            <a:ext cx="5449824" cy="256032"/>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Budget : une estimation à trois niveaux</a:t>
            </a:r>
            <a:endParaRPr lang="en-US" sz="1150" dirty="0"/>
          </a:p>
        </p:txBody>
      </p:sp>
      <p:sp>
        <p:nvSpPr>
          <p:cNvPr id="68" name="Shape 66"/>
          <p:cNvSpPr/>
          <p:nvPr/>
        </p:nvSpPr>
        <p:spPr>
          <a:xfrm>
            <a:off x="6190488" y="5943600"/>
            <a:ext cx="1737360" cy="384048"/>
          </a:xfrm>
          <a:prstGeom prst="roundRect">
            <a:avLst>
              <a:gd name="adj" fmla="val 11905"/>
            </a:avLst>
          </a:prstGeom>
          <a:solidFill>
            <a:srgbClr val="EEF3F7"/>
          </a:solidFill>
          <a:ln/>
        </p:spPr>
        <p:txBody>
          <a:bodyPr/>
          <a:lstStyle/>
          <a:p>
            <a:endParaRPr lang="fr-FR"/>
          </a:p>
        </p:txBody>
      </p:sp>
      <p:sp>
        <p:nvSpPr>
          <p:cNvPr id="69" name="Text 67"/>
          <p:cNvSpPr/>
          <p:nvPr/>
        </p:nvSpPr>
        <p:spPr>
          <a:xfrm>
            <a:off x="6190488" y="5943600"/>
            <a:ext cx="1737360" cy="384048"/>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Global</a:t>
            </a:r>
            <a:endParaRPr lang="en-US" sz="1000" dirty="0"/>
          </a:p>
        </p:txBody>
      </p:sp>
      <p:sp>
        <p:nvSpPr>
          <p:cNvPr id="70" name="Shape 68"/>
          <p:cNvSpPr/>
          <p:nvPr/>
        </p:nvSpPr>
        <p:spPr>
          <a:xfrm>
            <a:off x="8037576" y="5943600"/>
            <a:ext cx="1737360" cy="384048"/>
          </a:xfrm>
          <a:prstGeom prst="roundRect">
            <a:avLst>
              <a:gd name="adj" fmla="val 11905"/>
            </a:avLst>
          </a:prstGeom>
          <a:solidFill>
            <a:srgbClr val="EEF3F7"/>
          </a:solidFill>
          <a:ln/>
        </p:spPr>
        <p:txBody>
          <a:bodyPr/>
          <a:lstStyle/>
          <a:p>
            <a:endParaRPr lang="fr-FR"/>
          </a:p>
        </p:txBody>
      </p:sp>
      <p:sp>
        <p:nvSpPr>
          <p:cNvPr id="71" name="Text 69"/>
          <p:cNvSpPr/>
          <p:nvPr/>
        </p:nvSpPr>
        <p:spPr>
          <a:xfrm>
            <a:off x="8037576" y="5943600"/>
            <a:ext cx="1737360" cy="384048"/>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Conception</a:t>
            </a:r>
            <a:endParaRPr lang="en-US" sz="1000" dirty="0"/>
          </a:p>
        </p:txBody>
      </p:sp>
      <p:sp>
        <p:nvSpPr>
          <p:cNvPr id="72" name="Shape 70"/>
          <p:cNvSpPr/>
          <p:nvPr/>
        </p:nvSpPr>
        <p:spPr>
          <a:xfrm>
            <a:off x="9884664" y="5943600"/>
            <a:ext cx="1737360" cy="384048"/>
          </a:xfrm>
          <a:prstGeom prst="roundRect">
            <a:avLst>
              <a:gd name="adj" fmla="val 11905"/>
            </a:avLst>
          </a:prstGeom>
          <a:solidFill>
            <a:srgbClr val="EEF3F7"/>
          </a:solidFill>
          <a:ln/>
        </p:spPr>
        <p:txBody>
          <a:bodyPr/>
          <a:lstStyle/>
          <a:p>
            <a:endParaRPr lang="fr-FR"/>
          </a:p>
        </p:txBody>
      </p:sp>
      <p:sp>
        <p:nvSpPr>
          <p:cNvPr id="73" name="Text 71"/>
          <p:cNvSpPr/>
          <p:nvPr/>
        </p:nvSpPr>
        <p:spPr>
          <a:xfrm>
            <a:off x="9884664" y="5943600"/>
            <a:ext cx="1737360" cy="384048"/>
          </a:xfrm>
          <a:prstGeom prst="rect">
            <a:avLst/>
          </a:prstGeom>
          <a:noFill/>
          <a:ln/>
        </p:spPr>
        <p:txBody>
          <a:bodyPr wrap="square" lIns="0" tIns="0" rIns="0" bIns="0" rtlCol="0" anchor="ctr"/>
          <a:lstStyle/>
          <a:p>
            <a:pPr marL="0" indent="0" algn="ctr">
              <a:buNone/>
            </a:pPr>
            <a:r>
              <a:rPr lang="en-US" sz="1000" b="1" dirty="0">
                <a:solidFill>
                  <a:srgbClr val="12263F"/>
                </a:solidFill>
                <a:latin typeface="Calibri" pitchFamily="34" charset="0"/>
                <a:ea typeface="Calibri" pitchFamily="34" charset="-122"/>
                <a:cs typeface="Calibri" pitchFamily="34" charset="-120"/>
              </a:rPr>
              <a:t>Déploiement</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6.1 ÉLABORATION DU PLANNING</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10 — Work Breakdown Structure (WBS)</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Arborescence à trois niveaux : projet en racine, huit lots de travail, puis leurs tâches — à disposer en deux colonnes pour rester lisible en 16:9</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Prouver que le périmètre a été décomposé de façon exhaustive et chiffrée, et mettre en évidence le poids des lots non fonctionnels caractéristique d'un projet DevOps.</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huit lots A à H, chacun avec sa charge estimée en jours-homme et le total d'environ 69 jours</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Deux à quatre tâches sous chaque lot (par exemple : Terraform, Ansible Swarm, PKI et secrets sous Infrastructure IaC)</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code couleur distinguant les lots fonctionnels (backend, frontend) des lots non fonctionnels</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rendu en deux colonnes : lots A à D à gauche, lots E à H à droite — une arborescence verticale unique devient illisible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charge par lot suffisamment lisible pour être commentée à l'oral</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Pas de dates : le WBS décrit le périmètre, le Gantt décrit le calendrier</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Mermaid (mindmap ou flowchart LR), draw.io, ou XMind exporté en image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BC2 · C15 — WBS décomposé entre fonctionnel et non fonctionnel, contenant les coûts des tâches</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6.1 ÉLABORATION DU PLANNING</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11 — Diagramme PERT et chemin critique</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Réseau de dépendances orienté : un nœud par lot portant sa durée, des flèches d'antériorité, et le chemin critique surligné</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Démontrer que le séquençage repose sur des dépendances techniques réelles et identifier les lots sur lesquels arbitrer en cas de tension.</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huit lots A à H sous forme de nœuds, chacun affichant sa durée en jours</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flèches d'antériorité entre lots, orientées de gauche à droite</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chemin critique A → C → D → F → H surligné dans une couleur d'alerte, avec son total de 40 jours</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lots à marge (infrastructure IaC, frontend, sécurité) dans une couleur neutre, avec leur marge indiquée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légende expliquant la lecture du chemin critique</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rendu horizontal, plus lisible qu'un réseau vertical sur une diapositive 16:9</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Mermaid (flowchart LR avec classes de style) ou draw.io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BC2 · C15 — séquençage des tâches sous forme de diagramme PERT avec le chemin critique</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6.1 ÉLABORATION DU PLANNING</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12 — Planning prévisionnel (diagramme de Gantt)</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Gantt : axe temporel horizontal, une barre par tâche, regroupement par phase et jalons matérialisés par des losanges</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Transcrire le séquençage PERT en calendrier et donner aux parties prenantes une lecture claire de la trajectoire du projet.</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cinq phases regroupées : conception, infrastructure, développement, DevOps, clôture</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barre par tâche, positionnée dans l'ordre imposé par le chemin critique, à partir du 3 février 2025</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cinq jalons M1 à M5 matérialisés par des losanges avec leur libellé</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chevauchements de tâches parallèles clairement visibles</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axe temporel gradué et lisible (semaines ou quinzaines)</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Une mention indiquant que les dates sont indicatives et réactualisées à chaque jalon</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Mermaid (gantt), GanttProject, ou un tableur exporté en image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BC2 · C15 — planification contenant objectifs, tâches, ressources et échéances du projet</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6.2 SUIVI DE L'AVANCEMENT ET GESTION DES RISQUES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Des indicateurs objectifs, pas un pilotage à l'estime</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48</a:t>
            </a:r>
            <a:endParaRPr lang="en-US" sz="900" dirty="0"/>
          </a:p>
        </p:txBody>
      </p:sp>
      <p:sp>
        <p:nvSpPr>
          <p:cNvPr id="6" name="Text 4"/>
          <p:cNvSpPr/>
          <p:nvPr/>
        </p:nvSpPr>
        <p:spPr>
          <a:xfrm>
            <a:off x="548640" y="141732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Indicateurs de performance suivis</a:t>
            </a:r>
            <a:endParaRPr lang="en-US" sz="1400" dirty="0"/>
          </a:p>
        </p:txBody>
      </p:sp>
      <p:sp>
        <p:nvSpPr>
          <p:cNvPr id="7" name="Shape 5"/>
          <p:cNvSpPr/>
          <p:nvPr/>
        </p:nvSpPr>
        <p:spPr>
          <a:xfrm>
            <a:off x="548640" y="1783080"/>
            <a:ext cx="2624328" cy="1691640"/>
          </a:xfrm>
          <a:prstGeom prst="roundRect">
            <a:avLst>
              <a:gd name="adj" fmla="val 3243"/>
            </a:avLst>
          </a:prstGeom>
          <a:solidFill>
            <a:srgbClr val="EEF3F7"/>
          </a:solidFill>
          <a:ln/>
        </p:spPr>
        <p:txBody>
          <a:bodyPr/>
          <a:lstStyle/>
          <a:p>
            <a:endParaRPr lang="fr-FR"/>
          </a:p>
        </p:txBody>
      </p:sp>
      <p:sp>
        <p:nvSpPr>
          <p:cNvPr id="8" name="Shape 6"/>
          <p:cNvSpPr/>
          <p:nvPr/>
        </p:nvSpPr>
        <p:spPr>
          <a:xfrm>
            <a:off x="768096" y="1956816"/>
            <a:ext cx="219456" cy="219456"/>
          </a:xfrm>
          <a:prstGeom prst="ellipse">
            <a:avLst/>
          </a:prstGeom>
          <a:solidFill>
            <a:srgbClr val="00A896"/>
          </a:solidFill>
          <a:ln/>
        </p:spPr>
        <p:txBody>
          <a:bodyPr/>
          <a:lstStyle/>
          <a:p>
            <a:endParaRPr lang="fr-FR"/>
          </a:p>
        </p:txBody>
      </p:sp>
      <p:sp>
        <p:nvSpPr>
          <p:cNvPr id="9" name="Text 7"/>
          <p:cNvSpPr/>
          <p:nvPr/>
        </p:nvSpPr>
        <p:spPr>
          <a:xfrm>
            <a:off x="1078992" y="1920240"/>
            <a:ext cx="1920240" cy="292608"/>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Projet</a:t>
            </a:r>
            <a:endParaRPr lang="en-US" sz="1250" dirty="0"/>
          </a:p>
        </p:txBody>
      </p:sp>
      <p:sp>
        <p:nvSpPr>
          <p:cNvPr id="10" name="Text 8"/>
          <p:cNvSpPr/>
          <p:nvPr/>
        </p:nvSpPr>
        <p:spPr>
          <a:xfrm>
            <a:off x="768096" y="2286000"/>
            <a:ext cx="2194560" cy="109728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Reste-à-faire par lot (WBS) · respect des jalons M1-M5 · consommation de la marge sur le chemin critique</a:t>
            </a:r>
            <a:endParaRPr lang="en-US" sz="1000" dirty="0"/>
          </a:p>
        </p:txBody>
      </p:sp>
      <p:sp>
        <p:nvSpPr>
          <p:cNvPr id="11" name="Shape 9"/>
          <p:cNvSpPr/>
          <p:nvPr/>
        </p:nvSpPr>
        <p:spPr>
          <a:xfrm>
            <a:off x="3374136" y="1783080"/>
            <a:ext cx="2624328" cy="1691640"/>
          </a:xfrm>
          <a:prstGeom prst="roundRect">
            <a:avLst>
              <a:gd name="adj" fmla="val 3243"/>
            </a:avLst>
          </a:prstGeom>
          <a:solidFill>
            <a:srgbClr val="EEF3F7"/>
          </a:solidFill>
          <a:ln/>
        </p:spPr>
        <p:txBody>
          <a:bodyPr/>
          <a:lstStyle/>
          <a:p>
            <a:endParaRPr lang="fr-FR"/>
          </a:p>
        </p:txBody>
      </p:sp>
      <p:sp>
        <p:nvSpPr>
          <p:cNvPr id="12" name="Shape 10"/>
          <p:cNvSpPr/>
          <p:nvPr/>
        </p:nvSpPr>
        <p:spPr>
          <a:xfrm>
            <a:off x="3593592" y="1956816"/>
            <a:ext cx="219456" cy="219456"/>
          </a:xfrm>
          <a:prstGeom prst="ellipse">
            <a:avLst/>
          </a:prstGeom>
          <a:solidFill>
            <a:srgbClr val="E08A3C"/>
          </a:solidFill>
          <a:ln/>
        </p:spPr>
        <p:txBody>
          <a:bodyPr/>
          <a:lstStyle/>
          <a:p>
            <a:endParaRPr lang="fr-FR"/>
          </a:p>
        </p:txBody>
      </p:sp>
      <p:sp>
        <p:nvSpPr>
          <p:cNvPr id="13" name="Text 11"/>
          <p:cNvSpPr/>
          <p:nvPr/>
        </p:nvSpPr>
        <p:spPr>
          <a:xfrm>
            <a:off x="3904488" y="1920240"/>
            <a:ext cx="1920240" cy="292608"/>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Livraison (DORA)</a:t>
            </a:r>
            <a:endParaRPr lang="en-US" sz="1250" dirty="0"/>
          </a:p>
        </p:txBody>
      </p:sp>
      <p:sp>
        <p:nvSpPr>
          <p:cNvPr id="14" name="Text 12"/>
          <p:cNvSpPr/>
          <p:nvPr/>
        </p:nvSpPr>
        <p:spPr>
          <a:xfrm>
            <a:off x="3593592" y="2286000"/>
            <a:ext cx="2194560" cy="109728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Fréquence de déploiement · délai de livraison des changements · taux d'échec des changements · MTTR</a:t>
            </a:r>
            <a:endParaRPr lang="en-US" sz="1000" dirty="0"/>
          </a:p>
        </p:txBody>
      </p:sp>
      <p:sp>
        <p:nvSpPr>
          <p:cNvPr id="15" name="Shape 13"/>
          <p:cNvSpPr/>
          <p:nvPr/>
        </p:nvSpPr>
        <p:spPr>
          <a:xfrm>
            <a:off x="6199632" y="1783080"/>
            <a:ext cx="2624328" cy="1691640"/>
          </a:xfrm>
          <a:prstGeom prst="roundRect">
            <a:avLst>
              <a:gd name="adj" fmla="val 3243"/>
            </a:avLst>
          </a:prstGeom>
          <a:solidFill>
            <a:srgbClr val="EEF3F7"/>
          </a:solidFill>
          <a:ln/>
        </p:spPr>
        <p:txBody>
          <a:bodyPr/>
          <a:lstStyle/>
          <a:p>
            <a:endParaRPr lang="fr-FR"/>
          </a:p>
        </p:txBody>
      </p:sp>
      <p:sp>
        <p:nvSpPr>
          <p:cNvPr id="16" name="Shape 14"/>
          <p:cNvSpPr/>
          <p:nvPr/>
        </p:nvSpPr>
        <p:spPr>
          <a:xfrm>
            <a:off x="6419088" y="1956816"/>
            <a:ext cx="219456" cy="219456"/>
          </a:xfrm>
          <a:prstGeom prst="ellipse">
            <a:avLst/>
          </a:prstGeom>
          <a:solidFill>
            <a:srgbClr val="3D7CA8"/>
          </a:solidFill>
          <a:ln/>
        </p:spPr>
        <p:txBody>
          <a:bodyPr/>
          <a:lstStyle/>
          <a:p>
            <a:endParaRPr lang="fr-FR"/>
          </a:p>
        </p:txBody>
      </p:sp>
      <p:sp>
        <p:nvSpPr>
          <p:cNvPr id="17" name="Text 15"/>
          <p:cNvSpPr/>
          <p:nvPr/>
        </p:nvSpPr>
        <p:spPr>
          <a:xfrm>
            <a:off x="6729984" y="1920240"/>
            <a:ext cx="1920240" cy="292608"/>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Qualité</a:t>
            </a:r>
            <a:endParaRPr lang="en-US" sz="1250" dirty="0"/>
          </a:p>
        </p:txBody>
      </p:sp>
      <p:sp>
        <p:nvSpPr>
          <p:cNvPr id="18" name="Text 16"/>
          <p:cNvSpPr/>
          <p:nvPr/>
        </p:nvSpPr>
        <p:spPr>
          <a:xfrm>
            <a:off x="6419088" y="2286000"/>
            <a:ext cx="2194560" cy="109728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218 tests Jest en intégration continue · portes de contrôle bloquantes du pipeline</a:t>
            </a:r>
            <a:endParaRPr lang="en-US" sz="1000" dirty="0"/>
          </a:p>
        </p:txBody>
      </p:sp>
      <p:sp>
        <p:nvSpPr>
          <p:cNvPr id="19" name="Shape 17"/>
          <p:cNvSpPr/>
          <p:nvPr/>
        </p:nvSpPr>
        <p:spPr>
          <a:xfrm>
            <a:off x="9025128" y="1783080"/>
            <a:ext cx="2624328" cy="1691640"/>
          </a:xfrm>
          <a:prstGeom prst="roundRect">
            <a:avLst>
              <a:gd name="adj" fmla="val 3243"/>
            </a:avLst>
          </a:prstGeom>
          <a:solidFill>
            <a:srgbClr val="EEF3F7"/>
          </a:solidFill>
          <a:ln/>
        </p:spPr>
        <p:txBody>
          <a:bodyPr/>
          <a:lstStyle/>
          <a:p>
            <a:endParaRPr lang="fr-FR"/>
          </a:p>
        </p:txBody>
      </p:sp>
      <p:sp>
        <p:nvSpPr>
          <p:cNvPr id="20" name="Shape 18"/>
          <p:cNvSpPr/>
          <p:nvPr/>
        </p:nvSpPr>
        <p:spPr>
          <a:xfrm>
            <a:off x="9244584" y="1956816"/>
            <a:ext cx="219456" cy="219456"/>
          </a:xfrm>
          <a:prstGeom prst="ellipse">
            <a:avLst/>
          </a:prstGeom>
          <a:solidFill>
            <a:srgbClr val="12263F"/>
          </a:solidFill>
          <a:ln/>
        </p:spPr>
        <p:txBody>
          <a:bodyPr/>
          <a:lstStyle/>
          <a:p>
            <a:endParaRPr lang="fr-FR"/>
          </a:p>
        </p:txBody>
      </p:sp>
      <p:sp>
        <p:nvSpPr>
          <p:cNvPr id="21" name="Text 19"/>
          <p:cNvSpPr/>
          <p:nvPr/>
        </p:nvSpPr>
        <p:spPr>
          <a:xfrm>
            <a:off x="9555480" y="1920240"/>
            <a:ext cx="1920240" cy="292608"/>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Exploitation</a:t>
            </a:r>
            <a:endParaRPr lang="en-US" sz="1250" dirty="0"/>
          </a:p>
        </p:txBody>
      </p:sp>
      <p:sp>
        <p:nvSpPr>
          <p:cNvPr id="22" name="Text 20"/>
          <p:cNvSpPr/>
          <p:nvPr/>
        </p:nvSpPr>
        <p:spPr>
          <a:xfrm>
            <a:off x="9244584" y="2286000"/>
            <a:ext cx="2194560" cy="109728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Disponibilité · taux d'erreurs 5xx · latence p95 · consommation énergétique estimée</a:t>
            </a:r>
            <a:endParaRPr lang="en-US" sz="1000" dirty="0"/>
          </a:p>
        </p:txBody>
      </p:sp>
      <p:sp>
        <p:nvSpPr>
          <p:cNvPr id="23" name="Shape 21"/>
          <p:cNvSpPr/>
          <p:nvPr/>
        </p:nvSpPr>
        <p:spPr>
          <a:xfrm>
            <a:off x="548640" y="3703320"/>
            <a:ext cx="11064240" cy="713232"/>
          </a:xfrm>
          <a:prstGeom prst="roundRect">
            <a:avLst>
              <a:gd name="adj" fmla="val 7692"/>
            </a:avLst>
          </a:prstGeom>
          <a:solidFill>
            <a:srgbClr val="0B1729"/>
          </a:solidFill>
          <a:ln/>
        </p:spPr>
        <p:txBody>
          <a:bodyPr/>
          <a:lstStyle/>
          <a:p>
            <a:endParaRPr lang="fr-FR"/>
          </a:p>
        </p:txBody>
      </p:sp>
      <p:sp>
        <p:nvSpPr>
          <p:cNvPr id="24" name="Text 22"/>
          <p:cNvSpPr/>
          <p:nvPr/>
        </p:nvSpPr>
        <p:spPr>
          <a:xfrm>
            <a:off x="548640" y="3703320"/>
            <a:ext cx="1106424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Boucle d'amélioration continue :     MESURER  →  IDENTIFIER  →  PRIORISER  →  IMPLÉMENTER  →  MESURER</a:t>
            </a:r>
            <a:endParaRPr lang="en-US" sz="1400" dirty="0"/>
          </a:p>
        </p:txBody>
      </p:sp>
      <p:sp>
        <p:nvSpPr>
          <p:cNvPr id="25" name="Text 23"/>
          <p:cNvSpPr/>
          <p:nvPr/>
        </p:nvSpPr>
        <p:spPr>
          <a:xfrm>
            <a:off x="548640" y="461772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Gestion des risques : 8 risques cotés, revus périodiquement</a:t>
            </a:r>
            <a:endParaRPr lang="en-US" sz="1400" dirty="0"/>
          </a:p>
        </p:txBody>
      </p:sp>
      <p:sp>
        <p:nvSpPr>
          <p:cNvPr id="26" name="Shape 24"/>
          <p:cNvSpPr/>
          <p:nvPr/>
        </p:nvSpPr>
        <p:spPr>
          <a:xfrm>
            <a:off x="548640" y="4983480"/>
            <a:ext cx="2624328" cy="1143000"/>
          </a:xfrm>
          <a:prstGeom prst="roundRect">
            <a:avLst>
              <a:gd name="adj" fmla="val 4000"/>
            </a:avLst>
          </a:prstGeom>
          <a:solidFill>
            <a:srgbClr val="12263F"/>
          </a:solidFill>
          <a:ln/>
        </p:spPr>
        <p:txBody>
          <a:bodyPr/>
          <a:lstStyle/>
          <a:p>
            <a:endParaRPr lang="fr-FR"/>
          </a:p>
        </p:txBody>
      </p:sp>
      <p:sp>
        <p:nvSpPr>
          <p:cNvPr id="27" name="Text 25"/>
          <p:cNvSpPr/>
          <p:nvPr/>
        </p:nvSpPr>
        <p:spPr>
          <a:xfrm>
            <a:off x="731520" y="5093208"/>
            <a:ext cx="2286000" cy="310896"/>
          </a:xfrm>
          <a:prstGeom prst="rect">
            <a:avLst/>
          </a:prstGeom>
          <a:noFill/>
          <a:ln/>
        </p:spPr>
        <p:txBody>
          <a:bodyPr wrap="square" lIns="0" tIns="0" rIns="0" bIns="0" rtlCol="0" anchor="ctr"/>
          <a:lstStyle/>
          <a:p>
            <a:pPr marL="0" indent="0">
              <a:buNone/>
            </a:pPr>
            <a:r>
              <a:rPr lang="en-US" sz="1050" b="1" dirty="0">
                <a:solidFill>
                  <a:srgbClr val="E08A3C"/>
                </a:solidFill>
                <a:latin typeface="Calibri" pitchFamily="34" charset="0"/>
                <a:ea typeface="Calibri" pitchFamily="34" charset="-122"/>
                <a:cs typeface="Calibri" pitchFamily="34" charset="-120"/>
              </a:rPr>
              <a:t>R1 Perte du nœud proxy</a:t>
            </a:r>
            <a:endParaRPr lang="en-US" sz="1050" dirty="0"/>
          </a:p>
        </p:txBody>
      </p:sp>
      <p:sp>
        <p:nvSpPr>
          <p:cNvPr id="28" name="Text 26"/>
          <p:cNvSpPr/>
          <p:nvPr/>
        </p:nvSpPr>
        <p:spPr>
          <a:xfrm>
            <a:off x="731520" y="5422392"/>
            <a:ext cx="2286000" cy="621792"/>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IaC reproductible + persistance disque ; HA au plan d'amélioration</a:t>
            </a:r>
            <a:endParaRPr lang="en-US" sz="950" dirty="0"/>
          </a:p>
        </p:txBody>
      </p:sp>
      <p:sp>
        <p:nvSpPr>
          <p:cNvPr id="29" name="Shape 27"/>
          <p:cNvSpPr/>
          <p:nvPr/>
        </p:nvSpPr>
        <p:spPr>
          <a:xfrm>
            <a:off x="3374136" y="4983480"/>
            <a:ext cx="2624328" cy="1143000"/>
          </a:xfrm>
          <a:prstGeom prst="roundRect">
            <a:avLst>
              <a:gd name="adj" fmla="val 4000"/>
            </a:avLst>
          </a:prstGeom>
          <a:solidFill>
            <a:srgbClr val="12263F"/>
          </a:solidFill>
          <a:ln/>
        </p:spPr>
        <p:txBody>
          <a:bodyPr/>
          <a:lstStyle/>
          <a:p>
            <a:endParaRPr lang="fr-FR"/>
          </a:p>
        </p:txBody>
      </p:sp>
      <p:sp>
        <p:nvSpPr>
          <p:cNvPr id="30" name="Text 28"/>
          <p:cNvSpPr/>
          <p:nvPr/>
        </p:nvSpPr>
        <p:spPr>
          <a:xfrm>
            <a:off x="3557016" y="5093208"/>
            <a:ext cx="2286000" cy="310896"/>
          </a:xfrm>
          <a:prstGeom prst="rect">
            <a:avLst/>
          </a:prstGeom>
          <a:noFill/>
          <a:ln/>
        </p:spPr>
        <p:txBody>
          <a:bodyPr wrap="square" lIns="0" tIns="0" rIns="0" bIns="0" rtlCol="0" anchor="ctr"/>
          <a:lstStyle/>
          <a:p>
            <a:pPr marL="0" indent="0">
              <a:buNone/>
            </a:pPr>
            <a:r>
              <a:rPr lang="en-US" sz="1050" b="1" dirty="0">
                <a:solidFill>
                  <a:srgbClr val="E08A3C"/>
                </a:solidFill>
                <a:latin typeface="Calibri" pitchFamily="34" charset="0"/>
                <a:ea typeface="Calibri" pitchFamily="34" charset="-122"/>
                <a:cs typeface="Calibri" pitchFamily="34" charset="-120"/>
              </a:rPr>
              <a:t>R3 Vol / rejeu de session</a:t>
            </a:r>
            <a:endParaRPr lang="en-US" sz="1050" dirty="0"/>
          </a:p>
        </p:txBody>
      </p:sp>
      <p:sp>
        <p:nvSpPr>
          <p:cNvPr id="31" name="Text 29"/>
          <p:cNvSpPr/>
          <p:nvPr/>
        </p:nvSpPr>
        <p:spPr>
          <a:xfrm>
            <a:off x="3557016" y="5422392"/>
            <a:ext cx="2286000" cy="621792"/>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Rotation par nonce, détection de rejeu, révocation globale</a:t>
            </a:r>
            <a:endParaRPr lang="en-US" sz="950" dirty="0"/>
          </a:p>
        </p:txBody>
      </p:sp>
      <p:sp>
        <p:nvSpPr>
          <p:cNvPr id="32" name="Shape 30"/>
          <p:cNvSpPr/>
          <p:nvPr/>
        </p:nvSpPr>
        <p:spPr>
          <a:xfrm>
            <a:off x="6199632" y="4983480"/>
            <a:ext cx="2624328" cy="1143000"/>
          </a:xfrm>
          <a:prstGeom prst="roundRect">
            <a:avLst>
              <a:gd name="adj" fmla="val 4000"/>
            </a:avLst>
          </a:prstGeom>
          <a:solidFill>
            <a:srgbClr val="12263F"/>
          </a:solidFill>
          <a:ln/>
        </p:spPr>
        <p:txBody>
          <a:bodyPr/>
          <a:lstStyle/>
          <a:p>
            <a:endParaRPr lang="fr-FR"/>
          </a:p>
        </p:txBody>
      </p:sp>
      <p:sp>
        <p:nvSpPr>
          <p:cNvPr id="33" name="Text 31"/>
          <p:cNvSpPr/>
          <p:nvPr/>
        </p:nvSpPr>
        <p:spPr>
          <a:xfrm>
            <a:off x="6382512" y="5093208"/>
            <a:ext cx="2286000" cy="310896"/>
          </a:xfrm>
          <a:prstGeom prst="rect">
            <a:avLst/>
          </a:prstGeom>
          <a:noFill/>
          <a:ln/>
        </p:spPr>
        <p:txBody>
          <a:bodyPr wrap="square" lIns="0" tIns="0" rIns="0" bIns="0" rtlCol="0" anchor="ctr"/>
          <a:lstStyle/>
          <a:p>
            <a:pPr marL="0" indent="0">
              <a:buNone/>
            </a:pPr>
            <a:r>
              <a:rPr lang="en-US" sz="1050" b="1" dirty="0">
                <a:solidFill>
                  <a:srgbClr val="E08A3C"/>
                </a:solidFill>
                <a:latin typeface="Calibri" pitchFamily="34" charset="0"/>
                <a:ea typeface="Calibri" pitchFamily="34" charset="-122"/>
                <a:cs typeface="Calibri" pitchFamily="34" charset="-120"/>
              </a:rPr>
              <a:t>R7 Régression au déploiement</a:t>
            </a:r>
            <a:endParaRPr lang="en-US" sz="1050" dirty="0"/>
          </a:p>
        </p:txBody>
      </p:sp>
      <p:sp>
        <p:nvSpPr>
          <p:cNvPr id="34" name="Text 32"/>
          <p:cNvSpPr/>
          <p:nvPr/>
        </p:nvSpPr>
        <p:spPr>
          <a:xfrm>
            <a:off x="6382512" y="5422392"/>
            <a:ext cx="2286000" cy="621792"/>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Tests CI, images immuables, rollout progressif + rollback auto</a:t>
            </a:r>
            <a:endParaRPr lang="en-US" sz="950" dirty="0"/>
          </a:p>
        </p:txBody>
      </p:sp>
      <p:sp>
        <p:nvSpPr>
          <p:cNvPr id="35" name="Shape 33"/>
          <p:cNvSpPr/>
          <p:nvPr/>
        </p:nvSpPr>
        <p:spPr>
          <a:xfrm>
            <a:off x="9025128" y="4983480"/>
            <a:ext cx="2624328" cy="1143000"/>
          </a:xfrm>
          <a:prstGeom prst="roundRect">
            <a:avLst>
              <a:gd name="adj" fmla="val 4000"/>
            </a:avLst>
          </a:prstGeom>
          <a:solidFill>
            <a:srgbClr val="12263F"/>
          </a:solidFill>
          <a:ln/>
        </p:spPr>
        <p:txBody>
          <a:bodyPr/>
          <a:lstStyle/>
          <a:p>
            <a:endParaRPr lang="fr-FR"/>
          </a:p>
        </p:txBody>
      </p:sp>
      <p:sp>
        <p:nvSpPr>
          <p:cNvPr id="36" name="Text 34"/>
          <p:cNvSpPr/>
          <p:nvPr/>
        </p:nvSpPr>
        <p:spPr>
          <a:xfrm>
            <a:off x="9208008" y="5093208"/>
            <a:ext cx="2286000" cy="310896"/>
          </a:xfrm>
          <a:prstGeom prst="rect">
            <a:avLst/>
          </a:prstGeom>
          <a:noFill/>
          <a:ln/>
        </p:spPr>
        <p:txBody>
          <a:bodyPr wrap="square" lIns="0" tIns="0" rIns="0" bIns="0" rtlCol="0" anchor="ctr"/>
          <a:lstStyle/>
          <a:p>
            <a:pPr marL="0" indent="0">
              <a:buNone/>
            </a:pPr>
            <a:r>
              <a:rPr lang="en-US" sz="1050" b="1" dirty="0">
                <a:solidFill>
                  <a:srgbClr val="E08A3C"/>
                </a:solidFill>
                <a:latin typeface="Calibri" pitchFamily="34" charset="0"/>
                <a:ea typeface="Calibri" pitchFamily="34" charset="-122"/>
                <a:cs typeface="Calibri" pitchFamily="34" charset="-120"/>
              </a:rPr>
              <a:t>R4 Dépassement de coûts</a:t>
            </a:r>
            <a:endParaRPr lang="en-US" sz="1050" dirty="0"/>
          </a:p>
        </p:txBody>
      </p:sp>
      <p:sp>
        <p:nvSpPr>
          <p:cNvPr id="37" name="Text 35"/>
          <p:cNvSpPr/>
          <p:nvPr/>
        </p:nvSpPr>
        <p:spPr>
          <a:xfrm>
            <a:off x="9208008" y="5422392"/>
            <a:ext cx="2286000" cy="621792"/>
          </a:xfrm>
          <a:prstGeom prst="rect">
            <a:avLst/>
          </a:prstGeom>
          <a:noFill/>
          <a:ln/>
        </p:spPr>
        <p:txBody>
          <a:bodyPr wrap="square" lIns="0" tIns="0" rIns="0" bIns="0" rtlCol="0" anchor="ctr"/>
          <a:lstStyle/>
          <a:p>
            <a:pPr marL="0" indent="0">
              <a:lnSpc>
                <a:spcPts val="1200"/>
              </a:lnSpc>
              <a:buNone/>
            </a:pPr>
            <a:r>
              <a:rPr lang="en-US" sz="950" dirty="0">
                <a:solidFill>
                  <a:srgbClr val="C4D3E0"/>
                </a:solidFill>
                <a:latin typeface="Calibri" pitchFamily="34" charset="0"/>
                <a:ea typeface="Calibri" pitchFamily="34" charset="-122"/>
                <a:cs typeface="Calibri" pitchFamily="34" charset="-120"/>
              </a:rPr>
              <a:t>AWS Budgets, right-sizing, cycle de vie S3</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6.3 COMMUNICATION ET COORDINATION</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Plan de communication, matrice RACI et engagement des parties prenantes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49</a:t>
            </a:r>
            <a:endParaRPr lang="en-US" sz="900" dirty="0"/>
          </a:p>
        </p:txBody>
      </p:sp>
      <p:sp>
        <p:nvSpPr>
          <p:cNvPr id="6" name="Text 4"/>
          <p:cNvSpPr/>
          <p:nvPr/>
        </p:nvSpPr>
        <p:spPr>
          <a:xfrm>
            <a:off x="548640" y="1417320"/>
            <a:ext cx="5449824"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Plan de communication</a:t>
            </a:r>
            <a:endParaRPr lang="en-US" sz="1400" dirty="0"/>
          </a:p>
        </p:txBody>
      </p:sp>
      <p:sp>
        <p:nvSpPr>
          <p:cNvPr id="7" name="Shape 5"/>
          <p:cNvSpPr/>
          <p:nvPr/>
        </p:nvSpPr>
        <p:spPr>
          <a:xfrm>
            <a:off x="548640" y="1810512"/>
            <a:ext cx="5449824" cy="1188720"/>
          </a:xfrm>
          <a:prstGeom prst="roundRect">
            <a:avLst>
              <a:gd name="adj" fmla="val 3846"/>
            </a:avLst>
          </a:prstGeom>
          <a:solidFill>
            <a:srgbClr val="EEF3F7"/>
          </a:solidFill>
          <a:ln/>
        </p:spPr>
        <p:txBody>
          <a:bodyPr/>
          <a:lstStyle/>
          <a:p>
            <a:endParaRPr lang="fr-FR"/>
          </a:p>
        </p:txBody>
      </p:sp>
      <p:sp>
        <p:nvSpPr>
          <p:cNvPr id="8" name="Text 6"/>
          <p:cNvSpPr/>
          <p:nvPr/>
        </p:nvSpPr>
        <p:spPr>
          <a:xfrm>
            <a:off x="804672" y="1938528"/>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Cadence</a:t>
            </a:r>
            <a:endParaRPr lang="en-US" sz="1200" dirty="0"/>
          </a:p>
        </p:txBody>
      </p:sp>
      <p:sp>
        <p:nvSpPr>
          <p:cNvPr id="9" name="Text 7"/>
          <p:cNvSpPr/>
          <p:nvPr/>
        </p:nvSpPr>
        <p:spPr>
          <a:xfrm>
            <a:off x="804672" y="2212848"/>
            <a:ext cx="4937760" cy="69494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Points d'avancement réguliers, revues à l'issue de chaque itération, reporting synthétique au franchissement des jalons.</a:t>
            </a:r>
            <a:endParaRPr lang="en-US" sz="1030" dirty="0"/>
          </a:p>
        </p:txBody>
      </p:sp>
      <p:sp>
        <p:nvSpPr>
          <p:cNvPr id="10" name="Shape 8"/>
          <p:cNvSpPr/>
          <p:nvPr/>
        </p:nvSpPr>
        <p:spPr>
          <a:xfrm>
            <a:off x="548640" y="3108960"/>
            <a:ext cx="5449824" cy="1188720"/>
          </a:xfrm>
          <a:prstGeom prst="roundRect">
            <a:avLst>
              <a:gd name="adj" fmla="val 3846"/>
            </a:avLst>
          </a:prstGeom>
          <a:solidFill>
            <a:srgbClr val="EEF3F7"/>
          </a:solidFill>
          <a:ln/>
        </p:spPr>
        <p:txBody>
          <a:bodyPr/>
          <a:lstStyle/>
          <a:p>
            <a:endParaRPr lang="fr-FR"/>
          </a:p>
        </p:txBody>
      </p:sp>
      <p:sp>
        <p:nvSpPr>
          <p:cNvPr id="11" name="Text 9"/>
          <p:cNvSpPr/>
          <p:nvPr/>
        </p:nvSpPr>
        <p:spPr>
          <a:xfrm>
            <a:off x="804672" y="3236976"/>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Canaux</a:t>
            </a:r>
            <a:endParaRPr lang="en-US" sz="1200" dirty="0"/>
          </a:p>
        </p:txBody>
      </p:sp>
      <p:sp>
        <p:nvSpPr>
          <p:cNvPr id="12" name="Text 10"/>
          <p:cNvSpPr/>
          <p:nvPr/>
        </p:nvSpPr>
        <p:spPr>
          <a:xfrm>
            <a:off x="804672" y="3511296"/>
            <a:ext cx="4937760" cy="69494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Dépôt Git et sa forge (suivi de tâches, revues de code, tableaux de bord) comme source de vérité ; spécification OpenAPI/Swagger comme référence partagée ; dashboards Grafana rendant l'exploitation visible de tous.</a:t>
            </a:r>
            <a:endParaRPr lang="en-US" sz="1030" dirty="0"/>
          </a:p>
        </p:txBody>
      </p:sp>
      <p:sp>
        <p:nvSpPr>
          <p:cNvPr id="13" name="Shape 11"/>
          <p:cNvSpPr/>
          <p:nvPr/>
        </p:nvSpPr>
        <p:spPr>
          <a:xfrm>
            <a:off x="548640" y="4407408"/>
            <a:ext cx="5449824" cy="1188720"/>
          </a:xfrm>
          <a:prstGeom prst="roundRect">
            <a:avLst>
              <a:gd name="adj" fmla="val 3846"/>
            </a:avLst>
          </a:prstGeom>
          <a:solidFill>
            <a:srgbClr val="EEF3F7"/>
          </a:solidFill>
          <a:ln/>
        </p:spPr>
        <p:txBody>
          <a:bodyPr/>
          <a:lstStyle/>
          <a:p>
            <a:endParaRPr lang="fr-FR"/>
          </a:p>
        </p:txBody>
      </p:sp>
      <p:sp>
        <p:nvSpPr>
          <p:cNvPr id="14" name="Text 12"/>
          <p:cNvSpPr/>
          <p:nvPr/>
        </p:nvSpPr>
        <p:spPr>
          <a:xfrm>
            <a:off x="804672" y="4535424"/>
            <a:ext cx="4937760" cy="256032"/>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Note de cadrage</a:t>
            </a:r>
            <a:endParaRPr lang="en-US" sz="1200" dirty="0"/>
          </a:p>
        </p:txBody>
      </p:sp>
      <p:sp>
        <p:nvSpPr>
          <p:cNvPr id="15" name="Text 13"/>
          <p:cNvSpPr/>
          <p:nvPr/>
        </p:nvSpPr>
        <p:spPr>
          <a:xfrm>
            <a:off x="804672" y="4809744"/>
            <a:ext cx="4937760" cy="694944"/>
          </a:xfrm>
          <a:prstGeom prst="rect">
            <a:avLst/>
          </a:prstGeom>
          <a:noFill/>
          <a:ln/>
        </p:spPr>
        <p:txBody>
          <a:bodyPr wrap="square" lIns="0" tIns="0" rIns="0" bIns="0" rtlCol="0" anchor="ctr"/>
          <a:lstStyle/>
          <a:p>
            <a:pPr marL="0" indent="0">
              <a:lnSpc>
                <a:spcPts val="1300"/>
              </a:lnSpc>
              <a:buNone/>
            </a:pPr>
            <a:r>
              <a:rPr lang="en-US" sz="1030" dirty="0">
                <a:solidFill>
                  <a:srgbClr val="4A5769"/>
                </a:solidFill>
                <a:latin typeface="Calibri" pitchFamily="34" charset="0"/>
                <a:ea typeface="Calibri" pitchFamily="34" charset="-122"/>
                <a:cs typeface="Calibri" pitchFamily="34" charset="-120"/>
              </a:rPr>
              <a:t>Contexte, objectifs, méthode de conduite, budget, ressources internes et externes, contraintes, risques et contournements, délais, exigences qualité.</a:t>
            </a:r>
            <a:endParaRPr lang="en-US" sz="1030" dirty="0"/>
          </a:p>
        </p:txBody>
      </p:sp>
      <p:sp>
        <p:nvSpPr>
          <p:cNvPr id="16" name="Text 14"/>
          <p:cNvSpPr/>
          <p:nvPr/>
        </p:nvSpPr>
        <p:spPr>
          <a:xfrm>
            <a:off x="6190488" y="1417320"/>
            <a:ext cx="5449824"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Matrice RACI — exemple du lot infrastructure</a:t>
            </a:r>
            <a:endParaRPr lang="en-US" sz="1400" dirty="0"/>
          </a:p>
        </p:txBody>
      </p:sp>
      <p:sp>
        <p:nvSpPr>
          <p:cNvPr id="17" name="Shape 15"/>
          <p:cNvSpPr/>
          <p:nvPr/>
        </p:nvSpPr>
        <p:spPr>
          <a:xfrm>
            <a:off x="6190488" y="1810512"/>
            <a:ext cx="5449824" cy="585216"/>
          </a:xfrm>
          <a:prstGeom prst="rect">
            <a:avLst/>
          </a:prstGeom>
          <a:solidFill>
            <a:srgbClr val="EEF3F7"/>
          </a:solidFill>
          <a:ln/>
        </p:spPr>
        <p:txBody>
          <a:bodyPr/>
          <a:lstStyle/>
          <a:p>
            <a:endParaRPr lang="fr-FR"/>
          </a:p>
        </p:txBody>
      </p:sp>
      <p:sp>
        <p:nvSpPr>
          <p:cNvPr id="18" name="Shape 16"/>
          <p:cNvSpPr/>
          <p:nvPr/>
        </p:nvSpPr>
        <p:spPr>
          <a:xfrm>
            <a:off x="6355080" y="1929384"/>
            <a:ext cx="347472" cy="347472"/>
          </a:xfrm>
          <a:prstGeom prst="ellipse">
            <a:avLst/>
          </a:prstGeom>
          <a:solidFill>
            <a:srgbClr val="00A896"/>
          </a:solidFill>
          <a:ln/>
        </p:spPr>
        <p:txBody>
          <a:bodyPr/>
          <a:lstStyle/>
          <a:p>
            <a:endParaRPr lang="fr-FR"/>
          </a:p>
        </p:txBody>
      </p:sp>
      <p:sp>
        <p:nvSpPr>
          <p:cNvPr id="19" name="Text 17"/>
          <p:cNvSpPr/>
          <p:nvPr/>
        </p:nvSpPr>
        <p:spPr>
          <a:xfrm>
            <a:off x="6355080" y="192938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t>
            </a:r>
            <a:endParaRPr lang="en-US" sz="1100" dirty="0"/>
          </a:p>
        </p:txBody>
      </p:sp>
      <p:sp>
        <p:nvSpPr>
          <p:cNvPr id="20" name="Text 18"/>
          <p:cNvSpPr/>
          <p:nvPr/>
        </p:nvSpPr>
        <p:spPr>
          <a:xfrm>
            <a:off x="6839712" y="1810512"/>
            <a:ext cx="1371600" cy="585216"/>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Responsible</a:t>
            </a:r>
            <a:endParaRPr lang="en-US" sz="1100" dirty="0"/>
          </a:p>
        </p:txBody>
      </p:sp>
      <p:sp>
        <p:nvSpPr>
          <p:cNvPr id="21" name="Text 19"/>
          <p:cNvSpPr/>
          <p:nvPr/>
        </p:nvSpPr>
        <p:spPr>
          <a:xfrm>
            <a:off x="8229600" y="1810512"/>
            <a:ext cx="3291840" cy="585216"/>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Ingénieur DevOps — réalise le lot</a:t>
            </a:r>
            <a:endParaRPr lang="en-US" sz="1000" dirty="0"/>
          </a:p>
        </p:txBody>
      </p:sp>
      <p:sp>
        <p:nvSpPr>
          <p:cNvPr id="22" name="Shape 20"/>
          <p:cNvSpPr/>
          <p:nvPr/>
        </p:nvSpPr>
        <p:spPr>
          <a:xfrm>
            <a:off x="6190488" y="2468880"/>
            <a:ext cx="5449824" cy="585216"/>
          </a:xfrm>
          <a:prstGeom prst="rect">
            <a:avLst/>
          </a:prstGeom>
          <a:solidFill>
            <a:srgbClr val="FFFFFF"/>
          </a:solidFill>
          <a:ln/>
        </p:spPr>
        <p:txBody>
          <a:bodyPr/>
          <a:lstStyle/>
          <a:p>
            <a:endParaRPr lang="fr-FR"/>
          </a:p>
        </p:txBody>
      </p:sp>
      <p:sp>
        <p:nvSpPr>
          <p:cNvPr id="23" name="Shape 21"/>
          <p:cNvSpPr/>
          <p:nvPr/>
        </p:nvSpPr>
        <p:spPr>
          <a:xfrm>
            <a:off x="6355080" y="2587752"/>
            <a:ext cx="347472" cy="347472"/>
          </a:xfrm>
          <a:prstGeom prst="ellipse">
            <a:avLst/>
          </a:prstGeom>
          <a:solidFill>
            <a:srgbClr val="E08A3C"/>
          </a:solidFill>
          <a:ln/>
        </p:spPr>
        <p:txBody>
          <a:bodyPr/>
          <a:lstStyle/>
          <a:p>
            <a:endParaRPr lang="fr-FR"/>
          </a:p>
        </p:txBody>
      </p:sp>
      <p:sp>
        <p:nvSpPr>
          <p:cNvPr id="24" name="Text 22"/>
          <p:cNvSpPr/>
          <p:nvPr/>
        </p:nvSpPr>
        <p:spPr>
          <a:xfrm>
            <a:off x="6355080" y="258775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5" name="Text 23"/>
          <p:cNvSpPr/>
          <p:nvPr/>
        </p:nvSpPr>
        <p:spPr>
          <a:xfrm>
            <a:off x="6839712" y="2468880"/>
            <a:ext cx="1371600" cy="585216"/>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Accountable</a:t>
            </a:r>
            <a:endParaRPr lang="en-US" sz="1100" dirty="0"/>
          </a:p>
        </p:txBody>
      </p:sp>
      <p:sp>
        <p:nvSpPr>
          <p:cNvPr id="26" name="Text 24"/>
          <p:cNvSpPr/>
          <p:nvPr/>
        </p:nvSpPr>
        <p:spPr>
          <a:xfrm>
            <a:off x="8229600" y="2468880"/>
            <a:ext cx="3291840" cy="585216"/>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Sponsor — valide et rend compte</a:t>
            </a:r>
            <a:endParaRPr lang="en-US" sz="1000" dirty="0"/>
          </a:p>
        </p:txBody>
      </p:sp>
      <p:sp>
        <p:nvSpPr>
          <p:cNvPr id="27" name="Shape 25"/>
          <p:cNvSpPr/>
          <p:nvPr/>
        </p:nvSpPr>
        <p:spPr>
          <a:xfrm>
            <a:off x="6190488" y="3127248"/>
            <a:ext cx="5449824" cy="585216"/>
          </a:xfrm>
          <a:prstGeom prst="rect">
            <a:avLst/>
          </a:prstGeom>
          <a:solidFill>
            <a:srgbClr val="EEF3F7"/>
          </a:solidFill>
          <a:ln/>
        </p:spPr>
        <p:txBody>
          <a:bodyPr/>
          <a:lstStyle/>
          <a:p>
            <a:endParaRPr lang="fr-FR"/>
          </a:p>
        </p:txBody>
      </p:sp>
      <p:sp>
        <p:nvSpPr>
          <p:cNvPr id="28" name="Shape 26"/>
          <p:cNvSpPr/>
          <p:nvPr/>
        </p:nvSpPr>
        <p:spPr>
          <a:xfrm>
            <a:off x="6355080" y="3246120"/>
            <a:ext cx="347472" cy="347472"/>
          </a:xfrm>
          <a:prstGeom prst="ellipse">
            <a:avLst/>
          </a:prstGeom>
          <a:solidFill>
            <a:srgbClr val="3D7CA8"/>
          </a:solidFill>
          <a:ln/>
        </p:spPr>
        <p:txBody>
          <a:bodyPr/>
          <a:lstStyle/>
          <a:p>
            <a:endParaRPr lang="fr-FR"/>
          </a:p>
        </p:txBody>
      </p:sp>
      <p:sp>
        <p:nvSpPr>
          <p:cNvPr id="29" name="Text 27"/>
          <p:cNvSpPr/>
          <p:nvPr/>
        </p:nvSpPr>
        <p:spPr>
          <a:xfrm>
            <a:off x="6355080" y="324612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0" name="Text 28"/>
          <p:cNvSpPr/>
          <p:nvPr/>
        </p:nvSpPr>
        <p:spPr>
          <a:xfrm>
            <a:off x="6839712" y="3127248"/>
            <a:ext cx="1371600" cy="585216"/>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Consulted</a:t>
            </a:r>
            <a:endParaRPr lang="en-US" sz="1100" dirty="0"/>
          </a:p>
        </p:txBody>
      </p:sp>
      <p:sp>
        <p:nvSpPr>
          <p:cNvPr id="31" name="Text 29"/>
          <p:cNvSpPr/>
          <p:nvPr/>
        </p:nvSpPr>
        <p:spPr>
          <a:xfrm>
            <a:off x="8229600" y="3127248"/>
            <a:ext cx="3291840" cy="585216"/>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Référent sécurité — consulté sur le durcissement</a:t>
            </a:r>
            <a:endParaRPr lang="en-US" sz="1000" dirty="0"/>
          </a:p>
        </p:txBody>
      </p:sp>
      <p:sp>
        <p:nvSpPr>
          <p:cNvPr id="32" name="Shape 30"/>
          <p:cNvSpPr/>
          <p:nvPr/>
        </p:nvSpPr>
        <p:spPr>
          <a:xfrm>
            <a:off x="6190488" y="3785616"/>
            <a:ext cx="5449824" cy="585216"/>
          </a:xfrm>
          <a:prstGeom prst="rect">
            <a:avLst/>
          </a:prstGeom>
          <a:solidFill>
            <a:srgbClr val="FFFFFF"/>
          </a:solidFill>
          <a:ln/>
        </p:spPr>
        <p:txBody>
          <a:bodyPr/>
          <a:lstStyle/>
          <a:p>
            <a:endParaRPr lang="fr-FR"/>
          </a:p>
        </p:txBody>
      </p:sp>
      <p:sp>
        <p:nvSpPr>
          <p:cNvPr id="33" name="Shape 31"/>
          <p:cNvSpPr/>
          <p:nvPr/>
        </p:nvSpPr>
        <p:spPr>
          <a:xfrm>
            <a:off x="6355080" y="3904488"/>
            <a:ext cx="347472" cy="347472"/>
          </a:xfrm>
          <a:prstGeom prst="ellipse">
            <a:avLst/>
          </a:prstGeom>
          <a:solidFill>
            <a:srgbClr val="8797AB"/>
          </a:solidFill>
          <a:ln/>
        </p:spPr>
        <p:txBody>
          <a:bodyPr/>
          <a:lstStyle/>
          <a:p>
            <a:endParaRPr lang="fr-FR"/>
          </a:p>
        </p:txBody>
      </p:sp>
      <p:sp>
        <p:nvSpPr>
          <p:cNvPr id="34" name="Text 32"/>
          <p:cNvSpPr/>
          <p:nvPr/>
        </p:nvSpPr>
        <p:spPr>
          <a:xfrm>
            <a:off x="6355080" y="39044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35" name="Text 33"/>
          <p:cNvSpPr/>
          <p:nvPr/>
        </p:nvSpPr>
        <p:spPr>
          <a:xfrm>
            <a:off x="6839712" y="3785616"/>
            <a:ext cx="1371600" cy="585216"/>
          </a:xfrm>
          <a:prstGeom prst="rect">
            <a:avLst/>
          </a:prstGeom>
          <a:noFill/>
          <a:ln/>
        </p:spPr>
        <p:txBody>
          <a:bodyPr wrap="square" lIns="0" tIns="0" rIns="0" bIns="0" rtlCol="0" anchor="ctr"/>
          <a:lstStyle/>
          <a:p>
            <a:pPr marL="0" indent="0">
              <a:buNone/>
            </a:pPr>
            <a:r>
              <a:rPr lang="en-US" sz="1100" b="1" dirty="0">
                <a:solidFill>
                  <a:srgbClr val="12263F"/>
                </a:solidFill>
                <a:latin typeface="Calibri" pitchFamily="34" charset="0"/>
                <a:ea typeface="Calibri" pitchFamily="34" charset="-122"/>
                <a:cs typeface="Calibri" pitchFamily="34" charset="-120"/>
              </a:rPr>
              <a:t>Informed</a:t>
            </a:r>
            <a:endParaRPr lang="en-US" sz="1100" dirty="0"/>
          </a:p>
        </p:txBody>
      </p:sp>
      <p:sp>
        <p:nvSpPr>
          <p:cNvPr id="36" name="Text 34"/>
          <p:cNvSpPr/>
          <p:nvPr/>
        </p:nvSpPr>
        <p:spPr>
          <a:xfrm>
            <a:off x="8229600" y="3785616"/>
            <a:ext cx="3291840" cy="585216"/>
          </a:xfrm>
          <a:prstGeom prst="rect">
            <a:avLst/>
          </a:prstGeom>
          <a:noFill/>
          <a:ln/>
        </p:spPr>
        <p:txBody>
          <a:bodyPr wrap="square" lIns="0" tIns="0" rIns="0" bIns="0" rtlCol="0" anchor="ctr"/>
          <a:lstStyle/>
          <a:p>
            <a:pPr marL="0" indent="0">
              <a:buNone/>
            </a:pPr>
            <a:r>
              <a:rPr lang="en-US" sz="1000" dirty="0">
                <a:solidFill>
                  <a:srgbClr val="4A5769"/>
                </a:solidFill>
                <a:latin typeface="Calibri" pitchFamily="34" charset="0"/>
                <a:ea typeface="Calibri" pitchFamily="34" charset="-122"/>
                <a:cs typeface="Calibri" pitchFamily="34" charset="-120"/>
              </a:rPr>
              <a:t>Équipe applicative — tenue informée</a:t>
            </a:r>
            <a:endParaRPr lang="en-US" sz="1000" dirty="0"/>
          </a:p>
        </p:txBody>
      </p:sp>
      <p:sp>
        <p:nvSpPr>
          <p:cNvPr id="37" name="Shape 35"/>
          <p:cNvSpPr/>
          <p:nvPr/>
        </p:nvSpPr>
        <p:spPr>
          <a:xfrm>
            <a:off x="6190488" y="4590288"/>
            <a:ext cx="5449824" cy="1536192"/>
          </a:xfrm>
          <a:prstGeom prst="roundRect">
            <a:avLst>
              <a:gd name="adj" fmla="val 3571"/>
            </a:avLst>
          </a:prstGeom>
          <a:solidFill>
            <a:srgbClr val="12263F"/>
          </a:solidFill>
          <a:ln/>
        </p:spPr>
        <p:txBody>
          <a:bodyPr/>
          <a:lstStyle/>
          <a:p>
            <a:endParaRPr lang="fr-FR"/>
          </a:p>
        </p:txBody>
      </p:sp>
      <p:sp>
        <p:nvSpPr>
          <p:cNvPr id="38" name="Text 36"/>
          <p:cNvSpPr/>
          <p:nvPr/>
        </p:nvSpPr>
        <p:spPr>
          <a:xfrm>
            <a:off x="6446520" y="4718304"/>
            <a:ext cx="4937760" cy="274320"/>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Engagement des parties prenantes</a:t>
            </a:r>
            <a:endParaRPr lang="en-US" sz="1250" dirty="0"/>
          </a:p>
        </p:txBody>
      </p:sp>
      <p:sp>
        <p:nvSpPr>
          <p:cNvPr id="39" name="Text 37"/>
          <p:cNvSpPr/>
          <p:nvPr/>
        </p:nvSpPr>
        <p:spPr>
          <a:xfrm>
            <a:off x="6446520" y="5029200"/>
            <a:ext cx="4937760" cy="1005840"/>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Sponsor (atteinte des objectifs), référents pédagogique et entreprise (conformité au référentiel), utilisateurs bêta (usage réel), fournisseurs cloud (disponibilité).</a:t>
            </a:r>
            <a:endParaRPr lang="en-US" sz="1000" dirty="0"/>
          </a:p>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Alignement par objectivation : les demandes de changement sont tracées et arbitrées à l'aune de leur impact sur le chemin critique et sur les coûts.</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6.4 MANAGEMENT DE L'ÉQUIPE PROJET</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Encadrement, motivation et montée en compétences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50</a:t>
            </a:r>
            <a:endParaRPr lang="en-US" sz="900" dirty="0"/>
          </a:p>
        </p:txBody>
      </p:sp>
      <p:sp>
        <p:nvSpPr>
          <p:cNvPr id="6" name="Shape 4"/>
          <p:cNvSpPr/>
          <p:nvPr/>
        </p:nvSpPr>
        <p:spPr>
          <a:xfrm>
            <a:off x="548640" y="1444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7" name="Shape 5"/>
          <p:cNvSpPr/>
          <p:nvPr/>
        </p:nvSpPr>
        <p:spPr>
          <a:xfrm>
            <a:off x="786384" y="1664208"/>
            <a:ext cx="384048" cy="384048"/>
          </a:xfrm>
          <a:prstGeom prst="ellipse">
            <a:avLst/>
          </a:prstGeom>
          <a:solidFill>
            <a:srgbClr val="00A896"/>
          </a:solidFill>
          <a:ln/>
        </p:spPr>
        <p:txBody>
          <a:bodyPr/>
          <a:lstStyle/>
          <a:p>
            <a:endParaRPr lang="fr-FR"/>
          </a:p>
        </p:txBody>
      </p:sp>
      <p:sp>
        <p:nvSpPr>
          <p:cNvPr id="8" name="Text 6"/>
          <p:cNvSpPr/>
          <p:nvPr/>
        </p:nvSpPr>
        <p:spPr>
          <a:xfrm>
            <a:off x="786384"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1627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Management par objectifs</a:t>
            </a:r>
            <a:endParaRPr lang="en-US" sz="1250" dirty="0"/>
          </a:p>
        </p:txBody>
      </p:sp>
      <p:sp>
        <p:nvSpPr>
          <p:cNvPr id="10" name="Text 8"/>
          <p:cNvSpPr/>
          <p:nvPr/>
        </p:nvSpPr>
        <p:spPr>
          <a:xfrm>
            <a:off x="804672" y="2157984"/>
            <a:ext cx="3008376" cy="123444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Itérations courtes ouvrant sur des engagements clairs, closes par une revue de livrables et une rétrospective. Large autonomie d'exécution.</a:t>
            </a:r>
            <a:endParaRPr lang="en-US" sz="980" dirty="0"/>
          </a:p>
        </p:txBody>
      </p:sp>
      <p:sp>
        <p:nvSpPr>
          <p:cNvPr id="11" name="Shape 9"/>
          <p:cNvSpPr/>
          <p:nvPr/>
        </p:nvSpPr>
        <p:spPr>
          <a:xfrm>
            <a:off x="4334256" y="1444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12" name="Shape 10"/>
          <p:cNvSpPr/>
          <p:nvPr/>
        </p:nvSpPr>
        <p:spPr>
          <a:xfrm>
            <a:off x="4572000" y="1664208"/>
            <a:ext cx="384048" cy="384048"/>
          </a:xfrm>
          <a:prstGeom prst="ellipse">
            <a:avLst/>
          </a:prstGeom>
          <a:solidFill>
            <a:srgbClr val="00A896"/>
          </a:solidFill>
          <a:ln/>
        </p:spPr>
        <p:txBody>
          <a:bodyPr/>
          <a:lstStyle/>
          <a:p>
            <a:endParaRPr lang="fr-FR"/>
          </a:p>
        </p:txBody>
      </p:sp>
      <p:sp>
        <p:nvSpPr>
          <p:cNvPr id="13" name="Text 11"/>
          <p:cNvSpPr/>
          <p:nvPr/>
        </p:nvSpPr>
        <p:spPr>
          <a:xfrm>
            <a:off x="4572000"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84064" y="1627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Droit à l'erreur encadré</a:t>
            </a:r>
            <a:endParaRPr lang="en-US" sz="1250" dirty="0"/>
          </a:p>
        </p:txBody>
      </p:sp>
      <p:sp>
        <p:nvSpPr>
          <p:cNvPr id="15" name="Text 13"/>
          <p:cNvSpPr/>
          <p:nvPr/>
        </p:nvSpPr>
        <p:spPr>
          <a:xfrm>
            <a:off x="4590288" y="2157984"/>
            <a:ext cx="3008376" cy="123444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Les filets de sécurité techniques (tests automatisés, rollback automatique) dédramatisent la prise d'initiative et favorisent la responsabilisation.</a:t>
            </a:r>
            <a:endParaRPr lang="en-US" sz="980" dirty="0"/>
          </a:p>
        </p:txBody>
      </p:sp>
      <p:sp>
        <p:nvSpPr>
          <p:cNvPr id="16" name="Shape 14"/>
          <p:cNvSpPr/>
          <p:nvPr/>
        </p:nvSpPr>
        <p:spPr>
          <a:xfrm>
            <a:off x="8119872" y="1444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17" name="Shape 15"/>
          <p:cNvSpPr/>
          <p:nvPr/>
        </p:nvSpPr>
        <p:spPr>
          <a:xfrm>
            <a:off x="8357616" y="1664208"/>
            <a:ext cx="384048" cy="384048"/>
          </a:xfrm>
          <a:prstGeom prst="ellipse">
            <a:avLst/>
          </a:prstGeom>
          <a:solidFill>
            <a:srgbClr val="00A896"/>
          </a:solidFill>
          <a:ln/>
        </p:spPr>
        <p:txBody>
          <a:bodyPr/>
          <a:lstStyle/>
          <a:p>
            <a:endParaRPr lang="fr-FR"/>
          </a:p>
        </p:txBody>
      </p:sp>
      <p:sp>
        <p:nvSpPr>
          <p:cNvPr id="18" name="Text 16"/>
          <p:cNvSpPr/>
          <p:nvPr/>
        </p:nvSpPr>
        <p:spPr>
          <a:xfrm>
            <a:off x="8357616" y="1664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69680" y="1627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Motivation</a:t>
            </a:r>
            <a:endParaRPr lang="en-US" sz="1250" dirty="0"/>
          </a:p>
        </p:txBody>
      </p:sp>
      <p:sp>
        <p:nvSpPr>
          <p:cNvPr id="20" name="Text 18"/>
          <p:cNvSpPr/>
          <p:nvPr/>
        </p:nvSpPr>
        <p:spPr>
          <a:xfrm>
            <a:off x="8375904" y="2157984"/>
            <a:ext cx="3008376" cy="123444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Sens donné au travail (plateforme réellement déployée), célébration des jalons, feedback régulier dans les deux sens, transparence des indicateurs.</a:t>
            </a:r>
            <a:endParaRPr lang="en-US" sz="980" dirty="0"/>
          </a:p>
        </p:txBody>
      </p:sp>
      <p:sp>
        <p:nvSpPr>
          <p:cNvPr id="21" name="Shape 19"/>
          <p:cNvSpPr/>
          <p:nvPr/>
        </p:nvSpPr>
        <p:spPr>
          <a:xfrm>
            <a:off x="548640" y="3730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22" name="Shape 20"/>
          <p:cNvSpPr/>
          <p:nvPr/>
        </p:nvSpPr>
        <p:spPr>
          <a:xfrm>
            <a:off x="786384" y="3950208"/>
            <a:ext cx="384048" cy="384048"/>
          </a:xfrm>
          <a:prstGeom prst="ellipse">
            <a:avLst/>
          </a:prstGeom>
          <a:solidFill>
            <a:srgbClr val="E08A3C"/>
          </a:solidFill>
          <a:ln/>
        </p:spPr>
        <p:txBody>
          <a:bodyPr/>
          <a:lstStyle/>
          <a:p>
            <a:endParaRPr lang="fr-FR"/>
          </a:p>
        </p:txBody>
      </p:sp>
      <p:sp>
        <p:nvSpPr>
          <p:cNvPr id="23" name="Text 21"/>
          <p:cNvSpPr/>
          <p:nvPr/>
        </p:nvSpPr>
        <p:spPr>
          <a:xfrm>
            <a:off x="786384"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298448" y="3913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Capitalisation des compétences</a:t>
            </a:r>
            <a:endParaRPr lang="en-US" sz="1250" dirty="0"/>
          </a:p>
        </p:txBody>
      </p:sp>
      <p:sp>
        <p:nvSpPr>
          <p:cNvPr id="25" name="Text 23"/>
          <p:cNvSpPr/>
          <p:nvPr/>
        </p:nvSpPr>
        <p:spPr>
          <a:xfrm>
            <a:off x="804672" y="4443984"/>
            <a:ext cx="3008376" cy="123444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Revue de code systématique, binôme ponctuel, décisions d'architecture documentées (ADR) : les savoir-faire ne se concentrent pas sur une personne.</a:t>
            </a:r>
            <a:endParaRPr lang="en-US" sz="980" dirty="0"/>
          </a:p>
        </p:txBody>
      </p:sp>
      <p:sp>
        <p:nvSpPr>
          <p:cNvPr id="26" name="Shape 24"/>
          <p:cNvSpPr/>
          <p:nvPr/>
        </p:nvSpPr>
        <p:spPr>
          <a:xfrm>
            <a:off x="4334256" y="3730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27" name="Shape 25"/>
          <p:cNvSpPr/>
          <p:nvPr/>
        </p:nvSpPr>
        <p:spPr>
          <a:xfrm>
            <a:off x="4572000" y="3950208"/>
            <a:ext cx="384048" cy="384048"/>
          </a:xfrm>
          <a:prstGeom prst="ellipse">
            <a:avLst/>
          </a:prstGeom>
          <a:solidFill>
            <a:srgbClr val="E08A3C"/>
          </a:solidFill>
          <a:ln/>
        </p:spPr>
        <p:txBody>
          <a:bodyPr/>
          <a:lstStyle/>
          <a:p>
            <a:endParaRPr lang="fr-FR"/>
          </a:p>
        </p:txBody>
      </p:sp>
      <p:sp>
        <p:nvSpPr>
          <p:cNvPr id="28" name="Text 26"/>
          <p:cNvSpPr/>
          <p:nvPr/>
        </p:nvSpPr>
        <p:spPr>
          <a:xfrm>
            <a:off x="4572000"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5084064" y="3913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Passation</a:t>
            </a:r>
            <a:endParaRPr lang="en-US" sz="1250" dirty="0"/>
          </a:p>
        </p:txBody>
      </p:sp>
      <p:sp>
        <p:nvSpPr>
          <p:cNvPr id="30" name="Text 28"/>
          <p:cNvSpPr/>
          <p:nvPr/>
        </p:nvSpPr>
        <p:spPr>
          <a:xfrm>
            <a:off x="4590288" y="4443984"/>
            <a:ext cx="3008376" cy="123444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Documentation versionnée avec le code, runbooks d'exploitation, REX consigné : une mémoire projet qui réduit la dépendance aux individus.</a:t>
            </a:r>
            <a:endParaRPr lang="en-US" sz="980" dirty="0"/>
          </a:p>
        </p:txBody>
      </p:sp>
      <p:sp>
        <p:nvSpPr>
          <p:cNvPr id="31" name="Shape 29"/>
          <p:cNvSpPr/>
          <p:nvPr/>
        </p:nvSpPr>
        <p:spPr>
          <a:xfrm>
            <a:off x="8119872" y="3730752"/>
            <a:ext cx="3520440" cy="2148840"/>
          </a:xfrm>
          <a:prstGeom prst="roundRect">
            <a:avLst>
              <a:gd name="adj" fmla="val 2553"/>
            </a:avLst>
          </a:prstGeom>
          <a:solidFill>
            <a:srgbClr val="EEF3F7"/>
          </a:solidFill>
          <a:ln w="12700">
            <a:solidFill>
              <a:srgbClr val="EEF3F7"/>
            </a:solidFill>
            <a:prstDash val="solid"/>
          </a:ln>
        </p:spPr>
        <p:txBody>
          <a:bodyPr/>
          <a:lstStyle/>
          <a:p>
            <a:endParaRPr lang="fr-FR"/>
          </a:p>
        </p:txBody>
      </p:sp>
      <p:sp>
        <p:nvSpPr>
          <p:cNvPr id="32" name="Shape 30"/>
          <p:cNvSpPr/>
          <p:nvPr/>
        </p:nvSpPr>
        <p:spPr>
          <a:xfrm>
            <a:off x="8357616" y="3950208"/>
            <a:ext cx="384048" cy="384048"/>
          </a:xfrm>
          <a:prstGeom prst="ellipse">
            <a:avLst/>
          </a:prstGeom>
          <a:solidFill>
            <a:srgbClr val="E08A3C"/>
          </a:solidFill>
          <a:ln/>
        </p:spPr>
        <p:txBody>
          <a:bodyPr/>
          <a:lstStyle/>
          <a:p>
            <a:endParaRPr lang="fr-FR"/>
          </a:p>
        </p:txBody>
      </p:sp>
      <p:sp>
        <p:nvSpPr>
          <p:cNvPr id="33" name="Text 31"/>
          <p:cNvSpPr/>
          <p:nvPr/>
        </p:nvSpPr>
        <p:spPr>
          <a:xfrm>
            <a:off x="8357616"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8869680" y="3913632"/>
            <a:ext cx="2514600" cy="457200"/>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Management inclusif</a:t>
            </a:r>
            <a:endParaRPr lang="en-US" sz="1250" dirty="0"/>
          </a:p>
        </p:txBody>
      </p:sp>
      <p:sp>
        <p:nvSpPr>
          <p:cNvPr id="35" name="Text 33"/>
          <p:cNvSpPr/>
          <p:nvPr/>
        </p:nvSpPr>
        <p:spPr>
          <a:xfrm>
            <a:off x="8375904" y="4443984"/>
            <a:ext cx="3008376" cy="1234440"/>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Outils collaboratifs assurant une communication fluide ; prise en compte des situations de handicap dans l'engagement des parties prenantes et l'accessibilité de la documentation.</a:t>
            </a:r>
            <a:endParaRPr lang="en-US" sz="9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7</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Analyses et perspectives</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Résultats obtenus, retour d'expérience et feuille de route d'amélioration continue</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7.1 ANALYSE DES RÉSULTATS ET DES PERFORMANCES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Les cinq objectifs au regard des critères de succès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48640" y="1417320"/>
            <a:ext cx="11064240" cy="850392"/>
          </a:xfrm>
          <a:prstGeom prst="roundRect">
            <a:avLst>
              <a:gd name="adj" fmla="val 5376"/>
            </a:avLst>
          </a:prstGeom>
          <a:solidFill>
            <a:srgbClr val="EEF3F7"/>
          </a:solidFill>
          <a:ln/>
        </p:spPr>
        <p:txBody>
          <a:bodyPr/>
          <a:lstStyle/>
          <a:p>
            <a:endParaRPr lang="fr-FR"/>
          </a:p>
        </p:txBody>
      </p:sp>
      <p:sp>
        <p:nvSpPr>
          <p:cNvPr id="7" name="Shape 5"/>
          <p:cNvSpPr/>
          <p:nvPr/>
        </p:nvSpPr>
        <p:spPr>
          <a:xfrm>
            <a:off x="749808" y="1645920"/>
            <a:ext cx="402336" cy="402336"/>
          </a:xfrm>
          <a:prstGeom prst="ellipse">
            <a:avLst/>
          </a:prstGeom>
          <a:solidFill>
            <a:srgbClr val="00A896"/>
          </a:solidFill>
          <a:ln/>
        </p:spPr>
        <p:txBody>
          <a:bodyPr/>
          <a:lstStyle/>
          <a:p>
            <a:endParaRPr lang="fr-FR"/>
          </a:p>
        </p:txBody>
      </p:sp>
      <p:sp>
        <p:nvSpPr>
          <p:cNvPr id="8" name="Text 6"/>
          <p:cNvSpPr/>
          <p:nvPr/>
        </p:nvSpPr>
        <p:spPr>
          <a:xfrm>
            <a:off x="749808" y="16459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316736" y="1490472"/>
            <a:ext cx="3017520" cy="713232"/>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Infrastructure en code reproductible</a:t>
            </a:r>
            <a:endParaRPr lang="en-US" sz="1250" dirty="0"/>
          </a:p>
        </p:txBody>
      </p:sp>
      <p:sp>
        <p:nvSpPr>
          <p:cNvPr id="10" name="Shape 8"/>
          <p:cNvSpPr/>
          <p:nvPr/>
        </p:nvSpPr>
        <p:spPr>
          <a:xfrm>
            <a:off x="4434840" y="1673352"/>
            <a:ext cx="914400" cy="329184"/>
          </a:xfrm>
          <a:prstGeom prst="roundRect">
            <a:avLst>
              <a:gd name="adj" fmla="val 13889"/>
            </a:avLst>
          </a:prstGeom>
          <a:solidFill>
            <a:srgbClr val="00A896"/>
          </a:solidFill>
          <a:ln/>
        </p:spPr>
        <p:txBody>
          <a:bodyPr/>
          <a:lstStyle/>
          <a:p>
            <a:endParaRPr lang="fr-FR"/>
          </a:p>
        </p:txBody>
      </p:sp>
      <p:sp>
        <p:nvSpPr>
          <p:cNvPr id="11" name="Text 9"/>
          <p:cNvSpPr/>
          <p:nvPr/>
        </p:nvSpPr>
        <p:spPr>
          <a:xfrm>
            <a:off x="4434840" y="1673352"/>
            <a:ext cx="91440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ATTEINT</a:t>
            </a:r>
            <a:endParaRPr lang="en-US" sz="900" dirty="0"/>
          </a:p>
        </p:txBody>
      </p:sp>
      <p:sp>
        <p:nvSpPr>
          <p:cNvPr id="12" name="Text 10"/>
          <p:cNvSpPr/>
          <p:nvPr/>
        </p:nvSpPr>
        <p:spPr>
          <a:xfrm>
            <a:off x="5532120" y="1472184"/>
            <a:ext cx="5852160" cy="749808"/>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Serveurs, réseau, pare-feu, DNS, CDN, stockage et sauvegardes déclarés en Terraform ; configuration et déploiement pilotés par Ansible de manière idempotente. Aucune opération manuelle requise.</a:t>
            </a:r>
            <a:endParaRPr lang="en-US" sz="1000" dirty="0"/>
          </a:p>
        </p:txBody>
      </p:sp>
      <p:sp>
        <p:nvSpPr>
          <p:cNvPr id="13" name="Shape 11"/>
          <p:cNvSpPr/>
          <p:nvPr/>
        </p:nvSpPr>
        <p:spPr>
          <a:xfrm>
            <a:off x="548640" y="2359152"/>
            <a:ext cx="11064240" cy="850392"/>
          </a:xfrm>
          <a:prstGeom prst="roundRect">
            <a:avLst>
              <a:gd name="adj" fmla="val 5376"/>
            </a:avLst>
          </a:prstGeom>
          <a:solidFill>
            <a:srgbClr val="FFFFFF"/>
          </a:solidFill>
          <a:ln/>
        </p:spPr>
        <p:txBody>
          <a:bodyPr/>
          <a:lstStyle/>
          <a:p>
            <a:endParaRPr lang="fr-FR"/>
          </a:p>
        </p:txBody>
      </p:sp>
      <p:sp>
        <p:nvSpPr>
          <p:cNvPr id="14" name="Shape 12"/>
          <p:cNvSpPr/>
          <p:nvPr/>
        </p:nvSpPr>
        <p:spPr>
          <a:xfrm>
            <a:off x="749808" y="2587752"/>
            <a:ext cx="402336" cy="402336"/>
          </a:xfrm>
          <a:prstGeom prst="ellipse">
            <a:avLst/>
          </a:prstGeom>
          <a:solidFill>
            <a:srgbClr val="00A896"/>
          </a:solidFill>
          <a:ln/>
        </p:spPr>
        <p:txBody>
          <a:bodyPr/>
          <a:lstStyle/>
          <a:p>
            <a:endParaRPr lang="fr-FR"/>
          </a:p>
        </p:txBody>
      </p:sp>
      <p:sp>
        <p:nvSpPr>
          <p:cNvPr id="15" name="Text 13"/>
          <p:cNvSpPr/>
          <p:nvPr/>
        </p:nvSpPr>
        <p:spPr>
          <a:xfrm>
            <a:off x="749808" y="258775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1316736" y="2432304"/>
            <a:ext cx="3017520" cy="713232"/>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Chaîne de livraison continue</a:t>
            </a:r>
            <a:endParaRPr lang="en-US" sz="1250" dirty="0"/>
          </a:p>
        </p:txBody>
      </p:sp>
      <p:sp>
        <p:nvSpPr>
          <p:cNvPr id="17" name="Shape 15"/>
          <p:cNvSpPr/>
          <p:nvPr/>
        </p:nvSpPr>
        <p:spPr>
          <a:xfrm>
            <a:off x="4434840" y="2615184"/>
            <a:ext cx="914400" cy="329184"/>
          </a:xfrm>
          <a:prstGeom prst="roundRect">
            <a:avLst>
              <a:gd name="adj" fmla="val 13889"/>
            </a:avLst>
          </a:prstGeom>
          <a:solidFill>
            <a:srgbClr val="00A896"/>
          </a:solidFill>
          <a:ln/>
        </p:spPr>
        <p:txBody>
          <a:bodyPr/>
          <a:lstStyle/>
          <a:p>
            <a:endParaRPr lang="fr-FR"/>
          </a:p>
        </p:txBody>
      </p:sp>
      <p:sp>
        <p:nvSpPr>
          <p:cNvPr id="18" name="Text 16"/>
          <p:cNvSpPr/>
          <p:nvPr/>
        </p:nvSpPr>
        <p:spPr>
          <a:xfrm>
            <a:off x="4434840" y="2615184"/>
            <a:ext cx="91440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ATTEINT</a:t>
            </a:r>
            <a:endParaRPr lang="en-US" sz="900" dirty="0"/>
          </a:p>
        </p:txBody>
      </p:sp>
      <p:sp>
        <p:nvSpPr>
          <p:cNvPr id="19" name="Text 17"/>
          <p:cNvSpPr/>
          <p:nvPr/>
        </p:nvSpPr>
        <p:spPr>
          <a:xfrm>
            <a:off x="5532120" y="2414016"/>
            <a:ext cx="5852160" cy="749808"/>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Tests exécutés, infrastructure validée, images immuables construites, déploiement déclenché — avec garde-fous protégeant les ressources critiques.</a:t>
            </a:r>
            <a:endParaRPr lang="en-US" sz="1000" dirty="0"/>
          </a:p>
        </p:txBody>
      </p:sp>
      <p:sp>
        <p:nvSpPr>
          <p:cNvPr id="20" name="Shape 18"/>
          <p:cNvSpPr/>
          <p:nvPr/>
        </p:nvSpPr>
        <p:spPr>
          <a:xfrm>
            <a:off x="548640" y="3300984"/>
            <a:ext cx="11064240" cy="850392"/>
          </a:xfrm>
          <a:prstGeom prst="roundRect">
            <a:avLst>
              <a:gd name="adj" fmla="val 5376"/>
            </a:avLst>
          </a:prstGeom>
          <a:solidFill>
            <a:srgbClr val="EEF3F7"/>
          </a:solidFill>
          <a:ln/>
        </p:spPr>
        <p:txBody>
          <a:bodyPr/>
          <a:lstStyle/>
          <a:p>
            <a:endParaRPr lang="fr-FR"/>
          </a:p>
        </p:txBody>
      </p:sp>
      <p:sp>
        <p:nvSpPr>
          <p:cNvPr id="21" name="Shape 19"/>
          <p:cNvSpPr/>
          <p:nvPr/>
        </p:nvSpPr>
        <p:spPr>
          <a:xfrm>
            <a:off x="749808" y="3529584"/>
            <a:ext cx="402336" cy="402336"/>
          </a:xfrm>
          <a:prstGeom prst="ellipse">
            <a:avLst/>
          </a:prstGeom>
          <a:solidFill>
            <a:srgbClr val="00A896"/>
          </a:solidFill>
          <a:ln/>
        </p:spPr>
        <p:txBody>
          <a:bodyPr/>
          <a:lstStyle/>
          <a:p>
            <a:endParaRPr lang="fr-FR"/>
          </a:p>
        </p:txBody>
      </p:sp>
      <p:sp>
        <p:nvSpPr>
          <p:cNvPr id="22" name="Text 20"/>
          <p:cNvSpPr/>
          <p:nvPr/>
        </p:nvSpPr>
        <p:spPr>
          <a:xfrm>
            <a:off x="749808" y="3529584"/>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1316736" y="3374136"/>
            <a:ext cx="3017520" cy="713232"/>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Orchestration conteneurisée</a:t>
            </a:r>
            <a:endParaRPr lang="en-US" sz="1250" dirty="0"/>
          </a:p>
        </p:txBody>
      </p:sp>
      <p:sp>
        <p:nvSpPr>
          <p:cNvPr id="24" name="Shape 22"/>
          <p:cNvSpPr/>
          <p:nvPr/>
        </p:nvSpPr>
        <p:spPr>
          <a:xfrm>
            <a:off x="4434840" y="3557016"/>
            <a:ext cx="914400" cy="329184"/>
          </a:xfrm>
          <a:prstGeom prst="roundRect">
            <a:avLst>
              <a:gd name="adj" fmla="val 13889"/>
            </a:avLst>
          </a:prstGeom>
          <a:solidFill>
            <a:srgbClr val="00A896"/>
          </a:solidFill>
          <a:ln/>
        </p:spPr>
        <p:txBody>
          <a:bodyPr/>
          <a:lstStyle/>
          <a:p>
            <a:endParaRPr lang="fr-FR"/>
          </a:p>
        </p:txBody>
      </p:sp>
      <p:sp>
        <p:nvSpPr>
          <p:cNvPr id="25" name="Text 23"/>
          <p:cNvSpPr/>
          <p:nvPr/>
        </p:nvSpPr>
        <p:spPr>
          <a:xfrm>
            <a:off x="4434840" y="3557016"/>
            <a:ext cx="91440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ATTEINT</a:t>
            </a:r>
            <a:endParaRPr lang="en-US" sz="900" dirty="0"/>
          </a:p>
        </p:txBody>
      </p:sp>
      <p:sp>
        <p:nvSpPr>
          <p:cNvPr id="26" name="Text 24"/>
          <p:cNvSpPr/>
          <p:nvPr/>
        </p:nvSpPr>
        <p:spPr>
          <a:xfrm>
            <a:off x="5532120" y="3355848"/>
            <a:ext cx="5852160" cy="749808"/>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Cluster Swarm assurant placement par rôle, mise à l'échelle, mises à jour progressives et repli automatique.</a:t>
            </a:r>
            <a:endParaRPr lang="en-US" sz="1000" dirty="0"/>
          </a:p>
        </p:txBody>
      </p:sp>
      <p:sp>
        <p:nvSpPr>
          <p:cNvPr id="27" name="Shape 25"/>
          <p:cNvSpPr/>
          <p:nvPr/>
        </p:nvSpPr>
        <p:spPr>
          <a:xfrm>
            <a:off x="548640" y="4242816"/>
            <a:ext cx="11064240" cy="850392"/>
          </a:xfrm>
          <a:prstGeom prst="roundRect">
            <a:avLst>
              <a:gd name="adj" fmla="val 5376"/>
            </a:avLst>
          </a:prstGeom>
          <a:solidFill>
            <a:srgbClr val="FFFFFF"/>
          </a:solidFill>
          <a:ln/>
        </p:spPr>
        <p:txBody>
          <a:bodyPr/>
          <a:lstStyle/>
          <a:p>
            <a:endParaRPr lang="fr-FR"/>
          </a:p>
        </p:txBody>
      </p:sp>
      <p:sp>
        <p:nvSpPr>
          <p:cNvPr id="28" name="Shape 26"/>
          <p:cNvSpPr/>
          <p:nvPr/>
        </p:nvSpPr>
        <p:spPr>
          <a:xfrm>
            <a:off x="749808" y="4471416"/>
            <a:ext cx="402336" cy="402336"/>
          </a:xfrm>
          <a:prstGeom prst="ellipse">
            <a:avLst/>
          </a:prstGeom>
          <a:solidFill>
            <a:srgbClr val="00A896"/>
          </a:solidFill>
          <a:ln/>
        </p:spPr>
        <p:txBody>
          <a:bodyPr/>
          <a:lstStyle/>
          <a:p>
            <a:endParaRPr lang="fr-FR"/>
          </a:p>
        </p:txBody>
      </p:sp>
      <p:sp>
        <p:nvSpPr>
          <p:cNvPr id="29" name="Text 27"/>
          <p:cNvSpPr/>
          <p:nvPr/>
        </p:nvSpPr>
        <p:spPr>
          <a:xfrm>
            <a:off x="749808" y="4471416"/>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8"/>
          <p:cNvSpPr/>
          <p:nvPr/>
        </p:nvSpPr>
        <p:spPr>
          <a:xfrm>
            <a:off x="1316736" y="4315968"/>
            <a:ext cx="3017520" cy="713232"/>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Observabilité</a:t>
            </a:r>
            <a:endParaRPr lang="en-US" sz="1250" dirty="0"/>
          </a:p>
        </p:txBody>
      </p:sp>
      <p:sp>
        <p:nvSpPr>
          <p:cNvPr id="31" name="Shape 29"/>
          <p:cNvSpPr/>
          <p:nvPr/>
        </p:nvSpPr>
        <p:spPr>
          <a:xfrm>
            <a:off x="4434840" y="4498848"/>
            <a:ext cx="914400" cy="329184"/>
          </a:xfrm>
          <a:prstGeom prst="roundRect">
            <a:avLst>
              <a:gd name="adj" fmla="val 13889"/>
            </a:avLst>
          </a:prstGeom>
          <a:solidFill>
            <a:srgbClr val="00A896"/>
          </a:solidFill>
          <a:ln/>
        </p:spPr>
        <p:txBody>
          <a:bodyPr/>
          <a:lstStyle/>
          <a:p>
            <a:endParaRPr lang="fr-FR"/>
          </a:p>
        </p:txBody>
      </p:sp>
      <p:sp>
        <p:nvSpPr>
          <p:cNvPr id="32" name="Text 30"/>
          <p:cNvSpPr/>
          <p:nvPr/>
        </p:nvSpPr>
        <p:spPr>
          <a:xfrm>
            <a:off x="4434840" y="4498848"/>
            <a:ext cx="91440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ATTEINT</a:t>
            </a:r>
            <a:endParaRPr lang="en-US" sz="900" dirty="0"/>
          </a:p>
        </p:txBody>
      </p:sp>
      <p:sp>
        <p:nvSpPr>
          <p:cNvPr id="33" name="Text 31"/>
          <p:cNvSpPr/>
          <p:nvPr/>
        </p:nvSpPr>
        <p:spPr>
          <a:xfrm>
            <a:off x="5532120" y="4297680"/>
            <a:ext cx="5852160" cy="749808"/>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Stack collectant métriques et journaux, exposant trois tableaux de bord provisionnés et déclenchant neuf règles d'alerte.</a:t>
            </a:r>
            <a:endParaRPr lang="en-US" sz="1000" dirty="0"/>
          </a:p>
        </p:txBody>
      </p:sp>
      <p:sp>
        <p:nvSpPr>
          <p:cNvPr id="34" name="Shape 32"/>
          <p:cNvSpPr/>
          <p:nvPr/>
        </p:nvSpPr>
        <p:spPr>
          <a:xfrm>
            <a:off x="548640" y="5184648"/>
            <a:ext cx="11064240" cy="850392"/>
          </a:xfrm>
          <a:prstGeom prst="roundRect">
            <a:avLst>
              <a:gd name="adj" fmla="val 5376"/>
            </a:avLst>
          </a:prstGeom>
          <a:solidFill>
            <a:srgbClr val="EEF3F7"/>
          </a:solidFill>
          <a:ln/>
        </p:spPr>
        <p:txBody>
          <a:bodyPr/>
          <a:lstStyle/>
          <a:p>
            <a:endParaRPr lang="fr-FR"/>
          </a:p>
        </p:txBody>
      </p:sp>
      <p:sp>
        <p:nvSpPr>
          <p:cNvPr id="35" name="Shape 33"/>
          <p:cNvSpPr/>
          <p:nvPr/>
        </p:nvSpPr>
        <p:spPr>
          <a:xfrm>
            <a:off x="749808" y="5413248"/>
            <a:ext cx="402336" cy="402336"/>
          </a:xfrm>
          <a:prstGeom prst="ellipse">
            <a:avLst/>
          </a:prstGeom>
          <a:solidFill>
            <a:srgbClr val="00A896"/>
          </a:solidFill>
          <a:ln/>
        </p:spPr>
        <p:txBody>
          <a:bodyPr/>
          <a:lstStyle/>
          <a:p>
            <a:endParaRPr lang="fr-FR"/>
          </a:p>
        </p:txBody>
      </p:sp>
      <p:sp>
        <p:nvSpPr>
          <p:cNvPr id="36" name="Text 34"/>
          <p:cNvSpPr/>
          <p:nvPr/>
        </p:nvSpPr>
        <p:spPr>
          <a:xfrm>
            <a:off x="749808" y="5413248"/>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5"/>
          <p:cNvSpPr/>
          <p:nvPr/>
        </p:nvSpPr>
        <p:spPr>
          <a:xfrm>
            <a:off x="1316736" y="5257800"/>
            <a:ext cx="3017520" cy="713232"/>
          </a:xfrm>
          <a:prstGeom prst="rect">
            <a:avLst/>
          </a:prstGeom>
          <a:noFill/>
          <a:ln/>
        </p:spPr>
        <p:txBody>
          <a:bodyPr wrap="square" lIns="0" tIns="0" rIns="0" bIns="0" rtlCol="0" anchor="ctr"/>
          <a:lstStyle/>
          <a:p>
            <a:pPr marL="0" indent="0">
              <a:buNone/>
            </a:pPr>
            <a:r>
              <a:rPr lang="en-US" sz="1250" b="1" dirty="0">
                <a:solidFill>
                  <a:srgbClr val="12263F"/>
                </a:solidFill>
                <a:latin typeface="Calibri" pitchFamily="34" charset="0"/>
                <a:ea typeface="Calibri" pitchFamily="34" charset="-122"/>
                <a:cs typeface="Calibri" pitchFamily="34" charset="-120"/>
              </a:rPr>
              <a:t>Sécurité, conformité, sobriété</a:t>
            </a:r>
            <a:endParaRPr lang="en-US" sz="1250" dirty="0"/>
          </a:p>
        </p:txBody>
      </p:sp>
      <p:sp>
        <p:nvSpPr>
          <p:cNvPr id="38" name="Shape 36"/>
          <p:cNvSpPr/>
          <p:nvPr/>
        </p:nvSpPr>
        <p:spPr>
          <a:xfrm>
            <a:off x="4434840" y="5440680"/>
            <a:ext cx="914400" cy="329184"/>
          </a:xfrm>
          <a:prstGeom prst="roundRect">
            <a:avLst>
              <a:gd name="adj" fmla="val 13889"/>
            </a:avLst>
          </a:prstGeom>
          <a:solidFill>
            <a:srgbClr val="00A896"/>
          </a:solidFill>
          <a:ln/>
        </p:spPr>
        <p:txBody>
          <a:bodyPr/>
          <a:lstStyle/>
          <a:p>
            <a:endParaRPr lang="fr-FR"/>
          </a:p>
        </p:txBody>
      </p:sp>
      <p:sp>
        <p:nvSpPr>
          <p:cNvPr id="39" name="Text 37"/>
          <p:cNvSpPr/>
          <p:nvPr/>
        </p:nvSpPr>
        <p:spPr>
          <a:xfrm>
            <a:off x="4434840" y="5440680"/>
            <a:ext cx="91440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ATTEINT</a:t>
            </a:r>
            <a:endParaRPr lang="en-US" sz="900" dirty="0"/>
          </a:p>
        </p:txBody>
      </p:sp>
      <p:sp>
        <p:nvSpPr>
          <p:cNvPr id="40" name="Text 38"/>
          <p:cNvSpPr/>
          <p:nvPr/>
        </p:nvSpPr>
        <p:spPr>
          <a:xfrm>
            <a:off x="5532120" y="5239512"/>
            <a:ext cx="5852160" cy="749808"/>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Défense en profondeur, conformité documentée (RGPD, ISO/IEC 27001), supervision de la consommation énergétique estimée.</a:t>
            </a:r>
            <a:endParaRPr lang="en-US" sz="1000" dirty="0"/>
          </a:p>
        </p:txBody>
      </p:sp>
      <p:sp>
        <p:nvSpPr>
          <p:cNvPr id="41" name="Text 39"/>
          <p:cNvSpPr/>
          <p:nvPr/>
        </p:nvSpPr>
        <p:spPr>
          <a:xfrm>
            <a:off x="548640" y="6199632"/>
            <a:ext cx="11064240" cy="274320"/>
          </a:xfrm>
          <a:prstGeom prst="rect">
            <a:avLst/>
          </a:prstGeom>
          <a:noFill/>
          <a:ln/>
        </p:spPr>
        <p:txBody>
          <a:bodyPr wrap="square" lIns="0" tIns="0" rIns="0" bIns="0" rtlCol="0" anchor="ctr"/>
          <a:lstStyle/>
          <a:p>
            <a:pPr marL="0" indent="0">
              <a:buNone/>
            </a:pPr>
            <a:r>
              <a:rPr lang="en-US" sz="1000" i="1" dirty="0">
                <a:solidFill>
                  <a:srgbClr val="00A896"/>
                </a:solidFill>
                <a:latin typeface="Calibri" pitchFamily="34" charset="0"/>
                <a:ea typeface="Calibri" pitchFamily="34" charset="-122"/>
                <a:cs typeface="Calibri" pitchFamily="34" charset="-120"/>
              </a:rPr>
              <a:t>Performances : construction d'images mise en cache et évitée si l'artefact existe · déploiements sans interruption perceptible · PgBouncer, index partiels, cache CDN immuable et compression pour des temps de réponse maîtrisés.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7.2 RETOUR D'EXPÉRIENCE ET LEÇONS APPRISES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Succès, défis et capitalisation</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53</a:t>
            </a:r>
            <a:endParaRPr lang="en-US" sz="900" dirty="0"/>
          </a:p>
        </p:txBody>
      </p:sp>
      <p:sp>
        <p:nvSpPr>
          <p:cNvPr id="6" name="Shape 4"/>
          <p:cNvSpPr/>
          <p:nvPr/>
        </p:nvSpPr>
        <p:spPr>
          <a:xfrm>
            <a:off x="548640" y="1371600"/>
            <a:ext cx="5449824" cy="2834640"/>
          </a:xfrm>
          <a:prstGeom prst="roundRect">
            <a:avLst>
              <a:gd name="adj" fmla="val 1935"/>
            </a:avLst>
          </a:prstGeom>
          <a:solidFill>
            <a:srgbClr val="12263F"/>
          </a:solidFill>
          <a:ln/>
        </p:spPr>
        <p:txBody>
          <a:bodyPr/>
          <a:lstStyle/>
          <a:p>
            <a:endParaRPr lang="fr-FR"/>
          </a:p>
        </p:txBody>
      </p:sp>
      <p:sp>
        <p:nvSpPr>
          <p:cNvPr id="7" name="Text 5"/>
          <p:cNvSpPr/>
          <p:nvPr/>
        </p:nvSpPr>
        <p:spPr>
          <a:xfrm>
            <a:off x="822960" y="1517904"/>
            <a:ext cx="4937760" cy="310896"/>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Les succès</a:t>
            </a:r>
            <a:endParaRPr lang="en-US" sz="1500" dirty="0"/>
          </a:p>
        </p:txBody>
      </p:sp>
      <p:sp>
        <p:nvSpPr>
          <p:cNvPr id="8" name="Text 6"/>
          <p:cNvSpPr/>
          <p:nvPr/>
        </p:nvSpPr>
        <p:spPr>
          <a:xfrm>
            <a:off x="822960" y="1920240"/>
            <a:ext cx="4937760" cy="2194560"/>
          </a:xfrm>
          <a:prstGeom prst="rect">
            <a:avLst/>
          </a:prstGeom>
          <a:noFill/>
          <a:ln/>
        </p:spPr>
        <p:txBody>
          <a:bodyPr wrap="square" lIns="0" tIns="0" rIns="0" bIns="0" rtlCol="0" anchor="ctr"/>
          <a:lstStyle/>
          <a:p>
            <a:pPr marL="342900" indent="-342900">
              <a:spcAft>
                <a:spcPts val="400"/>
              </a:spcAft>
              <a:buSzPct val="100000"/>
              <a:buChar char="▪"/>
            </a:pPr>
            <a:r>
              <a:rPr lang="en-US" sz="980" dirty="0">
                <a:solidFill>
                  <a:srgbClr val="C4D3E0"/>
                </a:solidFill>
                <a:latin typeface="Calibri" pitchFamily="34" charset="0"/>
                <a:ea typeface="Calibri" pitchFamily="34" charset="-122"/>
                <a:cs typeface="Calibri" pitchFamily="34" charset="-120"/>
              </a:rPr>
              <a:t>La cohérence de la chaîne : de la description de l'infrastructure jusqu'à l'observation de la production, chaque maillon est automatisé, versionné et reproductible</a:t>
            </a:r>
            <a:endParaRPr lang="en-US" sz="980" dirty="0"/>
          </a:p>
          <a:p>
            <a:pPr marL="342900" indent="-342900">
              <a:spcAft>
                <a:spcPts val="400"/>
              </a:spcAft>
              <a:buSzPct val="100000"/>
              <a:buChar char="▪"/>
            </a:pPr>
            <a:r>
              <a:rPr lang="en-US" sz="980" dirty="0">
                <a:solidFill>
                  <a:srgbClr val="C4D3E0"/>
                </a:solidFill>
                <a:latin typeface="Calibri" pitchFamily="34" charset="0"/>
                <a:ea typeface="Calibri" pitchFamily="34" charset="-122"/>
                <a:cs typeface="Calibri" pitchFamily="34" charset="-120"/>
              </a:rPr>
              <a:t>L'intégration précoce de la sécurité (shift-left) plutôt qu'en contrôle a posteriori</a:t>
            </a:r>
            <a:endParaRPr lang="en-US" sz="980" dirty="0"/>
          </a:p>
          <a:p>
            <a:pPr marL="342900" indent="-342900">
              <a:spcAft>
                <a:spcPts val="400"/>
              </a:spcAft>
              <a:buSzPct val="100000"/>
              <a:buChar char="▪"/>
            </a:pPr>
            <a:r>
              <a:rPr lang="en-US" sz="980" dirty="0">
                <a:solidFill>
                  <a:srgbClr val="C4D3E0"/>
                </a:solidFill>
                <a:latin typeface="Calibri" pitchFamily="34" charset="0"/>
                <a:ea typeface="Calibri" pitchFamily="34" charset="-122"/>
                <a:cs typeface="Calibri" pitchFamily="34" charset="-120"/>
              </a:rPr>
              <a:t>La supervision énergétique, souvent absente des projets comparables</a:t>
            </a:r>
            <a:endParaRPr lang="en-US" sz="980" dirty="0"/>
          </a:p>
          <a:p>
            <a:pPr marL="342900" indent="-342900">
              <a:spcAft>
                <a:spcPts val="400"/>
              </a:spcAft>
              <a:buSzPct val="100000"/>
              <a:buChar char="▪"/>
            </a:pPr>
            <a:r>
              <a:rPr lang="en-US" sz="980" dirty="0">
                <a:solidFill>
                  <a:srgbClr val="C4D3E0"/>
                </a:solidFill>
                <a:latin typeface="Calibri" pitchFamily="34" charset="0"/>
                <a:ea typeface="Calibri" pitchFamily="34" charset="-122"/>
                <a:cs typeface="Calibri" pitchFamily="34" charset="-120"/>
              </a:rPr>
              <a:t>Le choix d'une orchestration proportionnée à la taille du service, qui conserve les fonctions essentielles avec un excellent rapport capacités / simplicité</a:t>
            </a:r>
            <a:endParaRPr lang="en-US" sz="980" dirty="0"/>
          </a:p>
        </p:txBody>
      </p:sp>
      <p:sp>
        <p:nvSpPr>
          <p:cNvPr id="9" name="Shape 7"/>
          <p:cNvSpPr/>
          <p:nvPr/>
        </p:nvSpPr>
        <p:spPr>
          <a:xfrm>
            <a:off x="6190488" y="1371600"/>
            <a:ext cx="5449824" cy="2834640"/>
          </a:xfrm>
          <a:prstGeom prst="roundRect">
            <a:avLst>
              <a:gd name="adj" fmla="val 1935"/>
            </a:avLst>
          </a:prstGeom>
          <a:solidFill>
            <a:srgbClr val="EEF3F7"/>
          </a:solidFill>
          <a:ln/>
        </p:spPr>
        <p:txBody>
          <a:bodyPr/>
          <a:lstStyle/>
          <a:p>
            <a:endParaRPr lang="fr-FR"/>
          </a:p>
        </p:txBody>
      </p:sp>
      <p:sp>
        <p:nvSpPr>
          <p:cNvPr id="10" name="Text 8"/>
          <p:cNvSpPr/>
          <p:nvPr/>
        </p:nvSpPr>
        <p:spPr>
          <a:xfrm>
            <a:off x="6464808" y="1517904"/>
            <a:ext cx="4937760" cy="310896"/>
          </a:xfrm>
          <a:prstGeom prst="rect">
            <a:avLst/>
          </a:prstGeom>
          <a:noFill/>
          <a:ln/>
        </p:spPr>
        <p:txBody>
          <a:bodyPr wrap="square" lIns="0" tIns="0" rIns="0" bIns="0" rtlCol="0" anchor="ctr"/>
          <a:lstStyle/>
          <a:p>
            <a:pPr marL="0" indent="0">
              <a:buNone/>
            </a:pPr>
            <a:r>
              <a:rPr lang="en-US" sz="1500" b="1" dirty="0">
                <a:solidFill>
                  <a:srgbClr val="E08A3C"/>
                </a:solidFill>
                <a:latin typeface="Calibri" pitchFamily="34" charset="0"/>
                <a:ea typeface="Calibri" pitchFamily="34" charset="-122"/>
                <a:cs typeface="Calibri" pitchFamily="34" charset="-120"/>
              </a:rPr>
              <a:t>Les défis — et ce que j'en tire</a:t>
            </a:r>
            <a:endParaRPr lang="en-US" sz="1500" dirty="0"/>
          </a:p>
        </p:txBody>
      </p:sp>
      <p:sp>
        <p:nvSpPr>
          <p:cNvPr id="11" name="Text 9"/>
          <p:cNvSpPr/>
          <p:nvPr/>
        </p:nvSpPr>
        <p:spPr>
          <a:xfrm>
            <a:off x="6464808" y="1920240"/>
            <a:ext cx="4937760" cy="2194560"/>
          </a:xfrm>
          <a:prstGeom prst="rect">
            <a:avLst/>
          </a:prstGeom>
          <a:noFill/>
          <a:ln/>
        </p:spPr>
        <p:txBody>
          <a:bodyPr wrap="square" lIns="0" tIns="0" rIns="0" bIns="0" rtlCol="0" anchor="ctr"/>
          <a:lstStyle/>
          <a:p>
            <a:pPr marL="342900" indent="-342900">
              <a:spcAft>
                <a:spcPts val="400"/>
              </a:spcAft>
              <a:buSzPct val="100000"/>
              <a:buChar char="▪"/>
            </a:pPr>
            <a:r>
              <a:rPr lang="en-US" sz="980" dirty="0">
                <a:solidFill>
                  <a:srgbClr val="4A5769"/>
                </a:solidFill>
                <a:latin typeface="Calibri" pitchFamily="34" charset="0"/>
                <a:ea typeface="Calibri" pitchFamily="34" charset="-122"/>
                <a:cs typeface="Calibri" pitchFamily="34" charset="-120"/>
              </a:rPr>
              <a:t>La consolidation du nœud proxy est un compromis assumé : la HA était disproportionnée au démarrage, mais elle devient le palier d'évolution naturel</a:t>
            </a:r>
            <a:endParaRPr lang="en-US" sz="980" dirty="0"/>
          </a:p>
          <a:p>
            <a:pPr marL="342900" indent="-342900">
              <a:spcAft>
                <a:spcPts val="400"/>
              </a:spcAft>
              <a:buSzPct val="100000"/>
              <a:buChar char="▪"/>
            </a:pPr>
            <a:r>
              <a:rPr lang="en-US" sz="980" dirty="0">
                <a:solidFill>
                  <a:srgbClr val="4A5769"/>
                </a:solidFill>
                <a:latin typeface="Calibri" pitchFamily="34" charset="0"/>
                <a:ea typeface="Calibri" pitchFamily="34" charset="-122"/>
                <a:cs typeface="Calibri" pitchFamily="34" charset="-120"/>
              </a:rPr>
              <a:t>L'estimation énergétique n'est pas une mesure : je revendique la transparence sur les hypothèses du modèle plutôt qu'un chiffre non qualifié</a:t>
            </a:r>
            <a:endParaRPr lang="en-US" sz="980" dirty="0"/>
          </a:p>
          <a:p>
            <a:pPr marL="342900" indent="-342900">
              <a:spcAft>
                <a:spcPts val="400"/>
              </a:spcAft>
              <a:buSzPct val="100000"/>
              <a:buChar char="▪"/>
            </a:pPr>
            <a:r>
              <a:rPr lang="en-US" sz="980" dirty="0">
                <a:solidFill>
                  <a:srgbClr val="4A5769"/>
                </a:solidFill>
                <a:latin typeface="Calibri" pitchFamily="34" charset="0"/>
                <a:ea typeface="Calibri" pitchFamily="34" charset="-122"/>
                <a:cs typeface="Calibri" pitchFamily="34" charset="-120"/>
              </a:rPr>
              <a:t>L'alerting est opérationnel, mais l'enrichissement des canaux de notification et l'ajout d'analyses de sécurité automatisées restent à mener</a:t>
            </a:r>
            <a:endParaRPr lang="en-US" sz="980" dirty="0"/>
          </a:p>
          <a:p>
            <a:pPr marL="342900" indent="-342900">
              <a:spcAft>
                <a:spcPts val="400"/>
              </a:spcAft>
              <a:buSzPct val="100000"/>
              <a:buChar char="▪"/>
            </a:pPr>
            <a:r>
              <a:rPr lang="en-US" sz="980" dirty="0">
                <a:solidFill>
                  <a:srgbClr val="4A5769"/>
                </a:solidFill>
                <a:latin typeface="Calibri" pitchFamily="34" charset="0"/>
                <a:ea typeface="Calibri" pitchFamily="34" charset="-122"/>
                <a:cs typeface="Calibri" pitchFamily="34" charset="-120"/>
              </a:rPr>
              <a:t>Arbitrer entre exhaustivité et périmètre livrable a été l'exercice le plus formateur</a:t>
            </a:r>
            <a:endParaRPr lang="en-US" sz="980" dirty="0"/>
          </a:p>
        </p:txBody>
      </p:sp>
      <p:sp>
        <p:nvSpPr>
          <p:cNvPr id="12" name="Text 10"/>
          <p:cNvSpPr/>
          <p:nvPr/>
        </p:nvSpPr>
        <p:spPr>
          <a:xfrm>
            <a:off x="548640" y="4370832"/>
            <a:ext cx="11064240" cy="310896"/>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Capitalisation des connaissances — traitée comme un livrable à part entière</a:t>
            </a:r>
            <a:endParaRPr lang="en-US" sz="1400" dirty="0"/>
          </a:p>
        </p:txBody>
      </p:sp>
      <p:sp>
        <p:nvSpPr>
          <p:cNvPr id="13" name="Shape 11"/>
          <p:cNvSpPr/>
          <p:nvPr/>
        </p:nvSpPr>
        <p:spPr>
          <a:xfrm>
            <a:off x="548640" y="4736592"/>
            <a:ext cx="2624328" cy="1389888"/>
          </a:xfrm>
          <a:prstGeom prst="roundRect">
            <a:avLst>
              <a:gd name="adj" fmla="val 3947"/>
            </a:avLst>
          </a:prstGeom>
          <a:solidFill>
            <a:srgbClr val="EEF3F7"/>
          </a:solidFill>
          <a:ln w="12700">
            <a:solidFill>
              <a:srgbClr val="EEF3F7"/>
            </a:solidFill>
            <a:prstDash val="solid"/>
          </a:ln>
        </p:spPr>
        <p:txBody>
          <a:bodyPr/>
          <a:lstStyle/>
          <a:p>
            <a:endParaRPr lang="fr-FR"/>
          </a:p>
        </p:txBody>
      </p:sp>
      <p:sp>
        <p:nvSpPr>
          <p:cNvPr id="14" name="Text 12"/>
          <p:cNvSpPr/>
          <p:nvPr/>
        </p:nvSpPr>
        <p:spPr>
          <a:xfrm>
            <a:off x="804672" y="4919472"/>
            <a:ext cx="2112264"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Documentation technique</a:t>
            </a:r>
            <a:endParaRPr lang="en-US" sz="1150" dirty="0"/>
          </a:p>
        </p:txBody>
      </p:sp>
      <p:sp>
        <p:nvSpPr>
          <p:cNvPr id="15" name="Text 13"/>
          <p:cNvSpPr/>
          <p:nvPr/>
        </p:nvSpPr>
        <p:spPr>
          <a:xfrm>
            <a:off x="804672" y="5449824"/>
            <a:ext cx="2112264" cy="475488"/>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Structurée et versionnée avec le code : architecture, procédures d'automatisation, décisions d'exploitation.</a:t>
            </a:r>
            <a:endParaRPr lang="en-US" sz="980" dirty="0"/>
          </a:p>
        </p:txBody>
      </p:sp>
      <p:sp>
        <p:nvSpPr>
          <p:cNvPr id="16" name="Shape 14"/>
          <p:cNvSpPr/>
          <p:nvPr/>
        </p:nvSpPr>
        <p:spPr>
          <a:xfrm>
            <a:off x="3374136" y="4736592"/>
            <a:ext cx="2624328" cy="1389888"/>
          </a:xfrm>
          <a:prstGeom prst="roundRect">
            <a:avLst>
              <a:gd name="adj" fmla="val 3947"/>
            </a:avLst>
          </a:prstGeom>
          <a:solidFill>
            <a:srgbClr val="EEF3F7"/>
          </a:solidFill>
          <a:ln w="12700">
            <a:solidFill>
              <a:srgbClr val="EEF3F7"/>
            </a:solidFill>
            <a:prstDash val="solid"/>
          </a:ln>
        </p:spPr>
        <p:txBody>
          <a:bodyPr/>
          <a:lstStyle/>
          <a:p>
            <a:endParaRPr lang="fr-FR"/>
          </a:p>
        </p:txBody>
      </p:sp>
      <p:sp>
        <p:nvSpPr>
          <p:cNvPr id="17" name="Text 15"/>
          <p:cNvSpPr/>
          <p:nvPr/>
        </p:nvSpPr>
        <p:spPr>
          <a:xfrm>
            <a:off x="3630168" y="4919472"/>
            <a:ext cx="2112264"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Registres de décision (ADR)</a:t>
            </a:r>
            <a:endParaRPr lang="en-US" sz="1150" dirty="0"/>
          </a:p>
        </p:txBody>
      </p:sp>
      <p:sp>
        <p:nvSpPr>
          <p:cNvPr id="18" name="Text 16"/>
          <p:cNvSpPr/>
          <p:nvPr/>
        </p:nvSpPr>
        <p:spPr>
          <a:xfrm>
            <a:off x="3630168" y="5449824"/>
            <a:ext cx="2112264" cy="475488"/>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Contexte, décision, alternatives, conséquences — la mémoire des arbitrages est préservée.</a:t>
            </a:r>
            <a:endParaRPr lang="en-US" sz="980" dirty="0"/>
          </a:p>
        </p:txBody>
      </p:sp>
      <p:sp>
        <p:nvSpPr>
          <p:cNvPr id="19" name="Shape 17"/>
          <p:cNvSpPr/>
          <p:nvPr/>
        </p:nvSpPr>
        <p:spPr>
          <a:xfrm>
            <a:off x="6199632" y="4736592"/>
            <a:ext cx="2624328" cy="1389888"/>
          </a:xfrm>
          <a:prstGeom prst="roundRect">
            <a:avLst>
              <a:gd name="adj" fmla="val 3947"/>
            </a:avLst>
          </a:prstGeom>
          <a:solidFill>
            <a:srgbClr val="EEF3F7"/>
          </a:solidFill>
          <a:ln w="12700">
            <a:solidFill>
              <a:srgbClr val="EEF3F7"/>
            </a:solidFill>
            <a:prstDash val="solid"/>
          </a:ln>
        </p:spPr>
        <p:txBody>
          <a:bodyPr/>
          <a:lstStyle/>
          <a:p>
            <a:endParaRPr lang="fr-FR"/>
          </a:p>
        </p:txBody>
      </p:sp>
      <p:sp>
        <p:nvSpPr>
          <p:cNvPr id="20" name="Text 18"/>
          <p:cNvSpPr/>
          <p:nvPr/>
        </p:nvSpPr>
        <p:spPr>
          <a:xfrm>
            <a:off x="6455664" y="4919472"/>
            <a:ext cx="2112264"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Runbooks d'exploitation</a:t>
            </a:r>
            <a:endParaRPr lang="en-US" sz="1150" dirty="0"/>
          </a:p>
        </p:txBody>
      </p:sp>
      <p:sp>
        <p:nvSpPr>
          <p:cNvPr id="21" name="Text 19"/>
          <p:cNvSpPr/>
          <p:nvPr/>
        </p:nvSpPr>
        <p:spPr>
          <a:xfrm>
            <a:off x="6455664" y="5449824"/>
            <a:ext cx="2112264" cy="475488"/>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Diagnostic, escalade, remédiation et reconstruction, utilisables sereinement en situation de crise.</a:t>
            </a:r>
            <a:endParaRPr lang="en-US" sz="980" dirty="0"/>
          </a:p>
        </p:txBody>
      </p:sp>
      <p:sp>
        <p:nvSpPr>
          <p:cNvPr id="22" name="Shape 20"/>
          <p:cNvSpPr/>
          <p:nvPr/>
        </p:nvSpPr>
        <p:spPr>
          <a:xfrm>
            <a:off x="9025128" y="4736592"/>
            <a:ext cx="2624328" cy="1389888"/>
          </a:xfrm>
          <a:prstGeom prst="roundRect">
            <a:avLst>
              <a:gd name="adj" fmla="val 3947"/>
            </a:avLst>
          </a:prstGeom>
          <a:solidFill>
            <a:srgbClr val="EEF3F7"/>
          </a:solidFill>
          <a:ln w="12700">
            <a:solidFill>
              <a:srgbClr val="EEF3F7"/>
            </a:solidFill>
            <a:prstDash val="solid"/>
          </a:ln>
        </p:spPr>
        <p:txBody>
          <a:bodyPr/>
          <a:lstStyle/>
          <a:p>
            <a:endParaRPr lang="fr-FR"/>
          </a:p>
        </p:txBody>
      </p:sp>
      <p:sp>
        <p:nvSpPr>
          <p:cNvPr id="23" name="Text 21"/>
          <p:cNvSpPr/>
          <p:nvPr/>
        </p:nvSpPr>
        <p:spPr>
          <a:xfrm>
            <a:off x="9281160" y="4919472"/>
            <a:ext cx="2112264" cy="457200"/>
          </a:xfrm>
          <a:prstGeom prst="rect">
            <a:avLst/>
          </a:prstGeom>
          <a:noFill/>
          <a:ln/>
        </p:spPr>
        <p:txBody>
          <a:bodyPr wrap="square" lIns="0" tIns="0" rIns="0" bIns="0" rtlCol="0" anchor="ctr"/>
          <a:lstStyle/>
          <a:p>
            <a:pPr marL="0" indent="0">
              <a:buNone/>
            </a:pPr>
            <a:r>
              <a:rPr lang="en-US" sz="1150" b="1" dirty="0">
                <a:solidFill>
                  <a:srgbClr val="12263F"/>
                </a:solidFill>
                <a:latin typeface="Calibri" pitchFamily="34" charset="0"/>
                <a:ea typeface="Calibri" pitchFamily="34" charset="-122"/>
                <a:cs typeface="Calibri" pitchFamily="34" charset="-120"/>
              </a:rPr>
              <a:t>Adaptée aux profils</a:t>
            </a:r>
            <a:endParaRPr lang="en-US" sz="1150" dirty="0"/>
          </a:p>
        </p:txBody>
      </p:sp>
      <p:sp>
        <p:nvSpPr>
          <p:cNvPr id="24" name="Text 22"/>
          <p:cNvSpPr/>
          <p:nvPr/>
        </p:nvSpPr>
        <p:spPr>
          <a:xfrm>
            <a:off x="9281160" y="5449824"/>
            <a:ext cx="2112264" cy="475488"/>
          </a:xfrm>
          <a:prstGeom prst="rect">
            <a:avLst/>
          </a:prstGeom>
          <a:noFill/>
          <a:ln/>
        </p:spPr>
        <p:txBody>
          <a:bodyPr wrap="square" lIns="0" tIns="0" rIns="0" bIns="0" rtlCol="0" anchor="ctr"/>
          <a:lstStyle/>
          <a:p>
            <a:pPr marL="0" indent="0">
              <a:lnSpc>
                <a:spcPts val="1500"/>
              </a:lnSpc>
              <a:buNone/>
            </a:pPr>
            <a:r>
              <a:rPr lang="en-US" sz="980" dirty="0">
                <a:solidFill>
                  <a:srgbClr val="4A5769"/>
                </a:solidFill>
                <a:latin typeface="Calibri" pitchFamily="34" charset="0"/>
                <a:ea typeface="Calibri" pitchFamily="34" charset="-122"/>
                <a:cs typeface="Calibri" pitchFamily="34" charset="-120"/>
              </a:rPr>
              <a:t>Documentation pensée pour différents lecteurs, y compris sous l'angle de l'accessibilité.</a:t>
            </a:r>
            <a:endParaRPr lang="en-US" sz="9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7.3 PERSPECTIVES ET RECOMMANDATIONS</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Une feuille de route priorisée par le rapport valeur / effort</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54</a:t>
            </a:r>
            <a:endParaRPr lang="en-US" sz="900" dirty="0"/>
          </a:p>
        </p:txBody>
      </p:sp>
      <p:sp>
        <p:nvSpPr>
          <p:cNvPr id="6" name="Shape 4"/>
          <p:cNvSpPr/>
          <p:nvPr/>
        </p:nvSpPr>
        <p:spPr>
          <a:xfrm>
            <a:off x="548640" y="1444752"/>
            <a:ext cx="3520440" cy="4160520"/>
          </a:xfrm>
          <a:prstGeom prst="roundRect">
            <a:avLst>
              <a:gd name="adj" fmla="val 1558"/>
            </a:avLst>
          </a:prstGeom>
          <a:solidFill>
            <a:srgbClr val="EEF3F7"/>
          </a:solidFill>
          <a:ln/>
        </p:spPr>
        <p:txBody>
          <a:bodyPr/>
          <a:lstStyle/>
          <a:p>
            <a:endParaRPr lang="fr-FR"/>
          </a:p>
        </p:txBody>
      </p:sp>
      <p:sp>
        <p:nvSpPr>
          <p:cNvPr id="7" name="Shape 5"/>
          <p:cNvSpPr/>
          <p:nvPr/>
        </p:nvSpPr>
        <p:spPr>
          <a:xfrm>
            <a:off x="548640" y="1444752"/>
            <a:ext cx="3520440" cy="502920"/>
          </a:xfrm>
          <a:prstGeom prst="roundRect">
            <a:avLst>
              <a:gd name="adj" fmla="val 10909"/>
            </a:avLst>
          </a:prstGeom>
          <a:solidFill>
            <a:srgbClr val="00A896"/>
          </a:solidFill>
          <a:ln/>
        </p:spPr>
        <p:txBody>
          <a:bodyPr/>
          <a:lstStyle/>
          <a:p>
            <a:endParaRPr lang="fr-FR"/>
          </a:p>
        </p:txBody>
      </p:sp>
      <p:sp>
        <p:nvSpPr>
          <p:cNvPr id="8" name="Text 6"/>
          <p:cNvSpPr/>
          <p:nvPr/>
        </p:nvSpPr>
        <p:spPr>
          <a:xfrm>
            <a:off x="548640" y="1444752"/>
            <a:ext cx="3520440" cy="502920"/>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COURT TERME</a:t>
            </a:r>
            <a:endParaRPr lang="en-US" sz="1200" dirty="0"/>
          </a:p>
        </p:txBody>
      </p:sp>
      <p:sp>
        <p:nvSpPr>
          <p:cNvPr id="9" name="Text 7"/>
          <p:cNvSpPr/>
          <p:nvPr/>
        </p:nvSpPr>
        <p:spPr>
          <a:xfrm>
            <a:off x="804672" y="2121408"/>
            <a:ext cx="3017520" cy="329184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Enrichir les canaux de notification d'alerte (messagerie d'équipe)</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Ajouter au pipeline le scan de vulnérabilités des images et l'analyse de composition des dépendances (SCA)</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Ajouter l'analyse statique du code (SAST) et l'analyse des plans d'infrastructure, en portes bloquantes</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Publier la mesure de couverture des tests avec un seuil minimal</a:t>
            </a:r>
            <a:endParaRPr lang="en-US" sz="1050" dirty="0"/>
          </a:p>
        </p:txBody>
      </p:sp>
      <p:sp>
        <p:nvSpPr>
          <p:cNvPr id="10" name="Shape 8"/>
          <p:cNvSpPr/>
          <p:nvPr/>
        </p:nvSpPr>
        <p:spPr>
          <a:xfrm>
            <a:off x="4334256" y="1444752"/>
            <a:ext cx="3520440" cy="4160520"/>
          </a:xfrm>
          <a:prstGeom prst="roundRect">
            <a:avLst>
              <a:gd name="adj" fmla="val 1558"/>
            </a:avLst>
          </a:prstGeom>
          <a:solidFill>
            <a:srgbClr val="EEF3F7"/>
          </a:solidFill>
          <a:ln/>
        </p:spPr>
        <p:txBody>
          <a:bodyPr/>
          <a:lstStyle/>
          <a:p>
            <a:endParaRPr lang="fr-FR"/>
          </a:p>
        </p:txBody>
      </p:sp>
      <p:sp>
        <p:nvSpPr>
          <p:cNvPr id="11" name="Shape 9"/>
          <p:cNvSpPr/>
          <p:nvPr/>
        </p:nvSpPr>
        <p:spPr>
          <a:xfrm>
            <a:off x="4334256" y="1444752"/>
            <a:ext cx="3520440" cy="502920"/>
          </a:xfrm>
          <a:prstGeom prst="roundRect">
            <a:avLst>
              <a:gd name="adj" fmla="val 10909"/>
            </a:avLst>
          </a:prstGeom>
          <a:solidFill>
            <a:srgbClr val="E08A3C"/>
          </a:solidFill>
          <a:ln/>
        </p:spPr>
        <p:txBody>
          <a:bodyPr/>
          <a:lstStyle/>
          <a:p>
            <a:endParaRPr lang="fr-FR"/>
          </a:p>
        </p:txBody>
      </p:sp>
      <p:sp>
        <p:nvSpPr>
          <p:cNvPr id="12" name="Text 10"/>
          <p:cNvSpPr/>
          <p:nvPr/>
        </p:nvSpPr>
        <p:spPr>
          <a:xfrm>
            <a:off x="4334256" y="1444752"/>
            <a:ext cx="3520440" cy="502920"/>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MOYEN TERME</a:t>
            </a:r>
            <a:endParaRPr lang="en-US" sz="1200" dirty="0"/>
          </a:p>
        </p:txBody>
      </p:sp>
      <p:sp>
        <p:nvSpPr>
          <p:cNvPr id="13" name="Text 11"/>
          <p:cNvSpPr/>
          <p:nvPr/>
        </p:nvSpPr>
        <p:spPr>
          <a:xfrm>
            <a:off x="4590288" y="2121408"/>
            <a:ext cx="3017520" cy="329184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Mise en haute disponibilité de la supervision et de l'orchestration (traite R1, risque le plus critique)</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Exercice périodique de restauration des sauvegardes de bout en bout, validant le RTO et l'intégrité</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Passage à une mesure énergétique matérielle (Scaphandre, Kepler) sur un environnement dédié</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Centralisation de la gestion des secrets à mesure que la plateforme grandit</a:t>
            </a:r>
            <a:endParaRPr lang="en-US" sz="1050" dirty="0"/>
          </a:p>
        </p:txBody>
      </p:sp>
      <p:sp>
        <p:nvSpPr>
          <p:cNvPr id="14" name="Shape 12"/>
          <p:cNvSpPr/>
          <p:nvPr/>
        </p:nvSpPr>
        <p:spPr>
          <a:xfrm>
            <a:off x="8119872" y="1444752"/>
            <a:ext cx="3520440" cy="4160520"/>
          </a:xfrm>
          <a:prstGeom prst="roundRect">
            <a:avLst>
              <a:gd name="adj" fmla="val 1558"/>
            </a:avLst>
          </a:prstGeom>
          <a:solidFill>
            <a:srgbClr val="EEF3F7"/>
          </a:solidFill>
          <a:ln/>
        </p:spPr>
        <p:txBody>
          <a:bodyPr/>
          <a:lstStyle/>
          <a:p>
            <a:endParaRPr lang="fr-FR"/>
          </a:p>
        </p:txBody>
      </p:sp>
      <p:sp>
        <p:nvSpPr>
          <p:cNvPr id="15" name="Shape 13"/>
          <p:cNvSpPr/>
          <p:nvPr/>
        </p:nvSpPr>
        <p:spPr>
          <a:xfrm>
            <a:off x="8119872" y="1444752"/>
            <a:ext cx="3520440" cy="502920"/>
          </a:xfrm>
          <a:prstGeom prst="roundRect">
            <a:avLst>
              <a:gd name="adj" fmla="val 10909"/>
            </a:avLst>
          </a:prstGeom>
          <a:solidFill>
            <a:srgbClr val="3D7CA8"/>
          </a:solidFill>
          <a:ln/>
        </p:spPr>
        <p:txBody>
          <a:bodyPr/>
          <a:lstStyle/>
          <a:p>
            <a:endParaRPr lang="fr-FR"/>
          </a:p>
        </p:txBody>
      </p:sp>
      <p:sp>
        <p:nvSpPr>
          <p:cNvPr id="16" name="Text 14"/>
          <p:cNvSpPr/>
          <p:nvPr/>
        </p:nvSpPr>
        <p:spPr>
          <a:xfrm>
            <a:off x="8119872" y="1444752"/>
            <a:ext cx="3520440" cy="502920"/>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LONG TERME</a:t>
            </a:r>
            <a:endParaRPr lang="en-US" sz="1200" dirty="0"/>
          </a:p>
        </p:txBody>
      </p:sp>
      <p:sp>
        <p:nvSpPr>
          <p:cNvPr id="17" name="Text 15"/>
          <p:cNvSpPr/>
          <p:nvPr/>
        </p:nvSpPr>
        <p:spPr>
          <a:xfrm>
            <a:off x="8375904" y="2121408"/>
            <a:ext cx="3017520" cy="329184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Stratégies de déploiement plus fines : canari, bleu-vert</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Exploitation assistée par IA : prédiction d'incidents, optimisation du dimensionnement</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Tests d'intégration contre des instances réelles éphémères</a:t>
            </a:r>
            <a:endParaRPr lang="en-US" sz="1050" dirty="0"/>
          </a:p>
          <a:p>
            <a:pPr marL="342900" indent="-342900">
              <a:spcAft>
                <a:spcPts val="900"/>
              </a:spcAft>
              <a:buSzPct val="100000"/>
              <a:buChar char="▪"/>
            </a:pPr>
            <a:r>
              <a:rPr lang="en-US" sz="1050" dirty="0">
                <a:solidFill>
                  <a:srgbClr val="4A5769"/>
                </a:solidFill>
                <a:latin typeface="Calibri" pitchFamily="34" charset="0"/>
                <a:ea typeface="Calibri" pitchFamily="34" charset="-122"/>
                <a:cs typeface="Calibri" pitchFamily="34" charset="-120"/>
              </a:rPr>
              <a:t>Évolution vers une orchestration Kubernetes allégée si le trafic ou l'équipe croissent</a:t>
            </a:r>
            <a:endParaRPr lang="en-US" sz="1050" dirty="0"/>
          </a:p>
        </p:txBody>
      </p:sp>
      <p:sp>
        <p:nvSpPr>
          <p:cNvPr id="18" name="Shape 16"/>
          <p:cNvSpPr/>
          <p:nvPr/>
        </p:nvSpPr>
        <p:spPr>
          <a:xfrm>
            <a:off x="548640" y="5779008"/>
            <a:ext cx="11064240" cy="566928"/>
          </a:xfrm>
          <a:prstGeom prst="roundRect">
            <a:avLst>
              <a:gd name="adj" fmla="val 9677"/>
            </a:avLst>
          </a:prstGeom>
          <a:solidFill>
            <a:srgbClr val="0B1729"/>
          </a:solidFill>
          <a:ln/>
        </p:spPr>
        <p:txBody>
          <a:bodyPr/>
          <a:lstStyle/>
          <a:p>
            <a:endParaRPr lang="fr-FR"/>
          </a:p>
        </p:txBody>
      </p:sp>
      <p:sp>
        <p:nvSpPr>
          <p:cNvPr id="19" name="Text 17"/>
          <p:cNvSpPr/>
          <p:nvPr/>
        </p:nvSpPr>
        <p:spPr>
          <a:xfrm>
            <a:off x="548640" y="5779008"/>
            <a:ext cx="11064240" cy="566928"/>
          </a:xfrm>
          <a:prstGeom prst="rect">
            <a:avLst/>
          </a:prstGeom>
          <a:noFill/>
          <a:ln/>
        </p:spPr>
        <p:txBody>
          <a:bodyPr wrap="square" lIns="0" tIns="0" rIns="0" bIns="0" rtlCol="0" anchor="ctr"/>
          <a:lstStyle/>
          <a:p>
            <a:pPr marL="0" indent="0" algn="ctr">
              <a:buNone/>
            </a:pPr>
            <a:r>
              <a:rPr lang="en-US" sz="1250" b="1" i="1" dirty="0">
                <a:solidFill>
                  <a:srgbClr val="FFFFFF"/>
                </a:solidFill>
                <a:latin typeface="Calibri" pitchFamily="34" charset="0"/>
                <a:ea typeface="Calibri" pitchFamily="34" charset="-122"/>
                <a:cs typeface="Calibri" pitchFamily="34" charset="-120"/>
              </a:rPr>
              <a:t>La valeur d'une infrastructure DevOps réside autant dans sa capacité à évoluer que dans la qualité de son état actuel.</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777240" y="2487168"/>
            <a:ext cx="1371600" cy="1371600"/>
          </a:xfrm>
          <a:prstGeom prst="ellipse">
            <a:avLst/>
          </a:prstGeom>
          <a:solidFill>
            <a:srgbClr val="00A896"/>
          </a:solidFill>
          <a:ln/>
        </p:spPr>
        <p:txBody>
          <a:bodyPr/>
          <a:lstStyle/>
          <a:p>
            <a:endParaRPr lang="fr-FR"/>
          </a:p>
        </p:txBody>
      </p:sp>
      <p:sp>
        <p:nvSpPr>
          <p:cNvPr id="3" name="Text 1"/>
          <p:cNvSpPr/>
          <p:nvPr/>
        </p:nvSpPr>
        <p:spPr>
          <a:xfrm>
            <a:off x="777240" y="2487168"/>
            <a:ext cx="1371600" cy="1371600"/>
          </a:xfrm>
          <a:prstGeom prst="rect">
            <a:avLst/>
          </a:prstGeom>
          <a:noFill/>
          <a:ln/>
        </p:spPr>
        <p:txBody>
          <a:bodyPr wrap="square" lIns="0" tIns="0" rIns="0" bIns="0" rtlCol="0" anchor="ctr"/>
          <a:lstStyle/>
          <a:p>
            <a:pPr marL="0" indent="0" algn="ctr">
              <a:buNone/>
            </a:pPr>
            <a:r>
              <a:rPr lang="en-US" sz="4400" b="1" dirty="0">
                <a:solidFill>
                  <a:srgbClr val="0B1729"/>
                </a:solidFill>
                <a:latin typeface="Cambria" pitchFamily="34" charset="0"/>
                <a:ea typeface="Cambria" pitchFamily="34" charset="-122"/>
                <a:cs typeface="Cambria" pitchFamily="34" charset="-120"/>
              </a:rPr>
              <a:t>8</a:t>
            </a:r>
            <a:endParaRPr lang="en-US" sz="4400" dirty="0"/>
          </a:p>
        </p:txBody>
      </p:sp>
      <p:sp>
        <p:nvSpPr>
          <p:cNvPr id="4" name="Text 2"/>
          <p:cNvSpPr/>
          <p:nvPr/>
        </p:nvSpPr>
        <p:spPr>
          <a:xfrm>
            <a:off x="2514600" y="2487168"/>
            <a:ext cx="8869680" cy="822960"/>
          </a:xfrm>
          <a:prstGeom prst="rect">
            <a:avLst/>
          </a:prstGeom>
          <a:noFill/>
          <a:ln/>
        </p:spPr>
        <p:txBody>
          <a:bodyPr wrap="square" lIns="0" tIns="0" rIns="0" bIns="0" rtlCol="0" anchor="b"/>
          <a:lstStyle/>
          <a:p>
            <a:pPr marL="0" indent="0">
              <a:buNone/>
            </a:pPr>
            <a:r>
              <a:rPr lang="en-US" sz="3400" b="1" dirty="0">
                <a:solidFill>
                  <a:srgbClr val="FFFFFF"/>
                </a:solidFill>
                <a:latin typeface="Cambria" pitchFamily="34" charset="0"/>
                <a:ea typeface="Cambria" pitchFamily="34" charset="-122"/>
                <a:cs typeface="Cambria" pitchFamily="34" charset="-120"/>
              </a:rPr>
              <a:t>Conclusion et remerciements</a:t>
            </a:r>
            <a:endParaRPr lang="en-US" sz="3400" dirty="0"/>
          </a:p>
        </p:txBody>
      </p:sp>
      <p:sp>
        <p:nvSpPr>
          <p:cNvPr id="5" name="Text 3"/>
          <p:cNvSpPr/>
          <p:nvPr/>
        </p:nvSpPr>
        <p:spPr>
          <a:xfrm>
            <a:off x="2514600" y="3364992"/>
            <a:ext cx="8869680" cy="548640"/>
          </a:xfrm>
          <a:prstGeom prst="rect">
            <a:avLst/>
          </a:prstGeom>
          <a:noFill/>
          <a:ln/>
        </p:spPr>
        <p:txBody>
          <a:bodyPr wrap="square" lIns="0" tIns="0" rIns="0" bIns="0" rtlCol="0" anchor="ctr"/>
          <a:lstStyle/>
          <a:p>
            <a:pPr marL="0" indent="0">
              <a:buNone/>
            </a:pPr>
            <a:r>
              <a:rPr lang="en-US" sz="1400" dirty="0">
                <a:solidFill>
                  <a:srgbClr val="8FA6BC"/>
                </a:solidFill>
                <a:latin typeface="Calibri" pitchFamily="34" charset="0"/>
                <a:ea typeface="Calibri" pitchFamily="34" charset="-122"/>
                <a:cs typeface="Calibri" pitchFamily="34" charset="-120"/>
              </a:rPr>
              <a:t>Synthèse des résultats, validation des hypothèses et échanges avec le jury</a:t>
            </a:r>
            <a:endParaRPr lang="en-US" sz="1400" dirty="0"/>
          </a:p>
        </p:txBody>
      </p:sp>
      <p:sp>
        <p:nvSpPr>
          <p:cNvPr id="6" name="Text 4"/>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8.1 CONCLUSION</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Réponse à la problématique et validation des hypothèses</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56</a:t>
            </a:r>
            <a:endParaRPr lang="en-US" sz="900" dirty="0"/>
          </a:p>
        </p:txBody>
      </p:sp>
      <p:sp>
        <p:nvSpPr>
          <p:cNvPr id="6" name="Shape 4"/>
          <p:cNvSpPr/>
          <p:nvPr/>
        </p:nvSpPr>
        <p:spPr>
          <a:xfrm>
            <a:off x="548640" y="1371600"/>
            <a:ext cx="11064240" cy="1051560"/>
          </a:xfrm>
          <a:prstGeom prst="roundRect">
            <a:avLst>
              <a:gd name="adj" fmla="val 5217"/>
            </a:avLst>
          </a:prstGeom>
          <a:solidFill>
            <a:srgbClr val="0B1729"/>
          </a:solidFill>
          <a:ln/>
        </p:spPr>
        <p:txBody>
          <a:bodyPr/>
          <a:lstStyle/>
          <a:p>
            <a:endParaRPr lang="fr-FR"/>
          </a:p>
        </p:txBody>
      </p:sp>
      <p:sp>
        <p:nvSpPr>
          <p:cNvPr id="7" name="Text 5"/>
          <p:cNvSpPr/>
          <p:nvPr/>
        </p:nvSpPr>
        <p:spPr>
          <a:xfrm>
            <a:off x="822960" y="1371600"/>
            <a:ext cx="10515600" cy="1051560"/>
          </a:xfrm>
          <a:prstGeom prst="rect">
            <a:avLst/>
          </a:prstGeom>
          <a:noFill/>
          <a:ln/>
        </p:spPr>
        <p:txBody>
          <a:bodyPr wrap="square" lIns="0" tIns="0" rIns="0" bIns="0" rtlCol="0" anchor="ctr"/>
          <a:lstStyle/>
          <a:p>
            <a:pPr marL="0" indent="0" algn="ctr">
              <a:lnSpc>
                <a:spcPts val="2200"/>
              </a:lnSpc>
              <a:buNone/>
            </a:pPr>
            <a:r>
              <a:rPr lang="en-US" sz="1350" b="1" dirty="0">
                <a:solidFill>
                  <a:srgbClr val="FFFFFF"/>
                </a:solidFill>
                <a:latin typeface="Cambria" pitchFamily="34" charset="0"/>
                <a:ea typeface="Cambria" pitchFamily="34" charset="-122"/>
                <a:cs typeface="Cambria" pitchFamily="34" charset="-120"/>
              </a:rPr>
              <a:t>La conciliation entre automatisation, sécurité, éco-responsabilité, qualité, observabilité et maîtrise des coûts est atteinte</a:t>
            </a:r>
            <a:endParaRPr lang="en-US" sz="1350" dirty="0"/>
          </a:p>
          <a:p>
            <a:pPr marL="0" indent="0" algn="ctr">
              <a:lnSpc>
                <a:spcPts val="2200"/>
              </a:lnSpc>
              <a:buNone/>
            </a:pPr>
            <a:r>
              <a:rPr lang="en-US" sz="1350" b="1" dirty="0">
                <a:solidFill>
                  <a:srgbClr val="FFFFFF"/>
                </a:solidFill>
                <a:latin typeface="Cambria" pitchFamily="34" charset="0"/>
                <a:ea typeface="Cambria" pitchFamily="34" charset="-122"/>
                <a:cs typeface="Cambria" pitchFamily="34" charset="-120"/>
              </a:rPr>
              <a:t>dès lors que l'automatisation est pensée de bout en bout, que la sécurité et la sobriété sont intégrées dès la conception,</a:t>
            </a:r>
            <a:endParaRPr lang="en-US" sz="1350" dirty="0"/>
          </a:p>
          <a:p>
            <a:pPr marL="0" indent="0" algn="ctr">
              <a:lnSpc>
                <a:spcPts val="2200"/>
              </a:lnSpc>
              <a:buNone/>
            </a:pPr>
            <a:r>
              <a:rPr lang="en-US" sz="1350" b="1" dirty="0">
                <a:solidFill>
                  <a:srgbClr val="FFFFFF"/>
                </a:solidFill>
                <a:latin typeface="Cambria" pitchFamily="34" charset="0"/>
                <a:ea typeface="Cambria" pitchFamily="34" charset="-122"/>
                <a:cs typeface="Cambria" pitchFamily="34" charset="-120"/>
              </a:rPr>
              <a:t>et que l'observabilité rend l'ensemble pilotable.</a:t>
            </a:r>
            <a:endParaRPr lang="en-US" sz="1350" dirty="0"/>
          </a:p>
        </p:txBody>
      </p:sp>
      <p:sp>
        <p:nvSpPr>
          <p:cNvPr id="8" name="Shape 6"/>
          <p:cNvSpPr/>
          <p:nvPr/>
        </p:nvSpPr>
        <p:spPr>
          <a:xfrm>
            <a:off x="548640" y="2606040"/>
            <a:ext cx="3520440" cy="1828800"/>
          </a:xfrm>
          <a:prstGeom prst="roundRect">
            <a:avLst>
              <a:gd name="adj" fmla="val 3000"/>
            </a:avLst>
          </a:prstGeom>
          <a:solidFill>
            <a:srgbClr val="EEF3F7"/>
          </a:solidFill>
          <a:ln w="12700">
            <a:solidFill>
              <a:srgbClr val="EEF3F7"/>
            </a:solidFill>
            <a:prstDash val="solid"/>
          </a:ln>
        </p:spPr>
        <p:txBody>
          <a:bodyPr/>
          <a:lstStyle/>
          <a:p>
            <a:endParaRPr lang="fr-FR"/>
          </a:p>
        </p:txBody>
      </p:sp>
      <p:sp>
        <p:nvSpPr>
          <p:cNvPr id="9" name="Text 7"/>
          <p:cNvSpPr/>
          <p:nvPr/>
        </p:nvSpPr>
        <p:spPr>
          <a:xfrm>
            <a:off x="804672" y="2788920"/>
            <a:ext cx="3008376" cy="45720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H1 confirmée</a:t>
            </a:r>
            <a:endParaRPr lang="en-US" sz="1300" dirty="0"/>
          </a:p>
        </p:txBody>
      </p:sp>
      <p:sp>
        <p:nvSpPr>
          <p:cNvPr id="10" name="Text 8"/>
          <p:cNvSpPr/>
          <p:nvPr/>
        </p:nvSpPr>
        <p:spPr>
          <a:xfrm>
            <a:off x="804672" y="3319272"/>
            <a:ext cx="3008376" cy="914400"/>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La description intégrale de l'infrastructure en code, couplée au GitOps, améliore simultanément la fiabilité et la vitesse des déploiements en éliminant les opérations manuelles et les divergences d'environnement.</a:t>
            </a:r>
            <a:endParaRPr lang="en-US" sz="1030" dirty="0"/>
          </a:p>
        </p:txBody>
      </p:sp>
      <p:sp>
        <p:nvSpPr>
          <p:cNvPr id="11" name="Shape 9"/>
          <p:cNvSpPr/>
          <p:nvPr/>
        </p:nvSpPr>
        <p:spPr>
          <a:xfrm>
            <a:off x="4334256" y="2606040"/>
            <a:ext cx="3520440" cy="1828800"/>
          </a:xfrm>
          <a:prstGeom prst="roundRect">
            <a:avLst>
              <a:gd name="adj" fmla="val 3000"/>
            </a:avLst>
          </a:prstGeom>
          <a:solidFill>
            <a:srgbClr val="EEF3F7"/>
          </a:solidFill>
          <a:ln w="12700">
            <a:solidFill>
              <a:srgbClr val="EEF3F7"/>
            </a:solidFill>
            <a:prstDash val="solid"/>
          </a:ln>
        </p:spPr>
        <p:txBody>
          <a:bodyPr/>
          <a:lstStyle/>
          <a:p>
            <a:endParaRPr lang="fr-FR"/>
          </a:p>
        </p:txBody>
      </p:sp>
      <p:sp>
        <p:nvSpPr>
          <p:cNvPr id="12" name="Text 10"/>
          <p:cNvSpPr/>
          <p:nvPr/>
        </p:nvSpPr>
        <p:spPr>
          <a:xfrm>
            <a:off x="4590288" y="2788920"/>
            <a:ext cx="3008376" cy="45720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H2 confirmée</a:t>
            </a:r>
            <a:endParaRPr lang="en-US" sz="1300" dirty="0"/>
          </a:p>
        </p:txBody>
      </p:sp>
      <p:sp>
        <p:nvSpPr>
          <p:cNvPr id="13" name="Text 11"/>
          <p:cNvSpPr/>
          <p:nvPr/>
        </p:nvSpPr>
        <p:spPr>
          <a:xfrm>
            <a:off x="4590288" y="3319272"/>
            <a:ext cx="3008376" cy="914400"/>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Une orchestration adaptée à la taille du service garantit portabilité, scalabilité et résilience avec un excellent rapport entre capacités et simplicité d'exploitation.</a:t>
            </a:r>
            <a:endParaRPr lang="en-US" sz="1030" dirty="0"/>
          </a:p>
        </p:txBody>
      </p:sp>
      <p:sp>
        <p:nvSpPr>
          <p:cNvPr id="14" name="Shape 12"/>
          <p:cNvSpPr/>
          <p:nvPr/>
        </p:nvSpPr>
        <p:spPr>
          <a:xfrm>
            <a:off x="8119872" y="2606040"/>
            <a:ext cx="3520440" cy="1828800"/>
          </a:xfrm>
          <a:prstGeom prst="roundRect">
            <a:avLst>
              <a:gd name="adj" fmla="val 3000"/>
            </a:avLst>
          </a:prstGeom>
          <a:solidFill>
            <a:srgbClr val="EEF3F7"/>
          </a:solidFill>
          <a:ln w="12700">
            <a:solidFill>
              <a:srgbClr val="EEF3F7"/>
            </a:solidFill>
            <a:prstDash val="solid"/>
          </a:ln>
        </p:spPr>
        <p:txBody>
          <a:bodyPr/>
          <a:lstStyle/>
          <a:p>
            <a:endParaRPr lang="fr-FR"/>
          </a:p>
        </p:txBody>
      </p:sp>
      <p:sp>
        <p:nvSpPr>
          <p:cNvPr id="15" name="Text 13"/>
          <p:cNvSpPr/>
          <p:nvPr/>
        </p:nvSpPr>
        <p:spPr>
          <a:xfrm>
            <a:off x="8375904" y="2788920"/>
            <a:ext cx="3008376" cy="45720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H3 confirmée</a:t>
            </a:r>
            <a:endParaRPr lang="en-US" sz="1300" dirty="0"/>
          </a:p>
        </p:txBody>
      </p:sp>
      <p:sp>
        <p:nvSpPr>
          <p:cNvPr id="16" name="Text 14"/>
          <p:cNvSpPr/>
          <p:nvPr/>
        </p:nvSpPr>
        <p:spPr>
          <a:xfrm>
            <a:off x="8375904" y="3319272"/>
            <a:ext cx="3008376" cy="914400"/>
          </a:xfrm>
          <a:prstGeom prst="rect">
            <a:avLst/>
          </a:prstGeom>
          <a:noFill/>
          <a:ln/>
        </p:spPr>
        <p:txBody>
          <a:bodyPr wrap="square" lIns="0" tIns="0" rIns="0" bIns="0" rtlCol="0" anchor="ctr"/>
          <a:lstStyle/>
          <a:p>
            <a:pPr marL="0" indent="0">
              <a:lnSpc>
                <a:spcPts val="1500"/>
              </a:lnSpc>
              <a:buNone/>
            </a:pPr>
            <a:r>
              <a:rPr lang="en-US" sz="1030" dirty="0">
                <a:solidFill>
                  <a:srgbClr val="4A5769"/>
                </a:solidFill>
                <a:latin typeface="Calibri" pitchFamily="34" charset="0"/>
                <a:ea typeface="Calibri" pitchFamily="34" charset="-122"/>
                <a:cs typeface="Calibri" pitchFamily="34" charset="-120"/>
              </a:rPr>
              <a:t>Une stratégie d'observabilité intégrée, complétée d'une estimation de la consommation énergétique, rend l'éco-responsabilité mesurable et compatible avec la maîtrise des coûts.</a:t>
            </a:r>
            <a:endParaRPr lang="en-US" sz="1030" dirty="0"/>
          </a:p>
        </p:txBody>
      </p:sp>
      <p:sp>
        <p:nvSpPr>
          <p:cNvPr id="17" name="Text 15"/>
          <p:cNvSpPr/>
          <p:nvPr/>
        </p:nvSpPr>
        <p:spPr>
          <a:xfrm>
            <a:off x="548640" y="4617720"/>
            <a:ext cx="11064240"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Impact de la démarche</a:t>
            </a:r>
            <a:endParaRPr lang="en-US" sz="1400" dirty="0"/>
          </a:p>
        </p:txBody>
      </p:sp>
      <p:sp>
        <p:nvSpPr>
          <p:cNvPr id="18" name="Shape 16"/>
          <p:cNvSpPr/>
          <p:nvPr/>
        </p:nvSpPr>
        <p:spPr>
          <a:xfrm>
            <a:off x="548640" y="4983480"/>
            <a:ext cx="3520440" cy="777240"/>
          </a:xfrm>
          <a:prstGeom prst="roundRect">
            <a:avLst>
              <a:gd name="adj" fmla="val 5882"/>
            </a:avLst>
          </a:prstGeom>
          <a:solidFill>
            <a:srgbClr val="12263F"/>
          </a:solidFill>
          <a:ln/>
        </p:spPr>
        <p:txBody>
          <a:bodyPr/>
          <a:lstStyle/>
          <a:p>
            <a:endParaRPr lang="fr-FR"/>
          </a:p>
        </p:txBody>
      </p:sp>
      <p:sp>
        <p:nvSpPr>
          <p:cNvPr id="19" name="Text 17"/>
          <p:cNvSpPr/>
          <p:nvPr/>
        </p:nvSpPr>
        <p:spPr>
          <a:xfrm>
            <a:off x="768096" y="5084064"/>
            <a:ext cx="3108960" cy="256032"/>
          </a:xfrm>
          <a:prstGeom prst="rect">
            <a:avLst/>
          </a:prstGeom>
          <a:noFill/>
          <a:ln/>
        </p:spPr>
        <p:txBody>
          <a:bodyPr wrap="square" lIns="0" tIns="0" rIns="0" bIns="0" rtlCol="0" anchor="ctr"/>
          <a:lstStyle/>
          <a:p>
            <a:pPr marL="0" indent="0">
              <a:buNone/>
            </a:pPr>
            <a:r>
              <a:rPr lang="en-US" sz="1150" b="1" dirty="0">
                <a:solidFill>
                  <a:srgbClr val="E08A3C"/>
                </a:solidFill>
                <a:latin typeface="Calibri" pitchFamily="34" charset="0"/>
                <a:ea typeface="Calibri" pitchFamily="34" charset="-122"/>
                <a:cs typeface="Calibri" pitchFamily="34" charset="-120"/>
              </a:rPr>
              <a:t>Technique</a:t>
            </a:r>
            <a:endParaRPr lang="en-US" sz="1150" dirty="0"/>
          </a:p>
        </p:txBody>
      </p:sp>
      <p:sp>
        <p:nvSpPr>
          <p:cNvPr id="20" name="Text 18"/>
          <p:cNvSpPr/>
          <p:nvPr/>
        </p:nvSpPr>
        <p:spPr>
          <a:xfrm>
            <a:off x="768096" y="5340096"/>
            <a:ext cx="3108960" cy="347472"/>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Fiabilisation et accélération de la livraison</a:t>
            </a:r>
            <a:endParaRPr lang="en-US" sz="1000" dirty="0"/>
          </a:p>
        </p:txBody>
      </p:sp>
      <p:sp>
        <p:nvSpPr>
          <p:cNvPr id="21" name="Shape 19"/>
          <p:cNvSpPr/>
          <p:nvPr/>
        </p:nvSpPr>
        <p:spPr>
          <a:xfrm>
            <a:off x="4334256" y="4983480"/>
            <a:ext cx="3520440" cy="777240"/>
          </a:xfrm>
          <a:prstGeom prst="roundRect">
            <a:avLst>
              <a:gd name="adj" fmla="val 5882"/>
            </a:avLst>
          </a:prstGeom>
          <a:solidFill>
            <a:srgbClr val="12263F"/>
          </a:solidFill>
          <a:ln/>
        </p:spPr>
        <p:txBody>
          <a:bodyPr/>
          <a:lstStyle/>
          <a:p>
            <a:endParaRPr lang="fr-FR"/>
          </a:p>
        </p:txBody>
      </p:sp>
      <p:sp>
        <p:nvSpPr>
          <p:cNvPr id="22" name="Text 20"/>
          <p:cNvSpPr/>
          <p:nvPr/>
        </p:nvSpPr>
        <p:spPr>
          <a:xfrm>
            <a:off x="4553712" y="5084064"/>
            <a:ext cx="3108960" cy="256032"/>
          </a:xfrm>
          <a:prstGeom prst="rect">
            <a:avLst/>
          </a:prstGeom>
          <a:noFill/>
          <a:ln/>
        </p:spPr>
        <p:txBody>
          <a:bodyPr wrap="square" lIns="0" tIns="0" rIns="0" bIns="0" rtlCol="0" anchor="ctr"/>
          <a:lstStyle/>
          <a:p>
            <a:pPr marL="0" indent="0">
              <a:buNone/>
            </a:pPr>
            <a:r>
              <a:rPr lang="en-US" sz="1150" b="1" dirty="0">
                <a:solidFill>
                  <a:srgbClr val="E08A3C"/>
                </a:solidFill>
                <a:latin typeface="Calibri" pitchFamily="34" charset="0"/>
                <a:ea typeface="Calibri" pitchFamily="34" charset="-122"/>
                <a:cs typeface="Calibri" pitchFamily="34" charset="-120"/>
              </a:rPr>
              <a:t>Économique</a:t>
            </a:r>
            <a:endParaRPr lang="en-US" sz="1150" dirty="0"/>
          </a:p>
        </p:txBody>
      </p:sp>
      <p:sp>
        <p:nvSpPr>
          <p:cNvPr id="23" name="Text 21"/>
          <p:cNvSpPr/>
          <p:nvPr/>
        </p:nvSpPr>
        <p:spPr>
          <a:xfrm>
            <a:off x="4553712" y="5340096"/>
            <a:ext cx="3108960" cy="347472"/>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Réduction du gaspillage de ressources</a:t>
            </a:r>
            <a:endParaRPr lang="en-US" sz="1000" dirty="0"/>
          </a:p>
        </p:txBody>
      </p:sp>
      <p:sp>
        <p:nvSpPr>
          <p:cNvPr id="24" name="Shape 22"/>
          <p:cNvSpPr/>
          <p:nvPr/>
        </p:nvSpPr>
        <p:spPr>
          <a:xfrm>
            <a:off x="8119872" y="4983480"/>
            <a:ext cx="3520440" cy="777240"/>
          </a:xfrm>
          <a:prstGeom prst="roundRect">
            <a:avLst>
              <a:gd name="adj" fmla="val 5882"/>
            </a:avLst>
          </a:prstGeom>
          <a:solidFill>
            <a:srgbClr val="12263F"/>
          </a:solidFill>
          <a:ln/>
        </p:spPr>
        <p:txBody>
          <a:bodyPr/>
          <a:lstStyle/>
          <a:p>
            <a:endParaRPr lang="fr-FR"/>
          </a:p>
        </p:txBody>
      </p:sp>
      <p:sp>
        <p:nvSpPr>
          <p:cNvPr id="25" name="Text 23"/>
          <p:cNvSpPr/>
          <p:nvPr/>
        </p:nvSpPr>
        <p:spPr>
          <a:xfrm>
            <a:off x="8339328" y="5084064"/>
            <a:ext cx="3108960" cy="256032"/>
          </a:xfrm>
          <a:prstGeom prst="rect">
            <a:avLst/>
          </a:prstGeom>
          <a:noFill/>
          <a:ln/>
        </p:spPr>
        <p:txBody>
          <a:bodyPr wrap="square" lIns="0" tIns="0" rIns="0" bIns="0" rtlCol="0" anchor="ctr"/>
          <a:lstStyle/>
          <a:p>
            <a:pPr marL="0" indent="0">
              <a:buNone/>
            </a:pPr>
            <a:r>
              <a:rPr lang="en-US" sz="1150" b="1" dirty="0">
                <a:solidFill>
                  <a:srgbClr val="E08A3C"/>
                </a:solidFill>
                <a:latin typeface="Calibri" pitchFamily="34" charset="0"/>
                <a:ea typeface="Calibri" pitchFamily="34" charset="-122"/>
                <a:cs typeface="Calibri" pitchFamily="34" charset="-120"/>
              </a:rPr>
              <a:t>Organisationnel</a:t>
            </a:r>
            <a:endParaRPr lang="en-US" sz="1150" dirty="0"/>
          </a:p>
        </p:txBody>
      </p:sp>
      <p:sp>
        <p:nvSpPr>
          <p:cNvPr id="26" name="Text 24"/>
          <p:cNvSpPr/>
          <p:nvPr/>
        </p:nvSpPr>
        <p:spPr>
          <a:xfrm>
            <a:off x="8339328" y="5340096"/>
            <a:ext cx="3108960" cy="347472"/>
          </a:xfrm>
          <a:prstGeom prst="rect">
            <a:avLst/>
          </a:prstGeom>
          <a:noFill/>
          <a:ln/>
        </p:spPr>
        <p:txBody>
          <a:bodyPr wrap="square" lIns="0" tIns="0" rIns="0" bIns="0" rtlCol="0" anchor="ctr"/>
          <a:lstStyle/>
          <a:p>
            <a:pPr marL="0" indent="0">
              <a:lnSpc>
                <a:spcPts val="1300"/>
              </a:lnSpc>
              <a:buNone/>
            </a:pPr>
            <a:r>
              <a:rPr lang="en-US" sz="1000" dirty="0">
                <a:solidFill>
                  <a:srgbClr val="C4D3E0"/>
                </a:solidFill>
                <a:latin typeface="Calibri" pitchFamily="34" charset="0"/>
                <a:ea typeface="Calibri" pitchFamily="34" charset="-122"/>
                <a:cs typeface="Calibri" pitchFamily="34" charset="-120"/>
              </a:rPr>
              <a:t>Capitalisation des connaissances en actif réutilisable</a:t>
            </a:r>
            <a:endParaRPr lang="en-US" sz="1000" dirty="0"/>
          </a:p>
        </p:txBody>
      </p:sp>
      <p:sp>
        <p:nvSpPr>
          <p:cNvPr id="27" name="Text 25"/>
          <p:cNvSpPr/>
          <p:nvPr/>
        </p:nvSpPr>
        <p:spPr>
          <a:xfrm>
            <a:off x="548640" y="5925312"/>
            <a:ext cx="11064240" cy="384048"/>
          </a:xfrm>
          <a:prstGeom prst="rect">
            <a:avLst/>
          </a:prstGeom>
          <a:noFill/>
          <a:ln/>
        </p:spPr>
        <p:txBody>
          <a:bodyPr wrap="square" lIns="0" tIns="0" rIns="0" bIns="0" rtlCol="0" anchor="ctr"/>
          <a:lstStyle/>
          <a:p>
            <a:pPr marL="0" indent="0" algn="ctr">
              <a:buNone/>
            </a:pPr>
            <a:r>
              <a:rPr lang="en-US" sz="1200" b="1" i="1" dirty="0">
                <a:solidFill>
                  <a:srgbClr val="12263F"/>
                </a:solidFill>
                <a:latin typeface="Calibri" pitchFamily="34" charset="0"/>
                <a:ea typeface="Calibri" pitchFamily="34" charset="-122"/>
                <a:cs typeface="Calibri" pitchFamily="34" charset="-120"/>
              </a:rPr>
              <a:t>Le rôle d'un expert en systèmes d'information ne consiste pas seulement à produire un logiciel, mais à construire et à maîtriser la chaîne industrielle, sûre et sobre, qui le porte jusqu'à ses utilisateurs.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72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A896"/>
          </a:solidFill>
          <a:ln/>
        </p:spPr>
        <p:txBody>
          <a:bodyPr/>
          <a:lstStyle/>
          <a:p>
            <a:endParaRPr lang="fr-FR"/>
          </a:p>
        </p:txBody>
      </p:sp>
      <p:sp>
        <p:nvSpPr>
          <p:cNvPr id="3" name="Text 1"/>
          <p:cNvSpPr/>
          <p:nvPr/>
        </p:nvSpPr>
        <p:spPr>
          <a:xfrm>
            <a:off x="868680" y="777240"/>
            <a:ext cx="10515600" cy="292608"/>
          </a:xfrm>
          <a:prstGeom prst="rect">
            <a:avLst/>
          </a:prstGeom>
          <a:noFill/>
          <a:ln/>
        </p:spPr>
        <p:txBody>
          <a:bodyPr wrap="square" lIns="0" tIns="0" rIns="0" bIns="0" rtlCol="0" anchor="ctr"/>
          <a:lstStyle/>
          <a:p>
            <a:pPr marL="0" indent="0">
              <a:buNone/>
            </a:pPr>
            <a:r>
              <a:rPr lang="en-US" sz="1100" b="1" kern="0" spc="160" dirty="0">
                <a:solidFill>
                  <a:srgbClr val="00A896"/>
                </a:solidFill>
                <a:latin typeface="Calibri" pitchFamily="34" charset="0"/>
                <a:ea typeface="Calibri" pitchFamily="34" charset="-122"/>
                <a:cs typeface="Calibri" pitchFamily="34" charset="-120"/>
              </a:rPr>
              <a:t>8.2 REMERCIEMENTS</a:t>
            </a:r>
            <a:endParaRPr lang="en-US" sz="1100" dirty="0"/>
          </a:p>
        </p:txBody>
      </p:sp>
      <p:sp>
        <p:nvSpPr>
          <p:cNvPr id="4" name="Text 2"/>
          <p:cNvSpPr/>
          <p:nvPr/>
        </p:nvSpPr>
        <p:spPr>
          <a:xfrm>
            <a:off x="868680" y="1143000"/>
            <a:ext cx="10515600" cy="6858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Merci de votre écoute</a:t>
            </a:r>
            <a:endParaRPr lang="en-US" sz="3800" dirty="0"/>
          </a:p>
        </p:txBody>
      </p:sp>
      <p:sp>
        <p:nvSpPr>
          <p:cNvPr id="5" name="Shape 3"/>
          <p:cNvSpPr/>
          <p:nvPr/>
        </p:nvSpPr>
        <p:spPr>
          <a:xfrm>
            <a:off x="868680" y="2148840"/>
            <a:ext cx="5029200" cy="1188720"/>
          </a:xfrm>
          <a:prstGeom prst="roundRect">
            <a:avLst>
              <a:gd name="adj" fmla="val 4615"/>
            </a:avLst>
          </a:prstGeom>
          <a:solidFill>
            <a:srgbClr val="162A44"/>
          </a:solidFill>
          <a:ln/>
        </p:spPr>
        <p:txBody>
          <a:bodyPr/>
          <a:lstStyle/>
          <a:p>
            <a:endParaRPr lang="fr-FR"/>
          </a:p>
        </p:txBody>
      </p:sp>
      <p:sp>
        <p:nvSpPr>
          <p:cNvPr id="6" name="Text 4"/>
          <p:cNvSpPr/>
          <p:nvPr/>
        </p:nvSpPr>
        <p:spPr>
          <a:xfrm>
            <a:off x="1124712" y="2295144"/>
            <a:ext cx="4517136" cy="292608"/>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École LaPlateforme</a:t>
            </a:r>
            <a:endParaRPr lang="en-US" sz="1300" dirty="0"/>
          </a:p>
        </p:txBody>
      </p:sp>
      <p:sp>
        <p:nvSpPr>
          <p:cNvPr id="7" name="Text 5"/>
          <p:cNvSpPr/>
          <p:nvPr/>
        </p:nvSpPr>
        <p:spPr>
          <a:xfrm>
            <a:off x="1124712" y="2606040"/>
            <a:ext cx="4517136" cy="62179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À l'équipe pédagogique, pour la qualité de l'encadrement dispensé tout au long du parcours.</a:t>
            </a:r>
            <a:endParaRPr lang="en-US" sz="1050" dirty="0"/>
          </a:p>
        </p:txBody>
      </p:sp>
      <p:sp>
        <p:nvSpPr>
          <p:cNvPr id="8" name="Shape 6"/>
          <p:cNvSpPr/>
          <p:nvPr/>
        </p:nvSpPr>
        <p:spPr>
          <a:xfrm>
            <a:off x="6263640" y="2148840"/>
            <a:ext cx="5029200" cy="1188720"/>
          </a:xfrm>
          <a:prstGeom prst="roundRect">
            <a:avLst>
              <a:gd name="adj" fmla="val 4615"/>
            </a:avLst>
          </a:prstGeom>
          <a:solidFill>
            <a:srgbClr val="162A44"/>
          </a:solidFill>
          <a:ln/>
        </p:spPr>
        <p:txBody>
          <a:bodyPr/>
          <a:lstStyle/>
          <a:p>
            <a:endParaRPr lang="fr-FR"/>
          </a:p>
        </p:txBody>
      </p:sp>
      <p:sp>
        <p:nvSpPr>
          <p:cNvPr id="9" name="Text 7"/>
          <p:cNvSpPr/>
          <p:nvPr/>
        </p:nvSpPr>
        <p:spPr>
          <a:xfrm>
            <a:off x="6519672" y="2295144"/>
            <a:ext cx="4517136" cy="292608"/>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Joris VERGULDEZOONE</a:t>
            </a:r>
            <a:endParaRPr lang="en-US" sz="1300" dirty="0"/>
          </a:p>
        </p:txBody>
      </p:sp>
      <p:sp>
        <p:nvSpPr>
          <p:cNvPr id="10" name="Text 8"/>
          <p:cNvSpPr/>
          <p:nvPr/>
        </p:nvSpPr>
        <p:spPr>
          <a:xfrm>
            <a:off x="6519672" y="2606040"/>
            <a:ext cx="4517136" cy="62179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Référent de formation, pour son accompagnement dans la définition de la problématique et la structuration du dossier.</a:t>
            </a:r>
            <a:endParaRPr lang="en-US" sz="1050" dirty="0"/>
          </a:p>
        </p:txBody>
      </p:sp>
      <p:sp>
        <p:nvSpPr>
          <p:cNvPr id="11" name="Shape 9"/>
          <p:cNvSpPr/>
          <p:nvPr/>
        </p:nvSpPr>
        <p:spPr>
          <a:xfrm>
            <a:off x="868680" y="3520440"/>
            <a:ext cx="5029200" cy="1188720"/>
          </a:xfrm>
          <a:prstGeom prst="roundRect">
            <a:avLst>
              <a:gd name="adj" fmla="val 4615"/>
            </a:avLst>
          </a:prstGeom>
          <a:solidFill>
            <a:srgbClr val="162A44"/>
          </a:solidFill>
          <a:ln/>
        </p:spPr>
        <p:txBody>
          <a:bodyPr/>
          <a:lstStyle/>
          <a:p>
            <a:endParaRPr lang="fr-FR"/>
          </a:p>
        </p:txBody>
      </p:sp>
      <p:sp>
        <p:nvSpPr>
          <p:cNvPr id="12" name="Text 10"/>
          <p:cNvSpPr/>
          <p:nvPr/>
        </p:nvSpPr>
        <p:spPr>
          <a:xfrm>
            <a:off x="1124712" y="3666744"/>
            <a:ext cx="4517136" cy="292608"/>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FDJ United</a:t>
            </a:r>
            <a:endParaRPr lang="en-US" sz="1300" dirty="0"/>
          </a:p>
        </p:txBody>
      </p:sp>
      <p:sp>
        <p:nvSpPr>
          <p:cNvPr id="13" name="Text 11"/>
          <p:cNvSpPr/>
          <p:nvPr/>
        </p:nvSpPr>
        <p:spPr>
          <a:xfrm>
            <a:off x="1124712" y="3977640"/>
            <a:ext cx="4517136" cy="62179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Structure d'accueil en alternance, pour l'environnement d'apprentissage offert.</a:t>
            </a:r>
            <a:endParaRPr lang="en-US" sz="1050" dirty="0"/>
          </a:p>
        </p:txBody>
      </p:sp>
      <p:sp>
        <p:nvSpPr>
          <p:cNvPr id="14" name="Shape 12"/>
          <p:cNvSpPr/>
          <p:nvPr/>
        </p:nvSpPr>
        <p:spPr>
          <a:xfrm>
            <a:off x="6263640" y="3520440"/>
            <a:ext cx="5029200" cy="1188720"/>
          </a:xfrm>
          <a:prstGeom prst="roundRect">
            <a:avLst>
              <a:gd name="adj" fmla="val 4615"/>
            </a:avLst>
          </a:prstGeom>
          <a:solidFill>
            <a:srgbClr val="162A44"/>
          </a:solidFill>
          <a:ln/>
        </p:spPr>
        <p:txBody>
          <a:bodyPr/>
          <a:lstStyle/>
          <a:p>
            <a:endParaRPr lang="fr-FR"/>
          </a:p>
        </p:txBody>
      </p:sp>
      <p:sp>
        <p:nvSpPr>
          <p:cNvPr id="15" name="Text 13"/>
          <p:cNvSpPr/>
          <p:nvPr/>
        </p:nvSpPr>
        <p:spPr>
          <a:xfrm>
            <a:off x="6519672" y="3666744"/>
            <a:ext cx="4517136" cy="292608"/>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Philippe AMERIO</a:t>
            </a:r>
            <a:endParaRPr lang="en-US" sz="1300" dirty="0"/>
          </a:p>
        </p:txBody>
      </p:sp>
      <p:sp>
        <p:nvSpPr>
          <p:cNvPr id="16" name="Text 14"/>
          <p:cNvSpPr/>
          <p:nvPr/>
        </p:nvSpPr>
        <p:spPr>
          <a:xfrm>
            <a:off x="6519672" y="3977640"/>
            <a:ext cx="4517136" cy="621792"/>
          </a:xfrm>
          <a:prstGeom prst="rect">
            <a:avLst/>
          </a:prstGeom>
          <a:noFill/>
          <a:ln/>
        </p:spPr>
        <p:txBody>
          <a:bodyPr wrap="square" lIns="0" tIns="0" rIns="0" bIns="0" rtlCol="0" anchor="ctr"/>
          <a:lstStyle/>
          <a:p>
            <a:pPr marL="0" indent="0">
              <a:lnSpc>
                <a:spcPts val="1400"/>
              </a:lnSpc>
              <a:buNone/>
            </a:pPr>
            <a:r>
              <a:rPr lang="en-US" sz="1050" dirty="0">
                <a:solidFill>
                  <a:srgbClr val="C4D3E0"/>
                </a:solidFill>
                <a:latin typeface="Calibri" pitchFamily="34" charset="0"/>
                <a:ea typeface="Calibri" pitchFamily="34" charset="-122"/>
                <a:cs typeface="Calibri" pitchFamily="34" charset="-120"/>
              </a:rPr>
              <a:t>Référent en entreprise, dont l'expérience opérationnelle en ingénierie DevOps a nourri la réflexion menée dans ce projet.</a:t>
            </a:r>
            <a:endParaRPr lang="en-US" sz="1050" dirty="0"/>
          </a:p>
        </p:txBody>
      </p:sp>
      <p:sp>
        <p:nvSpPr>
          <p:cNvPr id="17" name="Shape 15"/>
          <p:cNvSpPr/>
          <p:nvPr/>
        </p:nvSpPr>
        <p:spPr>
          <a:xfrm>
            <a:off x="868680" y="5120640"/>
            <a:ext cx="10469880" cy="868680"/>
          </a:xfrm>
          <a:prstGeom prst="roundRect">
            <a:avLst>
              <a:gd name="adj" fmla="val 6316"/>
            </a:avLst>
          </a:prstGeom>
          <a:solidFill>
            <a:srgbClr val="00A896"/>
          </a:solidFill>
          <a:ln/>
        </p:spPr>
        <p:txBody>
          <a:bodyPr/>
          <a:lstStyle/>
          <a:p>
            <a:endParaRPr lang="fr-FR"/>
          </a:p>
        </p:txBody>
      </p:sp>
      <p:sp>
        <p:nvSpPr>
          <p:cNvPr id="18" name="Text 16"/>
          <p:cNvSpPr/>
          <p:nvPr/>
        </p:nvSpPr>
        <p:spPr>
          <a:xfrm>
            <a:off x="868680" y="5120640"/>
            <a:ext cx="10469880" cy="868680"/>
          </a:xfrm>
          <a:prstGeom prst="rect">
            <a:avLst/>
          </a:prstGeom>
          <a:noFill/>
          <a:ln/>
        </p:spPr>
        <p:txBody>
          <a:bodyPr wrap="square" lIns="0" tIns="0" rIns="0" bIns="0" rtlCol="0" anchor="ctr"/>
          <a:lstStyle/>
          <a:p>
            <a:pPr marL="0" indent="0" algn="ctr">
              <a:buNone/>
            </a:pPr>
            <a:r>
              <a:rPr lang="en-US" sz="1500" b="1" dirty="0">
                <a:solidFill>
                  <a:srgbClr val="0B1729"/>
                </a:solidFill>
                <a:latin typeface="Calibri" pitchFamily="34" charset="0"/>
                <a:ea typeface="Calibri" pitchFamily="34" charset="-122"/>
                <a:cs typeface="Calibri" pitchFamily="34" charset="-120"/>
              </a:rPr>
              <a:t>Je vous propose de passer à la seconde partie de l'examen — je reste à votre disposition pour vos questions.</a:t>
            </a:r>
            <a:endParaRPr lang="en-US" sz="1500" dirty="0"/>
          </a:p>
        </p:txBody>
      </p:sp>
      <p:sp>
        <p:nvSpPr>
          <p:cNvPr id="19" name="Text 17"/>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5C6E85"/>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ANNEXE</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Couverture du référentiel de certification RNCP 40573</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58</a:t>
            </a:r>
            <a:endParaRPr lang="en-US" sz="900" dirty="0"/>
          </a:p>
        </p:txBody>
      </p:sp>
      <p:sp>
        <p:nvSpPr>
          <p:cNvPr id="6" name="Shape 4"/>
          <p:cNvSpPr/>
          <p:nvPr/>
        </p:nvSpPr>
        <p:spPr>
          <a:xfrm>
            <a:off x="548640" y="1444752"/>
            <a:ext cx="11064240" cy="1078992"/>
          </a:xfrm>
          <a:prstGeom prst="roundRect">
            <a:avLst>
              <a:gd name="adj" fmla="val 4237"/>
            </a:avLst>
          </a:prstGeom>
          <a:solidFill>
            <a:srgbClr val="EEF3F7"/>
          </a:solidFill>
          <a:ln/>
        </p:spPr>
        <p:txBody>
          <a:bodyPr/>
          <a:lstStyle/>
          <a:p>
            <a:endParaRPr lang="fr-FR"/>
          </a:p>
        </p:txBody>
      </p:sp>
      <p:sp>
        <p:nvSpPr>
          <p:cNvPr id="7" name="Text 5"/>
          <p:cNvSpPr/>
          <p:nvPr/>
        </p:nvSpPr>
        <p:spPr>
          <a:xfrm>
            <a:off x="804672" y="1572768"/>
            <a:ext cx="3200400" cy="54864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BC1 — Définir une stratégie de systèmes d'information</a:t>
            </a:r>
            <a:endParaRPr lang="en-US" sz="1200" dirty="0"/>
          </a:p>
        </p:txBody>
      </p:sp>
      <p:sp>
        <p:nvSpPr>
          <p:cNvPr id="8" name="Text 6"/>
          <p:cNvSpPr/>
          <p:nvPr/>
        </p:nvSpPr>
        <p:spPr>
          <a:xfrm>
            <a:off x="804672" y="2139696"/>
            <a:ext cx="3200400" cy="256032"/>
          </a:xfrm>
          <a:prstGeom prst="rect">
            <a:avLst/>
          </a:prstGeom>
          <a:noFill/>
          <a:ln/>
        </p:spPr>
        <p:txBody>
          <a:bodyPr wrap="square" lIns="0" tIns="0" rIns="0" bIns="0"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C1 à C9</a:t>
            </a:r>
            <a:endParaRPr lang="en-US" sz="1000" dirty="0"/>
          </a:p>
        </p:txBody>
      </p:sp>
      <p:sp>
        <p:nvSpPr>
          <p:cNvPr id="9" name="Text 7"/>
          <p:cNvSpPr/>
          <p:nvPr/>
        </p:nvSpPr>
        <p:spPr>
          <a:xfrm>
            <a:off x="4206240" y="1444752"/>
            <a:ext cx="7223760" cy="1078992"/>
          </a:xfrm>
          <a:prstGeom prst="rect">
            <a:avLst/>
          </a:prstGeom>
          <a:noFill/>
          <a:ln/>
        </p:spPr>
        <p:txBody>
          <a:bodyPr wrap="square" lIns="0" tIns="0" rIns="0" bIns="0" rtlCol="0" anchor="ctr"/>
          <a:lstStyle/>
          <a:p>
            <a:pPr marL="0" indent="0">
              <a:lnSpc>
                <a:spcPts val="1400"/>
              </a:lnSpc>
              <a:buNone/>
            </a:pPr>
            <a:r>
              <a:rPr lang="en-US" sz="1030" dirty="0">
                <a:solidFill>
                  <a:srgbClr val="4A5769"/>
                </a:solidFill>
                <a:latin typeface="Calibri" pitchFamily="34" charset="0"/>
                <a:ea typeface="Calibri" pitchFamily="34" charset="-122"/>
                <a:cs typeface="Calibri" pitchFamily="34" charset="-120"/>
              </a:rPr>
              <a:t>2.4 Veille (sources, grille, tri) · 2.4 Résultats et recommandations · 3.1 Cartographie SI 4 niveaux · 3.2 Diagnostic et analyse de risques · 5.1 Comparaison d'architectures et préconisations</a:t>
            </a:r>
            <a:endParaRPr lang="en-US" sz="1030" dirty="0"/>
          </a:p>
        </p:txBody>
      </p:sp>
      <p:sp>
        <p:nvSpPr>
          <p:cNvPr id="10" name="Shape 8"/>
          <p:cNvSpPr/>
          <p:nvPr/>
        </p:nvSpPr>
        <p:spPr>
          <a:xfrm>
            <a:off x="548640" y="2633472"/>
            <a:ext cx="11064240" cy="1078992"/>
          </a:xfrm>
          <a:prstGeom prst="roundRect">
            <a:avLst>
              <a:gd name="adj" fmla="val 4237"/>
            </a:avLst>
          </a:prstGeom>
          <a:solidFill>
            <a:srgbClr val="EEF3F7"/>
          </a:solidFill>
          <a:ln/>
        </p:spPr>
        <p:txBody>
          <a:bodyPr/>
          <a:lstStyle/>
          <a:p>
            <a:endParaRPr lang="fr-FR"/>
          </a:p>
        </p:txBody>
      </p:sp>
      <p:sp>
        <p:nvSpPr>
          <p:cNvPr id="11" name="Text 9"/>
          <p:cNvSpPr/>
          <p:nvPr/>
        </p:nvSpPr>
        <p:spPr>
          <a:xfrm>
            <a:off x="804672" y="2761488"/>
            <a:ext cx="3200400" cy="54864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BC2 — Piloter des projets informatiques</a:t>
            </a:r>
            <a:endParaRPr lang="en-US" sz="1200" dirty="0"/>
          </a:p>
        </p:txBody>
      </p:sp>
      <p:sp>
        <p:nvSpPr>
          <p:cNvPr id="12" name="Text 10"/>
          <p:cNvSpPr/>
          <p:nvPr/>
        </p:nvSpPr>
        <p:spPr>
          <a:xfrm>
            <a:off x="804672" y="3328416"/>
            <a:ext cx="3200400" cy="256032"/>
          </a:xfrm>
          <a:prstGeom prst="rect">
            <a:avLst/>
          </a:prstGeom>
          <a:noFill/>
          <a:ln/>
        </p:spPr>
        <p:txBody>
          <a:bodyPr wrap="square" lIns="0" tIns="0" rIns="0" bIns="0"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C10 à C20</a:t>
            </a:r>
            <a:endParaRPr lang="en-US" sz="1000" dirty="0"/>
          </a:p>
        </p:txBody>
      </p:sp>
      <p:sp>
        <p:nvSpPr>
          <p:cNvPr id="13" name="Text 11"/>
          <p:cNvSpPr/>
          <p:nvPr/>
        </p:nvSpPr>
        <p:spPr>
          <a:xfrm>
            <a:off x="4206240" y="2633472"/>
            <a:ext cx="7223760" cy="1078992"/>
          </a:xfrm>
          <a:prstGeom prst="rect">
            <a:avLst/>
          </a:prstGeom>
          <a:noFill/>
          <a:ln/>
        </p:spPr>
        <p:txBody>
          <a:bodyPr wrap="square" lIns="0" tIns="0" rIns="0" bIns="0" rtlCol="0" anchor="ctr"/>
          <a:lstStyle/>
          <a:p>
            <a:pPr marL="0" indent="0">
              <a:lnSpc>
                <a:spcPts val="1400"/>
              </a:lnSpc>
              <a:buNone/>
            </a:pPr>
            <a:r>
              <a:rPr lang="en-US" sz="1030" dirty="0">
                <a:solidFill>
                  <a:srgbClr val="4A5769"/>
                </a:solidFill>
                <a:latin typeface="Calibri" pitchFamily="34" charset="0"/>
                <a:ea typeface="Calibri" pitchFamily="34" charset="-122"/>
                <a:cs typeface="Calibri" pitchFamily="34" charset="-120"/>
              </a:rPr>
              <a:t>4.1-4.4 Cahier des charges fonctionnel et technique · 6.1 WBS, PERT, Gantt, budget à 3 niveaux · 6.2 KPI et matrice des risques · 6.3 RACI, plan de communication, engagement · 6.4 Management et capitalisation</a:t>
            </a:r>
            <a:endParaRPr lang="en-US" sz="1030" dirty="0"/>
          </a:p>
        </p:txBody>
      </p:sp>
      <p:sp>
        <p:nvSpPr>
          <p:cNvPr id="14" name="Shape 12"/>
          <p:cNvSpPr/>
          <p:nvPr/>
        </p:nvSpPr>
        <p:spPr>
          <a:xfrm>
            <a:off x="548640" y="3822192"/>
            <a:ext cx="11064240" cy="1078992"/>
          </a:xfrm>
          <a:prstGeom prst="roundRect">
            <a:avLst>
              <a:gd name="adj" fmla="val 4237"/>
            </a:avLst>
          </a:prstGeom>
          <a:solidFill>
            <a:srgbClr val="EEF3F7"/>
          </a:solidFill>
          <a:ln/>
        </p:spPr>
        <p:txBody>
          <a:bodyPr/>
          <a:lstStyle/>
          <a:p>
            <a:endParaRPr lang="fr-FR"/>
          </a:p>
        </p:txBody>
      </p:sp>
      <p:sp>
        <p:nvSpPr>
          <p:cNvPr id="15" name="Text 13"/>
          <p:cNvSpPr/>
          <p:nvPr/>
        </p:nvSpPr>
        <p:spPr>
          <a:xfrm>
            <a:off x="804672" y="3950208"/>
            <a:ext cx="3200400" cy="548640"/>
          </a:xfrm>
          <a:prstGeom prst="rect">
            <a:avLst/>
          </a:prstGeom>
          <a:noFill/>
          <a:ln/>
        </p:spPr>
        <p:txBody>
          <a:bodyPr wrap="square" lIns="0" tIns="0" rIns="0" bIns="0" rtlCol="0" anchor="ctr"/>
          <a:lstStyle/>
          <a:p>
            <a:pPr marL="0" indent="0">
              <a:buNone/>
            </a:pPr>
            <a:r>
              <a:rPr lang="en-US" sz="1200" b="1" dirty="0">
                <a:solidFill>
                  <a:srgbClr val="12263F"/>
                </a:solidFill>
                <a:latin typeface="Calibri" pitchFamily="34" charset="0"/>
                <a:ea typeface="Calibri" pitchFamily="34" charset="-122"/>
                <a:cs typeface="Calibri" pitchFamily="34" charset="-120"/>
              </a:rPr>
              <a:t>BC3 — Concevoir et développer une application</a:t>
            </a:r>
            <a:endParaRPr lang="en-US" sz="1200" dirty="0"/>
          </a:p>
        </p:txBody>
      </p:sp>
      <p:sp>
        <p:nvSpPr>
          <p:cNvPr id="16" name="Text 14"/>
          <p:cNvSpPr/>
          <p:nvPr/>
        </p:nvSpPr>
        <p:spPr>
          <a:xfrm>
            <a:off x="804672" y="4517136"/>
            <a:ext cx="3200400" cy="256032"/>
          </a:xfrm>
          <a:prstGeom prst="rect">
            <a:avLst/>
          </a:prstGeom>
          <a:noFill/>
          <a:ln/>
        </p:spPr>
        <p:txBody>
          <a:bodyPr wrap="square" lIns="0" tIns="0" rIns="0" bIns="0"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C21 à C27</a:t>
            </a:r>
            <a:endParaRPr lang="en-US" sz="1000" dirty="0"/>
          </a:p>
        </p:txBody>
      </p:sp>
      <p:sp>
        <p:nvSpPr>
          <p:cNvPr id="17" name="Text 15"/>
          <p:cNvSpPr/>
          <p:nvPr/>
        </p:nvSpPr>
        <p:spPr>
          <a:xfrm>
            <a:off x="4206240" y="3822192"/>
            <a:ext cx="7223760" cy="1078992"/>
          </a:xfrm>
          <a:prstGeom prst="rect">
            <a:avLst/>
          </a:prstGeom>
          <a:noFill/>
          <a:ln/>
        </p:spPr>
        <p:txBody>
          <a:bodyPr wrap="square" lIns="0" tIns="0" rIns="0" bIns="0" rtlCol="0" anchor="ctr"/>
          <a:lstStyle/>
          <a:p>
            <a:pPr marL="0" indent="0">
              <a:lnSpc>
                <a:spcPts val="1400"/>
              </a:lnSpc>
              <a:buNone/>
            </a:pPr>
            <a:r>
              <a:rPr lang="en-US" sz="1030" dirty="0">
                <a:solidFill>
                  <a:srgbClr val="4A5769"/>
                </a:solidFill>
                <a:latin typeface="Calibri" pitchFamily="34" charset="0"/>
                <a:ea typeface="Calibri" pitchFamily="34" charset="-122"/>
                <a:cs typeface="Calibri" pitchFamily="34" charset="-120"/>
              </a:rPr>
              <a:t>5.0 Architecture applicative, MCD/MLD, diagramme de classes, patterns · 4.1 Cas d'utilisation · 5.2 Pratiques de sécurité (OWASP, Argon2id) · 218 tests Jest · 5.3 Monitoring et KPI</a:t>
            </a:r>
            <a:endParaRPr lang="en-US" sz="1030" dirty="0"/>
          </a:p>
        </p:txBody>
      </p:sp>
      <p:sp>
        <p:nvSpPr>
          <p:cNvPr id="18" name="Shape 16"/>
          <p:cNvSpPr/>
          <p:nvPr/>
        </p:nvSpPr>
        <p:spPr>
          <a:xfrm>
            <a:off x="548640" y="5010912"/>
            <a:ext cx="11064240" cy="1078992"/>
          </a:xfrm>
          <a:prstGeom prst="roundRect">
            <a:avLst>
              <a:gd name="adj" fmla="val 4237"/>
            </a:avLst>
          </a:prstGeom>
          <a:solidFill>
            <a:srgbClr val="12263F"/>
          </a:solidFill>
          <a:ln/>
        </p:spPr>
        <p:txBody>
          <a:bodyPr/>
          <a:lstStyle/>
          <a:p>
            <a:endParaRPr lang="fr-FR"/>
          </a:p>
        </p:txBody>
      </p:sp>
      <p:sp>
        <p:nvSpPr>
          <p:cNvPr id="19" name="Text 17"/>
          <p:cNvSpPr/>
          <p:nvPr/>
        </p:nvSpPr>
        <p:spPr>
          <a:xfrm>
            <a:off x="804672" y="5138928"/>
            <a:ext cx="3200400" cy="54864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BC4C — Concevoir et déployer des infrastructures DevOps automatisées</a:t>
            </a:r>
            <a:endParaRPr lang="en-US" sz="1200" dirty="0"/>
          </a:p>
        </p:txBody>
      </p:sp>
      <p:sp>
        <p:nvSpPr>
          <p:cNvPr id="20" name="Text 18"/>
          <p:cNvSpPr/>
          <p:nvPr/>
        </p:nvSpPr>
        <p:spPr>
          <a:xfrm>
            <a:off x="804672" y="5705856"/>
            <a:ext cx="3200400" cy="256032"/>
          </a:xfrm>
          <a:prstGeom prst="rect">
            <a:avLst/>
          </a:prstGeom>
          <a:noFill/>
          <a:ln/>
        </p:spPr>
        <p:txBody>
          <a:bodyPr wrap="square" lIns="0" tIns="0" rIns="0" bIns="0" rtlCol="0" anchor="ctr"/>
          <a:lstStyle/>
          <a:p>
            <a:pPr marL="0" indent="0">
              <a:buNone/>
            </a:pPr>
            <a:r>
              <a:rPr lang="en-US" sz="1000" b="1" dirty="0">
                <a:solidFill>
                  <a:srgbClr val="E08A3C"/>
                </a:solidFill>
                <a:latin typeface="Calibri" pitchFamily="34" charset="0"/>
                <a:ea typeface="Calibri" pitchFamily="34" charset="-122"/>
                <a:cs typeface="Calibri" pitchFamily="34" charset="-120"/>
              </a:rPr>
              <a:t>C28 à C31</a:t>
            </a:r>
            <a:endParaRPr lang="en-US" sz="1000" dirty="0"/>
          </a:p>
        </p:txBody>
      </p:sp>
      <p:sp>
        <p:nvSpPr>
          <p:cNvPr id="21" name="Text 19"/>
          <p:cNvSpPr/>
          <p:nvPr/>
        </p:nvSpPr>
        <p:spPr>
          <a:xfrm>
            <a:off x="4206240" y="5010912"/>
            <a:ext cx="7223760" cy="1078992"/>
          </a:xfrm>
          <a:prstGeom prst="rect">
            <a:avLst/>
          </a:prstGeom>
          <a:noFill/>
          <a:ln/>
        </p:spPr>
        <p:txBody>
          <a:bodyPr wrap="square" lIns="0" tIns="0" rIns="0" bIns="0" rtlCol="0" anchor="ctr"/>
          <a:lstStyle/>
          <a:p>
            <a:pPr marL="0" indent="0">
              <a:lnSpc>
                <a:spcPts val="1400"/>
              </a:lnSpc>
              <a:buNone/>
            </a:pPr>
            <a:r>
              <a:rPr lang="en-US" sz="1030" dirty="0">
                <a:solidFill>
                  <a:srgbClr val="C4D3E0"/>
                </a:solidFill>
                <a:latin typeface="Calibri" pitchFamily="34" charset="0"/>
                <a:ea typeface="Calibri" pitchFamily="34" charset="-122"/>
                <a:cs typeface="Calibri" pitchFamily="34" charset="-120"/>
              </a:rPr>
              <a:t>5.1 Analyse de l'existant et stratégie DevOps (C28) · 5.2 Pipelines CI/CD et GitOps (C29) · 5.2 Orchestration conteneurisée Swarm (C30) · 5.3 Monitoring, observabilité et volet énergétique (C31)</a:t>
            </a:r>
            <a:endParaRPr lang="en-US" sz="1030" dirty="0"/>
          </a:p>
        </p:txBody>
      </p:sp>
      <p:sp>
        <p:nvSpPr>
          <p:cNvPr id="22" name="Text 20"/>
          <p:cNvSpPr/>
          <p:nvPr/>
        </p:nvSpPr>
        <p:spPr>
          <a:xfrm>
            <a:off x="548640" y="6263640"/>
            <a:ext cx="11064240" cy="274320"/>
          </a:xfrm>
          <a:prstGeom prst="rect">
            <a:avLst/>
          </a:prstGeom>
          <a:noFill/>
          <a:ln/>
        </p:spPr>
        <p:txBody>
          <a:bodyPr wrap="square" lIns="0" tIns="0" rIns="0" bIns="0" rtlCol="0" anchor="ctr"/>
          <a:lstStyle/>
          <a:p>
            <a:pPr marL="0" indent="0">
              <a:buNone/>
            </a:pPr>
            <a:r>
              <a:rPr lang="en-US" sz="1050" i="1" dirty="0">
                <a:solidFill>
                  <a:srgbClr val="00A896"/>
                </a:solidFill>
                <a:latin typeface="Calibri" pitchFamily="34" charset="0"/>
                <a:ea typeface="Calibri" pitchFamily="34" charset="-122"/>
                <a:cs typeface="Calibri" pitchFamily="34" charset="-120"/>
              </a:rPr>
              <a:t>Modalité : mise en situation professionnelle reconstituée — production écrite individuelle et restitution orale individuelle.</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ANNEXE — FLUX CRITIQUES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13 — Séquence : téléversement d'un média</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séquence UML : lignes de vie verticales, messages horizontaux numérotés, blocs alt / opt pour les cas d'erreur</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Prouver que l'empreinte mémoire du processus reste bornée quelle que soit la taille du fichier — argument central de l'éco-conception applicative.</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participants : Utilisateur, LibraryController, MediaService, transformateur de comptage, S3, PostgreSQL</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traitement du corps de requête en flux binaire, jamais chargé intégralement en mémoire</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comptage d'octets à la volée et la coupure au seuil (8 Mo pour une image, 100 Mo pour une vidéo)</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L'envoi multipart par tranches de 5 Mo vers le stockage objet</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bloc alt couvrant le dépassement de seuil : abandon de l'envoi puis nettoyage des fragments</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L'enregistrement final en base avec publie_le à NULL (privé par défaut)</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PlantUML (syntaxe sequence) ou Mermaid (sequenceDiagram)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BC3 · C22 — schématisation des processus métier ; BC3 · C25 — pratiques de développement sécurisées</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ANNEXE — FLUX CRITIQUES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14 — Séquence : publication et dépublication</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séquence UML avec bloc alt sur le contrôle d'appartenance et appel asynchrone d'invalidation du cache</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Montrer que le partage repose sur un basculement d'état simple, atomique et réversible, jamais sur une duplication de données.</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participants : Membre, LibraryController, MediaService, PostgreSQL, CloudFront</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mise à jour atomique et idempotente datant le champ de publication (republier ne réécrit pas la date d'origine)</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clause d'appartenance bornant l'opération aux seuls médias du membre</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Un bloc alt restituant les éléments non traités avec un code d'erreur explicite</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L'invalidation du cache de diffusion déclenchée après la mise à jour</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cas symétrique de la suppression : effacement de l'objet, retrait en base, puis purge du cache</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PlantUML (syntaxe sequence) ou Mermaid (sequenceDiagram)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BC3 · C22 — schématisation des processus métier avec contraintes et existant</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37744"/>
          </a:xfrm>
          <a:prstGeom prst="rect">
            <a:avLst/>
          </a:prstGeom>
          <a:noFill/>
          <a:ln/>
        </p:spPr>
        <p:txBody>
          <a:bodyPr wrap="square" lIns="0" tIns="0" rIns="0" bIns="0" rtlCol="0" anchor="ctr"/>
          <a:lstStyle/>
          <a:p>
            <a:pPr marL="0" indent="0">
              <a:buNone/>
            </a:pPr>
            <a:r>
              <a:rPr lang="en-US" sz="1000" b="1" kern="0" spc="160" dirty="0">
                <a:solidFill>
                  <a:srgbClr val="00A896"/>
                </a:solidFill>
                <a:latin typeface="Calibri" pitchFamily="34" charset="0"/>
                <a:ea typeface="Calibri" pitchFamily="34" charset="-122"/>
                <a:cs typeface="Calibri" pitchFamily="34" charset="-120"/>
              </a:rPr>
              <a:t>ANNEXE — FLUX CRITIQUES</a:t>
            </a:r>
            <a:endParaRPr lang="en-US" sz="1000" dirty="0"/>
          </a:p>
        </p:txBody>
      </p:sp>
      <p:sp>
        <p:nvSpPr>
          <p:cNvPr id="3" name="Text 1"/>
          <p:cNvSpPr/>
          <p:nvPr/>
        </p:nvSpPr>
        <p:spPr>
          <a:xfrm>
            <a:off x="548640" y="603504"/>
            <a:ext cx="11091672" cy="457200"/>
          </a:xfrm>
          <a:prstGeom prst="rect">
            <a:avLst/>
          </a:prstGeom>
          <a:noFill/>
          <a:ln/>
        </p:spPr>
        <p:txBody>
          <a:bodyPr wrap="square" lIns="0" tIns="0" rIns="0" bIns="0" rtlCol="0" anchor="ctr"/>
          <a:lstStyle/>
          <a:p>
            <a:pPr marL="0" indent="0">
              <a:buNone/>
            </a:pPr>
            <a:r>
              <a:rPr lang="en-US" sz="2500" b="1" dirty="0">
                <a:solidFill>
                  <a:srgbClr val="12263F"/>
                </a:solidFill>
                <a:latin typeface="Cambria" pitchFamily="34" charset="0"/>
                <a:ea typeface="Cambria" pitchFamily="34" charset="-122"/>
                <a:cs typeface="Cambria" pitchFamily="34" charset="-120"/>
              </a:rPr>
              <a:t>Schéma 15 — Séquence : session sécurisée</a:t>
            </a:r>
            <a:endParaRPr lang="en-US" sz="2500" dirty="0"/>
          </a:p>
        </p:txBody>
      </p:sp>
      <p:sp>
        <p:nvSpPr>
          <p:cNvPr id="4" name="Shape 2"/>
          <p:cNvSpPr/>
          <p:nvPr/>
        </p:nvSpPr>
        <p:spPr>
          <a:xfrm>
            <a:off x="548640" y="1207008"/>
            <a:ext cx="11091672" cy="1417320"/>
          </a:xfrm>
          <a:prstGeom prst="roundRect">
            <a:avLst>
              <a:gd name="adj" fmla="val 3226"/>
            </a:avLst>
          </a:prstGeom>
          <a:solidFill>
            <a:srgbClr val="F7FAFC"/>
          </a:solidFill>
          <a:ln w="19050">
            <a:solidFill>
              <a:srgbClr val="00A896"/>
            </a:solidFill>
            <a:prstDash val="dash"/>
          </a:ln>
        </p:spPr>
        <p:txBody>
          <a:bodyPr/>
          <a:lstStyle/>
          <a:p>
            <a:endParaRPr lang="fr-FR"/>
          </a:p>
        </p:txBody>
      </p:sp>
      <p:sp>
        <p:nvSpPr>
          <p:cNvPr id="5" name="Text 3"/>
          <p:cNvSpPr/>
          <p:nvPr/>
        </p:nvSpPr>
        <p:spPr>
          <a:xfrm>
            <a:off x="841248" y="1316736"/>
            <a:ext cx="4572000" cy="237744"/>
          </a:xfrm>
          <a:prstGeom prst="rect">
            <a:avLst/>
          </a:prstGeom>
          <a:noFill/>
          <a:ln/>
        </p:spPr>
        <p:txBody>
          <a:bodyPr wrap="square" lIns="0" tIns="0" rIns="0" bIns="0" rtlCol="0" anchor="ctr"/>
          <a:lstStyle/>
          <a:p>
            <a:pPr marL="0" indent="0">
              <a:buNone/>
            </a:pPr>
            <a:r>
              <a:rPr lang="en-US" sz="900" b="1" kern="0" spc="140" dirty="0">
                <a:solidFill>
                  <a:srgbClr val="00A896"/>
                </a:solidFill>
                <a:latin typeface="Calibri" pitchFamily="34" charset="0"/>
                <a:ea typeface="Calibri" pitchFamily="34" charset="-122"/>
                <a:cs typeface="Calibri" pitchFamily="34" charset="-120"/>
              </a:rPr>
              <a:t>EMPLACEMENT DU SCHÉMA</a:t>
            </a:r>
            <a:endParaRPr lang="en-US" sz="900" dirty="0"/>
          </a:p>
        </p:txBody>
      </p:sp>
      <p:sp>
        <p:nvSpPr>
          <p:cNvPr id="6" name="Text 4"/>
          <p:cNvSpPr/>
          <p:nvPr/>
        </p:nvSpPr>
        <p:spPr>
          <a:xfrm>
            <a:off x="841248" y="1554480"/>
            <a:ext cx="10515600" cy="36576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Diagramme de séquence UML avec blocs alt imbriqués, verrou distribué matérialisé et scénario d'attaque explicitement représenté</a:t>
            </a:r>
            <a:endParaRPr lang="en-US" sz="1400" dirty="0"/>
          </a:p>
        </p:txBody>
      </p:sp>
      <p:sp>
        <p:nvSpPr>
          <p:cNvPr id="7" name="Text 5"/>
          <p:cNvSpPr/>
          <p:nvPr/>
        </p:nvSpPr>
        <p:spPr>
          <a:xfrm>
            <a:off x="841248" y="1938528"/>
            <a:ext cx="10515600" cy="603504"/>
          </a:xfrm>
          <a:prstGeom prst="rect">
            <a:avLst/>
          </a:prstGeom>
          <a:noFill/>
          <a:ln/>
        </p:spPr>
        <p:txBody>
          <a:bodyPr wrap="square" lIns="0" tIns="0" rIns="0" bIns="0" rtlCol="0" anchor="ctr"/>
          <a:lstStyle/>
          <a:p>
            <a:pPr marL="0" indent="0">
              <a:lnSpc>
                <a:spcPts val="1600"/>
              </a:lnSpc>
              <a:buNone/>
            </a:pPr>
            <a:r>
              <a:rPr lang="en-US" sz="1150" dirty="0">
                <a:solidFill>
                  <a:srgbClr val="4A5769"/>
                </a:solidFill>
                <a:latin typeface="Calibri" pitchFamily="34" charset="0"/>
                <a:ea typeface="Calibri" pitchFamily="34" charset="-122"/>
                <a:cs typeface="Calibri" pitchFamily="34" charset="-120"/>
              </a:rPr>
              <a:t>Matérialiser la posture de défense en profondeur : c'est le schéma qui rend visible la détection de rejeu, mécanisme le plus différenciant du projet.</a:t>
            </a:r>
            <a:endParaRPr lang="en-US" sz="1150" dirty="0"/>
          </a:p>
        </p:txBody>
      </p:sp>
      <p:sp>
        <p:nvSpPr>
          <p:cNvPr id="8" name="Text 6"/>
          <p:cNvSpPr/>
          <p:nvPr/>
        </p:nvSpPr>
        <p:spPr>
          <a:xfrm>
            <a:off x="548640" y="2743200"/>
            <a:ext cx="11091672" cy="292608"/>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Éléments à faire figurer</a:t>
            </a:r>
            <a:endParaRPr lang="en-US" sz="1400" dirty="0"/>
          </a:p>
        </p:txBody>
      </p:sp>
      <p:sp>
        <p:nvSpPr>
          <p:cNvPr id="9" name="Shape 7"/>
          <p:cNvSpPr/>
          <p:nvPr/>
        </p:nvSpPr>
        <p:spPr>
          <a:xfrm>
            <a:off x="548640" y="3108960"/>
            <a:ext cx="3520440" cy="1188720"/>
          </a:xfrm>
          <a:prstGeom prst="roundRect">
            <a:avLst>
              <a:gd name="adj" fmla="val 3846"/>
            </a:avLst>
          </a:prstGeom>
          <a:solidFill>
            <a:srgbClr val="EEF3F7"/>
          </a:solidFill>
          <a:ln/>
        </p:spPr>
        <p:txBody>
          <a:bodyPr/>
          <a:lstStyle/>
          <a:p>
            <a:endParaRPr lang="fr-FR"/>
          </a:p>
        </p:txBody>
      </p:sp>
      <p:sp>
        <p:nvSpPr>
          <p:cNvPr id="10" name="Shape 8"/>
          <p:cNvSpPr/>
          <p:nvPr/>
        </p:nvSpPr>
        <p:spPr>
          <a:xfrm>
            <a:off x="749808" y="3291840"/>
            <a:ext cx="310896" cy="310896"/>
          </a:xfrm>
          <a:prstGeom prst="ellipse">
            <a:avLst/>
          </a:prstGeom>
          <a:solidFill>
            <a:srgbClr val="00A896"/>
          </a:solidFill>
          <a:ln/>
        </p:spPr>
        <p:txBody>
          <a:bodyPr/>
          <a:lstStyle/>
          <a:p>
            <a:endParaRPr lang="fr-FR"/>
          </a:p>
        </p:txBody>
      </p:sp>
      <p:sp>
        <p:nvSpPr>
          <p:cNvPr id="11" name="Text 9"/>
          <p:cNvSpPr/>
          <p:nvPr/>
        </p:nvSpPr>
        <p:spPr>
          <a:xfrm>
            <a:off x="749808"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1170432"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participants : Utilisateur, AuthController, PostgreSQL, AuthService, Redis</a:t>
            </a:r>
            <a:endParaRPr lang="en-US" sz="1000" dirty="0"/>
          </a:p>
        </p:txBody>
      </p:sp>
      <p:sp>
        <p:nvSpPr>
          <p:cNvPr id="13" name="Shape 11"/>
          <p:cNvSpPr/>
          <p:nvPr/>
        </p:nvSpPr>
        <p:spPr>
          <a:xfrm>
            <a:off x="4334256" y="3108960"/>
            <a:ext cx="3520440" cy="1188720"/>
          </a:xfrm>
          <a:prstGeom prst="roundRect">
            <a:avLst>
              <a:gd name="adj" fmla="val 3846"/>
            </a:avLst>
          </a:prstGeom>
          <a:solidFill>
            <a:srgbClr val="EEF3F7"/>
          </a:solidFill>
          <a:ln/>
        </p:spPr>
        <p:txBody>
          <a:bodyPr/>
          <a:lstStyle/>
          <a:p>
            <a:endParaRPr lang="fr-FR"/>
          </a:p>
        </p:txBody>
      </p:sp>
      <p:sp>
        <p:nvSpPr>
          <p:cNvPr id="14" name="Shape 12"/>
          <p:cNvSpPr/>
          <p:nvPr/>
        </p:nvSpPr>
        <p:spPr>
          <a:xfrm>
            <a:off x="4535424" y="3291840"/>
            <a:ext cx="310896" cy="310896"/>
          </a:xfrm>
          <a:prstGeom prst="ellipse">
            <a:avLst/>
          </a:prstGeom>
          <a:solidFill>
            <a:srgbClr val="00A896"/>
          </a:solidFill>
          <a:ln/>
        </p:spPr>
        <p:txBody>
          <a:bodyPr/>
          <a:lstStyle/>
          <a:p>
            <a:endParaRPr lang="fr-FR"/>
          </a:p>
        </p:txBody>
      </p:sp>
      <p:sp>
        <p:nvSpPr>
          <p:cNvPr id="15" name="Text 13"/>
          <p:cNvSpPr/>
          <p:nvPr/>
        </p:nvSpPr>
        <p:spPr>
          <a:xfrm>
            <a:off x="4535424"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p:nvPr/>
        </p:nvSpPr>
        <p:spPr>
          <a:xfrm>
            <a:off x="4956048"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vérification Argon2id du mot de passe, avec le bloc alt sur les identifiants invalides (401)</a:t>
            </a:r>
            <a:endParaRPr lang="en-US" sz="1000" dirty="0"/>
          </a:p>
        </p:txBody>
      </p:sp>
      <p:sp>
        <p:nvSpPr>
          <p:cNvPr id="17" name="Shape 15"/>
          <p:cNvSpPr/>
          <p:nvPr/>
        </p:nvSpPr>
        <p:spPr>
          <a:xfrm>
            <a:off x="8119872" y="3108960"/>
            <a:ext cx="3520440" cy="1188720"/>
          </a:xfrm>
          <a:prstGeom prst="roundRect">
            <a:avLst>
              <a:gd name="adj" fmla="val 3846"/>
            </a:avLst>
          </a:prstGeom>
          <a:solidFill>
            <a:srgbClr val="EEF3F7"/>
          </a:solidFill>
          <a:ln/>
        </p:spPr>
        <p:txBody>
          <a:bodyPr/>
          <a:lstStyle/>
          <a:p>
            <a:endParaRPr lang="fr-FR"/>
          </a:p>
        </p:txBody>
      </p:sp>
      <p:sp>
        <p:nvSpPr>
          <p:cNvPr id="18" name="Shape 16"/>
          <p:cNvSpPr/>
          <p:nvPr/>
        </p:nvSpPr>
        <p:spPr>
          <a:xfrm>
            <a:off x="8321040" y="3291840"/>
            <a:ext cx="310896" cy="310896"/>
          </a:xfrm>
          <a:prstGeom prst="ellipse">
            <a:avLst/>
          </a:prstGeom>
          <a:solidFill>
            <a:srgbClr val="00A896"/>
          </a:solidFill>
          <a:ln/>
        </p:spPr>
        <p:txBody>
          <a:bodyPr/>
          <a:lstStyle/>
          <a:p>
            <a:endParaRPr lang="fr-FR"/>
          </a:p>
        </p:txBody>
      </p:sp>
      <p:sp>
        <p:nvSpPr>
          <p:cNvPr id="19" name="Text 17"/>
          <p:cNvSpPr/>
          <p:nvPr/>
        </p:nvSpPr>
        <p:spPr>
          <a:xfrm>
            <a:off x="8321040" y="32918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741664" y="32369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création de la session opaque dans Redis et la pose du cookie sid.nonce (HttpOnly, SameSite, Secure)</a:t>
            </a:r>
            <a:endParaRPr lang="en-US" sz="1000" dirty="0"/>
          </a:p>
        </p:txBody>
      </p:sp>
      <p:sp>
        <p:nvSpPr>
          <p:cNvPr id="21" name="Shape 19"/>
          <p:cNvSpPr/>
          <p:nvPr/>
        </p:nvSpPr>
        <p:spPr>
          <a:xfrm>
            <a:off x="548640" y="4480560"/>
            <a:ext cx="3520440" cy="1188720"/>
          </a:xfrm>
          <a:prstGeom prst="roundRect">
            <a:avLst>
              <a:gd name="adj" fmla="val 3846"/>
            </a:avLst>
          </a:prstGeom>
          <a:solidFill>
            <a:srgbClr val="EEF3F7"/>
          </a:solidFill>
          <a:ln/>
        </p:spPr>
        <p:txBody>
          <a:bodyPr/>
          <a:lstStyle/>
          <a:p>
            <a:endParaRPr lang="fr-FR"/>
          </a:p>
        </p:txBody>
      </p:sp>
      <p:sp>
        <p:nvSpPr>
          <p:cNvPr id="22" name="Shape 20"/>
          <p:cNvSpPr/>
          <p:nvPr/>
        </p:nvSpPr>
        <p:spPr>
          <a:xfrm>
            <a:off x="749808" y="4663440"/>
            <a:ext cx="310896" cy="310896"/>
          </a:xfrm>
          <a:prstGeom prst="ellipse">
            <a:avLst/>
          </a:prstGeom>
          <a:solidFill>
            <a:srgbClr val="00A896"/>
          </a:solidFill>
          <a:ln/>
        </p:spPr>
        <p:txBody>
          <a:bodyPr/>
          <a:lstStyle/>
          <a:p>
            <a:endParaRPr lang="fr-FR"/>
          </a:p>
        </p:txBody>
      </p:sp>
      <p:sp>
        <p:nvSpPr>
          <p:cNvPr id="23" name="Text 21"/>
          <p:cNvSpPr/>
          <p:nvPr/>
        </p:nvSpPr>
        <p:spPr>
          <a:xfrm>
            <a:off x="749808"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p:nvPr/>
        </p:nvSpPr>
        <p:spPr>
          <a:xfrm>
            <a:off x="1170432"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Les trois fenêtres de validité annotées : glissante 30 min, absolue 8 h, jeton d'accès 5 min</a:t>
            </a:r>
            <a:endParaRPr lang="en-US" sz="1000" dirty="0"/>
          </a:p>
        </p:txBody>
      </p:sp>
      <p:sp>
        <p:nvSpPr>
          <p:cNvPr id="25" name="Shape 23"/>
          <p:cNvSpPr/>
          <p:nvPr/>
        </p:nvSpPr>
        <p:spPr>
          <a:xfrm>
            <a:off x="4334256" y="4480560"/>
            <a:ext cx="3520440" cy="1188720"/>
          </a:xfrm>
          <a:prstGeom prst="roundRect">
            <a:avLst>
              <a:gd name="adj" fmla="val 3846"/>
            </a:avLst>
          </a:prstGeom>
          <a:solidFill>
            <a:srgbClr val="EEF3F7"/>
          </a:solidFill>
          <a:ln/>
        </p:spPr>
        <p:txBody>
          <a:bodyPr/>
          <a:lstStyle/>
          <a:p>
            <a:endParaRPr lang="fr-FR"/>
          </a:p>
        </p:txBody>
      </p:sp>
      <p:sp>
        <p:nvSpPr>
          <p:cNvPr id="26" name="Shape 24"/>
          <p:cNvSpPr/>
          <p:nvPr/>
        </p:nvSpPr>
        <p:spPr>
          <a:xfrm>
            <a:off x="4535424" y="4663440"/>
            <a:ext cx="310896" cy="310896"/>
          </a:xfrm>
          <a:prstGeom prst="ellipse">
            <a:avLst/>
          </a:prstGeom>
          <a:solidFill>
            <a:srgbClr val="00A896"/>
          </a:solidFill>
          <a:ln/>
        </p:spPr>
        <p:txBody>
          <a:bodyPr/>
          <a:lstStyle/>
          <a:p>
            <a:endParaRPr lang="fr-FR"/>
          </a:p>
        </p:txBody>
      </p:sp>
      <p:sp>
        <p:nvSpPr>
          <p:cNvPr id="27" name="Text 25"/>
          <p:cNvSpPr/>
          <p:nvPr/>
        </p:nvSpPr>
        <p:spPr>
          <a:xfrm>
            <a:off x="4535424"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4956048"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La rotation du jeton protégée par un verrou distribué, pour éviter les rotations concurrentes</a:t>
            </a:r>
            <a:endParaRPr lang="en-US" sz="1000" dirty="0"/>
          </a:p>
        </p:txBody>
      </p:sp>
      <p:sp>
        <p:nvSpPr>
          <p:cNvPr id="29" name="Shape 27"/>
          <p:cNvSpPr/>
          <p:nvPr/>
        </p:nvSpPr>
        <p:spPr>
          <a:xfrm>
            <a:off x="8119872" y="4480560"/>
            <a:ext cx="3520440" cy="1188720"/>
          </a:xfrm>
          <a:prstGeom prst="roundRect">
            <a:avLst>
              <a:gd name="adj" fmla="val 3846"/>
            </a:avLst>
          </a:prstGeom>
          <a:solidFill>
            <a:srgbClr val="EEF3F7"/>
          </a:solidFill>
          <a:ln/>
        </p:spPr>
        <p:txBody>
          <a:bodyPr/>
          <a:lstStyle/>
          <a:p>
            <a:endParaRPr lang="fr-FR"/>
          </a:p>
        </p:txBody>
      </p:sp>
      <p:sp>
        <p:nvSpPr>
          <p:cNvPr id="30" name="Shape 28"/>
          <p:cNvSpPr/>
          <p:nvPr/>
        </p:nvSpPr>
        <p:spPr>
          <a:xfrm>
            <a:off x="8321040" y="4663440"/>
            <a:ext cx="310896" cy="310896"/>
          </a:xfrm>
          <a:prstGeom prst="ellipse">
            <a:avLst/>
          </a:prstGeom>
          <a:solidFill>
            <a:srgbClr val="00A896"/>
          </a:solidFill>
          <a:ln/>
        </p:spPr>
        <p:txBody>
          <a:bodyPr/>
          <a:lstStyle/>
          <a:p>
            <a:endParaRPr lang="fr-FR"/>
          </a:p>
        </p:txBody>
      </p:sp>
      <p:sp>
        <p:nvSpPr>
          <p:cNvPr id="31" name="Text 29"/>
          <p:cNvSpPr/>
          <p:nvPr/>
        </p:nvSpPr>
        <p:spPr>
          <a:xfrm>
            <a:off x="8321040" y="4663440"/>
            <a:ext cx="310896"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2" name="Text 30"/>
          <p:cNvSpPr/>
          <p:nvPr/>
        </p:nvSpPr>
        <p:spPr>
          <a:xfrm>
            <a:off x="8741664" y="4608576"/>
            <a:ext cx="2679192" cy="914400"/>
          </a:xfrm>
          <a:prstGeom prst="rect">
            <a:avLst/>
          </a:prstGeom>
          <a:noFill/>
          <a:ln/>
        </p:spPr>
        <p:txBody>
          <a:bodyPr wrap="square" lIns="0" tIns="0" rIns="0" bIns="0" rtlCol="0" anchor="ctr"/>
          <a:lstStyle/>
          <a:p>
            <a:pPr marL="0" indent="0">
              <a:lnSpc>
                <a:spcPts val="1300"/>
              </a:lnSpc>
              <a:buNone/>
            </a:pPr>
            <a:r>
              <a:rPr lang="en-US" sz="1000" dirty="0">
                <a:solidFill>
                  <a:srgbClr val="4A5769"/>
                </a:solidFill>
                <a:latin typeface="Calibri" pitchFamily="34" charset="0"/>
                <a:ea typeface="Calibri" pitchFamily="34" charset="-122"/>
                <a:cs typeface="Calibri" pitchFamily="34" charset="-120"/>
              </a:rPr>
              <a:t>Le scénario d'attaque : réutilisation d'un ancien nonce hors fenêtre de grâce → révocation globale des sessions du compte</a:t>
            </a:r>
            <a:endParaRPr lang="en-US" sz="1000" dirty="0"/>
          </a:p>
        </p:txBody>
      </p:sp>
      <p:sp>
        <p:nvSpPr>
          <p:cNvPr id="33" name="Shape 31"/>
          <p:cNvSpPr/>
          <p:nvPr/>
        </p:nvSpPr>
        <p:spPr>
          <a:xfrm>
            <a:off x="548640" y="5806440"/>
            <a:ext cx="11091672" cy="457200"/>
          </a:xfrm>
          <a:prstGeom prst="roundRect">
            <a:avLst>
              <a:gd name="adj" fmla="val 10000"/>
            </a:avLst>
          </a:prstGeom>
          <a:solidFill>
            <a:srgbClr val="12263F"/>
          </a:solidFill>
          <a:ln/>
        </p:spPr>
        <p:txBody>
          <a:bodyPr/>
          <a:lstStyle/>
          <a:p>
            <a:endParaRPr lang="fr-FR"/>
          </a:p>
        </p:txBody>
      </p:sp>
      <p:sp>
        <p:nvSpPr>
          <p:cNvPr id="34" name="Text 32"/>
          <p:cNvSpPr/>
          <p:nvPr/>
        </p:nvSpPr>
        <p:spPr>
          <a:xfrm>
            <a:off x="841248" y="5806440"/>
            <a:ext cx="10515600" cy="4572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Outil conseillé  </a:t>
            </a:r>
            <a:r>
              <a:rPr lang="en-US" sz="950" dirty="0">
                <a:solidFill>
                  <a:srgbClr val="C4D3E0"/>
                </a:solidFill>
                <a:latin typeface="Calibri" pitchFamily="34" charset="0"/>
                <a:ea typeface="Calibri" pitchFamily="34" charset="-122"/>
                <a:cs typeface="Calibri" pitchFamily="34" charset="-120"/>
              </a:rPr>
              <a:t>PlantUML (syntaxe sequence) ou Mermaid (sequenceDiagram)        </a:t>
            </a:r>
            <a:r>
              <a:rPr lang="en-US" sz="950" b="1" dirty="0">
                <a:solidFill>
                  <a:srgbClr val="E08A3C"/>
                </a:solidFill>
                <a:latin typeface="Calibri" pitchFamily="34" charset="0"/>
                <a:ea typeface="Calibri" pitchFamily="34" charset="-122"/>
                <a:cs typeface="Calibri" pitchFamily="34" charset="-120"/>
              </a:rPr>
              <a:t>Critère du référentiel  </a:t>
            </a:r>
            <a:r>
              <a:rPr lang="en-US" sz="950" dirty="0">
                <a:solidFill>
                  <a:srgbClr val="C4D3E0"/>
                </a:solidFill>
                <a:latin typeface="Calibri" pitchFamily="34" charset="0"/>
                <a:ea typeface="Calibri" pitchFamily="34" charset="-122"/>
                <a:cs typeface="Calibri" pitchFamily="34" charset="-120"/>
              </a:rPr>
              <a:t>BC3 · C25 — pratiques de sécurité rigoureuses ; BC4A/BC4C — mécanismes de sécurité documentés</a:t>
            </a:r>
            <a:endParaRPr lang="en-US" sz="950" dirty="0"/>
          </a:p>
        </p:txBody>
      </p:sp>
      <p:sp>
        <p:nvSpPr>
          <p:cNvPr id="35" name="Text 3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56032"/>
          </a:xfrm>
          <a:prstGeom prst="rect">
            <a:avLst/>
          </a:prstGeom>
          <a:noFill/>
          <a:ln/>
        </p:spPr>
        <p:txBody>
          <a:bodyPr wrap="square" lIns="0" tIns="0" rIns="0" bIns="0" rtlCol="0" anchor="ctr"/>
          <a:lstStyle/>
          <a:p>
            <a:pPr marL="0" indent="0">
              <a:buNone/>
            </a:pPr>
            <a:r>
              <a:rPr lang="en-US" sz="1050" b="1" kern="0" spc="160" dirty="0">
                <a:solidFill>
                  <a:srgbClr val="00A896"/>
                </a:solidFill>
                <a:latin typeface="Calibri" pitchFamily="34" charset="0"/>
                <a:ea typeface="Calibri" pitchFamily="34" charset="-122"/>
                <a:cs typeface="Calibri" pitchFamily="34" charset="-120"/>
              </a:rPr>
              <a:t>ANNEXE — PLAN DE PRODUCTION</a:t>
            </a:r>
            <a:endParaRPr lang="en-US" sz="105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800" b="1" dirty="0">
                <a:solidFill>
                  <a:srgbClr val="12263F"/>
                </a:solidFill>
                <a:latin typeface="Cambria" pitchFamily="34" charset="0"/>
                <a:ea typeface="Cambria" pitchFamily="34" charset="-122"/>
                <a:cs typeface="Cambria" pitchFamily="34" charset="-120"/>
              </a:rPr>
              <a:t>Les 15 schémas à produire et leur emplacement dans le deck</a:t>
            </a:r>
            <a:endParaRPr lang="en-US" sz="28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dropicture — Soutenance ESI, RNCP 40573</a:t>
            </a:r>
            <a:endParaRPr lang="en-US" sz="900" dirty="0"/>
          </a:p>
        </p:txBody>
      </p:sp>
      <p:sp>
        <p:nvSpPr>
          <p:cNvPr id="5" name="Text 3"/>
          <p:cNvSpPr/>
          <p:nvPr/>
        </p:nvSpPr>
        <p:spPr>
          <a:xfrm>
            <a:off x="11064240" y="6382512"/>
            <a:ext cx="576072" cy="274320"/>
          </a:xfrm>
          <a:prstGeom prst="rect">
            <a:avLst/>
          </a:prstGeom>
          <a:noFill/>
          <a:ln/>
        </p:spPr>
        <p:txBody>
          <a:bodyPr wrap="square" lIns="0" tIns="0" rIns="0" bIns="0"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62</a:t>
            </a:r>
            <a:endParaRPr lang="en-US" sz="900" dirty="0"/>
          </a:p>
        </p:txBody>
      </p:sp>
      <p:sp>
        <p:nvSpPr>
          <p:cNvPr id="6" name="Shape 4"/>
          <p:cNvSpPr/>
          <p:nvPr/>
        </p:nvSpPr>
        <p:spPr>
          <a:xfrm>
            <a:off x="548640" y="1463040"/>
            <a:ext cx="347472" cy="329184"/>
          </a:xfrm>
          <a:prstGeom prst="rect">
            <a:avLst/>
          </a:prstGeom>
          <a:solidFill>
            <a:srgbClr val="12263F"/>
          </a:solidFill>
          <a:ln/>
        </p:spPr>
        <p:txBody>
          <a:bodyPr/>
          <a:lstStyle/>
          <a:p>
            <a:endParaRPr lang="fr-FR"/>
          </a:p>
        </p:txBody>
      </p:sp>
      <p:sp>
        <p:nvSpPr>
          <p:cNvPr id="7" name="Text 5"/>
          <p:cNvSpPr/>
          <p:nvPr/>
        </p:nvSpPr>
        <p:spPr>
          <a:xfrm>
            <a:off x="621792" y="1463040"/>
            <a:ext cx="219456"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a:t>
            </a:r>
            <a:endParaRPr lang="en-US" sz="950" dirty="0"/>
          </a:p>
        </p:txBody>
      </p:sp>
      <p:sp>
        <p:nvSpPr>
          <p:cNvPr id="8" name="Shape 6"/>
          <p:cNvSpPr/>
          <p:nvPr/>
        </p:nvSpPr>
        <p:spPr>
          <a:xfrm>
            <a:off x="896112" y="1463040"/>
            <a:ext cx="1691640" cy="329184"/>
          </a:xfrm>
          <a:prstGeom prst="rect">
            <a:avLst/>
          </a:prstGeom>
          <a:solidFill>
            <a:srgbClr val="12263F"/>
          </a:solidFill>
          <a:ln/>
        </p:spPr>
        <p:txBody>
          <a:bodyPr/>
          <a:lstStyle/>
          <a:p>
            <a:endParaRPr lang="fr-FR"/>
          </a:p>
        </p:txBody>
      </p:sp>
      <p:sp>
        <p:nvSpPr>
          <p:cNvPr id="9" name="Text 7"/>
          <p:cNvSpPr/>
          <p:nvPr/>
        </p:nvSpPr>
        <p:spPr>
          <a:xfrm>
            <a:off x="969264" y="1463040"/>
            <a:ext cx="156362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Schéma</a:t>
            </a:r>
            <a:endParaRPr lang="en-US" sz="950" dirty="0"/>
          </a:p>
        </p:txBody>
      </p:sp>
      <p:sp>
        <p:nvSpPr>
          <p:cNvPr id="10" name="Shape 8"/>
          <p:cNvSpPr/>
          <p:nvPr/>
        </p:nvSpPr>
        <p:spPr>
          <a:xfrm>
            <a:off x="2587752" y="1463040"/>
            <a:ext cx="1463040" cy="329184"/>
          </a:xfrm>
          <a:prstGeom prst="rect">
            <a:avLst/>
          </a:prstGeom>
          <a:solidFill>
            <a:srgbClr val="12263F"/>
          </a:solidFill>
          <a:ln/>
        </p:spPr>
        <p:txBody>
          <a:bodyPr/>
          <a:lstStyle/>
          <a:p>
            <a:endParaRPr lang="fr-FR"/>
          </a:p>
        </p:txBody>
      </p:sp>
      <p:sp>
        <p:nvSpPr>
          <p:cNvPr id="11" name="Text 9"/>
          <p:cNvSpPr/>
          <p:nvPr/>
        </p:nvSpPr>
        <p:spPr>
          <a:xfrm>
            <a:off x="2660904" y="1463040"/>
            <a:ext cx="133502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Type attendu</a:t>
            </a:r>
            <a:endParaRPr lang="en-US" sz="950" dirty="0"/>
          </a:p>
        </p:txBody>
      </p:sp>
      <p:sp>
        <p:nvSpPr>
          <p:cNvPr id="12" name="Shape 10"/>
          <p:cNvSpPr/>
          <p:nvPr/>
        </p:nvSpPr>
        <p:spPr>
          <a:xfrm>
            <a:off x="4050792" y="1463040"/>
            <a:ext cx="411480" cy="329184"/>
          </a:xfrm>
          <a:prstGeom prst="rect">
            <a:avLst/>
          </a:prstGeom>
          <a:solidFill>
            <a:srgbClr val="12263F"/>
          </a:solidFill>
          <a:ln/>
        </p:spPr>
        <p:txBody>
          <a:bodyPr/>
          <a:lstStyle/>
          <a:p>
            <a:endParaRPr lang="fr-FR"/>
          </a:p>
        </p:txBody>
      </p:sp>
      <p:sp>
        <p:nvSpPr>
          <p:cNvPr id="13" name="Text 11"/>
          <p:cNvSpPr/>
          <p:nvPr/>
        </p:nvSpPr>
        <p:spPr>
          <a:xfrm>
            <a:off x="4123944" y="1463040"/>
            <a:ext cx="28346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Diapo</a:t>
            </a:r>
            <a:endParaRPr lang="en-US" sz="950" dirty="0"/>
          </a:p>
        </p:txBody>
      </p:sp>
      <p:sp>
        <p:nvSpPr>
          <p:cNvPr id="14" name="Shape 12"/>
          <p:cNvSpPr/>
          <p:nvPr/>
        </p:nvSpPr>
        <p:spPr>
          <a:xfrm>
            <a:off x="4462272" y="1463040"/>
            <a:ext cx="1188720" cy="329184"/>
          </a:xfrm>
          <a:prstGeom prst="rect">
            <a:avLst/>
          </a:prstGeom>
          <a:solidFill>
            <a:srgbClr val="12263F"/>
          </a:solidFill>
          <a:ln/>
        </p:spPr>
        <p:txBody>
          <a:bodyPr/>
          <a:lstStyle/>
          <a:p>
            <a:endParaRPr lang="fr-FR"/>
          </a:p>
        </p:txBody>
      </p:sp>
      <p:sp>
        <p:nvSpPr>
          <p:cNvPr id="15" name="Text 13"/>
          <p:cNvSpPr/>
          <p:nvPr/>
        </p:nvSpPr>
        <p:spPr>
          <a:xfrm>
            <a:off x="4535424" y="1463040"/>
            <a:ext cx="106070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Outil</a:t>
            </a:r>
            <a:endParaRPr lang="en-US" sz="950" dirty="0"/>
          </a:p>
        </p:txBody>
      </p:sp>
      <p:sp>
        <p:nvSpPr>
          <p:cNvPr id="16" name="Shape 14"/>
          <p:cNvSpPr/>
          <p:nvPr/>
        </p:nvSpPr>
        <p:spPr>
          <a:xfrm>
            <a:off x="6537960" y="1463040"/>
            <a:ext cx="347472" cy="329184"/>
          </a:xfrm>
          <a:prstGeom prst="rect">
            <a:avLst/>
          </a:prstGeom>
          <a:solidFill>
            <a:srgbClr val="12263F"/>
          </a:solidFill>
          <a:ln/>
        </p:spPr>
        <p:txBody>
          <a:bodyPr/>
          <a:lstStyle/>
          <a:p>
            <a:endParaRPr lang="fr-FR"/>
          </a:p>
        </p:txBody>
      </p:sp>
      <p:sp>
        <p:nvSpPr>
          <p:cNvPr id="17" name="Text 15"/>
          <p:cNvSpPr/>
          <p:nvPr/>
        </p:nvSpPr>
        <p:spPr>
          <a:xfrm>
            <a:off x="6611112" y="1463040"/>
            <a:ext cx="219456"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a:t>
            </a:r>
            <a:endParaRPr lang="en-US" sz="950" dirty="0"/>
          </a:p>
        </p:txBody>
      </p:sp>
      <p:sp>
        <p:nvSpPr>
          <p:cNvPr id="18" name="Shape 16"/>
          <p:cNvSpPr/>
          <p:nvPr/>
        </p:nvSpPr>
        <p:spPr>
          <a:xfrm>
            <a:off x="6885432" y="1463040"/>
            <a:ext cx="1691640" cy="329184"/>
          </a:xfrm>
          <a:prstGeom prst="rect">
            <a:avLst/>
          </a:prstGeom>
          <a:solidFill>
            <a:srgbClr val="12263F"/>
          </a:solidFill>
          <a:ln/>
        </p:spPr>
        <p:txBody>
          <a:bodyPr/>
          <a:lstStyle/>
          <a:p>
            <a:endParaRPr lang="fr-FR"/>
          </a:p>
        </p:txBody>
      </p:sp>
      <p:sp>
        <p:nvSpPr>
          <p:cNvPr id="19" name="Text 17"/>
          <p:cNvSpPr/>
          <p:nvPr/>
        </p:nvSpPr>
        <p:spPr>
          <a:xfrm>
            <a:off x="6958584" y="1463040"/>
            <a:ext cx="156362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Schéma</a:t>
            </a:r>
            <a:endParaRPr lang="en-US" sz="950" dirty="0"/>
          </a:p>
        </p:txBody>
      </p:sp>
      <p:sp>
        <p:nvSpPr>
          <p:cNvPr id="20" name="Shape 18"/>
          <p:cNvSpPr/>
          <p:nvPr/>
        </p:nvSpPr>
        <p:spPr>
          <a:xfrm>
            <a:off x="8577072" y="1463040"/>
            <a:ext cx="1463040" cy="329184"/>
          </a:xfrm>
          <a:prstGeom prst="rect">
            <a:avLst/>
          </a:prstGeom>
          <a:solidFill>
            <a:srgbClr val="12263F"/>
          </a:solidFill>
          <a:ln/>
        </p:spPr>
        <p:txBody>
          <a:bodyPr/>
          <a:lstStyle/>
          <a:p>
            <a:endParaRPr lang="fr-FR"/>
          </a:p>
        </p:txBody>
      </p:sp>
      <p:sp>
        <p:nvSpPr>
          <p:cNvPr id="21" name="Text 19"/>
          <p:cNvSpPr/>
          <p:nvPr/>
        </p:nvSpPr>
        <p:spPr>
          <a:xfrm>
            <a:off x="8650224" y="1463040"/>
            <a:ext cx="133502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Type attendu</a:t>
            </a:r>
            <a:endParaRPr lang="en-US" sz="950" dirty="0"/>
          </a:p>
        </p:txBody>
      </p:sp>
      <p:sp>
        <p:nvSpPr>
          <p:cNvPr id="22" name="Shape 20"/>
          <p:cNvSpPr/>
          <p:nvPr/>
        </p:nvSpPr>
        <p:spPr>
          <a:xfrm>
            <a:off x="10040112" y="1463040"/>
            <a:ext cx="411480" cy="329184"/>
          </a:xfrm>
          <a:prstGeom prst="rect">
            <a:avLst/>
          </a:prstGeom>
          <a:solidFill>
            <a:srgbClr val="12263F"/>
          </a:solidFill>
          <a:ln/>
        </p:spPr>
        <p:txBody>
          <a:bodyPr/>
          <a:lstStyle/>
          <a:p>
            <a:endParaRPr lang="fr-FR"/>
          </a:p>
        </p:txBody>
      </p:sp>
      <p:sp>
        <p:nvSpPr>
          <p:cNvPr id="23" name="Text 21"/>
          <p:cNvSpPr/>
          <p:nvPr/>
        </p:nvSpPr>
        <p:spPr>
          <a:xfrm>
            <a:off x="10113264" y="1463040"/>
            <a:ext cx="28346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Diapo</a:t>
            </a:r>
            <a:endParaRPr lang="en-US" sz="950" dirty="0"/>
          </a:p>
        </p:txBody>
      </p:sp>
      <p:sp>
        <p:nvSpPr>
          <p:cNvPr id="24" name="Shape 22"/>
          <p:cNvSpPr/>
          <p:nvPr/>
        </p:nvSpPr>
        <p:spPr>
          <a:xfrm>
            <a:off x="10451592" y="1463040"/>
            <a:ext cx="1188720" cy="329184"/>
          </a:xfrm>
          <a:prstGeom prst="rect">
            <a:avLst/>
          </a:prstGeom>
          <a:solidFill>
            <a:srgbClr val="12263F"/>
          </a:solidFill>
          <a:ln/>
        </p:spPr>
        <p:txBody>
          <a:bodyPr/>
          <a:lstStyle/>
          <a:p>
            <a:endParaRPr lang="fr-FR"/>
          </a:p>
        </p:txBody>
      </p:sp>
      <p:sp>
        <p:nvSpPr>
          <p:cNvPr id="25" name="Text 23"/>
          <p:cNvSpPr/>
          <p:nvPr/>
        </p:nvSpPr>
        <p:spPr>
          <a:xfrm>
            <a:off x="10524744" y="1463040"/>
            <a:ext cx="1060704" cy="32918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Outil</a:t>
            </a:r>
            <a:endParaRPr lang="en-US" sz="950" dirty="0"/>
          </a:p>
        </p:txBody>
      </p:sp>
      <p:sp>
        <p:nvSpPr>
          <p:cNvPr id="26" name="Shape 24"/>
          <p:cNvSpPr/>
          <p:nvPr/>
        </p:nvSpPr>
        <p:spPr>
          <a:xfrm>
            <a:off x="548640" y="1792224"/>
            <a:ext cx="347472" cy="502920"/>
          </a:xfrm>
          <a:prstGeom prst="rect">
            <a:avLst/>
          </a:prstGeom>
          <a:solidFill>
            <a:srgbClr val="EEF3F7"/>
          </a:solidFill>
          <a:ln/>
        </p:spPr>
        <p:txBody>
          <a:bodyPr/>
          <a:lstStyle/>
          <a:p>
            <a:endParaRPr lang="fr-FR"/>
          </a:p>
        </p:txBody>
      </p:sp>
      <p:sp>
        <p:nvSpPr>
          <p:cNvPr id="27" name="Text 25"/>
          <p:cNvSpPr/>
          <p:nvPr/>
        </p:nvSpPr>
        <p:spPr>
          <a:xfrm>
            <a:off x="621792" y="179222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a:t>
            </a:r>
            <a:endParaRPr lang="en-US" sz="900" dirty="0"/>
          </a:p>
        </p:txBody>
      </p:sp>
      <p:sp>
        <p:nvSpPr>
          <p:cNvPr id="28" name="Shape 26"/>
          <p:cNvSpPr/>
          <p:nvPr/>
        </p:nvSpPr>
        <p:spPr>
          <a:xfrm>
            <a:off x="896112" y="1792224"/>
            <a:ext cx="1691640" cy="502920"/>
          </a:xfrm>
          <a:prstGeom prst="rect">
            <a:avLst/>
          </a:prstGeom>
          <a:solidFill>
            <a:srgbClr val="EEF3F7"/>
          </a:solidFill>
          <a:ln/>
        </p:spPr>
        <p:txBody>
          <a:bodyPr/>
          <a:lstStyle/>
          <a:p>
            <a:endParaRPr lang="fr-FR"/>
          </a:p>
        </p:txBody>
      </p:sp>
      <p:sp>
        <p:nvSpPr>
          <p:cNvPr id="29" name="Text 27"/>
          <p:cNvSpPr/>
          <p:nvPr/>
        </p:nvSpPr>
        <p:spPr>
          <a:xfrm>
            <a:off x="969264" y="179222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Cartographie du SI</a:t>
            </a:r>
            <a:endParaRPr lang="en-US" sz="980" dirty="0"/>
          </a:p>
        </p:txBody>
      </p:sp>
      <p:sp>
        <p:nvSpPr>
          <p:cNvPr id="30" name="Shape 28"/>
          <p:cNvSpPr/>
          <p:nvPr/>
        </p:nvSpPr>
        <p:spPr>
          <a:xfrm>
            <a:off x="2587752" y="1792224"/>
            <a:ext cx="1463040" cy="502920"/>
          </a:xfrm>
          <a:prstGeom prst="rect">
            <a:avLst/>
          </a:prstGeom>
          <a:solidFill>
            <a:srgbClr val="EEF3F7"/>
          </a:solidFill>
          <a:ln/>
        </p:spPr>
        <p:txBody>
          <a:bodyPr/>
          <a:lstStyle/>
          <a:p>
            <a:endParaRPr lang="fr-FR"/>
          </a:p>
        </p:txBody>
      </p:sp>
      <p:sp>
        <p:nvSpPr>
          <p:cNvPr id="31" name="Text 29"/>
          <p:cNvSpPr/>
          <p:nvPr/>
        </p:nvSpPr>
        <p:spPr>
          <a:xfrm>
            <a:off x="2660904" y="179222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Diagramme en couches</a:t>
            </a:r>
            <a:endParaRPr lang="en-US" sz="900" dirty="0"/>
          </a:p>
        </p:txBody>
      </p:sp>
      <p:sp>
        <p:nvSpPr>
          <p:cNvPr id="32" name="Shape 30"/>
          <p:cNvSpPr/>
          <p:nvPr/>
        </p:nvSpPr>
        <p:spPr>
          <a:xfrm>
            <a:off x="4050792" y="1792224"/>
            <a:ext cx="411480" cy="502920"/>
          </a:xfrm>
          <a:prstGeom prst="rect">
            <a:avLst/>
          </a:prstGeom>
          <a:solidFill>
            <a:srgbClr val="EEF3F7"/>
          </a:solidFill>
          <a:ln/>
        </p:spPr>
        <p:txBody>
          <a:bodyPr/>
          <a:lstStyle/>
          <a:p>
            <a:endParaRPr lang="fr-FR"/>
          </a:p>
        </p:txBody>
      </p:sp>
      <p:sp>
        <p:nvSpPr>
          <p:cNvPr id="33" name="Text 31"/>
          <p:cNvSpPr/>
          <p:nvPr/>
        </p:nvSpPr>
        <p:spPr>
          <a:xfrm>
            <a:off x="4123944" y="179222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15</a:t>
            </a:r>
            <a:endParaRPr lang="en-US" sz="900" dirty="0"/>
          </a:p>
        </p:txBody>
      </p:sp>
      <p:sp>
        <p:nvSpPr>
          <p:cNvPr id="34" name="Shape 32"/>
          <p:cNvSpPr/>
          <p:nvPr/>
        </p:nvSpPr>
        <p:spPr>
          <a:xfrm>
            <a:off x="4462272" y="1792224"/>
            <a:ext cx="1188720" cy="502920"/>
          </a:xfrm>
          <a:prstGeom prst="rect">
            <a:avLst/>
          </a:prstGeom>
          <a:solidFill>
            <a:srgbClr val="EEF3F7"/>
          </a:solidFill>
          <a:ln/>
        </p:spPr>
        <p:txBody>
          <a:bodyPr/>
          <a:lstStyle/>
          <a:p>
            <a:endParaRPr lang="fr-FR"/>
          </a:p>
        </p:txBody>
      </p:sp>
      <p:sp>
        <p:nvSpPr>
          <p:cNvPr id="35" name="Text 33"/>
          <p:cNvSpPr/>
          <p:nvPr/>
        </p:nvSpPr>
        <p:spPr>
          <a:xfrm>
            <a:off x="4535424" y="179222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draw.io / Mermaid</a:t>
            </a:r>
            <a:endParaRPr lang="en-US" sz="900" dirty="0"/>
          </a:p>
        </p:txBody>
      </p:sp>
      <p:sp>
        <p:nvSpPr>
          <p:cNvPr id="36" name="Shape 34"/>
          <p:cNvSpPr/>
          <p:nvPr/>
        </p:nvSpPr>
        <p:spPr>
          <a:xfrm>
            <a:off x="548640" y="2295144"/>
            <a:ext cx="347472" cy="502920"/>
          </a:xfrm>
          <a:prstGeom prst="rect">
            <a:avLst/>
          </a:prstGeom>
          <a:solidFill>
            <a:srgbClr val="FFFFFF"/>
          </a:solidFill>
          <a:ln/>
        </p:spPr>
        <p:txBody>
          <a:bodyPr/>
          <a:lstStyle/>
          <a:p>
            <a:endParaRPr lang="fr-FR"/>
          </a:p>
        </p:txBody>
      </p:sp>
      <p:sp>
        <p:nvSpPr>
          <p:cNvPr id="37" name="Text 35"/>
          <p:cNvSpPr/>
          <p:nvPr/>
        </p:nvSpPr>
        <p:spPr>
          <a:xfrm>
            <a:off x="621792" y="229514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2</a:t>
            </a:r>
            <a:endParaRPr lang="en-US" sz="900" dirty="0"/>
          </a:p>
        </p:txBody>
      </p:sp>
      <p:sp>
        <p:nvSpPr>
          <p:cNvPr id="38" name="Shape 36"/>
          <p:cNvSpPr/>
          <p:nvPr/>
        </p:nvSpPr>
        <p:spPr>
          <a:xfrm>
            <a:off x="896112" y="2295144"/>
            <a:ext cx="1691640" cy="502920"/>
          </a:xfrm>
          <a:prstGeom prst="rect">
            <a:avLst/>
          </a:prstGeom>
          <a:solidFill>
            <a:srgbClr val="FFFFFF"/>
          </a:solidFill>
          <a:ln/>
        </p:spPr>
        <p:txBody>
          <a:bodyPr/>
          <a:lstStyle/>
          <a:p>
            <a:endParaRPr lang="fr-FR"/>
          </a:p>
        </p:txBody>
      </p:sp>
      <p:sp>
        <p:nvSpPr>
          <p:cNvPr id="39" name="Text 37"/>
          <p:cNvSpPr/>
          <p:nvPr/>
        </p:nvSpPr>
        <p:spPr>
          <a:xfrm>
            <a:off x="969264" y="229514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Topologie de l'infrastructure</a:t>
            </a:r>
            <a:endParaRPr lang="en-US" sz="980" dirty="0"/>
          </a:p>
        </p:txBody>
      </p:sp>
      <p:sp>
        <p:nvSpPr>
          <p:cNvPr id="40" name="Shape 38"/>
          <p:cNvSpPr/>
          <p:nvPr/>
        </p:nvSpPr>
        <p:spPr>
          <a:xfrm>
            <a:off x="2587752" y="2295144"/>
            <a:ext cx="1463040" cy="502920"/>
          </a:xfrm>
          <a:prstGeom prst="rect">
            <a:avLst/>
          </a:prstGeom>
          <a:solidFill>
            <a:srgbClr val="FFFFFF"/>
          </a:solidFill>
          <a:ln/>
        </p:spPr>
        <p:txBody>
          <a:bodyPr/>
          <a:lstStyle/>
          <a:p>
            <a:endParaRPr lang="fr-FR"/>
          </a:p>
        </p:txBody>
      </p:sp>
      <p:sp>
        <p:nvSpPr>
          <p:cNvPr id="41" name="Text 39"/>
          <p:cNvSpPr/>
          <p:nvPr/>
        </p:nvSpPr>
        <p:spPr>
          <a:xfrm>
            <a:off x="2660904" y="229514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Architecture physique</a:t>
            </a:r>
            <a:endParaRPr lang="en-US" sz="900" dirty="0"/>
          </a:p>
        </p:txBody>
      </p:sp>
      <p:sp>
        <p:nvSpPr>
          <p:cNvPr id="42" name="Shape 40"/>
          <p:cNvSpPr/>
          <p:nvPr/>
        </p:nvSpPr>
        <p:spPr>
          <a:xfrm>
            <a:off x="4050792" y="2295144"/>
            <a:ext cx="411480" cy="502920"/>
          </a:xfrm>
          <a:prstGeom prst="rect">
            <a:avLst/>
          </a:prstGeom>
          <a:solidFill>
            <a:srgbClr val="FFFFFF"/>
          </a:solidFill>
          <a:ln/>
        </p:spPr>
        <p:txBody>
          <a:bodyPr/>
          <a:lstStyle/>
          <a:p>
            <a:endParaRPr lang="fr-FR"/>
          </a:p>
        </p:txBody>
      </p:sp>
      <p:sp>
        <p:nvSpPr>
          <p:cNvPr id="43" name="Text 41"/>
          <p:cNvSpPr/>
          <p:nvPr/>
        </p:nvSpPr>
        <p:spPr>
          <a:xfrm>
            <a:off x="4123944" y="229514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16</a:t>
            </a:r>
            <a:endParaRPr lang="en-US" sz="900" dirty="0"/>
          </a:p>
        </p:txBody>
      </p:sp>
      <p:sp>
        <p:nvSpPr>
          <p:cNvPr id="44" name="Shape 42"/>
          <p:cNvSpPr/>
          <p:nvPr/>
        </p:nvSpPr>
        <p:spPr>
          <a:xfrm>
            <a:off x="4462272" y="2295144"/>
            <a:ext cx="1188720" cy="502920"/>
          </a:xfrm>
          <a:prstGeom prst="rect">
            <a:avLst/>
          </a:prstGeom>
          <a:solidFill>
            <a:srgbClr val="FFFFFF"/>
          </a:solidFill>
          <a:ln/>
        </p:spPr>
        <p:txBody>
          <a:bodyPr/>
          <a:lstStyle/>
          <a:p>
            <a:endParaRPr lang="fr-FR"/>
          </a:p>
        </p:txBody>
      </p:sp>
      <p:sp>
        <p:nvSpPr>
          <p:cNvPr id="45" name="Text 43"/>
          <p:cNvSpPr/>
          <p:nvPr/>
        </p:nvSpPr>
        <p:spPr>
          <a:xfrm>
            <a:off x="4535424" y="229514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draw.io</a:t>
            </a:r>
            <a:endParaRPr lang="en-US" sz="900" dirty="0"/>
          </a:p>
        </p:txBody>
      </p:sp>
      <p:sp>
        <p:nvSpPr>
          <p:cNvPr id="46" name="Shape 44"/>
          <p:cNvSpPr/>
          <p:nvPr/>
        </p:nvSpPr>
        <p:spPr>
          <a:xfrm>
            <a:off x="548640" y="2798064"/>
            <a:ext cx="347472" cy="502920"/>
          </a:xfrm>
          <a:prstGeom prst="rect">
            <a:avLst/>
          </a:prstGeom>
          <a:solidFill>
            <a:srgbClr val="EEF3F7"/>
          </a:solidFill>
          <a:ln/>
        </p:spPr>
        <p:txBody>
          <a:bodyPr/>
          <a:lstStyle/>
          <a:p>
            <a:endParaRPr lang="fr-FR"/>
          </a:p>
        </p:txBody>
      </p:sp>
      <p:sp>
        <p:nvSpPr>
          <p:cNvPr id="47" name="Text 45"/>
          <p:cNvSpPr/>
          <p:nvPr/>
        </p:nvSpPr>
        <p:spPr>
          <a:xfrm>
            <a:off x="621792" y="279806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3</a:t>
            </a:r>
            <a:endParaRPr lang="en-US" sz="900" dirty="0"/>
          </a:p>
        </p:txBody>
      </p:sp>
      <p:sp>
        <p:nvSpPr>
          <p:cNvPr id="48" name="Shape 46"/>
          <p:cNvSpPr/>
          <p:nvPr/>
        </p:nvSpPr>
        <p:spPr>
          <a:xfrm>
            <a:off x="896112" y="2798064"/>
            <a:ext cx="1691640" cy="502920"/>
          </a:xfrm>
          <a:prstGeom prst="rect">
            <a:avLst/>
          </a:prstGeom>
          <a:solidFill>
            <a:srgbClr val="EEF3F7"/>
          </a:solidFill>
          <a:ln/>
        </p:spPr>
        <p:txBody>
          <a:bodyPr/>
          <a:lstStyle/>
          <a:p>
            <a:endParaRPr lang="fr-FR"/>
          </a:p>
        </p:txBody>
      </p:sp>
      <p:sp>
        <p:nvSpPr>
          <p:cNvPr id="49" name="Text 47"/>
          <p:cNvSpPr/>
          <p:nvPr/>
        </p:nvSpPr>
        <p:spPr>
          <a:xfrm>
            <a:off x="969264" y="279806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Matrice des risques</a:t>
            </a:r>
            <a:endParaRPr lang="en-US" sz="980" dirty="0"/>
          </a:p>
        </p:txBody>
      </p:sp>
      <p:sp>
        <p:nvSpPr>
          <p:cNvPr id="50" name="Shape 48"/>
          <p:cNvSpPr/>
          <p:nvPr/>
        </p:nvSpPr>
        <p:spPr>
          <a:xfrm>
            <a:off x="2587752" y="2798064"/>
            <a:ext cx="1463040" cy="502920"/>
          </a:xfrm>
          <a:prstGeom prst="rect">
            <a:avLst/>
          </a:prstGeom>
          <a:solidFill>
            <a:srgbClr val="EEF3F7"/>
          </a:solidFill>
          <a:ln/>
        </p:spPr>
        <p:txBody>
          <a:bodyPr/>
          <a:lstStyle/>
          <a:p>
            <a:endParaRPr lang="fr-FR"/>
          </a:p>
        </p:txBody>
      </p:sp>
      <p:sp>
        <p:nvSpPr>
          <p:cNvPr id="51" name="Text 49"/>
          <p:cNvSpPr/>
          <p:nvPr/>
        </p:nvSpPr>
        <p:spPr>
          <a:xfrm>
            <a:off x="2660904" y="279806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Matrice probabilité / impact</a:t>
            </a:r>
            <a:endParaRPr lang="en-US" sz="900" dirty="0"/>
          </a:p>
        </p:txBody>
      </p:sp>
      <p:sp>
        <p:nvSpPr>
          <p:cNvPr id="52" name="Shape 50"/>
          <p:cNvSpPr/>
          <p:nvPr/>
        </p:nvSpPr>
        <p:spPr>
          <a:xfrm>
            <a:off x="4050792" y="2798064"/>
            <a:ext cx="411480" cy="502920"/>
          </a:xfrm>
          <a:prstGeom prst="rect">
            <a:avLst/>
          </a:prstGeom>
          <a:solidFill>
            <a:srgbClr val="EEF3F7"/>
          </a:solidFill>
          <a:ln/>
        </p:spPr>
        <p:txBody>
          <a:bodyPr/>
          <a:lstStyle/>
          <a:p>
            <a:endParaRPr lang="fr-FR"/>
          </a:p>
        </p:txBody>
      </p:sp>
      <p:sp>
        <p:nvSpPr>
          <p:cNvPr id="53" name="Text 51"/>
          <p:cNvSpPr/>
          <p:nvPr/>
        </p:nvSpPr>
        <p:spPr>
          <a:xfrm>
            <a:off x="4123944" y="279806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19</a:t>
            </a:r>
            <a:endParaRPr lang="en-US" sz="900" dirty="0"/>
          </a:p>
        </p:txBody>
      </p:sp>
      <p:sp>
        <p:nvSpPr>
          <p:cNvPr id="54" name="Shape 52"/>
          <p:cNvSpPr/>
          <p:nvPr/>
        </p:nvSpPr>
        <p:spPr>
          <a:xfrm>
            <a:off x="4462272" y="2798064"/>
            <a:ext cx="1188720" cy="502920"/>
          </a:xfrm>
          <a:prstGeom prst="rect">
            <a:avLst/>
          </a:prstGeom>
          <a:solidFill>
            <a:srgbClr val="EEF3F7"/>
          </a:solidFill>
          <a:ln/>
        </p:spPr>
        <p:txBody>
          <a:bodyPr/>
          <a:lstStyle/>
          <a:p>
            <a:endParaRPr lang="fr-FR"/>
          </a:p>
        </p:txBody>
      </p:sp>
      <p:sp>
        <p:nvSpPr>
          <p:cNvPr id="55" name="Text 53"/>
          <p:cNvSpPr/>
          <p:nvPr/>
        </p:nvSpPr>
        <p:spPr>
          <a:xfrm>
            <a:off x="4535424" y="279806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Tableur</a:t>
            </a:r>
            <a:endParaRPr lang="en-US" sz="900" dirty="0"/>
          </a:p>
        </p:txBody>
      </p:sp>
      <p:sp>
        <p:nvSpPr>
          <p:cNvPr id="56" name="Shape 54"/>
          <p:cNvSpPr/>
          <p:nvPr/>
        </p:nvSpPr>
        <p:spPr>
          <a:xfrm>
            <a:off x="548640" y="3300984"/>
            <a:ext cx="347472" cy="502920"/>
          </a:xfrm>
          <a:prstGeom prst="rect">
            <a:avLst/>
          </a:prstGeom>
          <a:solidFill>
            <a:srgbClr val="FFFFFF"/>
          </a:solidFill>
          <a:ln/>
        </p:spPr>
        <p:txBody>
          <a:bodyPr/>
          <a:lstStyle/>
          <a:p>
            <a:endParaRPr lang="fr-FR"/>
          </a:p>
        </p:txBody>
      </p:sp>
      <p:sp>
        <p:nvSpPr>
          <p:cNvPr id="57" name="Text 55"/>
          <p:cNvSpPr/>
          <p:nvPr/>
        </p:nvSpPr>
        <p:spPr>
          <a:xfrm>
            <a:off x="621792" y="330098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4</a:t>
            </a:r>
            <a:endParaRPr lang="en-US" sz="900" dirty="0"/>
          </a:p>
        </p:txBody>
      </p:sp>
      <p:sp>
        <p:nvSpPr>
          <p:cNvPr id="58" name="Shape 56"/>
          <p:cNvSpPr/>
          <p:nvPr/>
        </p:nvSpPr>
        <p:spPr>
          <a:xfrm>
            <a:off x="896112" y="3300984"/>
            <a:ext cx="1691640" cy="502920"/>
          </a:xfrm>
          <a:prstGeom prst="rect">
            <a:avLst/>
          </a:prstGeom>
          <a:solidFill>
            <a:srgbClr val="FFFFFF"/>
          </a:solidFill>
          <a:ln/>
        </p:spPr>
        <p:txBody>
          <a:bodyPr/>
          <a:lstStyle/>
          <a:p>
            <a:endParaRPr lang="fr-FR"/>
          </a:p>
        </p:txBody>
      </p:sp>
      <p:sp>
        <p:nvSpPr>
          <p:cNvPr id="59" name="Text 57"/>
          <p:cNvSpPr/>
          <p:nvPr/>
        </p:nvSpPr>
        <p:spPr>
          <a:xfrm>
            <a:off x="969264" y="330098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Segmentation réseau Swarm</a:t>
            </a:r>
            <a:endParaRPr lang="en-US" sz="980" dirty="0"/>
          </a:p>
        </p:txBody>
      </p:sp>
      <p:sp>
        <p:nvSpPr>
          <p:cNvPr id="60" name="Shape 58"/>
          <p:cNvSpPr/>
          <p:nvPr/>
        </p:nvSpPr>
        <p:spPr>
          <a:xfrm>
            <a:off x="2587752" y="3300984"/>
            <a:ext cx="1463040" cy="502920"/>
          </a:xfrm>
          <a:prstGeom prst="rect">
            <a:avLst/>
          </a:prstGeom>
          <a:solidFill>
            <a:srgbClr val="FFFFFF"/>
          </a:solidFill>
          <a:ln/>
        </p:spPr>
        <p:txBody>
          <a:bodyPr/>
          <a:lstStyle/>
          <a:p>
            <a:endParaRPr lang="fr-FR"/>
          </a:p>
        </p:txBody>
      </p:sp>
      <p:sp>
        <p:nvSpPr>
          <p:cNvPr id="61" name="Text 59"/>
          <p:cNvSpPr/>
          <p:nvPr/>
        </p:nvSpPr>
        <p:spPr>
          <a:xfrm>
            <a:off x="2660904" y="330098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Flux + zones réseau</a:t>
            </a:r>
            <a:endParaRPr lang="en-US" sz="900" dirty="0"/>
          </a:p>
        </p:txBody>
      </p:sp>
      <p:sp>
        <p:nvSpPr>
          <p:cNvPr id="62" name="Shape 60"/>
          <p:cNvSpPr/>
          <p:nvPr/>
        </p:nvSpPr>
        <p:spPr>
          <a:xfrm>
            <a:off x="4050792" y="3300984"/>
            <a:ext cx="411480" cy="502920"/>
          </a:xfrm>
          <a:prstGeom prst="rect">
            <a:avLst/>
          </a:prstGeom>
          <a:solidFill>
            <a:srgbClr val="FFFFFF"/>
          </a:solidFill>
          <a:ln/>
        </p:spPr>
        <p:txBody>
          <a:bodyPr/>
          <a:lstStyle/>
          <a:p>
            <a:endParaRPr lang="fr-FR"/>
          </a:p>
        </p:txBody>
      </p:sp>
      <p:sp>
        <p:nvSpPr>
          <p:cNvPr id="63" name="Text 61"/>
          <p:cNvSpPr/>
          <p:nvPr/>
        </p:nvSpPr>
        <p:spPr>
          <a:xfrm>
            <a:off x="4123944" y="330098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21</a:t>
            </a:r>
            <a:endParaRPr lang="en-US" sz="900" dirty="0"/>
          </a:p>
        </p:txBody>
      </p:sp>
      <p:sp>
        <p:nvSpPr>
          <p:cNvPr id="64" name="Shape 62"/>
          <p:cNvSpPr/>
          <p:nvPr/>
        </p:nvSpPr>
        <p:spPr>
          <a:xfrm>
            <a:off x="4462272" y="3300984"/>
            <a:ext cx="1188720" cy="502920"/>
          </a:xfrm>
          <a:prstGeom prst="rect">
            <a:avLst/>
          </a:prstGeom>
          <a:solidFill>
            <a:srgbClr val="FFFFFF"/>
          </a:solidFill>
          <a:ln/>
        </p:spPr>
        <p:txBody>
          <a:bodyPr/>
          <a:lstStyle/>
          <a:p>
            <a:endParaRPr lang="fr-FR"/>
          </a:p>
        </p:txBody>
      </p:sp>
      <p:sp>
        <p:nvSpPr>
          <p:cNvPr id="65" name="Text 63"/>
          <p:cNvSpPr/>
          <p:nvPr/>
        </p:nvSpPr>
        <p:spPr>
          <a:xfrm>
            <a:off x="4535424" y="330098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draw.io / Mermaid</a:t>
            </a:r>
            <a:endParaRPr lang="en-US" sz="900" dirty="0"/>
          </a:p>
        </p:txBody>
      </p:sp>
      <p:sp>
        <p:nvSpPr>
          <p:cNvPr id="66" name="Shape 64"/>
          <p:cNvSpPr/>
          <p:nvPr/>
        </p:nvSpPr>
        <p:spPr>
          <a:xfrm>
            <a:off x="548640" y="3803904"/>
            <a:ext cx="347472" cy="502920"/>
          </a:xfrm>
          <a:prstGeom prst="rect">
            <a:avLst/>
          </a:prstGeom>
          <a:solidFill>
            <a:srgbClr val="EEF3F7"/>
          </a:solidFill>
          <a:ln/>
        </p:spPr>
        <p:txBody>
          <a:bodyPr/>
          <a:lstStyle/>
          <a:p>
            <a:endParaRPr lang="fr-FR"/>
          </a:p>
        </p:txBody>
      </p:sp>
      <p:sp>
        <p:nvSpPr>
          <p:cNvPr id="67" name="Text 65"/>
          <p:cNvSpPr/>
          <p:nvPr/>
        </p:nvSpPr>
        <p:spPr>
          <a:xfrm>
            <a:off x="621792" y="380390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5</a:t>
            </a:r>
            <a:endParaRPr lang="en-US" sz="900" dirty="0"/>
          </a:p>
        </p:txBody>
      </p:sp>
      <p:sp>
        <p:nvSpPr>
          <p:cNvPr id="68" name="Shape 66"/>
          <p:cNvSpPr/>
          <p:nvPr/>
        </p:nvSpPr>
        <p:spPr>
          <a:xfrm>
            <a:off x="896112" y="3803904"/>
            <a:ext cx="1691640" cy="502920"/>
          </a:xfrm>
          <a:prstGeom prst="rect">
            <a:avLst/>
          </a:prstGeom>
          <a:solidFill>
            <a:srgbClr val="EEF3F7"/>
          </a:solidFill>
          <a:ln/>
        </p:spPr>
        <p:txBody>
          <a:bodyPr/>
          <a:lstStyle/>
          <a:p>
            <a:endParaRPr lang="fr-FR"/>
          </a:p>
        </p:txBody>
      </p:sp>
      <p:sp>
        <p:nvSpPr>
          <p:cNvPr id="69" name="Text 67"/>
          <p:cNvSpPr/>
          <p:nvPr/>
        </p:nvSpPr>
        <p:spPr>
          <a:xfrm>
            <a:off x="969264" y="380390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Cas d'utilisation</a:t>
            </a:r>
            <a:endParaRPr lang="en-US" sz="980" dirty="0"/>
          </a:p>
        </p:txBody>
      </p:sp>
      <p:sp>
        <p:nvSpPr>
          <p:cNvPr id="70" name="Shape 68"/>
          <p:cNvSpPr/>
          <p:nvPr/>
        </p:nvSpPr>
        <p:spPr>
          <a:xfrm>
            <a:off x="2587752" y="3803904"/>
            <a:ext cx="1463040" cy="502920"/>
          </a:xfrm>
          <a:prstGeom prst="rect">
            <a:avLst/>
          </a:prstGeom>
          <a:solidFill>
            <a:srgbClr val="EEF3F7"/>
          </a:solidFill>
          <a:ln/>
        </p:spPr>
        <p:txBody>
          <a:bodyPr/>
          <a:lstStyle/>
          <a:p>
            <a:endParaRPr lang="fr-FR"/>
          </a:p>
        </p:txBody>
      </p:sp>
      <p:sp>
        <p:nvSpPr>
          <p:cNvPr id="71" name="Text 69"/>
          <p:cNvSpPr/>
          <p:nvPr/>
        </p:nvSpPr>
        <p:spPr>
          <a:xfrm>
            <a:off x="2660904" y="380390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UML use case</a:t>
            </a:r>
            <a:endParaRPr lang="en-US" sz="900" dirty="0"/>
          </a:p>
        </p:txBody>
      </p:sp>
      <p:sp>
        <p:nvSpPr>
          <p:cNvPr id="72" name="Shape 70"/>
          <p:cNvSpPr/>
          <p:nvPr/>
        </p:nvSpPr>
        <p:spPr>
          <a:xfrm>
            <a:off x="4050792" y="3803904"/>
            <a:ext cx="411480" cy="502920"/>
          </a:xfrm>
          <a:prstGeom prst="rect">
            <a:avLst/>
          </a:prstGeom>
          <a:solidFill>
            <a:srgbClr val="EEF3F7"/>
          </a:solidFill>
          <a:ln/>
        </p:spPr>
        <p:txBody>
          <a:bodyPr/>
          <a:lstStyle/>
          <a:p>
            <a:endParaRPr lang="fr-FR"/>
          </a:p>
        </p:txBody>
      </p:sp>
      <p:sp>
        <p:nvSpPr>
          <p:cNvPr id="73" name="Text 71"/>
          <p:cNvSpPr/>
          <p:nvPr/>
        </p:nvSpPr>
        <p:spPr>
          <a:xfrm>
            <a:off x="4123944" y="380390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26</a:t>
            </a:r>
            <a:endParaRPr lang="en-US" sz="900" dirty="0"/>
          </a:p>
        </p:txBody>
      </p:sp>
      <p:sp>
        <p:nvSpPr>
          <p:cNvPr id="74" name="Shape 72"/>
          <p:cNvSpPr/>
          <p:nvPr/>
        </p:nvSpPr>
        <p:spPr>
          <a:xfrm>
            <a:off x="4462272" y="3803904"/>
            <a:ext cx="1188720" cy="502920"/>
          </a:xfrm>
          <a:prstGeom prst="rect">
            <a:avLst/>
          </a:prstGeom>
          <a:solidFill>
            <a:srgbClr val="EEF3F7"/>
          </a:solidFill>
          <a:ln/>
        </p:spPr>
        <p:txBody>
          <a:bodyPr/>
          <a:lstStyle/>
          <a:p>
            <a:endParaRPr lang="fr-FR"/>
          </a:p>
        </p:txBody>
      </p:sp>
      <p:sp>
        <p:nvSpPr>
          <p:cNvPr id="75" name="Text 73"/>
          <p:cNvSpPr/>
          <p:nvPr/>
        </p:nvSpPr>
        <p:spPr>
          <a:xfrm>
            <a:off x="4535424" y="380390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PlantUML</a:t>
            </a:r>
            <a:endParaRPr lang="en-US" sz="900" dirty="0"/>
          </a:p>
        </p:txBody>
      </p:sp>
      <p:sp>
        <p:nvSpPr>
          <p:cNvPr id="76" name="Shape 74"/>
          <p:cNvSpPr/>
          <p:nvPr/>
        </p:nvSpPr>
        <p:spPr>
          <a:xfrm>
            <a:off x="548640" y="4306824"/>
            <a:ext cx="347472" cy="502920"/>
          </a:xfrm>
          <a:prstGeom prst="rect">
            <a:avLst/>
          </a:prstGeom>
          <a:solidFill>
            <a:srgbClr val="FFFFFF"/>
          </a:solidFill>
          <a:ln/>
        </p:spPr>
        <p:txBody>
          <a:bodyPr/>
          <a:lstStyle/>
          <a:p>
            <a:endParaRPr lang="fr-FR"/>
          </a:p>
        </p:txBody>
      </p:sp>
      <p:sp>
        <p:nvSpPr>
          <p:cNvPr id="77" name="Text 75"/>
          <p:cNvSpPr/>
          <p:nvPr/>
        </p:nvSpPr>
        <p:spPr>
          <a:xfrm>
            <a:off x="621792" y="430682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6</a:t>
            </a:r>
            <a:endParaRPr lang="en-US" sz="900" dirty="0"/>
          </a:p>
        </p:txBody>
      </p:sp>
      <p:sp>
        <p:nvSpPr>
          <p:cNvPr id="78" name="Shape 76"/>
          <p:cNvSpPr/>
          <p:nvPr/>
        </p:nvSpPr>
        <p:spPr>
          <a:xfrm>
            <a:off x="896112" y="4306824"/>
            <a:ext cx="1691640" cy="502920"/>
          </a:xfrm>
          <a:prstGeom prst="rect">
            <a:avLst/>
          </a:prstGeom>
          <a:solidFill>
            <a:srgbClr val="FFFFFF"/>
          </a:solidFill>
          <a:ln/>
        </p:spPr>
        <p:txBody>
          <a:bodyPr/>
          <a:lstStyle/>
          <a:p>
            <a:endParaRPr lang="fr-FR"/>
          </a:p>
        </p:txBody>
      </p:sp>
      <p:sp>
        <p:nvSpPr>
          <p:cNvPr id="79" name="Text 77"/>
          <p:cNvSpPr/>
          <p:nvPr/>
        </p:nvSpPr>
        <p:spPr>
          <a:xfrm>
            <a:off x="969264" y="430682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Modèle conceptuel de données</a:t>
            </a:r>
            <a:endParaRPr lang="en-US" sz="980" dirty="0"/>
          </a:p>
        </p:txBody>
      </p:sp>
      <p:sp>
        <p:nvSpPr>
          <p:cNvPr id="80" name="Shape 78"/>
          <p:cNvSpPr/>
          <p:nvPr/>
        </p:nvSpPr>
        <p:spPr>
          <a:xfrm>
            <a:off x="2587752" y="4306824"/>
            <a:ext cx="1463040" cy="502920"/>
          </a:xfrm>
          <a:prstGeom prst="rect">
            <a:avLst/>
          </a:prstGeom>
          <a:solidFill>
            <a:srgbClr val="FFFFFF"/>
          </a:solidFill>
          <a:ln/>
        </p:spPr>
        <p:txBody>
          <a:bodyPr/>
          <a:lstStyle/>
          <a:p>
            <a:endParaRPr lang="fr-FR"/>
          </a:p>
        </p:txBody>
      </p:sp>
      <p:sp>
        <p:nvSpPr>
          <p:cNvPr id="81" name="Text 79"/>
          <p:cNvSpPr/>
          <p:nvPr/>
        </p:nvSpPr>
        <p:spPr>
          <a:xfrm>
            <a:off x="2660904" y="430682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MCD Merise</a:t>
            </a:r>
            <a:endParaRPr lang="en-US" sz="900" dirty="0"/>
          </a:p>
        </p:txBody>
      </p:sp>
      <p:sp>
        <p:nvSpPr>
          <p:cNvPr id="82" name="Shape 80"/>
          <p:cNvSpPr/>
          <p:nvPr/>
        </p:nvSpPr>
        <p:spPr>
          <a:xfrm>
            <a:off x="4050792" y="4306824"/>
            <a:ext cx="411480" cy="502920"/>
          </a:xfrm>
          <a:prstGeom prst="rect">
            <a:avLst/>
          </a:prstGeom>
          <a:solidFill>
            <a:srgbClr val="FFFFFF"/>
          </a:solidFill>
          <a:ln/>
        </p:spPr>
        <p:txBody>
          <a:bodyPr/>
          <a:lstStyle/>
          <a:p>
            <a:endParaRPr lang="fr-FR"/>
          </a:p>
        </p:txBody>
      </p:sp>
      <p:sp>
        <p:nvSpPr>
          <p:cNvPr id="83" name="Text 81"/>
          <p:cNvSpPr/>
          <p:nvPr/>
        </p:nvSpPr>
        <p:spPr>
          <a:xfrm>
            <a:off x="4123944" y="430682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32</a:t>
            </a:r>
            <a:endParaRPr lang="en-US" sz="900" dirty="0"/>
          </a:p>
        </p:txBody>
      </p:sp>
      <p:sp>
        <p:nvSpPr>
          <p:cNvPr id="84" name="Shape 82"/>
          <p:cNvSpPr/>
          <p:nvPr/>
        </p:nvSpPr>
        <p:spPr>
          <a:xfrm>
            <a:off x="4462272" y="4306824"/>
            <a:ext cx="1188720" cy="502920"/>
          </a:xfrm>
          <a:prstGeom prst="rect">
            <a:avLst/>
          </a:prstGeom>
          <a:solidFill>
            <a:srgbClr val="FFFFFF"/>
          </a:solidFill>
          <a:ln/>
        </p:spPr>
        <p:txBody>
          <a:bodyPr/>
          <a:lstStyle/>
          <a:p>
            <a:endParaRPr lang="fr-FR"/>
          </a:p>
        </p:txBody>
      </p:sp>
      <p:sp>
        <p:nvSpPr>
          <p:cNvPr id="85" name="Text 83"/>
          <p:cNvSpPr/>
          <p:nvPr/>
        </p:nvSpPr>
        <p:spPr>
          <a:xfrm>
            <a:off x="4535424" y="430682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Looping / Mermaid</a:t>
            </a:r>
            <a:endParaRPr lang="en-US" sz="900" dirty="0"/>
          </a:p>
        </p:txBody>
      </p:sp>
      <p:sp>
        <p:nvSpPr>
          <p:cNvPr id="86" name="Shape 84"/>
          <p:cNvSpPr/>
          <p:nvPr/>
        </p:nvSpPr>
        <p:spPr>
          <a:xfrm>
            <a:off x="548640" y="4809744"/>
            <a:ext cx="347472" cy="502920"/>
          </a:xfrm>
          <a:prstGeom prst="rect">
            <a:avLst/>
          </a:prstGeom>
          <a:solidFill>
            <a:srgbClr val="EEF3F7"/>
          </a:solidFill>
          <a:ln/>
        </p:spPr>
        <p:txBody>
          <a:bodyPr/>
          <a:lstStyle/>
          <a:p>
            <a:endParaRPr lang="fr-FR"/>
          </a:p>
        </p:txBody>
      </p:sp>
      <p:sp>
        <p:nvSpPr>
          <p:cNvPr id="87" name="Text 85"/>
          <p:cNvSpPr/>
          <p:nvPr/>
        </p:nvSpPr>
        <p:spPr>
          <a:xfrm>
            <a:off x="621792" y="480974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7</a:t>
            </a:r>
            <a:endParaRPr lang="en-US" sz="900" dirty="0"/>
          </a:p>
        </p:txBody>
      </p:sp>
      <p:sp>
        <p:nvSpPr>
          <p:cNvPr id="88" name="Shape 86"/>
          <p:cNvSpPr/>
          <p:nvPr/>
        </p:nvSpPr>
        <p:spPr>
          <a:xfrm>
            <a:off x="896112" y="4809744"/>
            <a:ext cx="1691640" cy="502920"/>
          </a:xfrm>
          <a:prstGeom prst="rect">
            <a:avLst/>
          </a:prstGeom>
          <a:solidFill>
            <a:srgbClr val="EEF3F7"/>
          </a:solidFill>
          <a:ln/>
        </p:spPr>
        <p:txBody>
          <a:bodyPr/>
          <a:lstStyle/>
          <a:p>
            <a:endParaRPr lang="fr-FR"/>
          </a:p>
        </p:txBody>
      </p:sp>
      <p:sp>
        <p:nvSpPr>
          <p:cNvPr id="89" name="Text 87"/>
          <p:cNvSpPr/>
          <p:nvPr/>
        </p:nvSpPr>
        <p:spPr>
          <a:xfrm>
            <a:off x="969264" y="480974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Diagramme de classes</a:t>
            </a:r>
            <a:endParaRPr lang="en-US" sz="980" dirty="0"/>
          </a:p>
        </p:txBody>
      </p:sp>
      <p:sp>
        <p:nvSpPr>
          <p:cNvPr id="90" name="Shape 88"/>
          <p:cNvSpPr/>
          <p:nvPr/>
        </p:nvSpPr>
        <p:spPr>
          <a:xfrm>
            <a:off x="2587752" y="4809744"/>
            <a:ext cx="1463040" cy="502920"/>
          </a:xfrm>
          <a:prstGeom prst="rect">
            <a:avLst/>
          </a:prstGeom>
          <a:solidFill>
            <a:srgbClr val="EEF3F7"/>
          </a:solidFill>
          <a:ln/>
        </p:spPr>
        <p:txBody>
          <a:bodyPr/>
          <a:lstStyle/>
          <a:p>
            <a:endParaRPr lang="fr-FR"/>
          </a:p>
        </p:txBody>
      </p:sp>
      <p:sp>
        <p:nvSpPr>
          <p:cNvPr id="91" name="Text 89"/>
          <p:cNvSpPr/>
          <p:nvPr/>
        </p:nvSpPr>
        <p:spPr>
          <a:xfrm>
            <a:off x="2660904" y="480974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UML class</a:t>
            </a:r>
            <a:endParaRPr lang="en-US" sz="900" dirty="0"/>
          </a:p>
        </p:txBody>
      </p:sp>
      <p:sp>
        <p:nvSpPr>
          <p:cNvPr id="92" name="Shape 90"/>
          <p:cNvSpPr/>
          <p:nvPr/>
        </p:nvSpPr>
        <p:spPr>
          <a:xfrm>
            <a:off x="4050792" y="4809744"/>
            <a:ext cx="411480" cy="502920"/>
          </a:xfrm>
          <a:prstGeom prst="rect">
            <a:avLst/>
          </a:prstGeom>
          <a:solidFill>
            <a:srgbClr val="EEF3F7"/>
          </a:solidFill>
          <a:ln/>
        </p:spPr>
        <p:txBody>
          <a:bodyPr/>
          <a:lstStyle/>
          <a:p>
            <a:endParaRPr lang="fr-FR"/>
          </a:p>
        </p:txBody>
      </p:sp>
      <p:sp>
        <p:nvSpPr>
          <p:cNvPr id="93" name="Text 91"/>
          <p:cNvSpPr/>
          <p:nvPr/>
        </p:nvSpPr>
        <p:spPr>
          <a:xfrm>
            <a:off x="4123944" y="480974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33</a:t>
            </a:r>
            <a:endParaRPr lang="en-US" sz="900" dirty="0"/>
          </a:p>
        </p:txBody>
      </p:sp>
      <p:sp>
        <p:nvSpPr>
          <p:cNvPr id="94" name="Shape 92"/>
          <p:cNvSpPr/>
          <p:nvPr/>
        </p:nvSpPr>
        <p:spPr>
          <a:xfrm>
            <a:off x="4462272" y="4809744"/>
            <a:ext cx="1188720" cy="502920"/>
          </a:xfrm>
          <a:prstGeom prst="rect">
            <a:avLst/>
          </a:prstGeom>
          <a:solidFill>
            <a:srgbClr val="EEF3F7"/>
          </a:solidFill>
          <a:ln/>
        </p:spPr>
        <p:txBody>
          <a:bodyPr/>
          <a:lstStyle/>
          <a:p>
            <a:endParaRPr lang="fr-FR"/>
          </a:p>
        </p:txBody>
      </p:sp>
      <p:sp>
        <p:nvSpPr>
          <p:cNvPr id="95" name="Text 93"/>
          <p:cNvSpPr/>
          <p:nvPr/>
        </p:nvSpPr>
        <p:spPr>
          <a:xfrm>
            <a:off x="4535424" y="480974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PlantUML</a:t>
            </a:r>
            <a:endParaRPr lang="en-US" sz="900" dirty="0"/>
          </a:p>
        </p:txBody>
      </p:sp>
      <p:sp>
        <p:nvSpPr>
          <p:cNvPr id="96" name="Shape 94"/>
          <p:cNvSpPr/>
          <p:nvPr/>
        </p:nvSpPr>
        <p:spPr>
          <a:xfrm>
            <a:off x="548640" y="5312664"/>
            <a:ext cx="347472" cy="502920"/>
          </a:xfrm>
          <a:prstGeom prst="rect">
            <a:avLst/>
          </a:prstGeom>
          <a:solidFill>
            <a:srgbClr val="FFFFFF"/>
          </a:solidFill>
          <a:ln/>
        </p:spPr>
        <p:txBody>
          <a:bodyPr/>
          <a:lstStyle/>
          <a:p>
            <a:endParaRPr lang="fr-FR"/>
          </a:p>
        </p:txBody>
      </p:sp>
      <p:sp>
        <p:nvSpPr>
          <p:cNvPr id="97" name="Text 95"/>
          <p:cNvSpPr/>
          <p:nvPr/>
        </p:nvSpPr>
        <p:spPr>
          <a:xfrm>
            <a:off x="621792" y="531266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8</a:t>
            </a:r>
            <a:endParaRPr lang="en-US" sz="900" dirty="0"/>
          </a:p>
        </p:txBody>
      </p:sp>
      <p:sp>
        <p:nvSpPr>
          <p:cNvPr id="98" name="Shape 96"/>
          <p:cNvSpPr/>
          <p:nvPr/>
        </p:nvSpPr>
        <p:spPr>
          <a:xfrm>
            <a:off x="896112" y="5312664"/>
            <a:ext cx="1691640" cy="502920"/>
          </a:xfrm>
          <a:prstGeom prst="rect">
            <a:avLst/>
          </a:prstGeom>
          <a:solidFill>
            <a:srgbClr val="FFFFFF"/>
          </a:solidFill>
          <a:ln/>
        </p:spPr>
        <p:txBody>
          <a:bodyPr/>
          <a:lstStyle/>
          <a:p>
            <a:endParaRPr lang="fr-FR"/>
          </a:p>
        </p:txBody>
      </p:sp>
      <p:sp>
        <p:nvSpPr>
          <p:cNvPr id="99" name="Text 97"/>
          <p:cNvSpPr/>
          <p:nvPr/>
        </p:nvSpPr>
        <p:spPr>
          <a:xfrm>
            <a:off x="969264" y="531266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Chaîne CI/CD</a:t>
            </a:r>
            <a:endParaRPr lang="en-US" sz="980" dirty="0"/>
          </a:p>
        </p:txBody>
      </p:sp>
      <p:sp>
        <p:nvSpPr>
          <p:cNvPr id="100" name="Shape 98"/>
          <p:cNvSpPr/>
          <p:nvPr/>
        </p:nvSpPr>
        <p:spPr>
          <a:xfrm>
            <a:off x="2587752" y="5312664"/>
            <a:ext cx="1463040" cy="502920"/>
          </a:xfrm>
          <a:prstGeom prst="rect">
            <a:avLst/>
          </a:prstGeom>
          <a:solidFill>
            <a:srgbClr val="FFFFFF"/>
          </a:solidFill>
          <a:ln/>
        </p:spPr>
        <p:txBody>
          <a:bodyPr/>
          <a:lstStyle/>
          <a:p>
            <a:endParaRPr lang="fr-FR"/>
          </a:p>
        </p:txBody>
      </p:sp>
      <p:sp>
        <p:nvSpPr>
          <p:cNvPr id="101" name="Text 99"/>
          <p:cNvSpPr/>
          <p:nvPr/>
        </p:nvSpPr>
        <p:spPr>
          <a:xfrm>
            <a:off x="2660904" y="531266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Flux orienté</a:t>
            </a:r>
            <a:endParaRPr lang="en-US" sz="900" dirty="0"/>
          </a:p>
        </p:txBody>
      </p:sp>
      <p:sp>
        <p:nvSpPr>
          <p:cNvPr id="102" name="Shape 100"/>
          <p:cNvSpPr/>
          <p:nvPr/>
        </p:nvSpPr>
        <p:spPr>
          <a:xfrm>
            <a:off x="4050792" y="5312664"/>
            <a:ext cx="411480" cy="502920"/>
          </a:xfrm>
          <a:prstGeom prst="rect">
            <a:avLst/>
          </a:prstGeom>
          <a:solidFill>
            <a:srgbClr val="FFFFFF"/>
          </a:solidFill>
          <a:ln/>
        </p:spPr>
        <p:txBody>
          <a:bodyPr/>
          <a:lstStyle/>
          <a:p>
            <a:endParaRPr lang="fr-FR"/>
          </a:p>
        </p:txBody>
      </p:sp>
      <p:sp>
        <p:nvSpPr>
          <p:cNvPr id="103" name="Text 101"/>
          <p:cNvSpPr/>
          <p:nvPr/>
        </p:nvSpPr>
        <p:spPr>
          <a:xfrm>
            <a:off x="4123944" y="531266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37</a:t>
            </a:r>
            <a:endParaRPr lang="en-US" sz="900" dirty="0"/>
          </a:p>
        </p:txBody>
      </p:sp>
      <p:sp>
        <p:nvSpPr>
          <p:cNvPr id="104" name="Shape 102"/>
          <p:cNvSpPr/>
          <p:nvPr/>
        </p:nvSpPr>
        <p:spPr>
          <a:xfrm>
            <a:off x="4462272" y="5312664"/>
            <a:ext cx="1188720" cy="502920"/>
          </a:xfrm>
          <a:prstGeom prst="rect">
            <a:avLst/>
          </a:prstGeom>
          <a:solidFill>
            <a:srgbClr val="FFFFFF"/>
          </a:solidFill>
          <a:ln/>
        </p:spPr>
        <p:txBody>
          <a:bodyPr/>
          <a:lstStyle/>
          <a:p>
            <a:endParaRPr lang="fr-FR"/>
          </a:p>
        </p:txBody>
      </p:sp>
      <p:sp>
        <p:nvSpPr>
          <p:cNvPr id="105" name="Text 103"/>
          <p:cNvSpPr/>
          <p:nvPr/>
        </p:nvSpPr>
        <p:spPr>
          <a:xfrm>
            <a:off x="4535424" y="531266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Mermaid</a:t>
            </a:r>
            <a:endParaRPr lang="en-US" sz="900" dirty="0"/>
          </a:p>
        </p:txBody>
      </p:sp>
      <p:sp>
        <p:nvSpPr>
          <p:cNvPr id="106" name="Shape 104"/>
          <p:cNvSpPr/>
          <p:nvPr/>
        </p:nvSpPr>
        <p:spPr>
          <a:xfrm>
            <a:off x="6537960" y="1792224"/>
            <a:ext cx="347472" cy="502920"/>
          </a:xfrm>
          <a:prstGeom prst="rect">
            <a:avLst/>
          </a:prstGeom>
          <a:solidFill>
            <a:srgbClr val="EEF3F7"/>
          </a:solidFill>
          <a:ln/>
        </p:spPr>
        <p:txBody>
          <a:bodyPr/>
          <a:lstStyle/>
          <a:p>
            <a:endParaRPr lang="fr-FR"/>
          </a:p>
        </p:txBody>
      </p:sp>
      <p:sp>
        <p:nvSpPr>
          <p:cNvPr id="107" name="Text 105"/>
          <p:cNvSpPr/>
          <p:nvPr/>
        </p:nvSpPr>
        <p:spPr>
          <a:xfrm>
            <a:off x="6611112" y="179222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9</a:t>
            </a:r>
            <a:endParaRPr lang="en-US" sz="900" dirty="0"/>
          </a:p>
        </p:txBody>
      </p:sp>
      <p:sp>
        <p:nvSpPr>
          <p:cNvPr id="108" name="Shape 106"/>
          <p:cNvSpPr/>
          <p:nvPr/>
        </p:nvSpPr>
        <p:spPr>
          <a:xfrm>
            <a:off x="6885432" y="1792224"/>
            <a:ext cx="1691640" cy="502920"/>
          </a:xfrm>
          <a:prstGeom prst="rect">
            <a:avLst/>
          </a:prstGeom>
          <a:solidFill>
            <a:srgbClr val="EEF3F7"/>
          </a:solidFill>
          <a:ln/>
        </p:spPr>
        <p:txBody>
          <a:bodyPr/>
          <a:lstStyle/>
          <a:p>
            <a:endParaRPr lang="fr-FR"/>
          </a:p>
        </p:txBody>
      </p:sp>
      <p:sp>
        <p:nvSpPr>
          <p:cNvPr id="109" name="Text 107"/>
          <p:cNvSpPr/>
          <p:nvPr/>
        </p:nvSpPr>
        <p:spPr>
          <a:xfrm>
            <a:off x="6958584" y="179222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Architecture d'observabilité</a:t>
            </a:r>
            <a:endParaRPr lang="en-US" sz="980" dirty="0"/>
          </a:p>
        </p:txBody>
      </p:sp>
      <p:sp>
        <p:nvSpPr>
          <p:cNvPr id="110" name="Shape 108"/>
          <p:cNvSpPr/>
          <p:nvPr/>
        </p:nvSpPr>
        <p:spPr>
          <a:xfrm>
            <a:off x="8577072" y="1792224"/>
            <a:ext cx="1463040" cy="502920"/>
          </a:xfrm>
          <a:prstGeom prst="rect">
            <a:avLst/>
          </a:prstGeom>
          <a:solidFill>
            <a:srgbClr val="EEF3F7"/>
          </a:solidFill>
          <a:ln/>
        </p:spPr>
        <p:txBody>
          <a:bodyPr/>
          <a:lstStyle/>
          <a:p>
            <a:endParaRPr lang="fr-FR"/>
          </a:p>
        </p:txBody>
      </p:sp>
      <p:sp>
        <p:nvSpPr>
          <p:cNvPr id="111" name="Text 109"/>
          <p:cNvSpPr/>
          <p:nvPr/>
        </p:nvSpPr>
        <p:spPr>
          <a:xfrm>
            <a:off x="8650224" y="179222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Flux de données</a:t>
            </a:r>
            <a:endParaRPr lang="en-US" sz="900" dirty="0"/>
          </a:p>
        </p:txBody>
      </p:sp>
      <p:sp>
        <p:nvSpPr>
          <p:cNvPr id="112" name="Shape 110"/>
          <p:cNvSpPr/>
          <p:nvPr/>
        </p:nvSpPr>
        <p:spPr>
          <a:xfrm>
            <a:off x="10040112" y="1792224"/>
            <a:ext cx="411480" cy="502920"/>
          </a:xfrm>
          <a:prstGeom prst="rect">
            <a:avLst/>
          </a:prstGeom>
          <a:solidFill>
            <a:srgbClr val="EEF3F7"/>
          </a:solidFill>
          <a:ln/>
        </p:spPr>
        <p:txBody>
          <a:bodyPr/>
          <a:lstStyle/>
          <a:p>
            <a:endParaRPr lang="fr-FR"/>
          </a:p>
        </p:txBody>
      </p:sp>
      <p:sp>
        <p:nvSpPr>
          <p:cNvPr id="113" name="Text 111"/>
          <p:cNvSpPr/>
          <p:nvPr/>
        </p:nvSpPr>
        <p:spPr>
          <a:xfrm>
            <a:off x="10113264" y="179222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40</a:t>
            </a:r>
            <a:endParaRPr lang="en-US" sz="900" dirty="0"/>
          </a:p>
        </p:txBody>
      </p:sp>
      <p:sp>
        <p:nvSpPr>
          <p:cNvPr id="114" name="Shape 112"/>
          <p:cNvSpPr/>
          <p:nvPr/>
        </p:nvSpPr>
        <p:spPr>
          <a:xfrm>
            <a:off x="10451592" y="1792224"/>
            <a:ext cx="1188720" cy="502920"/>
          </a:xfrm>
          <a:prstGeom prst="rect">
            <a:avLst/>
          </a:prstGeom>
          <a:solidFill>
            <a:srgbClr val="EEF3F7"/>
          </a:solidFill>
          <a:ln/>
        </p:spPr>
        <p:txBody>
          <a:bodyPr/>
          <a:lstStyle/>
          <a:p>
            <a:endParaRPr lang="fr-FR"/>
          </a:p>
        </p:txBody>
      </p:sp>
      <p:sp>
        <p:nvSpPr>
          <p:cNvPr id="115" name="Text 113"/>
          <p:cNvSpPr/>
          <p:nvPr/>
        </p:nvSpPr>
        <p:spPr>
          <a:xfrm>
            <a:off x="10524744" y="179222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draw.io / Mermaid</a:t>
            </a:r>
            <a:endParaRPr lang="en-US" sz="900" dirty="0"/>
          </a:p>
        </p:txBody>
      </p:sp>
      <p:sp>
        <p:nvSpPr>
          <p:cNvPr id="116" name="Shape 114"/>
          <p:cNvSpPr/>
          <p:nvPr/>
        </p:nvSpPr>
        <p:spPr>
          <a:xfrm>
            <a:off x="6537960" y="2295144"/>
            <a:ext cx="347472" cy="502920"/>
          </a:xfrm>
          <a:prstGeom prst="rect">
            <a:avLst/>
          </a:prstGeom>
          <a:solidFill>
            <a:srgbClr val="FFFFFF"/>
          </a:solidFill>
          <a:ln/>
        </p:spPr>
        <p:txBody>
          <a:bodyPr/>
          <a:lstStyle/>
          <a:p>
            <a:endParaRPr lang="fr-FR"/>
          </a:p>
        </p:txBody>
      </p:sp>
      <p:sp>
        <p:nvSpPr>
          <p:cNvPr id="117" name="Text 115"/>
          <p:cNvSpPr/>
          <p:nvPr/>
        </p:nvSpPr>
        <p:spPr>
          <a:xfrm>
            <a:off x="6611112" y="229514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10</a:t>
            </a:r>
            <a:endParaRPr lang="en-US" sz="900" dirty="0"/>
          </a:p>
        </p:txBody>
      </p:sp>
      <p:sp>
        <p:nvSpPr>
          <p:cNvPr id="118" name="Shape 116"/>
          <p:cNvSpPr/>
          <p:nvPr/>
        </p:nvSpPr>
        <p:spPr>
          <a:xfrm>
            <a:off x="6885432" y="2295144"/>
            <a:ext cx="1691640" cy="502920"/>
          </a:xfrm>
          <a:prstGeom prst="rect">
            <a:avLst/>
          </a:prstGeom>
          <a:solidFill>
            <a:srgbClr val="FFFFFF"/>
          </a:solidFill>
          <a:ln/>
        </p:spPr>
        <p:txBody>
          <a:bodyPr/>
          <a:lstStyle/>
          <a:p>
            <a:endParaRPr lang="fr-FR"/>
          </a:p>
        </p:txBody>
      </p:sp>
      <p:sp>
        <p:nvSpPr>
          <p:cNvPr id="119" name="Text 117"/>
          <p:cNvSpPr/>
          <p:nvPr/>
        </p:nvSpPr>
        <p:spPr>
          <a:xfrm>
            <a:off x="6958584" y="229514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Work Breakdown Structure</a:t>
            </a:r>
            <a:endParaRPr lang="en-US" sz="980" dirty="0"/>
          </a:p>
        </p:txBody>
      </p:sp>
      <p:sp>
        <p:nvSpPr>
          <p:cNvPr id="120" name="Shape 118"/>
          <p:cNvSpPr/>
          <p:nvPr/>
        </p:nvSpPr>
        <p:spPr>
          <a:xfrm>
            <a:off x="8577072" y="2295144"/>
            <a:ext cx="1463040" cy="502920"/>
          </a:xfrm>
          <a:prstGeom prst="rect">
            <a:avLst/>
          </a:prstGeom>
          <a:solidFill>
            <a:srgbClr val="FFFFFF"/>
          </a:solidFill>
          <a:ln/>
        </p:spPr>
        <p:txBody>
          <a:bodyPr/>
          <a:lstStyle/>
          <a:p>
            <a:endParaRPr lang="fr-FR"/>
          </a:p>
        </p:txBody>
      </p:sp>
      <p:sp>
        <p:nvSpPr>
          <p:cNvPr id="121" name="Text 119"/>
          <p:cNvSpPr/>
          <p:nvPr/>
        </p:nvSpPr>
        <p:spPr>
          <a:xfrm>
            <a:off x="8650224" y="229514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Arborescence 3 niveaux</a:t>
            </a:r>
            <a:endParaRPr lang="en-US" sz="900" dirty="0"/>
          </a:p>
        </p:txBody>
      </p:sp>
      <p:sp>
        <p:nvSpPr>
          <p:cNvPr id="122" name="Shape 120"/>
          <p:cNvSpPr/>
          <p:nvPr/>
        </p:nvSpPr>
        <p:spPr>
          <a:xfrm>
            <a:off x="10040112" y="2295144"/>
            <a:ext cx="411480" cy="502920"/>
          </a:xfrm>
          <a:prstGeom prst="rect">
            <a:avLst/>
          </a:prstGeom>
          <a:solidFill>
            <a:srgbClr val="FFFFFF"/>
          </a:solidFill>
          <a:ln/>
        </p:spPr>
        <p:txBody>
          <a:bodyPr/>
          <a:lstStyle/>
          <a:p>
            <a:endParaRPr lang="fr-FR"/>
          </a:p>
        </p:txBody>
      </p:sp>
      <p:sp>
        <p:nvSpPr>
          <p:cNvPr id="123" name="Text 121"/>
          <p:cNvSpPr/>
          <p:nvPr/>
        </p:nvSpPr>
        <p:spPr>
          <a:xfrm>
            <a:off x="10113264" y="229514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45</a:t>
            </a:r>
            <a:endParaRPr lang="en-US" sz="900" dirty="0"/>
          </a:p>
        </p:txBody>
      </p:sp>
      <p:sp>
        <p:nvSpPr>
          <p:cNvPr id="124" name="Shape 122"/>
          <p:cNvSpPr/>
          <p:nvPr/>
        </p:nvSpPr>
        <p:spPr>
          <a:xfrm>
            <a:off x="10451592" y="2295144"/>
            <a:ext cx="1188720" cy="502920"/>
          </a:xfrm>
          <a:prstGeom prst="rect">
            <a:avLst/>
          </a:prstGeom>
          <a:solidFill>
            <a:srgbClr val="FFFFFF"/>
          </a:solidFill>
          <a:ln/>
        </p:spPr>
        <p:txBody>
          <a:bodyPr/>
          <a:lstStyle/>
          <a:p>
            <a:endParaRPr lang="fr-FR"/>
          </a:p>
        </p:txBody>
      </p:sp>
      <p:sp>
        <p:nvSpPr>
          <p:cNvPr id="125" name="Text 123"/>
          <p:cNvSpPr/>
          <p:nvPr/>
        </p:nvSpPr>
        <p:spPr>
          <a:xfrm>
            <a:off x="10524744" y="229514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Mermaid / XMind</a:t>
            </a:r>
            <a:endParaRPr lang="en-US" sz="900" dirty="0"/>
          </a:p>
        </p:txBody>
      </p:sp>
      <p:sp>
        <p:nvSpPr>
          <p:cNvPr id="126" name="Shape 124"/>
          <p:cNvSpPr/>
          <p:nvPr/>
        </p:nvSpPr>
        <p:spPr>
          <a:xfrm>
            <a:off x="6537960" y="2798064"/>
            <a:ext cx="347472" cy="502920"/>
          </a:xfrm>
          <a:prstGeom prst="rect">
            <a:avLst/>
          </a:prstGeom>
          <a:solidFill>
            <a:srgbClr val="EEF3F7"/>
          </a:solidFill>
          <a:ln/>
        </p:spPr>
        <p:txBody>
          <a:bodyPr/>
          <a:lstStyle/>
          <a:p>
            <a:endParaRPr lang="fr-FR"/>
          </a:p>
        </p:txBody>
      </p:sp>
      <p:sp>
        <p:nvSpPr>
          <p:cNvPr id="127" name="Text 125"/>
          <p:cNvSpPr/>
          <p:nvPr/>
        </p:nvSpPr>
        <p:spPr>
          <a:xfrm>
            <a:off x="6611112" y="279806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11</a:t>
            </a:r>
            <a:endParaRPr lang="en-US" sz="900" dirty="0"/>
          </a:p>
        </p:txBody>
      </p:sp>
      <p:sp>
        <p:nvSpPr>
          <p:cNvPr id="128" name="Shape 126"/>
          <p:cNvSpPr/>
          <p:nvPr/>
        </p:nvSpPr>
        <p:spPr>
          <a:xfrm>
            <a:off x="6885432" y="2798064"/>
            <a:ext cx="1691640" cy="502920"/>
          </a:xfrm>
          <a:prstGeom prst="rect">
            <a:avLst/>
          </a:prstGeom>
          <a:solidFill>
            <a:srgbClr val="EEF3F7"/>
          </a:solidFill>
          <a:ln/>
        </p:spPr>
        <p:txBody>
          <a:bodyPr/>
          <a:lstStyle/>
          <a:p>
            <a:endParaRPr lang="fr-FR"/>
          </a:p>
        </p:txBody>
      </p:sp>
      <p:sp>
        <p:nvSpPr>
          <p:cNvPr id="129" name="Text 127"/>
          <p:cNvSpPr/>
          <p:nvPr/>
        </p:nvSpPr>
        <p:spPr>
          <a:xfrm>
            <a:off x="6958584" y="279806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PERT et chemin critique</a:t>
            </a:r>
            <a:endParaRPr lang="en-US" sz="980" dirty="0"/>
          </a:p>
        </p:txBody>
      </p:sp>
      <p:sp>
        <p:nvSpPr>
          <p:cNvPr id="130" name="Shape 128"/>
          <p:cNvSpPr/>
          <p:nvPr/>
        </p:nvSpPr>
        <p:spPr>
          <a:xfrm>
            <a:off x="8577072" y="2798064"/>
            <a:ext cx="1463040" cy="502920"/>
          </a:xfrm>
          <a:prstGeom prst="rect">
            <a:avLst/>
          </a:prstGeom>
          <a:solidFill>
            <a:srgbClr val="EEF3F7"/>
          </a:solidFill>
          <a:ln/>
        </p:spPr>
        <p:txBody>
          <a:bodyPr/>
          <a:lstStyle/>
          <a:p>
            <a:endParaRPr lang="fr-FR"/>
          </a:p>
        </p:txBody>
      </p:sp>
      <p:sp>
        <p:nvSpPr>
          <p:cNvPr id="131" name="Text 129"/>
          <p:cNvSpPr/>
          <p:nvPr/>
        </p:nvSpPr>
        <p:spPr>
          <a:xfrm>
            <a:off x="8650224" y="279806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Réseau de dépendances</a:t>
            </a:r>
            <a:endParaRPr lang="en-US" sz="900" dirty="0"/>
          </a:p>
        </p:txBody>
      </p:sp>
      <p:sp>
        <p:nvSpPr>
          <p:cNvPr id="132" name="Shape 130"/>
          <p:cNvSpPr/>
          <p:nvPr/>
        </p:nvSpPr>
        <p:spPr>
          <a:xfrm>
            <a:off x="10040112" y="2798064"/>
            <a:ext cx="411480" cy="502920"/>
          </a:xfrm>
          <a:prstGeom prst="rect">
            <a:avLst/>
          </a:prstGeom>
          <a:solidFill>
            <a:srgbClr val="EEF3F7"/>
          </a:solidFill>
          <a:ln/>
        </p:spPr>
        <p:txBody>
          <a:bodyPr/>
          <a:lstStyle/>
          <a:p>
            <a:endParaRPr lang="fr-FR"/>
          </a:p>
        </p:txBody>
      </p:sp>
      <p:sp>
        <p:nvSpPr>
          <p:cNvPr id="133" name="Text 131"/>
          <p:cNvSpPr/>
          <p:nvPr/>
        </p:nvSpPr>
        <p:spPr>
          <a:xfrm>
            <a:off x="10113264" y="279806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46</a:t>
            </a:r>
            <a:endParaRPr lang="en-US" sz="900" dirty="0"/>
          </a:p>
        </p:txBody>
      </p:sp>
      <p:sp>
        <p:nvSpPr>
          <p:cNvPr id="134" name="Shape 132"/>
          <p:cNvSpPr/>
          <p:nvPr/>
        </p:nvSpPr>
        <p:spPr>
          <a:xfrm>
            <a:off x="10451592" y="2798064"/>
            <a:ext cx="1188720" cy="502920"/>
          </a:xfrm>
          <a:prstGeom prst="rect">
            <a:avLst/>
          </a:prstGeom>
          <a:solidFill>
            <a:srgbClr val="EEF3F7"/>
          </a:solidFill>
          <a:ln/>
        </p:spPr>
        <p:txBody>
          <a:bodyPr/>
          <a:lstStyle/>
          <a:p>
            <a:endParaRPr lang="fr-FR"/>
          </a:p>
        </p:txBody>
      </p:sp>
      <p:sp>
        <p:nvSpPr>
          <p:cNvPr id="135" name="Text 133"/>
          <p:cNvSpPr/>
          <p:nvPr/>
        </p:nvSpPr>
        <p:spPr>
          <a:xfrm>
            <a:off x="10524744" y="279806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Mermaid</a:t>
            </a:r>
            <a:endParaRPr lang="en-US" sz="900" dirty="0"/>
          </a:p>
        </p:txBody>
      </p:sp>
      <p:sp>
        <p:nvSpPr>
          <p:cNvPr id="136" name="Shape 134"/>
          <p:cNvSpPr/>
          <p:nvPr/>
        </p:nvSpPr>
        <p:spPr>
          <a:xfrm>
            <a:off x="6537960" y="3300984"/>
            <a:ext cx="347472" cy="502920"/>
          </a:xfrm>
          <a:prstGeom prst="rect">
            <a:avLst/>
          </a:prstGeom>
          <a:solidFill>
            <a:srgbClr val="FFFFFF"/>
          </a:solidFill>
          <a:ln/>
        </p:spPr>
        <p:txBody>
          <a:bodyPr/>
          <a:lstStyle/>
          <a:p>
            <a:endParaRPr lang="fr-FR"/>
          </a:p>
        </p:txBody>
      </p:sp>
      <p:sp>
        <p:nvSpPr>
          <p:cNvPr id="137" name="Text 135"/>
          <p:cNvSpPr/>
          <p:nvPr/>
        </p:nvSpPr>
        <p:spPr>
          <a:xfrm>
            <a:off x="6611112" y="330098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12</a:t>
            </a:r>
            <a:endParaRPr lang="en-US" sz="900" dirty="0"/>
          </a:p>
        </p:txBody>
      </p:sp>
      <p:sp>
        <p:nvSpPr>
          <p:cNvPr id="138" name="Shape 136"/>
          <p:cNvSpPr/>
          <p:nvPr/>
        </p:nvSpPr>
        <p:spPr>
          <a:xfrm>
            <a:off x="6885432" y="3300984"/>
            <a:ext cx="1691640" cy="502920"/>
          </a:xfrm>
          <a:prstGeom prst="rect">
            <a:avLst/>
          </a:prstGeom>
          <a:solidFill>
            <a:srgbClr val="FFFFFF"/>
          </a:solidFill>
          <a:ln/>
        </p:spPr>
        <p:txBody>
          <a:bodyPr/>
          <a:lstStyle/>
          <a:p>
            <a:endParaRPr lang="fr-FR"/>
          </a:p>
        </p:txBody>
      </p:sp>
      <p:sp>
        <p:nvSpPr>
          <p:cNvPr id="139" name="Text 137"/>
          <p:cNvSpPr/>
          <p:nvPr/>
        </p:nvSpPr>
        <p:spPr>
          <a:xfrm>
            <a:off x="6958584" y="330098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Planning de Gantt</a:t>
            </a:r>
            <a:endParaRPr lang="en-US" sz="980" dirty="0"/>
          </a:p>
        </p:txBody>
      </p:sp>
      <p:sp>
        <p:nvSpPr>
          <p:cNvPr id="140" name="Shape 138"/>
          <p:cNvSpPr/>
          <p:nvPr/>
        </p:nvSpPr>
        <p:spPr>
          <a:xfrm>
            <a:off x="8577072" y="3300984"/>
            <a:ext cx="1463040" cy="502920"/>
          </a:xfrm>
          <a:prstGeom prst="rect">
            <a:avLst/>
          </a:prstGeom>
          <a:solidFill>
            <a:srgbClr val="FFFFFF"/>
          </a:solidFill>
          <a:ln/>
        </p:spPr>
        <p:txBody>
          <a:bodyPr/>
          <a:lstStyle/>
          <a:p>
            <a:endParaRPr lang="fr-FR"/>
          </a:p>
        </p:txBody>
      </p:sp>
      <p:sp>
        <p:nvSpPr>
          <p:cNvPr id="141" name="Text 139"/>
          <p:cNvSpPr/>
          <p:nvPr/>
        </p:nvSpPr>
        <p:spPr>
          <a:xfrm>
            <a:off x="8650224" y="330098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Gantt jalonné</a:t>
            </a:r>
            <a:endParaRPr lang="en-US" sz="900" dirty="0"/>
          </a:p>
        </p:txBody>
      </p:sp>
      <p:sp>
        <p:nvSpPr>
          <p:cNvPr id="142" name="Shape 140"/>
          <p:cNvSpPr/>
          <p:nvPr/>
        </p:nvSpPr>
        <p:spPr>
          <a:xfrm>
            <a:off x="10040112" y="3300984"/>
            <a:ext cx="411480" cy="502920"/>
          </a:xfrm>
          <a:prstGeom prst="rect">
            <a:avLst/>
          </a:prstGeom>
          <a:solidFill>
            <a:srgbClr val="FFFFFF"/>
          </a:solidFill>
          <a:ln/>
        </p:spPr>
        <p:txBody>
          <a:bodyPr/>
          <a:lstStyle/>
          <a:p>
            <a:endParaRPr lang="fr-FR"/>
          </a:p>
        </p:txBody>
      </p:sp>
      <p:sp>
        <p:nvSpPr>
          <p:cNvPr id="143" name="Text 141"/>
          <p:cNvSpPr/>
          <p:nvPr/>
        </p:nvSpPr>
        <p:spPr>
          <a:xfrm>
            <a:off x="10113264" y="330098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47</a:t>
            </a:r>
            <a:endParaRPr lang="en-US" sz="900" dirty="0"/>
          </a:p>
        </p:txBody>
      </p:sp>
      <p:sp>
        <p:nvSpPr>
          <p:cNvPr id="144" name="Shape 142"/>
          <p:cNvSpPr/>
          <p:nvPr/>
        </p:nvSpPr>
        <p:spPr>
          <a:xfrm>
            <a:off x="10451592" y="3300984"/>
            <a:ext cx="1188720" cy="502920"/>
          </a:xfrm>
          <a:prstGeom prst="rect">
            <a:avLst/>
          </a:prstGeom>
          <a:solidFill>
            <a:srgbClr val="FFFFFF"/>
          </a:solidFill>
          <a:ln/>
        </p:spPr>
        <p:txBody>
          <a:bodyPr/>
          <a:lstStyle/>
          <a:p>
            <a:endParaRPr lang="fr-FR"/>
          </a:p>
        </p:txBody>
      </p:sp>
      <p:sp>
        <p:nvSpPr>
          <p:cNvPr id="145" name="Text 143"/>
          <p:cNvSpPr/>
          <p:nvPr/>
        </p:nvSpPr>
        <p:spPr>
          <a:xfrm>
            <a:off x="10524744" y="330098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Mermaid / GanttProject</a:t>
            </a:r>
            <a:endParaRPr lang="en-US" sz="900" dirty="0"/>
          </a:p>
        </p:txBody>
      </p:sp>
      <p:sp>
        <p:nvSpPr>
          <p:cNvPr id="146" name="Shape 144"/>
          <p:cNvSpPr/>
          <p:nvPr/>
        </p:nvSpPr>
        <p:spPr>
          <a:xfrm>
            <a:off x="6537960" y="3803904"/>
            <a:ext cx="347472" cy="502920"/>
          </a:xfrm>
          <a:prstGeom prst="rect">
            <a:avLst/>
          </a:prstGeom>
          <a:solidFill>
            <a:srgbClr val="EEF3F7"/>
          </a:solidFill>
          <a:ln/>
        </p:spPr>
        <p:txBody>
          <a:bodyPr/>
          <a:lstStyle/>
          <a:p>
            <a:endParaRPr lang="fr-FR"/>
          </a:p>
        </p:txBody>
      </p:sp>
      <p:sp>
        <p:nvSpPr>
          <p:cNvPr id="147" name="Text 145"/>
          <p:cNvSpPr/>
          <p:nvPr/>
        </p:nvSpPr>
        <p:spPr>
          <a:xfrm>
            <a:off x="6611112" y="380390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13</a:t>
            </a:r>
            <a:endParaRPr lang="en-US" sz="900" dirty="0"/>
          </a:p>
        </p:txBody>
      </p:sp>
      <p:sp>
        <p:nvSpPr>
          <p:cNvPr id="148" name="Shape 146"/>
          <p:cNvSpPr/>
          <p:nvPr/>
        </p:nvSpPr>
        <p:spPr>
          <a:xfrm>
            <a:off x="6885432" y="3803904"/>
            <a:ext cx="1691640" cy="502920"/>
          </a:xfrm>
          <a:prstGeom prst="rect">
            <a:avLst/>
          </a:prstGeom>
          <a:solidFill>
            <a:srgbClr val="EEF3F7"/>
          </a:solidFill>
          <a:ln/>
        </p:spPr>
        <p:txBody>
          <a:bodyPr/>
          <a:lstStyle/>
          <a:p>
            <a:endParaRPr lang="fr-FR"/>
          </a:p>
        </p:txBody>
      </p:sp>
      <p:sp>
        <p:nvSpPr>
          <p:cNvPr id="149" name="Text 147"/>
          <p:cNvSpPr/>
          <p:nvPr/>
        </p:nvSpPr>
        <p:spPr>
          <a:xfrm>
            <a:off x="6958584" y="380390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Séquence — téléversement</a:t>
            </a:r>
            <a:endParaRPr lang="en-US" sz="980" dirty="0"/>
          </a:p>
        </p:txBody>
      </p:sp>
      <p:sp>
        <p:nvSpPr>
          <p:cNvPr id="150" name="Shape 148"/>
          <p:cNvSpPr/>
          <p:nvPr/>
        </p:nvSpPr>
        <p:spPr>
          <a:xfrm>
            <a:off x="8577072" y="3803904"/>
            <a:ext cx="1463040" cy="502920"/>
          </a:xfrm>
          <a:prstGeom prst="rect">
            <a:avLst/>
          </a:prstGeom>
          <a:solidFill>
            <a:srgbClr val="EEF3F7"/>
          </a:solidFill>
          <a:ln/>
        </p:spPr>
        <p:txBody>
          <a:bodyPr/>
          <a:lstStyle/>
          <a:p>
            <a:endParaRPr lang="fr-FR"/>
          </a:p>
        </p:txBody>
      </p:sp>
      <p:sp>
        <p:nvSpPr>
          <p:cNvPr id="151" name="Text 149"/>
          <p:cNvSpPr/>
          <p:nvPr/>
        </p:nvSpPr>
        <p:spPr>
          <a:xfrm>
            <a:off x="8650224" y="380390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UML sequence</a:t>
            </a:r>
            <a:endParaRPr lang="en-US" sz="900" dirty="0"/>
          </a:p>
        </p:txBody>
      </p:sp>
      <p:sp>
        <p:nvSpPr>
          <p:cNvPr id="152" name="Shape 150"/>
          <p:cNvSpPr/>
          <p:nvPr/>
        </p:nvSpPr>
        <p:spPr>
          <a:xfrm>
            <a:off x="10040112" y="3803904"/>
            <a:ext cx="411480" cy="502920"/>
          </a:xfrm>
          <a:prstGeom prst="rect">
            <a:avLst/>
          </a:prstGeom>
          <a:solidFill>
            <a:srgbClr val="EEF3F7"/>
          </a:solidFill>
          <a:ln/>
        </p:spPr>
        <p:txBody>
          <a:bodyPr/>
          <a:lstStyle/>
          <a:p>
            <a:endParaRPr lang="fr-FR"/>
          </a:p>
        </p:txBody>
      </p:sp>
      <p:sp>
        <p:nvSpPr>
          <p:cNvPr id="153" name="Text 151"/>
          <p:cNvSpPr/>
          <p:nvPr/>
        </p:nvSpPr>
        <p:spPr>
          <a:xfrm>
            <a:off x="10113264" y="380390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59</a:t>
            </a:r>
            <a:endParaRPr lang="en-US" sz="900" dirty="0"/>
          </a:p>
        </p:txBody>
      </p:sp>
      <p:sp>
        <p:nvSpPr>
          <p:cNvPr id="154" name="Shape 152"/>
          <p:cNvSpPr/>
          <p:nvPr/>
        </p:nvSpPr>
        <p:spPr>
          <a:xfrm>
            <a:off x="10451592" y="3803904"/>
            <a:ext cx="1188720" cy="502920"/>
          </a:xfrm>
          <a:prstGeom prst="rect">
            <a:avLst/>
          </a:prstGeom>
          <a:solidFill>
            <a:srgbClr val="EEF3F7"/>
          </a:solidFill>
          <a:ln/>
        </p:spPr>
        <p:txBody>
          <a:bodyPr/>
          <a:lstStyle/>
          <a:p>
            <a:endParaRPr lang="fr-FR"/>
          </a:p>
        </p:txBody>
      </p:sp>
      <p:sp>
        <p:nvSpPr>
          <p:cNvPr id="155" name="Text 153"/>
          <p:cNvSpPr/>
          <p:nvPr/>
        </p:nvSpPr>
        <p:spPr>
          <a:xfrm>
            <a:off x="10524744" y="380390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PlantUML</a:t>
            </a:r>
            <a:endParaRPr lang="en-US" sz="900" dirty="0"/>
          </a:p>
        </p:txBody>
      </p:sp>
      <p:sp>
        <p:nvSpPr>
          <p:cNvPr id="156" name="Shape 154"/>
          <p:cNvSpPr/>
          <p:nvPr/>
        </p:nvSpPr>
        <p:spPr>
          <a:xfrm>
            <a:off x="6537960" y="4306824"/>
            <a:ext cx="347472" cy="502920"/>
          </a:xfrm>
          <a:prstGeom prst="rect">
            <a:avLst/>
          </a:prstGeom>
          <a:solidFill>
            <a:srgbClr val="FFFFFF"/>
          </a:solidFill>
          <a:ln/>
        </p:spPr>
        <p:txBody>
          <a:bodyPr/>
          <a:lstStyle/>
          <a:p>
            <a:endParaRPr lang="fr-FR"/>
          </a:p>
        </p:txBody>
      </p:sp>
      <p:sp>
        <p:nvSpPr>
          <p:cNvPr id="157" name="Text 155"/>
          <p:cNvSpPr/>
          <p:nvPr/>
        </p:nvSpPr>
        <p:spPr>
          <a:xfrm>
            <a:off x="6611112" y="430682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14</a:t>
            </a:r>
            <a:endParaRPr lang="en-US" sz="900" dirty="0"/>
          </a:p>
        </p:txBody>
      </p:sp>
      <p:sp>
        <p:nvSpPr>
          <p:cNvPr id="158" name="Shape 156"/>
          <p:cNvSpPr/>
          <p:nvPr/>
        </p:nvSpPr>
        <p:spPr>
          <a:xfrm>
            <a:off x="6885432" y="4306824"/>
            <a:ext cx="1691640" cy="502920"/>
          </a:xfrm>
          <a:prstGeom prst="rect">
            <a:avLst/>
          </a:prstGeom>
          <a:solidFill>
            <a:srgbClr val="FFFFFF"/>
          </a:solidFill>
          <a:ln/>
        </p:spPr>
        <p:txBody>
          <a:bodyPr/>
          <a:lstStyle/>
          <a:p>
            <a:endParaRPr lang="fr-FR"/>
          </a:p>
        </p:txBody>
      </p:sp>
      <p:sp>
        <p:nvSpPr>
          <p:cNvPr id="159" name="Text 157"/>
          <p:cNvSpPr/>
          <p:nvPr/>
        </p:nvSpPr>
        <p:spPr>
          <a:xfrm>
            <a:off x="6958584" y="430682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Séquence — publication</a:t>
            </a:r>
            <a:endParaRPr lang="en-US" sz="980" dirty="0"/>
          </a:p>
        </p:txBody>
      </p:sp>
      <p:sp>
        <p:nvSpPr>
          <p:cNvPr id="160" name="Shape 158"/>
          <p:cNvSpPr/>
          <p:nvPr/>
        </p:nvSpPr>
        <p:spPr>
          <a:xfrm>
            <a:off x="8577072" y="4306824"/>
            <a:ext cx="1463040" cy="502920"/>
          </a:xfrm>
          <a:prstGeom prst="rect">
            <a:avLst/>
          </a:prstGeom>
          <a:solidFill>
            <a:srgbClr val="FFFFFF"/>
          </a:solidFill>
          <a:ln/>
        </p:spPr>
        <p:txBody>
          <a:bodyPr/>
          <a:lstStyle/>
          <a:p>
            <a:endParaRPr lang="fr-FR"/>
          </a:p>
        </p:txBody>
      </p:sp>
      <p:sp>
        <p:nvSpPr>
          <p:cNvPr id="161" name="Text 159"/>
          <p:cNvSpPr/>
          <p:nvPr/>
        </p:nvSpPr>
        <p:spPr>
          <a:xfrm>
            <a:off x="8650224" y="430682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UML sequence</a:t>
            </a:r>
            <a:endParaRPr lang="en-US" sz="900" dirty="0"/>
          </a:p>
        </p:txBody>
      </p:sp>
      <p:sp>
        <p:nvSpPr>
          <p:cNvPr id="162" name="Shape 160"/>
          <p:cNvSpPr/>
          <p:nvPr/>
        </p:nvSpPr>
        <p:spPr>
          <a:xfrm>
            <a:off x="10040112" y="4306824"/>
            <a:ext cx="411480" cy="502920"/>
          </a:xfrm>
          <a:prstGeom prst="rect">
            <a:avLst/>
          </a:prstGeom>
          <a:solidFill>
            <a:srgbClr val="FFFFFF"/>
          </a:solidFill>
          <a:ln/>
        </p:spPr>
        <p:txBody>
          <a:bodyPr/>
          <a:lstStyle/>
          <a:p>
            <a:endParaRPr lang="fr-FR"/>
          </a:p>
        </p:txBody>
      </p:sp>
      <p:sp>
        <p:nvSpPr>
          <p:cNvPr id="163" name="Text 161"/>
          <p:cNvSpPr/>
          <p:nvPr/>
        </p:nvSpPr>
        <p:spPr>
          <a:xfrm>
            <a:off x="10113264" y="430682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60</a:t>
            </a:r>
            <a:endParaRPr lang="en-US" sz="900" dirty="0"/>
          </a:p>
        </p:txBody>
      </p:sp>
      <p:sp>
        <p:nvSpPr>
          <p:cNvPr id="164" name="Shape 162"/>
          <p:cNvSpPr/>
          <p:nvPr/>
        </p:nvSpPr>
        <p:spPr>
          <a:xfrm>
            <a:off x="10451592" y="4306824"/>
            <a:ext cx="1188720" cy="502920"/>
          </a:xfrm>
          <a:prstGeom prst="rect">
            <a:avLst/>
          </a:prstGeom>
          <a:solidFill>
            <a:srgbClr val="FFFFFF"/>
          </a:solidFill>
          <a:ln/>
        </p:spPr>
        <p:txBody>
          <a:bodyPr/>
          <a:lstStyle/>
          <a:p>
            <a:endParaRPr lang="fr-FR"/>
          </a:p>
        </p:txBody>
      </p:sp>
      <p:sp>
        <p:nvSpPr>
          <p:cNvPr id="165" name="Text 163"/>
          <p:cNvSpPr/>
          <p:nvPr/>
        </p:nvSpPr>
        <p:spPr>
          <a:xfrm>
            <a:off x="10524744" y="430682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PlantUML</a:t>
            </a:r>
            <a:endParaRPr lang="en-US" sz="900" dirty="0"/>
          </a:p>
        </p:txBody>
      </p:sp>
      <p:sp>
        <p:nvSpPr>
          <p:cNvPr id="166" name="Shape 164"/>
          <p:cNvSpPr/>
          <p:nvPr/>
        </p:nvSpPr>
        <p:spPr>
          <a:xfrm>
            <a:off x="6537960" y="4809744"/>
            <a:ext cx="347472" cy="502920"/>
          </a:xfrm>
          <a:prstGeom prst="rect">
            <a:avLst/>
          </a:prstGeom>
          <a:solidFill>
            <a:srgbClr val="EEF3F7"/>
          </a:solidFill>
          <a:ln/>
        </p:spPr>
        <p:txBody>
          <a:bodyPr/>
          <a:lstStyle/>
          <a:p>
            <a:endParaRPr lang="fr-FR"/>
          </a:p>
        </p:txBody>
      </p:sp>
      <p:sp>
        <p:nvSpPr>
          <p:cNvPr id="167" name="Text 165"/>
          <p:cNvSpPr/>
          <p:nvPr/>
        </p:nvSpPr>
        <p:spPr>
          <a:xfrm>
            <a:off x="6611112" y="4809744"/>
            <a:ext cx="219456" cy="502920"/>
          </a:xfrm>
          <a:prstGeom prst="rect">
            <a:avLst/>
          </a:prstGeom>
          <a:noFill/>
          <a:ln/>
        </p:spPr>
        <p:txBody>
          <a:bodyPr wrap="square" lIns="0" tIns="0" rIns="0" bIns="0" rtlCol="0" anchor="ctr"/>
          <a:lstStyle/>
          <a:p>
            <a:pPr marL="0" indent="0">
              <a:lnSpc>
                <a:spcPts val="1150"/>
              </a:lnSpc>
              <a:buNone/>
            </a:pPr>
            <a:r>
              <a:rPr lang="en-US" sz="900" b="1" dirty="0">
                <a:solidFill>
                  <a:srgbClr val="00A896"/>
                </a:solidFill>
                <a:latin typeface="Calibri" pitchFamily="34" charset="0"/>
                <a:ea typeface="Calibri" pitchFamily="34" charset="-122"/>
                <a:cs typeface="Calibri" pitchFamily="34" charset="-120"/>
              </a:rPr>
              <a:t>15</a:t>
            </a:r>
            <a:endParaRPr lang="en-US" sz="900" dirty="0"/>
          </a:p>
        </p:txBody>
      </p:sp>
      <p:sp>
        <p:nvSpPr>
          <p:cNvPr id="168" name="Shape 166"/>
          <p:cNvSpPr/>
          <p:nvPr/>
        </p:nvSpPr>
        <p:spPr>
          <a:xfrm>
            <a:off x="6885432" y="4809744"/>
            <a:ext cx="1691640" cy="502920"/>
          </a:xfrm>
          <a:prstGeom prst="rect">
            <a:avLst/>
          </a:prstGeom>
          <a:solidFill>
            <a:srgbClr val="EEF3F7"/>
          </a:solidFill>
          <a:ln/>
        </p:spPr>
        <p:txBody>
          <a:bodyPr/>
          <a:lstStyle/>
          <a:p>
            <a:endParaRPr lang="fr-FR"/>
          </a:p>
        </p:txBody>
      </p:sp>
      <p:sp>
        <p:nvSpPr>
          <p:cNvPr id="169" name="Text 167"/>
          <p:cNvSpPr/>
          <p:nvPr/>
        </p:nvSpPr>
        <p:spPr>
          <a:xfrm>
            <a:off x="6958584" y="4809744"/>
            <a:ext cx="1563624" cy="502920"/>
          </a:xfrm>
          <a:prstGeom prst="rect">
            <a:avLst/>
          </a:prstGeom>
          <a:noFill/>
          <a:ln/>
        </p:spPr>
        <p:txBody>
          <a:bodyPr wrap="square" lIns="0" tIns="0" rIns="0" bIns="0" rtlCol="0" anchor="ctr"/>
          <a:lstStyle/>
          <a:p>
            <a:pPr marL="0" indent="0">
              <a:lnSpc>
                <a:spcPts val="1150"/>
              </a:lnSpc>
              <a:buNone/>
            </a:pPr>
            <a:r>
              <a:rPr lang="en-US" sz="980" b="1" dirty="0">
                <a:solidFill>
                  <a:srgbClr val="12263F"/>
                </a:solidFill>
                <a:latin typeface="Calibri" pitchFamily="34" charset="0"/>
                <a:ea typeface="Calibri" pitchFamily="34" charset="-122"/>
                <a:cs typeface="Calibri" pitchFamily="34" charset="-120"/>
              </a:rPr>
              <a:t>Séquence — session sécurisée</a:t>
            </a:r>
            <a:endParaRPr lang="en-US" sz="980" dirty="0"/>
          </a:p>
        </p:txBody>
      </p:sp>
      <p:sp>
        <p:nvSpPr>
          <p:cNvPr id="170" name="Shape 168"/>
          <p:cNvSpPr/>
          <p:nvPr/>
        </p:nvSpPr>
        <p:spPr>
          <a:xfrm>
            <a:off x="8577072" y="4809744"/>
            <a:ext cx="1463040" cy="502920"/>
          </a:xfrm>
          <a:prstGeom prst="rect">
            <a:avLst/>
          </a:prstGeom>
          <a:solidFill>
            <a:srgbClr val="EEF3F7"/>
          </a:solidFill>
          <a:ln/>
        </p:spPr>
        <p:txBody>
          <a:bodyPr/>
          <a:lstStyle/>
          <a:p>
            <a:endParaRPr lang="fr-FR"/>
          </a:p>
        </p:txBody>
      </p:sp>
      <p:sp>
        <p:nvSpPr>
          <p:cNvPr id="171" name="Text 169"/>
          <p:cNvSpPr/>
          <p:nvPr/>
        </p:nvSpPr>
        <p:spPr>
          <a:xfrm>
            <a:off x="8650224" y="4809744"/>
            <a:ext cx="133502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UML sequence</a:t>
            </a:r>
            <a:endParaRPr lang="en-US" sz="900" dirty="0"/>
          </a:p>
        </p:txBody>
      </p:sp>
      <p:sp>
        <p:nvSpPr>
          <p:cNvPr id="172" name="Shape 170"/>
          <p:cNvSpPr/>
          <p:nvPr/>
        </p:nvSpPr>
        <p:spPr>
          <a:xfrm>
            <a:off x="10040112" y="4809744"/>
            <a:ext cx="411480" cy="502920"/>
          </a:xfrm>
          <a:prstGeom prst="rect">
            <a:avLst/>
          </a:prstGeom>
          <a:solidFill>
            <a:srgbClr val="EEF3F7"/>
          </a:solidFill>
          <a:ln/>
        </p:spPr>
        <p:txBody>
          <a:bodyPr/>
          <a:lstStyle/>
          <a:p>
            <a:endParaRPr lang="fr-FR"/>
          </a:p>
        </p:txBody>
      </p:sp>
      <p:sp>
        <p:nvSpPr>
          <p:cNvPr id="173" name="Text 171"/>
          <p:cNvSpPr/>
          <p:nvPr/>
        </p:nvSpPr>
        <p:spPr>
          <a:xfrm>
            <a:off x="10113264" y="4809744"/>
            <a:ext cx="28346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61</a:t>
            </a:r>
            <a:endParaRPr lang="en-US" sz="900" dirty="0"/>
          </a:p>
        </p:txBody>
      </p:sp>
      <p:sp>
        <p:nvSpPr>
          <p:cNvPr id="174" name="Shape 172"/>
          <p:cNvSpPr/>
          <p:nvPr/>
        </p:nvSpPr>
        <p:spPr>
          <a:xfrm>
            <a:off x="10451592" y="4809744"/>
            <a:ext cx="1188720" cy="502920"/>
          </a:xfrm>
          <a:prstGeom prst="rect">
            <a:avLst/>
          </a:prstGeom>
          <a:solidFill>
            <a:srgbClr val="EEF3F7"/>
          </a:solidFill>
          <a:ln/>
        </p:spPr>
        <p:txBody>
          <a:bodyPr/>
          <a:lstStyle/>
          <a:p>
            <a:endParaRPr lang="fr-FR"/>
          </a:p>
        </p:txBody>
      </p:sp>
      <p:sp>
        <p:nvSpPr>
          <p:cNvPr id="175" name="Text 173"/>
          <p:cNvSpPr/>
          <p:nvPr/>
        </p:nvSpPr>
        <p:spPr>
          <a:xfrm>
            <a:off x="10524744" y="4809744"/>
            <a:ext cx="1060704" cy="502920"/>
          </a:xfrm>
          <a:prstGeom prst="rect">
            <a:avLst/>
          </a:prstGeom>
          <a:noFill/>
          <a:ln/>
        </p:spPr>
        <p:txBody>
          <a:bodyPr wrap="square" lIns="0" tIns="0" rIns="0" bIns="0" rtlCol="0" anchor="ctr"/>
          <a:lstStyle/>
          <a:p>
            <a:pPr marL="0" indent="0">
              <a:lnSpc>
                <a:spcPts val="1150"/>
              </a:lnSpc>
              <a:buNone/>
            </a:pPr>
            <a:r>
              <a:rPr lang="en-US" sz="900" dirty="0">
                <a:solidFill>
                  <a:srgbClr val="4A5769"/>
                </a:solidFill>
                <a:latin typeface="Calibri" pitchFamily="34" charset="0"/>
                <a:ea typeface="Calibri" pitchFamily="34" charset="-122"/>
                <a:cs typeface="Calibri" pitchFamily="34" charset="-120"/>
              </a:rPr>
              <a:t>PlantUML</a:t>
            </a:r>
            <a:endParaRPr lang="en-US" sz="900" dirty="0"/>
          </a:p>
        </p:txBody>
      </p:sp>
      <p:sp>
        <p:nvSpPr>
          <p:cNvPr id="176" name="Shape 174"/>
          <p:cNvSpPr/>
          <p:nvPr/>
        </p:nvSpPr>
        <p:spPr>
          <a:xfrm>
            <a:off x="548640" y="5925312"/>
            <a:ext cx="11091672" cy="420624"/>
          </a:xfrm>
          <a:prstGeom prst="roundRect">
            <a:avLst>
              <a:gd name="adj" fmla="val 10870"/>
            </a:avLst>
          </a:prstGeom>
          <a:solidFill>
            <a:srgbClr val="12263F"/>
          </a:solidFill>
          <a:ln/>
        </p:spPr>
        <p:txBody>
          <a:bodyPr/>
          <a:lstStyle/>
          <a:p>
            <a:endParaRPr lang="fr-FR"/>
          </a:p>
        </p:txBody>
      </p:sp>
      <p:sp>
        <p:nvSpPr>
          <p:cNvPr id="177" name="Text 175"/>
          <p:cNvSpPr/>
          <p:nvPr/>
        </p:nvSpPr>
        <p:spPr>
          <a:xfrm>
            <a:off x="548640" y="5925312"/>
            <a:ext cx="11091672" cy="420624"/>
          </a:xfrm>
          <a:prstGeom prst="rect">
            <a:avLst/>
          </a:prstGeom>
          <a:noFill/>
          <a:ln/>
        </p:spPr>
        <p:txBody>
          <a:bodyPr wrap="square" lIns="0" tIns="0" rIns="0" bIns="0" rtlCol="0" anchor="ctr"/>
          <a:lstStyle/>
          <a:p>
            <a:pPr marL="0" indent="0" algn="ctr">
              <a:buNone/>
            </a:pPr>
            <a:r>
              <a:rPr lang="en-US" sz="1000" dirty="0">
                <a:solidFill>
                  <a:srgbClr val="C4D3E0"/>
                </a:solidFill>
                <a:latin typeface="Calibri" pitchFamily="34" charset="0"/>
                <a:ea typeface="Calibri" pitchFamily="34" charset="-122"/>
                <a:cs typeface="Calibri" pitchFamily="34" charset="-120"/>
              </a:rPr>
              <a:t>Conseil de production : privilégier des schémas générés depuis du texte (Mermaid, PlantUML) — ils se versionnent avec le code, se régénèrent après chaque évolution et restent cohérents entre le mémoire et la soutenance.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12075</Words>
  <Application>Microsoft Macintosh PowerPoint</Application>
  <PresentationFormat>Grand écran</PresentationFormat>
  <Paragraphs>1407</Paragraphs>
  <Slides>62</Slides>
  <Notes>62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62</vt:i4>
      </vt:variant>
    </vt:vector>
  </HeadingPairs>
  <TitlesOfParts>
    <vt:vector size="67"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ESI - dropicture</dc:title>
  <dc:subject>PptxGenJS Presentation</dc:subject>
  <dc:creator>Amir REDJEM</dc:creator>
  <cp:lastModifiedBy>Amir REDJEM</cp:lastModifiedBy>
  <cp:revision>2</cp:revision>
  <dcterms:created xsi:type="dcterms:W3CDTF">2026-07-20T20:56:11Z</dcterms:created>
  <dcterms:modified xsi:type="dcterms:W3CDTF">2026-07-20T21:08:00Z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3661bcb-cfa9-4fb2-a5e5-a05e20e0e81b_Enabled">
    <vt:lpwstr>true</vt:lpwstr>
  </property>
  <property fmtid="{D5CDD505-2E9C-101B-9397-08002B2CF9AE}" pid="3" name="MSIP_Label_33661bcb-cfa9-4fb2-a5e5-a05e20e0e81b_SetDate">
    <vt:lpwstr>2026-07-20T21:04:06Z</vt:lpwstr>
  </property>
  <property fmtid="{D5CDD505-2E9C-101B-9397-08002B2CF9AE}" pid="4" name="MSIP_Label_33661bcb-cfa9-4fb2-a5e5-a05e20e0e81b_Method">
    <vt:lpwstr>Privileged</vt:lpwstr>
  </property>
  <property fmtid="{D5CDD505-2E9C-101B-9397-08002B2CF9AE}" pid="5" name="MSIP_Label_33661bcb-cfa9-4fb2-a5e5-a05e20e0e81b_Name">
    <vt:lpwstr>PRIVÉ</vt:lpwstr>
  </property>
  <property fmtid="{D5CDD505-2E9C-101B-9397-08002B2CF9AE}" pid="6" name="MSIP_Label_33661bcb-cfa9-4fb2-a5e5-a05e20e0e81b_SiteId">
    <vt:lpwstr>b1a7639e-6f68-471f-a534-787509510be4</vt:lpwstr>
  </property>
  <property fmtid="{D5CDD505-2E9C-101B-9397-08002B2CF9AE}" pid="7" name="MSIP_Label_33661bcb-cfa9-4fb2-a5e5-a05e20e0e81b_ActionId">
    <vt:lpwstr>ab60c290-8364-46c7-95c0-0ed7a6d248ed</vt:lpwstr>
  </property>
  <property fmtid="{D5CDD505-2E9C-101B-9397-08002B2CF9AE}" pid="8" name="MSIP_Label_33661bcb-cfa9-4fb2-a5e5-a05e20e0e81b_ContentBits">
    <vt:lpwstr>0</vt:lpwstr>
  </property>
  <property fmtid="{D5CDD505-2E9C-101B-9397-08002B2CF9AE}" pid="9" name="MSIP_Label_33661bcb-cfa9-4fb2-a5e5-a05e20e0e81b_Tag">
    <vt:lpwstr>50, 0, 1, 1</vt:lpwstr>
  </property>
</Properties>
</file>