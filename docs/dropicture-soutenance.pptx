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23"/>
    <p:restoredTop sz="94610"/>
  </p:normalViewPr>
  <p:slideViewPr>
    <p:cSldViewPr snapToGrid="0" snapToObjects="1">
      <p:cViewPr varScale="1">
        <p:scale>
          <a:sx n="163" d="100"/>
          <a:sy n="163" d="100"/>
        </p:scale>
        <p:origin x="3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6561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suis Amir REDJEM, candidat au titre Expert en Informatique et Systèmes d'Information, option DevOps. Je vais vous présenter dropicture, une plateforme de partage de photos, et la question qui structure tout mon mémoire. Comment concevoir et déployer une infrastructure DevOps entièrement automatisée, sécurisée et écoresponsable, permettant la livraison continue d'une plateforme SaaS de partage de médias, tout en garantissant la qualité, l'observabilité et la maîtrise des coûts. Le projet a été mené en alternance chez FDJ United, à Vitrolles.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plan suit exactement le modèle attendu par le jury, en huit sections. J'enchaîne directement.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Amir REDJEM, 28 ans. Après un Bac+2 en informatique à Aix-Marseille, j'ai signé un CDI chez IT Remote pendant un an comme développeur full stack. Ensuite une année d'alternance chez Altares Dun and Bradstreet pour valider mon Bac+3, avec du Next.js, du Java Spring Boot, de la recherche à grande échelle et de l'optimisation de bases Oracle et MySQL. Depuis septembre 2024, je suis en alternance chez FDJ United comme ingénieur DevOps, pour deux ans, afin de préparer ce titre à LaPlateforme. J'y travaille sur une plateforme libre service, avec Kubernetes, Terraform et des chaînes de livraison continue. Cette trajectoire, du développement applicatif vers l'ingénierie des systèmes, explique directement le choix de mon sujet.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temps. Le domaine d'abord : le DevOps automatise la chaîne qui va du code écrit jusqu'au service exploité en production, autour de quatre leviers, automatiser, sécuriser, observer, maîtriser. Dans ce domaine, l'expert en systèmes d'information n'écrit pas l'application : il conçoit et exploite l'infrastructure qui la porte. Ensuite le système étudié : dropicture, une plateforme de partage de photos privées par défaut, publier est un choix explicite. Quatre serveurs, quatorze services, trois fournisseurs cloud, et une seule personne. Le constat qui ouvre la problématique est double : ces exigences sont d'ordinaire traitées séparément, et chaque geste manuel entre le code et la production engendre erreurs et coûts. D'où la question en bas.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objectifs. Démontrer que ces exigences se concilient plutôt qu'elles s'arbitrent. Justifier chaque choix plutôt que l'exposer : vous verrez tout au long de la présentation les alternatives que j'ai écartées. Et prouver la maîtrise du cycle complet, de l'analyse du système jusqu'à son exploitation. Pour y répondre, la présentation suit cinq points, la frise du bas. Tout décrire en code. Livrer automatiquement. Orchestrer sans coupure de service. Observer en continu. Et sécuriser tout en restant sobre. Retenez ces cinq points, je les reprendrai un par un en section 7 pour les confronter aux critères de succès du cahier des charges.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centre, le défi de fond de l'option : la distance entre le code et la production. Provisionner, configurer, déployer, surveiller. Chaque franchissement manuel engendre des erreurs et des régressions. Autour, les quatre questions que je me suis posées. Est-ce que tout décrire en code réduit vraiment les incidents, ou est-ce qu'on déplace simplement la complexité. Est-ce qu'on peut livrer souvent sans relâcher la sécurité, alors que chaque contrôle allonge le cycle. Quel outil d'orchestration à l'échelle de quelques serveurs. Et comment estimer une consommation d'énergie quand on n'a pas de compteur physique. Les enjeux sont sur quatre plans : compétitivité, coût, écologie, et sécurité juridique.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familles de sources. Les sources officielles, documentation et notes de version des technologies évaluées. La vitalité réelle, par les dépôts publics et les radars technologiques, pour écarter ce qui est encore spéculatif. Et les textes de référence : ANSSI, CNIL, OWASP, ISO 27001, et les référentiels d'accessibilité. Le tout passe par un filtre : deux sources indépendantes minimum, plus une grille de critères écrite d'avance, pérennité, coût total, sécurité, sobriété, réversibilité. En sortie, dix décisions tracées, avec pour chacune ce que j'ai écarté et pourquoi. Et la démarche suit cinq étapes : cadrer, collecter, arbitrer, tracer, vérifier. La dernière étape est celle qui compte : je confronte mes hypothèses aux mesures réelles en section 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hypothèses de travail. La première : tout décrire en code améliore à la fois la fiabilité et la vitesse des déploiements. La recommandation qui en découle est de ne conserver aucune ressource créée à la main. La deuxième : une orchestration proportionnée à la taille réelle donne la résilience et la portabilité sans surcoût. C'est là que je recommande Docker Swarm plutôt que Kubernetes. La troisième : une observabilité intégrée rend l'écologie pilotable, au lieu d'être déclarative. En bas, ce que ces résultats changent pour la sécurité : moins de portes d'entrée grâce aux réseaux cloisonnés, aucune dérive de configuration puisque tout se rejoue, la capacité de voir les incidents arriver, et une conformité prouvable parce que chaque contrôle renvoie à une norme.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cartographie sur quatre niveaux. Le métier : ce que fait l'entreprise, découvrir, s'inscrire, déposer, publier, suivre. Le fonctionnel : ce que le système doit faire pour ça. L'applicatif : comment c'est réalisé, le site vitrine, le front, l'API, les services, les données. Et l'infrastructure : sur quoi ça tourne. L'intérêt n'est pas l'inventaire, c'est la lecture verticale. Prenez publier : ça descend sur la fonction publication, puis sur la route de l'API avec la base et le CDN, puis sur le serveur backend. C'est ce qui rend l'analyse de risque possible couche par couche : pour chaque besoin métier, je sais quels composants tombent en cas d'incident. Le détail applicatif, diagramme de classes et modèle de données, est en annexe et dans le dossier.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volets. Les vulnérabilités d'abord : elles sont analysées automatiquement à trois niveaux, les bibliothèques utilisées, la configuration écrite en code, et les images des serveurs. Le seuil bloquant est critique et élevé, en ignorant celles pour lesquelles aucun correctif n'existe encore, sinon on bloque sur du bruit. À côté, les erreurs de réglage, qui sont statistiquement le risque le plus fréquent : un port ouvert par erreur, un service mal raccordé, un stockage rendu public. Chacune a son contrôle écrit dans le code. Deuxième volet, la matrice : dix risques cotés en probabilité et impact, quatre stratégies possibles, éviter, réduire, transférer, accepter. Le chiffre à retenir est la dernière colonne : après traitement, la criticité maximale résiduelle est de huit, aucun risque ne reste en zone critique.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processus le plus critique du système est le dépôt d'une photo. Le membre envoie son fichier, l'application vérifie qui il est, combien de fois il a déjà déposé, et quel type de fichier c'est. Puis le fichier part directement vers le stockage, sans jamais toucher le disque du serveur : il transite en flux, par morceaux de cinq mégaoctets, avec un compteur qui coupe la connexion si la taille annoncée est dépassée. Et seulement une fois le fichier intégralement stocké, la base enregistre la ligne. C'est ce qui évite les enregistrements orphelins qui pointent vers un fichier inexistant. En bas, les quatre points de contrôle traversés. Les deux autres processus critiques, la publication et la session, suivent la même logique et sont détaillés dans le dossier.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Vingt-sept contrôles répartis sur quatre couches de défense, du bord vers la donnée. Le point important n'est pas leur nombre mais leur rattachement : chaque contrôle porte sa référence à une mesure de la norme ISO 27001, et pour la couche données, l'article du RGPD correspondant. C'est ce qui fait la différence entre une conformité vérifiable et une conformité déclarative : pour chaque exigence d'une norme, je peux désigner le contrôle qui l'applique et le fichier de code qui le décrit. Et je suis honnête sur ce qui manque, c'est dans le bandeau du bas : le registre des traitements n'est pas formalisé, les durées de conservation ne sont pas fixées pour les comptes inactifs, et aucun audit d'accessibilité n'a été conduit. Ce sont des écarts documentaires, pas techniques, et chacun a sa mesure correctrice.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recueil des besoins est parti de trois personas issus d'entretiens. Léa, photographe indépendante, qui dépose des séries clients et veut tout garder privé par défaut. Marc, développeur, qui automatise ses dépôts par une clé d'API. Et Sofia, référente protection des données, qui vérifie l'effectivité du droit à l'effacement. De ces personas, j'ai tiré douze user stories au format en tant que, je veux, afin de, chacune avec ses critères d'acceptation. Ces user stories se traduisent en vingt-deux cas d'utilisation regroupés par domaine, puis en quarante-six routes d'API spécifiées. Et le point important est la dernière ligne : les critères d'acceptation deviennent des tests automatiques. Deux cent dix-huit tests, exécutés à chaque livraison. C'est le fil qui relie directement le besoin exprimé au code livré.</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hiérarchisation suit la méthode MoSCoW, avec trois critères explicites en bas : la sécurité, l'utilité pour l'utilisateur, et le coût de mise en œuvre. Huit fonctions sont indispensables : sans elles le service n'existe pas. Le cas le plus parlant est celui que j'ai mis dans le bandeau. La suppression de compte est une fonction rare à l'usage, presque personne ne supprime son compte. Elle est pourtant classée indispensable, parce qu'elle matérialise le droit à l'effacement, en cascade dans la base et dans le stockage. C'est le critère de sécurité qui l'emporte sur le critère d'usage. À l'inverse, le téléchargement de ses propres fichiers a une vraie utilité mais a été repoussé, parce qu'il dépendait du réseau de diffusion et des droits d'accès. Cette hiérarchisation pilote ensuite le séquencement des sprints.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couches emboîtées autour des données. Qui peut entrer : le mot de passe n'est jamais stocké en clair, il est transformé par un algorithme conçu pour être lent à casser. La session est un jeton opaque qui expire et se renouvelle, et un membre n'agit que sur ses propres données, vérifié en base. Comment c'est protégé : chiffré pendant le transport, chiffré sur les disques. Si tout est perdu : des sauvegardes versionnées, qu'un rançongiciel ne peut pas écraser. Et ce qu'exige la loi : ne collecter que le nécessaire, effacer vraiment, et héberger en Europe, sans aucun transfert hors Union européenne. Le principe qui gouverne tout, en bas : une exigence de sécurité qu'on ne peut pas vérifier n'est pas une exigence. Les deux cent dix-huit tests incluent les scénarios d'attaque de session.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parties prenantes, trois revues successives. Le porteur du produit sur le périmètre, les utilisateurs cibles sur le parcours, le sponsor sur le budget et les délais, et la référente protection des données sur la conformité. Ce que je veux souligner, ce ne sont pas les revues mais les trois ajustements qui en sont sortis. Première revue : publier devient un acte séparé du dépôt, et non une case cochée au moment de déposer. Deuxième revue : les limites de débit deviennent différenciées selon l'action, parce qu'une inscription et une simple lecture n'ont pas la même sensibilité. Troisième revue : supprimer son compte doit aussi effacer les fichiers du stockage, pas seulement les lignes en base. Chaque décision est consignée par écrit. À l'issue de la troisième revue, le cahier des charges est figé.</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commence par la définition, elle est dans le sous-titre. Sept étapes, du test jusqu'au serveur, en une seule exécution reproductible. Le point que je veux souligner est la place de la sécurité : ce n'est pas un rapport produit à côté, c'est une condition d'exécution. L'étape checks analyse le dépôt, les secrets et la configuration écrite en code, avant même de toucher à l'infrastructure réelle. L'étape scan analyse les images publiées, et le déploiement en dépend directement : si le scan échoue, rien n'est mis en ligne. Deux garde-fous d'exploitation. Un seul déploiement à la fois, les exécutions s'attendent au lieu de s'annuler. Et chaque image est identifiée par le commit qui l'a produite, donc rejouer la chaîne redéploie exactement le même artefact, jamais une reconstruction approximative.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ne lis pas la liste. Trois idées à retenir. La première, l'homogénéité du langage : TypeScript du backend au frontend. Ce n'est pas un choix esthétique, c'est ce qui permet de mutualiser les règles de qualité, les conventions et une partie des tests, et donc de tenir la qualité à une seule personne. La deuxième, trois algorithmes méritent d'être nommés : Argon2id pour les mots de passe, conçu pour être coûteux à casser. La pagination par curseur, qui garde un temps de réponse stable même quand la bibliothèque grossit. Et un modèle qui convertit l'usage du processeur en watts, pour estimer l'énergie. La troisième, sur l'intelligence artificielle : Copilot est utilisé en assistance au code, aux tests et à l'infrastructure, mais avec relecture systématique. Je ne livre rien que je ne sais pas relire.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 importante pour l'option. Trois piliers. Les mesures, collectées toutes les quinze secondes sur les serveurs, les conteneurs et l'application : débit, temps de réponse, taux d'erreur. Les journaux, centralisés par un agent présent sur chaque serveur. Et l'énergie, calculée en continu faute de compteur physique sur une machine virtuelle. Dix règles d'alerte, routées par un composant qui groupe, déduplique, et met en sourdine les alertes mineures quand une alerte critique est déjà active. Deux choix à commenter. L'auto-hébergement complet : c'est un arbitrage souveraineté et coût, assumé face à une solution du marché comme Datadog. Et la conservation bornée, quinze jours pour les mesures, trente pour les journaux, ce qui contient l'empreinte disque. Le suivi de bout en bout d'une requête n'est pas encore en place, c'est une perspective.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chaînes, toutes les deux automatisées. La sauvegarde d'abord : elle se déclenche toute seule toutes les six heures. Elle produit une copie compressée de la base, calcule une empreinte, refuse de partir si le fichier est anormalement petit, puis vérifie après envoi que la taille sur le stockage correspond exactement à celle du fichier local. La première sauvegarde de chaque mois est promue en archive et conservée un an. La restauration ensuite. Elle demande une confirmation explicite : il faut taper le mot RESTORE, sinon la chaîne refuse de démarrer. Elle vérifie l'empreinte du dump avant de l'utiliser, puis, et c'est le point qui compte, elle prend une copie de l'état actuel avant d'écraser quoi que ce soit. La restauration se fait en une seule transaction : à la moindre erreur, tout est annulé et la base reste dans son état d'origine. Enfin le service est relancé automatiquement. Conséquence : la perte maximale de données est de six heures, et la reprise ne demande aucune manipulation manuelle. Ce qui reste à faire, c'est de programmer un exercice régulier sur un environnement de test.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lots, trente et une tâches, couvrant conception, développement, tests, déploiement et maintien en condition. La règle de découpage est explicite : je m'arrête dès que la charge est estimable à la demi-journée près. Descendre plus bas produirait une liste de tâches, pas un découpage de projet. Deux dépendances structurantes. Le modèle de données conditionne tout le lot backend : sans modèle figé, aucune entité ni migration. Et le stockage conditionne le dépôt de médias. Ce qui n'y figure pas, volontairement, c'est l'exploitation courante après la mise en service : elle relève du maintien en condition opérationnelle, pas du projet. Enfin les six jalons, en bas : ce ne sont pas des dates mais des états vérifiables, chacun se constate en exécutant quelque chose.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même projet, vu sous l'angle de l'ordonnancement. Les trente et une tâches regroupées par lot, avec leurs dépendances. Le chemin critique, en rouge, fait soixante-trois jours ouvrés : c'est la durée minimale du projet. Seize tâches sur trente et une sont sur ce chemin, donc à marge nulle : tout retard sur l'une repousse la fin d'autant. Deux lectures intéressantes. Le lot frontend garde entre cinq et douze jours de marge, il suit le backend sans le contraindre. Et l'infrastructure a jusqu'à seize jours de marge, précisément parce qu'elle est décrite en code et peut être préparée en avance. Une précision d'honnêteté : le projet étant mené seul, les branches parallèles sont exécutées en série. Le PERT me donne l'ordre logique et la borne minimale, pas la durée calendaire.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même projet, vu dans le calendrier. Six mois, du premier janvier au trente juin, treize sprints de deux semaines. On voit que les lots frontend et infrastructure avancent en parallèle du backend, et que les jalons se concentrent entre mars et avril, au moment de la mise en production. La dernière ligne, en gris, est la marge de fin juin : elle couvre les aléas et la préparation de cette soutenance, elle était prévue dès le départ. Sur les ressources : une seule personne, cent douze jours-personne de charge. Et sur le budget, c'est le bandeau du bas : environ vingt-six euros par mois d'infrastructure, cent cinquante-cinq euros sur six mois. À capacité équivalente, Hetzner divise la facture de calcul par environ dix face aux grands fournisseurs américains. C'est ce qui rend la sobriété budgétaire et écologique convergentes.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suivi opérationnel passe par ce tableau. Une carte égale une user story issue du recueil des besoins, et les étiquettes de couleur rattachent chaque carte à son lot du découpage. Cinquante-neuf cartes, dont trente-trois terminées. Sur les métriques de sprint, à droite : je suis la vélocité, c'est-à-dire le nombre de cartes terminées par sprint de deux semaines, le travail en cours limité à quatre cartes puisque je suis seul, et le temps de cycle d'une carte de Ready à Done. J'y ajoute les indicateurs projet, avancement par lot et jalons franchis, et les indicateurs de qualité et de coût, avec des alertes budgétaires à cinquante, quatre-vingts et cent pour cent. Et le registre de risques, revu à chaque fin de sprint.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plan de communication est ancré dans la note de cadrage, qui fixe le contexte, les objectifs, la méthode de conduite, le budget, les ressources, les contraintes, les risques et les délais. Le rythme est calé sur les sprints : une revue toutes les deux semaines, un point hebdomadaire sur les tâches critiques, et un rapport formel à chacun des six jalons. L'élément que je veux souligner, c'est la démonstration en fin de lot, sur le système réel plutôt que sur un document : c'est ce qui a fait remonter le plus de retours utiles. Et la matrice que vous voyez formalise les responsabilités. La règle est un seul décideur par lot. Ce qui est intéressant, c'est l'alternance : sur le cadrage et la sécurité je réalise mais je ne décide pas, sur le backend je décide mais quelqu'un d'autre réalise. Cela évite d'être juge et partie.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reprends les cinq objectifs annoncés au début et je les confronte aux critères de succès. Tout décrire en code : cent pour cent de l'infrastructure, ressources, réseau, DNS, diffusion et stockage. Livrer automatiquement : sept étapes dont deux bloquantes sur la sécurité. Orchestrer sans coupure : mise à jour progressive et retour arrière automatique en cas d'échec. Observer en continu : trois tableaux de bord et dix règles d'alerte. Sécuriser et rester sobre : vingt-sept contrôles rattachés aux normes et une énergie estimée en continu. En bas, les performances : aucune régression livrée en production, les six jalons tenus avec deux semaines de marge conservées, et un budget conforme. Je termine volontairement par les points à améliorer, un serveur d'entrée unique et une énergie estimée plutôt que mesurée, parce qu'ils font la transition avec la suite.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succès et deux défis, chacun avec sa cause analysée. Le premier succès tient à un ordre : l'infrastructure a été décrite en code avant l'application. C'est ce qui a rendu chaque maillon automatisé et reproductible, et pas seulement le dernier. Le deuxième, la sécurité a été posée en conception, pas ajoutée à la fin : la reprendre en fin de projet aurait coûté plusieurs fois plus cher. Les deux défis sont assumés. Le serveur d'entrée unique est une contrainte de budget, traitée par la persistance sur disque et la reconstruction par le code. Et la mesure d'énergie est une estimation, parce que les compteurs physiques ne sont pas accessibles sur une machine virtuelle. En bas, ce que j'en garde : la documentation doit vivre dans le dépôt, sinon elle se périme, et les procédures de reprise doivent être écrites pendant le projet, pas après.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améliorations répondent une à une aux limites que j'ai reconnues. À court terme, supprimer le point unique de panne en passant à trois serveurs d'entrée, et instaurer l'exercice de reprise chronométré. À moyen terme, compléter l'analyse de sécurité : l'outil actuel couvre les bibliothèques et les images, mais pas la logique du code lui-même. Et l'accessibilité, que je traiterais en un sprint : d'abord un audit RGAA sur les parcours publics, puis une correction par lots, en commençant par les contrastes et les tailles de cible, qui couvrent le plus de non-conformités pour le moins d'effort, ensuite la navigation au clavier, enfin les alternatives textuelles. Plus tard, livrer par paliers sur une fraction du trafic, et mesurer l'énergie physiquement sur un serveur de référence.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je reviens à la question de départ. C'est fait : l'infrastructure est entièrement automatisée, sécurisée et sobre, et elle livre en continu sans intervention. C'est prouvé : vingt-sept contrôles rattachés aux normes et vérifiés par deux cent dix-huit tests automatiques, ce qui rend la conformité démontrable et non déclarative. Et c'est mesuré : les trois hypothèses de départ sont confirmées par les chiffres, pas par une impression. La réussite majeure est la conciliation : automatisation, sécurité, sobriété, qualité et coûts sont tenus ensemble dans un même système, pas arbitrés l'un contre l'autre, ce qui était exactement l'objet de la problématique. Et ce que je retiens du travail, c'est la phrase du bas : produire un logiciel ne suffit pas, il faut maîtriser la chaîne qui le porte jusqu'à l'utilisateur.</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remercie l'École LaPlateforme et son équipe pédagogique, et particulièrement Joris VERGULDEZOONE, mon référent de formation, pour son accompagnement dans la définition de la problématique et la structuration du dossier. Je remercie également FDJ United pour l'environnement d'apprentissage offert, et Philippe AMERIO, mon référent en entreprise, dont l'expérience opérationnelle en ingénierie DevOps a nourri toute la réflexion menée dans ce projet. Et je vous remercie de votre écoute. Je vous propose de passer à la seconde partie de l'examen, je reste à votre disposition pour vos questions.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729"/>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0A896"/>
          </a:solidFill>
          <a:ln/>
        </p:spPr>
        <p:txBody>
          <a:bodyPr/>
          <a:lstStyle/>
          <a:p>
            <a:endParaRPr lang="fr-FR"/>
          </a:p>
        </p:txBody>
      </p:sp>
      <p:sp>
        <p:nvSpPr>
          <p:cNvPr id="3" name="Text 1"/>
          <p:cNvSpPr/>
          <p:nvPr/>
        </p:nvSpPr>
        <p:spPr>
          <a:xfrm>
            <a:off x="640080" y="566928"/>
            <a:ext cx="7955280" cy="228600"/>
          </a:xfrm>
          <a:prstGeom prst="rect">
            <a:avLst/>
          </a:prstGeom>
          <a:noFill/>
          <a:ln/>
        </p:spPr>
        <p:txBody>
          <a:bodyPr wrap="square" lIns="0" tIns="0" rIns="0" bIns="0" rtlCol="0" anchor="ctr"/>
          <a:lstStyle/>
          <a:p>
            <a:pPr marL="0" indent="0">
              <a:buNone/>
            </a:pPr>
            <a:r>
              <a:rPr lang="en-US" sz="1150" b="1" dirty="0">
                <a:solidFill>
                  <a:srgbClr val="00A896"/>
                </a:solidFill>
                <a:latin typeface="Calibri" pitchFamily="34" charset="0"/>
                <a:ea typeface="Calibri" pitchFamily="34" charset="-122"/>
                <a:cs typeface="Calibri" pitchFamily="34" charset="-120"/>
              </a:rPr>
              <a:t>Titre RNCP N° 40573 · Niveau 7 (Bac+5) · Expert en Informatique et Systèmes d'Information</a:t>
            </a:r>
            <a:endParaRPr lang="en-US" sz="1150" dirty="0"/>
          </a:p>
        </p:txBody>
      </p:sp>
      <p:sp>
        <p:nvSpPr>
          <p:cNvPr id="4" name="Text 2"/>
          <p:cNvSpPr/>
          <p:nvPr/>
        </p:nvSpPr>
        <p:spPr>
          <a:xfrm>
            <a:off x="640080" y="1051560"/>
            <a:ext cx="7863840" cy="1737360"/>
          </a:xfrm>
          <a:prstGeom prst="rect">
            <a:avLst/>
          </a:prstGeom>
          <a:noFill/>
          <a:ln/>
        </p:spPr>
        <p:txBody>
          <a:bodyPr wrap="square" lIns="0" tIns="0" rIns="0" bIns="0" rtlCol="0" anchor="ctr"/>
          <a:lstStyle/>
          <a:p>
            <a:pPr marL="0" indent="0">
              <a:lnSpc>
                <a:spcPct val="112000"/>
              </a:lnSpc>
              <a:buNone/>
            </a:pPr>
            <a:r>
              <a:rPr lang="en-US" sz="2200" b="1" dirty="0">
                <a:solidFill>
                  <a:srgbClr val="FFFFFF"/>
                </a:solidFill>
                <a:latin typeface="Cambria" pitchFamily="34" charset="0"/>
                <a:ea typeface="Cambria" pitchFamily="34" charset="-122"/>
                <a:cs typeface="Cambria" pitchFamily="34" charset="-120"/>
              </a:rPr>
              <a:t>Comment concevoir et déployer une infrastructure DevOps entièrement automatisée, sécurisée et écoresponsable, permettant la livraison continue d'une plateforme SaaS de partage de médias tout en garantissant la qualité, l'observabilité et la maîtrise des coûts ?</a:t>
            </a:r>
            <a:endParaRPr lang="en-US" sz="2200" dirty="0"/>
          </a:p>
        </p:txBody>
      </p:sp>
      <p:sp>
        <p:nvSpPr>
          <p:cNvPr id="5" name="Text 3"/>
          <p:cNvSpPr/>
          <p:nvPr/>
        </p:nvSpPr>
        <p:spPr>
          <a:xfrm>
            <a:off x="640080" y="2907792"/>
            <a:ext cx="5486400" cy="256032"/>
          </a:xfrm>
          <a:prstGeom prst="rect">
            <a:avLst/>
          </a:prstGeom>
          <a:noFill/>
          <a:ln/>
        </p:spPr>
        <p:txBody>
          <a:bodyPr wrap="square" lIns="0" tIns="0" rIns="0" bIns="0" rtlCol="0" anchor="ctr"/>
          <a:lstStyle/>
          <a:p>
            <a:pPr marL="0" indent="0">
              <a:buNone/>
            </a:pPr>
            <a:r>
              <a:rPr lang="en-US" sz="1300" i="1" dirty="0">
                <a:solidFill>
                  <a:srgbClr val="E08A3C"/>
                </a:solidFill>
                <a:latin typeface="Calibri" pitchFamily="34" charset="0"/>
                <a:ea typeface="Calibri" pitchFamily="34" charset="-122"/>
                <a:cs typeface="Calibri" pitchFamily="34" charset="-120"/>
              </a:rPr>
              <a:t>Option DevOps · plateforme dropicture</a:t>
            </a:r>
            <a:endParaRPr lang="en-US" sz="1300" dirty="0"/>
          </a:p>
        </p:txBody>
      </p:sp>
      <p:sp>
        <p:nvSpPr>
          <p:cNvPr id="6" name="Shape 4"/>
          <p:cNvSpPr/>
          <p:nvPr/>
        </p:nvSpPr>
        <p:spPr>
          <a:xfrm>
            <a:off x="640080" y="3310128"/>
            <a:ext cx="3200400" cy="0"/>
          </a:xfrm>
          <a:prstGeom prst="line">
            <a:avLst/>
          </a:prstGeom>
          <a:noFill/>
          <a:ln w="12700">
            <a:solidFill>
              <a:srgbClr val="4A5769"/>
            </a:solidFill>
            <a:prstDash val="solid"/>
          </a:ln>
        </p:spPr>
        <p:txBody>
          <a:bodyPr/>
          <a:lstStyle/>
          <a:p>
            <a:endParaRPr lang="fr-FR"/>
          </a:p>
        </p:txBody>
      </p:sp>
      <p:sp>
        <p:nvSpPr>
          <p:cNvPr id="7" name="Text 5"/>
          <p:cNvSpPr/>
          <p:nvPr/>
        </p:nvSpPr>
        <p:spPr>
          <a:xfrm>
            <a:off x="640080" y="3456432"/>
            <a:ext cx="3931920" cy="868680"/>
          </a:xfrm>
          <a:prstGeom prst="rect">
            <a:avLst/>
          </a:prstGeom>
          <a:noFill/>
          <a:ln/>
        </p:spPr>
        <p:txBody>
          <a:bodyPr wrap="square" lIns="0" tIns="0" rIns="0" bIns="0" rtlCol="0" anchor="ctr"/>
          <a:lstStyle/>
          <a:p>
            <a:pPr marL="0" indent="0">
              <a:lnSpc>
                <a:spcPct val="125000"/>
              </a:lnSpc>
              <a:buNone/>
            </a:pPr>
            <a:r>
              <a:rPr lang="en-US" sz="1300" b="1" dirty="0">
                <a:solidFill>
                  <a:srgbClr val="FFFFFF"/>
                </a:solidFill>
                <a:latin typeface="Calibri" pitchFamily="34" charset="0"/>
                <a:ea typeface="Calibri" pitchFamily="34" charset="-122"/>
                <a:cs typeface="Calibri" pitchFamily="34" charset="-120"/>
              </a:rPr>
              <a:t>Amir REDJEM</a:t>
            </a:r>
            <a:endParaRPr lang="en-US" sz="1300" dirty="0"/>
          </a:p>
          <a:p>
            <a:pPr marL="0" indent="0">
              <a:lnSpc>
                <a:spcPct val="125000"/>
              </a:lnSpc>
              <a:buNone/>
            </a:pPr>
            <a:r>
              <a:rPr lang="en-US" sz="1050" dirty="0">
                <a:solidFill>
                  <a:srgbClr val="8FA6BC"/>
                </a:solidFill>
                <a:latin typeface="Calibri" pitchFamily="34" charset="0"/>
                <a:ea typeface="Calibri" pitchFamily="34" charset="-122"/>
                <a:cs typeface="Calibri" pitchFamily="34" charset="-120"/>
              </a:rPr>
              <a:t>Promotion 2024 / 2026 · École LaPlateforme, Marseille</a:t>
            </a:r>
            <a:endParaRPr lang="en-US" sz="1300" dirty="0"/>
          </a:p>
          <a:p>
            <a:pPr marL="0" indent="0">
              <a:lnSpc>
                <a:spcPct val="125000"/>
              </a:lnSpc>
              <a:buNone/>
            </a:pPr>
            <a:r>
              <a:rPr lang="en-US" sz="1050" dirty="0">
                <a:solidFill>
                  <a:srgbClr val="8FA6BC"/>
                </a:solidFill>
                <a:latin typeface="Calibri" pitchFamily="34" charset="0"/>
                <a:ea typeface="Calibri" pitchFamily="34" charset="-122"/>
                <a:cs typeface="Calibri" pitchFamily="34" charset="-120"/>
              </a:rPr>
              <a:t>Référent de formation : Joris VERGULDEZOONE</a:t>
            </a:r>
            <a:endParaRPr lang="en-US" sz="1300" dirty="0"/>
          </a:p>
        </p:txBody>
      </p:sp>
      <p:sp>
        <p:nvSpPr>
          <p:cNvPr id="8" name="Text 6"/>
          <p:cNvSpPr/>
          <p:nvPr/>
        </p:nvSpPr>
        <p:spPr>
          <a:xfrm>
            <a:off x="4846320" y="3456432"/>
            <a:ext cx="3931920" cy="868680"/>
          </a:xfrm>
          <a:prstGeom prst="rect">
            <a:avLst/>
          </a:prstGeom>
          <a:noFill/>
          <a:ln/>
        </p:spPr>
        <p:txBody>
          <a:bodyPr wrap="square" lIns="0" tIns="0" rIns="0" bIns="0" rtlCol="0" anchor="ctr"/>
          <a:lstStyle/>
          <a:p>
            <a:pPr marL="0" indent="0">
              <a:lnSpc>
                <a:spcPct val="125000"/>
              </a:lnSpc>
              <a:buNone/>
            </a:pPr>
            <a:r>
              <a:rPr lang="en-US" sz="1300" b="1" dirty="0">
                <a:solidFill>
                  <a:srgbClr val="FFFFFF"/>
                </a:solidFill>
                <a:latin typeface="Calibri" pitchFamily="34" charset="0"/>
                <a:ea typeface="Calibri" pitchFamily="34" charset="-122"/>
                <a:cs typeface="Calibri" pitchFamily="34" charset="-120"/>
              </a:rPr>
              <a:t>Entreprise d'accueil : FDJ United, Vitrolles</a:t>
            </a:r>
            <a:endParaRPr lang="en-US" sz="1300" dirty="0"/>
          </a:p>
          <a:p>
            <a:pPr marL="0" indent="0">
              <a:lnSpc>
                <a:spcPct val="125000"/>
              </a:lnSpc>
              <a:buNone/>
            </a:pPr>
            <a:r>
              <a:rPr lang="en-US" sz="1050" dirty="0">
                <a:solidFill>
                  <a:srgbClr val="8FA6BC"/>
                </a:solidFill>
                <a:latin typeface="Calibri" pitchFamily="34" charset="0"/>
                <a:ea typeface="Calibri" pitchFamily="34" charset="-122"/>
                <a:cs typeface="Calibri" pitchFamily="34" charset="-120"/>
              </a:rPr>
              <a:t>Référent en entreprise : Philippe AMERIO</a:t>
            </a:r>
            <a:endParaRPr lang="en-US" sz="1300" dirty="0"/>
          </a:p>
          <a:p>
            <a:pPr marL="0" indent="0">
              <a:lnSpc>
                <a:spcPct val="125000"/>
              </a:lnSpc>
              <a:buNone/>
            </a:pPr>
            <a:r>
              <a:rPr lang="en-US" sz="1050" dirty="0">
                <a:solidFill>
                  <a:srgbClr val="8FA6BC"/>
                </a:solidFill>
                <a:latin typeface="Calibri" pitchFamily="34" charset="0"/>
                <a:ea typeface="Calibri" pitchFamily="34" charset="-122"/>
                <a:cs typeface="Calibri" pitchFamily="34" charset="-120"/>
              </a:rPr>
              <a:t>Soutenance du 03/08/2026</a:t>
            </a:r>
            <a:endParaRPr lang="en-US" sz="1300" dirty="0"/>
          </a:p>
        </p:txBody>
      </p:sp>
      <p:pic>
        <p:nvPicPr>
          <p:cNvPr id="9" name="Image 0" descr="img/up_image1.png"/>
          <p:cNvPicPr>
            <a:picLocks noChangeAspect="1"/>
          </p:cNvPicPr>
          <p:nvPr/>
        </p:nvPicPr>
        <p:blipFill>
          <a:blip r:embed="rId3"/>
          <a:stretch>
            <a:fillRect/>
          </a:stretch>
        </p:blipFill>
        <p:spPr>
          <a:xfrm>
            <a:off x="424282" y="4301338"/>
            <a:ext cx="2181758" cy="781812"/>
          </a:xfrm>
          <a:prstGeom prst="rect">
            <a:avLst/>
          </a:prstGeom>
        </p:spPr>
      </p:pic>
      <p:pic>
        <p:nvPicPr>
          <p:cNvPr id="10" name="Image 1" descr="img/up_image2.jpg"/>
          <p:cNvPicPr>
            <a:picLocks noChangeAspect="1"/>
          </p:cNvPicPr>
          <p:nvPr/>
        </p:nvPicPr>
        <p:blipFill>
          <a:blip r:embed="rId4"/>
          <a:stretch>
            <a:fillRect/>
          </a:stretch>
        </p:blipFill>
        <p:spPr>
          <a:xfrm>
            <a:off x="6876288" y="4182466"/>
            <a:ext cx="1655064" cy="9015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729"/>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0A896"/>
          </a:solidFill>
          <a:ln/>
        </p:spPr>
        <p:txBody>
          <a:bodyPr/>
          <a:lstStyle/>
          <a:p>
            <a:endParaRPr lang="fr-FR"/>
          </a:p>
        </p:txBody>
      </p:sp>
      <p:sp>
        <p:nvSpPr>
          <p:cNvPr id="3" name="Text 1"/>
          <p:cNvSpPr/>
          <p:nvPr/>
        </p:nvSpPr>
        <p:spPr>
          <a:xfrm>
            <a:off x="640080" y="566928"/>
            <a:ext cx="4572000" cy="402336"/>
          </a:xfrm>
          <a:prstGeom prst="rect">
            <a:avLst/>
          </a:prstGeom>
          <a:noFill/>
          <a:ln/>
        </p:spPr>
        <p:txBody>
          <a:bodyPr wrap="square" lIns="0" tIns="0" rIns="0" bIns="0" rtlCol="0" anchor="ctr"/>
          <a:lstStyle/>
          <a:p>
            <a:pPr marL="0" indent="0">
              <a:buNone/>
            </a:pPr>
            <a:r>
              <a:rPr lang="en-US" sz="2600" b="1" kern="0" spc="200" dirty="0">
                <a:solidFill>
                  <a:srgbClr val="FFFFFF"/>
                </a:solidFill>
                <a:latin typeface="Calibri" pitchFamily="34" charset="0"/>
                <a:ea typeface="Calibri" pitchFamily="34" charset="-122"/>
                <a:cs typeface="Calibri" pitchFamily="34" charset="-120"/>
              </a:rPr>
              <a:t>SOMMAIRE</a:t>
            </a:r>
            <a:endParaRPr lang="en-US" sz="2600" dirty="0"/>
          </a:p>
        </p:txBody>
      </p:sp>
      <p:sp>
        <p:nvSpPr>
          <p:cNvPr id="4" name="Text 2"/>
          <p:cNvSpPr/>
          <p:nvPr/>
        </p:nvSpPr>
        <p:spPr>
          <a:xfrm>
            <a:off x="640080" y="1645920"/>
            <a:ext cx="411480" cy="402336"/>
          </a:xfrm>
          <a:prstGeom prst="rect">
            <a:avLst/>
          </a:prstGeom>
          <a:noFill/>
          <a:ln/>
        </p:spPr>
        <p:txBody>
          <a:bodyPr wrap="square" lIns="0" tIns="0" rIns="0" bIns="0" rtlCol="0" anchor="ctr"/>
          <a:lstStyle/>
          <a:p>
            <a:pPr marL="0" indent="0">
              <a:buNone/>
            </a:pPr>
            <a:r>
              <a:rPr lang="en-US" sz="2400" b="1" dirty="0">
                <a:solidFill>
                  <a:srgbClr val="00A896"/>
                </a:solidFill>
                <a:latin typeface="Calibri" pitchFamily="34" charset="0"/>
                <a:ea typeface="Calibri" pitchFamily="34" charset="-122"/>
                <a:cs typeface="Calibri" pitchFamily="34" charset="-120"/>
              </a:rPr>
              <a:t>1.</a:t>
            </a:r>
            <a:endParaRPr lang="en-US" sz="2400" dirty="0"/>
          </a:p>
        </p:txBody>
      </p:sp>
      <p:sp>
        <p:nvSpPr>
          <p:cNvPr id="5" name="Text 3"/>
          <p:cNvSpPr/>
          <p:nvPr/>
        </p:nvSpPr>
        <p:spPr>
          <a:xfrm>
            <a:off x="1170432" y="1645920"/>
            <a:ext cx="3566160" cy="40233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Présentation personnelle</a:t>
            </a:r>
            <a:endParaRPr lang="en-US" sz="1400" dirty="0"/>
          </a:p>
        </p:txBody>
      </p:sp>
      <p:sp>
        <p:nvSpPr>
          <p:cNvPr id="6" name="Text 4"/>
          <p:cNvSpPr/>
          <p:nvPr/>
        </p:nvSpPr>
        <p:spPr>
          <a:xfrm>
            <a:off x="640080" y="2359152"/>
            <a:ext cx="411480" cy="402336"/>
          </a:xfrm>
          <a:prstGeom prst="rect">
            <a:avLst/>
          </a:prstGeom>
          <a:noFill/>
          <a:ln/>
        </p:spPr>
        <p:txBody>
          <a:bodyPr wrap="square" lIns="0" tIns="0" rIns="0" bIns="0" rtlCol="0" anchor="ctr"/>
          <a:lstStyle/>
          <a:p>
            <a:pPr marL="0" indent="0">
              <a:buNone/>
            </a:pPr>
            <a:r>
              <a:rPr lang="en-US" sz="2400" b="1" dirty="0">
                <a:solidFill>
                  <a:srgbClr val="00A896"/>
                </a:solidFill>
                <a:latin typeface="Calibri" pitchFamily="34" charset="0"/>
                <a:ea typeface="Calibri" pitchFamily="34" charset="-122"/>
                <a:cs typeface="Calibri" pitchFamily="34" charset="-120"/>
              </a:rPr>
              <a:t>2.</a:t>
            </a:r>
            <a:endParaRPr lang="en-US" sz="2400" dirty="0"/>
          </a:p>
        </p:txBody>
      </p:sp>
      <p:sp>
        <p:nvSpPr>
          <p:cNvPr id="7" name="Text 5"/>
          <p:cNvSpPr/>
          <p:nvPr/>
        </p:nvSpPr>
        <p:spPr>
          <a:xfrm>
            <a:off x="1170432" y="2359152"/>
            <a:ext cx="3566160" cy="40233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Présentation de la problématique</a:t>
            </a:r>
            <a:endParaRPr lang="en-US" sz="1400" dirty="0"/>
          </a:p>
        </p:txBody>
      </p:sp>
      <p:sp>
        <p:nvSpPr>
          <p:cNvPr id="8" name="Text 6"/>
          <p:cNvSpPr/>
          <p:nvPr/>
        </p:nvSpPr>
        <p:spPr>
          <a:xfrm>
            <a:off x="640080" y="3072384"/>
            <a:ext cx="411480" cy="402336"/>
          </a:xfrm>
          <a:prstGeom prst="rect">
            <a:avLst/>
          </a:prstGeom>
          <a:noFill/>
          <a:ln/>
        </p:spPr>
        <p:txBody>
          <a:bodyPr wrap="square" lIns="0" tIns="0" rIns="0" bIns="0" rtlCol="0" anchor="ctr"/>
          <a:lstStyle/>
          <a:p>
            <a:pPr marL="0" indent="0">
              <a:buNone/>
            </a:pPr>
            <a:r>
              <a:rPr lang="en-US" sz="2400" b="1" dirty="0">
                <a:solidFill>
                  <a:srgbClr val="00A896"/>
                </a:solidFill>
                <a:latin typeface="Calibri" pitchFamily="34" charset="0"/>
                <a:ea typeface="Calibri" pitchFamily="34" charset="-122"/>
                <a:cs typeface="Calibri" pitchFamily="34" charset="-120"/>
              </a:rPr>
              <a:t>3.</a:t>
            </a:r>
            <a:endParaRPr lang="en-US" sz="2400" dirty="0"/>
          </a:p>
        </p:txBody>
      </p:sp>
      <p:sp>
        <p:nvSpPr>
          <p:cNvPr id="9" name="Text 7"/>
          <p:cNvSpPr/>
          <p:nvPr/>
        </p:nvSpPr>
        <p:spPr>
          <a:xfrm>
            <a:off x="1170432" y="3072384"/>
            <a:ext cx="3566160" cy="40233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Analyse du SI</a:t>
            </a:r>
            <a:endParaRPr lang="en-US" sz="1400" dirty="0"/>
          </a:p>
        </p:txBody>
      </p:sp>
      <p:sp>
        <p:nvSpPr>
          <p:cNvPr id="10" name="Text 8"/>
          <p:cNvSpPr/>
          <p:nvPr/>
        </p:nvSpPr>
        <p:spPr>
          <a:xfrm>
            <a:off x="640080" y="3785616"/>
            <a:ext cx="411480" cy="402336"/>
          </a:xfrm>
          <a:prstGeom prst="rect">
            <a:avLst/>
          </a:prstGeom>
          <a:noFill/>
          <a:ln/>
        </p:spPr>
        <p:txBody>
          <a:bodyPr wrap="square" lIns="0" tIns="0" rIns="0" bIns="0" rtlCol="0" anchor="ctr"/>
          <a:lstStyle/>
          <a:p>
            <a:pPr marL="0" indent="0">
              <a:buNone/>
            </a:pPr>
            <a:r>
              <a:rPr lang="en-US" sz="2400" b="1" dirty="0">
                <a:solidFill>
                  <a:srgbClr val="00A896"/>
                </a:solidFill>
                <a:latin typeface="Calibri" pitchFamily="34" charset="0"/>
                <a:ea typeface="Calibri" pitchFamily="34" charset="-122"/>
                <a:cs typeface="Calibri" pitchFamily="34" charset="-120"/>
              </a:rPr>
              <a:t>4.</a:t>
            </a:r>
            <a:endParaRPr lang="en-US" sz="2400" dirty="0"/>
          </a:p>
        </p:txBody>
      </p:sp>
      <p:sp>
        <p:nvSpPr>
          <p:cNvPr id="11" name="Text 9"/>
          <p:cNvSpPr/>
          <p:nvPr/>
        </p:nvSpPr>
        <p:spPr>
          <a:xfrm>
            <a:off x="1170432" y="3785616"/>
            <a:ext cx="3566160" cy="40233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Besoins fonctionnels</a:t>
            </a:r>
            <a:endParaRPr lang="en-US" sz="1400" dirty="0"/>
          </a:p>
        </p:txBody>
      </p:sp>
      <p:sp>
        <p:nvSpPr>
          <p:cNvPr id="12" name="Text 10"/>
          <p:cNvSpPr/>
          <p:nvPr/>
        </p:nvSpPr>
        <p:spPr>
          <a:xfrm>
            <a:off x="4800600" y="1645920"/>
            <a:ext cx="411480" cy="402336"/>
          </a:xfrm>
          <a:prstGeom prst="rect">
            <a:avLst/>
          </a:prstGeom>
          <a:noFill/>
          <a:ln/>
        </p:spPr>
        <p:txBody>
          <a:bodyPr wrap="square" lIns="0" tIns="0" rIns="0" bIns="0" rtlCol="0" anchor="ctr"/>
          <a:lstStyle/>
          <a:p>
            <a:pPr marL="0" indent="0">
              <a:buNone/>
            </a:pPr>
            <a:r>
              <a:rPr lang="en-US" sz="2400" b="1" dirty="0">
                <a:solidFill>
                  <a:srgbClr val="00A896"/>
                </a:solidFill>
                <a:latin typeface="Calibri" pitchFamily="34" charset="0"/>
                <a:ea typeface="Calibri" pitchFamily="34" charset="-122"/>
                <a:cs typeface="Calibri" pitchFamily="34" charset="-120"/>
              </a:rPr>
              <a:t>5.</a:t>
            </a:r>
            <a:endParaRPr lang="en-US" sz="2400" dirty="0"/>
          </a:p>
        </p:txBody>
      </p:sp>
      <p:sp>
        <p:nvSpPr>
          <p:cNvPr id="13" name="Text 11"/>
          <p:cNvSpPr/>
          <p:nvPr/>
        </p:nvSpPr>
        <p:spPr>
          <a:xfrm>
            <a:off x="5330952" y="1645920"/>
            <a:ext cx="3566160" cy="40233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Implémentations techniques</a:t>
            </a:r>
            <a:endParaRPr lang="en-US" sz="1400" dirty="0"/>
          </a:p>
        </p:txBody>
      </p:sp>
      <p:sp>
        <p:nvSpPr>
          <p:cNvPr id="14" name="Text 12"/>
          <p:cNvSpPr/>
          <p:nvPr/>
        </p:nvSpPr>
        <p:spPr>
          <a:xfrm>
            <a:off x="4800600" y="2359152"/>
            <a:ext cx="411480" cy="402336"/>
          </a:xfrm>
          <a:prstGeom prst="rect">
            <a:avLst/>
          </a:prstGeom>
          <a:noFill/>
          <a:ln/>
        </p:spPr>
        <p:txBody>
          <a:bodyPr wrap="square" lIns="0" tIns="0" rIns="0" bIns="0" rtlCol="0" anchor="ctr"/>
          <a:lstStyle/>
          <a:p>
            <a:pPr marL="0" indent="0">
              <a:buNone/>
            </a:pPr>
            <a:r>
              <a:rPr lang="en-US" sz="2400" b="1" dirty="0">
                <a:solidFill>
                  <a:srgbClr val="00A896"/>
                </a:solidFill>
                <a:latin typeface="Calibri" pitchFamily="34" charset="0"/>
                <a:ea typeface="Calibri" pitchFamily="34" charset="-122"/>
                <a:cs typeface="Calibri" pitchFamily="34" charset="-120"/>
              </a:rPr>
              <a:t>6.</a:t>
            </a:r>
            <a:endParaRPr lang="en-US" sz="2400" dirty="0"/>
          </a:p>
        </p:txBody>
      </p:sp>
      <p:sp>
        <p:nvSpPr>
          <p:cNvPr id="15" name="Text 13"/>
          <p:cNvSpPr/>
          <p:nvPr/>
        </p:nvSpPr>
        <p:spPr>
          <a:xfrm>
            <a:off x="5330952" y="2359152"/>
            <a:ext cx="3566160" cy="40233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Gestion du projet et management</a:t>
            </a:r>
            <a:endParaRPr lang="en-US" sz="1400" dirty="0"/>
          </a:p>
        </p:txBody>
      </p:sp>
      <p:sp>
        <p:nvSpPr>
          <p:cNvPr id="16" name="Text 14"/>
          <p:cNvSpPr/>
          <p:nvPr/>
        </p:nvSpPr>
        <p:spPr>
          <a:xfrm>
            <a:off x="4800600" y="3072384"/>
            <a:ext cx="411480" cy="402336"/>
          </a:xfrm>
          <a:prstGeom prst="rect">
            <a:avLst/>
          </a:prstGeom>
          <a:noFill/>
          <a:ln/>
        </p:spPr>
        <p:txBody>
          <a:bodyPr wrap="square" lIns="0" tIns="0" rIns="0" bIns="0" rtlCol="0" anchor="ctr"/>
          <a:lstStyle/>
          <a:p>
            <a:pPr marL="0" indent="0">
              <a:buNone/>
            </a:pPr>
            <a:r>
              <a:rPr lang="en-US" sz="2400" b="1" dirty="0">
                <a:solidFill>
                  <a:srgbClr val="00A896"/>
                </a:solidFill>
                <a:latin typeface="Calibri" pitchFamily="34" charset="0"/>
                <a:ea typeface="Calibri" pitchFamily="34" charset="-122"/>
                <a:cs typeface="Calibri" pitchFamily="34" charset="-120"/>
              </a:rPr>
              <a:t>7.</a:t>
            </a:r>
            <a:endParaRPr lang="en-US" sz="2400" dirty="0"/>
          </a:p>
        </p:txBody>
      </p:sp>
      <p:sp>
        <p:nvSpPr>
          <p:cNvPr id="17" name="Text 15"/>
          <p:cNvSpPr/>
          <p:nvPr/>
        </p:nvSpPr>
        <p:spPr>
          <a:xfrm>
            <a:off x="5330952" y="3072384"/>
            <a:ext cx="3566160" cy="40233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Analyses et Perspectives</a:t>
            </a:r>
            <a:endParaRPr lang="en-US" sz="1400" dirty="0"/>
          </a:p>
        </p:txBody>
      </p:sp>
      <p:sp>
        <p:nvSpPr>
          <p:cNvPr id="18" name="Text 16"/>
          <p:cNvSpPr/>
          <p:nvPr/>
        </p:nvSpPr>
        <p:spPr>
          <a:xfrm>
            <a:off x="4800600" y="3785616"/>
            <a:ext cx="411480" cy="402336"/>
          </a:xfrm>
          <a:prstGeom prst="rect">
            <a:avLst/>
          </a:prstGeom>
          <a:noFill/>
          <a:ln/>
        </p:spPr>
        <p:txBody>
          <a:bodyPr wrap="square" lIns="0" tIns="0" rIns="0" bIns="0" rtlCol="0" anchor="ctr"/>
          <a:lstStyle/>
          <a:p>
            <a:pPr marL="0" indent="0">
              <a:buNone/>
            </a:pPr>
            <a:r>
              <a:rPr lang="en-US" sz="2400" b="1" dirty="0">
                <a:solidFill>
                  <a:srgbClr val="00A896"/>
                </a:solidFill>
                <a:latin typeface="Calibri" pitchFamily="34" charset="0"/>
                <a:ea typeface="Calibri" pitchFamily="34" charset="-122"/>
                <a:cs typeface="Calibri" pitchFamily="34" charset="-120"/>
              </a:rPr>
              <a:t>8.</a:t>
            </a:r>
            <a:endParaRPr lang="en-US" sz="2400" dirty="0"/>
          </a:p>
        </p:txBody>
      </p:sp>
      <p:sp>
        <p:nvSpPr>
          <p:cNvPr id="19" name="Text 17"/>
          <p:cNvSpPr/>
          <p:nvPr/>
        </p:nvSpPr>
        <p:spPr>
          <a:xfrm>
            <a:off x="5330952" y="3785616"/>
            <a:ext cx="3566160" cy="40233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Conclusion et remerciements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1. Présentation personnelle</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3 / 30</a:t>
            </a:r>
            <a:endParaRPr lang="en-US" sz="900" dirty="0"/>
          </a:p>
        </p:txBody>
      </p:sp>
      <p:sp>
        <p:nvSpPr>
          <p:cNvPr id="6" name="Text 4"/>
          <p:cNvSpPr/>
          <p:nvPr/>
        </p:nvSpPr>
        <p:spPr>
          <a:xfrm>
            <a:off x="292608" y="603504"/>
            <a:ext cx="6217920"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1. Présentation personnelle</a:t>
            </a:r>
            <a:endParaRPr lang="en-US" sz="2200" dirty="0"/>
          </a:p>
        </p:txBody>
      </p:sp>
      <p:sp>
        <p:nvSpPr>
          <p:cNvPr id="7" name="Text 5"/>
          <p:cNvSpPr/>
          <p:nvPr/>
        </p:nvSpPr>
        <p:spPr>
          <a:xfrm>
            <a:off x="292608" y="1024128"/>
            <a:ext cx="6217920" cy="201168"/>
          </a:xfrm>
          <a:prstGeom prst="rect">
            <a:avLst/>
          </a:prstGeom>
          <a:noFill/>
          <a:ln/>
        </p:spPr>
        <p:txBody>
          <a:bodyPr wrap="square" lIns="0" tIns="0" rIns="0" bIns="0" rtlCol="0" anchor="ctr"/>
          <a:lstStyle/>
          <a:p>
            <a:pPr marL="0" indent="0">
              <a:buNone/>
            </a:pPr>
            <a:r>
              <a:rPr lang="en-US" sz="1050" dirty="0">
                <a:solidFill>
                  <a:srgbClr val="4A5769"/>
                </a:solidFill>
                <a:latin typeface="Calibri" pitchFamily="34" charset="0"/>
                <a:ea typeface="Calibri" pitchFamily="34" charset="-122"/>
                <a:cs typeface="Calibri" pitchFamily="34" charset="-120"/>
              </a:rPr>
              <a:t>Du développement applicatif vers l'ingénierie des systèmes.</a:t>
            </a:r>
            <a:endParaRPr lang="en-US" sz="1050" dirty="0"/>
          </a:p>
        </p:txBody>
      </p:sp>
      <p:sp>
        <p:nvSpPr>
          <p:cNvPr id="8" name="Shape 6"/>
          <p:cNvSpPr/>
          <p:nvPr/>
        </p:nvSpPr>
        <p:spPr>
          <a:xfrm>
            <a:off x="6583680" y="658368"/>
            <a:ext cx="731520" cy="530352"/>
          </a:xfrm>
          <a:prstGeom prst="roundRect">
            <a:avLst>
              <a:gd name="adj" fmla="val 10345"/>
            </a:avLst>
          </a:prstGeom>
          <a:solidFill>
            <a:srgbClr val="FFFFFF"/>
          </a:solidFill>
          <a:ln w="9525">
            <a:solidFill>
              <a:srgbClr val="D8E0E8"/>
            </a:solidFill>
            <a:prstDash val="solid"/>
          </a:ln>
        </p:spPr>
        <p:txBody>
          <a:bodyPr/>
          <a:lstStyle/>
          <a:p>
            <a:endParaRPr lang="fr-FR"/>
          </a:p>
        </p:txBody>
      </p:sp>
      <p:sp>
        <p:nvSpPr>
          <p:cNvPr id="9" name="Text 7"/>
          <p:cNvSpPr/>
          <p:nvPr/>
        </p:nvSpPr>
        <p:spPr>
          <a:xfrm>
            <a:off x="6583680" y="713232"/>
            <a:ext cx="731520" cy="237744"/>
          </a:xfrm>
          <a:prstGeom prst="rect">
            <a:avLst/>
          </a:prstGeom>
          <a:noFill/>
          <a:ln/>
        </p:spPr>
        <p:txBody>
          <a:bodyPr wrap="square" lIns="0" tIns="0" rIns="0" bIns="0" rtlCol="0" anchor="ctr"/>
          <a:lstStyle/>
          <a:p>
            <a:pPr marL="0" indent="0" algn="ctr">
              <a:buNone/>
            </a:pPr>
            <a:r>
              <a:rPr lang="en-US" sz="1250" b="1" dirty="0">
                <a:solidFill>
                  <a:srgbClr val="12263F"/>
                </a:solidFill>
                <a:latin typeface="Calibri" pitchFamily="34" charset="0"/>
                <a:ea typeface="Calibri" pitchFamily="34" charset="-122"/>
                <a:cs typeface="Calibri" pitchFamily="34" charset="-120"/>
              </a:rPr>
              <a:t>4 ans</a:t>
            </a:r>
            <a:endParaRPr lang="en-US" sz="1250" dirty="0"/>
          </a:p>
        </p:txBody>
      </p:sp>
      <p:sp>
        <p:nvSpPr>
          <p:cNvPr id="10" name="Text 8"/>
          <p:cNvSpPr/>
          <p:nvPr/>
        </p:nvSpPr>
        <p:spPr>
          <a:xfrm>
            <a:off x="6583680" y="941832"/>
            <a:ext cx="731520" cy="164592"/>
          </a:xfrm>
          <a:prstGeom prst="rect">
            <a:avLst/>
          </a:prstGeom>
          <a:noFill/>
          <a:ln/>
        </p:spPr>
        <p:txBody>
          <a:bodyPr wrap="square" lIns="0" tIns="0" rIns="0" bIns="0" rtlCol="0" anchor="ctr"/>
          <a:lstStyle/>
          <a:p>
            <a:pPr marL="0" indent="0" algn="ctr">
              <a:buNone/>
            </a:pPr>
            <a:r>
              <a:rPr lang="en-US" sz="600" kern="0" spc="60" dirty="0">
                <a:solidFill>
                  <a:srgbClr val="4A5769"/>
                </a:solidFill>
                <a:latin typeface="Calibri" pitchFamily="34" charset="0"/>
                <a:ea typeface="Calibri" pitchFamily="34" charset="-122"/>
                <a:cs typeface="Calibri" pitchFamily="34" charset="-120"/>
              </a:rPr>
              <a:t>EXPÉRIENCE</a:t>
            </a:r>
            <a:endParaRPr lang="en-US" sz="600" dirty="0"/>
          </a:p>
        </p:txBody>
      </p:sp>
      <p:sp>
        <p:nvSpPr>
          <p:cNvPr id="11" name="Shape 9"/>
          <p:cNvSpPr/>
          <p:nvPr/>
        </p:nvSpPr>
        <p:spPr>
          <a:xfrm>
            <a:off x="7370064" y="658368"/>
            <a:ext cx="731520" cy="530352"/>
          </a:xfrm>
          <a:prstGeom prst="roundRect">
            <a:avLst>
              <a:gd name="adj" fmla="val 10345"/>
            </a:avLst>
          </a:prstGeom>
          <a:solidFill>
            <a:srgbClr val="FFFFFF"/>
          </a:solidFill>
          <a:ln w="9525">
            <a:solidFill>
              <a:srgbClr val="D8E0E8"/>
            </a:solidFill>
            <a:prstDash val="solid"/>
          </a:ln>
        </p:spPr>
        <p:txBody>
          <a:bodyPr/>
          <a:lstStyle/>
          <a:p>
            <a:endParaRPr lang="fr-FR"/>
          </a:p>
        </p:txBody>
      </p:sp>
      <p:sp>
        <p:nvSpPr>
          <p:cNvPr id="12" name="Text 10"/>
          <p:cNvSpPr/>
          <p:nvPr/>
        </p:nvSpPr>
        <p:spPr>
          <a:xfrm>
            <a:off x="7370064" y="713232"/>
            <a:ext cx="731520" cy="237744"/>
          </a:xfrm>
          <a:prstGeom prst="rect">
            <a:avLst/>
          </a:prstGeom>
          <a:noFill/>
          <a:ln/>
        </p:spPr>
        <p:txBody>
          <a:bodyPr wrap="square" lIns="0" tIns="0" rIns="0" bIns="0" rtlCol="0" anchor="ctr"/>
          <a:lstStyle/>
          <a:p>
            <a:pPr marL="0" indent="0" algn="ctr">
              <a:buNone/>
            </a:pPr>
            <a:r>
              <a:rPr lang="en-US" sz="1250" b="1" dirty="0">
                <a:solidFill>
                  <a:srgbClr val="12263F"/>
                </a:solidFill>
                <a:latin typeface="Calibri" pitchFamily="34" charset="0"/>
                <a:ea typeface="Calibri" pitchFamily="34" charset="-122"/>
                <a:cs typeface="Calibri" pitchFamily="34" charset="-120"/>
              </a:rPr>
              <a:t>3</a:t>
            </a:r>
            <a:endParaRPr lang="en-US" sz="1250" dirty="0"/>
          </a:p>
        </p:txBody>
      </p:sp>
      <p:sp>
        <p:nvSpPr>
          <p:cNvPr id="13" name="Text 11"/>
          <p:cNvSpPr/>
          <p:nvPr/>
        </p:nvSpPr>
        <p:spPr>
          <a:xfrm>
            <a:off x="7370064" y="941832"/>
            <a:ext cx="731520" cy="164592"/>
          </a:xfrm>
          <a:prstGeom prst="rect">
            <a:avLst/>
          </a:prstGeom>
          <a:noFill/>
          <a:ln/>
        </p:spPr>
        <p:txBody>
          <a:bodyPr wrap="square" lIns="0" tIns="0" rIns="0" bIns="0" rtlCol="0" anchor="ctr"/>
          <a:lstStyle/>
          <a:p>
            <a:pPr marL="0" indent="0" algn="ctr">
              <a:buNone/>
            </a:pPr>
            <a:r>
              <a:rPr lang="en-US" sz="600" kern="0" spc="60" dirty="0">
                <a:solidFill>
                  <a:srgbClr val="4A5769"/>
                </a:solidFill>
                <a:latin typeface="Calibri" pitchFamily="34" charset="0"/>
                <a:ea typeface="Calibri" pitchFamily="34" charset="-122"/>
                <a:cs typeface="Calibri" pitchFamily="34" charset="-120"/>
              </a:rPr>
              <a:t>ENTREPRISES</a:t>
            </a:r>
            <a:endParaRPr lang="en-US" sz="600" dirty="0"/>
          </a:p>
        </p:txBody>
      </p:sp>
      <p:sp>
        <p:nvSpPr>
          <p:cNvPr id="14" name="Shape 12"/>
          <p:cNvSpPr/>
          <p:nvPr/>
        </p:nvSpPr>
        <p:spPr>
          <a:xfrm>
            <a:off x="8156448" y="658368"/>
            <a:ext cx="731520" cy="530352"/>
          </a:xfrm>
          <a:prstGeom prst="roundRect">
            <a:avLst>
              <a:gd name="adj" fmla="val 10345"/>
            </a:avLst>
          </a:prstGeom>
          <a:solidFill>
            <a:srgbClr val="FFFFFF"/>
          </a:solidFill>
          <a:ln w="9525">
            <a:solidFill>
              <a:srgbClr val="D8E0E8"/>
            </a:solidFill>
            <a:prstDash val="solid"/>
          </a:ln>
        </p:spPr>
        <p:txBody>
          <a:bodyPr/>
          <a:lstStyle/>
          <a:p>
            <a:endParaRPr lang="fr-FR"/>
          </a:p>
        </p:txBody>
      </p:sp>
      <p:sp>
        <p:nvSpPr>
          <p:cNvPr id="15" name="Text 13"/>
          <p:cNvSpPr/>
          <p:nvPr/>
        </p:nvSpPr>
        <p:spPr>
          <a:xfrm>
            <a:off x="8156448" y="713232"/>
            <a:ext cx="731520" cy="237744"/>
          </a:xfrm>
          <a:prstGeom prst="rect">
            <a:avLst/>
          </a:prstGeom>
          <a:noFill/>
          <a:ln/>
        </p:spPr>
        <p:txBody>
          <a:bodyPr wrap="square" lIns="0" tIns="0" rIns="0" bIns="0" rtlCol="0" anchor="ctr"/>
          <a:lstStyle/>
          <a:p>
            <a:pPr marL="0" indent="0" algn="ctr">
              <a:buNone/>
            </a:pPr>
            <a:r>
              <a:rPr lang="en-US" sz="1250" b="1" dirty="0">
                <a:solidFill>
                  <a:srgbClr val="12263F"/>
                </a:solidFill>
                <a:latin typeface="Calibri" pitchFamily="34" charset="0"/>
                <a:ea typeface="Calibri" pitchFamily="34" charset="-122"/>
                <a:cs typeface="Calibri" pitchFamily="34" charset="-120"/>
              </a:rPr>
              <a:t>DevOps</a:t>
            </a:r>
            <a:endParaRPr lang="en-US" sz="1250" dirty="0"/>
          </a:p>
        </p:txBody>
      </p:sp>
      <p:sp>
        <p:nvSpPr>
          <p:cNvPr id="16" name="Text 14"/>
          <p:cNvSpPr/>
          <p:nvPr/>
        </p:nvSpPr>
        <p:spPr>
          <a:xfrm>
            <a:off x="8156448" y="941832"/>
            <a:ext cx="731520" cy="164592"/>
          </a:xfrm>
          <a:prstGeom prst="rect">
            <a:avLst/>
          </a:prstGeom>
          <a:noFill/>
          <a:ln/>
        </p:spPr>
        <p:txBody>
          <a:bodyPr wrap="square" lIns="0" tIns="0" rIns="0" bIns="0" rtlCol="0" anchor="ctr"/>
          <a:lstStyle/>
          <a:p>
            <a:pPr marL="0" indent="0" algn="ctr">
              <a:buNone/>
            </a:pPr>
            <a:r>
              <a:rPr lang="en-US" sz="600" kern="0" spc="60" dirty="0">
                <a:solidFill>
                  <a:srgbClr val="4A5769"/>
                </a:solidFill>
                <a:latin typeface="Calibri" pitchFamily="34" charset="0"/>
                <a:ea typeface="Calibri" pitchFamily="34" charset="-122"/>
                <a:cs typeface="Calibri" pitchFamily="34" charset="-120"/>
              </a:rPr>
              <a:t>SPÉCIALITÉ</a:t>
            </a:r>
            <a:endParaRPr lang="en-US" sz="600" dirty="0"/>
          </a:p>
        </p:txBody>
      </p:sp>
      <p:sp>
        <p:nvSpPr>
          <p:cNvPr id="17" name="Text 15"/>
          <p:cNvSpPr/>
          <p:nvPr/>
        </p:nvSpPr>
        <p:spPr>
          <a:xfrm>
            <a:off x="292608" y="1554480"/>
            <a:ext cx="2029968" cy="201168"/>
          </a:xfrm>
          <a:prstGeom prst="rect">
            <a:avLst/>
          </a:prstGeom>
          <a:noFill/>
          <a:ln/>
        </p:spPr>
        <p:txBody>
          <a:bodyPr wrap="square" lIns="0" tIns="0" rIns="0" bIns="0" rtlCol="0" anchor="ctr"/>
          <a:lstStyle/>
          <a:p>
            <a:pPr marL="0" indent="0">
              <a:buNone/>
            </a:pPr>
            <a:r>
              <a:rPr lang="en-US" sz="1050" b="1" dirty="0">
                <a:solidFill>
                  <a:srgbClr val="12263F"/>
                </a:solidFill>
                <a:latin typeface="Calibri" pitchFamily="34" charset="0"/>
                <a:ea typeface="Calibri" pitchFamily="34" charset="-122"/>
                <a:cs typeface="Calibri" pitchFamily="34" charset="-120"/>
              </a:rPr>
              <a:t>2020 à 2022</a:t>
            </a:r>
            <a:endParaRPr lang="en-US" sz="1050" dirty="0"/>
          </a:p>
        </p:txBody>
      </p:sp>
      <p:sp>
        <p:nvSpPr>
          <p:cNvPr id="18" name="Shape 16"/>
          <p:cNvSpPr/>
          <p:nvPr/>
        </p:nvSpPr>
        <p:spPr>
          <a:xfrm>
            <a:off x="292608" y="1792224"/>
            <a:ext cx="2029968" cy="1773936"/>
          </a:xfrm>
          <a:prstGeom prst="rect">
            <a:avLst/>
          </a:prstGeom>
          <a:solidFill>
            <a:srgbClr val="FFFFFF"/>
          </a:solidFill>
          <a:ln w="9525">
            <a:solidFill>
              <a:srgbClr val="E2E8EE"/>
            </a:solidFill>
            <a:prstDash val="solid"/>
          </a:ln>
        </p:spPr>
        <p:txBody>
          <a:bodyPr/>
          <a:lstStyle/>
          <a:p>
            <a:endParaRPr lang="fr-FR"/>
          </a:p>
        </p:txBody>
      </p:sp>
      <p:sp>
        <p:nvSpPr>
          <p:cNvPr id="19" name="Shape 17"/>
          <p:cNvSpPr/>
          <p:nvPr/>
        </p:nvSpPr>
        <p:spPr>
          <a:xfrm>
            <a:off x="292608" y="1792224"/>
            <a:ext cx="2029968" cy="45720"/>
          </a:xfrm>
          <a:prstGeom prst="rect">
            <a:avLst/>
          </a:prstGeom>
          <a:solidFill>
            <a:srgbClr val="12263F"/>
          </a:solidFill>
          <a:ln/>
        </p:spPr>
        <p:txBody>
          <a:bodyPr/>
          <a:lstStyle/>
          <a:p>
            <a:endParaRPr lang="fr-FR"/>
          </a:p>
        </p:txBody>
      </p:sp>
      <p:sp>
        <p:nvSpPr>
          <p:cNvPr id="20" name="Text 18"/>
          <p:cNvSpPr/>
          <p:nvPr/>
        </p:nvSpPr>
        <p:spPr>
          <a:xfrm>
            <a:off x="438912" y="1938528"/>
            <a:ext cx="1737360" cy="420624"/>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Bac+2 informatique</a:t>
            </a:r>
            <a:endParaRPr lang="en-US" sz="1250" dirty="0"/>
          </a:p>
        </p:txBody>
      </p:sp>
      <p:sp>
        <p:nvSpPr>
          <p:cNvPr id="21" name="Text 19"/>
          <p:cNvSpPr/>
          <p:nvPr/>
        </p:nvSpPr>
        <p:spPr>
          <a:xfrm>
            <a:off x="438912" y="2377440"/>
            <a:ext cx="1737360" cy="384048"/>
          </a:xfrm>
          <a:prstGeom prst="rect">
            <a:avLst/>
          </a:prstGeom>
          <a:noFill/>
          <a:ln/>
        </p:spPr>
        <p:txBody>
          <a:bodyPr wrap="square" lIns="0" tIns="0" rIns="0" bIns="0" rtlCol="0" anchor="ctr"/>
          <a:lstStyle/>
          <a:p>
            <a:pPr marL="0" indent="0">
              <a:lnSpc>
                <a:spcPct val="110000"/>
              </a:lnSpc>
              <a:buNone/>
            </a:pPr>
            <a:r>
              <a:rPr lang="en-US" sz="900" dirty="0">
                <a:solidFill>
                  <a:srgbClr val="4A5769"/>
                </a:solidFill>
                <a:latin typeface="Calibri" pitchFamily="34" charset="0"/>
                <a:ea typeface="Calibri" pitchFamily="34" charset="-122"/>
                <a:cs typeface="Calibri" pitchFamily="34" charset="-120"/>
              </a:rPr>
              <a:t>Université d'Aix-Marseille</a:t>
            </a:r>
            <a:endParaRPr lang="en-US" sz="900" dirty="0"/>
          </a:p>
        </p:txBody>
      </p:sp>
      <p:sp>
        <p:nvSpPr>
          <p:cNvPr id="22" name="Text 20"/>
          <p:cNvSpPr/>
          <p:nvPr/>
        </p:nvSpPr>
        <p:spPr>
          <a:xfrm>
            <a:off x="438912" y="2798064"/>
            <a:ext cx="1737360" cy="694944"/>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4A5769"/>
                </a:solidFill>
                <a:latin typeface="Calibri" pitchFamily="34" charset="0"/>
                <a:ea typeface="Calibri" pitchFamily="34" charset="-122"/>
                <a:cs typeface="Calibri" pitchFamily="34" charset="-120"/>
              </a:rPr>
              <a:t>Algorithmique</a:t>
            </a:r>
            <a:endParaRPr lang="en-US" sz="900" dirty="0"/>
          </a:p>
          <a:p>
            <a:pPr marL="342900" indent="-342900">
              <a:spcAft>
                <a:spcPts val="300"/>
              </a:spcAft>
              <a:buSzPct val="100000"/>
              <a:buChar char="•"/>
            </a:pPr>
            <a:r>
              <a:rPr lang="en-US" sz="900" dirty="0">
                <a:solidFill>
                  <a:srgbClr val="4A5769"/>
                </a:solidFill>
                <a:latin typeface="Calibri" pitchFamily="34" charset="0"/>
                <a:ea typeface="Calibri" pitchFamily="34" charset="-122"/>
                <a:cs typeface="Calibri" pitchFamily="34" charset="-120"/>
              </a:rPr>
              <a:t>Bases de données</a:t>
            </a:r>
            <a:endParaRPr lang="en-US" sz="900" dirty="0"/>
          </a:p>
          <a:p>
            <a:pPr marL="342900" indent="-342900">
              <a:spcAft>
                <a:spcPts val="300"/>
              </a:spcAft>
              <a:buSzPct val="100000"/>
              <a:buChar char="•"/>
            </a:pPr>
            <a:r>
              <a:rPr lang="en-US" sz="900" dirty="0">
                <a:solidFill>
                  <a:srgbClr val="4A5769"/>
                </a:solidFill>
                <a:latin typeface="Calibri" pitchFamily="34" charset="0"/>
                <a:ea typeface="Calibri" pitchFamily="34" charset="-122"/>
                <a:cs typeface="Calibri" pitchFamily="34" charset="-120"/>
              </a:rPr>
              <a:t>Génie logiciel</a:t>
            </a:r>
            <a:endParaRPr lang="en-US" sz="900" dirty="0"/>
          </a:p>
        </p:txBody>
      </p:sp>
      <p:sp>
        <p:nvSpPr>
          <p:cNvPr id="23" name="Text 21"/>
          <p:cNvSpPr/>
          <p:nvPr/>
        </p:nvSpPr>
        <p:spPr>
          <a:xfrm>
            <a:off x="2468880" y="1554480"/>
            <a:ext cx="2029968" cy="201168"/>
          </a:xfrm>
          <a:prstGeom prst="rect">
            <a:avLst/>
          </a:prstGeom>
          <a:noFill/>
          <a:ln/>
        </p:spPr>
        <p:txBody>
          <a:bodyPr wrap="square" lIns="0" tIns="0" rIns="0" bIns="0" rtlCol="0" anchor="ctr"/>
          <a:lstStyle/>
          <a:p>
            <a:pPr marL="0" indent="0">
              <a:buNone/>
            </a:pPr>
            <a:r>
              <a:rPr lang="en-US" sz="1050" b="1" dirty="0">
                <a:solidFill>
                  <a:srgbClr val="1B6EC2"/>
                </a:solidFill>
                <a:latin typeface="Calibri" pitchFamily="34" charset="0"/>
                <a:ea typeface="Calibri" pitchFamily="34" charset="-122"/>
                <a:cs typeface="Calibri" pitchFamily="34" charset="-120"/>
              </a:rPr>
              <a:t>2022 à 2023</a:t>
            </a:r>
            <a:endParaRPr lang="en-US" sz="1050" dirty="0"/>
          </a:p>
        </p:txBody>
      </p:sp>
      <p:sp>
        <p:nvSpPr>
          <p:cNvPr id="24" name="Shape 22"/>
          <p:cNvSpPr/>
          <p:nvPr/>
        </p:nvSpPr>
        <p:spPr>
          <a:xfrm>
            <a:off x="2468880" y="1792224"/>
            <a:ext cx="2029968" cy="1773936"/>
          </a:xfrm>
          <a:prstGeom prst="rect">
            <a:avLst/>
          </a:prstGeom>
          <a:solidFill>
            <a:srgbClr val="FFFFFF"/>
          </a:solidFill>
          <a:ln w="9525">
            <a:solidFill>
              <a:srgbClr val="E2E8EE"/>
            </a:solidFill>
            <a:prstDash val="solid"/>
          </a:ln>
        </p:spPr>
        <p:txBody>
          <a:bodyPr/>
          <a:lstStyle/>
          <a:p>
            <a:endParaRPr lang="fr-FR"/>
          </a:p>
        </p:txBody>
      </p:sp>
      <p:sp>
        <p:nvSpPr>
          <p:cNvPr id="25" name="Shape 23"/>
          <p:cNvSpPr/>
          <p:nvPr/>
        </p:nvSpPr>
        <p:spPr>
          <a:xfrm>
            <a:off x="2468880" y="1792224"/>
            <a:ext cx="2029968" cy="45720"/>
          </a:xfrm>
          <a:prstGeom prst="rect">
            <a:avLst/>
          </a:prstGeom>
          <a:solidFill>
            <a:srgbClr val="1B6EC2"/>
          </a:solidFill>
          <a:ln/>
        </p:spPr>
        <p:txBody>
          <a:bodyPr/>
          <a:lstStyle/>
          <a:p>
            <a:endParaRPr lang="fr-FR"/>
          </a:p>
        </p:txBody>
      </p:sp>
      <p:sp>
        <p:nvSpPr>
          <p:cNvPr id="26" name="Text 24"/>
          <p:cNvSpPr/>
          <p:nvPr/>
        </p:nvSpPr>
        <p:spPr>
          <a:xfrm>
            <a:off x="2615184" y="1938528"/>
            <a:ext cx="1737360" cy="420624"/>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Développeur full stack</a:t>
            </a:r>
            <a:endParaRPr lang="en-US" sz="1250" dirty="0"/>
          </a:p>
        </p:txBody>
      </p:sp>
      <p:sp>
        <p:nvSpPr>
          <p:cNvPr id="27" name="Text 25"/>
          <p:cNvSpPr/>
          <p:nvPr/>
        </p:nvSpPr>
        <p:spPr>
          <a:xfrm>
            <a:off x="2615184" y="2377440"/>
            <a:ext cx="1737360" cy="384048"/>
          </a:xfrm>
          <a:prstGeom prst="rect">
            <a:avLst/>
          </a:prstGeom>
          <a:noFill/>
          <a:ln/>
        </p:spPr>
        <p:txBody>
          <a:bodyPr wrap="square" lIns="0" tIns="0" rIns="0" bIns="0" rtlCol="0" anchor="ctr"/>
          <a:lstStyle/>
          <a:p>
            <a:pPr marL="0" indent="0">
              <a:lnSpc>
                <a:spcPct val="110000"/>
              </a:lnSpc>
              <a:buNone/>
            </a:pPr>
            <a:r>
              <a:rPr lang="en-US" sz="900" dirty="0">
                <a:solidFill>
                  <a:srgbClr val="4A5769"/>
                </a:solidFill>
                <a:latin typeface="Calibri" pitchFamily="34" charset="0"/>
                <a:ea typeface="Calibri" pitchFamily="34" charset="-122"/>
                <a:cs typeface="Calibri" pitchFamily="34" charset="-120"/>
              </a:rPr>
              <a:t>IT Remote · CDI, 1 an</a:t>
            </a:r>
            <a:endParaRPr lang="en-US" sz="900" dirty="0"/>
          </a:p>
        </p:txBody>
      </p:sp>
      <p:sp>
        <p:nvSpPr>
          <p:cNvPr id="28" name="Text 26"/>
          <p:cNvSpPr/>
          <p:nvPr/>
        </p:nvSpPr>
        <p:spPr>
          <a:xfrm>
            <a:off x="2615184" y="2798064"/>
            <a:ext cx="1737360" cy="694944"/>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4A5769"/>
                </a:solidFill>
                <a:latin typeface="Calibri" pitchFamily="34" charset="0"/>
                <a:ea typeface="Calibri" pitchFamily="34" charset="-122"/>
                <a:cs typeface="Calibri" pitchFamily="34" charset="-120"/>
              </a:rPr>
              <a:t>Consoles d'administration</a:t>
            </a:r>
            <a:endParaRPr lang="en-US" sz="900" dirty="0"/>
          </a:p>
          <a:p>
            <a:pPr marL="342900" indent="-342900">
              <a:spcAft>
                <a:spcPts val="300"/>
              </a:spcAft>
              <a:buSzPct val="100000"/>
              <a:buChar char="•"/>
            </a:pPr>
            <a:r>
              <a:rPr lang="en-US" sz="900" dirty="0">
                <a:solidFill>
                  <a:srgbClr val="4A5769"/>
                </a:solidFill>
                <a:latin typeface="Calibri" pitchFamily="34" charset="0"/>
                <a:ea typeface="Calibri" pitchFamily="34" charset="-122"/>
                <a:cs typeface="Calibri" pitchFamily="34" charset="-120"/>
              </a:rPr>
              <a:t>Agents Windows</a:t>
            </a:r>
            <a:endParaRPr lang="en-US" sz="900" dirty="0"/>
          </a:p>
          <a:p>
            <a:pPr marL="342900" indent="-342900">
              <a:spcAft>
                <a:spcPts val="300"/>
              </a:spcAft>
              <a:buSzPct val="100000"/>
              <a:buChar char="•"/>
            </a:pPr>
            <a:r>
              <a:rPr lang="en-US" sz="900" dirty="0">
                <a:solidFill>
                  <a:srgbClr val="4A5769"/>
                </a:solidFill>
                <a:latin typeface="Calibri" pitchFamily="34" charset="0"/>
                <a:ea typeface="Calibri" pitchFamily="34" charset="-122"/>
                <a:cs typeface="Calibri" pitchFamily="34" charset="-120"/>
              </a:rPr>
              <a:t>.NET, TypeScript</a:t>
            </a:r>
            <a:endParaRPr lang="en-US" sz="900" dirty="0"/>
          </a:p>
        </p:txBody>
      </p:sp>
      <p:sp>
        <p:nvSpPr>
          <p:cNvPr id="29" name="Text 27"/>
          <p:cNvSpPr/>
          <p:nvPr/>
        </p:nvSpPr>
        <p:spPr>
          <a:xfrm>
            <a:off x="4645152" y="1554480"/>
            <a:ext cx="2029968" cy="201168"/>
          </a:xfrm>
          <a:prstGeom prst="rect">
            <a:avLst/>
          </a:prstGeom>
          <a:noFill/>
          <a:ln/>
        </p:spPr>
        <p:txBody>
          <a:bodyPr wrap="square" lIns="0" tIns="0" rIns="0" bIns="0" rtlCol="0" anchor="ctr"/>
          <a:lstStyle/>
          <a:p>
            <a:pPr marL="0" indent="0">
              <a:buNone/>
            </a:pPr>
            <a:r>
              <a:rPr lang="en-US" sz="1050" b="1" dirty="0">
                <a:solidFill>
                  <a:srgbClr val="12855A"/>
                </a:solidFill>
                <a:latin typeface="Calibri" pitchFamily="34" charset="0"/>
                <a:ea typeface="Calibri" pitchFamily="34" charset="-122"/>
                <a:cs typeface="Calibri" pitchFamily="34" charset="-120"/>
              </a:rPr>
              <a:t>2023 à 2024</a:t>
            </a:r>
            <a:endParaRPr lang="en-US" sz="1050" dirty="0"/>
          </a:p>
        </p:txBody>
      </p:sp>
      <p:sp>
        <p:nvSpPr>
          <p:cNvPr id="30" name="Shape 28"/>
          <p:cNvSpPr/>
          <p:nvPr/>
        </p:nvSpPr>
        <p:spPr>
          <a:xfrm>
            <a:off x="4645152" y="1792224"/>
            <a:ext cx="2029968" cy="1773936"/>
          </a:xfrm>
          <a:prstGeom prst="rect">
            <a:avLst/>
          </a:prstGeom>
          <a:solidFill>
            <a:srgbClr val="FFFFFF"/>
          </a:solidFill>
          <a:ln w="9525">
            <a:solidFill>
              <a:srgbClr val="E2E8EE"/>
            </a:solidFill>
            <a:prstDash val="solid"/>
          </a:ln>
        </p:spPr>
        <p:txBody>
          <a:bodyPr/>
          <a:lstStyle/>
          <a:p>
            <a:endParaRPr lang="fr-FR"/>
          </a:p>
        </p:txBody>
      </p:sp>
      <p:sp>
        <p:nvSpPr>
          <p:cNvPr id="31" name="Shape 29"/>
          <p:cNvSpPr/>
          <p:nvPr/>
        </p:nvSpPr>
        <p:spPr>
          <a:xfrm>
            <a:off x="4645152" y="1792224"/>
            <a:ext cx="2029968" cy="45720"/>
          </a:xfrm>
          <a:prstGeom prst="rect">
            <a:avLst/>
          </a:prstGeom>
          <a:solidFill>
            <a:srgbClr val="12855A"/>
          </a:solidFill>
          <a:ln/>
        </p:spPr>
        <p:txBody>
          <a:bodyPr/>
          <a:lstStyle/>
          <a:p>
            <a:endParaRPr lang="fr-FR"/>
          </a:p>
        </p:txBody>
      </p:sp>
      <p:sp>
        <p:nvSpPr>
          <p:cNvPr id="32" name="Text 30"/>
          <p:cNvSpPr/>
          <p:nvPr/>
        </p:nvSpPr>
        <p:spPr>
          <a:xfrm>
            <a:off x="4791456" y="1938528"/>
            <a:ext cx="1737360" cy="420624"/>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Développeur full stack</a:t>
            </a:r>
            <a:endParaRPr lang="en-US" sz="1250" dirty="0"/>
          </a:p>
        </p:txBody>
      </p:sp>
      <p:sp>
        <p:nvSpPr>
          <p:cNvPr id="33" name="Text 31"/>
          <p:cNvSpPr/>
          <p:nvPr/>
        </p:nvSpPr>
        <p:spPr>
          <a:xfrm>
            <a:off x="4791456" y="2377440"/>
            <a:ext cx="1737360" cy="384048"/>
          </a:xfrm>
          <a:prstGeom prst="rect">
            <a:avLst/>
          </a:prstGeom>
          <a:noFill/>
          <a:ln/>
        </p:spPr>
        <p:txBody>
          <a:bodyPr wrap="square" lIns="0" tIns="0" rIns="0" bIns="0" rtlCol="0" anchor="ctr"/>
          <a:lstStyle/>
          <a:p>
            <a:pPr marL="0" indent="0">
              <a:lnSpc>
                <a:spcPct val="110000"/>
              </a:lnSpc>
              <a:buNone/>
            </a:pPr>
            <a:r>
              <a:rPr lang="en-US" sz="900" dirty="0">
                <a:solidFill>
                  <a:srgbClr val="4A5769"/>
                </a:solidFill>
                <a:latin typeface="Calibri" pitchFamily="34" charset="0"/>
                <a:ea typeface="Calibri" pitchFamily="34" charset="-122"/>
                <a:cs typeface="Calibri" pitchFamily="34" charset="-120"/>
              </a:rPr>
              <a:t>Altares · alternance, Bac+3</a:t>
            </a:r>
            <a:endParaRPr lang="en-US" sz="900" dirty="0"/>
          </a:p>
        </p:txBody>
      </p:sp>
      <p:sp>
        <p:nvSpPr>
          <p:cNvPr id="34" name="Text 32"/>
          <p:cNvSpPr/>
          <p:nvPr/>
        </p:nvSpPr>
        <p:spPr>
          <a:xfrm>
            <a:off x="4791456" y="2798064"/>
            <a:ext cx="1737360" cy="694944"/>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4A5769"/>
                </a:solidFill>
                <a:latin typeface="Calibri" pitchFamily="34" charset="0"/>
                <a:ea typeface="Calibri" pitchFamily="34" charset="-122"/>
                <a:cs typeface="Calibri" pitchFamily="34" charset="-120"/>
              </a:rPr>
              <a:t>Next.js, Java Spring</a:t>
            </a:r>
            <a:endParaRPr lang="en-US" sz="900" dirty="0"/>
          </a:p>
          <a:p>
            <a:pPr marL="342900" indent="-342900">
              <a:spcAft>
                <a:spcPts val="300"/>
              </a:spcAft>
              <a:buSzPct val="100000"/>
              <a:buChar char="•"/>
            </a:pPr>
            <a:r>
              <a:rPr lang="en-US" sz="900" dirty="0">
                <a:solidFill>
                  <a:srgbClr val="4A5769"/>
                </a:solidFill>
                <a:latin typeface="Calibri" pitchFamily="34" charset="0"/>
                <a:ea typeface="Calibri" pitchFamily="34" charset="-122"/>
                <a:cs typeface="Calibri" pitchFamily="34" charset="-120"/>
              </a:rPr>
              <a:t>Recherche à grande échelle</a:t>
            </a:r>
            <a:endParaRPr lang="en-US" sz="900" dirty="0"/>
          </a:p>
          <a:p>
            <a:pPr marL="342900" indent="-342900">
              <a:spcAft>
                <a:spcPts val="300"/>
              </a:spcAft>
              <a:buSzPct val="100000"/>
              <a:buChar char="•"/>
            </a:pPr>
            <a:r>
              <a:rPr lang="en-US" sz="900" dirty="0">
                <a:solidFill>
                  <a:srgbClr val="4A5769"/>
                </a:solidFill>
                <a:latin typeface="Calibri" pitchFamily="34" charset="0"/>
                <a:ea typeface="Calibri" pitchFamily="34" charset="-122"/>
                <a:cs typeface="Calibri" pitchFamily="34" charset="-120"/>
              </a:rPr>
              <a:t>Optimisation de bases</a:t>
            </a:r>
            <a:endParaRPr lang="en-US" sz="900" dirty="0"/>
          </a:p>
        </p:txBody>
      </p:sp>
      <p:sp>
        <p:nvSpPr>
          <p:cNvPr id="35" name="Text 33"/>
          <p:cNvSpPr/>
          <p:nvPr/>
        </p:nvSpPr>
        <p:spPr>
          <a:xfrm>
            <a:off x="6821424" y="1554480"/>
            <a:ext cx="2029968" cy="201168"/>
          </a:xfrm>
          <a:prstGeom prst="rect">
            <a:avLst/>
          </a:prstGeom>
          <a:noFill/>
          <a:ln/>
        </p:spPr>
        <p:txBody>
          <a:bodyPr wrap="square" lIns="0" tIns="0" rIns="0" bIns="0" rtlCol="0" anchor="ctr"/>
          <a:lstStyle/>
          <a:p>
            <a:pPr marL="0" indent="0">
              <a:buNone/>
            </a:pPr>
            <a:r>
              <a:rPr lang="en-US" sz="1050" b="1" dirty="0">
                <a:solidFill>
                  <a:srgbClr val="6B3FD4"/>
                </a:solidFill>
                <a:latin typeface="Calibri" pitchFamily="34" charset="0"/>
                <a:ea typeface="Calibri" pitchFamily="34" charset="-122"/>
                <a:cs typeface="Calibri" pitchFamily="34" charset="-120"/>
              </a:rPr>
              <a:t>2024 à 2026</a:t>
            </a:r>
            <a:endParaRPr lang="en-US" sz="1050" dirty="0"/>
          </a:p>
        </p:txBody>
      </p:sp>
      <p:sp>
        <p:nvSpPr>
          <p:cNvPr id="36" name="Shape 34"/>
          <p:cNvSpPr/>
          <p:nvPr/>
        </p:nvSpPr>
        <p:spPr>
          <a:xfrm>
            <a:off x="6821424" y="1792224"/>
            <a:ext cx="2029968" cy="1773936"/>
          </a:xfrm>
          <a:prstGeom prst="rect">
            <a:avLst/>
          </a:prstGeom>
          <a:solidFill>
            <a:srgbClr val="FFFFFF"/>
          </a:solidFill>
          <a:ln w="9525">
            <a:solidFill>
              <a:srgbClr val="E2E8EE"/>
            </a:solidFill>
            <a:prstDash val="solid"/>
          </a:ln>
        </p:spPr>
        <p:txBody>
          <a:bodyPr/>
          <a:lstStyle/>
          <a:p>
            <a:endParaRPr lang="fr-FR"/>
          </a:p>
        </p:txBody>
      </p:sp>
      <p:sp>
        <p:nvSpPr>
          <p:cNvPr id="37" name="Shape 35"/>
          <p:cNvSpPr/>
          <p:nvPr/>
        </p:nvSpPr>
        <p:spPr>
          <a:xfrm>
            <a:off x="6821424" y="1792224"/>
            <a:ext cx="2029968" cy="45720"/>
          </a:xfrm>
          <a:prstGeom prst="rect">
            <a:avLst/>
          </a:prstGeom>
          <a:solidFill>
            <a:srgbClr val="6B3FD4"/>
          </a:solidFill>
          <a:ln/>
        </p:spPr>
        <p:txBody>
          <a:bodyPr/>
          <a:lstStyle/>
          <a:p>
            <a:endParaRPr lang="fr-FR"/>
          </a:p>
        </p:txBody>
      </p:sp>
      <p:sp>
        <p:nvSpPr>
          <p:cNvPr id="38" name="Text 36"/>
          <p:cNvSpPr/>
          <p:nvPr/>
        </p:nvSpPr>
        <p:spPr>
          <a:xfrm>
            <a:off x="6967728" y="1938528"/>
            <a:ext cx="1737360" cy="420624"/>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Ingénieur DevOps</a:t>
            </a:r>
            <a:endParaRPr lang="en-US" sz="1250" dirty="0"/>
          </a:p>
        </p:txBody>
      </p:sp>
      <p:sp>
        <p:nvSpPr>
          <p:cNvPr id="39" name="Text 37"/>
          <p:cNvSpPr/>
          <p:nvPr/>
        </p:nvSpPr>
        <p:spPr>
          <a:xfrm>
            <a:off x="6967728" y="2377440"/>
            <a:ext cx="1737360" cy="384048"/>
          </a:xfrm>
          <a:prstGeom prst="rect">
            <a:avLst/>
          </a:prstGeom>
          <a:noFill/>
          <a:ln/>
        </p:spPr>
        <p:txBody>
          <a:bodyPr wrap="square" lIns="0" tIns="0" rIns="0" bIns="0" rtlCol="0" anchor="ctr"/>
          <a:lstStyle/>
          <a:p>
            <a:pPr marL="0" indent="0">
              <a:lnSpc>
                <a:spcPct val="110000"/>
              </a:lnSpc>
              <a:buNone/>
            </a:pPr>
            <a:r>
              <a:rPr lang="en-US" sz="900" dirty="0">
                <a:solidFill>
                  <a:srgbClr val="4A5769"/>
                </a:solidFill>
                <a:latin typeface="Calibri" pitchFamily="34" charset="0"/>
                <a:ea typeface="Calibri" pitchFamily="34" charset="-122"/>
                <a:cs typeface="Calibri" pitchFamily="34" charset="-120"/>
              </a:rPr>
              <a:t>FDJ United · alternance, Bac+5</a:t>
            </a:r>
            <a:endParaRPr lang="en-US" sz="900" dirty="0"/>
          </a:p>
        </p:txBody>
      </p:sp>
      <p:sp>
        <p:nvSpPr>
          <p:cNvPr id="40" name="Text 38"/>
          <p:cNvSpPr/>
          <p:nvPr/>
        </p:nvSpPr>
        <p:spPr>
          <a:xfrm>
            <a:off x="6967728" y="2798064"/>
            <a:ext cx="1737360" cy="694944"/>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4A5769"/>
                </a:solidFill>
                <a:latin typeface="Calibri" pitchFamily="34" charset="0"/>
                <a:ea typeface="Calibri" pitchFamily="34" charset="-122"/>
                <a:cs typeface="Calibri" pitchFamily="34" charset="-120"/>
              </a:rPr>
              <a:t>Plateforme libre service</a:t>
            </a:r>
            <a:endParaRPr lang="en-US" sz="900" dirty="0"/>
          </a:p>
          <a:p>
            <a:pPr marL="342900" indent="-342900">
              <a:spcAft>
                <a:spcPts val="300"/>
              </a:spcAft>
              <a:buSzPct val="100000"/>
              <a:buChar char="•"/>
            </a:pPr>
            <a:r>
              <a:rPr lang="en-US" sz="900" dirty="0">
                <a:solidFill>
                  <a:srgbClr val="4A5769"/>
                </a:solidFill>
                <a:latin typeface="Calibri" pitchFamily="34" charset="0"/>
                <a:ea typeface="Calibri" pitchFamily="34" charset="-122"/>
                <a:cs typeface="Calibri" pitchFamily="34" charset="-120"/>
              </a:rPr>
              <a:t>Kubernetes, Terraform</a:t>
            </a:r>
            <a:endParaRPr lang="en-US" sz="900" dirty="0"/>
          </a:p>
          <a:p>
            <a:pPr marL="342900" indent="-342900">
              <a:spcAft>
                <a:spcPts val="300"/>
              </a:spcAft>
              <a:buSzPct val="100000"/>
              <a:buChar char="•"/>
            </a:pPr>
            <a:r>
              <a:rPr lang="en-US" sz="900" dirty="0">
                <a:solidFill>
                  <a:srgbClr val="4A5769"/>
                </a:solidFill>
                <a:latin typeface="Calibri" pitchFamily="34" charset="0"/>
                <a:ea typeface="Calibri" pitchFamily="34" charset="-122"/>
                <a:cs typeface="Calibri" pitchFamily="34" charset="-120"/>
              </a:rPr>
              <a:t>Livraison continue</a:t>
            </a:r>
            <a:endParaRPr lang="en-US" sz="900" dirty="0"/>
          </a:p>
        </p:txBody>
      </p:sp>
      <p:sp>
        <p:nvSpPr>
          <p:cNvPr id="41" name="Shape 39"/>
          <p:cNvSpPr/>
          <p:nvPr/>
        </p:nvSpPr>
        <p:spPr>
          <a:xfrm>
            <a:off x="292608" y="4224528"/>
            <a:ext cx="8558784" cy="475488"/>
          </a:xfrm>
          <a:prstGeom prst="rect">
            <a:avLst/>
          </a:prstGeom>
          <a:solidFill>
            <a:srgbClr val="12263F"/>
          </a:solidFill>
          <a:ln/>
        </p:spPr>
        <p:txBody>
          <a:bodyPr/>
          <a:lstStyle/>
          <a:p>
            <a:endParaRPr lang="fr-FR"/>
          </a:p>
        </p:txBody>
      </p:sp>
      <p:sp>
        <p:nvSpPr>
          <p:cNvPr id="42" name="Shape 40"/>
          <p:cNvSpPr/>
          <p:nvPr/>
        </p:nvSpPr>
        <p:spPr>
          <a:xfrm>
            <a:off x="292608" y="4224528"/>
            <a:ext cx="45720" cy="475488"/>
          </a:xfrm>
          <a:prstGeom prst="rect">
            <a:avLst/>
          </a:prstGeom>
          <a:solidFill>
            <a:srgbClr val="E08A3C"/>
          </a:solidFill>
          <a:ln/>
        </p:spPr>
        <p:txBody>
          <a:bodyPr/>
          <a:lstStyle/>
          <a:p>
            <a:endParaRPr lang="fr-FR"/>
          </a:p>
        </p:txBody>
      </p:sp>
      <p:sp>
        <p:nvSpPr>
          <p:cNvPr id="43" name="Text 41"/>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Amir REDJEM, 28 ans. Bac+2 en 2022, Bac+3 en 2024, Bac+5 en préparation à LaPlateforme.</a:t>
            </a:r>
            <a:endParaRPr lang="en-US" sz="1150" dirty="0"/>
          </a:p>
        </p:txBody>
      </p:sp>
      <p:sp>
        <p:nvSpPr>
          <p:cNvPr id="44" name="Text 42"/>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1. Présentation personnelle</a:t>
            </a:r>
            <a:endParaRPr lang="en-US" sz="750" dirty="0"/>
          </a:p>
        </p:txBody>
      </p:sp>
      <p:sp>
        <p:nvSpPr>
          <p:cNvPr id="45" name="Text 43"/>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2. Problématique</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4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2.1. Contexte et Importance du Sujet</a:t>
            </a:r>
            <a:endParaRPr lang="en-US" sz="2200" dirty="0"/>
          </a:p>
        </p:txBody>
      </p:sp>
      <p:sp>
        <p:nvSpPr>
          <p:cNvPr id="7" name="Text 5"/>
          <p:cNvSpPr/>
          <p:nvPr/>
        </p:nvSpPr>
        <p:spPr>
          <a:xfrm>
            <a:off x="292608" y="1024128"/>
            <a:ext cx="8558784" cy="201168"/>
          </a:xfrm>
          <a:prstGeom prst="rect">
            <a:avLst/>
          </a:prstGeom>
          <a:noFill/>
          <a:ln/>
        </p:spPr>
        <p:txBody>
          <a:bodyPr wrap="square" lIns="0" tIns="0" rIns="0" bIns="0" rtlCol="0" anchor="ctr"/>
          <a:lstStyle/>
          <a:p>
            <a:pPr marL="0" indent="0">
              <a:buNone/>
            </a:pPr>
            <a:r>
              <a:rPr lang="en-US" sz="1050" dirty="0">
                <a:solidFill>
                  <a:srgbClr val="4A5769"/>
                </a:solidFill>
                <a:latin typeface="Calibri" pitchFamily="34" charset="0"/>
                <a:ea typeface="Calibri" pitchFamily="34" charset="-122"/>
                <a:cs typeface="Calibri" pitchFamily="34" charset="-120"/>
              </a:rPr>
              <a:t>Le domaine de l'option, le système étudié, et la question qui en découle.</a:t>
            </a:r>
            <a:endParaRPr lang="en-US" sz="1050" dirty="0"/>
          </a:p>
        </p:txBody>
      </p:sp>
      <p:sp>
        <p:nvSpPr>
          <p:cNvPr id="8" name="Shape 6"/>
          <p:cNvSpPr/>
          <p:nvPr/>
        </p:nvSpPr>
        <p:spPr>
          <a:xfrm>
            <a:off x="292608" y="1335024"/>
            <a:ext cx="4114800" cy="1335024"/>
          </a:xfrm>
          <a:prstGeom prst="rect">
            <a:avLst/>
          </a:prstGeom>
          <a:solidFill>
            <a:srgbClr val="FFFFFF"/>
          </a:solidFill>
          <a:ln w="12700">
            <a:solidFill>
              <a:srgbClr val="12855A"/>
            </a:solidFill>
            <a:prstDash val="solid"/>
          </a:ln>
        </p:spPr>
        <p:txBody>
          <a:bodyPr/>
          <a:lstStyle/>
          <a:p>
            <a:endParaRPr lang="fr-FR"/>
          </a:p>
        </p:txBody>
      </p:sp>
      <p:sp>
        <p:nvSpPr>
          <p:cNvPr id="9" name="Shape 7"/>
          <p:cNvSpPr/>
          <p:nvPr/>
        </p:nvSpPr>
        <p:spPr>
          <a:xfrm>
            <a:off x="292608" y="1335024"/>
            <a:ext cx="4114800" cy="274320"/>
          </a:xfrm>
          <a:prstGeom prst="rect">
            <a:avLst/>
          </a:prstGeom>
          <a:solidFill>
            <a:srgbClr val="12855A"/>
          </a:solidFill>
          <a:ln/>
        </p:spPr>
        <p:txBody>
          <a:bodyPr/>
          <a:lstStyle/>
          <a:p>
            <a:endParaRPr lang="fr-FR"/>
          </a:p>
        </p:txBody>
      </p:sp>
      <p:sp>
        <p:nvSpPr>
          <p:cNvPr id="10" name="Text 8"/>
          <p:cNvSpPr/>
          <p:nvPr/>
        </p:nvSpPr>
        <p:spPr>
          <a:xfrm>
            <a:off x="420624" y="1335024"/>
            <a:ext cx="3858768" cy="274320"/>
          </a:xfrm>
          <a:prstGeom prst="rect">
            <a:avLst/>
          </a:prstGeom>
          <a:noFill/>
          <a:ln/>
        </p:spPr>
        <p:txBody>
          <a:bodyPr wrap="square" lIns="0" tIns="0" rIns="0" bIns="0" rtlCol="0" anchor="ctr"/>
          <a:lstStyle/>
          <a:p>
            <a:pPr marL="0" indent="0" algn="l">
              <a:lnSpc>
                <a:spcPct val="108000"/>
              </a:lnSpc>
              <a:buNone/>
            </a:pPr>
            <a:r>
              <a:rPr lang="en-US" sz="1000" b="1" dirty="0">
                <a:solidFill>
                  <a:srgbClr val="FFFFFF"/>
                </a:solidFill>
                <a:latin typeface="Calibri" pitchFamily="34" charset="0"/>
                <a:ea typeface="Calibri" pitchFamily="34" charset="-122"/>
                <a:cs typeface="Calibri" pitchFamily="34" charset="-120"/>
              </a:rPr>
              <a:t>LE DOMAINE : le DevOps</a:t>
            </a:r>
            <a:endParaRPr lang="en-US" sz="1000" dirty="0"/>
          </a:p>
        </p:txBody>
      </p:sp>
      <p:sp>
        <p:nvSpPr>
          <p:cNvPr id="11" name="Text 9"/>
          <p:cNvSpPr/>
          <p:nvPr/>
        </p:nvSpPr>
        <p:spPr>
          <a:xfrm>
            <a:off x="438912" y="1700784"/>
            <a:ext cx="3822192" cy="274320"/>
          </a:xfrm>
          <a:prstGeom prst="rect">
            <a:avLst/>
          </a:prstGeom>
          <a:noFill/>
          <a:ln/>
        </p:spPr>
        <p:txBody>
          <a:bodyPr wrap="square" lIns="0" tIns="0" rIns="0" bIns="0" rtlCol="0" anchor="t"/>
          <a:lstStyle/>
          <a:p>
            <a:pPr marL="0" indent="0" algn="l">
              <a:lnSpc>
                <a:spcPct val="108000"/>
              </a:lnSpc>
              <a:buNone/>
            </a:pPr>
            <a:r>
              <a:rPr lang="en-US" sz="1050" dirty="0">
                <a:solidFill>
                  <a:srgbClr val="4A5769"/>
                </a:solidFill>
                <a:latin typeface="Calibri" pitchFamily="34" charset="0"/>
                <a:ea typeface="Calibri" pitchFamily="34" charset="-122"/>
                <a:cs typeface="Calibri" pitchFamily="34" charset="-120"/>
              </a:rPr>
              <a:t>Automatiser la chaîne qui va du code écrit jusqu'au service en ligne.</a:t>
            </a:r>
            <a:endParaRPr lang="en-US" sz="1050" dirty="0"/>
          </a:p>
        </p:txBody>
      </p:sp>
      <p:sp>
        <p:nvSpPr>
          <p:cNvPr id="12" name="Shape 10"/>
          <p:cNvSpPr/>
          <p:nvPr/>
        </p:nvSpPr>
        <p:spPr>
          <a:xfrm>
            <a:off x="438912" y="2048256"/>
            <a:ext cx="1847088" cy="246888"/>
          </a:xfrm>
          <a:prstGeom prst="roundRect">
            <a:avLst>
              <a:gd name="adj" fmla="val 18519"/>
            </a:avLst>
          </a:prstGeom>
          <a:solidFill>
            <a:srgbClr val="FFFFFF"/>
          </a:solidFill>
          <a:ln w="12700">
            <a:solidFill>
              <a:srgbClr val="12855A"/>
            </a:solidFill>
            <a:prstDash val="solid"/>
          </a:ln>
        </p:spPr>
        <p:txBody>
          <a:bodyPr/>
          <a:lstStyle/>
          <a:p>
            <a:endParaRPr lang="fr-FR"/>
          </a:p>
        </p:txBody>
      </p:sp>
      <p:sp>
        <p:nvSpPr>
          <p:cNvPr id="13" name="Text 11"/>
          <p:cNvSpPr/>
          <p:nvPr/>
        </p:nvSpPr>
        <p:spPr>
          <a:xfrm>
            <a:off x="493776" y="2048256"/>
            <a:ext cx="1737360" cy="246888"/>
          </a:xfrm>
          <a:prstGeom prst="rect">
            <a:avLst/>
          </a:prstGeom>
          <a:noFill/>
          <a:ln/>
        </p:spPr>
        <p:txBody>
          <a:bodyPr wrap="square" lIns="0" tIns="0" rIns="0" bIns="0" rtlCol="0" anchor="ctr"/>
          <a:lstStyle/>
          <a:p>
            <a:pPr marL="0" indent="0" algn="ctr">
              <a:lnSpc>
                <a:spcPct val="108000"/>
              </a:lnSpc>
              <a:buNone/>
            </a:pPr>
            <a:r>
              <a:rPr lang="en-US" sz="900" b="1" dirty="0">
                <a:solidFill>
                  <a:srgbClr val="12263F"/>
                </a:solidFill>
                <a:latin typeface="Calibri" pitchFamily="34" charset="0"/>
                <a:ea typeface="Calibri" pitchFamily="34" charset="-122"/>
                <a:cs typeface="Calibri" pitchFamily="34" charset="-120"/>
              </a:rPr>
              <a:t>Automatiser</a:t>
            </a:r>
            <a:endParaRPr lang="en-US" sz="900" dirty="0"/>
          </a:p>
        </p:txBody>
      </p:sp>
      <p:sp>
        <p:nvSpPr>
          <p:cNvPr id="14" name="Shape 12"/>
          <p:cNvSpPr/>
          <p:nvPr/>
        </p:nvSpPr>
        <p:spPr>
          <a:xfrm>
            <a:off x="2377440" y="2048256"/>
            <a:ext cx="1847088" cy="246888"/>
          </a:xfrm>
          <a:prstGeom prst="roundRect">
            <a:avLst>
              <a:gd name="adj" fmla="val 18519"/>
            </a:avLst>
          </a:prstGeom>
          <a:solidFill>
            <a:srgbClr val="FFFFFF"/>
          </a:solidFill>
          <a:ln w="12700">
            <a:solidFill>
              <a:srgbClr val="12855A"/>
            </a:solidFill>
            <a:prstDash val="solid"/>
          </a:ln>
        </p:spPr>
        <p:txBody>
          <a:bodyPr/>
          <a:lstStyle/>
          <a:p>
            <a:endParaRPr lang="fr-FR"/>
          </a:p>
        </p:txBody>
      </p:sp>
      <p:sp>
        <p:nvSpPr>
          <p:cNvPr id="15" name="Text 13"/>
          <p:cNvSpPr/>
          <p:nvPr/>
        </p:nvSpPr>
        <p:spPr>
          <a:xfrm>
            <a:off x="2432304" y="2048256"/>
            <a:ext cx="1737360" cy="246888"/>
          </a:xfrm>
          <a:prstGeom prst="rect">
            <a:avLst/>
          </a:prstGeom>
          <a:noFill/>
          <a:ln/>
        </p:spPr>
        <p:txBody>
          <a:bodyPr wrap="square" lIns="0" tIns="0" rIns="0" bIns="0" rtlCol="0" anchor="ctr"/>
          <a:lstStyle/>
          <a:p>
            <a:pPr marL="0" indent="0" algn="ctr">
              <a:lnSpc>
                <a:spcPct val="108000"/>
              </a:lnSpc>
              <a:buNone/>
            </a:pPr>
            <a:r>
              <a:rPr lang="en-US" sz="900" b="1" dirty="0">
                <a:solidFill>
                  <a:srgbClr val="12263F"/>
                </a:solidFill>
                <a:latin typeface="Calibri" pitchFamily="34" charset="0"/>
                <a:ea typeface="Calibri" pitchFamily="34" charset="-122"/>
                <a:cs typeface="Calibri" pitchFamily="34" charset="-120"/>
              </a:rPr>
              <a:t>Sécuriser</a:t>
            </a:r>
            <a:endParaRPr lang="en-US" sz="900" dirty="0"/>
          </a:p>
        </p:txBody>
      </p:sp>
      <p:sp>
        <p:nvSpPr>
          <p:cNvPr id="16" name="Shape 14"/>
          <p:cNvSpPr/>
          <p:nvPr/>
        </p:nvSpPr>
        <p:spPr>
          <a:xfrm>
            <a:off x="438912" y="2340864"/>
            <a:ext cx="1847088" cy="246888"/>
          </a:xfrm>
          <a:prstGeom prst="roundRect">
            <a:avLst>
              <a:gd name="adj" fmla="val 18519"/>
            </a:avLst>
          </a:prstGeom>
          <a:solidFill>
            <a:srgbClr val="FFFFFF"/>
          </a:solidFill>
          <a:ln w="12700">
            <a:solidFill>
              <a:srgbClr val="12855A"/>
            </a:solidFill>
            <a:prstDash val="solid"/>
          </a:ln>
        </p:spPr>
        <p:txBody>
          <a:bodyPr/>
          <a:lstStyle/>
          <a:p>
            <a:endParaRPr lang="fr-FR"/>
          </a:p>
        </p:txBody>
      </p:sp>
      <p:sp>
        <p:nvSpPr>
          <p:cNvPr id="17" name="Text 15"/>
          <p:cNvSpPr/>
          <p:nvPr/>
        </p:nvSpPr>
        <p:spPr>
          <a:xfrm>
            <a:off x="493776" y="2340864"/>
            <a:ext cx="1737360" cy="246888"/>
          </a:xfrm>
          <a:prstGeom prst="rect">
            <a:avLst/>
          </a:prstGeom>
          <a:noFill/>
          <a:ln/>
        </p:spPr>
        <p:txBody>
          <a:bodyPr wrap="square" lIns="0" tIns="0" rIns="0" bIns="0" rtlCol="0" anchor="ctr"/>
          <a:lstStyle/>
          <a:p>
            <a:pPr marL="0" indent="0" algn="ctr">
              <a:lnSpc>
                <a:spcPct val="108000"/>
              </a:lnSpc>
              <a:buNone/>
            </a:pPr>
            <a:r>
              <a:rPr lang="en-US" sz="900" b="1" dirty="0">
                <a:solidFill>
                  <a:srgbClr val="12263F"/>
                </a:solidFill>
                <a:latin typeface="Calibri" pitchFamily="34" charset="0"/>
                <a:ea typeface="Calibri" pitchFamily="34" charset="-122"/>
                <a:cs typeface="Calibri" pitchFamily="34" charset="-120"/>
              </a:rPr>
              <a:t>Observer</a:t>
            </a:r>
            <a:endParaRPr lang="en-US" sz="900" dirty="0"/>
          </a:p>
        </p:txBody>
      </p:sp>
      <p:sp>
        <p:nvSpPr>
          <p:cNvPr id="18" name="Shape 16"/>
          <p:cNvSpPr/>
          <p:nvPr/>
        </p:nvSpPr>
        <p:spPr>
          <a:xfrm>
            <a:off x="2377440" y="2340864"/>
            <a:ext cx="1847088" cy="246888"/>
          </a:xfrm>
          <a:prstGeom prst="roundRect">
            <a:avLst>
              <a:gd name="adj" fmla="val 18519"/>
            </a:avLst>
          </a:prstGeom>
          <a:solidFill>
            <a:srgbClr val="FFFFFF"/>
          </a:solidFill>
          <a:ln w="12700">
            <a:solidFill>
              <a:srgbClr val="12855A"/>
            </a:solidFill>
            <a:prstDash val="solid"/>
          </a:ln>
        </p:spPr>
        <p:txBody>
          <a:bodyPr/>
          <a:lstStyle/>
          <a:p>
            <a:endParaRPr lang="fr-FR"/>
          </a:p>
        </p:txBody>
      </p:sp>
      <p:sp>
        <p:nvSpPr>
          <p:cNvPr id="19" name="Text 17"/>
          <p:cNvSpPr/>
          <p:nvPr/>
        </p:nvSpPr>
        <p:spPr>
          <a:xfrm>
            <a:off x="2432304" y="2340864"/>
            <a:ext cx="1737360" cy="246888"/>
          </a:xfrm>
          <a:prstGeom prst="rect">
            <a:avLst/>
          </a:prstGeom>
          <a:noFill/>
          <a:ln/>
        </p:spPr>
        <p:txBody>
          <a:bodyPr wrap="square" lIns="0" tIns="0" rIns="0" bIns="0" rtlCol="0" anchor="ctr"/>
          <a:lstStyle/>
          <a:p>
            <a:pPr marL="0" indent="0" algn="ctr">
              <a:lnSpc>
                <a:spcPct val="108000"/>
              </a:lnSpc>
              <a:buNone/>
            </a:pPr>
            <a:r>
              <a:rPr lang="en-US" sz="900" b="1" dirty="0">
                <a:solidFill>
                  <a:srgbClr val="12263F"/>
                </a:solidFill>
                <a:latin typeface="Calibri" pitchFamily="34" charset="0"/>
                <a:ea typeface="Calibri" pitchFamily="34" charset="-122"/>
                <a:cs typeface="Calibri" pitchFamily="34" charset="-120"/>
              </a:rPr>
              <a:t>Maîtriser</a:t>
            </a:r>
            <a:endParaRPr lang="en-US" sz="900" dirty="0"/>
          </a:p>
        </p:txBody>
      </p:sp>
      <p:sp>
        <p:nvSpPr>
          <p:cNvPr id="20" name="Shape 18"/>
          <p:cNvSpPr/>
          <p:nvPr/>
        </p:nvSpPr>
        <p:spPr>
          <a:xfrm>
            <a:off x="4736592" y="1335024"/>
            <a:ext cx="4114800" cy="1335024"/>
          </a:xfrm>
          <a:prstGeom prst="rect">
            <a:avLst/>
          </a:prstGeom>
          <a:solidFill>
            <a:srgbClr val="FFFFFF"/>
          </a:solidFill>
          <a:ln w="12700">
            <a:solidFill>
              <a:srgbClr val="1B6EC2"/>
            </a:solidFill>
            <a:prstDash val="solid"/>
          </a:ln>
        </p:spPr>
        <p:txBody>
          <a:bodyPr/>
          <a:lstStyle/>
          <a:p>
            <a:endParaRPr lang="fr-FR"/>
          </a:p>
        </p:txBody>
      </p:sp>
      <p:sp>
        <p:nvSpPr>
          <p:cNvPr id="21" name="Shape 19"/>
          <p:cNvSpPr/>
          <p:nvPr/>
        </p:nvSpPr>
        <p:spPr>
          <a:xfrm>
            <a:off x="4736592" y="1335024"/>
            <a:ext cx="4114800" cy="274320"/>
          </a:xfrm>
          <a:prstGeom prst="rect">
            <a:avLst/>
          </a:prstGeom>
          <a:solidFill>
            <a:srgbClr val="1B6EC2"/>
          </a:solidFill>
          <a:ln/>
        </p:spPr>
        <p:txBody>
          <a:bodyPr/>
          <a:lstStyle/>
          <a:p>
            <a:endParaRPr lang="fr-FR"/>
          </a:p>
        </p:txBody>
      </p:sp>
      <p:sp>
        <p:nvSpPr>
          <p:cNvPr id="22" name="Text 20"/>
          <p:cNvSpPr/>
          <p:nvPr/>
        </p:nvSpPr>
        <p:spPr>
          <a:xfrm>
            <a:off x="4864608" y="1335024"/>
            <a:ext cx="3858768" cy="274320"/>
          </a:xfrm>
          <a:prstGeom prst="rect">
            <a:avLst/>
          </a:prstGeom>
          <a:noFill/>
          <a:ln/>
        </p:spPr>
        <p:txBody>
          <a:bodyPr wrap="square" lIns="0" tIns="0" rIns="0" bIns="0" rtlCol="0" anchor="ctr"/>
          <a:lstStyle/>
          <a:p>
            <a:pPr marL="0" indent="0" algn="l">
              <a:lnSpc>
                <a:spcPct val="108000"/>
              </a:lnSpc>
              <a:buNone/>
            </a:pPr>
            <a:r>
              <a:rPr lang="en-US" sz="1000" b="1" dirty="0">
                <a:solidFill>
                  <a:srgbClr val="FFFFFF"/>
                </a:solidFill>
                <a:latin typeface="Calibri" pitchFamily="34" charset="0"/>
                <a:ea typeface="Calibri" pitchFamily="34" charset="-122"/>
                <a:cs typeface="Calibri" pitchFamily="34" charset="-120"/>
              </a:rPr>
              <a:t>LE SYSTÈME : dropicture</a:t>
            </a:r>
            <a:endParaRPr lang="en-US" sz="1000" dirty="0"/>
          </a:p>
        </p:txBody>
      </p:sp>
      <p:sp>
        <p:nvSpPr>
          <p:cNvPr id="23" name="Text 21"/>
          <p:cNvSpPr/>
          <p:nvPr/>
        </p:nvSpPr>
        <p:spPr>
          <a:xfrm>
            <a:off x="4882896" y="1700784"/>
            <a:ext cx="3822192" cy="274320"/>
          </a:xfrm>
          <a:prstGeom prst="rect">
            <a:avLst/>
          </a:prstGeom>
          <a:noFill/>
          <a:ln/>
        </p:spPr>
        <p:txBody>
          <a:bodyPr wrap="square" lIns="0" tIns="0" rIns="0" bIns="0" rtlCol="0" anchor="t"/>
          <a:lstStyle/>
          <a:p>
            <a:pPr marL="0" indent="0" algn="l">
              <a:lnSpc>
                <a:spcPct val="108000"/>
              </a:lnSpc>
              <a:buNone/>
            </a:pPr>
            <a:r>
              <a:rPr lang="en-US" sz="1050" dirty="0">
                <a:solidFill>
                  <a:srgbClr val="4A5769"/>
                </a:solidFill>
                <a:latin typeface="Calibri" pitchFamily="34" charset="0"/>
                <a:ea typeface="Calibri" pitchFamily="34" charset="-122"/>
                <a:cs typeface="Calibri" pitchFamily="34" charset="-120"/>
              </a:rPr>
              <a:t>Une plateforme de partage de photos, privées par défaut.</a:t>
            </a:r>
            <a:endParaRPr lang="en-US" sz="1050" dirty="0"/>
          </a:p>
        </p:txBody>
      </p:sp>
      <p:sp>
        <p:nvSpPr>
          <p:cNvPr id="24" name="Shape 22"/>
          <p:cNvSpPr/>
          <p:nvPr/>
        </p:nvSpPr>
        <p:spPr>
          <a:xfrm>
            <a:off x="4882896" y="2048256"/>
            <a:ext cx="1847088" cy="246888"/>
          </a:xfrm>
          <a:prstGeom prst="roundRect">
            <a:avLst>
              <a:gd name="adj" fmla="val 18519"/>
            </a:avLst>
          </a:prstGeom>
          <a:solidFill>
            <a:srgbClr val="FFFFFF"/>
          </a:solidFill>
          <a:ln w="12700">
            <a:solidFill>
              <a:srgbClr val="1B6EC2"/>
            </a:solidFill>
            <a:prstDash val="solid"/>
          </a:ln>
        </p:spPr>
        <p:txBody>
          <a:bodyPr/>
          <a:lstStyle/>
          <a:p>
            <a:endParaRPr lang="fr-FR"/>
          </a:p>
        </p:txBody>
      </p:sp>
      <p:sp>
        <p:nvSpPr>
          <p:cNvPr id="25" name="Text 23"/>
          <p:cNvSpPr/>
          <p:nvPr/>
        </p:nvSpPr>
        <p:spPr>
          <a:xfrm>
            <a:off x="4937760" y="2048256"/>
            <a:ext cx="1737360" cy="246888"/>
          </a:xfrm>
          <a:prstGeom prst="rect">
            <a:avLst/>
          </a:prstGeom>
          <a:noFill/>
          <a:ln/>
        </p:spPr>
        <p:txBody>
          <a:bodyPr wrap="square" lIns="0" tIns="0" rIns="0" bIns="0" rtlCol="0" anchor="ctr"/>
          <a:lstStyle/>
          <a:p>
            <a:pPr marL="0" indent="0" algn="ctr">
              <a:lnSpc>
                <a:spcPct val="108000"/>
              </a:lnSpc>
              <a:buNone/>
            </a:pPr>
            <a:r>
              <a:rPr lang="en-US" sz="900" b="1" dirty="0">
                <a:solidFill>
                  <a:srgbClr val="12263F"/>
                </a:solidFill>
                <a:latin typeface="Calibri" pitchFamily="34" charset="0"/>
                <a:ea typeface="Calibri" pitchFamily="34" charset="-122"/>
                <a:cs typeface="Calibri" pitchFamily="34" charset="-120"/>
              </a:rPr>
              <a:t>4 serveurs</a:t>
            </a:r>
            <a:endParaRPr lang="en-US" sz="900" dirty="0"/>
          </a:p>
        </p:txBody>
      </p:sp>
      <p:sp>
        <p:nvSpPr>
          <p:cNvPr id="26" name="Shape 24"/>
          <p:cNvSpPr/>
          <p:nvPr/>
        </p:nvSpPr>
        <p:spPr>
          <a:xfrm>
            <a:off x="6821424" y="2048256"/>
            <a:ext cx="1847088" cy="246888"/>
          </a:xfrm>
          <a:prstGeom prst="roundRect">
            <a:avLst>
              <a:gd name="adj" fmla="val 18519"/>
            </a:avLst>
          </a:prstGeom>
          <a:solidFill>
            <a:srgbClr val="FFFFFF"/>
          </a:solidFill>
          <a:ln w="12700">
            <a:solidFill>
              <a:srgbClr val="1B6EC2"/>
            </a:solidFill>
            <a:prstDash val="solid"/>
          </a:ln>
        </p:spPr>
        <p:txBody>
          <a:bodyPr/>
          <a:lstStyle/>
          <a:p>
            <a:endParaRPr lang="fr-FR"/>
          </a:p>
        </p:txBody>
      </p:sp>
      <p:sp>
        <p:nvSpPr>
          <p:cNvPr id="27" name="Text 25"/>
          <p:cNvSpPr/>
          <p:nvPr/>
        </p:nvSpPr>
        <p:spPr>
          <a:xfrm>
            <a:off x="6876288" y="2048256"/>
            <a:ext cx="1737360" cy="246888"/>
          </a:xfrm>
          <a:prstGeom prst="rect">
            <a:avLst/>
          </a:prstGeom>
          <a:noFill/>
          <a:ln/>
        </p:spPr>
        <p:txBody>
          <a:bodyPr wrap="square" lIns="0" tIns="0" rIns="0" bIns="0" rtlCol="0" anchor="ctr"/>
          <a:lstStyle/>
          <a:p>
            <a:pPr marL="0" indent="0" algn="ctr">
              <a:lnSpc>
                <a:spcPct val="108000"/>
              </a:lnSpc>
              <a:buNone/>
            </a:pPr>
            <a:r>
              <a:rPr lang="en-US" sz="900" b="1" dirty="0">
                <a:solidFill>
                  <a:srgbClr val="12263F"/>
                </a:solidFill>
                <a:latin typeface="Calibri" pitchFamily="34" charset="0"/>
                <a:ea typeface="Calibri" pitchFamily="34" charset="-122"/>
                <a:cs typeface="Calibri" pitchFamily="34" charset="-120"/>
              </a:rPr>
              <a:t>14 services</a:t>
            </a:r>
            <a:endParaRPr lang="en-US" sz="900" dirty="0"/>
          </a:p>
        </p:txBody>
      </p:sp>
      <p:sp>
        <p:nvSpPr>
          <p:cNvPr id="28" name="Shape 26"/>
          <p:cNvSpPr/>
          <p:nvPr/>
        </p:nvSpPr>
        <p:spPr>
          <a:xfrm>
            <a:off x="4882896" y="2340864"/>
            <a:ext cx="1847088" cy="246888"/>
          </a:xfrm>
          <a:prstGeom prst="roundRect">
            <a:avLst>
              <a:gd name="adj" fmla="val 18519"/>
            </a:avLst>
          </a:prstGeom>
          <a:solidFill>
            <a:srgbClr val="FFFFFF"/>
          </a:solidFill>
          <a:ln w="12700">
            <a:solidFill>
              <a:srgbClr val="1B6EC2"/>
            </a:solidFill>
            <a:prstDash val="solid"/>
          </a:ln>
        </p:spPr>
        <p:txBody>
          <a:bodyPr/>
          <a:lstStyle/>
          <a:p>
            <a:endParaRPr lang="fr-FR"/>
          </a:p>
        </p:txBody>
      </p:sp>
      <p:sp>
        <p:nvSpPr>
          <p:cNvPr id="29" name="Text 27"/>
          <p:cNvSpPr/>
          <p:nvPr/>
        </p:nvSpPr>
        <p:spPr>
          <a:xfrm>
            <a:off x="4937760" y="2340864"/>
            <a:ext cx="1737360" cy="246888"/>
          </a:xfrm>
          <a:prstGeom prst="rect">
            <a:avLst/>
          </a:prstGeom>
          <a:noFill/>
          <a:ln/>
        </p:spPr>
        <p:txBody>
          <a:bodyPr wrap="square" lIns="0" tIns="0" rIns="0" bIns="0" rtlCol="0" anchor="ctr"/>
          <a:lstStyle/>
          <a:p>
            <a:pPr marL="0" indent="0" algn="ctr">
              <a:lnSpc>
                <a:spcPct val="108000"/>
              </a:lnSpc>
              <a:buNone/>
            </a:pPr>
            <a:r>
              <a:rPr lang="en-US" sz="900" b="1" dirty="0">
                <a:solidFill>
                  <a:srgbClr val="12263F"/>
                </a:solidFill>
                <a:latin typeface="Calibri" pitchFamily="34" charset="0"/>
                <a:ea typeface="Calibri" pitchFamily="34" charset="-122"/>
                <a:cs typeface="Calibri" pitchFamily="34" charset="-120"/>
              </a:rPr>
              <a:t>3 fournisseurs</a:t>
            </a:r>
            <a:endParaRPr lang="en-US" sz="900" dirty="0"/>
          </a:p>
        </p:txBody>
      </p:sp>
      <p:sp>
        <p:nvSpPr>
          <p:cNvPr id="30" name="Shape 28"/>
          <p:cNvSpPr/>
          <p:nvPr/>
        </p:nvSpPr>
        <p:spPr>
          <a:xfrm>
            <a:off x="6821424" y="2340864"/>
            <a:ext cx="1847088" cy="246888"/>
          </a:xfrm>
          <a:prstGeom prst="roundRect">
            <a:avLst>
              <a:gd name="adj" fmla="val 18519"/>
            </a:avLst>
          </a:prstGeom>
          <a:solidFill>
            <a:srgbClr val="FFFFFF"/>
          </a:solidFill>
          <a:ln w="12700">
            <a:solidFill>
              <a:srgbClr val="1B6EC2"/>
            </a:solidFill>
            <a:prstDash val="solid"/>
          </a:ln>
        </p:spPr>
        <p:txBody>
          <a:bodyPr/>
          <a:lstStyle/>
          <a:p>
            <a:endParaRPr lang="fr-FR"/>
          </a:p>
        </p:txBody>
      </p:sp>
      <p:sp>
        <p:nvSpPr>
          <p:cNvPr id="31" name="Text 29"/>
          <p:cNvSpPr/>
          <p:nvPr/>
        </p:nvSpPr>
        <p:spPr>
          <a:xfrm>
            <a:off x="6876288" y="2340864"/>
            <a:ext cx="1737360" cy="246888"/>
          </a:xfrm>
          <a:prstGeom prst="rect">
            <a:avLst/>
          </a:prstGeom>
          <a:noFill/>
          <a:ln/>
        </p:spPr>
        <p:txBody>
          <a:bodyPr wrap="square" lIns="0" tIns="0" rIns="0" bIns="0" rtlCol="0" anchor="ctr"/>
          <a:lstStyle/>
          <a:p>
            <a:pPr marL="0" indent="0" algn="ctr">
              <a:lnSpc>
                <a:spcPct val="108000"/>
              </a:lnSpc>
              <a:buNone/>
            </a:pPr>
            <a:r>
              <a:rPr lang="en-US" sz="900" b="1" dirty="0">
                <a:solidFill>
                  <a:srgbClr val="12263F"/>
                </a:solidFill>
                <a:latin typeface="Calibri" pitchFamily="34" charset="0"/>
                <a:ea typeface="Calibri" pitchFamily="34" charset="-122"/>
                <a:cs typeface="Calibri" pitchFamily="34" charset="-120"/>
              </a:rPr>
              <a:t>1 seule personne</a:t>
            </a:r>
            <a:endParaRPr lang="en-US" sz="900" dirty="0"/>
          </a:p>
        </p:txBody>
      </p:sp>
      <p:sp>
        <p:nvSpPr>
          <p:cNvPr id="32" name="Shape 30"/>
          <p:cNvSpPr/>
          <p:nvPr/>
        </p:nvSpPr>
        <p:spPr>
          <a:xfrm>
            <a:off x="2350008" y="2724912"/>
            <a:ext cx="0" cy="329184"/>
          </a:xfrm>
          <a:prstGeom prst="line">
            <a:avLst/>
          </a:prstGeom>
          <a:noFill/>
          <a:ln w="22225">
            <a:solidFill>
              <a:srgbClr val="8FA6BC"/>
            </a:solidFill>
            <a:prstDash val="solid"/>
            <a:tailEnd type="triangle"/>
          </a:ln>
        </p:spPr>
        <p:txBody>
          <a:bodyPr/>
          <a:lstStyle/>
          <a:p>
            <a:endParaRPr lang="fr-FR"/>
          </a:p>
        </p:txBody>
      </p:sp>
      <p:sp>
        <p:nvSpPr>
          <p:cNvPr id="33" name="Shape 31"/>
          <p:cNvSpPr/>
          <p:nvPr/>
        </p:nvSpPr>
        <p:spPr>
          <a:xfrm>
            <a:off x="6793992" y="2724912"/>
            <a:ext cx="0" cy="329184"/>
          </a:xfrm>
          <a:prstGeom prst="line">
            <a:avLst/>
          </a:prstGeom>
          <a:noFill/>
          <a:ln w="22225">
            <a:solidFill>
              <a:srgbClr val="8FA6BC"/>
            </a:solidFill>
            <a:prstDash val="solid"/>
            <a:tailEnd type="triangle"/>
          </a:ln>
        </p:spPr>
        <p:txBody>
          <a:bodyPr/>
          <a:lstStyle/>
          <a:p>
            <a:endParaRPr lang="fr-FR"/>
          </a:p>
        </p:txBody>
      </p:sp>
      <p:sp>
        <p:nvSpPr>
          <p:cNvPr id="34" name="Shape 32"/>
          <p:cNvSpPr/>
          <p:nvPr/>
        </p:nvSpPr>
        <p:spPr>
          <a:xfrm>
            <a:off x="292608" y="3127248"/>
            <a:ext cx="8558784" cy="859536"/>
          </a:xfrm>
          <a:prstGeom prst="rect">
            <a:avLst/>
          </a:prstGeom>
          <a:solidFill>
            <a:srgbClr val="F4F7FA"/>
          </a:solidFill>
          <a:ln w="12700">
            <a:solidFill>
              <a:srgbClr val="E08A3C"/>
            </a:solidFill>
            <a:prstDash val="solid"/>
          </a:ln>
        </p:spPr>
        <p:txBody>
          <a:bodyPr/>
          <a:lstStyle/>
          <a:p>
            <a:endParaRPr lang="fr-FR"/>
          </a:p>
        </p:txBody>
      </p:sp>
      <p:sp>
        <p:nvSpPr>
          <p:cNvPr id="35" name="Text 33"/>
          <p:cNvSpPr/>
          <p:nvPr/>
        </p:nvSpPr>
        <p:spPr>
          <a:xfrm>
            <a:off x="475488" y="3218688"/>
            <a:ext cx="1828800" cy="182880"/>
          </a:xfrm>
          <a:prstGeom prst="rect">
            <a:avLst/>
          </a:prstGeom>
          <a:noFill/>
          <a:ln/>
        </p:spPr>
        <p:txBody>
          <a:bodyPr wrap="square" lIns="0" tIns="0" rIns="0" bIns="0" rtlCol="0" anchor="t"/>
          <a:lstStyle/>
          <a:p>
            <a:pPr marL="0" indent="0" algn="l">
              <a:lnSpc>
                <a:spcPct val="108000"/>
              </a:lnSpc>
              <a:buNone/>
            </a:pPr>
            <a:r>
              <a:rPr lang="en-US" sz="800" b="1" dirty="0">
                <a:solidFill>
                  <a:srgbClr val="E08A3C"/>
                </a:solidFill>
                <a:latin typeface="Calibri" pitchFamily="34" charset="0"/>
                <a:ea typeface="Calibri" pitchFamily="34" charset="-122"/>
                <a:cs typeface="Calibri" pitchFamily="34" charset="-120"/>
              </a:rPr>
              <a:t>LA QUESTION</a:t>
            </a:r>
            <a:endParaRPr lang="en-US" sz="800" dirty="0"/>
          </a:p>
        </p:txBody>
      </p:sp>
      <p:sp>
        <p:nvSpPr>
          <p:cNvPr id="36" name="Text 34"/>
          <p:cNvSpPr/>
          <p:nvPr/>
        </p:nvSpPr>
        <p:spPr>
          <a:xfrm>
            <a:off x="475488" y="3419856"/>
            <a:ext cx="8138160" cy="457200"/>
          </a:xfrm>
          <a:prstGeom prst="rect">
            <a:avLst/>
          </a:prstGeom>
          <a:noFill/>
          <a:ln/>
        </p:spPr>
        <p:txBody>
          <a:bodyPr wrap="square" lIns="0" tIns="0" rIns="0" bIns="0" rtlCol="0" anchor="t"/>
          <a:lstStyle/>
          <a:p>
            <a:pPr marL="0" indent="0" algn="l">
              <a:lnSpc>
                <a:spcPct val="108000"/>
              </a:lnSpc>
              <a:buNone/>
            </a:pPr>
            <a:r>
              <a:rPr lang="en-US" sz="1300" b="1" dirty="0">
                <a:solidFill>
                  <a:srgbClr val="12263F"/>
                </a:solidFill>
                <a:latin typeface="Calibri" pitchFamily="34" charset="0"/>
                <a:ea typeface="Calibri" pitchFamily="34" charset="-122"/>
                <a:cs typeface="Calibri" pitchFamily="34" charset="-120"/>
              </a:rPr>
              <a:t>Comment tenir ensemble automatisation, sécurité, écologie et maîtrise des coûts, dans un système qui se met à jour tout seul ?</a:t>
            </a:r>
            <a:endParaRPr lang="en-US" sz="1300" dirty="0"/>
          </a:p>
        </p:txBody>
      </p:sp>
      <p:sp>
        <p:nvSpPr>
          <p:cNvPr id="37" name="Shape 35"/>
          <p:cNvSpPr/>
          <p:nvPr/>
        </p:nvSpPr>
        <p:spPr>
          <a:xfrm>
            <a:off x="292608" y="4224528"/>
            <a:ext cx="8558784" cy="475488"/>
          </a:xfrm>
          <a:prstGeom prst="rect">
            <a:avLst/>
          </a:prstGeom>
          <a:solidFill>
            <a:srgbClr val="12263F"/>
          </a:solidFill>
          <a:ln/>
        </p:spPr>
        <p:txBody>
          <a:bodyPr/>
          <a:lstStyle/>
          <a:p>
            <a:endParaRPr lang="fr-FR"/>
          </a:p>
        </p:txBody>
      </p:sp>
      <p:sp>
        <p:nvSpPr>
          <p:cNvPr id="38" name="Shape 36"/>
          <p:cNvSpPr/>
          <p:nvPr/>
        </p:nvSpPr>
        <p:spPr>
          <a:xfrm>
            <a:off x="292608" y="4224528"/>
            <a:ext cx="45720" cy="475488"/>
          </a:xfrm>
          <a:prstGeom prst="rect">
            <a:avLst/>
          </a:prstGeom>
          <a:solidFill>
            <a:srgbClr val="E08A3C"/>
          </a:solidFill>
          <a:ln/>
        </p:spPr>
        <p:txBody>
          <a:bodyPr/>
          <a:lstStyle/>
          <a:p>
            <a:endParaRPr lang="fr-FR"/>
          </a:p>
        </p:txBody>
      </p:sp>
      <p:sp>
        <p:nvSpPr>
          <p:cNvPr id="39" name="Text 37"/>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Ces exigences sont d'habitude traitées séparément. Tout le sujet est de les tenir ensemble.</a:t>
            </a:r>
            <a:endParaRPr lang="en-US" sz="1150" dirty="0"/>
          </a:p>
        </p:txBody>
      </p:sp>
      <p:sp>
        <p:nvSpPr>
          <p:cNvPr id="40" name="Text 38"/>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2.1. Contexte et Importance du Sujet</a:t>
            </a:r>
            <a:endParaRPr lang="en-US" sz="750" dirty="0"/>
          </a:p>
        </p:txBody>
      </p:sp>
      <p:sp>
        <p:nvSpPr>
          <p:cNvPr id="41" name="Text 39"/>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2. Problématique</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5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2.2 - Objectifs de la Présentation</a:t>
            </a:r>
            <a:endParaRPr lang="en-US" sz="2200" dirty="0"/>
          </a:p>
        </p:txBody>
      </p:sp>
      <p:sp>
        <p:nvSpPr>
          <p:cNvPr id="7" name="Text 5"/>
          <p:cNvSpPr/>
          <p:nvPr/>
        </p:nvSpPr>
        <p:spPr>
          <a:xfrm>
            <a:off x="292608" y="1024128"/>
            <a:ext cx="8558784" cy="201168"/>
          </a:xfrm>
          <a:prstGeom prst="rect">
            <a:avLst/>
          </a:prstGeom>
          <a:noFill/>
          <a:ln/>
        </p:spPr>
        <p:txBody>
          <a:bodyPr wrap="square" lIns="0" tIns="0" rIns="0" bIns="0" rtlCol="0" anchor="ctr"/>
          <a:lstStyle/>
          <a:p>
            <a:pPr marL="0" indent="0">
              <a:buNone/>
            </a:pPr>
            <a:r>
              <a:rPr lang="en-US" sz="1050" dirty="0">
                <a:solidFill>
                  <a:srgbClr val="4A5769"/>
                </a:solidFill>
                <a:latin typeface="Calibri" pitchFamily="34" charset="0"/>
                <a:ea typeface="Calibri" pitchFamily="34" charset="-122"/>
                <a:cs typeface="Calibri" pitchFamily="34" charset="-120"/>
              </a:rPr>
              <a:t>Ce que je cherche à démontrer, et par quel chemin.</a:t>
            </a:r>
            <a:endParaRPr lang="en-US" sz="1050" dirty="0"/>
          </a:p>
        </p:txBody>
      </p:sp>
      <p:sp>
        <p:nvSpPr>
          <p:cNvPr id="8" name="Shape 6"/>
          <p:cNvSpPr/>
          <p:nvPr/>
        </p:nvSpPr>
        <p:spPr>
          <a:xfrm>
            <a:off x="292608" y="1335024"/>
            <a:ext cx="2779776" cy="658368"/>
          </a:xfrm>
          <a:prstGeom prst="rect">
            <a:avLst/>
          </a:prstGeom>
          <a:solidFill>
            <a:srgbClr val="FFFFFF"/>
          </a:solidFill>
          <a:ln w="12700">
            <a:solidFill>
              <a:srgbClr val="12855A"/>
            </a:solidFill>
            <a:prstDash val="solid"/>
          </a:ln>
        </p:spPr>
        <p:txBody>
          <a:bodyPr/>
          <a:lstStyle/>
          <a:p>
            <a:endParaRPr lang="fr-FR"/>
          </a:p>
        </p:txBody>
      </p:sp>
      <p:sp>
        <p:nvSpPr>
          <p:cNvPr id="9" name="Shape 7"/>
          <p:cNvSpPr/>
          <p:nvPr/>
        </p:nvSpPr>
        <p:spPr>
          <a:xfrm>
            <a:off x="292608" y="1335024"/>
            <a:ext cx="45720" cy="658368"/>
          </a:xfrm>
          <a:prstGeom prst="rect">
            <a:avLst/>
          </a:prstGeom>
          <a:solidFill>
            <a:srgbClr val="12855A"/>
          </a:solidFill>
          <a:ln/>
        </p:spPr>
        <p:txBody>
          <a:bodyPr/>
          <a:lstStyle/>
          <a:p>
            <a:endParaRPr lang="fr-FR"/>
          </a:p>
        </p:txBody>
      </p:sp>
      <p:sp>
        <p:nvSpPr>
          <p:cNvPr id="10" name="Text 8"/>
          <p:cNvSpPr/>
          <p:nvPr/>
        </p:nvSpPr>
        <p:spPr>
          <a:xfrm>
            <a:off x="457200" y="1408176"/>
            <a:ext cx="2468880" cy="219456"/>
          </a:xfrm>
          <a:prstGeom prst="rect">
            <a:avLst/>
          </a:prstGeom>
          <a:noFill/>
          <a:ln/>
        </p:spPr>
        <p:txBody>
          <a:bodyPr wrap="square" lIns="0" tIns="0" rIns="0" bIns="0" rtlCol="0" anchor="t"/>
          <a:lstStyle/>
          <a:p>
            <a:pPr marL="0" indent="0" algn="l">
              <a:lnSpc>
                <a:spcPct val="108000"/>
              </a:lnSpc>
              <a:buNone/>
            </a:pPr>
            <a:r>
              <a:rPr lang="en-US" sz="1250" b="1" dirty="0">
                <a:solidFill>
                  <a:srgbClr val="12263F"/>
                </a:solidFill>
                <a:latin typeface="Calibri" pitchFamily="34" charset="0"/>
                <a:ea typeface="Calibri" pitchFamily="34" charset="-122"/>
                <a:cs typeface="Calibri" pitchFamily="34" charset="-120"/>
              </a:rPr>
              <a:t>Concilier</a:t>
            </a:r>
            <a:endParaRPr lang="en-US" sz="1250" dirty="0"/>
          </a:p>
        </p:txBody>
      </p:sp>
      <p:sp>
        <p:nvSpPr>
          <p:cNvPr id="11" name="Text 9"/>
          <p:cNvSpPr/>
          <p:nvPr/>
        </p:nvSpPr>
        <p:spPr>
          <a:xfrm>
            <a:off x="457200" y="1645920"/>
            <a:ext cx="2468880" cy="310896"/>
          </a:xfrm>
          <a:prstGeom prst="rect">
            <a:avLst/>
          </a:prstGeom>
          <a:noFill/>
          <a:ln/>
        </p:spPr>
        <p:txBody>
          <a:bodyPr wrap="square" lIns="0" tIns="0" rIns="0" bIns="0" rtlCol="0" anchor="t"/>
          <a:lstStyle/>
          <a:p>
            <a:pPr marL="0" indent="0" algn="l">
              <a:lnSpc>
                <a:spcPct val="108000"/>
              </a:lnSpc>
              <a:buNone/>
            </a:pPr>
            <a:r>
              <a:rPr lang="en-US" sz="900" dirty="0">
                <a:solidFill>
                  <a:srgbClr val="4A5769"/>
                </a:solidFill>
                <a:latin typeface="Calibri" pitchFamily="34" charset="0"/>
                <a:ea typeface="Calibri" pitchFamily="34" charset="-122"/>
                <a:cs typeface="Calibri" pitchFamily="34" charset="-120"/>
              </a:rPr>
              <a:t>Tenir ensemble sécurité, coûts, qualité, écologie</a:t>
            </a:r>
            <a:endParaRPr lang="en-US" sz="900" dirty="0"/>
          </a:p>
        </p:txBody>
      </p:sp>
      <p:sp>
        <p:nvSpPr>
          <p:cNvPr id="12" name="Shape 10"/>
          <p:cNvSpPr/>
          <p:nvPr/>
        </p:nvSpPr>
        <p:spPr>
          <a:xfrm>
            <a:off x="3182112" y="1335024"/>
            <a:ext cx="2779776" cy="658368"/>
          </a:xfrm>
          <a:prstGeom prst="rect">
            <a:avLst/>
          </a:prstGeom>
          <a:solidFill>
            <a:srgbClr val="FFFFFF"/>
          </a:solidFill>
          <a:ln w="12700">
            <a:solidFill>
              <a:srgbClr val="12855A"/>
            </a:solidFill>
            <a:prstDash val="solid"/>
          </a:ln>
        </p:spPr>
        <p:txBody>
          <a:bodyPr/>
          <a:lstStyle/>
          <a:p>
            <a:endParaRPr lang="fr-FR"/>
          </a:p>
        </p:txBody>
      </p:sp>
      <p:sp>
        <p:nvSpPr>
          <p:cNvPr id="13" name="Shape 11"/>
          <p:cNvSpPr/>
          <p:nvPr/>
        </p:nvSpPr>
        <p:spPr>
          <a:xfrm>
            <a:off x="3182112" y="1335024"/>
            <a:ext cx="45720" cy="658368"/>
          </a:xfrm>
          <a:prstGeom prst="rect">
            <a:avLst/>
          </a:prstGeom>
          <a:solidFill>
            <a:srgbClr val="12855A"/>
          </a:solidFill>
          <a:ln/>
        </p:spPr>
        <p:txBody>
          <a:bodyPr/>
          <a:lstStyle/>
          <a:p>
            <a:endParaRPr lang="fr-FR"/>
          </a:p>
        </p:txBody>
      </p:sp>
      <p:sp>
        <p:nvSpPr>
          <p:cNvPr id="14" name="Text 12"/>
          <p:cNvSpPr/>
          <p:nvPr/>
        </p:nvSpPr>
        <p:spPr>
          <a:xfrm>
            <a:off x="3346704" y="1408176"/>
            <a:ext cx="2468880" cy="219456"/>
          </a:xfrm>
          <a:prstGeom prst="rect">
            <a:avLst/>
          </a:prstGeom>
          <a:noFill/>
          <a:ln/>
        </p:spPr>
        <p:txBody>
          <a:bodyPr wrap="square" lIns="0" tIns="0" rIns="0" bIns="0" rtlCol="0" anchor="t"/>
          <a:lstStyle/>
          <a:p>
            <a:pPr marL="0" indent="0" algn="l">
              <a:lnSpc>
                <a:spcPct val="108000"/>
              </a:lnSpc>
              <a:buNone/>
            </a:pPr>
            <a:r>
              <a:rPr lang="en-US" sz="1250" b="1" dirty="0">
                <a:solidFill>
                  <a:srgbClr val="12263F"/>
                </a:solidFill>
                <a:latin typeface="Calibri" pitchFamily="34" charset="0"/>
                <a:ea typeface="Calibri" pitchFamily="34" charset="-122"/>
                <a:cs typeface="Calibri" pitchFamily="34" charset="-120"/>
              </a:rPr>
              <a:t>Justifier</a:t>
            </a:r>
            <a:endParaRPr lang="en-US" sz="1250" dirty="0"/>
          </a:p>
        </p:txBody>
      </p:sp>
      <p:sp>
        <p:nvSpPr>
          <p:cNvPr id="15" name="Text 13"/>
          <p:cNvSpPr/>
          <p:nvPr/>
        </p:nvSpPr>
        <p:spPr>
          <a:xfrm>
            <a:off x="3346704" y="1645920"/>
            <a:ext cx="2468880" cy="310896"/>
          </a:xfrm>
          <a:prstGeom prst="rect">
            <a:avLst/>
          </a:prstGeom>
          <a:noFill/>
          <a:ln/>
        </p:spPr>
        <p:txBody>
          <a:bodyPr wrap="square" lIns="0" tIns="0" rIns="0" bIns="0" rtlCol="0" anchor="t"/>
          <a:lstStyle/>
          <a:p>
            <a:pPr marL="0" indent="0" algn="l">
              <a:lnSpc>
                <a:spcPct val="108000"/>
              </a:lnSpc>
              <a:buNone/>
            </a:pPr>
            <a:r>
              <a:rPr lang="en-US" sz="900" dirty="0">
                <a:solidFill>
                  <a:srgbClr val="4A5769"/>
                </a:solidFill>
                <a:latin typeface="Calibri" pitchFamily="34" charset="0"/>
                <a:ea typeface="Calibri" pitchFamily="34" charset="-122"/>
                <a:cs typeface="Calibri" pitchFamily="34" charset="-120"/>
              </a:rPr>
              <a:t>Expliquer chaque choix et ce que j'ai écarté</a:t>
            </a:r>
            <a:endParaRPr lang="en-US" sz="900" dirty="0"/>
          </a:p>
        </p:txBody>
      </p:sp>
      <p:sp>
        <p:nvSpPr>
          <p:cNvPr id="16" name="Shape 14"/>
          <p:cNvSpPr/>
          <p:nvPr/>
        </p:nvSpPr>
        <p:spPr>
          <a:xfrm>
            <a:off x="6071616" y="1335024"/>
            <a:ext cx="2779776" cy="658368"/>
          </a:xfrm>
          <a:prstGeom prst="rect">
            <a:avLst/>
          </a:prstGeom>
          <a:solidFill>
            <a:srgbClr val="FFFFFF"/>
          </a:solidFill>
          <a:ln w="12700">
            <a:solidFill>
              <a:srgbClr val="12855A"/>
            </a:solidFill>
            <a:prstDash val="solid"/>
          </a:ln>
        </p:spPr>
        <p:txBody>
          <a:bodyPr/>
          <a:lstStyle/>
          <a:p>
            <a:endParaRPr lang="fr-FR"/>
          </a:p>
        </p:txBody>
      </p:sp>
      <p:sp>
        <p:nvSpPr>
          <p:cNvPr id="17" name="Shape 15"/>
          <p:cNvSpPr/>
          <p:nvPr/>
        </p:nvSpPr>
        <p:spPr>
          <a:xfrm>
            <a:off x="6071616" y="1335024"/>
            <a:ext cx="45720" cy="658368"/>
          </a:xfrm>
          <a:prstGeom prst="rect">
            <a:avLst/>
          </a:prstGeom>
          <a:solidFill>
            <a:srgbClr val="12855A"/>
          </a:solidFill>
          <a:ln/>
        </p:spPr>
        <p:txBody>
          <a:bodyPr/>
          <a:lstStyle/>
          <a:p>
            <a:endParaRPr lang="fr-FR"/>
          </a:p>
        </p:txBody>
      </p:sp>
      <p:sp>
        <p:nvSpPr>
          <p:cNvPr id="18" name="Text 16"/>
          <p:cNvSpPr/>
          <p:nvPr/>
        </p:nvSpPr>
        <p:spPr>
          <a:xfrm>
            <a:off x="6236208" y="1408176"/>
            <a:ext cx="2468880" cy="219456"/>
          </a:xfrm>
          <a:prstGeom prst="rect">
            <a:avLst/>
          </a:prstGeom>
          <a:noFill/>
          <a:ln/>
        </p:spPr>
        <p:txBody>
          <a:bodyPr wrap="square" lIns="0" tIns="0" rIns="0" bIns="0" rtlCol="0" anchor="t"/>
          <a:lstStyle/>
          <a:p>
            <a:pPr marL="0" indent="0" algn="l">
              <a:lnSpc>
                <a:spcPct val="108000"/>
              </a:lnSpc>
              <a:buNone/>
            </a:pPr>
            <a:r>
              <a:rPr lang="en-US" sz="1250" b="1" dirty="0">
                <a:solidFill>
                  <a:srgbClr val="12263F"/>
                </a:solidFill>
                <a:latin typeface="Calibri" pitchFamily="34" charset="0"/>
                <a:ea typeface="Calibri" pitchFamily="34" charset="-122"/>
                <a:cs typeface="Calibri" pitchFamily="34" charset="-120"/>
              </a:rPr>
              <a:t>Maîtriser</a:t>
            </a:r>
            <a:endParaRPr lang="en-US" sz="1250" dirty="0"/>
          </a:p>
        </p:txBody>
      </p:sp>
      <p:sp>
        <p:nvSpPr>
          <p:cNvPr id="19" name="Text 17"/>
          <p:cNvSpPr/>
          <p:nvPr/>
        </p:nvSpPr>
        <p:spPr>
          <a:xfrm>
            <a:off x="6236208" y="1645920"/>
            <a:ext cx="2468880" cy="310896"/>
          </a:xfrm>
          <a:prstGeom prst="rect">
            <a:avLst/>
          </a:prstGeom>
          <a:noFill/>
          <a:ln/>
        </p:spPr>
        <p:txBody>
          <a:bodyPr wrap="square" lIns="0" tIns="0" rIns="0" bIns="0" rtlCol="0" anchor="t"/>
          <a:lstStyle/>
          <a:p>
            <a:pPr marL="0" indent="0" algn="l">
              <a:lnSpc>
                <a:spcPct val="108000"/>
              </a:lnSpc>
              <a:buNone/>
            </a:pPr>
            <a:r>
              <a:rPr lang="en-US" sz="900" dirty="0">
                <a:solidFill>
                  <a:srgbClr val="4A5769"/>
                </a:solidFill>
                <a:latin typeface="Calibri" pitchFamily="34" charset="0"/>
                <a:ea typeface="Calibri" pitchFamily="34" charset="-122"/>
                <a:cs typeface="Calibri" pitchFamily="34" charset="-120"/>
              </a:rPr>
              <a:t>De l'analyse jusqu'à l'exploitation</a:t>
            </a:r>
            <a:endParaRPr lang="en-US" sz="900" dirty="0"/>
          </a:p>
        </p:txBody>
      </p:sp>
      <p:sp>
        <p:nvSpPr>
          <p:cNvPr id="20" name="Text 18"/>
          <p:cNvSpPr/>
          <p:nvPr/>
        </p:nvSpPr>
        <p:spPr>
          <a:xfrm>
            <a:off x="292608" y="2267712"/>
            <a:ext cx="8558784" cy="182880"/>
          </a:xfrm>
          <a:prstGeom prst="rect">
            <a:avLst/>
          </a:prstGeom>
          <a:noFill/>
          <a:ln/>
        </p:spPr>
        <p:txBody>
          <a:bodyPr wrap="square" lIns="0" tIns="0" rIns="0" bIns="0" rtlCol="0" anchor="t"/>
          <a:lstStyle/>
          <a:p>
            <a:pPr marL="0" indent="0" algn="l">
              <a:lnSpc>
                <a:spcPct val="108000"/>
              </a:lnSpc>
              <a:buNone/>
            </a:pPr>
            <a:r>
              <a:rPr lang="en-US" sz="800" b="1" dirty="0">
                <a:solidFill>
                  <a:srgbClr val="8FA6BC"/>
                </a:solidFill>
                <a:latin typeface="Calibri" pitchFamily="34" charset="0"/>
                <a:ea typeface="Calibri" pitchFamily="34" charset="-122"/>
                <a:cs typeface="Calibri" pitchFamily="34" charset="-120"/>
              </a:rPr>
              <a:t>POUR Y RÉPONDRE, CINQ POINTS</a:t>
            </a:r>
            <a:endParaRPr lang="en-US" sz="800" dirty="0"/>
          </a:p>
        </p:txBody>
      </p:sp>
      <p:sp>
        <p:nvSpPr>
          <p:cNvPr id="21" name="Shape 19"/>
          <p:cNvSpPr/>
          <p:nvPr/>
        </p:nvSpPr>
        <p:spPr>
          <a:xfrm>
            <a:off x="777240" y="2852928"/>
            <a:ext cx="7406640" cy="0"/>
          </a:xfrm>
          <a:prstGeom prst="line">
            <a:avLst/>
          </a:prstGeom>
          <a:noFill/>
          <a:ln w="31750">
            <a:solidFill>
              <a:srgbClr val="DDE4EA"/>
            </a:solidFill>
            <a:prstDash val="solid"/>
          </a:ln>
        </p:spPr>
        <p:txBody>
          <a:bodyPr/>
          <a:lstStyle/>
          <a:p>
            <a:endParaRPr lang="fr-FR"/>
          </a:p>
        </p:txBody>
      </p:sp>
      <p:sp>
        <p:nvSpPr>
          <p:cNvPr id="22" name="Shape 20"/>
          <p:cNvSpPr/>
          <p:nvPr/>
        </p:nvSpPr>
        <p:spPr>
          <a:xfrm>
            <a:off x="539496" y="2615184"/>
            <a:ext cx="475488" cy="475488"/>
          </a:xfrm>
          <a:prstGeom prst="ellipse">
            <a:avLst/>
          </a:prstGeom>
          <a:solidFill>
            <a:srgbClr val="1B6EC2"/>
          </a:solidFill>
          <a:ln w="12700">
            <a:solidFill>
              <a:srgbClr val="1B6EC2"/>
            </a:solidFill>
            <a:prstDash val="solid"/>
          </a:ln>
        </p:spPr>
        <p:txBody>
          <a:bodyPr/>
          <a:lstStyle/>
          <a:p>
            <a:endParaRPr lang="fr-FR"/>
          </a:p>
        </p:txBody>
      </p:sp>
      <p:sp>
        <p:nvSpPr>
          <p:cNvPr id="23" name="Text 21"/>
          <p:cNvSpPr/>
          <p:nvPr/>
        </p:nvSpPr>
        <p:spPr>
          <a:xfrm>
            <a:off x="539496" y="2615184"/>
            <a:ext cx="475488" cy="475488"/>
          </a:xfrm>
          <a:prstGeom prst="rect">
            <a:avLst/>
          </a:prstGeom>
          <a:noFill/>
          <a:ln/>
        </p:spPr>
        <p:txBody>
          <a:bodyPr wrap="square" lIns="0" tIns="0" rIns="0" bIns="0" rtlCol="0" anchor="ctr"/>
          <a:lstStyle/>
          <a:p>
            <a:pPr marL="0" indent="0" algn="ctr">
              <a:lnSpc>
                <a:spcPct val="108000"/>
              </a:lnSpc>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4" name="Text 22"/>
          <p:cNvSpPr/>
          <p:nvPr/>
        </p:nvSpPr>
        <p:spPr>
          <a:xfrm>
            <a:off x="-91440" y="3200400"/>
            <a:ext cx="1737360" cy="548640"/>
          </a:xfrm>
          <a:prstGeom prst="rect">
            <a:avLst/>
          </a:prstGeom>
          <a:noFill/>
          <a:ln/>
        </p:spPr>
        <p:txBody>
          <a:bodyPr wrap="square" lIns="0" tIns="0" rIns="0" bIns="0" rtlCol="0" anchor="t"/>
          <a:lstStyle/>
          <a:p>
            <a:pPr marL="0" indent="0" algn="ctr">
              <a:lnSpc>
                <a:spcPct val="108000"/>
              </a:lnSpc>
              <a:buNone/>
            </a:pPr>
            <a:r>
              <a:rPr lang="en-US" sz="1050" b="1" dirty="0">
                <a:solidFill>
                  <a:srgbClr val="12263F"/>
                </a:solidFill>
                <a:latin typeface="Calibri" pitchFamily="34" charset="0"/>
                <a:ea typeface="Calibri" pitchFamily="34" charset="-122"/>
                <a:cs typeface="Calibri" pitchFamily="34" charset="-120"/>
              </a:rPr>
              <a:t>Tout décrire</a:t>
            </a:r>
            <a:endParaRPr lang="en-US" sz="1050" dirty="0"/>
          </a:p>
          <a:p>
            <a:pPr marL="0" indent="0" algn="ctr">
              <a:lnSpc>
                <a:spcPct val="108000"/>
              </a:lnSpc>
              <a:buNone/>
            </a:pPr>
            <a:r>
              <a:rPr lang="en-US" sz="1050" b="1" dirty="0">
                <a:solidFill>
                  <a:srgbClr val="12263F"/>
                </a:solidFill>
                <a:latin typeface="Calibri" pitchFamily="34" charset="0"/>
                <a:ea typeface="Calibri" pitchFamily="34" charset="-122"/>
                <a:cs typeface="Calibri" pitchFamily="34" charset="-120"/>
              </a:rPr>
              <a:t>en code</a:t>
            </a:r>
            <a:endParaRPr lang="en-US" sz="1050" dirty="0"/>
          </a:p>
        </p:txBody>
      </p:sp>
      <p:sp>
        <p:nvSpPr>
          <p:cNvPr id="25" name="Shape 23"/>
          <p:cNvSpPr/>
          <p:nvPr/>
        </p:nvSpPr>
        <p:spPr>
          <a:xfrm>
            <a:off x="2391156" y="2615184"/>
            <a:ext cx="475488" cy="475488"/>
          </a:xfrm>
          <a:prstGeom prst="ellipse">
            <a:avLst/>
          </a:prstGeom>
          <a:solidFill>
            <a:srgbClr val="6B3FD4"/>
          </a:solidFill>
          <a:ln w="12700">
            <a:solidFill>
              <a:srgbClr val="6B3FD4"/>
            </a:solidFill>
            <a:prstDash val="solid"/>
          </a:ln>
        </p:spPr>
        <p:txBody>
          <a:bodyPr/>
          <a:lstStyle/>
          <a:p>
            <a:endParaRPr lang="fr-FR"/>
          </a:p>
        </p:txBody>
      </p:sp>
      <p:sp>
        <p:nvSpPr>
          <p:cNvPr id="26" name="Text 24"/>
          <p:cNvSpPr/>
          <p:nvPr/>
        </p:nvSpPr>
        <p:spPr>
          <a:xfrm>
            <a:off x="2391156" y="2615184"/>
            <a:ext cx="475488" cy="475488"/>
          </a:xfrm>
          <a:prstGeom prst="rect">
            <a:avLst/>
          </a:prstGeom>
          <a:noFill/>
          <a:ln/>
        </p:spPr>
        <p:txBody>
          <a:bodyPr wrap="square" lIns="0" tIns="0" rIns="0" bIns="0" rtlCol="0" anchor="ctr"/>
          <a:lstStyle/>
          <a:p>
            <a:pPr marL="0" indent="0" algn="ctr">
              <a:lnSpc>
                <a:spcPct val="108000"/>
              </a:lnSpc>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7" name="Text 25"/>
          <p:cNvSpPr/>
          <p:nvPr/>
        </p:nvSpPr>
        <p:spPr>
          <a:xfrm>
            <a:off x="1760220" y="3200400"/>
            <a:ext cx="1737360" cy="548640"/>
          </a:xfrm>
          <a:prstGeom prst="rect">
            <a:avLst/>
          </a:prstGeom>
          <a:noFill/>
          <a:ln/>
        </p:spPr>
        <p:txBody>
          <a:bodyPr wrap="square" lIns="0" tIns="0" rIns="0" bIns="0" rtlCol="0" anchor="t"/>
          <a:lstStyle/>
          <a:p>
            <a:pPr marL="0" indent="0" algn="ctr">
              <a:lnSpc>
                <a:spcPct val="108000"/>
              </a:lnSpc>
              <a:buNone/>
            </a:pPr>
            <a:r>
              <a:rPr lang="en-US" sz="1050" b="1" dirty="0">
                <a:solidFill>
                  <a:srgbClr val="12263F"/>
                </a:solidFill>
                <a:latin typeface="Calibri" pitchFamily="34" charset="0"/>
                <a:ea typeface="Calibri" pitchFamily="34" charset="-122"/>
                <a:cs typeface="Calibri" pitchFamily="34" charset="-120"/>
              </a:rPr>
              <a:t>Livrer</a:t>
            </a:r>
            <a:endParaRPr lang="en-US" sz="1050" dirty="0"/>
          </a:p>
          <a:p>
            <a:pPr marL="0" indent="0" algn="ctr">
              <a:lnSpc>
                <a:spcPct val="108000"/>
              </a:lnSpc>
              <a:buNone/>
            </a:pPr>
            <a:r>
              <a:rPr lang="en-US" sz="1050" b="1" dirty="0">
                <a:solidFill>
                  <a:srgbClr val="12263F"/>
                </a:solidFill>
                <a:latin typeface="Calibri" pitchFamily="34" charset="0"/>
                <a:ea typeface="Calibri" pitchFamily="34" charset="-122"/>
                <a:cs typeface="Calibri" pitchFamily="34" charset="-120"/>
              </a:rPr>
              <a:t>automatiquement</a:t>
            </a:r>
            <a:endParaRPr lang="en-US" sz="1050" dirty="0"/>
          </a:p>
        </p:txBody>
      </p:sp>
      <p:sp>
        <p:nvSpPr>
          <p:cNvPr id="28" name="Shape 26"/>
          <p:cNvSpPr/>
          <p:nvPr/>
        </p:nvSpPr>
        <p:spPr>
          <a:xfrm>
            <a:off x="4242816" y="2615184"/>
            <a:ext cx="475488" cy="475488"/>
          </a:xfrm>
          <a:prstGeom prst="ellipse">
            <a:avLst/>
          </a:prstGeom>
          <a:solidFill>
            <a:srgbClr val="12855A"/>
          </a:solidFill>
          <a:ln w="12700">
            <a:solidFill>
              <a:srgbClr val="12855A"/>
            </a:solidFill>
            <a:prstDash val="solid"/>
          </a:ln>
        </p:spPr>
        <p:txBody>
          <a:bodyPr/>
          <a:lstStyle/>
          <a:p>
            <a:endParaRPr lang="fr-FR"/>
          </a:p>
        </p:txBody>
      </p:sp>
      <p:sp>
        <p:nvSpPr>
          <p:cNvPr id="29" name="Text 27"/>
          <p:cNvSpPr/>
          <p:nvPr/>
        </p:nvSpPr>
        <p:spPr>
          <a:xfrm>
            <a:off x="4242816" y="2615184"/>
            <a:ext cx="475488" cy="475488"/>
          </a:xfrm>
          <a:prstGeom prst="rect">
            <a:avLst/>
          </a:prstGeom>
          <a:noFill/>
          <a:ln/>
        </p:spPr>
        <p:txBody>
          <a:bodyPr wrap="square" lIns="0" tIns="0" rIns="0" bIns="0" rtlCol="0" anchor="ctr"/>
          <a:lstStyle/>
          <a:p>
            <a:pPr marL="0" indent="0" algn="ctr">
              <a:lnSpc>
                <a:spcPct val="108000"/>
              </a:lnSpc>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0" name="Text 28"/>
          <p:cNvSpPr/>
          <p:nvPr/>
        </p:nvSpPr>
        <p:spPr>
          <a:xfrm>
            <a:off x="3611880" y="3200400"/>
            <a:ext cx="1737360" cy="548640"/>
          </a:xfrm>
          <a:prstGeom prst="rect">
            <a:avLst/>
          </a:prstGeom>
          <a:noFill/>
          <a:ln/>
        </p:spPr>
        <p:txBody>
          <a:bodyPr wrap="square" lIns="0" tIns="0" rIns="0" bIns="0" rtlCol="0" anchor="t"/>
          <a:lstStyle/>
          <a:p>
            <a:pPr marL="0" indent="0" algn="ctr">
              <a:lnSpc>
                <a:spcPct val="108000"/>
              </a:lnSpc>
              <a:buNone/>
            </a:pPr>
            <a:r>
              <a:rPr lang="en-US" sz="1050" b="1" dirty="0">
                <a:solidFill>
                  <a:srgbClr val="12263F"/>
                </a:solidFill>
                <a:latin typeface="Calibri" pitchFamily="34" charset="0"/>
                <a:ea typeface="Calibri" pitchFamily="34" charset="-122"/>
                <a:cs typeface="Calibri" pitchFamily="34" charset="-120"/>
              </a:rPr>
              <a:t>Orchestrer</a:t>
            </a:r>
            <a:endParaRPr lang="en-US" sz="1050" dirty="0"/>
          </a:p>
          <a:p>
            <a:pPr marL="0" indent="0" algn="ctr">
              <a:lnSpc>
                <a:spcPct val="108000"/>
              </a:lnSpc>
              <a:buNone/>
            </a:pPr>
            <a:r>
              <a:rPr lang="en-US" sz="1050" b="1" dirty="0">
                <a:solidFill>
                  <a:srgbClr val="12263F"/>
                </a:solidFill>
                <a:latin typeface="Calibri" pitchFamily="34" charset="0"/>
                <a:ea typeface="Calibri" pitchFamily="34" charset="-122"/>
                <a:cs typeface="Calibri" pitchFamily="34" charset="-120"/>
              </a:rPr>
              <a:t>sans coupure</a:t>
            </a:r>
            <a:endParaRPr lang="en-US" sz="1050" dirty="0"/>
          </a:p>
        </p:txBody>
      </p:sp>
      <p:sp>
        <p:nvSpPr>
          <p:cNvPr id="31" name="Shape 29"/>
          <p:cNvSpPr/>
          <p:nvPr/>
        </p:nvSpPr>
        <p:spPr>
          <a:xfrm>
            <a:off x="6094476" y="2615184"/>
            <a:ext cx="475488" cy="475488"/>
          </a:xfrm>
          <a:prstGeom prst="ellipse">
            <a:avLst/>
          </a:prstGeom>
          <a:solidFill>
            <a:srgbClr val="E08A3C"/>
          </a:solidFill>
          <a:ln w="12700">
            <a:solidFill>
              <a:srgbClr val="E08A3C"/>
            </a:solidFill>
            <a:prstDash val="solid"/>
          </a:ln>
        </p:spPr>
        <p:txBody>
          <a:bodyPr/>
          <a:lstStyle/>
          <a:p>
            <a:endParaRPr lang="fr-FR"/>
          </a:p>
        </p:txBody>
      </p:sp>
      <p:sp>
        <p:nvSpPr>
          <p:cNvPr id="32" name="Text 30"/>
          <p:cNvSpPr/>
          <p:nvPr/>
        </p:nvSpPr>
        <p:spPr>
          <a:xfrm>
            <a:off x="6094476" y="2615184"/>
            <a:ext cx="475488" cy="475488"/>
          </a:xfrm>
          <a:prstGeom prst="rect">
            <a:avLst/>
          </a:prstGeom>
          <a:noFill/>
          <a:ln/>
        </p:spPr>
        <p:txBody>
          <a:bodyPr wrap="square" lIns="0" tIns="0" rIns="0" bIns="0" rtlCol="0" anchor="ctr"/>
          <a:lstStyle/>
          <a:p>
            <a:pPr marL="0" indent="0" algn="ctr">
              <a:lnSpc>
                <a:spcPct val="108000"/>
              </a:lnSpc>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1"/>
          <p:cNvSpPr/>
          <p:nvPr/>
        </p:nvSpPr>
        <p:spPr>
          <a:xfrm>
            <a:off x="5463540" y="3200400"/>
            <a:ext cx="1737360" cy="548640"/>
          </a:xfrm>
          <a:prstGeom prst="rect">
            <a:avLst/>
          </a:prstGeom>
          <a:noFill/>
          <a:ln/>
        </p:spPr>
        <p:txBody>
          <a:bodyPr wrap="square" lIns="0" tIns="0" rIns="0" bIns="0" rtlCol="0" anchor="t"/>
          <a:lstStyle/>
          <a:p>
            <a:pPr marL="0" indent="0" algn="ctr">
              <a:lnSpc>
                <a:spcPct val="108000"/>
              </a:lnSpc>
              <a:buNone/>
            </a:pPr>
            <a:r>
              <a:rPr lang="en-US" sz="1050" b="1" dirty="0">
                <a:solidFill>
                  <a:srgbClr val="12263F"/>
                </a:solidFill>
                <a:latin typeface="Calibri" pitchFamily="34" charset="0"/>
                <a:ea typeface="Calibri" pitchFamily="34" charset="-122"/>
                <a:cs typeface="Calibri" pitchFamily="34" charset="-120"/>
              </a:rPr>
              <a:t>Observer</a:t>
            </a:r>
            <a:endParaRPr lang="en-US" sz="1050" dirty="0"/>
          </a:p>
          <a:p>
            <a:pPr marL="0" indent="0" algn="ctr">
              <a:lnSpc>
                <a:spcPct val="108000"/>
              </a:lnSpc>
              <a:buNone/>
            </a:pPr>
            <a:r>
              <a:rPr lang="en-US" sz="1050" b="1" dirty="0">
                <a:solidFill>
                  <a:srgbClr val="12263F"/>
                </a:solidFill>
                <a:latin typeface="Calibri" pitchFamily="34" charset="0"/>
                <a:ea typeface="Calibri" pitchFamily="34" charset="-122"/>
                <a:cs typeface="Calibri" pitchFamily="34" charset="-120"/>
              </a:rPr>
              <a:t>en continu</a:t>
            </a:r>
            <a:endParaRPr lang="en-US" sz="1050" dirty="0"/>
          </a:p>
        </p:txBody>
      </p:sp>
      <p:sp>
        <p:nvSpPr>
          <p:cNvPr id="34" name="Shape 32"/>
          <p:cNvSpPr/>
          <p:nvPr/>
        </p:nvSpPr>
        <p:spPr>
          <a:xfrm>
            <a:off x="7946136" y="2615184"/>
            <a:ext cx="475488" cy="475488"/>
          </a:xfrm>
          <a:prstGeom prst="ellipse">
            <a:avLst/>
          </a:prstGeom>
          <a:solidFill>
            <a:srgbClr val="B03A48"/>
          </a:solidFill>
          <a:ln w="12700">
            <a:solidFill>
              <a:srgbClr val="B03A48"/>
            </a:solidFill>
            <a:prstDash val="solid"/>
          </a:ln>
        </p:spPr>
        <p:txBody>
          <a:bodyPr/>
          <a:lstStyle/>
          <a:p>
            <a:endParaRPr lang="fr-FR"/>
          </a:p>
        </p:txBody>
      </p:sp>
      <p:sp>
        <p:nvSpPr>
          <p:cNvPr id="35" name="Text 33"/>
          <p:cNvSpPr/>
          <p:nvPr/>
        </p:nvSpPr>
        <p:spPr>
          <a:xfrm>
            <a:off x="7946136" y="2615184"/>
            <a:ext cx="475488" cy="475488"/>
          </a:xfrm>
          <a:prstGeom prst="rect">
            <a:avLst/>
          </a:prstGeom>
          <a:noFill/>
          <a:ln/>
        </p:spPr>
        <p:txBody>
          <a:bodyPr wrap="square" lIns="0" tIns="0" rIns="0" bIns="0" rtlCol="0" anchor="ctr"/>
          <a:lstStyle/>
          <a:p>
            <a:pPr marL="0" indent="0" algn="ctr">
              <a:lnSpc>
                <a:spcPct val="108000"/>
              </a:lnSpc>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6" name="Text 34"/>
          <p:cNvSpPr/>
          <p:nvPr/>
        </p:nvSpPr>
        <p:spPr>
          <a:xfrm>
            <a:off x="7315200" y="3200400"/>
            <a:ext cx="1737360" cy="548640"/>
          </a:xfrm>
          <a:prstGeom prst="rect">
            <a:avLst/>
          </a:prstGeom>
          <a:noFill/>
          <a:ln/>
        </p:spPr>
        <p:txBody>
          <a:bodyPr wrap="square" lIns="0" tIns="0" rIns="0" bIns="0" rtlCol="0" anchor="t"/>
          <a:lstStyle/>
          <a:p>
            <a:pPr marL="0" indent="0" algn="ctr">
              <a:lnSpc>
                <a:spcPct val="108000"/>
              </a:lnSpc>
              <a:buNone/>
            </a:pPr>
            <a:r>
              <a:rPr lang="en-US" sz="1050" b="1" dirty="0">
                <a:solidFill>
                  <a:srgbClr val="12263F"/>
                </a:solidFill>
                <a:latin typeface="Calibri" pitchFamily="34" charset="0"/>
                <a:ea typeface="Calibri" pitchFamily="34" charset="-122"/>
                <a:cs typeface="Calibri" pitchFamily="34" charset="-120"/>
              </a:rPr>
              <a:t>Sécuriser</a:t>
            </a:r>
            <a:endParaRPr lang="en-US" sz="1050" dirty="0"/>
          </a:p>
          <a:p>
            <a:pPr marL="0" indent="0" algn="ctr">
              <a:lnSpc>
                <a:spcPct val="108000"/>
              </a:lnSpc>
              <a:buNone/>
            </a:pPr>
            <a:r>
              <a:rPr lang="en-US" sz="1050" b="1" dirty="0">
                <a:solidFill>
                  <a:srgbClr val="12263F"/>
                </a:solidFill>
                <a:latin typeface="Calibri" pitchFamily="34" charset="0"/>
                <a:ea typeface="Calibri" pitchFamily="34" charset="-122"/>
                <a:cs typeface="Calibri" pitchFamily="34" charset="-120"/>
              </a:rPr>
              <a:t>et rester sobre</a:t>
            </a:r>
            <a:endParaRPr lang="en-US" sz="1050" dirty="0"/>
          </a:p>
        </p:txBody>
      </p:sp>
      <p:sp>
        <p:nvSpPr>
          <p:cNvPr id="37" name="Shape 35"/>
          <p:cNvSpPr/>
          <p:nvPr/>
        </p:nvSpPr>
        <p:spPr>
          <a:xfrm>
            <a:off x="292608" y="4224528"/>
            <a:ext cx="8558784" cy="475488"/>
          </a:xfrm>
          <a:prstGeom prst="rect">
            <a:avLst/>
          </a:prstGeom>
          <a:solidFill>
            <a:srgbClr val="12263F"/>
          </a:solidFill>
          <a:ln/>
        </p:spPr>
        <p:txBody>
          <a:bodyPr/>
          <a:lstStyle/>
          <a:p>
            <a:endParaRPr lang="fr-FR"/>
          </a:p>
        </p:txBody>
      </p:sp>
      <p:sp>
        <p:nvSpPr>
          <p:cNvPr id="38" name="Shape 36"/>
          <p:cNvSpPr/>
          <p:nvPr/>
        </p:nvSpPr>
        <p:spPr>
          <a:xfrm>
            <a:off x="292608" y="4224528"/>
            <a:ext cx="45720" cy="475488"/>
          </a:xfrm>
          <a:prstGeom prst="rect">
            <a:avLst/>
          </a:prstGeom>
          <a:solidFill>
            <a:srgbClr val="E08A3C"/>
          </a:solidFill>
          <a:ln/>
        </p:spPr>
        <p:txBody>
          <a:bodyPr/>
          <a:lstStyle/>
          <a:p>
            <a:endParaRPr lang="fr-FR"/>
          </a:p>
        </p:txBody>
      </p:sp>
      <p:sp>
        <p:nvSpPr>
          <p:cNvPr id="39" name="Text 37"/>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Ces cinq points reviennent en section 7, confrontés à leurs résultats mesurés.</a:t>
            </a:r>
            <a:endParaRPr lang="en-US" sz="1150" dirty="0"/>
          </a:p>
        </p:txBody>
      </p:sp>
      <p:sp>
        <p:nvSpPr>
          <p:cNvPr id="40" name="Text 38"/>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2.2 - Objectifs de la Présentation</a:t>
            </a:r>
            <a:endParaRPr lang="en-US" sz="750" dirty="0"/>
          </a:p>
        </p:txBody>
      </p:sp>
      <p:sp>
        <p:nvSpPr>
          <p:cNvPr id="41" name="Text 39"/>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2. Problématique</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6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2.3 - Analyse de la Problématique</a:t>
            </a:r>
            <a:endParaRPr lang="en-US" sz="2200" dirty="0"/>
          </a:p>
        </p:txBody>
      </p:sp>
      <p:sp>
        <p:nvSpPr>
          <p:cNvPr id="7" name="Text 5"/>
          <p:cNvSpPr/>
          <p:nvPr/>
        </p:nvSpPr>
        <p:spPr>
          <a:xfrm>
            <a:off x="292608" y="1024128"/>
            <a:ext cx="8558784" cy="201168"/>
          </a:xfrm>
          <a:prstGeom prst="rect">
            <a:avLst/>
          </a:prstGeom>
          <a:noFill/>
          <a:ln/>
        </p:spPr>
        <p:txBody>
          <a:bodyPr wrap="square" lIns="0" tIns="0" rIns="0" bIns="0" rtlCol="0" anchor="ctr"/>
          <a:lstStyle/>
          <a:p>
            <a:pPr marL="0" indent="0">
              <a:buNone/>
            </a:pPr>
            <a:r>
              <a:rPr lang="en-US" sz="1050" dirty="0">
                <a:solidFill>
                  <a:srgbClr val="4A5769"/>
                </a:solidFill>
                <a:latin typeface="Calibri" pitchFamily="34" charset="0"/>
                <a:ea typeface="Calibri" pitchFamily="34" charset="-122"/>
                <a:cs typeface="Calibri" pitchFamily="34" charset="-120"/>
              </a:rPr>
              <a:t>Quatre questions de recherche, un seul défi de fond.</a:t>
            </a:r>
            <a:endParaRPr lang="en-US" sz="1050" dirty="0"/>
          </a:p>
        </p:txBody>
      </p:sp>
      <p:sp>
        <p:nvSpPr>
          <p:cNvPr id="8" name="Shape 6"/>
          <p:cNvSpPr/>
          <p:nvPr/>
        </p:nvSpPr>
        <p:spPr>
          <a:xfrm>
            <a:off x="2834640" y="2176272"/>
            <a:ext cx="3474720" cy="841248"/>
          </a:xfrm>
          <a:prstGeom prst="roundRect">
            <a:avLst>
              <a:gd name="adj" fmla="val 6522"/>
            </a:avLst>
          </a:prstGeom>
          <a:solidFill>
            <a:srgbClr val="12263F"/>
          </a:solidFill>
          <a:ln w="12700">
            <a:solidFill>
              <a:srgbClr val="12263F"/>
            </a:solidFill>
            <a:prstDash val="solid"/>
          </a:ln>
        </p:spPr>
        <p:txBody>
          <a:bodyPr/>
          <a:lstStyle/>
          <a:p>
            <a:endParaRPr lang="fr-FR"/>
          </a:p>
        </p:txBody>
      </p:sp>
      <p:sp>
        <p:nvSpPr>
          <p:cNvPr id="9" name="Text 7"/>
          <p:cNvSpPr/>
          <p:nvPr/>
        </p:nvSpPr>
        <p:spPr>
          <a:xfrm>
            <a:off x="2834640" y="2286000"/>
            <a:ext cx="3474720" cy="164592"/>
          </a:xfrm>
          <a:prstGeom prst="rect">
            <a:avLst/>
          </a:prstGeom>
          <a:noFill/>
          <a:ln/>
        </p:spPr>
        <p:txBody>
          <a:bodyPr wrap="square" lIns="0" tIns="0" rIns="0" bIns="0" rtlCol="0" anchor="t"/>
          <a:lstStyle/>
          <a:p>
            <a:pPr marL="0" indent="0" algn="ctr">
              <a:lnSpc>
                <a:spcPct val="108000"/>
              </a:lnSpc>
              <a:buNone/>
            </a:pPr>
            <a:r>
              <a:rPr lang="en-US" sz="750" b="1" dirty="0">
                <a:solidFill>
                  <a:srgbClr val="E08A3C"/>
                </a:solidFill>
                <a:latin typeface="Calibri" pitchFamily="34" charset="0"/>
                <a:ea typeface="Calibri" pitchFamily="34" charset="-122"/>
                <a:cs typeface="Calibri" pitchFamily="34" charset="-120"/>
              </a:rPr>
              <a:t>LE DÉFI CENTRAL</a:t>
            </a:r>
            <a:endParaRPr lang="en-US" sz="750" dirty="0"/>
          </a:p>
        </p:txBody>
      </p:sp>
      <p:sp>
        <p:nvSpPr>
          <p:cNvPr id="10" name="Text 8"/>
          <p:cNvSpPr/>
          <p:nvPr/>
        </p:nvSpPr>
        <p:spPr>
          <a:xfrm>
            <a:off x="2834640" y="2468880"/>
            <a:ext cx="3474720" cy="457200"/>
          </a:xfrm>
          <a:prstGeom prst="rect">
            <a:avLst/>
          </a:prstGeom>
          <a:noFill/>
          <a:ln/>
        </p:spPr>
        <p:txBody>
          <a:bodyPr wrap="square" lIns="0" tIns="0" rIns="0" bIns="0" rtlCol="0" anchor="t"/>
          <a:lstStyle/>
          <a:p>
            <a:pPr marL="0" indent="0" algn="ctr">
              <a:lnSpc>
                <a:spcPct val="108000"/>
              </a:lnSpc>
              <a:buNone/>
            </a:pPr>
            <a:r>
              <a:rPr lang="en-US" sz="1300" b="1" dirty="0">
                <a:solidFill>
                  <a:srgbClr val="FFFFFF"/>
                </a:solidFill>
                <a:latin typeface="Calibri" pitchFamily="34" charset="0"/>
                <a:ea typeface="Calibri" pitchFamily="34" charset="-122"/>
                <a:cs typeface="Calibri" pitchFamily="34" charset="-120"/>
              </a:rPr>
              <a:t>La distance entre le code</a:t>
            </a:r>
            <a:endParaRPr lang="en-US" sz="1300" dirty="0"/>
          </a:p>
          <a:p>
            <a:pPr marL="0" indent="0" algn="ctr">
              <a:lnSpc>
                <a:spcPct val="108000"/>
              </a:lnSpc>
              <a:buNone/>
            </a:pPr>
            <a:r>
              <a:rPr lang="en-US" sz="1300" b="1" dirty="0">
                <a:solidFill>
                  <a:srgbClr val="FFFFFF"/>
                </a:solidFill>
                <a:latin typeface="Calibri" pitchFamily="34" charset="0"/>
                <a:ea typeface="Calibri" pitchFamily="34" charset="-122"/>
                <a:cs typeface="Calibri" pitchFamily="34" charset="-120"/>
              </a:rPr>
              <a:t>et la production</a:t>
            </a:r>
            <a:endParaRPr lang="en-US" sz="1300" dirty="0"/>
          </a:p>
        </p:txBody>
      </p:sp>
      <p:sp>
        <p:nvSpPr>
          <p:cNvPr id="11" name="Shape 9"/>
          <p:cNvSpPr/>
          <p:nvPr/>
        </p:nvSpPr>
        <p:spPr>
          <a:xfrm>
            <a:off x="292608" y="1335024"/>
            <a:ext cx="2743200" cy="731520"/>
          </a:xfrm>
          <a:prstGeom prst="rect">
            <a:avLst/>
          </a:prstGeom>
          <a:solidFill>
            <a:srgbClr val="FFFFFF"/>
          </a:solidFill>
          <a:ln w="12700">
            <a:solidFill>
              <a:srgbClr val="12855A"/>
            </a:solidFill>
            <a:prstDash val="solid"/>
          </a:ln>
        </p:spPr>
        <p:txBody>
          <a:bodyPr/>
          <a:lstStyle/>
          <a:p>
            <a:endParaRPr lang="fr-FR"/>
          </a:p>
        </p:txBody>
      </p:sp>
      <p:sp>
        <p:nvSpPr>
          <p:cNvPr id="12" name="Shape 10"/>
          <p:cNvSpPr/>
          <p:nvPr/>
        </p:nvSpPr>
        <p:spPr>
          <a:xfrm>
            <a:off x="292608" y="1335024"/>
            <a:ext cx="2743200" cy="45720"/>
          </a:xfrm>
          <a:prstGeom prst="rect">
            <a:avLst/>
          </a:prstGeom>
          <a:solidFill>
            <a:srgbClr val="12855A"/>
          </a:solidFill>
          <a:ln/>
        </p:spPr>
        <p:txBody>
          <a:bodyPr/>
          <a:lstStyle/>
          <a:p>
            <a:endParaRPr lang="fr-FR"/>
          </a:p>
        </p:txBody>
      </p:sp>
      <p:sp>
        <p:nvSpPr>
          <p:cNvPr id="13" name="Text 11"/>
          <p:cNvSpPr/>
          <p:nvPr/>
        </p:nvSpPr>
        <p:spPr>
          <a:xfrm>
            <a:off x="438912" y="1481328"/>
            <a:ext cx="2450592" cy="512064"/>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Tout en code, est-ce vraiment plus fiable ?</a:t>
            </a:r>
            <a:endParaRPr lang="en-US" sz="1050" dirty="0"/>
          </a:p>
        </p:txBody>
      </p:sp>
      <p:sp>
        <p:nvSpPr>
          <p:cNvPr id="14" name="Shape 12"/>
          <p:cNvSpPr/>
          <p:nvPr/>
        </p:nvSpPr>
        <p:spPr>
          <a:xfrm>
            <a:off x="292608" y="3182112"/>
            <a:ext cx="2743200" cy="731520"/>
          </a:xfrm>
          <a:prstGeom prst="rect">
            <a:avLst/>
          </a:prstGeom>
          <a:solidFill>
            <a:srgbClr val="FFFFFF"/>
          </a:solidFill>
          <a:ln w="12700">
            <a:solidFill>
              <a:srgbClr val="1B6EC2"/>
            </a:solidFill>
            <a:prstDash val="solid"/>
          </a:ln>
        </p:spPr>
        <p:txBody>
          <a:bodyPr/>
          <a:lstStyle/>
          <a:p>
            <a:endParaRPr lang="fr-FR"/>
          </a:p>
        </p:txBody>
      </p:sp>
      <p:sp>
        <p:nvSpPr>
          <p:cNvPr id="15" name="Shape 13"/>
          <p:cNvSpPr/>
          <p:nvPr/>
        </p:nvSpPr>
        <p:spPr>
          <a:xfrm>
            <a:off x="292608" y="3182112"/>
            <a:ext cx="2743200" cy="45720"/>
          </a:xfrm>
          <a:prstGeom prst="rect">
            <a:avLst/>
          </a:prstGeom>
          <a:solidFill>
            <a:srgbClr val="1B6EC2"/>
          </a:solidFill>
          <a:ln/>
        </p:spPr>
        <p:txBody>
          <a:bodyPr/>
          <a:lstStyle/>
          <a:p>
            <a:endParaRPr lang="fr-FR"/>
          </a:p>
        </p:txBody>
      </p:sp>
      <p:sp>
        <p:nvSpPr>
          <p:cNvPr id="16" name="Text 14"/>
          <p:cNvSpPr/>
          <p:nvPr/>
        </p:nvSpPr>
        <p:spPr>
          <a:xfrm>
            <a:off x="438912" y="3328416"/>
            <a:ext cx="2450592" cy="512064"/>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Livrer souvent sans baisser la garde ?</a:t>
            </a:r>
            <a:endParaRPr lang="en-US" sz="1050" dirty="0"/>
          </a:p>
        </p:txBody>
      </p:sp>
      <p:sp>
        <p:nvSpPr>
          <p:cNvPr id="17" name="Shape 15"/>
          <p:cNvSpPr/>
          <p:nvPr/>
        </p:nvSpPr>
        <p:spPr>
          <a:xfrm>
            <a:off x="6108192" y="1335024"/>
            <a:ext cx="2743200" cy="731520"/>
          </a:xfrm>
          <a:prstGeom prst="rect">
            <a:avLst/>
          </a:prstGeom>
          <a:solidFill>
            <a:srgbClr val="FFFFFF"/>
          </a:solidFill>
          <a:ln w="12700">
            <a:solidFill>
              <a:srgbClr val="6B3FD4"/>
            </a:solidFill>
            <a:prstDash val="solid"/>
          </a:ln>
        </p:spPr>
        <p:txBody>
          <a:bodyPr/>
          <a:lstStyle/>
          <a:p>
            <a:endParaRPr lang="fr-FR"/>
          </a:p>
        </p:txBody>
      </p:sp>
      <p:sp>
        <p:nvSpPr>
          <p:cNvPr id="18" name="Shape 16"/>
          <p:cNvSpPr/>
          <p:nvPr/>
        </p:nvSpPr>
        <p:spPr>
          <a:xfrm>
            <a:off x="6108192" y="1335024"/>
            <a:ext cx="2743200" cy="45720"/>
          </a:xfrm>
          <a:prstGeom prst="rect">
            <a:avLst/>
          </a:prstGeom>
          <a:solidFill>
            <a:srgbClr val="6B3FD4"/>
          </a:solidFill>
          <a:ln/>
        </p:spPr>
        <p:txBody>
          <a:bodyPr/>
          <a:lstStyle/>
          <a:p>
            <a:endParaRPr lang="fr-FR"/>
          </a:p>
        </p:txBody>
      </p:sp>
      <p:sp>
        <p:nvSpPr>
          <p:cNvPr id="19" name="Text 17"/>
          <p:cNvSpPr/>
          <p:nvPr/>
        </p:nvSpPr>
        <p:spPr>
          <a:xfrm>
            <a:off x="6254496" y="1481328"/>
            <a:ext cx="2450592" cy="512064"/>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Quel outil d'orchestration à cette taille ?</a:t>
            </a:r>
            <a:endParaRPr lang="en-US" sz="1050" dirty="0"/>
          </a:p>
        </p:txBody>
      </p:sp>
      <p:sp>
        <p:nvSpPr>
          <p:cNvPr id="20" name="Shape 18"/>
          <p:cNvSpPr/>
          <p:nvPr/>
        </p:nvSpPr>
        <p:spPr>
          <a:xfrm>
            <a:off x="6108192" y="3182112"/>
            <a:ext cx="2743200" cy="731520"/>
          </a:xfrm>
          <a:prstGeom prst="rect">
            <a:avLst/>
          </a:prstGeom>
          <a:solidFill>
            <a:srgbClr val="FFFFFF"/>
          </a:solidFill>
          <a:ln w="12700">
            <a:solidFill>
              <a:srgbClr val="E08A3C"/>
            </a:solidFill>
            <a:prstDash val="solid"/>
          </a:ln>
        </p:spPr>
        <p:txBody>
          <a:bodyPr/>
          <a:lstStyle/>
          <a:p>
            <a:endParaRPr lang="fr-FR"/>
          </a:p>
        </p:txBody>
      </p:sp>
      <p:sp>
        <p:nvSpPr>
          <p:cNvPr id="21" name="Shape 19"/>
          <p:cNvSpPr/>
          <p:nvPr/>
        </p:nvSpPr>
        <p:spPr>
          <a:xfrm>
            <a:off x="6108192" y="3182112"/>
            <a:ext cx="2743200" cy="45720"/>
          </a:xfrm>
          <a:prstGeom prst="rect">
            <a:avLst/>
          </a:prstGeom>
          <a:solidFill>
            <a:srgbClr val="E08A3C"/>
          </a:solidFill>
          <a:ln/>
        </p:spPr>
        <p:txBody>
          <a:bodyPr/>
          <a:lstStyle/>
          <a:p>
            <a:endParaRPr lang="fr-FR"/>
          </a:p>
        </p:txBody>
      </p:sp>
      <p:sp>
        <p:nvSpPr>
          <p:cNvPr id="22" name="Text 20"/>
          <p:cNvSpPr/>
          <p:nvPr/>
        </p:nvSpPr>
        <p:spPr>
          <a:xfrm>
            <a:off x="6254496" y="3328416"/>
            <a:ext cx="2450592" cy="512064"/>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Mesurer l'énergie sans compteur physique ?</a:t>
            </a:r>
            <a:endParaRPr lang="en-US" sz="1050" dirty="0"/>
          </a:p>
        </p:txBody>
      </p:sp>
      <p:sp>
        <p:nvSpPr>
          <p:cNvPr id="23" name="Shape 21"/>
          <p:cNvSpPr/>
          <p:nvPr/>
        </p:nvSpPr>
        <p:spPr>
          <a:xfrm>
            <a:off x="3035808" y="1700784"/>
            <a:ext cx="0" cy="621792"/>
          </a:xfrm>
          <a:prstGeom prst="line">
            <a:avLst/>
          </a:prstGeom>
          <a:noFill/>
          <a:ln w="15875">
            <a:solidFill>
              <a:srgbClr val="DDE4EA"/>
            </a:solidFill>
            <a:prstDash val="solid"/>
          </a:ln>
        </p:spPr>
        <p:txBody>
          <a:bodyPr/>
          <a:lstStyle/>
          <a:p>
            <a:endParaRPr lang="fr-FR"/>
          </a:p>
        </p:txBody>
      </p:sp>
      <p:sp>
        <p:nvSpPr>
          <p:cNvPr id="24" name="Shape 22"/>
          <p:cNvSpPr/>
          <p:nvPr/>
        </p:nvSpPr>
        <p:spPr>
          <a:xfrm>
            <a:off x="3035808" y="2322576"/>
            <a:ext cx="914400" cy="0"/>
          </a:xfrm>
          <a:prstGeom prst="line">
            <a:avLst/>
          </a:prstGeom>
          <a:noFill/>
          <a:ln w="15875">
            <a:solidFill>
              <a:srgbClr val="DDE4EA"/>
            </a:solidFill>
            <a:prstDash val="solid"/>
          </a:ln>
        </p:spPr>
        <p:txBody>
          <a:bodyPr/>
          <a:lstStyle/>
          <a:p>
            <a:endParaRPr lang="fr-FR"/>
          </a:p>
        </p:txBody>
      </p:sp>
      <p:sp>
        <p:nvSpPr>
          <p:cNvPr id="25" name="Shape 23"/>
          <p:cNvSpPr/>
          <p:nvPr/>
        </p:nvSpPr>
        <p:spPr>
          <a:xfrm>
            <a:off x="3035808" y="2871216"/>
            <a:ext cx="0" cy="310896"/>
          </a:xfrm>
          <a:prstGeom prst="line">
            <a:avLst/>
          </a:prstGeom>
          <a:noFill/>
          <a:ln w="15875">
            <a:solidFill>
              <a:srgbClr val="DDE4EA"/>
            </a:solidFill>
            <a:prstDash val="solid"/>
          </a:ln>
        </p:spPr>
        <p:txBody>
          <a:bodyPr/>
          <a:lstStyle/>
          <a:p>
            <a:endParaRPr lang="fr-FR"/>
          </a:p>
        </p:txBody>
      </p:sp>
      <p:sp>
        <p:nvSpPr>
          <p:cNvPr id="26" name="Shape 24"/>
          <p:cNvSpPr/>
          <p:nvPr/>
        </p:nvSpPr>
        <p:spPr>
          <a:xfrm>
            <a:off x="3035808" y="2871216"/>
            <a:ext cx="914400" cy="0"/>
          </a:xfrm>
          <a:prstGeom prst="line">
            <a:avLst/>
          </a:prstGeom>
          <a:noFill/>
          <a:ln w="15875">
            <a:solidFill>
              <a:srgbClr val="DDE4EA"/>
            </a:solidFill>
            <a:prstDash val="solid"/>
          </a:ln>
        </p:spPr>
        <p:txBody>
          <a:bodyPr/>
          <a:lstStyle/>
          <a:p>
            <a:endParaRPr lang="fr-FR"/>
          </a:p>
        </p:txBody>
      </p:sp>
      <p:sp>
        <p:nvSpPr>
          <p:cNvPr id="27" name="Shape 25"/>
          <p:cNvSpPr/>
          <p:nvPr/>
        </p:nvSpPr>
        <p:spPr>
          <a:xfrm>
            <a:off x="6108192" y="1700784"/>
            <a:ext cx="0" cy="621792"/>
          </a:xfrm>
          <a:prstGeom prst="line">
            <a:avLst/>
          </a:prstGeom>
          <a:noFill/>
          <a:ln w="15875">
            <a:solidFill>
              <a:srgbClr val="DDE4EA"/>
            </a:solidFill>
            <a:prstDash val="solid"/>
          </a:ln>
        </p:spPr>
        <p:txBody>
          <a:bodyPr/>
          <a:lstStyle/>
          <a:p>
            <a:endParaRPr lang="fr-FR"/>
          </a:p>
        </p:txBody>
      </p:sp>
      <p:sp>
        <p:nvSpPr>
          <p:cNvPr id="28" name="Shape 26"/>
          <p:cNvSpPr/>
          <p:nvPr/>
        </p:nvSpPr>
        <p:spPr>
          <a:xfrm>
            <a:off x="5193792" y="2322576"/>
            <a:ext cx="914400" cy="0"/>
          </a:xfrm>
          <a:prstGeom prst="line">
            <a:avLst/>
          </a:prstGeom>
          <a:noFill/>
          <a:ln w="15875">
            <a:solidFill>
              <a:srgbClr val="DDE4EA"/>
            </a:solidFill>
            <a:prstDash val="solid"/>
          </a:ln>
        </p:spPr>
        <p:txBody>
          <a:bodyPr/>
          <a:lstStyle/>
          <a:p>
            <a:endParaRPr lang="fr-FR"/>
          </a:p>
        </p:txBody>
      </p:sp>
      <p:sp>
        <p:nvSpPr>
          <p:cNvPr id="29" name="Shape 27"/>
          <p:cNvSpPr/>
          <p:nvPr/>
        </p:nvSpPr>
        <p:spPr>
          <a:xfrm>
            <a:off x="6108192" y="2871216"/>
            <a:ext cx="0" cy="310896"/>
          </a:xfrm>
          <a:prstGeom prst="line">
            <a:avLst/>
          </a:prstGeom>
          <a:noFill/>
          <a:ln w="15875">
            <a:solidFill>
              <a:srgbClr val="DDE4EA"/>
            </a:solidFill>
            <a:prstDash val="solid"/>
          </a:ln>
        </p:spPr>
        <p:txBody>
          <a:bodyPr/>
          <a:lstStyle/>
          <a:p>
            <a:endParaRPr lang="fr-FR"/>
          </a:p>
        </p:txBody>
      </p:sp>
      <p:sp>
        <p:nvSpPr>
          <p:cNvPr id="30" name="Shape 28"/>
          <p:cNvSpPr/>
          <p:nvPr/>
        </p:nvSpPr>
        <p:spPr>
          <a:xfrm>
            <a:off x="5193792" y="2871216"/>
            <a:ext cx="914400" cy="0"/>
          </a:xfrm>
          <a:prstGeom prst="line">
            <a:avLst/>
          </a:prstGeom>
          <a:noFill/>
          <a:ln w="15875">
            <a:solidFill>
              <a:srgbClr val="DDE4EA"/>
            </a:solidFill>
            <a:prstDash val="solid"/>
          </a:ln>
        </p:spPr>
        <p:txBody>
          <a:bodyPr/>
          <a:lstStyle/>
          <a:p>
            <a:endParaRPr lang="fr-FR"/>
          </a:p>
        </p:txBody>
      </p:sp>
      <p:sp>
        <p:nvSpPr>
          <p:cNvPr id="31" name="Text 29"/>
          <p:cNvSpPr/>
          <p:nvPr/>
        </p:nvSpPr>
        <p:spPr>
          <a:xfrm>
            <a:off x="292608" y="3785616"/>
            <a:ext cx="8558784" cy="201168"/>
          </a:xfrm>
          <a:prstGeom prst="rect">
            <a:avLst/>
          </a:prstGeom>
          <a:noFill/>
          <a:ln/>
        </p:spPr>
        <p:txBody>
          <a:bodyPr wrap="square" lIns="0" tIns="0" rIns="0" bIns="0" rtlCol="0" anchor="t"/>
          <a:lstStyle/>
          <a:p>
            <a:pPr marL="0" indent="0" algn="ctr">
              <a:lnSpc>
                <a:spcPct val="108000"/>
              </a:lnSpc>
              <a:buNone/>
            </a:pPr>
            <a:r>
              <a:rPr lang="en-US" sz="950" dirty="0">
                <a:solidFill>
                  <a:srgbClr val="4A5769"/>
                </a:solidFill>
                <a:latin typeface="Calibri" pitchFamily="34" charset="0"/>
                <a:ea typeface="Calibri" pitchFamily="34" charset="-122"/>
                <a:cs typeface="Calibri" pitchFamily="34" charset="-120"/>
              </a:rPr>
              <a:t>Quatre questions de recherche, un seul défi de fond.</a:t>
            </a:r>
            <a:endParaRPr lang="en-US" sz="950" dirty="0"/>
          </a:p>
        </p:txBody>
      </p:sp>
      <p:sp>
        <p:nvSpPr>
          <p:cNvPr id="32" name="Shape 30"/>
          <p:cNvSpPr/>
          <p:nvPr/>
        </p:nvSpPr>
        <p:spPr>
          <a:xfrm>
            <a:off x="292608" y="4224528"/>
            <a:ext cx="8558784" cy="475488"/>
          </a:xfrm>
          <a:prstGeom prst="rect">
            <a:avLst/>
          </a:prstGeom>
          <a:solidFill>
            <a:srgbClr val="12263F"/>
          </a:solidFill>
          <a:ln/>
        </p:spPr>
        <p:txBody>
          <a:bodyPr/>
          <a:lstStyle/>
          <a:p>
            <a:endParaRPr lang="fr-FR"/>
          </a:p>
        </p:txBody>
      </p:sp>
      <p:sp>
        <p:nvSpPr>
          <p:cNvPr id="33" name="Shape 31"/>
          <p:cNvSpPr/>
          <p:nvPr/>
        </p:nvSpPr>
        <p:spPr>
          <a:xfrm>
            <a:off x="292608" y="4224528"/>
            <a:ext cx="45720" cy="475488"/>
          </a:xfrm>
          <a:prstGeom prst="rect">
            <a:avLst/>
          </a:prstGeom>
          <a:solidFill>
            <a:srgbClr val="E08A3C"/>
          </a:solidFill>
          <a:ln/>
        </p:spPr>
        <p:txBody>
          <a:bodyPr/>
          <a:lstStyle/>
          <a:p>
            <a:endParaRPr lang="fr-FR"/>
          </a:p>
        </p:txBody>
      </p:sp>
      <p:sp>
        <p:nvSpPr>
          <p:cNvPr id="34" name="Text 32"/>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Chaque exigence a ses solutions connues. La difficulté est de les faire tenir ensemble.</a:t>
            </a:r>
            <a:endParaRPr lang="en-US" sz="1150" dirty="0"/>
          </a:p>
        </p:txBody>
      </p:sp>
      <p:sp>
        <p:nvSpPr>
          <p:cNvPr id="35" name="Text 33"/>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2.3 - Analyse de la Problématique</a:t>
            </a:r>
            <a:endParaRPr lang="en-US" sz="750" dirty="0"/>
          </a:p>
        </p:txBody>
      </p:sp>
      <p:sp>
        <p:nvSpPr>
          <p:cNvPr id="36" name="Text 34"/>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2. Problématique</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7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2.4 - Méthodologie de l'Étude</a:t>
            </a:r>
            <a:endParaRPr lang="en-US" sz="2200" dirty="0"/>
          </a:p>
        </p:txBody>
      </p:sp>
      <p:sp>
        <p:nvSpPr>
          <p:cNvPr id="7" name="Text 5"/>
          <p:cNvSpPr/>
          <p:nvPr/>
        </p:nvSpPr>
        <p:spPr>
          <a:xfrm>
            <a:off x="292608" y="1024128"/>
            <a:ext cx="8558784" cy="201168"/>
          </a:xfrm>
          <a:prstGeom prst="rect">
            <a:avLst/>
          </a:prstGeom>
          <a:noFill/>
          <a:ln/>
        </p:spPr>
        <p:txBody>
          <a:bodyPr wrap="square" lIns="0" tIns="0" rIns="0" bIns="0" rtlCol="0" anchor="ctr"/>
          <a:lstStyle/>
          <a:p>
            <a:pPr marL="0" indent="0">
              <a:buNone/>
            </a:pPr>
            <a:r>
              <a:rPr lang="en-US" sz="1050" dirty="0">
                <a:solidFill>
                  <a:srgbClr val="4A5769"/>
                </a:solidFill>
                <a:latin typeface="Calibri" pitchFamily="34" charset="0"/>
                <a:ea typeface="Calibri" pitchFamily="34" charset="-122"/>
                <a:cs typeface="Calibri" pitchFamily="34" charset="-120"/>
              </a:rPr>
              <a:t>Où j'ai cherché, comment j'ai filtré, et comment j'ai tracé mes décisions.</a:t>
            </a:r>
            <a:endParaRPr lang="en-US" sz="1050" dirty="0"/>
          </a:p>
        </p:txBody>
      </p:sp>
      <p:sp>
        <p:nvSpPr>
          <p:cNvPr id="8" name="Text 6"/>
          <p:cNvSpPr/>
          <p:nvPr/>
        </p:nvSpPr>
        <p:spPr>
          <a:xfrm>
            <a:off x="292608" y="1298448"/>
            <a:ext cx="3017520" cy="164592"/>
          </a:xfrm>
          <a:prstGeom prst="rect">
            <a:avLst/>
          </a:prstGeom>
          <a:noFill/>
          <a:ln/>
        </p:spPr>
        <p:txBody>
          <a:bodyPr wrap="square" lIns="0" tIns="0" rIns="0" bIns="0" rtlCol="0" anchor="t"/>
          <a:lstStyle/>
          <a:p>
            <a:pPr marL="0" indent="0" algn="l">
              <a:lnSpc>
                <a:spcPct val="108000"/>
              </a:lnSpc>
              <a:buNone/>
            </a:pPr>
            <a:r>
              <a:rPr lang="en-US" sz="800" b="1" dirty="0">
                <a:solidFill>
                  <a:srgbClr val="8FA6BC"/>
                </a:solidFill>
                <a:latin typeface="Calibri" pitchFamily="34" charset="0"/>
                <a:ea typeface="Calibri" pitchFamily="34" charset="-122"/>
                <a:cs typeface="Calibri" pitchFamily="34" charset="-120"/>
              </a:rPr>
              <a:t>OÙ J'AI CHERCHÉ</a:t>
            </a:r>
            <a:endParaRPr lang="en-US" sz="800" dirty="0"/>
          </a:p>
        </p:txBody>
      </p:sp>
      <p:sp>
        <p:nvSpPr>
          <p:cNvPr id="9" name="Shape 7"/>
          <p:cNvSpPr/>
          <p:nvPr/>
        </p:nvSpPr>
        <p:spPr>
          <a:xfrm>
            <a:off x="292608" y="1517904"/>
            <a:ext cx="3017520" cy="493776"/>
          </a:xfrm>
          <a:prstGeom prst="rect">
            <a:avLst/>
          </a:prstGeom>
          <a:solidFill>
            <a:srgbClr val="FFFFFF"/>
          </a:solidFill>
          <a:ln w="12700">
            <a:solidFill>
              <a:srgbClr val="12855A"/>
            </a:solidFill>
            <a:prstDash val="solid"/>
          </a:ln>
        </p:spPr>
        <p:txBody>
          <a:bodyPr/>
          <a:lstStyle/>
          <a:p>
            <a:endParaRPr lang="fr-FR"/>
          </a:p>
        </p:txBody>
      </p:sp>
      <p:sp>
        <p:nvSpPr>
          <p:cNvPr id="10" name="Shape 8"/>
          <p:cNvSpPr/>
          <p:nvPr/>
        </p:nvSpPr>
        <p:spPr>
          <a:xfrm>
            <a:off x="292608" y="1517904"/>
            <a:ext cx="45720" cy="493776"/>
          </a:xfrm>
          <a:prstGeom prst="rect">
            <a:avLst/>
          </a:prstGeom>
          <a:solidFill>
            <a:srgbClr val="12855A"/>
          </a:solidFill>
          <a:ln/>
        </p:spPr>
        <p:txBody>
          <a:bodyPr/>
          <a:lstStyle/>
          <a:p>
            <a:endParaRPr lang="fr-FR"/>
          </a:p>
        </p:txBody>
      </p:sp>
      <p:sp>
        <p:nvSpPr>
          <p:cNvPr id="11" name="Text 9"/>
          <p:cNvSpPr/>
          <p:nvPr/>
        </p:nvSpPr>
        <p:spPr>
          <a:xfrm>
            <a:off x="457200" y="1572768"/>
            <a:ext cx="2743200" cy="182880"/>
          </a:xfrm>
          <a:prstGeom prst="rect">
            <a:avLst/>
          </a:prstGeom>
          <a:noFill/>
          <a:ln/>
        </p:spPr>
        <p:txBody>
          <a:bodyPr wrap="square" lIns="0" tIns="0" rIns="0" bIns="0" rtlCol="0" anchor="t"/>
          <a:lstStyle/>
          <a:p>
            <a:pPr marL="0" indent="0" algn="l">
              <a:lnSpc>
                <a:spcPct val="108000"/>
              </a:lnSpc>
              <a:buNone/>
            </a:pPr>
            <a:r>
              <a:rPr lang="en-US" sz="1100" b="1" dirty="0">
                <a:solidFill>
                  <a:srgbClr val="12263F"/>
                </a:solidFill>
                <a:latin typeface="Calibri" pitchFamily="34" charset="0"/>
                <a:ea typeface="Calibri" pitchFamily="34" charset="-122"/>
                <a:cs typeface="Calibri" pitchFamily="34" charset="-120"/>
              </a:rPr>
              <a:t>Sources officielles</a:t>
            </a:r>
            <a:endParaRPr lang="en-US" sz="1100" dirty="0"/>
          </a:p>
        </p:txBody>
      </p:sp>
      <p:sp>
        <p:nvSpPr>
          <p:cNvPr id="12" name="Text 10"/>
          <p:cNvSpPr/>
          <p:nvPr/>
        </p:nvSpPr>
        <p:spPr>
          <a:xfrm>
            <a:off x="457200" y="1773936"/>
            <a:ext cx="2743200" cy="201168"/>
          </a:xfrm>
          <a:prstGeom prst="rect">
            <a:avLst/>
          </a:prstGeom>
          <a:noFill/>
          <a:ln/>
        </p:spPr>
        <p:txBody>
          <a:bodyPr wrap="square" lIns="0" tIns="0" rIns="0" bIns="0" rtlCol="0" anchor="t"/>
          <a:lstStyle/>
          <a:p>
            <a:pPr marL="0" indent="0" algn="l">
              <a:lnSpc>
                <a:spcPct val="108000"/>
              </a:lnSpc>
              <a:buNone/>
            </a:pPr>
            <a:r>
              <a:rPr lang="en-US" sz="900" dirty="0">
                <a:solidFill>
                  <a:srgbClr val="4A5769"/>
                </a:solidFill>
                <a:latin typeface="Calibri" pitchFamily="34" charset="0"/>
                <a:ea typeface="Calibri" pitchFamily="34" charset="-122"/>
                <a:cs typeface="Calibri" pitchFamily="34" charset="-120"/>
              </a:rPr>
              <a:t>documentation, versions</a:t>
            </a:r>
            <a:endParaRPr lang="en-US" sz="900" dirty="0"/>
          </a:p>
        </p:txBody>
      </p:sp>
      <p:sp>
        <p:nvSpPr>
          <p:cNvPr id="13" name="Shape 11"/>
          <p:cNvSpPr/>
          <p:nvPr/>
        </p:nvSpPr>
        <p:spPr>
          <a:xfrm>
            <a:off x="292608" y="2084832"/>
            <a:ext cx="3017520" cy="493776"/>
          </a:xfrm>
          <a:prstGeom prst="rect">
            <a:avLst/>
          </a:prstGeom>
          <a:solidFill>
            <a:srgbClr val="FFFFFF"/>
          </a:solidFill>
          <a:ln w="12700">
            <a:solidFill>
              <a:srgbClr val="1B6EC2"/>
            </a:solidFill>
            <a:prstDash val="solid"/>
          </a:ln>
        </p:spPr>
        <p:txBody>
          <a:bodyPr/>
          <a:lstStyle/>
          <a:p>
            <a:endParaRPr lang="fr-FR"/>
          </a:p>
        </p:txBody>
      </p:sp>
      <p:sp>
        <p:nvSpPr>
          <p:cNvPr id="14" name="Shape 12"/>
          <p:cNvSpPr/>
          <p:nvPr/>
        </p:nvSpPr>
        <p:spPr>
          <a:xfrm>
            <a:off x="292608" y="2084832"/>
            <a:ext cx="45720" cy="493776"/>
          </a:xfrm>
          <a:prstGeom prst="rect">
            <a:avLst/>
          </a:prstGeom>
          <a:solidFill>
            <a:srgbClr val="1B6EC2"/>
          </a:solidFill>
          <a:ln/>
        </p:spPr>
        <p:txBody>
          <a:bodyPr/>
          <a:lstStyle/>
          <a:p>
            <a:endParaRPr lang="fr-FR"/>
          </a:p>
        </p:txBody>
      </p:sp>
      <p:sp>
        <p:nvSpPr>
          <p:cNvPr id="15" name="Text 13"/>
          <p:cNvSpPr/>
          <p:nvPr/>
        </p:nvSpPr>
        <p:spPr>
          <a:xfrm>
            <a:off x="457200" y="2139696"/>
            <a:ext cx="2743200" cy="182880"/>
          </a:xfrm>
          <a:prstGeom prst="rect">
            <a:avLst/>
          </a:prstGeom>
          <a:noFill/>
          <a:ln/>
        </p:spPr>
        <p:txBody>
          <a:bodyPr wrap="square" lIns="0" tIns="0" rIns="0" bIns="0" rtlCol="0" anchor="t"/>
          <a:lstStyle/>
          <a:p>
            <a:pPr marL="0" indent="0" algn="l">
              <a:lnSpc>
                <a:spcPct val="108000"/>
              </a:lnSpc>
              <a:buNone/>
            </a:pPr>
            <a:r>
              <a:rPr lang="en-US" sz="1100" b="1" dirty="0">
                <a:solidFill>
                  <a:srgbClr val="12263F"/>
                </a:solidFill>
                <a:latin typeface="Calibri" pitchFamily="34" charset="0"/>
                <a:ea typeface="Calibri" pitchFamily="34" charset="-122"/>
                <a:cs typeface="Calibri" pitchFamily="34" charset="-120"/>
              </a:rPr>
              <a:t>Vitalité réelle</a:t>
            </a:r>
            <a:endParaRPr lang="en-US" sz="1100" dirty="0"/>
          </a:p>
        </p:txBody>
      </p:sp>
      <p:sp>
        <p:nvSpPr>
          <p:cNvPr id="16" name="Text 14"/>
          <p:cNvSpPr/>
          <p:nvPr/>
        </p:nvSpPr>
        <p:spPr>
          <a:xfrm>
            <a:off x="457200" y="2340864"/>
            <a:ext cx="2743200" cy="201168"/>
          </a:xfrm>
          <a:prstGeom prst="rect">
            <a:avLst/>
          </a:prstGeom>
          <a:noFill/>
          <a:ln/>
        </p:spPr>
        <p:txBody>
          <a:bodyPr wrap="square" lIns="0" tIns="0" rIns="0" bIns="0" rtlCol="0" anchor="t"/>
          <a:lstStyle/>
          <a:p>
            <a:pPr marL="0" indent="0" algn="l">
              <a:lnSpc>
                <a:spcPct val="108000"/>
              </a:lnSpc>
              <a:buNone/>
            </a:pPr>
            <a:r>
              <a:rPr lang="en-US" sz="900" dirty="0">
                <a:solidFill>
                  <a:srgbClr val="4A5769"/>
                </a:solidFill>
                <a:latin typeface="Calibri" pitchFamily="34" charset="0"/>
                <a:ea typeface="Calibri" pitchFamily="34" charset="-122"/>
                <a:cs typeface="Calibri" pitchFamily="34" charset="-120"/>
              </a:rPr>
              <a:t>dépôts publics, radars</a:t>
            </a:r>
            <a:endParaRPr lang="en-US" sz="900" dirty="0"/>
          </a:p>
        </p:txBody>
      </p:sp>
      <p:sp>
        <p:nvSpPr>
          <p:cNvPr id="17" name="Shape 15"/>
          <p:cNvSpPr/>
          <p:nvPr/>
        </p:nvSpPr>
        <p:spPr>
          <a:xfrm>
            <a:off x="292608" y="2651760"/>
            <a:ext cx="3017520" cy="493776"/>
          </a:xfrm>
          <a:prstGeom prst="rect">
            <a:avLst/>
          </a:prstGeom>
          <a:solidFill>
            <a:srgbClr val="FFFFFF"/>
          </a:solidFill>
          <a:ln w="12700">
            <a:solidFill>
              <a:srgbClr val="6B3FD4"/>
            </a:solidFill>
            <a:prstDash val="solid"/>
          </a:ln>
        </p:spPr>
        <p:txBody>
          <a:bodyPr/>
          <a:lstStyle/>
          <a:p>
            <a:endParaRPr lang="fr-FR"/>
          </a:p>
        </p:txBody>
      </p:sp>
      <p:sp>
        <p:nvSpPr>
          <p:cNvPr id="18" name="Shape 16"/>
          <p:cNvSpPr/>
          <p:nvPr/>
        </p:nvSpPr>
        <p:spPr>
          <a:xfrm>
            <a:off x="292608" y="2651760"/>
            <a:ext cx="45720" cy="493776"/>
          </a:xfrm>
          <a:prstGeom prst="rect">
            <a:avLst/>
          </a:prstGeom>
          <a:solidFill>
            <a:srgbClr val="6B3FD4"/>
          </a:solidFill>
          <a:ln/>
        </p:spPr>
        <p:txBody>
          <a:bodyPr/>
          <a:lstStyle/>
          <a:p>
            <a:endParaRPr lang="fr-FR"/>
          </a:p>
        </p:txBody>
      </p:sp>
      <p:sp>
        <p:nvSpPr>
          <p:cNvPr id="19" name="Text 17"/>
          <p:cNvSpPr/>
          <p:nvPr/>
        </p:nvSpPr>
        <p:spPr>
          <a:xfrm>
            <a:off x="457200" y="2706624"/>
            <a:ext cx="2743200" cy="182880"/>
          </a:xfrm>
          <a:prstGeom prst="rect">
            <a:avLst/>
          </a:prstGeom>
          <a:noFill/>
          <a:ln/>
        </p:spPr>
        <p:txBody>
          <a:bodyPr wrap="square" lIns="0" tIns="0" rIns="0" bIns="0" rtlCol="0" anchor="t"/>
          <a:lstStyle/>
          <a:p>
            <a:pPr marL="0" indent="0" algn="l">
              <a:lnSpc>
                <a:spcPct val="108000"/>
              </a:lnSpc>
              <a:buNone/>
            </a:pPr>
            <a:r>
              <a:rPr lang="en-US" sz="1100" b="1" dirty="0">
                <a:solidFill>
                  <a:srgbClr val="12263F"/>
                </a:solidFill>
                <a:latin typeface="Calibri" pitchFamily="34" charset="0"/>
                <a:ea typeface="Calibri" pitchFamily="34" charset="-122"/>
                <a:cs typeface="Calibri" pitchFamily="34" charset="-120"/>
              </a:rPr>
              <a:t>Textes de référence</a:t>
            </a:r>
            <a:endParaRPr lang="en-US" sz="1100" dirty="0"/>
          </a:p>
        </p:txBody>
      </p:sp>
      <p:sp>
        <p:nvSpPr>
          <p:cNvPr id="20" name="Text 18"/>
          <p:cNvSpPr/>
          <p:nvPr/>
        </p:nvSpPr>
        <p:spPr>
          <a:xfrm>
            <a:off x="457200" y="2907792"/>
            <a:ext cx="2743200" cy="201168"/>
          </a:xfrm>
          <a:prstGeom prst="rect">
            <a:avLst/>
          </a:prstGeom>
          <a:noFill/>
          <a:ln/>
        </p:spPr>
        <p:txBody>
          <a:bodyPr wrap="square" lIns="0" tIns="0" rIns="0" bIns="0" rtlCol="0" anchor="t"/>
          <a:lstStyle/>
          <a:p>
            <a:pPr marL="0" indent="0" algn="l">
              <a:lnSpc>
                <a:spcPct val="108000"/>
              </a:lnSpc>
              <a:buNone/>
            </a:pPr>
            <a:r>
              <a:rPr lang="en-US" sz="900" dirty="0">
                <a:solidFill>
                  <a:srgbClr val="4A5769"/>
                </a:solidFill>
                <a:latin typeface="Calibri" pitchFamily="34" charset="0"/>
                <a:ea typeface="Calibri" pitchFamily="34" charset="-122"/>
                <a:cs typeface="Calibri" pitchFamily="34" charset="-120"/>
              </a:rPr>
              <a:t>ANSSI, CNIL, OWASP, ISO</a:t>
            </a:r>
            <a:endParaRPr lang="en-US" sz="900" dirty="0"/>
          </a:p>
        </p:txBody>
      </p:sp>
      <p:sp>
        <p:nvSpPr>
          <p:cNvPr id="21" name="Shape 19"/>
          <p:cNvSpPr/>
          <p:nvPr/>
        </p:nvSpPr>
        <p:spPr>
          <a:xfrm>
            <a:off x="3401568" y="2011680"/>
            <a:ext cx="365760" cy="0"/>
          </a:xfrm>
          <a:prstGeom prst="line">
            <a:avLst/>
          </a:prstGeom>
          <a:noFill/>
          <a:ln w="22225">
            <a:solidFill>
              <a:srgbClr val="8FA6BC"/>
            </a:solidFill>
            <a:prstDash val="solid"/>
            <a:tailEnd type="triangle"/>
          </a:ln>
        </p:spPr>
        <p:txBody>
          <a:bodyPr/>
          <a:lstStyle/>
          <a:p>
            <a:endParaRPr lang="fr-FR"/>
          </a:p>
        </p:txBody>
      </p:sp>
      <p:sp>
        <p:nvSpPr>
          <p:cNvPr id="22" name="Shape 20"/>
          <p:cNvSpPr/>
          <p:nvPr/>
        </p:nvSpPr>
        <p:spPr>
          <a:xfrm>
            <a:off x="3877056" y="1517904"/>
            <a:ext cx="1920240" cy="1371600"/>
          </a:xfrm>
          <a:prstGeom prst="rect">
            <a:avLst/>
          </a:prstGeom>
          <a:solidFill>
            <a:srgbClr val="F4F7FA"/>
          </a:solidFill>
          <a:ln w="12700">
            <a:solidFill>
              <a:srgbClr val="E08A3C"/>
            </a:solidFill>
            <a:prstDash val="solid"/>
          </a:ln>
        </p:spPr>
        <p:txBody>
          <a:bodyPr/>
          <a:lstStyle/>
          <a:p>
            <a:endParaRPr lang="fr-FR"/>
          </a:p>
        </p:txBody>
      </p:sp>
      <p:sp>
        <p:nvSpPr>
          <p:cNvPr id="23" name="Text 21"/>
          <p:cNvSpPr/>
          <p:nvPr/>
        </p:nvSpPr>
        <p:spPr>
          <a:xfrm>
            <a:off x="3877056" y="1645920"/>
            <a:ext cx="1920240" cy="164592"/>
          </a:xfrm>
          <a:prstGeom prst="rect">
            <a:avLst/>
          </a:prstGeom>
          <a:noFill/>
          <a:ln/>
        </p:spPr>
        <p:txBody>
          <a:bodyPr wrap="square" lIns="0" tIns="0" rIns="0" bIns="0" rtlCol="0" anchor="t"/>
          <a:lstStyle/>
          <a:p>
            <a:pPr marL="0" indent="0" algn="ctr">
              <a:lnSpc>
                <a:spcPct val="108000"/>
              </a:lnSpc>
              <a:buNone/>
            </a:pPr>
            <a:r>
              <a:rPr lang="en-US" sz="800" b="1" dirty="0">
                <a:solidFill>
                  <a:srgbClr val="E08A3C"/>
                </a:solidFill>
                <a:latin typeface="Calibri" pitchFamily="34" charset="0"/>
                <a:ea typeface="Calibri" pitchFamily="34" charset="-122"/>
                <a:cs typeface="Calibri" pitchFamily="34" charset="-120"/>
              </a:rPr>
              <a:t>FILTRE</a:t>
            </a:r>
            <a:endParaRPr lang="en-US" sz="800" dirty="0"/>
          </a:p>
        </p:txBody>
      </p:sp>
      <p:sp>
        <p:nvSpPr>
          <p:cNvPr id="24" name="Text 22"/>
          <p:cNvSpPr/>
          <p:nvPr/>
        </p:nvSpPr>
        <p:spPr>
          <a:xfrm>
            <a:off x="3877056" y="1847088"/>
            <a:ext cx="1920240" cy="548640"/>
          </a:xfrm>
          <a:prstGeom prst="rect">
            <a:avLst/>
          </a:prstGeom>
          <a:noFill/>
          <a:ln/>
        </p:spPr>
        <p:txBody>
          <a:bodyPr wrap="square" lIns="0" tIns="0" rIns="0" bIns="0" rtlCol="0" anchor="t"/>
          <a:lstStyle/>
          <a:p>
            <a:pPr marL="0" indent="0" algn="ctr">
              <a:lnSpc>
                <a:spcPct val="108000"/>
              </a:lnSpc>
              <a:buNone/>
            </a:pPr>
            <a:r>
              <a:rPr lang="en-US" sz="1100" b="1" dirty="0">
                <a:solidFill>
                  <a:srgbClr val="12263F"/>
                </a:solidFill>
                <a:latin typeface="Calibri" pitchFamily="34" charset="0"/>
                <a:ea typeface="Calibri" pitchFamily="34" charset="-122"/>
                <a:cs typeface="Calibri" pitchFamily="34" charset="-120"/>
              </a:rPr>
              <a:t>Deux sources</a:t>
            </a:r>
            <a:endParaRPr lang="en-US" sz="1100" dirty="0"/>
          </a:p>
          <a:p>
            <a:pPr marL="0" indent="0" algn="ctr">
              <a:lnSpc>
                <a:spcPct val="108000"/>
              </a:lnSpc>
              <a:buNone/>
            </a:pPr>
            <a:r>
              <a:rPr lang="en-US" sz="1100" b="1" dirty="0">
                <a:solidFill>
                  <a:srgbClr val="12263F"/>
                </a:solidFill>
                <a:latin typeface="Calibri" pitchFamily="34" charset="0"/>
                <a:ea typeface="Calibri" pitchFamily="34" charset="-122"/>
                <a:cs typeface="Calibri" pitchFamily="34" charset="-120"/>
              </a:rPr>
              <a:t>indépendantes</a:t>
            </a:r>
            <a:endParaRPr lang="en-US" sz="1100" dirty="0"/>
          </a:p>
          <a:p>
            <a:pPr marL="0" indent="0" algn="ctr">
              <a:lnSpc>
                <a:spcPct val="108000"/>
              </a:lnSpc>
              <a:buNone/>
            </a:pPr>
            <a:r>
              <a:rPr lang="en-US" sz="1100" b="1" dirty="0">
                <a:solidFill>
                  <a:srgbClr val="12263F"/>
                </a:solidFill>
                <a:latin typeface="Calibri" pitchFamily="34" charset="0"/>
                <a:ea typeface="Calibri" pitchFamily="34" charset="-122"/>
                <a:cs typeface="Calibri" pitchFamily="34" charset="-120"/>
              </a:rPr>
              <a:t>minimum</a:t>
            </a:r>
            <a:endParaRPr lang="en-US" sz="1100" dirty="0"/>
          </a:p>
        </p:txBody>
      </p:sp>
      <p:sp>
        <p:nvSpPr>
          <p:cNvPr id="25" name="Text 23"/>
          <p:cNvSpPr/>
          <p:nvPr/>
        </p:nvSpPr>
        <p:spPr>
          <a:xfrm>
            <a:off x="3877056" y="2395728"/>
            <a:ext cx="1920240" cy="402336"/>
          </a:xfrm>
          <a:prstGeom prst="rect">
            <a:avLst/>
          </a:prstGeom>
          <a:noFill/>
          <a:ln/>
        </p:spPr>
        <p:txBody>
          <a:bodyPr wrap="square" lIns="0" tIns="0" rIns="0" bIns="0" rtlCol="0" anchor="t"/>
          <a:lstStyle/>
          <a:p>
            <a:pPr marL="0" indent="0" algn="ctr">
              <a:lnSpc>
                <a:spcPct val="108000"/>
              </a:lnSpc>
              <a:buNone/>
            </a:pPr>
            <a:r>
              <a:rPr lang="en-US" sz="900" dirty="0">
                <a:solidFill>
                  <a:srgbClr val="4A5769"/>
                </a:solidFill>
                <a:latin typeface="Calibri" pitchFamily="34" charset="0"/>
                <a:ea typeface="Calibri" pitchFamily="34" charset="-122"/>
                <a:cs typeface="Calibri" pitchFamily="34" charset="-120"/>
              </a:rPr>
              <a:t>+ grille de critères</a:t>
            </a:r>
            <a:endParaRPr lang="en-US" sz="900" dirty="0"/>
          </a:p>
          <a:p>
            <a:pPr marL="0" indent="0" algn="ctr">
              <a:lnSpc>
                <a:spcPct val="108000"/>
              </a:lnSpc>
              <a:buNone/>
            </a:pPr>
            <a:r>
              <a:rPr lang="en-US" sz="900" dirty="0">
                <a:solidFill>
                  <a:srgbClr val="4A5769"/>
                </a:solidFill>
                <a:latin typeface="Calibri" pitchFamily="34" charset="0"/>
                <a:ea typeface="Calibri" pitchFamily="34" charset="-122"/>
                <a:cs typeface="Calibri" pitchFamily="34" charset="-120"/>
              </a:rPr>
              <a:t>écrite d'avance</a:t>
            </a:r>
            <a:endParaRPr lang="en-US" sz="900" dirty="0"/>
          </a:p>
        </p:txBody>
      </p:sp>
      <p:sp>
        <p:nvSpPr>
          <p:cNvPr id="26" name="Shape 24"/>
          <p:cNvSpPr/>
          <p:nvPr/>
        </p:nvSpPr>
        <p:spPr>
          <a:xfrm>
            <a:off x="5888736" y="2011680"/>
            <a:ext cx="365760" cy="0"/>
          </a:xfrm>
          <a:prstGeom prst="line">
            <a:avLst/>
          </a:prstGeom>
          <a:noFill/>
          <a:ln w="22225">
            <a:solidFill>
              <a:srgbClr val="8FA6BC"/>
            </a:solidFill>
            <a:prstDash val="solid"/>
            <a:tailEnd type="triangle"/>
          </a:ln>
        </p:spPr>
        <p:txBody>
          <a:bodyPr/>
          <a:lstStyle/>
          <a:p>
            <a:endParaRPr lang="fr-FR"/>
          </a:p>
        </p:txBody>
      </p:sp>
      <p:sp>
        <p:nvSpPr>
          <p:cNvPr id="27" name="Shape 25"/>
          <p:cNvSpPr/>
          <p:nvPr/>
        </p:nvSpPr>
        <p:spPr>
          <a:xfrm>
            <a:off x="6364224" y="1517904"/>
            <a:ext cx="2487168" cy="1371600"/>
          </a:xfrm>
          <a:prstGeom prst="rect">
            <a:avLst/>
          </a:prstGeom>
          <a:solidFill>
            <a:srgbClr val="FFFFFF"/>
          </a:solidFill>
          <a:ln w="12700">
            <a:solidFill>
              <a:srgbClr val="12263F"/>
            </a:solidFill>
            <a:prstDash val="solid"/>
          </a:ln>
        </p:spPr>
        <p:txBody>
          <a:bodyPr/>
          <a:lstStyle/>
          <a:p>
            <a:endParaRPr lang="fr-FR"/>
          </a:p>
        </p:txBody>
      </p:sp>
      <p:sp>
        <p:nvSpPr>
          <p:cNvPr id="28" name="Shape 26"/>
          <p:cNvSpPr/>
          <p:nvPr/>
        </p:nvSpPr>
        <p:spPr>
          <a:xfrm>
            <a:off x="6364224" y="1517904"/>
            <a:ext cx="2487168" cy="274320"/>
          </a:xfrm>
          <a:prstGeom prst="rect">
            <a:avLst/>
          </a:prstGeom>
          <a:solidFill>
            <a:srgbClr val="12263F"/>
          </a:solidFill>
          <a:ln/>
        </p:spPr>
        <p:txBody>
          <a:bodyPr/>
          <a:lstStyle/>
          <a:p>
            <a:endParaRPr lang="fr-FR"/>
          </a:p>
        </p:txBody>
      </p:sp>
      <p:sp>
        <p:nvSpPr>
          <p:cNvPr id="29" name="Text 27"/>
          <p:cNvSpPr/>
          <p:nvPr/>
        </p:nvSpPr>
        <p:spPr>
          <a:xfrm>
            <a:off x="6364224" y="1517904"/>
            <a:ext cx="2487168" cy="274320"/>
          </a:xfrm>
          <a:prstGeom prst="rect">
            <a:avLst/>
          </a:prstGeom>
          <a:noFill/>
          <a:ln/>
        </p:spPr>
        <p:txBody>
          <a:bodyPr wrap="square" lIns="0" tIns="0" rIns="0" bIns="0" rtlCol="0" anchor="ctr"/>
          <a:lstStyle/>
          <a:p>
            <a:pPr marL="0" indent="0" algn="ctr">
              <a:lnSpc>
                <a:spcPct val="108000"/>
              </a:lnSpc>
              <a:buNone/>
            </a:pPr>
            <a:r>
              <a:rPr lang="en-US" sz="950" b="1" dirty="0">
                <a:solidFill>
                  <a:srgbClr val="FFFFFF"/>
                </a:solidFill>
                <a:latin typeface="Calibri" pitchFamily="34" charset="0"/>
                <a:ea typeface="Calibri" pitchFamily="34" charset="-122"/>
                <a:cs typeface="Calibri" pitchFamily="34" charset="-120"/>
              </a:rPr>
              <a:t>10 DÉCISIONS TRACÉES</a:t>
            </a:r>
            <a:endParaRPr lang="en-US" sz="950" dirty="0"/>
          </a:p>
        </p:txBody>
      </p:sp>
      <p:sp>
        <p:nvSpPr>
          <p:cNvPr id="30" name="Text 28"/>
          <p:cNvSpPr/>
          <p:nvPr/>
        </p:nvSpPr>
        <p:spPr>
          <a:xfrm>
            <a:off x="6492240" y="1883664"/>
            <a:ext cx="2231136" cy="640080"/>
          </a:xfrm>
          <a:prstGeom prst="rect">
            <a:avLst/>
          </a:prstGeom>
          <a:noFill/>
          <a:ln/>
        </p:spPr>
        <p:txBody>
          <a:bodyPr wrap="square" lIns="0" tIns="0" rIns="0" bIns="0" rtlCol="0" anchor="t"/>
          <a:lstStyle/>
          <a:p>
            <a:pPr marL="0" indent="0" algn="ctr">
              <a:lnSpc>
                <a:spcPct val="108000"/>
              </a:lnSpc>
              <a:buNone/>
            </a:pPr>
            <a:r>
              <a:rPr lang="en-US" sz="1000" dirty="0">
                <a:solidFill>
                  <a:srgbClr val="4A5769"/>
                </a:solidFill>
                <a:latin typeface="Calibri" pitchFamily="34" charset="0"/>
                <a:ea typeface="Calibri" pitchFamily="34" charset="-122"/>
                <a:cs typeface="Calibri" pitchFamily="34" charset="-120"/>
              </a:rPr>
              <a:t>Pour chacune : le choix retenu,</a:t>
            </a:r>
            <a:endParaRPr lang="en-US" sz="1000" dirty="0"/>
          </a:p>
          <a:p>
            <a:pPr marL="0" indent="0" algn="ctr">
              <a:lnSpc>
                <a:spcPct val="108000"/>
              </a:lnSpc>
              <a:buNone/>
            </a:pPr>
            <a:r>
              <a:rPr lang="en-US" sz="1000" dirty="0">
                <a:solidFill>
                  <a:srgbClr val="4A5769"/>
                </a:solidFill>
                <a:latin typeface="Calibri" pitchFamily="34" charset="0"/>
                <a:ea typeface="Calibri" pitchFamily="34" charset="-122"/>
                <a:cs typeface="Calibri" pitchFamily="34" charset="-120"/>
              </a:rPr>
              <a:t>les solutions écartées,</a:t>
            </a:r>
            <a:endParaRPr lang="en-US" sz="1000" dirty="0"/>
          </a:p>
          <a:p>
            <a:pPr marL="0" indent="0" algn="ctr">
              <a:lnSpc>
                <a:spcPct val="108000"/>
              </a:lnSpc>
              <a:buNone/>
            </a:pPr>
            <a:r>
              <a:rPr lang="en-US" sz="1000" dirty="0">
                <a:solidFill>
                  <a:srgbClr val="4A5769"/>
                </a:solidFill>
                <a:latin typeface="Calibri" pitchFamily="34" charset="0"/>
                <a:ea typeface="Calibri" pitchFamily="34" charset="-122"/>
                <a:cs typeface="Calibri" pitchFamily="34" charset="-120"/>
              </a:rPr>
              <a:t>et les conséquences assumées.</a:t>
            </a:r>
            <a:endParaRPr lang="en-US" sz="1000" dirty="0"/>
          </a:p>
        </p:txBody>
      </p:sp>
      <p:sp>
        <p:nvSpPr>
          <p:cNvPr id="31" name="Text 29"/>
          <p:cNvSpPr/>
          <p:nvPr/>
        </p:nvSpPr>
        <p:spPr>
          <a:xfrm>
            <a:off x="292608" y="3140061"/>
            <a:ext cx="8558784" cy="164592"/>
          </a:xfrm>
          <a:prstGeom prst="rect">
            <a:avLst/>
          </a:prstGeom>
          <a:noFill/>
          <a:ln/>
        </p:spPr>
        <p:txBody>
          <a:bodyPr wrap="square" lIns="0" tIns="0" rIns="0" bIns="0" rtlCol="0" anchor="t"/>
          <a:lstStyle/>
          <a:p>
            <a:pPr marL="0" indent="0" algn="l">
              <a:lnSpc>
                <a:spcPct val="108000"/>
              </a:lnSpc>
              <a:buNone/>
            </a:pPr>
            <a:r>
              <a:rPr lang="en-US" sz="800" b="1" dirty="0">
                <a:solidFill>
                  <a:srgbClr val="8FA6BC"/>
                </a:solidFill>
                <a:latin typeface="Calibri" pitchFamily="34" charset="0"/>
                <a:ea typeface="Calibri" pitchFamily="34" charset="-122"/>
                <a:cs typeface="Calibri" pitchFamily="34" charset="-120"/>
              </a:rPr>
              <a:t>LES CINQ ÉTAPES</a:t>
            </a:r>
            <a:endParaRPr lang="en-US" sz="800" dirty="0"/>
          </a:p>
        </p:txBody>
      </p:sp>
      <p:sp>
        <p:nvSpPr>
          <p:cNvPr id="32" name="Shape 30"/>
          <p:cNvSpPr/>
          <p:nvPr/>
        </p:nvSpPr>
        <p:spPr>
          <a:xfrm>
            <a:off x="292608" y="3273552"/>
            <a:ext cx="1572768" cy="420624"/>
          </a:xfrm>
          <a:prstGeom prst="roundRect">
            <a:avLst>
              <a:gd name="adj" fmla="val 10870"/>
            </a:avLst>
          </a:prstGeom>
          <a:solidFill>
            <a:srgbClr val="FFFFFF"/>
          </a:solidFill>
          <a:ln w="12700">
            <a:solidFill>
              <a:srgbClr val="00A896"/>
            </a:solidFill>
            <a:prstDash val="solid"/>
          </a:ln>
        </p:spPr>
        <p:txBody>
          <a:bodyPr/>
          <a:lstStyle/>
          <a:p>
            <a:endParaRPr lang="fr-FR"/>
          </a:p>
        </p:txBody>
      </p:sp>
      <p:sp>
        <p:nvSpPr>
          <p:cNvPr id="33" name="Text 31"/>
          <p:cNvSpPr/>
          <p:nvPr/>
        </p:nvSpPr>
        <p:spPr>
          <a:xfrm>
            <a:off x="292608" y="3273552"/>
            <a:ext cx="1572768" cy="420624"/>
          </a:xfrm>
          <a:prstGeom prst="rect">
            <a:avLst/>
          </a:prstGeom>
          <a:noFill/>
          <a:ln/>
        </p:spPr>
        <p:txBody>
          <a:bodyPr wrap="square" lIns="0" tIns="0" rIns="0" bIns="0" rtlCol="0" anchor="ctr"/>
          <a:lstStyle/>
          <a:p>
            <a:pPr marL="0" indent="0" algn="ctr">
              <a:lnSpc>
                <a:spcPct val="108000"/>
              </a:lnSpc>
              <a:buNone/>
            </a:pPr>
            <a:r>
              <a:rPr lang="en-US" sz="1100" b="1" dirty="0">
                <a:solidFill>
                  <a:srgbClr val="12263F"/>
                </a:solidFill>
                <a:latin typeface="Calibri" pitchFamily="34" charset="0"/>
                <a:ea typeface="Calibri" pitchFamily="34" charset="-122"/>
                <a:cs typeface="Calibri" pitchFamily="34" charset="-120"/>
              </a:rPr>
              <a:t>1 · Cadrer</a:t>
            </a:r>
            <a:endParaRPr lang="en-US" sz="1100" dirty="0"/>
          </a:p>
        </p:txBody>
      </p:sp>
      <p:sp>
        <p:nvSpPr>
          <p:cNvPr id="34" name="Shape 32"/>
          <p:cNvSpPr/>
          <p:nvPr/>
        </p:nvSpPr>
        <p:spPr>
          <a:xfrm>
            <a:off x="1901952" y="3483864"/>
            <a:ext cx="109728" cy="0"/>
          </a:xfrm>
          <a:prstGeom prst="line">
            <a:avLst/>
          </a:prstGeom>
          <a:noFill/>
          <a:ln w="22225">
            <a:solidFill>
              <a:srgbClr val="8FA6BC"/>
            </a:solidFill>
            <a:prstDash val="solid"/>
            <a:tailEnd type="triangle"/>
          </a:ln>
        </p:spPr>
        <p:txBody>
          <a:bodyPr/>
          <a:lstStyle/>
          <a:p>
            <a:endParaRPr lang="fr-FR"/>
          </a:p>
        </p:txBody>
      </p:sp>
      <p:sp>
        <p:nvSpPr>
          <p:cNvPr id="35" name="Shape 33"/>
          <p:cNvSpPr/>
          <p:nvPr/>
        </p:nvSpPr>
        <p:spPr>
          <a:xfrm>
            <a:off x="2029968" y="3273552"/>
            <a:ext cx="1572768" cy="420624"/>
          </a:xfrm>
          <a:prstGeom prst="roundRect">
            <a:avLst>
              <a:gd name="adj" fmla="val 10870"/>
            </a:avLst>
          </a:prstGeom>
          <a:solidFill>
            <a:srgbClr val="FFFFFF"/>
          </a:solidFill>
          <a:ln w="12700">
            <a:solidFill>
              <a:srgbClr val="00A896"/>
            </a:solidFill>
            <a:prstDash val="solid"/>
          </a:ln>
        </p:spPr>
        <p:txBody>
          <a:bodyPr/>
          <a:lstStyle/>
          <a:p>
            <a:endParaRPr lang="fr-FR"/>
          </a:p>
        </p:txBody>
      </p:sp>
      <p:sp>
        <p:nvSpPr>
          <p:cNvPr id="36" name="Text 34"/>
          <p:cNvSpPr/>
          <p:nvPr/>
        </p:nvSpPr>
        <p:spPr>
          <a:xfrm>
            <a:off x="2029968" y="3273552"/>
            <a:ext cx="1572768" cy="420624"/>
          </a:xfrm>
          <a:prstGeom prst="rect">
            <a:avLst/>
          </a:prstGeom>
          <a:noFill/>
          <a:ln/>
        </p:spPr>
        <p:txBody>
          <a:bodyPr wrap="square" lIns="0" tIns="0" rIns="0" bIns="0" rtlCol="0" anchor="ctr"/>
          <a:lstStyle/>
          <a:p>
            <a:pPr marL="0" indent="0" algn="ctr">
              <a:lnSpc>
                <a:spcPct val="108000"/>
              </a:lnSpc>
              <a:buNone/>
            </a:pPr>
            <a:r>
              <a:rPr lang="en-US" sz="1100" b="1" dirty="0">
                <a:solidFill>
                  <a:srgbClr val="12263F"/>
                </a:solidFill>
                <a:latin typeface="Calibri" pitchFamily="34" charset="0"/>
                <a:ea typeface="Calibri" pitchFamily="34" charset="-122"/>
                <a:cs typeface="Calibri" pitchFamily="34" charset="-120"/>
              </a:rPr>
              <a:t>2 · Collecter</a:t>
            </a:r>
            <a:endParaRPr lang="en-US" sz="1100" dirty="0"/>
          </a:p>
        </p:txBody>
      </p:sp>
      <p:sp>
        <p:nvSpPr>
          <p:cNvPr id="37" name="Shape 35"/>
          <p:cNvSpPr/>
          <p:nvPr/>
        </p:nvSpPr>
        <p:spPr>
          <a:xfrm>
            <a:off x="3639312" y="3483864"/>
            <a:ext cx="109728" cy="0"/>
          </a:xfrm>
          <a:prstGeom prst="line">
            <a:avLst/>
          </a:prstGeom>
          <a:noFill/>
          <a:ln w="22225">
            <a:solidFill>
              <a:srgbClr val="8FA6BC"/>
            </a:solidFill>
            <a:prstDash val="solid"/>
            <a:tailEnd type="triangle"/>
          </a:ln>
        </p:spPr>
        <p:txBody>
          <a:bodyPr/>
          <a:lstStyle/>
          <a:p>
            <a:endParaRPr lang="fr-FR"/>
          </a:p>
        </p:txBody>
      </p:sp>
      <p:sp>
        <p:nvSpPr>
          <p:cNvPr id="38" name="Shape 36"/>
          <p:cNvSpPr/>
          <p:nvPr/>
        </p:nvSpPr>
        <p:spPr>
          <a:xfrm>
            <a:off x="3767328" y="3273552"/>
            <a:ext cx="1572768" cy="420624"/>
          </a:xfrm>
          <a:prstGeom prst="roundRect">
            <a:avLst>
              <a:gd name="adj" fmla="val 10870"/>
            </a:avLst>
          </a:prstGeom>
          <a:solidFill>
            <a:srgbClr val="FFFFFF"/>
          </a:solidFill>
          <a:ln w="12700">
            <a:solidFill>
              <a:srgbClr val="00A896"/>
            </a:solidFill>
            <a:prstDash val="solid"/>
          </a:ln>
        </p:spPr>
        <p:txBody>
          <a:bodyPr/>
          <a:lstStyle/>
          <a:p>
            <a:endParaRPr lang="fr-FR"/>
          </a:p>
        </p:txBody>
      </p:sp>
      <p:sp>
        <p:nvSpPr>
          <p:cNvPr id="39" name="Text 37"/>
          <p:cNvSpPr/>
          <p:nvPr/>
        </p:nvSpPr>
        <p:spPr>
          <a:xfrm>
            <a:off x="3767328" y="3273552"/>
            <a:ext cx="1572768" cy="420624"/>
          </a:xfrm>
          <a:prstGeom prst="rect">
            <a:avLst/>
          </a:prstGeom>
          <a:noFill/>
          <a:ln/>
        </p:spPr>
        <p:txBody>
          <a:bodyPr wrap="square" lIns="0" tIns="0" rIns="0" bIns="0" rtlCol="0" anchor="ctr"/>
          <a:lstStyle/>
          <a:p>
            <a:pPr marL="0" indent="0" algn="ctr">
              <a:lnSpc>
                <a:spcPct val="108000"/>
              </a:lnSpc>
              <a:buNone/>
            </a:pPr>
            <a:r>
              <a:rPr lang="en-US" sz="1100" b="1" dirty="0">
                <a:solidFill>
                  <a:srgbClr val="12263F"/>
                </a:solidFill>
                <a:latin typeface="Calibri" pitchFamily="34" charset="0"/>
                <a:ea typeface="Calibri" pitchFamily="34" charset="-122"/>
                <a:cs typeface="Calibri" pitchFamily="34" charset="-120"/>
              </a:rPr>
              <a:t>3 · Arbitrer</a:t>
            </a:r>
            <a:endParaRPr lang="en-US" sz="1100" dirty="0"/>
          </a:p>
        </p:txBody>
      </p:sp>
      <p:sp>
        <p:nvSpPr>
          <p:cNvPr id="40" name="Shape 38"/>
          <p:cNvSpPr/>
          <p:nvPr/>
        </p:nvSpPr>
        <p:spPr>
          <a:xfrm>
            <a:off x="5376672" y="3483864"/>
            <a:ext cx="109728" cy="0"/>
          </a:xfrm>
          <a:prstGeom prst="line">
            <a:avLst/>
          </a:prstGeom>
          <a:noFill/>
          <a:ln w="22225">
            <a:solidFill>
              <a:srgbClr val="8FA6BC"/>
            </a:solidFill>
            <a:prstDash val="solid"/>
            <a:tailEnd type="triangle"/>
          </a:ln>
        </p:spPr>
        <p:txBody>
          <a:bodyPr/>
          <a:lstStyle/>
          <a:p>
            <a:endParaRPr lang="fr-FR"/>
          </a:p>
        </p:txBody>
      </p:sp>
      <p:sp>
        <p:nvSpPr>
          <p:cNvPr id="41" name="Shape 39"/>
          <p:cNvSpPr/>
          <p:nvPr/>
        </p:nvSpPr>
        <p:spPr>
          <a:xfrm>
            <a:off x="5504688" y="3273552"/>
            <a:ext cx="1572768" cy="420624"/>
          </a:xfrm>
          <a:prstGeom prst="roundRect">
            <a:avLst>
              <a:gd name="adj" fmla="val 10870"/>
            </a:avLst>
          </a:prstGeom>
          <a:solidFill>
            <a:srgbClr val="FFFFFF"/>
          </a:solidFill>
          <a:ln w="12700">
            <a:solidFill>
              <a:srgbClr val="00A896"/>
            </a:solidFill>
            <a:prstDash val="solid"/>
          </a:ln>
        </p:spPr>
        <p:txBody>
          <a:bodyPr/>
          <a:lstStyle/>
          <a:p>
            <a:endParaRPr lang="fr-FR" dirty="0"/>
          </a:p>
        </p:txBody>
      </p:sp>
      <p:sp>
        <p:nvSpPr>
          <p:cNvPr id="42" name="Text 40"/>
          <p:cNvSpPr/>
          <p:nvPr/>
        </p:nvSpPr>
        <p:spPr>
          <a:xfrm>
            <a:off x="5504688" y="3273552"/>
            <a:ext cx="1572768" cy="420624"/>
          </a:xfrm>
          <a:prstGeom prst="rect">
            <a:avLst/>
          </a:prstGeom>
          <a:noFill/>
          <a:ln/>
        </p:spPr>
        <p:txBody>
          <a:bodyPr wrap="square" lIns="0" tIns="0" rIns="0" bIns="0" rtlCol="0" anchor="ctr"/>
          <a:lstStyle/>
          <a:p>
            <a:pPr marL="0" indent="0" algn="ctr">
              <a:lnSpc>
                <a:spcPct val="108000"/>
              </a:lnSpc>
              <a:buNone/>
            </a:pPr>
            <a:r>
              <a:rPr lang="en-US" sz="1100" b="1" dirty="0">
                <a:solidFill>
                  <a:srgbClr val="12263F"/>
                </a:solidFill>
                <a:latin typeface="Calibri" pitchFamily="34" charset="0"/>
                <a:ea typeface="Calibri" pitchFamily="34" charset="-122"/>
                <a:cs typeface="Calibri" pitchFamily="34" charset="-120"/>
              </a:rPr>
              <a:t>4 · Tracer</a:t>
            </a:r>
            <a:endParaRPr lang="en-US" sz="1100" dirty="0"/>
          </a:p>
        </p:txBody>
      </p:sp>
      <p:sp>
        <p:nvSpPr>
          <p:cNvPr id="43" name="Shape 41"/>
          <p:cNvSpPr/>
          <p:nvPr/>
        </p:nvSpPr>
        <p:spPr>
          <a:xfrm>
            <a:off x="7114032" y="3483864"/>
            <a:ext cx="109728" cy="0"/>
          </a:xfrm>
          <a:prstGeom prst="line">
            <a:avLst/>
          </a:prstGeom>
          <a:noFill/>
          <a:ln w="22225">
            <a:solidFill>
              <a:srgbClr val="8FA6BC"/>
            </a:solidFill>
            <a:prstDash val="solid"/>
            <a:tailEnd type="triangle"/>
          </a:ln>
        </p:spPr>
        <p:txBody>
          <a:bodyPr/>
          <a:lstStyle/>
          <a:p>
            <a:endParaRPr lang="fr-FR"/>
          </a:p>
        </p:txBody>
      </p:sp>
      <p:sp>
        <p:nvSpPr>
          <p:cNvPr id="44" name="Shape 42"/>
          <p:cNvSpPr/>
          <p:nvPr/>
        </p:nvSpPr>
        <p:spPr>
          <a:xfrm>
            <a:off x="7242048" y="3273552"/>
            <a:ext cx="1572768" cy="420624"/>
          </a:xfrm>
          <a:prstGeom prst="roundRect">
            <a:avLst>
              <a:gd name="adj" fmla="val 10870"/>
            </a:avLst>
          </a:prstGeom>
          <a:solidFill>
            <a:srgbClr val="FFFFFF"/>
          </a:solidFill>
          <a:ln w="12700">
            <a:solidFill>
              <a:srgbClr val="00A896"/>
            </a:solidFill>
            <a:prstDash val="solid"/>
          </a:ln>
        </p:spPr>
        <p:txBody>
          <a:bodyPr/>
          <a:lstStyle/>
          <a:p>
            <a:endParaRPr lang="fr-FR"/>
          </a:p>
        </p:txBody>
      </p:sp>
      <p:sp>
        <p:nvSpPr>
          <p:cNvPr id="45" name="Text 43"/>
          <p:cNvSpPr/>
          <p:nvPr/>
        </p:nvSpPr>
        <p:spPr>
          <a:xfrm>
            <a:off x="7242048" y="3273552"/>
            <a:ext cx="1572768" cy="420624"/>
          </a:xfrm>
          <a:prstGeom prst="rect">
            <a:avLst/>
          </a:prstGeom>
          <a:noFill/>
          <a:ln/>
        </p:spPr>
        <p:txBody>
          <a:bodyPr wrap="square" lIns="0" tIns="0" rIns="0" bIns="0" rtlCol="0" anchor="ctr"/>
          <a:lstStyle/>
          <a:p>
            <a:pPr marL="0" indent="0" algn="ctr">
              <a:lnSpc>
                <a:spcPct val="108000"/>
              </a:lnSpc>
              <a:buNone/>
            </a:pPr>
            <a:r>
              <a:rPr lang="en-US" sz="1100" b="1" dirty="0">
                <a:solidFill>
                  <a:srgbClr val="12263F"/>
                </a:solidFill>
                <a:latin typeface="Calibri" pitchFamily="34" charset="0"/>
                <a:ea typeface="Calibri" pitchFamily="34" charset="-122"/>
                <a:cs typeface="Calibri" pitchFamily="34" charset="-120"/>
              </a:rPr>
              <a:t>5 · Vérifier</a:t>
            </a:r>
            <a:endParaRPr lang="en-US" sz="1100" dirty="0"/>
          </a:p>
        </p:txBody>
      </p:sp>
      <p:sp>
        <p:nvSpPr>
          <p:cNvPr id="46" name="Shape 44"/>
          <p:cNvSpPr/>
          <p:nvPr/>
        </p:nvSpPr>
        <p:spPr>
          <a:xfrm>
            <a:off x="292608" y="4224528"/>
            <a:ext cx="8558784" cy="475488"/>
          </a:xfrm>
          <a:prstGeom prst="rect">
            <a:avLst/>
          </a:prstGeom>
          <a:solidFill>
            <a:srgbClr val="12263F"/>
          </a:solidFill>
          <a:ln/>
        </p:spPr>
        <p:txBody>
          <a:bodyPr/>
          <a:lstStyle/>
          <a:p>
            <a:endParaRPr lang="fr-FR"/>
          </a:p>
        </p:txBody>
      </p:sp>
      <p:sp>
        <p:nvSpPr>
          <p:cNvPr id="47" name="Shape 45"/>
          <p:cNvSpPr/>
          <p:nvPr/>
        </p:nvSpPr>
        <p:spPr>
          <a:xfrm>
            <a:off x="292608" y="4224528"/>
            <a:ext cx="45720" cy="475488"/>
          </a:xfrm>
          <a:prstGeom prst="rect">
            <a:avLst/>
          </a:prstGeom>
          <a:solidFill>
            <a:srgbClr val="E08A3C"/>
          </a:solidFill>
          <a:ln/>
        </p:spPr>
        <p:txBody>
          <a:bodyPr/>
          <a:lstStyle/>
          <a:p>
            <a:endParaRPr lang="fr-FR"/>
          </a:p>
        </p:txBody>
      </p:sp>
      <p:sp>
        <p:nvSpPr>
          <p:cNvPr id="48" name="Text 46"/>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Une technologie n'est retenue que si plusieurs sources indépendantes la confirment.</a:t>
            </a:r>
            <a:endParaRPr lang="en-US" sz="1150" dirty="0"/>
          </a:p>
        </p:txBody>
      </p:sp>
      <p:sp>
        <p:nvSpPr>
          <p:cNvPr id="49" name="Text 47"/>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2.4 - Méthodologie de l'Étude</a:t>
            </a:r>
            <a:endParaRPr lang="en-US" sz="750" dirty="0"/>
          </a:p>
        </p:txBody>
      </p:sp>
      <p:sp>
        <p:nvSpPr>
          <p:cNvPr id="50" name="Text 48"/>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2. Problématique</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8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2.5 - Résultats Attendus</a:t>
            </a:r>
            <a:endParaRPr lang="en-US" sz="2200" dirty="0"/>
          </a:p>
        </p:txBody>
      </p:sp>
      <p:sp>
        <p:nvSpPr>
          <p:cNvPr id="7" name="Text 5"/>
          <p:cNvSpPr/>
          <p:nvPr/>
        </p:nvSpPr>
        <p:spPr>
          <a:xfrm>
            <a:off x="292608" y="1024128"/>
            <a:ext cx="8558784" cy="201168"/>
          </a:xfrm>
          <a:prstGeom prst="rect">
            <a:avLst/>
          </a:prstGeom>
          <a:noFill/>
          <a:ln/>
        </p:spPr>
        <p:txBody>
          <a:bodyPr wrap="square" lIns="0" tIns="0" rIns="0" bIns="0" rtlCol="0" anchor="ctr"/>
          <a:lstStyle/>
          <a:p>
            <a:pPr marL="0" indent="0">
              <a:buNone/>
            </a:pPr>
            <a:r>
              <a:rPr lang="en-US" sz="1050" dirty="0">
                <a:solidFill>
                  <a:srgbClr val="4A5769"/>
                </a:solidFill>
                <a:latin typeface="Calibri" pitchFamily="34" charset="0"/>
                <a:ea typeface="Calibri" pitchFamily="34" charset="-122"/>
                <a:cs typeface="Calibri" pitchFamily="34" charset="-120"/>
              </a:rPr>
              <a:t>Trois hypothèses de départ et leur effet attendu.</a:t>
            </a:r>
            <a:endParaRPr lang="en-US" sz="1050" dirty="0"/>
          </a:p>
        </p:txBody>
      </p:sp>
      <p:sp>
        <p:nvSpPr>
          <p:cNvPr id="8" name="Shape 6"/>
          <p:cNvSpPr/>
          <p:nvPr/>
        </p:nvSpPr>
        <p:spPr>
          <a:xfrm>
            <a:off x="292608" y="1371600"/>
            <a:ext cx="3566160" cy="548640"/>
          </a:xfrm>
          <a:prstGeom prst="rect">
            <a:avLst/>
          </a:prstGeom>
          <a:solidFill>
            <a:srgbClr val="FFFFFF"/>
          </a:solidFill>
          <a:ln w="12700">
            <a:solidFill>
              <a:srgbClr val="12855A"/>
            </a:solidFill>
            <a:prstDash val="solid"/>
          </a:ln>
        </p:spPr>
        <p:txBody>
          <a:bodyPr/>
          <a:lstStyle/>
          <a:p>
            <a:endParaRPr lang="fr-FR"/>
          </a:p>
        </p:txBody>
      </p:sp>
      <p:sp>
        <p:nvSpPr>
          <p:cNvPr id="9" name="Shape 7"/>
          <p:cNvSpPr/>
          <p:nvPr/>
        </p:nvSpPr>
        <p:spPr>
          <a:xfrm>
            <a:off x="292608" y="1371600"/>
            <a:ext cx="45720" cy="548640"/>
          </a:xfrm>
          <a:prstGeom prst="rect">
            <a:avLst/>
          </a:prstGeom>
          <a:solidFill>
            <a:srgbClr val="12855A"/>
          </a:solidFill>
          <a:ln/>
        </p:spPr>
        <p:txBody>
          <a:bodyPr/>
          <a:lstStyle/>
          <a:p>
            <a:endParaRPr lang="fr-FR"/>
          </a:p>
        </p:txBody>
      </p:sp>
      <p:sp>
        <p:nvSpPr>
          <p:cNvPr id="10" name="Text 8"/>
          <p:cNvSpPr/>
          <p:nvPr/>
        </p:nvSpPr>
        <p:spPr>
          <a:xfrm>
            <a:off x="457200" y="1426464"/>
            <a:ext cx="3291840" cy="146304"/>
          </a:xfrm>
          <a:prstGeom prst="rect">
            <a:avLst/>
          </a:prstGeom>
          <a:noFill/>
          <a:ln/>
        </p:spPr>
        <p:txBody>
          <a:bodyPr wrap="square" lIns="0" tIns="0" rIns="0" bIns="0" rtlCol="0" anchor="t"/>
          <a:lstStyle/>
          <a:p>
            <a:pPr marL="0" indent="0" algn="l">
              <a:lnSpc>
                <a:spcPct val="108000"/>
              </a:lnSpc>
              <a:buNone/>
            </a:pPr>
            <a:r>
              <a:rPr lang="en-US" sz="700" b="1" dirty="0">
                <a:solidFill>
                  <a:srgbClr val="12855A"/>
                </a:solidFill>
                <a:latin typeface="Calibri" pitchFamily="34" charset="0"/>
                <a:ea typeface="Calibri" pitchFamily="34" charset="-122"/>
                <a:cs typeface="Calibri" pitchFamily="34" charset="-120"/>
              </a:rPr>
              <a:t>HYPOTHÈSE 1</a:t>
            </a:r>
            <a:endParaRPr lang="en-US" sz="700" dirty="0"/>
          </a:p>
        </p:txBody>
      </p:sp>
      <p:sp>
        <p:nvSpPr>
          <p:cNvPr id="11" name="Text 9"/>
          <p:cNvSpPr/>
          <p:nvPr/>
        </p:nvSpPr>
        <p:spPr>
          <a:xfrm>
            <a:off x="457200" y="1591056"/>
            <a:ext cx="3291840" cy="274320"/>
          </a:xfrm>
          <a:prstGeom prst="rect">
            <a:avLst/>
          </a:prstGeom>
          <a:noFill/>
          <a:ln/>
        </p:spPr>
        <p:txBody>
          <a:bodyPr wrap="square" lIns="0" tIns="0" rIns="0" bIns="0" rtlCol="0" anchor="t"/>
          <a:lstStyle/>
          <a:p>
            <a:pPr marL="0" indent="0" algn="l">
              <a:lnSpc>
                <a:spcPct val="108000"/>
              </a:lnSpc>
              <a:buNone/>
            </a:pPr>
            <a:r>
              <a:rPr lang="en-US" sz="1200" b="1" dirty="0">
                <a:solidFill>
                  <a:srgbClr val="12263F"/>
                </a:solidFill>
                <a:latin typeface="Calibri" pitchFamily="34" charset="0"/>
                <a:ea typeface="Calibri" pitchFamily="34" charset="-122"/>
                <a:cs typeface="Calibri" pitchFamily="34" charset="-120"/>
              </a:rPr>
              <a:t>Tout décrire en code</a:t>
            </a:r>
            <a:endParaRPr lang="en-US" sz="1200" dirty="0"/>
          </a:p>
        </p:txBody>
      </p:sp>
      <p:sp>
        <p:nvSpPr>
          <p:cNvPr id="12" name="Shape 10"/>
          <p:cNvSpPr/>
          <p:nvPr/>
        </p:nvSpPr>
        <p:spPr>
          <a:xfrm>
            <a:off x="3950208" y="1645920"/>
            <a:ext cx="384048" cy="0"/>
          </a:xfrm>
          <a:prstGeom prst="line">
            <a:avLst/>
          </a:prstGeom>
          <a:noFill/>
          <a:ln w="22225">
            <a:solidFill>
              <a:srgbClr val="8FA6BC"/>
            </a:solidFill>
            <a:prstDash val="solid"/>
            <a:tailEnd type="triangle"/>
          </a:ln>
        </p:spPr>
        <p:txBody>
          <a:bodyPr/>
          <a:lstStyle/>
          <a:p>
            <a:endParaRPr lang="fr-FR"/>
          </a:p>
        </p:txBody>
      </p:sp>
      <p:sp>
        <p:nvSpPr>
          <p:cNvPr id="13" name="Shape 11"/>
          <p:cNvSpPr/>
          <p:nvPr/>
        </p:nvSpPr>
        <p:spPr>
          <a:xfrm>
            <a:off x="4443984" y="1371600"/>
            <a:ext cx="4407408" cy="548640"/>
          </a:xfrm>
          <a:prstGeom prst="rect">
            <a:avLst/>
          </a:prstGeom>
          <a:solidFill>
            <a:srgbClr val="F4F7FA"/>
          </a:solidFill>
          <a:ln w="12700">
            <a:solidFill>
              <a:srgbClr val="E2E8EE"/>
            </a:solidFill>
            <a:prstDash val="solid"/>
          </a:ln>
        </p:spPr>
        <p:txBody>
          <a:bodyPr/>
          <a:lstStyle/>
          <a:p>
            <a:endParaRPr lang="fr-FR"/>
          </a:p>
        </p:txBody>
      </p:sp>
      <p:sp>
        <p:nvSpPr>
          <p:cNvPr id="14" name="Text 12"/>
          <p:cNvSpPr/>
          <p:nvPr/>
        </p:nvSpPr>
        <p:spPr>
          <a:xfrm>
            <a:off x="4608576" y="1371600"/>
            <a:ext cx="4078224" cy="548640"/>
          </a:xfrm>
          <a:prstGeom prst="rect">
            <a:avLst/>
          </a:prstGeom>
          <a:noFill/>
          <a:ln/>
        </p:spPr>
        <p:txBody>
          <a:bodyPr wrap="square" lIns="0" tIns="0" rIns="0" bIns="0" rtlCol="0" anchor="ctr"/>
          <a:lstStyle/>
          <a:p>
            <a:pPr marL="0" indent="0" algn="l">
              <a:lnSpc>
                <a:spcPct val="108000"/>
              </a:lnSpc>
              <a:buNone/>
            </a:pPr>
            <a:r>
              <a:rPr lang="en-US" sz="1200" b="1" dirty="0">
                <a:solidFill>
                  <a:srgbClr val="12263F"/>
                </a:solidFill>
                <a:latin typeface="Calibri" pitchFamily="34" charset="0"/>
                <a:ea typeface="Calibri" pitchFamily="34" charset="-122"/>
                <a:cs typeface="Calibri" pitchFamily="34" charset="-120"/>
              </a:rPr>
              <a:t>Des déploiements fiables et rapides</a:t>
            </a:r>
            <a:endParaRPr lang="en-US" sz="1200" dirty="0"/>
          </a:p>
        </p:txBody>
      </p:sp>
      <p:sp>
        <p:nvSpPr>
          <p:cNvPr id="15" name="Shape 13"/>
          <p:cNvSpPr/>
          <p:nvPr/>
        </p:nvSpPr>
        <p:spPr>
          <a:xfrm>
            <a:off x="292608" y="2029968"/>
            <a:ext cx="3566160" cy="548640"/>
          </a:xfrm>
          <a:prstGeom prst="rect">
            <a:avLst/>
          </a:prstGeom>
          <a:solidFill>
            <a:srgbClr val="FFFFFF"/>
          </a:solidFill>
          <a:ln w="12700">
            <a:solidFill>
              <a:srgbClr val="1B6EC2"/>
            </a:solidFill>
            <a:prstDash val="solid"/>
          </a:ln>
        </p:spPr>
        <p:txBody>
          <a:bodyPr/>
          <a:lstStyle/>
          <a:p>
            <a:endParaRPr lang="fr-FR"/>
          </a:p>
        </p:txBody>
      </p:sp>
      <p:sp>
        <p:nvSpPr>
          <p:cNvPr id="16" name="Shape 14"/>
          <p:cNvSpPr/>
          <p:nvPr/>
        </p:nvSpPr>
        <p:spPr>
          <a:xfrm>
            <a:off x="292608" y="2029968"/>
            <a:ext cx="45720" cy="548640"/>
          </a:xfrm>
          <a:prstGeom prst="rect">
            <a:avLst/>
          </a:prstGeom>
          <a:solidFill>
            <a:srgbClr val="1B6EC2"/>
          </a:solidFill>
          <a:ln/>
        </p:spPr>
        <p:txBody>
          <a:bodyPr/>
          <a:lstStyle/>
          <a:p>
            <a:endParaRPr lang="fr-FR"/>
          </a:p>
        </p:txBody>
      </p:sp>
      <p:sp>
        <p:nvSpPr>
          <p:cNvPr id="17" name="Text 15"/>
          <p:cNvSpPr/>
          <p:nvPr/>
        </p:nvSpPr>
        <p:spPr>
          <a:xfrm>
            <a:off x="457200" y="2084832"/>
            <a:ext cx="3291840" cy="146304"/>
          </a:xfrm>
          <a:prstGeom prst="rect">
            <a:avLst/>
          </a:prstGeom>
          <a:noFill/>
          <a:ln/>
        </p:spPr>
        <p:txBody>
          <a:bodyPr wrap="square" lIns="0" tIns="0" rIns="0" bIns="0" rtlCol="0" anchor="t"/>
          <a:lstStyle/>
          <a:p>
            <a:pPr marL="0" indent="0" algn="l">
              <a:lnSpc>
                <a:spcPct val="108000"/>
              </a:lnSpc>
              <a:buNone/>
            </a:pPr>
            <a:r>
              <a:rPr lang="en-US" sz="700" b="1" dirty="0">
                <a:solidFill>
                  <a:srgbClr val="1B6EC2"/>
                </a:solidFill>
                <a:latin typeface="Calibri" pitchFamily="34" charset="0"/>
                <a:ea typeface="Calibri" pitchFamily="34" charset="-122"/>
                <a:cs typeface="Calibri" pitchFamily="34" charset="-120"/>
              </a:rPr>
              <a:t>HYPOTHÈSE 2</a:t>
            </a:r>
            <a:endParaRPr lang="en-US" sz="700" dirty="0"/>
          </a:p>
        </p:txBody>
      </p:sp>
      <p:sp>
        <p:nvSpPr>
          <p:cNvPr id="18" name="Text 16"/>
          <p:cNvSpPr/>
          <p:nvPr/>
        </p:nvSpPr>
        <p:spPr>
          <a:xfrm>
            <a:off x="457200" y="2249424"/>
            <a:ext cx="3291840" cy="274320"/>
          </a:xfrm>
          <a:prstGeom prst="rect">
            <a:avLst/>
          </a:prstGeom>
          <a:noFill/>
          <a:ln/>
        </p:spPr>
        <p:txBody>
          <a:bodyPr wrap="square" lIns="0" tIns="0" rIns="0" bIns="0" rtlCol="0" anchor="t"/>
          <a:lstStyle/>
          <a:p>
            <a:pPr marL="0" indent="0" algn="l">
              <a:lnSpc>
                <a:spcPct val="108000"/>
              </a:lnSpc>
              <a:buNone/>
            </a:pPr>
            <a:r>
              <a:rPr lang="en-US" sz="1200" b="1" dirty="0">
                <a:solidFill>
                  <a:srgbClr val="12263F"/>
                </a:solidFill>
                <a:latin typeface="Calibri" pitchFamily="34" charset="0"/>
                <a:ea typeface="Calibri" pitchFamily="34" charset="-122"/>
                <a:cs typeface="Calibri" pitchFamily="34" charset="-120"/>
              </a:rPr>
              <a:t>Une orchestration adaptée</a:t>
            </a:r>
            <a:endParaRPr lang="en-US" sz="1200" dirty="0"/>
          </a:p>
        </p:txBody>
      </p:sp>
      <p:sp>
        <p:nvSpPr>
          <p:cNvPr id="19" name="Shape 17"/>
          <p:cNvSpPr/>
          <p:nvPr/>
        </p:nvSpPr>
        <p:spPr>
          <a:xfrm>
            <a:off x="3950208" y="2304288"/>
            <a:ext cx="384048" cy="0"/>
          </a:xfrm>
          <a:prstGeom prst="line">
            <a:avLst/>
          </a:prstGeom>
          <a:noFill/>
          <a:ln w="22225">
            <a:solidFill>
              <a:srgbClr val="8FA6BC"/>
            </a:solidFill>
            <a:prstDash val="solid"/>
            <a:tailEnd type="triangle"/>
          </a:ln>
        </p:spPr>
        <p:txBody>
          <a:bodyPr/>
          <a:lstStyle/>
          <a:p>
            <a:endParaRPr lang="fr-FR"/>
          </a:p>
        </p:txBody>
      </p:sp>
      <p:sp>
        <p:nvSpPr>
          <p:cNvPr id="20" name="Shape 18"/>
          <p:cNvSpPr/>
          <p:nvPr/>
        </p:nvSpPr>
        <p:spPr>
          <a:xfrm>
            <a:off x="4443984" y="2029968"/>
            <a:ext cx="4407408" cy="548640"/>
          </a:xfrm>
          <a:prstGeom prst="rect">
            <a:avLst/>
          </a:prstGeom>
          <a:solidFill>
            <a:srgbClr val="F4F7FA"/>
          </a:solidFill>
          <a:ln w="12700">
            <a:solidFill>
              <a:srgbClr val="E2E8EE"/>
            </a:solidFill>
            <a:prstDash val="solid"/>
          </a:ln>
        </p:spPr>
        <p:txBody>
          <a:bodyPr/>
          <a:lstStyle/>
          <a:p>
            <a:endParaRPr lang="fr-FR"/>
          </a:p>
        </p:txBody>
      </p:sp>
      <p:sp>
        <p:nvSpPr>
          <p:cNvPr id="21" name="Text 19"/>
          <p:cNvSpPr/>
          <p:nvPr/>
        </p:nvSpPr>
        <p:spPr>
          <a:xfrm>
            <a:off x="4608576" y="2029968"/>
            <a:ext cx="4078224" cy="548640"/>
          </a:xfrm>
          <a:prstGeom prst="rect">
            <a:avLst/>
          </a:prstGeom>
          <a:noFill/>
          <a:ln/>
        </p:spPr>
        <p:txBody>
          <a:bodyPr wrap="square" lIns="0" tIns="0" rIns="0" bIns="0" rtlCol="0" anchor="ctr"/>
          <a:lstStyle/>
          <a:p>
            <a:pPr marL="0" indent="0" algn="l">
              <a:lnSpc>
                <a:spcPct val="108000"/>
              </a:lnSpc>
              <a:buNone/>
            </a:pPr>
            <a:r>
              <a:rPr lang="en-US" sz="1200" b="1" dirty="0">
                <a:solidFill>
                  <a:srgbClr val="12263F"/>
                </a:solidFill>
                <a:latin typeface="Calibri" pitchFamily="34" charset="0"/>
                <a:ea typeface="Calibri" pitchFamily="34" charset="-122"/>
                <a:cs typeface="Calibri" pitchFamily="34" charset="-120"/>
              </a:rPr>
              <a:t>De la résilience sans surcoût</a:t>
            </a:r>
            <a:endParaRPr lang="en-US" sz="1200" dirty="0"/>
          </a:p>
        </p:txBody>
      </p:sp>
      <p:sp>
        <p:nvSpPr>
          <p:cNvPr id="22" name="Shape 20"/>
          <p:cNvSpPr/>
          <p:nvPr/>
        </p:nvSpPr>
        <p:spPr>
          <a:xfrm>
            <a:off x="292608" y="2688336"/>
            <a:ext cx="3566160" cy="548640"/>
          </a:xfrm>
          <a:prstGeom prst="rect">
            <a:avLst/>
          </a:prstGeom>
          <a:solidFill>
            <a:srgbClr val="FFFFFF"/>
          </a:solidFill>
          <a:ln w="12700">
            <a:solidFill>
              <a:srgbClr val="6B3FD4"/>
            </a:solidFill>
            <a:prstDash val="solid"/>
          </a:ln>
        </p:spPr>
        <p:txBody>
          <a:bodyPr/>
          <a:lstStyle/>
          <a:p>
            <a:endParaRPr lang="fr-FR"/>
          </a:p>
        </p:txBody>
      </p:sp>
      <p:sp>
        <p:nvSpPr>
          <p:cNvPr id="23" name="Shape 21"/>
          <p:cNvSpPr/>
          <p:nvPr/>
        </p:nvSpPr>
        <p:spPr>
          <a:xfrm>
            <a:off x="292608" y="2688336"/>
            <a:ext cx="45720" cy="548640"/>
          </a:xfrm>
          <a:prstGeom prst="rect">
            <a:avLst/>
          </a:prstGeom>
          <a:solidFill>
            <a:srgbClr val="6B3FD4"/>
          </a:solidFill>
          <a:ln/>
        </p:spPr>
        <p:txBody>
          <a:bodyPr/>
          <a:lstStyle/>
          <a:p>
            <a:endParaRPr lang="fr-FR"/>
          </a:p>
        </p:txBody>
      </p:sp>
      <p:sp>
        <p:nvSpPr>
          <p:cNvPr id="24" name="Text 22"/>
          <p:cNvSpPr/>
          <p:nvPr/>
        </p:nvSpPr>
        <p:spPr>
          <a:xfrm>
            <a:off x="457200" y="2743200"/>
            <a:ext cx="3291840" cy="146304"/>
          </a:xfrm>
          <a:prstGeom prst="rect">
            <a:avLst/>
          </a:prstGeom>
          <a:noFill/>
          <a:ln/>
        </p:spPr>
        <p:txBody>
          <a:bodyPr wrap="square" lIns="0" tIns="0" rIns="0" bIns="0" rtlCol="0" anchor="t"/>
          <a:lstStyle/>
          <a:p>
            <a:pPr marL="0" indent="0" algn="l">
              <a:lnSpc>
                <a:spcPct val="108000"/>
              </a:lnSpc>
              <a:buNone/>
            </a:pPr>
            <a:r>
              <a:rPr lang="en-US" sz="700" b="1" dirty="0">
                <a:solidFill>
                  <a:srgbClr val="6B3FD4"/>
                </a:solidFill>
                <a:latin typeface="Calibri" pitchFamily="34" charset="0"/>
                <a:ea typeface="Calibri" pitchFamily="34" charset="-122"/>
                <a:cs typeface="Calibri" pitchFamily="34" charset="-120"/>
              </a:rPr>
              <a:t>HYPOTHÈSE 3</a:t>
            </a:r>
            <a:endParaRPr lang="en-US" sz="700" dirty="0"/>
          </a:p>
        </p:txBody>
      </p:sp>
      <p:sp>
        <p:nvSpPr>
          <p:cNvPr id="25" name="Text 23"/>
          <p:cNvSpPr/>
          <p:nvPr/>
        </p:nvSpPr>
        <p:spPr>
          <a:xfrm>
            <a:off x="457200" y="2907792"/>
            <a:ext cx="3291840" cy="274320"/>
          </a:xfrm>
          <a:prstGeom prst="rect">
            <a:avLst/>
          </a:prstGeom>
          <a:noFill/>
          <a:ln/>
        </p:spPr>
        <p:txBody>
          <a:bodyPr wrap="square" lIns="0" tIns="0" rIns="0" bIns="0" rtlCol="0" anchor="t"/>
          <a:lstStyle/>
          <a:p>
            <a:pPr marL="0" indent="0" algn="l">
              <a:lnSpc>
                <a:spcPct val="108000"/>
              </a:lnSpc>
              <a:buNone/>
            </a:pPr>
            <a:r>
              <a:rPr lang="en-US" sz="1200" b="1" dirty="0">
                <a:solidFill>
                  <a:srgbClr val="12263F"/>
                </a:solidFill>
                <a:latin typeface="Calibri" pitchFamily="34" charset="0"/>
                <a:ea typeface="Calibri" pitchFamily="34" charset="-122"/>
                <a:cs typeface="Calibri" pitchFamily="34" charset="-120"/>
              </a:rPr>
              <a:t>Observer en continu</a:t>
            </a:r>
            <a:endParaRPr lang="en-US" sz="1200" dirty="0"/>
          </a:p>
        </p:txBody>
      </p:sp>
      <p:sp>
        <p:nvSpPr>
          <p:cNvPr id="26" name="Shape 24"/>
          <p:cNvSpPr/>
          <p:nvPr/>
        </p:nvSpPr>
        <p:spPr>
          <a:xfrm>
            <a:off x="3950208" y="2962656"/>
            <a:ext cx="384048" cy="0"/>
          </a:xfrm>
          <a:prstGeom prst="line">
            <a:avLst/>
          </a:prstGeom>
          <a:noFill/>
          <a:ln w="22225">
            <a:solidFill>
              <a:srgbClr val="8FA6BC"/>
            </a:solidFill>
            <a:prstDash val="solid"/>
            <a:tailEnd type="triangle"/>
          </a:ln>
        </p:spPr>
        <p:txBody>
          <a:bodyPr/>
          <a:lstStyle/>
          <a:p>
            <a:endParaRPr lang="fr-FR"/>
          </a:p>
        </p:txBody>
      </p:sp>
      <p:sp>
        <p:nvSpPr>
          <p:cNvPr id="27" name="Shape 25"/>
          <p:cNvSpPr/>
          <p:nvPr/>
        </p:nvSpPr>
        <p:spPr>
          <a:xfrm>
            <a:off x="4443984" y="2688336"/>
            <a:ext cx="4407408" cy="548640"/>
          </a:xfrm>
          <a:prstGeom prst="rect">
            <a:avLst/>
          </a:prstGeom>
          <a:solidFill>
            <a:srgbClr val="F4F7FA"/>
          </a:solidFill>
          <a:ln w="12700">
            <a:solidFill>
              <a:srgbClr val="E2E8EE"/>
            </a:solidFill>
            <a:prstDash val="solid"/>
          </a:ln>
        </p:spPr>
        <p:txBody>
          <a:bodyPr/>
          <a:lstStyle/>
          <a:p>
            <a:endParaRPr lang="fr-FR"/>
          </a:p>
        </p:txBody>
      </p:sp>
      <p:sp>
        <p:nvSpPr>
          <p:cNvPr id="28" name="Text 26"/>
          <p:cNvSpPr/>
          <p:nvPr/>
        </p:nvSpPr>
        <p:spPr>
          <a:xfrm>
            <a:off x="4608576" y="2688336"/>
            <a:ext cx="4078224" cy="548640"/>
          </a:xfrm>
          <a:prstGeom prst="rect">
            <a:avLst/>
          </a:prstGeom>
          <a:noFill/>
          <a:ln/>
        </p:spPr>
        <p:txBody>
          <a:bodyPr wrap="square" lIns="0" tIns="0" rIns="0" bIns="0" rtlCol="0" anchor="ctr"/>
          <a:lstStyle/>
          <a:p>
            <a:pPr marL="0" indent="0" algn="l">
              <a:lnSpc>
                <a:spcPct val="108000"/>
              </a:lnSpc>
              <a:buNone/>
            </a:pPr>
            <a:r>
              <a:rPr lang="en-US" sz="1200" b="1" dirty="0">
                <a:solidFill>
                  <a:srgbClr val="12263F"/>
                </a:solidFill>
                <a:latin typeface="Calibri" pitchFamily="34" charset="0"/>
                <a:ea typeface="Calibri" pitchFamily="34" charset="-122"/>
                <a:cs typeface="Calibri" pitchFamily="34" charset="-120"/>
              </a:rPr>
              <a:t>Une écologie pilotée, pas déclarée</a:t>
            </a:r>
            <a:endParaRPr lang="en-US" sz="1200" dirty="0"/>
          </a:p>
        </p:txBody>
      </p:sp>
      <p:sp>
        <p:nvSpPr>
          <p:cNvPr id="29" name="Shape 27"/>
          <p:cNvSpPr/>
          <p:nvPr/>
        </p:nvSpPr>
        <p:spPr>
          <a:xfrm>
            <a:off x="292608" y="3383280"/>
            <a:ext cx="8558784" cy="566928"/>
          </a:xfrm>
          <a:prstGeom prst="rect">
            <a:avLst/>
          </a:prstGeom>
          <a:solidFill>
            <a:srgbClr val="FFFFFF"/>
          </a:solidFill>
          <a:ln w="12700">
            <a:solidFill>
              <a:srgbClr val="B03A48"/>
            </a:solidFill>
            <a:prstDash val="solid"/>
          </a:ln>
        </p:spPr>
        <p:txBody>
          <a:bodyPr/>
          <a:lstStyle/>
          <a:p>
            <a:endParaRPr lang="fr-FR"/>
          </a:p>
        </p:txBody>
      </p:sp>
      <p:sp>
        <p:nvSpPr>
          <p:cNvPr id="30" name="Shape 28"/>
          <p:cNvSpPr/>
          <p:nvPr/>
        </p:nvSpPr>
        <p:spPr>
          <a:xfrm>
            <a:off x="292608" y="3383280"/>
            <a:ext cx="45720" cy="566928"/>
          </a:xfrm>
          <a:prstGeom prst="rect">
            <a:avLst/>
          </a:prstGeom>
          <a:solidFill>
            <a:srgbClr val="B03A48"/>
          </a:solidFill>
          <a:ln/>
        </p:spPr>
        <p:txBody>
          <a:bodyPr/>
          <a:lstStyle/>
          <a:p>
            <a:endParaRPr lang="fr-FR"/>
          </a:p>
        </p:txBody>
      </p:sp>
      <p:sp>
        <p:nvSpPr>
          <p:cNvPr id="31" name="Text 29"/>
          <p:cNvSpPr/>
          <p:nvPr/>
        </p:nvSpPr>
        <p:spPr>
          <a:xfrm>
            <a:off x="475488" y="3456432"/>
            <a:ext cx="3657600" cy="164592"/>
          </a:xfrm>
          <a:prstGeom prst="rect">
            <a:avLst/>
          </a:prstGeom>
          <a:noFill/>
          <a:ln/>
        </p:spPr>
        <p:txBody>
          <a:bodyPr wrap="square" lIns="0" tIns="0" rIns="0" bIns="0" rtlCol="0" anchor="t"/>
          <a:lstStyle/>
          <a:p>
            <a:pPr marL="0" indent="0" algn="l">
              <a:lnSpc>
                <a:spcPct val="108000"/>
              </a:lnSpc>
              <a:buNone/>
            </a:pPr>
            <a:r>
              <a:rPr lang="en-US" sz="800" b="1" dirty="0">
                <a:solidFill>
                  <a:srgbClr val="B03A48"/>
                </a:solidFill>
                <a:latin typeface="Calibri" pitchFamily="34" charset="0"/>
                <a:ea typeface="Calibri" pitchFamily="34" charset="-122"/>
                <a:cs typeface="Calibri" pitchFamily="34" charset="-120"/>
              </a:rPr>
              <a:t>CE QUE ÇA CHANGE POUR LA SÉCURITÉ</a:t>
            </a:r>
            <a:endParaRPr lang="en-US" sz="800" dirty="0"/>
          </a:p>
        </p:txBody>
      </p:sp>
      <p:sp>
        <p:nvSpPr>
          <p:cNvPr id="32" name="Text 30"/>
          <p:cNvSpPr/>
          <p:nvPr/>
        </p:nvSpPr>
        <p:spPr>
          <a:xfrm>
            <a:off x="475488" y="3639312"/>
            <a:ext cx="8229600" cy="237744"/>
          </a:xfrm>
          <a:prstGeom prst="rect">
            <a:avLst/>
          </a:prstGeom>
          <a:noFill/>
          <a:ln/>
        </p:spPr>
        <p:txBody>
          <a:bodyPr wrap="square" lIns="0" tIns="0" rIns="0" bIns="0" rtlCol="0" anchor="t"/>
          <a:lstStyle/>
          <a:p>
            <a:pPr marL="0" indent="0" algn="l">
              <a:lnSpc>
                <a:spcPct val="108000"/>
              </a:lnSpc>
              <a:buNone/>
            </a:pPr>
            <a:r>
              <a:rPr lang="en-US" sz="1050" dirty="0">
                <a:solidFill>
                  <a:srgbClr val="4A5769"/>
                </a:solidFill>
                <a:latin typeface="Calibri" pitchFamily="34" charset="0"/>
                <a:ea typeface="Calibri" pitchFamily="34" charset="-122"/>
                <a:cs typeface="Calibri" pitchFamily="34" charset="-120"/>
              </a:rPr>
              <a:t>Moins de portes d'entrée · aucune dérive de configuration · on voit les incidents arriver · conformité prouvable</a:t>
            </a:r>
            <a:endParaRPr lang="en-US" sz="1050" dirty="0"/>
          </a:p>
        </p:txBody>
      </p:sp>
      <p:sp>
        <p:nvSpPr>
          <p:cNvPr id="33" name="Shape 31"/>
          <p:cNvSpPr/>
          <p:nvPr/>
        </p:nvSpPr>
        <p:spPr>
          <a:xfrm>
            <a:off x="292608" y="4224528"/>
            <a:ext cx="8558784" cy="475488"/>
          </a:xfrm>
          <a:prstGeom prst="rect">
            <a:avLst/>
          </a:prstGeom>
          <a:solidFill>
            <a:srgbClr val="12263F"/>
          </a:solidFill>
          <a:ln/>
        </p:spPr>
        <p:txBody>
          <a:bodyPr/>
          <a:lstStyle/>
          <a:p>
            <a:endParaRPr lang="fr-FR"/>
          </a:p>
        </p:txBody>
      </p:sp>
      <p:sp>
        <p:nvSpPr>
          <p:cNvPr id="34" name="Shape 32"/>
          <p:cNvSpPr/>
          <p:nvPr/>
        </p:nvSpPr>
        <p:spPr>
          <a:xfrm>
            <a:off x="292608" y="4224528"/>
            <a:ext cx="45720" cy="475488"/>
          </a:xfrm>
          <a:prstGeom prst="rect">
            <a:avLst/>
          </a:prstGeom>
          <a:solidFill>
            <a:srgbClr val="E08A3C"/>
          </a:solidFill>
          <a:ln/>
        </p:spPr>
        <p:txBody>
          <a:bodyPr/>
          <a:lstStyle/>
          <a:p>
            <a:endParaRPr lang="fr-FR"/>
          </a:p>
        </p:txBody>
      </p:sp>
      <p:sp>
        <p:nvSpPr>
          <p:cNvPr id="35" name="Text 33"/>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Les trois hypothèses sont confrontées aux résultats mesurés en section 7. Les trois sont confirmées.</a:t>
            </a:r>
            <a:endParaRPr lang="en-US" sz="1150" dirty="0"/>
          </a:p>
        </p:txBody>
      </p:sp>
      <p:sp>
        <p:nvSpPr>
          <p:cNvPr id="36" name="Text 34"/>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2.5 - Résultats Attendus</a:t>
            </a:r>
            <a:endParaRPr lang="en-US" sz="750" dirty="0"/>
          </a:p>
        </p:txBody>
      </p:sp>
      <p:sp>
        <p:nvSpPr>
          <p:cNvPr id="37" name="Text 35"/>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3. Analyse du Système Informatique</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9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3.1 - Architecture et Configuration du Système</a:t>
            </a:r>
            <a:endParaRPr lang="en-US" sz="2200" dirty="0"/>
          </a:p>
        </p:txBody>
      </p:sp>
      <p:sp>
        <p:nvSpPr>
          <p:cNvPr id="7" name="Shape 5"/>
          <p:cNvSpPr/>
          <p:nvPr/>
        </p:nvSpPr>
        <p:spPr>
          <a:xfrm>
            <a:off x="292608" y="1335024"/>
            <a:ext cx="786384" cy="640080"/>
          </a:xfrm>
          <a:prstGeom prst="rect">
            <a:avLst/>
          </a:prstGeom>
          <a:solidFill>
            <a:srgbClr val="E08A3C"/>
          </a:solidFill>
          <a:ln/>
        </p:spPr>
        <p:txBody>
          <a:bodyPr/>
          <a:lstStyle/>
          <a:p>
            <a:endParaRPr lang="fr-FR"/>
          </a:p>
        </p:txBody>
      </p:sp>
      <p:sp>
        <p:nvSpPr>
          <p:cNvPr id="8" name="Text 6"/>
          <p:cNvSpPr/>
          <p:nvPr/>
        </p:nvSpPr>
        <p:spPr>
          <a:xfrm>
            <a:off x="292608" y="1399032"/>
            <a:ext cx="786384" cy="182880"/>
          </a:xfrm>
          <a:prstGeom prst="rect">
            <a:avLst/>
          </a:prstGeom>
          <a:noFill/>
          <a:ln/>
        </p:spPr>
        <p:txBody>
          <a:bodyPr wrap="square" lIns="0" tIns="0" rIns="0" bIns="0" rtlCol="0" anchor="ctr"/>
          <a:lstStyle/>
          <a:p>
            <a:pPr marL="0" indent="0" algn="ctr">
              <a:lnSpc>
                <a:spcPct val="106000"/>
              </a:lnSpc>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292608" y="1600200"/>
            <a:ext cx="786384" cy="128016"/>
          </a:xfrm>
          <a:prstGeom prst="rect">
            <a:avLst/>
          </a:prstGeom>
          <a:noFill/>
          <a:ln/>
        </p:spPr>
        <p:txBody>
          <a:bodyPr wrap="square" lIns="0" tIns="0" rIns="0" bIns="0" rtlCol="0" anchor="ctr"/>
          <a:lstStyle/>
          <a:p>
            <a:pPr marL="0" indent="0" algn="ctr">
              <a:lnSpc>
                <a:spcPct val="106000"/>
              </a:lnSpc>
              <a:buNone/>
            </a:pPr>
            <a:r>
              <a:rPr lang="en-US" sz="560" b="1" dirty="0">
                <a:solidFill>
                  <a:srgbClr val="FFFFFF"/>
                </a:solidFill>
                <a:latin typeface="Calibri" pitchFamily="34" charset="0"/>
                <a:ea typeface="Calibri" pitchFamily="34" charset="-122"/>
                <a:cs typeface="Calibri" pitchFamily="34" charset="-120"/>
              </a:rPr>
              <a:t>MÉTIER</a:t>
            </a:r>
            <a:endParaRPr lang="en-US" sz="560" dirty="0"/>
          </a:p>
        </p:txBody>
      </p:sp>
      <p:sp>
        <p:nvSpPr>
          <p:cNvPr id="10" name="Text 8"/>
          <p:cNvSpPr/>
          <p:nvPr/>
        </p:nvSpPr>
        <p:spPr>
          <a:xfrm>
            <a:off x="292608" y="1737360"/>
            <a:ext cx="786384" cy="182880"/>
          </a:xfrm>
          <a:prstGeom prst="rect">
            <a:avLst/>
          </a:prstGeom>
          <a:noFill/>
          <a:ln/>
        </p:spPr>
        <p:txBody>
          <a:bodyPr wrap="square" lIns="0" tIns="0" rIns="0" bIns="0" rtlCol="0" anchor="ctr"/>
          <a:lstStyle/>
          <a:p>
            <a:pPr marL="0" indent="0" algn="ctr">
              <a:lnSpc>
                <a:spcPct val="106000"/>
              </a:lnSpc>
              <a:buNone/>
            </a:pPr>
            <a:r>
              <a:rPr lang="en-US" sz="480" dirty="0">
                <a:solidFill>
                  <a:srgbClr val="FFFFFF"/>
                </a:solidFill>
                <a:latin typeface="Calibri" pitchFamily="34" charset="0"/>
                <a:ea typeface="Calibri" pitchFamily="34" charset="-122"/>
                <a:cs typeface="Calibri" pitchFamily="34" charset="-120"/>
              </a:rPr>
              <a:t>processus et acteurs</a:t>
            </a:r>
            <a:endParaRPr lang="en-US" sz="480" dirty="0"/>
          </a:p>
        </p:txBody>
      </p:sp>
      <p:sp>
        <p:nvSpPr>
          <p:cNvPr id="11" name="Shape 9"/>
          <p:cNvSpPr/>
          <p:nvPr/>
        </p:nvSpPr>
        <p:spPr>
          <a:xfrm>
            <a:off x="1152144" y="1335024"/>
            <a:ext cx="1052866" cy="640080"/>
          </a:xfrm>
          <a:prstGeom prst="rect">
            <a:avLst/>
          </a:prstGeom>
          <a:solidFill>
            <a:srgbClr val="FFFFFF"/>
          </a:solidFill>
          <a:ln w="9525">
            <a:solidFill>
              <a:srgbClr val="E08A3C"/>
            </a:solidFill>
            <a:prstDash val="solid"/>
          </a:ln>
        </p:spPr>
        <p:txBody>
          <a:bodyPr/>
          <a:lstStyle/>
          <a:p>
            <a:endParaRPr lang="fr-FR"/>
          </a:p>
        </p:txBody>
      </p:sp>
      <p:sp>
        <p:nvSpPr>
          <p:cNvPr id="12" name="Text 10"/>
          <p:cNvSpPr/>
          <p:nvPr/>
        </p:nvSpPr>
        <p:spPr>
          <a:xfrm>
            <a:off x="1216152" y="1399032"/>
            <a:ext cx="924850"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Découvrir</a:t>
            </a:r>
            <a:endParaRPr lang="en-US" sz="660" dirty="0"/>
          </a:p>
        </p:txBody>
      </p:sp>
      <p:sp>
        <p:nvSpPr>
          <p:cNvPr id="13" name="Text 11"/>
          <p:cNvSpPr/>
          <p:nvPr/>
        </p:nvSpPr>
        <p:spPr>
          <a:xfrm>
            <a:off x="1216152" y="1563624"/>
            <a:ext cx="924850"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visiteur, sans compte</a:t>
            </a:r>
            <a:endParaRPr lang="en-US" sz="560" dirty="0"/>
          </a:p>
        </p:txBody>
      </p:sp>
      <p:sp>
        <p:nvSpPr>
          <p:cNvPr id="14" name="Shape 12"/>
          <p:cNvSpPr/>
          <p:nvPr/>
        </p:nvSpPr>
        <p:spPr>
          <a:xfrm>
            <a:off x="2259874" y="1335024"/>
            <a:ext cx="1052866" cy="640080"/>
          </a:xfrm>
          <a:prstGeom prst="rect">
            <a:avLst/>
          </a:prstGeom>
          <a:solidFill>
            <a:srgbClr val="FFFFFF"/>
          </a:solidFill>
          <a:ln w="9525">
            <a:solidFill>
              <a:srgbClr val="E08A3C"/>
            </a:solidFill>
            <a:prstDash val="solid"/>
          </a:ln>
        </p:spPr>
        <p:txBody>
          <a:bodyPr/>
          <a:lstStyle/>
          <a:p>
            <a:endParaRPr lang="fr-FR"/>
          </a:p>
        </p:txBody>
      </p:sp>
      <p:sp>
        <p:nvSpPr>
          <p:cNvPr id="15" name="Text 13"/>
          <p:cNvSpPr/>
          <p:nvPr/>
        </p:nvSpPr>
        <p:spPr>
          <a:xfrm>
            <a:off x="2323882" y="1399032"/>
            <a:ext cx="924850"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S'inscrire</a:t>
            </a:r>
            <a:endParaRPr lang="en-US" sz="660" dirty="0"/>
          </a:p>
        </p:txBody>
      </p:sp>
      <p:sp>
        <p:nvSpPr>
          <p:cNvPr id="16" name="Text 14"/>
          <p:cNvSpPr/>
          <p:nvPr/>
        </p:nvSpPr>
        <p:spPr>
          <a:xfrm>
            <a:off x="2323882" y="1563624"/>
            <a:ext cx="924850"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nouveau membre</a:t>
            </a:r>
            <a:endParaRPr lang="en-US" sz="560" dirty="0"/>
          </a:p>
        </p:txBody>
      </p:sp>
      <p:sp>
        <p:nvSpPr>
          <p:cNvPr id="17" name="Shape 15"/>
          <p:cNvSpPr/>
          <p:nvPr/>
        </p:nvSpPr>
        <p:spPr>
          <a:xfrm>
            <a:off x="3367605" y="1335024"/>
            <a:ext cx="1052866" cy="640080"/>
          </a:xfrm>
          <a:prstGeom prst="rect">
            <a:avLst/>
          </a:prstGeom>
          <a:solidFill>
            <a:srgbClr val="FFFFFF"/>
          </a:solidFill>
          <a:ln w="9525">
            <a:solidFill>
              <a:srgbClr val="E08A3C"/>
            </a:solidFill>
            <a:prstDash val="solid"/>
          </a:ln>
        </p:spPr>
        <p:txBody>
          <a:bodyPr/>
          <a:lstStyle/>
          <a:p>
            <a:endParaRPr lang="fr-FR"/>
          </a:p>
        </p:txBody>
      </p:sp>
      <p:sp>
        <p:nvSpPr>
          <p:cNvPr id="18" name="Text 16"/>
          <p:cNvSpPr/>
          <p:nvPr/>
        </p:nvSpPr>
        <p:spPr>
          <a:xfrm>
            <a:off x="3431613" y="1399032"/>
            <a:ext cx="924850"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Déposer, organiser</a:t>
            </a:r>
            <a:endParaRPr lang="en-US" sz="660" dirty="0"/>
          </a:p>
        </p:txBody>
      </p:sp>
      <p:sp>
        <p:nvSpPr>
          <p:cNvPr id="19" name="Text 17"/>
          <p:cNvSpPr/>
          <p:nvPr/>
        </p:nvSpPr>
        <p:spPr>
          <a:xfrm>
            <a:off x="3431613" y="1563624"/>
            <a:ext cx="924850"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membre</a:t>
            </a:r>
            <a:endParaRPr lang="en-US" sz="560" dirty="0"/>
          </a:p>
        </p:txBody>
      </p:sp>
      <p:sp>
        <p:nvSpPr>
          <p:cNvPr id="20" name="Shape 18"/>
          <p:cNvSpPr/>
          <p:nvPr/>
        </p:nvSpPr>
        <p:spPr>
          <a:xfrm>
            <a:off x="4475335" y="1335024"/>
            <a:ext cx="1052866" cy="640080"/>
          </a:xfrm>
          <a:prstGeom prst="rect">
            <a:avLst/>
          </a:prstGeom>
          <a:solidFill>
            <a:srgbClr val="FFFFFF"/>
          </a:solidFill>
          <a:ln w="9525">
            <a:solidFill>
              <a:srgbClr val="E08A3C"/>
            </a:solidFill>
            <a:prstDash val="solid"/>
          </a:ln>
        </p:spPr>
        <p:txBody>
          <a:bodyPr/>
          <a:lstStyle/>
          <a:p>
            <a:endParaRPr lang="fr-FR"/>
          </a:p>
        </p:txBody>
      </p:sp>
      <p:sp>
        <p:nvSpPr>
          <p:cNvPr id="21" name="Text 19"/>
          <p:cNvSpPr/>
          <p:nvPr/>
        </p:nvSpPr>
        <p:spPr>
          <a:xfrm>
            <a:off x="4539343" y="1399032"/>
            <a:ext cx="924850"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Publier</a:t>
            </a:r>
            <a:endParaRPr lang="en-US" sz="660" dirty="0"/>
          </a:p>
        </p:txBody>
      </p:sp>
      <p:sp>
        <p:nvSpPr>
          <p:cNvPr id="22" name="Text 20"/>
          <p:cNvSpPr/>
          <p:nvPr/>
        </p:nvSpPr>
        <p:spPr>
          <a:xfrm>
            <a:off x="4539343" y="1563624"/>
            <a:ext cx="924850"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membre</a:t>
            </a:r>
            <a:endParaRPr lang="en-US" sz="560" dirty="0"/>
          </a:p>
        </p:txBody>
      </p:sp>
      <p:sp>
        <p:nvSpPr>
          <p:cNvPr id="23" name="Shape 21"/>
          <p:cNvSpPr/>
          <p:nvPr/>
        </p:nvSpPr>
        <p:spPr>
          <a:xfrm>
            <a:off x="5583065" y="1335024"/>
            <a:ext cx="1052866" cy="640080"/>
          </a:xfrm>
          <a:prstGeom prst="rect">
            <a:avLst/>
          </a:prstGeom>
          <a:solidFill>
            <a:srgbClr val="FFFFFF"/>
          </a:solidFill>
          <a:ln w="9525">
            <a:solidFill>
              <a:srgbClr val="E08A3C"/>
            </a:solidFill>
            <a:prstDash val="solid"/>
          </a:ln>
        </p:spPr>
        <p:txBody>
          <a:bodyPr/>
          <a:lstStyle/>
          <a:p>
            <a:endParaRPr lang="fr-FR"/>
          </a:p>
        </p:txBody>
      </p:sp>
      <p:sp>
        <p:nvSpPr>
          <p:cNvPr id="24" name="Text 22"/>
          <p:cNvSpPr/>
          <p:nvPr/>
        </p:nvSpPr>
        <p:spPr>
          <a:xfrm>
            <a:off x="5647073" y="1399032"/>
            <a:ext cx="924850"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Suivre le fil</a:t>
            </a:r>
            <a:endParaRPr lang="en-US" sz="660" dirty="0"/>
          </a:p>
        </p:txBody>
      </p:sp>
      <p:sp>
        <p:nvSpPr>
          <p:cNvPr id="25" name="Text 23"/>
          <p:cNvSpPr/>
          <p:nvPr/>
        </p:nvSpPr>
        <p:spPr>
          <a:xfrm>
            <a:off x="5647073" y="1563624"/>
            <a:ext cx="924850"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membre</a:t>
            </a:r>
            <a:endParaRPr lang="en-US" sz="560" dirty="0"/>
          </a:p>
        </p:txBody>
      </p:sp>
      <p:sp>
        <p:nvSpPr>
          <p:cNvPr id="26" name="Shape 24"/>
          <p:cNvSpPr/>
          <p:nvPr/>
        </p:nvSpPr>
        <p:spPr>
          <a:xfrm>
            <a:off x="6690795" y="1335024"/>
            <a:ext cx="1052866" cy="640080"/>
          </a:xfrm>
          <a:prstGeom prst="rect">
            <a:avLst/>
          </a:prstGeom>
          <a:solidFill>
            <a:srgbClr val="FFFFFF"/>
          </a:solidFill>
          <a:ln w="9525">
            <a:solidFill>
              <a:srgbClr val="E08A3C"/>
            </a:solidFill>
            <a:prstDash val="solid"/>
          </a:ln>
        </p:spPr>
        <p:txBody>
          <a:bodyPr/>
          <a:lstStyle/>
          <a:p>
            <a:endParaRPr lang="fr-FR"/>
          </a:p>
        </p:txBody>
      </p:sp>
      <p:sp>
        <p:nvSpPr>
          <p:cNvPr id="27" name="Text 25"/>
          <p:cNvSpPr/>
          <p:nvPr/>
        </p:nvSpPr>
        <p:spPr>
          <a:xfrm>
            <a:off x="6754803" y="1399032"/>
            <a:ext cx="924850"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Gérer son compte</a:t>
            </a:r>
            <a:endParaRPr lang="en-US" sz="660" dirty="0"/>
          </a:p>
        </p:txBody>
      </p:sp>
      <p:sp>
        <p:nvSpPr>
          <p:cNvPr id="28" name="Text 26"/>
          <p:cNvSpPr/>
          <p:nvPr/>
        </p:nvSpPr>
        <p:spPr>
          <a:xfrm>
            <a:off x="6754803" y="1563624"/>
            <a:ext cx="924850"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membre</a:t>
            </a:r>
            <a:endParaRPr lang="en-US" sz="560" dirty="0"/>
          </a:p>
        </p:txBody>
      </p:sp>
      <p:sp>
        <p:nvSpPr>
          <p:cNvPr id="29" name="Shape 27"/>
          <p:cNvSpPr/>
          <p:nvPr/>
        </p:nvSpPr>
        <p:spPr>
          <a:xfrm>
            <a:off x="7798526" y="1335024"/>
            <a:ext cx="1052866" cy="640080"/>
          </a:xfrm>
          <a:prstGeom prst="rect">
            <a:avLst/>
          </a:prstGeom>
          <a:solidFill>
            <a:srgbClr val="FFFFFF"/>
          </a:solidFill>
          <a:ln w="9525">
            <a:solidFill>
              <a:srgbClr val="E08A3C"/>
            </a:solidFill>
            <a:prstDash val="solid"/>
          </a:ln>
        </p:spPr>
        <p:txBody>
          <a:bodyPr/>
          <a:lstStyle/>
          <a:p>
            <a:endParaRPr lang="fr-FR"/>
          </a:p>
        </p:txBody>
      </p:sp>
      <p:sp>
        <p:nvSpPr>
          <p:cNvPr id="30" name="Text 28"/>
          <p:cNvSpPr/>
          <p:nvPr/>
        </p:nvSpPr>
        <p:spPr>
          <a:xfrm>
            <a:off x="7862534" y="1399032"/>
            <a:ext cx="924850"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Exploiter</a:t>
            </a:r>
            <a:endParaRPr lang="en-US" sz="660" dirty="0"/>
          </a:p>
        </p:txBody>
      </p:sp>
      <p:sp>
        <p:nvSpPr>
          <p:cNvPr id="31" name="Text 29"/>
          <p:cNvSpPr/>
          <p:nvPr/>
        </p:nvSpPr>
        <p:spPr>
          <a:xfrm>
            <a:off x="7862534" y="1563624"/>
            <a:ext cx="924850"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équipe technique</a:t>
            </a:r>
            <a:endParaRPr lang="en-US" sz="560" dirty="0"/>
          </a:p>
        </p:txBody>
      </p:sp>
      <p:sp>
        <p:nvSpPr>
          <p:cNvPr id="32" name="Shape 30"/>
          <p:cNvSpPr/>
          <p:nvPr/>
        </p:nvSpPr>
        <p:spPr>
          <a:xfrm>
            <a:off x="292608" y="2029968"/>
            <a:ext cx="786384" cy="640080"/>
          </a:xfrm>
          <a:prstGeom prst="rect">
            <a:avLst/>
          </a:prstGeom>
          <a:solidFill>
            <a:srgbClr val="12855A"/>
          </a:solidFill>
          <a:ln/>
        </p:spPr>
        <p:txBody>
          <a:bodyPr/>
          <a:lstStyle/>
          <a:p>
            <a:endParaRPr lang="fr-FR"/>
          </a:p>
        </p:txBody>
      </p:sp>
      <p:sp>
        <p:nvSpPr>
          <p:cNvPr id="33" name="Text 31"/>
          <p:cNvSpPr/>
          <p:nvPr/>
        </p:nvSpPr>
        <p:spPr>
          <a:xfrm>
            <a:off x="292608" y="2093976"/>
            <a:ext cx="786384" cy="182880"/>
          </a:xfrm>
          <a:prstGeom prst="rect">
            <a:avLst/>
          </a:prstGeom>
          <a:noFill/>
          <a:ln/>
        </p:spPr>
        <p:txBody>
          <a:bodyPr wrap="square" lIns="0" tIns="0" rIns="0" bIns="0" rtlCol="0" anchor="ctr"/>
          <a:lstStyle/>
          <a:p>
            <a:pPr marL="0" indent="0" algn="ctr">
              <a:lnSpc>
                <a:spcPct val="106000"/>
              </a:lnSpc>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4" name="Text 32"/>
          <p:cNvSpPr/>
          <p:nvPr/>
        </p:nvSpPr>
        <p:spPr>
          <a:xfrm>
            <a:off x="292608" y="2295144"/>
            <a:ext cx="786384" cy="128016"/>
          </a:xfrm>
          <a:prstGeom prst="rect">
            <a:avLst/>
          </a:prstGeom>
          <a:noFill/>
          <a:ln/>
        </p:spPr>
        <p:txBody>
          <a:bodyPr wrap="square" lIns="0" tIns="0" rIns="0" bIns="0" rtlCol="0" anchor="ctr"/>
          <a:lstStyle/>
          <a:p>
            <a:pPr marL="0" indent="0" algn="ctr">
              <a:lnSpc>
                <a:spcPct val="106000"/>
              </a:lnSpc>
              <a:buNone/>
            </a:pPr>
            <a:r>
              <a:rPr lang="en-US" sz="560" b="1" dirty="0">
                <a:solidFill>
                  <a:srgbClr val="FFFFFF"/>
                </a:solidFill>
                <a:latin typeface="Calibri" pitchFamily="34" charset="0"/>
                <a:ea typeface="Calibri" pitchFamily="34" charset="-122"/>
                <a:cs typeface="Calibri" pitchFamily="34" charset="-120"/>
              </a:rPr>
              <a:t>FONCTIONNEL</a:t>
            </a:r>
            <a:endParaRPr lang="en-US" sz="560" dirty="0"/>
          </a:p>
        </p:txBody>
      </p:sp>
      <p:sp>
        <p:nvSpPr>
          <p:cNvPr id="35" name="Text 33"/>
          <p:cNvSpPr/>
          <p:nvPr/>
        </p:nvSpPr>
        <p:spPr>
          <a:xfrm>
            <a:off x="292608" y="2432304"/>
            <a:ext cx="786384" cy="182880"/>
          </a:xfrm>
          <a:prstGeom prst="rect">
            <a:avLst/>
          </a:prstGeom>
          <a:noFill/>
          <a:ln/>
        </p:spPr>
        <p:txBody>
          <a:bodyPr wrap="square" lIns="0" tIns="0" rIns="0" bIns="0" rtlCol="0" anchor="ctr"/>
          <a:lstStyle/>
          <a:p>
            <a:pPr marL="0" indent="0" algn="ctr">
              <a:lnSpc>
                <a:spcPct val="106000"/>
              </a:lnSpc>
              <a:buNone/>
            </a:pPr>
            <a:r>
              <a:rPr lang="en-US" sz="480" dirty="0">
                <a:solidFill>
                  <a:srgbClr val="FFFFFF"/>
                </a:solidFill>
                <a:latin typeface="Calibri" pitchFamily="34" charset="0"/>
                <a:ea typeface="Calibri" pitchFamily="34" charset="-122"/>
                <a:cs typeface="Calibri" pitchFamily="34" charset="-120"/>
              </a:rPr>
              <a:t>blocs de fonctions</a:t>
            </a:r>
            <a:endParaRPr lang="en-US" sz="480" dirty="0"/>
          </a:p>
        </p:txBody>
      </p:sp>
      <p:sp>
        <p:nvSpPr>
          <p:cNvPr id="36" name="Shape 34"/>
          <p:cNvSpPr/>
          <p:nvPr/>
        </p:nvSpPr>
        <p:spPr>
          <a:xfrm>
            <a:off x="1152144" y="2029968"/>
            <a:ext cx="1052866" cy="640080"/>
          </a:xfrm>
          <a:prstGeom prst="rect">
            <a:avLst/>
          </a:prstGeom>
          <a:solidFill>
            <a:srgbClr val="FFFFFF"/>
          </a:solidFill>
          <a:ln w="9525">
            <a:solidFill>
              <a:srgbClr val="12855A"/>
            </a:solidFill>
            <a:prstDash val="solid"/>
          </a:ln>
        </p:spPr>
        <p:txBody>
          <a:bodyPr/>
          <a:lstStyle/>
          <a:p>
            <a:endParaRPr lang="fr-FR"/>
          </a:p>
        </p:txBody>
      </p:sp>
      <p:sp>
        <p:nvSpPr>
          <p:cNvPr id="37" name="Text 35"/>
          <p:cNvSpPr/>
          <p:nvPr/>
        </p:nvSpPr>
        <p:spPr>
          <a:xfrm>
            <a:off x="1216152" y="2093976"/>
            <a:ext cx="924850"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Diffusion publique</a:t>
            </a:r>
            <a:endParaRPr lang="en-US" sz="660" dirty="0"/>
          </a:p>
        </p:txBody>
      </p:sp>
      <p:sp>
        <p:nvSpPr>
          <p:cNvPr id="38" name="Text 36"/>
          <p:cNvSpPr/>
          <p:nvPr/>
        </p:nvSpPr>
        <p:spPr>
          <a:xfrm>
            <a:off x="1216152" y="2258568"/>
            <a:ext cx="924850"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pages, galerie, profils, recherche</a:t>
            </a:r>
            <a:endParaRPr lang="en-US" sz="560" dirty="0"/>
          </a:p>
        </p:txBody>
      </p:sp>
      <p:sp>
        <p:nvSpPr>
          <p:cNvPr id="39" name="Shape 37"/>
          <p:cNvSpPr/>
          <p:nvPr/>
        </p:nvSpPr>
        <p:spPr>
          <a:xfrm>
            <a:off x="2259874" y="2029968"/>
            <a:ext cx="1052866" cy="640080"/>
          </a:xfrm>
          <a:prstGeom prst="rect">
            <a:avLst/>
          </a:prstGeom>
          <a:solidFill>
            <a:srgbClr val="FFFFFF"/>
          </a:solidFill>
          <a:ln w="9525">
            <a:solidFill>
              <a:srgbClr val="12855A"/>
            </a:solidFill>
            <a:prstDash val="solid"/>
          </a:ln>
        </p:spPr>
        <p:txBody>
          <a:bodyPr/>
          <a:lstStyle/>
          <a:p>
            <a:endParaRPr lang="fr-FR"/>
          </a:p>
        </p:txBody>
      </p:sp>
      <p:sp>
        <p:nvSpPr>
          <p:cNvPr id="40" name="Text 38"/>
          <p:cNvSpPr/>
          <p:nvPr/>
        </p:nvSpPr>
        <p:spPr>
          <a:xfrm>
            <a:off x="2323882" y="2093976"/>
            <a:ext cx="924850"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Identité et accès</a:t>
            </a:r>
            <a:endParaRPr lang="en-US" sz="660" dirty="0"/>
          </a:p>
        </p:txBody>
      </p:sp>
      <p:sp>
        <p:nvSpPr>
          <p:cNvPr id="41" name="Text 39"/>
          <p:cNvSpPr/>
          <p:nvPr/>
        </p:nvSpPr>
        <p:spPr>
          <a:xfrm>
            <a:off x="2323882" y="2258568"/>
            <a:ext cx="924850"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inscription, session, rotation</a:t>
            </a:r>
            <a:endParaRPr lang="en-US" sz="560" dirty="0"/>
          </a:p>
        </p:txBody>
      </p:sp>
      <p:sp>
        <p:nvSpPr>
          <p:cNvPr id="42" name="Shape 40"/>
          <p:cNvSpPr/>
          <p:nvPr/>
        </p:nvSpPr>
        <p:spPr>
          <a:xfrm>
            <a:off x="3367605" y="2029968"/>
            <a:ext cx="1052866" cy="640080"/>
          </a:xfrm>
          <a:prstGeom prst="rect">
            <a:avLst/>
          </a:prstGeom>
          <a:solidFill>
            <a:srgbClr val="FFFFFF"/>
          </a:solidFill>
          <a:ln w="9525">
            <a:solidFill>
              <a:srgbClr val="12855A"/>
            </a:solidFill>
            <a:prstDash val="solid"/>
          </a:ln>
        </p:spPr>
        <p:txBody>
          <a:bodyPr/>
          <a:lstStyle/>
          <a:p>
            <a:endParaRPr lang="fr-FR"/>
          </a:p>
        </p:txBody>
      </p:sp>
      <p:sp>
        <p:nvSpPr>
          <p:cNvPr id="43" name="Text 41"/>
          <p:cNvSpPr/>
          <p:nvPr/>
        </p:nvSpPr>
        <p:spPr>
          <a:xfrm>
            <a:off x="3431613" y="2093976"/>
            <a:ext cx="924850"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Bibliothèque privée</a:t>
            </a:r>
            <a:endParaRPr lang="en-US" sz="660" dirty="0"/>
          </a:p>
        </p:txBody>
      </p:sp>
      <p:sp>
        <p:nvSpPr>
          <p:cNvPr id="44" name="Text 42"/>
          <p:cNvSpPr/>
          <p:nvPr/>
        </p:nvSpPr>
        <p:spPr>
          <a:xfrm>
            <a:off x="3431613" y="2258568"/>
            <a:ext cx="924850"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dépôt en flux, albums, téléchargement</a:t>
            </a:r>
            <a:endParaRPr lang="en-US" sz="560" dirty="0"/>
          </a:p>
        </p:txBody>
      </p:sp>
      <p:sp>
        <p:nvSpPr>
          <p:cNvPr id="45" name="Shape 43"/>
          <p:cNvSpPr/>
          <p:nvPr/>
        </p:nvSpPr>
        <p:spPr>
          <a:xfrm>
            <a:off x="4475335" y="2029968"/>
            <a:ext cx="1052866" cy="640080"/>
          </a:xfrm>
          <a:prstGeom prst="rect">
            <a:avLst/>
          </a:prstGeom>
          <a:solidFill>
            <a:srgbClr val="FFFFFF"/>
          </a:solidFill>
          <a:ln w="9525">
            <a:solidFill>
              <a:srgbClr val="12855A"/>
            </a:solidFill>
            <a:prstDash val="solid"/>
          </a:ln>
        </p:spPr>
        <p:txBody>
          <a:bodyPr/>
          <a:lstStyle/>
          <a:p>
            <a:endParaRPr lang="fr-FR"/>
          </a:p>
        </p:txBody>
      </p:sp>
      <p:sp>
        <p:nvSpPr>
          <p:cNvPr id="46" name="Text 44"/>
          <p:cNvSpPr/>
          <p:nvPr/>
        </p:nvSpPr>
        <p:spPr>
          <a:xfrm>
            <a:off x="4539343" y="2093976"/>
            <a:ext cx="924850"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Publication</a:t>
            </a:r>
            <a:endParaRPr lang="en-US" sz="660" dirty="0"/>
          </a:p>
        </p:txBody>
      </p:sp>
      <p:sp>
        <p:nvSpPr>
          <p:cNvPr id="47" name="Text 45"/>
          <p:cNvSpPr/>
          <p:nvPr/>
        </p:nvSpPr>
        <p:spPr>
          <a:xfrm>
            <a:off x="4539343" y="2258568"/>
            <a:ext cx="924850"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mise en vitrine, retrait, avatar</a:t>
            </a:r>
            <a:endParaRPr lang="en-US" sz="560" dirty="0"/>
          </a:p>
        </p:txBody>
      </p:sp>
      <p:sp>
        <p:nvSpPr>
          <p:cNvPr id="48" name="Shape 46"/>
          <p:cNvSpPr/>
          <p:nvPr/>
        </p:nvSpPr>
        <p:spPr>
          <a:xfrm>
            <a:off x="5583065" y="2029968"/>
            <a:ext cx="1052866" cy="640080"/>
          </a:xfrm>
          <a:prstGeom prst="rect">
            <a:avLst/>
          </a:prstGeom>
          <a:solidFill>
            <a:srgbClr val="FFFFFF"/>
          </a:solidFill>
          <a:ln w="9525">
            <a:solidFill>
              <a:srgbClr val="12855A"/>
            </a:solidFill>
            <a:prstDash val="solid"/>
          </a:ln>
        </p:spPr>
        <p:txBody>
          <a:bodyPr/>
          <a:lstStyle/>
          <a:p>
            <a:endParaRPr lang="fr-FR"/>
          </a:p>
        </p:txBody>
      </p:sp>
      <p:sp>
        <p:nvSpPr>
          <p:cNvPr id="49" name="Text 47"/>
          <p:cNvSpPr/>
          <p:nvPr/>
        </p:nvSpPr>
        <p:spPr>
          <a:xfrm>
            <a:off x="5647073" y="2093976"/>
            <a:ext cx="924850"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Social</a:t>
            </a:r>
            <a:endParaRPr lang="en-US" sz="660" dirty="0"/>
          </a:p>
        </p:txBody>
      </p:sp>
      <p:sp>
        <p:nvSpPr>
          <p:cNvPr id="50" name="Text 48"/>
          <p:cNvSpPr/>
          <p:nvPr/>
        </p:nvSpPr>
        <p:spPr>
          <a:xfrm>
            <a:off x="5647073" y="2258568"/>
            <a:ext cx="924850"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abonnements, fil, compteurs</a:t>
            </a:r>
            <a:endParaRPr lang="en-US" sz="560" dirty="0"/>
          </a:p>
        </p:txBody>
      </p:sp>
      <p:sp>
        <p:nvSpPr>
          <p:cNvPr id="51" name="Shape 49"/>
          <p:cNvSpPr/>
          <p:nvPr/>
        </p:nvSpPr>
        <p:spPr>
          <a:xfrm>
            <a:off x="6690795" y="2029968"/>
            <a:ext cx="1052866" cy="640080"/>
          </a:xfrm>
          <a:prstGeom prst="rect">
            <a:avLst/>
          </a:prstGeom>
          <a:solidFill>
            <a:srgbClr val="FFFFFF"/>
          </a:solidFill>
          <a:ln w="9525">
            <a:solidFill>
              <a:srgbClr val="12855A"/>
            </a:solidFill>
            <a:prstDash val="solid"/>
          </a:ln>
        </p:spPr>
        <p:txBody>
          <a:bodyPr/>
          <a:lstStyle/>
          <a:p>
            <a:endParaRPr lang="fr-FR"/>
          </a:p>
        </p:txBody>
      </p:sp>
      <p:sp>
        <p:nvSpPr>
          <p:cNvPr id="52" name="Text 50"/>
          <p:cNvSpPr/>
          <p:nvPr/>
        </p:nvSpPr>
        <p:spPr>
          <a:xfrm>
            <a:off x="6754803" y="2093976"/>
            <a:ext cx="924850"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Paramètres</a:t>
            </a:r>
            <a:endParaRPr lang="en-US" sz="660" dirty="0"/>
          </a:p>
        </p:txBody>
      </p:sp>
      <p:sp>
        <p:nvSpPr>
          <p:cNvPr id="53" name="Text 51"/>
          <p:cNvSpPr/>
          <p:nvPr/>
        </p:nvSpPr>
        <p:spPr>
          <a:xfrm>
            <a:off x="6754803" y="2258568"/>
            <a:ext cx="924850"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identifiant, e-mail, clé d'API</a:t>
            </a:r>
            <a:endParaRPr lang="en-US" sz="560" dirty="0"/>
          </a:p>
        </p:txBody>
      </p:sp>
      <p:sp>
        <p:nvSpPr>
          <p:cNvPr id="54" name="Shape 52"/>
          <p:cNvSpPr/>
          <p:nvPr/>
        </p:nvSpPr>
        <p:spPr>
          <a:xfrm>
            <a:off x="7798526" y="2029968"/>
            <a:ext cx="1052866" cy="640080"/>
          </a:xfrm>
          <a:prstGeom prst="rect">
            <a:avLst/>
          </a:prstGeom>
          <a:solidFill>
            <a:srgbClr val="FFFFFF"/>
          </a:solidFill>
          <a:ln w="9525">
            <a:solidFill>
              <a:srgbClr val="12855A"/>
            </a:solidFill>
            <a:prstDash val="solid"/>
          </a:ln>
        </p:spPr>
        <p:txBody>
          <a:bodyPr/>
          <a:lstStyle/>
          <a:p>
            <a:endParaRPr lang="fr-FR"/>
          </a:p>
        </p:txBody>
      </p:sp>
      <p:sp>
        <p:nvSpPr>
          <p:cNvPr id="55" name="Text 53"/>
          <p:cNvSpPr/>
          <p:nvPr/>
        </p:nvSpPr>
        <p:spPr>
          <a:xfrm>
            <a:off x="7862534" y="2093976"/>
            <a:ext cx="924850"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Pilotage</a:t>
            </a:r>
            <a:endParaRPr lang="en-US" sz="660" dirty="0"/>
          </a:p>
        </p:txBody>
      </p:sp>
      <p:sp>
        <p:nvSpPr>
          <p:cNvPr id="56" name="Text 54"/>
          <p:cNvSpPr/>
          <p:nvPr/>
        </p:nvSpPr>
        <p:spPr>
          <a:xfrm>
            <a:off x="7862534" y="2258568"/>
            <a:ext cx="924850"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métriques, journaux, alertes, énergie</a:t>
            </a:r>
            <a:endParaRPr lang="en-US" sz="560" dirty="0"/>
          </a:p>
        </p:txBody>
      </p:sp>
      <p:sp>
        <p:nvSpPr>
          <p:cNvPr id="57" name="Shape 55"/>
          <p:cNvSpPr/>
          <p:nvPr/>
        </p:nvSpPr>
        <p:spPr>
          <a:xfrm>
            <a:off x="292608" y="2724912"/>
            <a:ext cx="786384" cy="640080"/>
          </a:xfrm>
          <a:prstGeom prst="rect">
            <a:avLst/>
          </a:prstGeom>
          <a:solidFill>
            <a:srgbClr val="1B6EC2"/>
          </a:solidFill>
          <a:ln/>
        </p:spPr>
        <p:txBody>
          <a:bodyPr/>
          <a:lstStyle/>
          <a:p>
            <a:endParaRPr lang="fr-FR"/>
          </a:p>
        </p:txBody>
      </p:sp>
      <p:sp>
        <p:nvSpPr>
          <p:cNvPr id="58" name="Text 56"/>
          <p:cNvSpPr/>
          <p:nvPr/>
        </p:nvSpPr>
        <p:spPr>
          <a:xfrm>
            <a:off x="292608" y="2788920"/>
            <a:ext cx="786384" cy="182880"/>
          </a:xfrm>
          <a:prstGeom prst="rect">
            <a:avLst/>
          </a:prstGeom>
          <a:noFill/>
          <a:ln/>
        </p:spPr>
        <p:txBody>
          <a:bodyPr wrap="square" lIns="0" tIns="0" rIns="0" bIns="0" rtlCol="0" anchor="ctr"/>
          <a:lstStyle/>
          <a:p>
            <a:pPr marL="0" indent="0" algn="ctr">
              <a:lnSpc>
                <a:spcPct val="106000"/>
              </a:lnSpc>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59" name="Text 57"/>
          <p:cNvSpPr/>
          <p:nvPr/>
        </p:nvSpPr>
        <p:spPr>
          <a:xfrm>
            <a:off x="292608" y="2990088"/>
            <a:ext cx="786384" cy="128016"/>
          </a:xfrm>
          <a:prstGeom prst="rect">
            <a:avLst/>
          </a:prstGeom>
          <a:noFill/>
          <a:ln/>
        </p:spPr>
        <p:txBody>
          <a:bodyPr wrap="square" lIns="0" tIns="0" rIns="0" bIns="0" rtlCol="0" anchor="ctr"/>
          <a:lstStyle/>
          <a:p>
            <a:pPr marL="0" indent="0" algn="ctr">
              <a:lnSpc>
                <a:spcPct val="106000"/>
              </a:lnSpc>
              <a:buNone/>
            </a:pPr>
            <a:r>
              <a:rPr lang="en-US" sz="560" b="1" dirty="0">
                <a:solidFill>
                  <a:srgbClr val="FFFFFF"/>
                </a:solidFill>
                <a:latin typeface="Calibri" pitchFamily="34" charset="0"/>
                <a:ea typeface="Calibri" pitchFamily="34" charset="-122"/>
                <a:cs typeface="Calibri" pitchFamily="34" charset="-120"/>
              </a:rPr>
              <a:t>APPLICATIF</a:t>
            </a:r>
            <a:endParaRPr lang="en-US" sz="560" dirty="0"/>
          </a:p>
        </p:txBody>
      </p:sp>
      <p:sp>
        <p:nvSpPr>
          <p:cNvPr id="60" name="Text 58"/>
          <p:cNvSpPr/>
          <p:nvPr/>
        </p:nvSpPr>
        <p:spPr>
          <a:xfrm>
            <a:off x="292608" y="3127248"/>
            <a:ext cx="786384" cy="182880"/>
          </a:xfrm>
          <a:prstGeom prst="rect">
            <a:avLst/>
          </a:prstGeom>
          <a:noFill/>
          <a:ln/>
        </p:spPr>
        <p:txBody>
          <a:bodyPr wrap="square" lIns="0" tIns="0" rIns="0" bIns="0" rtlCol="0" anchor="ctr"/>
          <a:lstStyle/>
          <a:p>
            <a:pPr marL="0" indent="0" algn="ctr">
              <a:lnSpc>
                <a:spcPct val="106000"/>
              </a:lnSpc>
              <a:buNone/>
            </a:pPr>
            <a:r>
              <a:rPr lang="en-US" sz="480" dirty="0">
                <a:solidFill>
                  <a:srgbClr val="FFFFFF"/>
                </a:solidFill>
                <a:latin typeface="Calibri" pitchFamily="34" charset="0"/>
                <a:ea typeface="Calibri" pitchFamily="34" charset="-122"/>
                <a:cs typeface="Calibri" pitchFamily="34" charset="-120"/>
              </a:rPr>
              <a:t>composants logiciels</a:t>
            </a:r>
            <a:endParaRPr lang="en-US" sz="480" dirty="0"/>
          </a:p>
        </p:txBody>
      </p:sp>
      <p:sp>
        <p:nvSpPr>
          <p:cNvPr id="61" name="Shape 59"/>
          <p:cNvSpPr/>
          <p:nvPr/>
        </p:nvSpPr>
        <p:spPr>
          <a:xfrm>
            <a:off x="1152144" y="2724912"/>
            <a:ext cx="1237488" cy="640080"/>
          </a:xfrm>
          <a:prstGeom prst="rect">
            <a:avLst/>
          </a:prstGeom>
          <a:solidFill>
            <a:srgbClr val="FFFFFF"/>
          </a:solidFill>
          <a:ln w="9525">
            <a:solidFill>
              <a:srgbClr val="1B6EC2"/>
            </a:solidFill>
            <a:prstDash val="solid"/>
          </a:ln>
        </p:spPr>
        <p:txBody>
          <a:bodyPr/>
          <a:lstStyle/>
          <a:p>
            <a:endParaRPr lang="fr-FR"/>
          </a:p>
        </p:txBody>
      </p:sp>
      <p:sp>
        <p:nvSpPr>
          <p:cNvPr id="62" name="Text 60"/>
          <p:cNvSpPr/>
          <p:nvPr/>
        </p:nvSpPr>
        <p:spPr>
          <a:xfrm>
            <a:off x="1216152" y="2788920"/>
            <a:ext cx="1109472"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Site vitrine</a:t>
            </a:r>
            <a:endParaRPr lang="en-US" sz="660" dirty="0"/>
          </a:p>
        </p:txBody>
      </p:sp>
      <p:sp>
        <p:nvSpPr>
          <p:cNvPr id="63" name="Text 61"/>
          <p:cNvSpPr/>
          <p:nvPr/>
        </p:nvSpPr>
        <p:spPr>
          <a:xfrm>
            <a:off x="1216152" y="2953512"/>
            <a:ext cx="1109472"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Next.js exporté, S3 + CloudFront</a:t>
            </a:r>
            <a:endParaRPr lang="en-US" sz="560" dirty="0"/>
          </a:p>
        </p:txBody>
      </p:sp>
      <p:sp>
        <p:nvSpPr>
          <p:cNvPr id="64" name="Shape 62"/>
          <p:cNvSpPr/>
          <p:nvPr/>
        </p:nvSpPr>
        <p:spPr>
          <a:xfrm>
            <a:off x="2444496" y="2724912"/>
            <a:ext cx="1237488" cy="640080"/>
          </a:xfrm>
          <a:prstGeom prst="rect">
            <a:avLst/>
          </a:prstGeom>
          <a:solidFill>
            <a:srgbClr val="FFFFFF"/>
          </a:solidFill>
          <a:ln w="9525">
            <a:solidFill>
              <a:srgbClr val="1B6EC2"/>
            </a:solidFill>
            <a:prstDash val="solid"/>
          </a:ln>
        </p:spPr>
        <p:txBody>
          <a:bodyPr/>
          <a:lstStyle/>
          <a:p>
            <a:endParaRPr lang="fr-FR"/>
          </a:p>
        </p:txBody>
      </p:sp>
      <p:sp>
        <p:nvSpPr>
          <p:cNvPr id="65" name="Text 63"/>
          <p:cNvSpPr/>
          <p:nvPr/>
        </p:nvSpPr>
        <p:spPr>
          <a:xfrm>
            <a:off x="2508504" y="2788920"/>
            <a:ext cx="1109472"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Front SaaS</a:t>
            </a:r>
            <a:endParaRPr lang="en-US" sz="660" dirty="0"/>
          </a:p>
        </p:txBody>
      </p:sp>
      <p:sp>
        <p:nvSpPr>
          <p:cNvPr id="66" name="Text 64"/>
          <p:cNvSpPr/>
          <p:nvPr/>
        </p:nvSpPr>
        <p:spPr>
          <a:xfrm>
            <a:off x="2508504" y="2953512"/>
            <a:ext cx="1109472"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Next.js, proxy de session serveur</a:t>
            </a:r>
            <a:endParaRPr lang="en-US" sz="560" dirty="0"/>
          </a:p>
        </p:txBody>
      </p:sp>
      <p:sp>
        <p:nvSpPr>
          <p:cNvPr id="67" name="Shape 65"/>
          <p:cNvSpPr/>
          <p:nvPr/>
        </p:nvSpPr>
        <p:spPr>
          <a:xfrm>
            <a:off x="3736848" y="2724912"/>
            <a:ext cx="1237488" cy="640080"/>
          </a:xfrm>
          <a:prstGeom prst="rect">
            <a:avLst/>
          </a:prstGeom>
          <a:solidFill>
            <a:srgbClr val="FFFFFF"/>
          </a:solidFill>
          <a:ln w="9525">
            <a:solidFill>
              <a:srgbClr val="1B6EC2"/>
            </a:solidFill>
            <a:prstDash val="solid"/>
          </a:ln>
        </p:spPr>
        <p:txBody>
          <a:bodyPr/>
          <a:lstStyle/>
          <a:p>
            <a:endParaRPr lang="fr-FR"/>
          </a:p>
        </p:txBody>
      </p:sp>
      <p:sp>
        <p:nvSpPr>
          <p:cNvPr id="68" name="Text 66"/>
          <p:cNvSpPr/>
          <p:nvPr/>
        </p:nvSpPr>
        <p:spPr>
          <a:xfrm>
            <a:off x="3800856" y="2788920"/>
            <a:ext cx="1109472"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API SaaS</a:t>
            </a:r>
            <a:endParaRPr lang="en-US" sz="660" dirty="0"/>
          </a:p>
        </p:txBody>
      </p:sp>
      <p:sp>
        <p:nvSpPr>
          <p:cNvPr id="69" name="Text 67"/>
          <p:cNvSpPr/>
          <p:nvPr/>
        </p:nvSpPr>
        <p:spPr>
          <a:xfrm>
            <a:off x="3800856" y="2953512"/>
            <a:ext cx="1109472"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NestJS, 6 domaines, OpenAPI 3</a:t>
            </a:r>
            <a:endParaRPr lang="en-US" sz="560" dirty="0"/>
          </a:p>
        </p:txBody>
      </p:sp>
      <p:sp>
        <p:nvSpPr>
          <p:cNvPr id="70" name="Shape 68"/>
          <p:cNvSpPr/>
          <p:nvPr/>
        </p:nvSpPr>
        <p:spPr>
          <a:xfrm>
            <a:off x="5029200" y="2724912"/>
            <a:ext cx="1237488" cy="640080"/>
          </a:xfrm>
          <a:prstGeom prst="rect">
            <a:avLst/>
          </a:prstGeom>
          <a:solidFill>
            <a:srgbClr val="FFFFFF"/>
          </a:solidFill>
          <a:ln w="9525">
            <a:solidFill>
              <a:srgbClr val="1B6EC2"/>
            </a:solidFill>
            <a:prstDash val="solid"/>
          </a:ln>
        </p:spPr>
        <p:txBody>
          <a:bodyPr/>
          <a:lstStyle/>
          <a:p>
            <a:endParaRPr lang="fr-FR"/>
          </a:p>
        </p:txBody>
      </p:sp>
      <p:sp>
        <p:nvSpPr>
          <p:cNvPr id="71" name="Text 69"/>
          <p:cNvSpPr/>
          <p:nvPr/>
        </p:nvSpPr>
        <p:spPr>
          <a:xfrm>
            <a:off x="5093208" y="2788920"/>
            <a:ext cx="1109472"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Services métier</a:t>
            </a:r>
            <a:endParaRPr lang="en-US" sz="660" dirty="0"/>
          </a:p>
        </p:txBody>
      </p:sp>
      <p:sp>
        <p:nvSpPr>
          <p:cNvPr id="72" name="Text 70"/>
          <p:cNvSpPr/>
          <p:nvPr/>
        </p:nvSpPr>
        <p:spPr>
          <a:xfrm>
            <a:off x="5093208" y="2953512"/>
            <a:ext cx="1109472"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Auth · Media · Redis</a:t>
            </a:r>
            <a:endParaRPr lang="en-US" sz="560" dirty="0"/>
          </a:p>
        </p:txBody>
      </p:sp>
      <p:sp>
        <p:nvSpPr>
          <p:cNvPr id="73" name="Shape 71"/>
          <p:cNvSpPr/>
          <p:nvPr/>
        </p:nvSpPr>
        <p:spPr>
          <a:xfrm>
            <a:off x="6321552" y="2724912"/>
            <a:ext cx="1237488" cy="640080"/>
          </a:xfrm>
          <a:prstGeom prst="rect">
            <a:avLst/>
          </a:prstGeom>
          <a:solidFill>
            <a:srgbClr val="FFFFFF"/>
          </a:solidFill>
          <a:ln w="9525">
            <a:solidFill>
              <a:srgbClr val="1B6EC2"/>
            </a:solidFill>
            <a:prstDash val="solid"/>
          </a:ln>
        </p:spPr>
        <p:txBody>
          <a:bodyPr/>
          <a:lstStyle/>
          <a:p>
            <a:endParaRPr lang="fr-FR"/>
          </a:p>
        </p:txBody>
      </p:sp>
      <p:sp>
        <p:nvSpPr>
          <p:cNvPr id="74" name="Text 72"/>
          <p:cNvSpPr/>
          <p:nvPr/>
        </p:nvSpPr>
        <p:spPr>
          <a:xfrm>
            <a:off x="6385560" y="2788920"/>
            <a:ext cx="1109472"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Données</a:t>
            </a:r>
            <a:endParaRPr lang="en-US" sz="660" dirty="0"/>
          </a:p>
        </p:txBody>
      </p:sp>
      <p:sp>
        <p:nvSpPr>
          <p:cNvPr id="75" name="Text 73"/>
          <p:cNvSpPr/>
          <p:nvPr/>
        </p:nvSpPr>
        <p:spPr>
          <a:xfrm>
            <a:off x="6385560" y="2953512"/>
            <a:ext cx="1109472"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PostgreSQL + PgBouncer, Redis, S3</a:t>
            </a:r>
            <a:endParaRPr lang="en-US" sz="560" dirty="0"/>
          </a:p>
        </p:txBody>
      </p:sp>
      <p:sp>
        <p:nvSpPr>
          <p:cNvPr id="76" name="Shape 74"/>
          <p:cNvSpPr/>
          <p:nvPr/>
        </p:nvSpPr>
        <p:spPr>
          <a:xfrm>
            <a:off x="7613904" y="2724912"/>
            <a:ext cx="1237488" cy="640080"/>
          </a:xfrm>
          <a:prstGeom prst="rect">
            <a:avLst/>
          </a:prstGeom>
          <a:solidFill>
            <a:srgbClr val="FFFFFF"/>
          </a:solidFill>
          <a:ln w="9525">
            <a:solidFill>
              <a:srgbClr val="1B6EC2"/>
            </a:solidFill>
            <a:prstDash val="solid"/>
          </a:ln>
        </p:spPr>
        <p:txBody>
          <a:bodyPr/>
          <a:lstStyle/>
          <a:p>
            <a:endParaRPr lang="fr-FR"/>
          </a:p>
        </p:txBody>
      </p:sp>
      <p:sp>
        <p:nvSpPr>
          <p:cNvPr id="77" name="Text 75"/>
          <p:cNvSpPr/>
          <p:nvPr/>
        </p:nvSpPr>
        <p:spPr>
          <a:xfrm>
            <a:off x="7677912" y="2788920"/>
            <a:ext cx="1109472"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Observabilité</a:t>
            </a:r>
            <a:endParaRPr lang="en-US" sz="660" dirty="0"/>
          </a:p>
        </p:txBody>
      </p:sp>
      <p:sp>
        <p:nvSpPr>
          <p:cNvPr id="78" name="Text 76"/>
          <p:cNvSpPr/>
          <p:nvPr/>
        </p:nvSpPr>
        <p:spPr>
          <a:xfrm>
            <a:off x="7677912" y="2953512"/>
            <a:ext cx="1109472"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Prometheus, Loki, Grafana</a:t>
            </a:r>
            <a:endParaRPr lang="en-US" sz="560" dirty="0"/>
          </a:p>
        </p:txBody>
      </p:sp>
      <p:sp>
        <p:nvSpPr>
          <p:cNvPr id="79" name="Shape 77"/>
          <p:cNvSpPr/>
          <p:nvPr/>
        </p:nvSpPr>
        <p:spPr>
          <a:xfrm>
            <a:off x="292608" y="3419856"/>
            <a:ext cx="786384" cy="640080"/>
          </a:xfrm>
          <a:prstGeom prst="rect">
            <a:avLst/>
          </a:prstGeom>
          <a:solidFill>
            <a:srgbClr val="6B3FD4"/>
          </a:solidFill>
          <a:ln/>
        </p:spPr>
        <p:txBody>
          <a:bodyPr/>
          <a:lstStyle/>
          <a:p>
            <a:endParaRPr lang="fr-FR"/>
          </a:p>
        </p:txBody>
      </p:sp>
      <p:sp>
        <p:nvSpPr>
          <p:cNvPr id="80" name="Text 78"/>
          <p:cNvSpPr/>
          <p:nvPr/>
        </p:nvSpPr>
        <p:spPr>
          <a:xfrm>
            <a:off x="292608" y="3483864"/>
            <a:ext cx="786384" cy="182880"/>
          </a:xfrm>
          <a:prstGeom prst="rect">
            <a:avLst/>
          </a:prstGeom>
          <a:noFill/>
          <a:ln/>
        </p:spPr>
        <p:txBody>
          <a:bodyPr wrap="square" lIns="0" tIns="0" rIns="0" bIns="0" rtlCol="0" anchor="ctr"/>
          <a:lstStyle/>
          <a:p>
            <a:pPr marL="0" indent="0" algn="ctr">
              <a:lnSpc>
                <a:spcPct val="106000"/>
              </a:lnSpc>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81" name="Text 79"/>
          <p:cNvSpPr/>
          <p:nvPr/>
        </p:nvSpPr>
        <p:spPr>
          <a:xfrm>
            <a:off x="292608" y="3685032"/>
            <a:ext cx="786384" cy="128016"/>
          </a:xfrm>
          <a:prstGeom prst="rect">
            <a:avLst/>
          </a:prstGeom>
          <a:noFill/>
          <a:ln/>
        </p:spPr>
        <p:txBody>
          <a:bodyPr wrap="square" lIns="0" tIns="0" rIns="0" bIns="0" rtlCol="0" anchor="ctr"/>
          <a:lstStyle/>
          <a:p>
            <a:pPr marL="0" indent="0" algn="ctr">
              <a:lnSpc>
                <a:spcPct val="106000"/>
              </a:lnSpc>
              <a:buNone/>
            </a:pPr>
            <a:r>
              <a:rPr lang="en-US" sz="560" b="1" dirty="0">
                <a:solidFill>
                  <a:srgbClr val="FFFFFF"/>
                </a:solidFill>
                <a:latin typeface="Calibri" pitchFamily="34" charset="0"/>
                <a:ea typeface="Calibri" pitchFamily="34" charset="-122"/>
                <a:cs typeface="Calibri" pitchFamily="34" charset="-120"/>
              </a:rPr>
              <a:t>INFRASTRUCTURE</a:t>
            </a:r>
            <a:endParaRPr lang="en-US" sz="560" dirty="0"/>
          </a:p>
        </p:txBody>
      </p:sp>
      <p:sp>
        <p:nvSpPr>
          <p:cNvPr id="82" name="Text 80"/>
          <p:cNvSpPr/>
          <p:nvPr/>
        </p:nvSpPr>
        <p:spPr>
          <a:xfrm>
            <a:off x="292608" y="3822192"/>
            <a:ext cx="786384" cy="182880"/>
          </a:xfrm>
          <a:prstGeom prst="rect">
            <a:avLst/>
          </a:prstGeom>
          <a:noFill/>
          <a:ln/>
        </p:spPr>
        <p:txBody>
          <a:bodyPr wrap="square" lIns="0" tIns="0" rIns="0" bIns="0" rtlCol="0" anchor="ctr"/>
          <a:lstStyle/>
          <a:p>
            <a:pPr marL="0" indent="0" algn="ctr">
              <a:lnSpc>
                <a:spcPct val="106000"/>
              </a:lnSpc>
              <a:buNone/>
            </a:pPr>
            <a:r>
              <a:rPr lang="en-US" sz="480" dirty="0">
                <a:solidFill>
                  <a:srgbClr val="FFFFFF"/>
                </a:solidFill>
                <a:latin typeface="Calibri" pitchFamily="34" charset="0"/>
                <a:ea typeface="Calibri" pitchFamily="34" charset="-122"/>
                <a:cs typeface="Calibri" pitchFamily="34" charset="-120"/>
              </a:rPr>
              <a:t>socle technique</a:t>
            </a:r>
            <a:endParaRPr lang="en-US" sz="480" dirty="0"/>
          </a:p>
        </p:txBody>
      </p:sp>
      <p:sp>
        <p:nvSpPr>
          <p:cNvPr id="83" name="Shape 81"/>
          <p:cNvSpPr/>
          <p:nvPr/>
        </p:nvSpPr>
        <p:spPr>
          <a:xfrm>
            <a:off x="1152144" y="3419856"/>
            <a:ext cx="1495958" cy="640080"/>
          </a:xfrm>
          <a:prstGeom prst="rect">
            <a:avLst/>
          </a:prstGeom>
          <a:solidFill>
            <a:srgbClr val="FFFFFF"/>
          </a:solidFill>
          <a:ln w="9525">
            <a:solidFill>
              <a:srgbClr val="6B3FD4"/>
            </a:solidFill>
            <a:prstDash val="solid"/>
          </a:ln>
        </p:spPr>
        <p:txBody>
          <a:bodyPr/>
          <a:lstStyle/>
          <a:p>
            <a:endParaRPr lang="fr-FR"/>
          </a:p>
        </p:txBody>
      </p:sp>
      <p:sp>
        <p:nvSpPr>
          <p:cNvPr id="84" name="Text 82"/>
          <p:cNvSpPr/>
          <p:nvPr/>
        </p:nvSpPr>
        <p:spPr>
          <a:xfrm>
            <a:off x="1216152" y="3483864"/>
            <a:ext cx="1367942"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Hetzner</a:t>
            </a:r>
            <a:endParaRPr lang="en-US" sz="660" dirty="0"/>
          </a:p>
        </p:txBody>
      </p:sp>
      <p:sp>
        <p:nvSpPr>
          <p:cNvPr id="85" name="Text 83"/>
          <p:cNvSpPr/>
          <p:nvPr/>
        </p:nvSpPr>
        <p:spPr>
          <a:xfrm>
            <a:off x="1216152" y="3648456"/>
            <a:ext cx="1367942"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4 machines Ubuntu 24.04, Docker Swarm</a:t>
            </a:r>
            <a:endParaRPr lang="en-US" sz="560" dirty="0"/>
          </a:p>
        </p:txBody>
      </p:sp>
      <p:sp>
        <p:nvSpPr>
          <p:cNvPr id="86" name="Shape 84"/>
          <p:cNvSpPr/>
          <p:nvPr/>
        </p:nvSpPr>
        <p:spPr>
          <a:xfrm>
            <a:off x="2702966" y="3419856"/>
            <a:ext cx="1495958" cy="640080"/>
          </a:xfrm>
          <a:prstGeom prst="rect">
            <a:avLst/>
          </a:prstGeom>
          <a:solidFill>
            <a:srgbClr val="FFFFFF"/>
          </a:solidFill>
          <a:ln w="9525">
            <a:solidFill>
              <a:srgbClr val="6B3FD4"/>
            </a:solidFill>
            <a:prstDash val="solid"/>
          </a:ln>
        </p:spPr>
        <p:txBody>
          <a:bodyPr/>
          <a:lstStyle/>
          <a:p>
            <a:endParaRPr lang="fr-FR"/>
          </a:p>
        </p:txBody>
      </p:sp>
      <p:sp>
        <p:nvSpPr>
          <p:cNvPr id="87" name="Text 85"/>
          <p:cNvSpPr/>
          <p:nvPr/>
        </p:nvSpPr>
        <p:spPr>
          <a:xfrm>
            <a:off x="2766974" y="3483864"/>
            <a:ext cx="1367942"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Réseaux</a:t>
            </a:r>
            <a:endParaRPr lang="en-US" sz="660" dirty="0"/>
          </a:p>
        </p:txBody>
      </p:sp>
      <p:sp>
        <p:nvSpPr>
          <p:cNvPr id="88" name="Text 86"/>
          <p:cNvSpPr/>
          <p:nvPr/>
        </p:nvSpPr>
        <p:spPr>
          <a:xfrm>
            <a:off x="2766974" y="3648456"/>
            <a:ext cx="1367942"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5 overlays, pare-feu 22 / 80 / 443</a:t>
            </a:r>
            <a:endParaRPr lang="en-US" sz="560" dirty="0"/>
          </a:p>
        </p:txBody>
      </p:sp>
      <p:sp>
        <p:nvSpPr>
          <p:cNvPr id="89" name="Shape 87"/>
          <p:cNvSpPr/>
          <p:nvPr/>
        </p:nvSpPr>
        <p:spPr>
          <a:xfrm>
            <a:off x="4253789" y="3419856"/>
            <a:ext cx="1495958" cy="640080"/>
          </a:xfrm>
          <a:prstGeom prst="rect">
            <a:avLst/>
          </a:prstGeom>
          <a:solidFill>
            <a:srgbClr val="FFFFFF"/>
          </a:solidFill>
          <a:ln w="9525">
            <a:solidFill>
              <a:srgbClr val="6B3FD4"/>
            </a:solidFill>
            <a:prstDash val="solid"/>
          </a:ln>
        </p:spPr>
        <p:txBody>
          <a:bodyPr/>
          <a:lstStyle/>
          <a:p>
            <a:endParaRPr lang="fr-FR"/>
          </a:p>
        </p:txBody>
      </p:sp>
      <p:sp>
        <p:nvSpPr>
          <p:cNvPr id="90" name="Text 88"/>
          <p:cNvSpPr/>
          <p:nvPr/>
        </p:nvSpPr>
        <p:spPr>
          <a:xfrm>
            <a:off x="4317797" y="3483864"/>
            <a:ext cx="1367942"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Cloudflare</a:t>
            </a:r>
            <a:endParaRPr lang="en-US" sz="660" dirty="0"/>
          </a:p>
        </p:txBody>
      </p:sp>
      <p:sp>
        <p:nvSpPr>
          <p:cNvPr id="91" name="Text 89"/>
          <p:cNvSpPr/>
          <p:nvPr/>
        </p:nvSpPr>
        <p:spPr>
          <a:xfrm>
            <a:off x="4317797" y="3648456"/>
            <a:ext cx="1367942"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DNS, TLS strict, Origin CA</a:t>
            </a:r>
            <a:endParaRPr lang="en-US" sz="560" dirty="0"/>
          </a:p>
        </p:txBody>
      </p:sp>
      <p:sp>
        <p:nvSpPr>
          <p:cNvPr id="92" name="Shape 90"/>
          <p:cNvSpPr/>
          <p:nvPr/>
        </p:nvSpPr>
        <p:spPr>
          <a:xfrm>
            <a:off x="5804611" y="3419856"/>
            <a:ext cx="1495958" cy="640080"/>
          </a:xfrm>
          <a:prstGeom prst="rect">
            <a:avLst/>
          </a:prstGeom>
          <a:solidFill>
            <a:srgbClr val="FFFFFF"/>
          </a:solidFill>
          <a:ln w="9525">
            <a:solidFill>
              <a:srgbClr val="6B3FD4"/>
            </a:solidFill>
            <a:prstDash val="solid"/>
          </a:ln>
        </p:spPr>
        <p:txBody>
          <a:bodyPr/>
          <a:lstStyle/>
          <a:p>
            <a:endParaRPr lang="fr-FR"/>
          </a:p>
        </p:txBody>
      </p:sp>
      <p:sp>
        <p:nvSpPr>
          <p:cNvPr id="93" name="Text 91"/>
          <p:cNvSpPr/>
          <p:nvPr/>
        </p:nvSpPr>
        <p:spPr>
          <a:xfrm>
            <a:off x="5868619" y="3483864"/>
            <a:ext cx="1367942"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AWS</a:t>
            </a:r>
            <a:endParaRPr lang="en-US" sz="660" dirty="0"/>
          </a:p>
        </p:txBody>
      </p:sp>
      <p:sp>
        <p:nvSpPr>
          <p:cNvPr id="94" name="Text 92"/>
          <p:cNvSpPr/>
          <p:nvPr/>
        </p:nvSpPr>
        <p:spPr>
          <a:xfrm>
            <a:off x="5868619" y="3648456"/>
            <a:ext cx="1367942"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S3, CloudFront, WAF, ACM, SSM</a:t>
            </a:r>
            <a:endParaRPr lang="en-US" sz="560" dirty="0"/>
          </a:p>
        </p:txBody>
      </p:sp>
      <p:sp>
        <p:nvSpPr>
          <p:cNvPr id="95" name="Shape 93"/>
          <p:cNvSpPr/>
          <p:nvPr/>
        </p:nvSpPr>
        <p:spPr>
          <a:xfrm>
            <a:off x="7355434" y="3419856"/>
            <a:ext cx="1495958" cy="640080"/>
          </a:xfrm>
          <a:prstGeom prst="rect">
            <a:avLst/>
          </a:prstGeom>
          <a:solidFill>
            <a:srgbClr val="FFFFFF"/>
          </a:solidFill>
          <a:ln w="9525">
            <a:solidFill>
              <a:srgbClr val="6B3FD4"/>
            </a:solidFill>
            <a:prstDash val="solid"/>
          </a:ln>
        </p:spPr>
        <p:txBody>
          <a:bodyPr/>
          <a:lstStyle/>
          <a:p>
            <a:endParaRPr lang="fr-FR"/>
          </a:p>
        </p:txBody>
      </p:sp>
      <p:sp>
        <p:nvSpPr>
          <p:cNvPr id="96" name="Text 94"/>
          <p:cNvSpPr/>
          <p:nvPr/>
        </p:nvSpPr>
        <p:spPr>
          <a:xfrm>
            <a:off x="7419442" y="3483864"/>
            <a:ext cx="1367942" cy="155448"/>
          </a:xfrm>
          <a:prstGeom prst="rect">
            <a:avLst/>
          </a:prstGeom>
          <a:noFill/>
          <a:ln/>
        </p:spPr>
        <p:txBody>
          <a:bodyPr wrap="square" lIns="0" tIns="0" rIns="0" bIns="0" rtlCol="0" anchor="ctr"/>
          <a:lstStyle/>
          <a:p>
            <a:pPr marL="0" indent="0" algn="l">
              <a:lnSpc>
                <a:spcPct val="106000"/>
              </a:lnSpc>
              <a:buNone/>
            </a:pPr>
            <a:r>
              <a:rPr lang="en-US" sz="660" b="1" dirty="0">
                <a:solidFill>
                  <a:srgbClr val="12263F"/>
                </a:solidFill>
                <a:latin typeface="Calibri" pitchFamily="34" charset="0"/>
                <a:ea typeface="Calibri" pitchFamily="34" charset="-122"/>
                <a:cs typeface="Calibri" pitchFamily="34" charset="-120"/>
              </a:rPr>
              <a:t>Chaîne de livraison</a:t>
            </a:r>
            <a:endParaRPr lang="en-US" sz="660" dirty="0"/>
          </a:p>
        </p:txBody>
      </p:sp>
      <p:sp>
        <p:nvSpPr>
          <p:cNvPr id="97" name="Text 95"/>
          <p:cNvSpPr/>
          <p:nvPr/>
        </p:nvSpPr>
        <p:spPr>
          <a:xfrm>
            <a:off x="7419442" y="3648456"/>
            <a:ext cx="1367942" cy="36576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GitHub Actions, Terraform, Ansible</a:t>
            </a:r>
            <a:endParaRPr lang="en-US" sz="560" dirty="0"/>
          </a:p>
        </p:txBody>
      </p:sp>
      <p:sp>
        <p:nvSpPr>
          <p:cNvPr id="98" name="Shape 96"/>
          <p:cNvSpPr/>
          <p:nvPr/>
        </p:nvSpPr>
        <p:spPr>
          <a:xfrm>
            <a:off x="292608" y="4224528"/>
            <a:ext cx="8558784" cy="475488"/>
          </a:xfrm>
          <a:prstGeom prst="rect">
            <a:avLst/>
          </a:prstGeom>
          <a:solidFill>
            <a:srgbClr val="12263F"/>
          </a:solidFill>
          <a:ln/>
        </p:spPr>
        <p:txBody>
          <a:bodyPr/>
          <a:lstStyle/>
          <a:p>
            <a:endParaRPr lang="fr-FR"/>
          </a:p>
        </p:txBody>
      </p:sp>
      <p:sp>
        <p:nvSpPr>
          <p:cNvPr id="99" name="Shape 97"/>
          <p:cNvSpPr/>
          <p:nvPr/>
        </p:nvSpPr>
        <p:spPr>
          <a:xfrm>
            <a:off x="292608" y="4224528"/>
            <a:ext cx="45720" cy="475488"/>
          </a:xfrm>
          <a:prstGeom prst="rect">
            <a:avLst/>
          </a:prstGeom>
          <a:solidFill>
            <a:srgbClr val="E08A3C"/>
          </a:solidFill>
          <a:ln/>
        </p:spPr>
        <p:txBody>
          <a:bodyPr/>
          <a:lstStyle/>
          <a:p>
            <a:endParaRPr lang="fr-FR"/>
          </a:p>
        </p:txBody>
      </p:sp>
      <p:sp>
        <p:nvSpPr>
          <p:cNvPr id="100" name="Text 98"/>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Chaque besoin métier se trace jusqu'au serveur qui l'exécute.</a:t>
            </a:r>
            <a:endParaRPr lang="en-US" sz="1150" dirty="0"/>
          </a:p>
        </p:txBody>
      </p:sp>
      <p:sp>
        <p:nvSpPr>
          <p:cNvPr id="101" name="Text 99"/>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3.1 - Architecture et Configuration du Système</a:t>
            </a:r>
            <a:endParaRPr lang="en-US" sz="750" dirty="0"/>
          </a:p>
        </p:txBody>
      </p:sp>
      <p:sp>
        <p:nvSpPr>
          <p:cNvPr id="102" name="Text 100"/>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3. Analyse du Système Informatique</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10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3.2 - Évaluation des Vulnérabilités et des Risques</a:t>
            </a:r>
            <a:endParaRPr lang="en-US" sz="2200" dirty="0"/>
          </a:p>
        </p:txBody>
      </p:sp>
      <p:sp>
        <p:nvSpPr>
          <p:cNvPr id="7" name="Text 5"/>
          <p:cNvSpPr/>
          <p:nvPr/>
        </p:nvSpPr>
        <p:spPr>
          <a:xfrm>
            <a:off x="292608" y="1024128"/>
            <a:ext cx="8558784" cy="201168"/>
          </a:xfrm>
          <a:prstGeom prst="rect">
            <a:avLst/>
          </a:prstGeom>
          <a:noFill/>
          <a:ln/>
        </p:spPr>
        <p:txBody>
          <a:bodyPr wrap="square" lIns="0" tIns="0" rIns="0" bIns="0" rtlCol="0" anchor="ctr"/>
          <a:lstStyle/>
          <a:p>
            <a:pPr marL="0" indent="0">
              <a:buNone/>
            </a:pPr>
            <a:r>
              <a:rPr lang="en-US" sz="1050" dirty="0">
                <a:solidFill>
                  <a:srgbClr val="4A5769"/>
                </a:solidFill>
                <a:latin typeface="Calibri" pitchFamily="34" charset="0"/>
                <a:ea typeface="Calibri" pitchFamily="34" charset="-122"/>
                <a:cs typeface="Calibri" pitchFamily="34" charset="-120"/>
              </a:rPr>
              <a:t>Les failles sont analysées automatiquement à chaque livraison. Les risques projet sont cotés et traités.</a:t>
            </a:r>
            <a:endParaRPr lang="en-US" sz="1050" dirty="0"/>
          </a:p>
        </p:txBody>
      </p:sp>
      <p:sp>
        <p:nvSpPr>
          <p:cNvPr id="8" name="Shape 6"/>
          <p:cNvSpPr/>
          <p:nvPr/>
        </p:nvSpPr>
        <p:spPr>
          <a:xfrm>
            <a:off x="566928" y="1481328"/>
            <a:ext cx="512064" cy="384048"/>
          </a:xfrm>
          <a:prstGeom prst="rect">
            <a:avLst/>
          </a:prstGeom>
          <a:solidFill>
            <a:srgbClr val="FDF3D4"/>
          </a:solidFill>
          <a:ln w="12700">
            <a:solidFill>
              <a:srgbClr val="FFFFFF"/>
            </a:solidFill>
            <a:prstDash val="solid"/>
          </a:ln>
        </p:spPr>
        <p:txBody>
          <a:bodyPr/>
          <a:lstStyle/>
          <a:p>
            <a:endParaRPr lang="fr-FR"/>
          </a:p>
        </p:txBody>
      </p:sp>
      <p:sp>
        <p:nvSpPr>
          <p:cNvPr id="9" name="Text 7"/>
          <p:cNvSpPr/>
          <p:nvPr/>
        </p:nvSpPr>
        <p:spPr>
          <a:xfrm>
            <a:off x="566928" y="1499616"/>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5</a:t>
            </a:r>
            <a:endParaRPr lang="en-US" sz="500" dirty="0"/>
          </a:p>
        </p:txBody>
      </p:sp>
      <p:sp>
        <p:nvSpPr>
          <p:cNvPr id="10" name="Shape 8"/>
          <p:cNvSpPr/>
          <p:nvPr/>
        </p:nvSpPr>
        <p:spPr>
          <a:xfrm>
            <a:off x="1078992" y="1481328"/>
            <a:ext cx="512064" cy="384048"/>
          </a:xfrm>
          <a:prstGeom prst="rect">
            <a:avLst/>
          </a:prstGeom>
          <a:solidFill>
            <a:srgbClr val="FBE0D0"/>
          </a:solidFill>
          <a:ln w="12700">
            <a:solidFill>
              <a:srgbClr val="FFFFFF"/>
            </a:solidFill>
            <a:prstDash val="solid"/>
          </a:ln>
        </p:spPr>
        <p:txBody>
          <a:bodyPr/>
          <a:lstStyle/>
          <a:p>
            <a:endParaRPr lang="fr-FR"/>
          </a:p>
        </p:txBody>
      </p:sp>
      <p:sp>
        <p:nvSpPr>
          <p:cNvPr id="11" name="Text 9"/>
          <p:cNvSpPr/>
          <p:nvPr/>
        </p:nvSpPr>
        <p:spPr>
          <a:xfrm>
            <a:off x="1078992" y="1499616"/>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10</a:t>
            </a:r>
            <a:endParaRPr lang="en-US" sz="500" dirty="0"/>
          </a:p>
        </p:txBody>
      </p:sp>
      <p:sp>
        <p:nvSpPr>
          <p:cNvPr id="12" name="Shape 10"/>
          <p:cNvSpPr/>
          <p:nvPr/>
        </p:nvSpPr>
        <p:spPr>
          <a:xfrm>
            <a:off x="1591056" y="1481328"/>
            <a:ext cx="512064" cy="384048"/>
          </a:xfrm>
          <a:prstGeom prst="rect">
            <a:avLst/>
          </a:prstGeom>
          <a:solidFill>
            <a:srgbClr val="F8D4D4"/>
          </a:solidFill>
          <a:ln w="12700">
            <a:solidFill>
              <a:srgbClr val="FFFFFF"/>
            </a:solidFill>
            <a:prstDash val="solid"/>
          </a:ln>
        </p:spPr>
        <p:txBody>
          <a:bodyPr/>
          <a:lstStyle/>
          <a:p>
            <a:endParaRPr lang="fr-FR"/>
          </a:p>
        </p:txBody>
      </p:sp>
      <p:sp>
        <p:nvSpPr>
          <p:cNvPr id="13" name="Text 11"/>
          <p:cNvSpPr/>
          <p:nvPr/>
        </p:nvSpPr>
        <p:spPr>
          <a:xfrm>
            <a:off x="1591056" y="1499616"/>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15</a:t>
            </a:r>
            <a:endParaRPr lang="en-US" sz="500" dirty="0"/>
          </a:p>
        </p:txBody>
      </p:sp>
      <p:sp>
        <p:nvSpPr>
          <p:cNvPr id="14" name="Shape 12"/>
          <p:cNvSpPr/>
          <p:nvPr/>
        </p:nvSpPr>
        <p:spPr>
          <a:xfrm>
            <a:off x="2103120" y="1481328"/>
            <a:ext cx="512064" cy="384048"/>
          </a:xfrm>
          <a:prstGeom prst="rect">
            <a:avLst/>
          </a:prstGeom>
          <a:solidFill>
            <a:srgbClr val="F8D4D4"/>
          </a:solidFill>
          <a:ln w="12700">
            <a:solidFill>
              <a:srgbClr val="FFFFFF"/>
            </a:solidFill>
            <a:prstDash val="solid"/>
          </a:ln>
        </p:spPr>
        <p:txBody>
          <a:bodyPr/>
          <a:lstStyle/>
          <a:p>
            <a:endParaRPr lang="fr-FR"/>
          </a:p>
        </p:txBody>
      </p:sp>
      <p:sp>
        <p:nvSpPr>
          <p:cNvPr id="15" name="Text 13"/>
          <p:cNvSpPr/>
          <p:nvPr/>
        </p:nvSpPr>
        <p:spPr>
          <a:xfrm>
            <a:off x="2103120" y="1499616"/>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20</a:t>
            </a:r>
            <a:endParaRPr lang="en-US" sz="500" dirty="0"/>
          </a:p>
        </p:txBody>
      </p:sp>
      <p:sp>
        <p:nvSpPr>
          <p:cNvPr id="16" name="Shape 14"/>
          <p:cNvSpPr/>
          <p:nvPr/>
        </p:nvSpPr>
        <p:spPr>
          <a:xfrm>
            <a:off x="2615184" y="1481328"/>
            <a:ext cx="512064" cy="384048"/>
          </a:xfrm>
          <a:prstGeom prst="rect">
            <a:avLst/>
          </a:prstGeom>
          <a:solidFill>
            <a:srgbClr val="F8D4D4"/>
          </a:solidFill>
          <a:ln w="12700">
            <a:solidFill>
              <a:srgbClr val="FFFFFF"/>
            </a:solidFill>
            <a:prstDash val="solid"/>
          </a:ln>
        </p:spPr>
        <p:txBody>
          <a:bodyPr/>
          <a:lstStyle/>
          <a:p>
            <a:endParaRPr lang="fr-FR"/>
          </a:p>
        </p:txBody>
      </p:sp>
      <p:sp>
        <p:nvSpPr>
          <p:cNvPr id="17" name="Text 15"/>
          <p:cNvSpPr/>
          <p:nvPr/>
        </p:nvSpPr>
        <p:spPr>
          <a:xfrm>
            <a:off x="2615184" y="1499616"/>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25</a:t>
            </a:r>
            <a:endParaRPr lang="en-US" sz="500" dirty="0"/>
          </a:p>
        </p:txBody>
      </p:sp>
      <p:sp>
        <p:nvSpPr>
          <p:cNvPr id="18" name="Text 16"/>
          <p:cNvSpPr/>
          <p:nvPr/>
        </p:nvSpPr>
        <p:spPr>
          <a:xfrm>
            <a:off x="292608" y="1591056"/>
            <a:ext cx="237744" cy="146304"/>
          </a:xfrm>
          <a:prstGeom prst="rect">
            <a:avLst/>
          </a:prstGeom>
          <a:noFill/>
          <a:ln/>
        </p:spPr>
        <p:txBody>
          <a:bodyPr wrap="square" lIns="0" tIns="0" rIns="0" bIns="0" rtlCol="0" anchor="ctr"/>
          <a:lstStyle/>
          <a:p>
            <a:pPr marL="0" indent="0" algn="ctr">
              <a:lnSpc>
                <a:spcPct val="106000"/>
              </a:lnSpc>
              <a:buNone/>
            </a:pPr>
            <a:r>
              <a:rPr lang="en-US" sz="650" b="1" dirty="0">
                <a:solidFill>
                  <a:srgbClr val="4A5769"/>
                </a:solidFill>
                <a:latin typeface="Calibri" pitchFamily="34" charset="0"/>
                <a:ea typeface="Calibri" pitchFamily="34" charset="-122"/>
                <a:cs typeface="Calibri" pitchFamily="34" charset="-120"/>
              </a:rPr>
              <a:t>5</a:t>
            </a:r>
            <a:endParaRPr lang="en-US" sz="650" dirty="0"/>
          </a:p>
        </p:txBody>
      </p:sp>
      <p:sp>
        <p:nvSpPr>
          <p:cNvPr id="19" name="Shape 17"/>
          <p:cNvSpPr/>
          <p:nvPr/>
        </p:nvSpPr>
        <p:spPr>
          <a:xfrm>
            <a:off x="566928" y="1865376"/>
            <a:ext cx="512064" cy="384048"/>
          </a:xfrm>
          <a:prstGeom prst="rect">
            <a:avLst/>
          </a:prstGeom>
          <a:solidFill>
            <a:srgbClr val="DFF3E4"/>
          </a:solidFill>
          <a:ln w="12700">
            <a:solidFill>
              <a:srgbClr val="FFFFFF"/>
            </a:solidFill>
            <a:prstDash val="solid"/>
          </a:ln>
        </p:spPr>
        <p:txBody>
          <a:bodyPr/>
          <a:lstStyle/>
          <a:p>
            <a:endParaRPr lang="fr-FR"/>
          </a:p>
        </p:txBody>
      </p:sp>
      <p:sp>
        <p:nvSpPr>
          <p:cNvPr id="20" name="Text 18"/>
          <p:cNvSpPr/>
          <p:nvPr/>
        </p:nvSpPr>
        <p:spPr>
          <a:xfrm>
            <a:off x="566928" y="1883664"/>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4</a:t>
            </a:r>
            <a:endParaRPr lang="en-US" sz="500" dirty="0"/>
          </a:p>
        </p:txBody>
      </p:sp>
      <p:sp>
        <p:nvSpPr>
          <p:cNvPr id="21" name="Shape 19"/>
          <p:cNvSpPr/>
          <p:nvPr/>
        </p:nvSpPr>
        <p:spPr>
          <a:xfrm>
            <a:off x="1078992" y="1865376"/>
            <a:ext cx="512064" cy="384048"/>
          </a:xfrm>
          <a:prstGeom prst="rect">
            <a:avLst/>
          </a:prstGeom>
          <a:solidFill>
            <a:srgbClr val="FDF3D4"/>
          </a:solidFill>
          <a:ln w="12700">
            <a:solidFill>
              <a:srgbClr val="FFFFFF"/>
            </a:solidFill>
            <a:prstDash val="solid"/>
          </a:ln>
        </p:spPr>
        <p:txBody>
          <a:bodyPr/>
          <a:lstStyle/>
          <a:p>
            <a:endParaRPr lang="fr-FR"/>
          </a:p>
        </p:txBody>
      </p:sp>
      <p:sp>
        <p:nvSpPr>
          <p:cNvPr id="22" name="Text 20"/>
          <p:cNvSpPr/>
          <p:nvPr/>
        </p:nvSpPr>
        <p:spPr>
          <a:xfrm>
            <a:off x="1078992" y="1883664"/>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8</a:t>
            </a:r>
            <a:endParaRPr lang="en-US" sz="500" dirty="0"/>
          </a:p>
        </p:txBody>
      </p:sp>
      <p:sp>
        <p:nvSpPr>
          <p:cNvPr id="23" name="Shape 21"/>
          <p:cNvSpPr/>
          <p:nvPr/>
        </p:nvSpPr>
        <p:spPr>
          <a:xfrm>
            <a:off x="1591056" y="1865376"/>
            <a:ext cx="512064" cy="384048"/>
          </a:xfrm>
          <a:prstGeom prst="rect">
            <a:avLst/>
          </a:prstGeom>
          <a:solidFill>
            <a:srgbClr val="FBE0D0"/>
          </a:solidFill>
          <a:ln w="12700">
            <a:solidFill>
              <a:srgbClr val="FFFFFF"/>
            </a:solidFill>
            <a:prstDash val="solid"/>
          </a:ln>
        </p:spPr>
        <p:txBody>
          <a:bodyPr/>
          <a:lstStyle/>
          <a:p>
            <a:endParaRPr lang="fr-FR"/>
          </a:p>
        </p:txBody>
      </p:sp>
      <p:sp>
        <p:nvSpPr>
          <p:cNvPr id="24" name="Text 22"/>
          <p:cNvSpPr/>
          <p:nvPr/>
        </p:nvSpPr>
        <p:spPr>
          <a:xfrm>
            <a:off x="1591056" y="1883664"/>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12</a:t>
            </a:r>
            <a:endParaRPr lang="en-US" sz="500" dirty="0"/>
          </a:p>
        </p:txBody>
      </p:sp>
      <p:sp>
        <p:nvSpPr>
          <p:cNvPr id="25" name="Shape 23"/>
          <p:cNvSpPr/>
          <p:nvPr/>
        </p:nvSpPr>
        <p:spPr>
          <a:xfrm>
            <a:off x="2103120" y="1865376"/>
            <a:ext cx="512064" cy="384048"/>
          </a:xfrm>
          <a:prstGeom prst="rect">
            <a:avLst/>
          </a:prstGeom>
          <a:solidFill>
            <a:srgbClr val="F8D4D4"/>
          </a:solidFill>
          <a:ln w="12700">
            <a:solidFill>
              <a:srgbClr val="FFFFFF"/>
            </a:solidFill>
            <a:prstDash val="solid"/>
          </a:ln>
        </p:spPr>
        <p:txBody>
          <a:bodyPr/>
          <a:lstStyle/>
          <a:p>
            <a:endParaRPr lang="fr-FR"/>
          </a:p>
        </p:txBody>
      </p:sp>
      <p:sp>
        <p:nvSpPr>
          <p:cNvPr id="26" name="Text 24"/>
          <p:cNvSpPr/>
          <p:nvPr/>
        </p:nvSpPr>
        <p:spPr>
          <a:xfrm>
            <a:off x="2103120" y="1883664"/>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16</a:t>
            </a:r>
            <a:endParaRPr lang="en-US" sz="500" dirty="0"/>
          </a:p>
        </p:txBody>
      </p:sp>
      <p:sp>
        <p:nvSpPr>
          <p:cNvPr id="27" name="Shape 25"/>
          <p:cNvSpPr/>
          <p:nvPr/>
        </p:nvSpPr>
        <p:spPr>
          <a:xfrm>
            <a:off x="2615184" y="1865376"/>
            <a:ext cx="512064" cy="384048"/>
          </a:xfrm>
          <a:prstGeom prst="rect">
            <a:avLst/>
          </a:prstGeom>
          <a:solidFill>
            <a:srgbClr val="F8D4D4"/>
          </a:solidFill>
          <a:ln w="12700">
            <a:solidFill>
              <a:srgbClr val="FFFFFF"/>
            </a:solidFill>
            <a:prstDash val="solid"/>
          </a:ln>
        </p:spPr>
        <p:txBody>
          <a:bodyPr/>
          <a:lstStyle/>
          <a:p>
            <a:endParaRPr lang="fr-FR"/>
          </a:p>
        </p:txBody>
      </p:sp>
      <p:sp>
        <p:nvSpPr>
          <p:cNvPr id="28" name="Text 26"/>
          <p:cNvSpPr/>
          <p:nvPr/>
        </p:nvSpPr>
        <p:spPr>
          <a:xfrm>
            <a:off x="2615184" y="1883664"/>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20</a:t>
            </a:r>
            <a:endParaRPr lang="en-US" sz="500" dirty="0"/>
          </a:p>
        </p:txBody>
      </p:sp>
      <p:sp>
        <p:nvSpPr>
          <p:cNvPr id="29" name="Text 27"/>
          <p:cNvSpPr/>
          <p:nvPr/>
        </p:nvSpPr>
        <p:spPr>
          <a:xfrm>
            <a:off x="292608" y="1975104"/>
            <a:ext cx="237744" cy="146304"/>
          </a:xfrm>
          <a:prstGeom prst="rect">
            <a:avLst/>
          </a:prstGeom>
          <a:noFill/>
          <a:ln/>
        </p:spPr>
        <p:txBody>
          <a:bodyPr wrap="square" lIns="0" tIns="0" rIns="0" bIns="0" rtlCol="0" anchor="ctr"/>
          <a:lstStyle/>
          <a:p>
            <a:pPr marL="0" indent="0" algn="ctr">
              <a:lnSpc>
                <a:spcPct val="106000"/>
              </a:lnSpc>
              <a:buNone/>
            </a:pPr>
            <a:r>
              <a:rPr lang="en-US" sz="650" b="1" dirty="0">
                <a:solidFill>
                  <a:srgbClr val="4A5769"/>
                </a:solidFill>
                <a:latin typeface="Calibri" pitchFamily="34" charset="0"/>
                <a:ea typeface="Calibri" pitchFamily="34" charset="-122"/>
                <a:cs typeface="Calibri" pitchFamily="34" charset="-120"/>
              </a:rPr>
              <a:t>4</a:t>
            </a:r>
            <a:endParaRPr lang="en-US" sz="650" dirty="0"/>
          </a:p>
        </p:txBody>
      </p:sp>
      <p:sp>
        <p:nvSpPr>
          <p:cNvPr id="30" name="Shape 28"/>
          <p:cNvSpPr/>
          <p:nvPr/>
        </p:nvSpPr>
        <p:spPr>
          <a:xfrm>
            <a:off x="566928" y="2249424"/>
            <a:ext cx="512064" cy="384048"/>
          </a:xfrm>
          <a:prstGeom prst="rect">
            <a:avLst/>
          </a:prstGeom>
          <a:solidFill>
            <a:srgbClr val="DFF3E4"/>
          </a:solidFill>
          <a:ln w="12700">
            <a:solidFill>
              <a:srgbClr val="FFFFFF"/>
            </a:solidFill>
            <a:prstDash val="solid"/>
          </a:ln>
        </p:spPr>
        <p:txBody>
          <a:bodyPr/>
          <a:lstStyle/>
          <a:p>
            <a:endParaRPr lang="fr-FR"/>
          </a:p>
        </p:txBody>
      </p:sp>
      <p:sp>
        <p:nvSpPr>
          <p:cNvPr id="31" name="Text 29"/>
          <p:cNvSpPr/>
          <p:nvPr/>
        </p:nvSpPr>
        <p:spPr>
          <a:xfrm>
            <a:off x="566928" y="2267712"/>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3</a:t>
            </a:r>
            <a:endParaRPr lang="en-US" sz="500" dirty="0"/>
          </a:p>
        </p:txBody>
      </p:sp>
      <p:sp>
        <p:nvSpPr>
          <p:cNvPr id="32" name="Shape 30"/>
          <p:cNvSpPr/>
          <p:nvPr/>
        </p:nvSpPr>
        <p:spPr>
          <a:xfrm>
            <a:off x="1078992" y="2249424"/>
            <a:ext cx="512064" cy="384048"/>
          </a:xfrm>
          <a:prstGeom prst="rect">
            <a:avLst/>
          </a:prstGeom>
          <a:solidFill>
            <a:srgbClr val="FDF3D4"/>
          </a:solidFill>
          <a:ln w="12700">
            <a:solidFill>
              <a:srgbClr val="FFFFFF"/>
            </a:solidFill>
            <a:prstDash val="solid"/>
          </a:ln>
        </p:spPr>
        <p:txBody>
          <a:bodyPr/>
          <a:lstStyle/>
          <a:p>
            <a:endParaRPr lang="fr-FR"/>
          </a:p>
        </p:txBody>
      </p:sp>
      <p:sp>
        <p:nvSpPr>
          <p:cNvPr id="33" name="Text 31"/>
          <p:cNvSpPr/>
          <p:nvPr/>
        </p:nvSpPr>
        <p:spPr>
          <a:xfrm>
            <a:off x="1078992" y="2267712"/>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6</a:t>
            </a:r>
            <a:endParaRPr lang="en-US" sz="500" dirty="0"/>
          </a:p>
        </p:txBody>
      </p:sp>
      <p:sp>
        <p:nvSpPr>
          <p:cNvPr id="34" name="Shape 32"/>
          <p:cNvSpPr/>
          <p:nvPr/>
        </p:nvSpPr>
        <p:spPr>
          <a:xfrm>
            <a:off x="1591056" y="2249424"/>
            <a:ext cx="512064" cy="384048"/>
          </a:xfrm>
          <a:prstGeom prst="rect">
            <a:avLst/>
          </a:prstGeom>
          <a:solidFill>
            <a:srgbClr val="FDF3D4"/>
          </a:solidFill>
          <a:ln w="12700">
            <a:solidFill>
              <a:srgbClr val="FFFFFF"/>
            </a:solidFill>
            <a:prstDash val="solid"/>
          </a:ln>
        </p:spPr>
        <p:txBody>
          <a:bodyPr/>
          <a:lstStyle/>
          <a:p>
            <a:endParaRPr lang="fr-FR"/>
          </a:p>
        </p:txBody>
      </p:sp>
      <p:sp>
        <p:nvSpPr>
          <p:cNvPr id="35" name="Text 33"/>
          <p:cNvSpPr/>
          <p:nvPr/>
        </p:nvSpPr>
        <p:spPr>
          <a:xfrm>
            <a:off x="1591056" y="2267712"/>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9</a:t>
            </a:r>
            <a:endParaRPr lang="en-US" sz="500" dirty="0"/>
          </a:p>
        </p:txBody>
      </p:sp>
      <p:sp>
        <p:nvSpPr>
          <p:cNvPr id="36" name="Shape 34"/>
          <p:cNvSpPr/>
          <p:nvPr/>
        </p:nvSpPr>
        <p:spPr>
          <a:xfrm>
            <a:off x="2103120" y="2249424"/>
            <a:ext cx="512064" cy="384048"/>
          </a:xfrm>
          <a:prstGeom prst="rect">
            <a:avLst/>
          </a:prstGeom>
          <a:solidFill>
            <a:srgbClr val="FBE0D0"/>
          </a:solidFill>
          <a:ln w="12700">
            <a:solidFill>
              <a:srgbClr val="FFFFFF"/>
            </a:solidFill>
            <a:prstDash val="solid"/>
          </a:ln>
        </p:spPr>
        <p:txBody>
          <a:bodyPr/>
          <a:lstStyle/>
          <a:p>
            <a:endParaRPr lang="fr-FR"/>
          </a:p>
        </p:txBody>
      </p:sp>
      <p:sp>
        <p:nvSpPr>
          <p:cNvPr id="37" name="Text 35"/>
          <p:cNvSpPr/>
          <p:nvPr/>
        </p:nvSpPr>
        <p:spPr>
          <a:xfrm>
            <a:off x="2103120" y="2267712"/>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12</a:t>
            </a:r>
            <a:endParaRPr lang="en-US" sz="500" dirty="0"/>
          </a:p>
        </p:txBody>
      </p:sp>
      <p:sp>
        <p:nvSpPr>
          <p:cNvPr id="38" name="Shape 36"/>
          <p:cNvSpPr/>
          <p:nvPr/>
        </p:nvSpPr>
        <p:spPr>
          <a:xfrm>
            <a:off x="2615184" y="2249424"/>
            <a:ext cx="512064" cy="384048"/>
          </a:xfrm>
          <a:prstGeom prst="rect">
            <a:avLst/>
          </a:prstGeom>
          <a:solidFill>
            <a:srgbClr val="F8D4D4"/>
          </a:solidFill>
          <a:ln w="12700">
            <a:solidFill>
              <a:srgbClr val="FFFFFF"/>
            </a:solidFill>
            <a:prstDash val="solid"/>
          </a:ln>
        </p:spPr>
        <p:txBody>
          <a:bodyPr/>
          <a:lstStyle/>
          <a:p>
            <a:endParaRPr lang="fr-FR"/>
          </a:p>
        </p:txBody>
      </p:sp>
      <p:sp>
        <p:nvSpPr>
          <p:cNvPr id="39" name="Text 37"/>
          <p:cNvSpPr/>
          <p:nvPr/>
        </p:nvSpPr>
        <p:spPr>
          <a:xfrm>
            <a:off x="2615184" y="2267712"/>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15</a:t>
            </a:r>
            <a:endParaRPr lang="en-US" sz="500" dirty="0"/>
          </a:p>
        </p:txBody>
      </p:sp>
      <p:sp>
        <p:nvSpPr>
          <p:cNvPr id="40" name="Text 38"/>
          <p:cNvSpPr/>
          <p:nvPr/>
        </p:nvSpPr>
        <p:spPr>
          <a:xfrm>
            <a:off x="292608" y="2359152"/>
            <a:ext cx="237744" cy="146304"/>
          </a:xfrm>
          <a:prstGeom prst="rect">
            <a:avLst/>
          </a:prstGeom>
          <a:noFill/>
          <a:ln/>
        </p:spPr>
        <p:txBody>
          <a:bodyPr wrap="square" lIns="0" tIns="0" rIns="0" bIns="0" rtlCol="0" anchor="ctr"/>
          <a:lstStyle/>
          <a:p>
            <a:pPr marL="0" indent="0" algn="ctr">
              <a:lnSpc>
                <a:spcPct val="106000"/>
              </a:lnSpc>
              <a:buNone/>
            </a:pPr>
            <a:r>
              <a:rPr lang="en-US" sz="650" b="1" dirty="0">
                <a:solidFill>
                  <a:srgbClr val="4A5769"/>
                </a:solidFill>
                <a:latin typeface="Calibri" pitchFamily="34" charset="0"/>
                <a:ea typeface="Calibri" pitchFamily="34" charset="-122"/>
                <a:cs typeface="Calibri" pitchFamily="34" charset="-120"/>
              </a:rPr>
              <a:t>3</a:t>
            </a:r>
            <a:endParaRPr lang="en-US" sz="650" dirty="0"/>
          </a:p>
        </p:txBody>
      </p:sp>
      <p:sp>
        <p:nvSpPr>
          <p:cNvPr id="41" name="Shape 39"/>
          <p:cNvSpPr/>
          <p:nvPr/>
        </p:nvSpPr>
        <p:spPr>
          <a:xfrm>
            <a:off x="566928" y="2633472"/>
            <a:ext cx="512064" cy="384048"/>
          </a:xfrm>
          <a:prstGeom prst="rect">
            <a:avLst/>
          </a:prstGeom>
          <a:solidFill>
            <a:srgbClr val="DFF3E4"/>
          </a:solidFill>
          <a:ln w="12700">
            <a:solidFill>
              <a:srgbClr val="FFFFFF"/>
            </a:solidFill>
            <a:prstDash val="solid"/>
          </a:ln>
        </p:spPr>
        <p:txBody>
          <a:bodyPr/>
          <a:lstStyle/>
          <a:p>
            <a:endParaRPr lang="fr-FR"/>
          </a:p>
        </p:txBody>
      </p:sp>
      <p:sp>
        <p:nvSpPr>
          <p:cNvPr id="42" name="Text 40"/>
          <p:cNvSpPr/>
          <p:nvPr/>
        </p:nvSpPr>
        <p:spPr>
          <a:xfrm>
            <a:off x="566928" y="2651760"/>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2</a:t>
            </a:r>
            <a:endParaRPr lang="en-US" sz="500" dirty="0"/>
          </a:p>
        </p:txBody>
      </p:sp>
      <p:sp>
        <p:nvSpPr>
          <p:cNvPr id="43" name="Shape 41"/>
          <p:cNvSpPr/>
          <p:nvPr/>
        </p:nvSpPr>
        <p:spPr>
          <a:xfrm>
            <a:off x="1078992" y="2633472"/>
            <a:ext cx="512064" cy="384048"/>
          </a:xfrm>
          <a:prstGeom prst="rect">
            <a:avLst/>
          </a:prstGeom>
          <a:solidFill>
            <a:srgbClr val="DFF3E4"/>
          </a:solidFill>
          <a:ln w="12700">
            <a:solidFill>
              <a:srgbClr val="FFFFFF"/>
            </a:solidFill>
            <a:prstDash val="solid"/>
          </a:ln>
        </p:spPr>
        <p:txBody>
          <a:bodyPr/>
          <a:lstStyle/>
          <a:p>
            <a:endParaRPr lang="fr-FR"/>
          </a:p>
        </p:txBody>
      </p:sp>
      <p:sp>
        <p:nvSpPr>
          <p:cNvPr id="44" name="Text 42"/>
          <p:cNvSpPr/>
          <p:nvPr/>
        </p:nvSpPr>
        <p:spPr>
          <a:xfrm>
            <a:off x="1078992" y="2651760"/>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4</a:t>
            </a:r>
            <a:endParaRPr lang="en-US" sz="500" dirty="0"/>
          </a:p>
        </p:txBody>
      </p:sp>
      <p:sp>
        <p:nvSpPr>
          <p:cNvPr id="45" name="Shape 43"/>
          <p:cNvSpPr/>
          <p:nvPr/>
        </p:nvSpPr>
        <p:spPr>
          <a:xfrm>
            <a:off x="1591056" y="2633472"/>
            <a:ext cx="512064" cy="384048"/>
          </a:xfrm>
          <a:prstGeom prst="rect">
            <a:avLst/>
          </a:prstGeom>
          <a:solidFill>
            <a:srgbClr val="FDF3D4"/>
          </a:solidFill>
          <a:ln w="12700">
            <a:solidFill>
              <a:srgbClr val="FFFFFF"/>
            </a:solidFill>
            <a:prstDash val="solid"/>
          </a:ln>
        </p:spPr>
        <p:txBody>
          <a:bodyPr/>
          <a:lstStyle/>
          <a:p>
            <a:endParaRPr lang="fr-FR"/>
          </a:p>
        </p:txBody>
      </p:sp>
      <p:sp>
        <p:nvSpPr>
          <p:cNvPr id="46" name="Text 44"/>
          <p:cNvSpPr/>
          <p:nvPr/>
        </p:nvSpPr>
        <p:spPr>
          <a:xfrm>
            <a:off x="1591056" y="2651760"/>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6</a:t>
            </a:r>
            <a:endParaRPr lang="en-US" sz="500" dirty="0"/>
          </a:p>
        </p:txBody>
      </p:sp>
      <p:sp>
        <p:nvSpPr>
          <p:cNvPr id="47" name="Shape 45"/>
          <p:cNvSpPr/>
          <p:nvPr/>
        </p:nvSpPr>
        <p:spPr>
          <a:xfrm>
            <a:off x="2103120" y="2633472"/>
            <a:ext cx="512064" cy="384048"/>
          </a:xfrm>
          <a:prstGeom prst="rect">
            <a:avLst/>
          </a:prstGeom>
          <a:solidFill>
            <a:srgbClr val="FDF3D4"/>
          </a:solidFill>
          <a:ln w="12700">
            <a:solidFill>
              <a:srgbClr val="FFFFFF"/>
            </a:solidFill>
            <a:prstDash val="solid"/>
          </a:ln>
        </p:spPr>
        <p:txBody>
          <a:bodyPr/>
          <a:lstStyle/>
          <a:p>
            <a:endParaRPr lang="fr-FR"/>
          </a:p>
        </p:txBody>
      </p:sp>
      <p:sp>
        <p:nvSpPr>
          <p:cNvPr id="48" name="Text 46"/>
          <p:cNvSpPr/>
          <p:nvPr/>
        </p:nvSpPr>
        <p:spPr>
          <a:xfrm>
            <a:off x="2103120" y="2651760"/>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8</a:t>
            </a:r>
            <a:endParaRPr lang="en-US" sz="500" dirty="0"/>
          </a:p>
        </p:txBody>
      </p:sp>
      <p:sp>
        <p:nvSpPr>
          <p:cNvPr id="49" name="Shape 47"/>
          <p:cNvSpPr/>
          <p:nvPr/>
        </p:nvSpPr>
        <p:spPr>
          <a:xfrm>
            <a:off x="2615184" y="2633472"/>
            <a:ext cx="512064" cy="384048"/>
          </a:xfrm>
          <a:prstGeom prst="rect">
            <a:avLst/>
          </a:prstGeom>
          <a:solidFill>
            <a:srgbClr val="FBE0D0"/>
          </a:solidFill>
          <a:ln w="12700">
            <a:solidFill>
              <a:srgbClr val="FFFFFF"/>
            </a:solidFill>
            <a:prstDash val="solid"/>
          </a:ln>
        </p:spPr>
        <p:txBody>
          <a:bodyPr/>
          <a:lstStyle/>
          <a:p>
            <a:endParaRPr lang="fr-FR"/>
          </a:p>
        </p:txBody>
      </p:sp>
      <p:sp>
        <p:nvSpPr>
          <p:cNvPr id="50" name="Text 48"/>
          <p:cNvSpPr/>
          <p:nvPr/>
        </p:nvSpPr>
        <p:spPr>
          <a:xfrm>
            <a:off x="2615184" y="2651760"/>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10</a:t>
            </a:r>
            <a:endParaRPr lang="en-US" sz="500" dirty="0"/>
          </a:p>
        </p:txBody>
      </p:sp>
      <p:sp>
        <p:nvSpPr>
          <p:cNvPr id="51" name="Text 49"/>
          <p:cNvSpPr/>
          <p:nvPr/>
        </p:nvSpPr>
        <p:spPr>
          <a:xfrm>
            <a:off x="292608" y="2743200"/>
            <a:ext cx="237744" cy="146304"/>
          </a:xfrm>
          <a:prstGeom prst="rect">
            <a:avLst/>
          </a:prstGeom>
          <a:noFill/>
          <a:ln/>
        </p:spPr>
        <p:txBody>
          <a:bodyPr wrap="square" lIns="0" tIns="0" rIns="0" bIns="0" rtlCol="0" anchor="ctr"/>
          <a:lstStyle/>
          <a:p>
            <a:pPr marL="0" indent="0" algn="ctr">
              <a:lnSpc>
                <a:spcPct val="106000"/>
              </a:lnSpc>
              <a:buNone/>
            </a:pPr>
            <a:r>
              <a:rPr lang="en-US" sz="650" b="1" dirty="0">
                <a:solidFill>
                  <a:srgbClr val="4A5769"/>
                </a:solidFill>
                <a:latin typeface="Calibri" pitchFamily="34" charset="0"/>
                <a:ea typeface="Calibri" pitchFamily="34" charset="-122"/>
                <a:cs typeface="Calibri" pitchFamily="34" charset="-120"/>
              </a:rPr>
              <a:t>2</a:t>
            </a:r>
            <a:endParaRPr lang="en-US" sz="650" dirty="0"/>
          </a:p>
        </p:txBody>
      </p:sp>
      <p:sp>
        <p:nvSpPr>
          <p:cNvPr id="52" name="Shape 50"/>
          <p:cNvSpPr/>
          <p:nvPr/>
        </p:nvSpPr>
        <p:spPr>
          <a:xfrm>
            <a:off x="566928" y="3017520"/>
            <a:ext cx="512064" cy="384048"/>
          </a:xfrm>
          <a:prstGeom prst="rect">
            <a:avLst/>
          </a:prstGeom>
          <a:solidFill>
            <a:srgbClr val="DFF3E4"/>
          </a:solidFill>
          <a:ln w="12700">
            <a:solidFill>
              <a:srgbClr val="FFFFFF"/>
            </a:solidFill>
            <a:prstDash val="solid"/>
          </a:ln>
        </p:spPr>
        <p:txBody>
          <a:bodyPr/>
          <a:lstStyle/>
          <a:p>
            <a:endParaRPr lang="fr-FR"/>
          </a:p>
        </p:txBody>
      </p:sp>
      <p:sp>
        <p:nvSpPr>
          <p:cNvPr id="53" name="Text 51"/>
          <p:cNvSpPr/>
          <p:nvPr/>
        </p:nvSpPr>
        <p:spPr>
          <a:xfrm>
            <a:off x="566928" y="3035808"/>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1</a:t>
            </a:r>
            <a:endParaRPr lang="en-US" sz="500" dirty="0"/>
          </a:p>
        </p:txBody>
      </p:sp>
      <p:sp>
        <p:nvSpPr>
          <p:cNvPr id="54" name="Shape 52"/>
          <p:cNvSpPr/>
          <p:nvPr/>
        </p:nvSpPr>
        <p:spPr>
          <a:xfrm>
            <a:off x="1078992" y="3017520"/>
            <a:ext cx="512064" cy="384048"/>
          </a:xfrm>
          <a:prstGeom prst="rect">
            <a:avLst/>
          </a:prstGeom>
          <a:solidFill>
            <a:srgbClr val="DFF3E4"/>
          </a:solidFill>
          <a:ln w="12700">
            <a:solidFill>
              <a:srgbClr val="FFFFFF"/>
            </a:solidFill>
            <a:prstDash val="solid"/>
          </a:ln>
        </p:spPr>
        <p:txBody>
          <a:bodyPr/>
          <a:lstStyle/>
          <a:p>
            <a:endParaRPr lang="fr-FR"/>
          </a:p>
        </p:txBody>
      </p:sp>
      <p:sp>
        <p:nvSpPr>
          <p:cNvPr id="55" name="Text 53"/>
          <p:cNvSpPr/>
          <p:nvPr/>
        </p:nvSpPr>
        <p:spPr>
          <a:xfrm>
            <a:off x="1078992" y="3035808"/>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2</a:t>
            </a:r>
            <a:endParaRPr lang="en-US" sz="500" dirty="0"/>
          </a:p>
        </p:txBody>
      </p:sp>
      <p:sp>
        <p:nvSpPr>
          <p:cNvPr id="56" name="Shape 54"/>
          <p:cNvSpPr/>
          <p:nvPr/>
        </p:nvSpPr>
        <p:spPr>
          <a:xfrm>
            <a:off x="1591056" y="3017520"/>
            <a:ext cx="512064" cy="384048"/>
          </a:xfrm>
          <a:prstGeom prst="rect">
            <a:avLst/>
          </a:prstGeom>
          <a:solidFill>
            <a:srgbClr val="DFF3E4"/>
          </a:solidFill>
          <a:ln w="12700">
            <a:solidFill>
              <a:srgbClr val="FFFFFF"/>
            </a:solidFill>
            <a:prstDash val="solid"/>
          </a:ln>
        </p:spPr>
        <p:txBody>
          <a:bodyPr/>
          <a:lstStyle/>
          <a:p>
            <a:endParaRPr lang="fr-FR"/>
          </a:p>
        </p:txBody>
      </p:sp>
      <p:sp>
        <p:nvSpPr>
          <p:cNvPr id="57" name="Text 55"/>
          <p:cNvSpPr/>
          <p:nvPr/>
        </p:nvSpPr>
        <p:spPr>
          <a:xfrm>
            <a:off x="1591056" y="3035808"/>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3</a:t>
            </a:r>
            <a:endParaRPr lang="en-US" sz="500" dirty="0"/>
          </a:p>
        </p:txBody>
      </p:sp>
      <p:sp>
        <p:nvSpPr>
          <p:cNvPr id="58" name="Shape 56"/>
          <p:cNvSpPr/>
          <p:nvPr/>
        </p:nvSpPr>
        <p:spPr>
          <a:xfrm>
            <a:off x="2103120" y="3017520"/>
            <a:ext cx="512064" cy="384048"/>
          </a:xfrm>
          <a:prstGeom prst="rect">
            <a:avLst/>
          </a:prstGeom>
          <a:solidFill>
            <a:srgbClr val="DFF3E4"/>
          </a:solidFill>
          <a:ln w="12700">
            <a:solidFill>
              <a:srgbClr val="FFFFFF"/>
            </a:solidFill>
            <a:prstDash val="solid"/>
          </a:ln>
        </p:spPr>
        <p:txBody>
          <a:bodyPr/>
          <a:lstStyle/>
          <a:p>
            <a:endParaRPr lang="fr-FR"/>
          </a:p>
        </p:txBody>
      </p:sp>
      <p:sp>
        <p:nvSpPr>
          <p:cNvPr id="59" name="Text 57"/>
          <p:cNvSpPr/>
          <p:nvPr/>
        </p:nvSpPr>
        <p:spPr>
          <a:xfrm>
            <a:off x="2103120" y="3035808"/>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4</a:t>
            </a:r>
            <a:endParaRPr lang="en-US" sz="500" dirty="0"/>
          </a:p>
        </p:txBody>
      </p:sp>
      <p:sp>
        <p:nvSpPr>
          <p:cNvPr id="60" name="Shape 58"/>
          <p:cNvSpPr/>
          <p:nvPr/>
        </p:nvSpPr>
        <p:spPr>
          <a:xfrm>
            <a:off x="2615184" y="3017520"/>
            <a:ext cx="512064" cy="384048"/>
          </a:xfrm>
          <a:prstGeom prst="rect">
            <a:avLst/>
          </a:prstGeom>
          <a:solidFill>
            <a:srgbClr val="FDF3D4"/>
          </a:solidFill>
          <a:ln w="12700">
            <a:solidFill>
              <a:srgbClr val="FFFFFF"/>
            </a:solidFill>
            <a:prstDash val="solid"/>
          </a:ln>
        </p:spPr>
        <p:txBody>
          <a:bodyPr/>
          <a:lstStyle/>
          <a:p>
            <a:endParaRPr lang="fr-FR"/>
          </a:p>
        </p:txBody>
      </p:sp>
      <p:sp>
        <p:nvSpPr>
          <p:cNvPr id="61" name="Text 59"/>
          <p:cNvSpPr/>
          <p:nvPr/>
        </p:nvSpPr>
        <p:spPr>
          <a:xfrm>
            <a:off x="2615184" y="3035808"/>
            <a:ext cx="466344" cy="128016"/>
          </a:xfrm>
          <a:prstGeom prst="rect">
            <a:avLst/>
          </a:prstGeom>
          <a:noFill/>
          <a:ln/>
        </p:spPr>
        <p:txBody>
          <a:bodyPr wrap="square" lIns="0" tIns="0" rIns="0" bIns="0" rtlCol="0" anchor="ctr"/>
          <a:lstStyle/>
          <a:p>
            <a:pPr marL="0" indent="0" algn="r">
              <a:lnSpc>
                <a:spcPct val="106000"/>
              </a:lnSpc>
              <a:buNone/>
            </a:pPr>
            <a:r>
              <a:rPr lang="en-US" sz="500" dirty="0">
                <a:solidFill>
                  <a:srgbClr val="8FA6BC"/>
                </a:solidFill>
                <a:latin typeface="Calibri" pitchFamily="34" charset="0"/>
                <a:ea typeface="Calibri" pitchFamily="34" charset="-122"/>
                <a:cs typeface="Calibri" pitchFamily="34" charset="-120"/>
              </a:rPr>
              <a:t>5</a:t>
            </a:r>
            <a:endParaRPr lang="en-US" sz="500" dirty="0"/>
          </a:p>
        </p:txBody>
      </p:sp>
      <p:sp>
        <p:nvSpPr>
          <p:cNvPr id="62" name="Text 60"/>
          <p:cNvSpPr/>
          <p:nvPr/>
        </p:nvSpPr>
        <p:spPr>
          <a:xfrm>
            <a:off x="292608" y="3127248"/>
            <a:ext cx="237744" cy="146304"/>
          </a:xfrm>
          <a:prstGeom prst="rect">
            <a:avLst/>
          </a:prstGeom>
          <a:noFill/>
          <a:ln/>
        </p:spPr>
        <p:txBody>
          <a:bodyPr wrap="square" lIns="0" tIns="0" rIns="0" bIns="0" rtlCol="0" anchor="ctr"/>
          <a:lstStyle/>
          <a:p>
            <a:pPr marL="0" indent="0" algn="ctr">
              <a:lnSpc>
                <a:spcPct val="106000"/>
              </a:lnSpc>
              <a:buNone/>
            </a:pPr>
            <a:r>
              <a:rPr lang="en-US" sz="650" b="1" dirty="0">
                <a:solidFill>
                  <a:srgbClr val="4A5769"/>
                </a:solidFill>
                <a:latin typeface="Calibri" pitchFamily="34" charset="0"/>
                <a:ea typeface="Calibri" pitchFamily="34" charset="-122"/>
                <a:cs typeface="Calibri" pitchFamily="34" charset="-120"/>
              </a:rPr>
              <a:t>1</a:t>
            </a:r>
            <a:endParaRPr lang="en-US" sz="650" dirty="0"/>
          </a:p>
        </p:txBody>
      </p:sp>
      <p:sp>
        <p:nvSpPr>
          <p:cNvPr id="63" name="Text 61"/>
          <p:cNvSpPr/>
          <p:nvPr/>
        </p:nvSpPr>
        <p:spPr>
          <a:xfrm>
            <a:off x="566928" y="3438144"/>
            <a:ext cx="512064" cy="146304"/>
          </a:xfrm>
          <a:prstGeom prst="rect">
            <a:avLst/>
          </a:prstGeom>
          <a:noFill/>
          <a:ln/>
        </p:spPr>
        <p:txBody>
          <a:bodyPr wrap="square" lIns="0" tIns="0" rIns="0" bIns="0" rtlCol="0" anchor="ctr"/>
          <a:lstStyle/>
          <a:p>
            <a:pPr marL="0" indent="0" algn="ctr">
              <a:lnSpc>
                <a:spcPct val="106000"/>
              </a:lnSpc>
              <a:buNone/>
            </a:pPr>
            <a:r>
              <a:rPr lang="en-US" sz="520" dirty="0">
                <a:solidFill>
                  <a:srgbClr val="8FA6BC"/>
                </a:solidFill>
                <a:latin typeface="Calibri" pitchFamily="34" charset="0"/>
                <a:ea typeface="Calibri" pitchFamily="34" charset="-122"/>
                <a:cs typeface="Calibri" pitchFamily="34" charset="-120"/>
              </a:rPr>
              <a:t>Rare</a:t>
            </a:r>
            <a:endParaRPr lang="en-US" sz="520" dirty="0"/>
          </a:p>
        </p:txBody>
      </p:sp>
      <p:sp>
        <p:nvSpPr>
          <p:cNvPr id="64" name="Text 62"/>
          <p:cNvSpPr/>
          <p:nvPr/>
        </p:nvSpPr>
        <p:spPr>
          <a:xfrm>
            <a:off x="1078992" y="3438144"/>
            <a:ext cx="512064" cy="146304"/>
          </a:xfrm>
          <a:prstGeom prst="rect">
            <a:avLst/>
          </a:prstGeom>
          <a:noFill/>
          <a:ln/>
        </p:spPr>
        <p:txBody>
          <a:bodyPr wrap="square" lIns="0" tIns="0" rIns="0" bIns="0" rtlCol="0" anchor="ctr"/>
          <a:lstStyle/>
          <a:p>
            <a:pPr marL="0" indent="0" algn="ctr">
              <a:lnSpc>
                <a:spcPct val="106000"/>
              </a:lnSpc>
              <a:buNone/>
            </a:pPr>
            <a:r>
              <a:rPr lang="en-US" sz="520" dirty="0">
                <a:solidFill>
                  <a:srgbClr val="8FA6BC"/>
                </a:solidFill>
                <a:latin typeface="Calibri" pitchFamily="34" charset="0"/>
                <a:ea typeface="Calibri" pitchFamily="34" charset="-122"/>
                <a:cs typeface="Calibri" pitchFamily="34" charset="-120"/>
              </a:rPr>
              <a:t>Peu prob.</a:t>
            </a:r>
            <a:endParaRPr lang="en-US" sz="520" dirty="0"/>
          </a:p>
        </p:txBody>
      </p:sp>
      <p:sp>
        <p:nvSpPr>
          <p:cNvPr id="65" name="Text 63"/>
          <p:cNvSpPr/>
          <p:nvPr/>
        </p:nvSpPr>
        <p:spPr>
          <a:xfrm>
            <a:off x="1591056" y="3438144"/>
            <a:ext cx="512064" cy="146304"/>
          </a:xfrm>
          <a:prstGeom prst="rect">
            <a:avLst/>
          </a:prstGeom>
          <a:noFill/>
          <a:ln/>
        </p:spPr>
        <p:txBody>
          <a:bodyPr wrap="square" lIns="0" tIns="0" rIns="0" bIns="0" rtlCol="0" anchor="ctr"/>
          <a:lstStyle/>
          <a:p>
            <a:pPr marL="0" indent="0" algn="ctr">
              <a:lnSpc>
                <a:spcPct val="106000"/>
              </a:lnSpc>
              <a:buNone/>
            </a:pPr>
            <a:r>
              <a:rPr lang="en-US" sz="520" dirty="0">
                <a:solidFill>
                  <a:srgbClr val="8FA6BC"/>
                </a:solidFill>
                <a:latin typeface="Calibri" pitchFamily="34" charset="0"/>
                <a:ea typeface="Calibri" pitchFamily="34" charset="-122"/>
                <a:cs typeface="Calibri" pitchFamily="34" charset="-120"/>
              </a:rPr>
              <a:t>Possible</a:t>
            </a:r>
            <a:endParaRPr lang="en-US" sz="520" dirty="0"/>
          </a:p>
        </p:txBody>
      </p:sp>
      <p:sp>
        <p:nvSpPr>
          <p:cNvPr id="66" name="Text 64"/>
          <p:cNvSpPr/>
          <p:nvPr/>
        </p:nvSpPr>
        <p:spPr>
          <a:xfrm>
            <a:off x="2103120" y="3438144"/>
            <a:ext cx="512064" cy="146304"/>
          </a:xfrm>
          <a:prstGeom prst="rect">
            <a:avLst/>
          </a:prstGeom>
          <a:noFill/>
          <a:ln/>
        </p:spPr>
        <p:txBody>
          <a:bodyPr wrap="square" lIns="0" tIns="0" rIns="0" bIns="0" rtlCol="0" anchor="ctr"/>
          <a:lstStyle/>
          <a:p>
            <a:pPr marL="0" indent="0" algn="ctr">
              <a:lnSpc>
                <a:spcPct val="106000"/>
              </a:lnSpc>
              <a:buNone/>
            </a:pPr>
            <a:r>
              <a:rPr lang="en-US" sz="520" dirty="0">
                <a:solidFill>
                  <a:srgbClr val="8FA6BC"/>
                </a:solidFill>
                <a:latin typeface="Calibri" pitchFamily="34" charset="0"/>
                <a:ea typeface="Calibri" pitchFamily="34" charset="-122"/>
                <a:cs typeface="Calibri" pitchFamily="34" charset="-120"/>
              </a:rPr>
              <a:t>Probable</a:t>
            </a:r>
            <a:endParaRPr lang="en-US" sz="520" dirty="0"/>
          </a:p>
        </p:txBody>
      </p:sp>
      <p:sp>
        <p:nvSpPr>
          <p:cNvPr id="67" name="Text 65"/>
          <p:cNvSpPr/>
          <p:nvPr/>
        </p:nvSpPr>
        <p:spPr>
          <a:xfrm>
            <a:off x="2615184" y="3438144"/>
            <a:ext cx="512064" cy="146304"/>
          </a:xfrm>
          <a:prstGeom prst="rect">
            <a:avLst/>
          </a:prstGeom>
          <a:noFill/>
          <a:ln/>
        </p:spPr>
        <p:txBody>
          <a:bodyPr wrap="square" lIns="0" tIns="0" rIns="0" bIns="0" rtlCol="0" anchor="ctr"/>
          <a:lstStyle/>
          <a:p>
            <a:pPr marL="0" indent="0" algn="ctr">
              <a:lnSpc>
                <a:spcPct val="106000"/>
              </a:lnSpc>
              <a:buNone/>
            </a:pPr>
            <a:r>
              <a:rPr lang="en-US" sz="520" dirty="0">
                <a:solidFill>
                  <a:srgbClr val="8FA6BC"/>
                </a:solidFill>
                <a:latin typeface="Calibri" pitchFamily="34" charset="0"/>
                <a:ea typeface="Calibri" pitchFamily="34" charset="-122"/>
                <a:cs typeface="Calibri" pitchFamily="34" charset="-120"/>
              </a:rPr>
              <a:t>Très prob.</a:t>
            </a:r>
            <a:endParaRPr lang="en-US" sz="520" dirty="0"/>
          </a:p>
        </p:txBody>
      </p:sp>
      <p:sp>
        <p:nvSpPr>
          <p:cNvPr id="68" name="Text 66"/>
          <p:cNvSpPr/>
          <p:nvPr/>
        </p:nvSpPr>
        <p:spPr>
          <a:xfrm>
            <a:off x="274320" y="1298448"/>
            <a:ext cx="822960" cy="128016"/>
          </a:xfrm>
          <a:prstGeom prst="rect">
            <a:avLst/>
          </a:prstGeom>
          <a:noFill/>
          <a:ln/>
        </p:spPr>
        <p:txBody>
          <a:bodyPr wrap="square" lIns="0" tIns="0" rIns="0" bIns="0" rtlCol="0" anchor="ctr"/>
          <a:lstStyle/>
          <a:p>
            <a:pPr marL="0" indent="0" algn="l">
              <a:lnSpc>
                <a:spcPct val="106000"/>
              </a:lnSpc>
              <a:buNone/>
            </a:pPr>
            <a:r>
              <a:rPr lang="en-US" sz="540" b="1" dirty="0">
                <a:solidFill>
                  <a:srgbClr val="8FA6BC"/>
                </a:solidFill>
                <a:latin typeface="Calibri" pitchFamily="34" charset="0"/>
                <a:ea typeface="Calibri" pitchFamily="34" charset="-122"/>
                <a:cs typeface="Calibri" pitchFamily="34" charset="-120"/>
              </a:rPr>
              <a:t>IMPACT →</a:t>
            </a:r>
            <a:endParaRPr lang="en-US" sz="540" dirty="0"/>
          </a:p>
        </p:txBody>
      </p:sp>
      <p:sp>
        <p:nvSpPr>
          <p:cNvPr id="69" name="Text 67"/>
          <p:cNvSpPr/>
          <p:nvPr/>
        </p:nvSpPr>
        <p:spPr>
          <a:xfrm>
            <a:off x="566928" y="3584448"/>
            <a:ext cx="2560320" cy="128016"/>
          </a:xfrm>
          <a:prstGeom prst="rect">
            <a:avLst/>
          </a:prstGeom>
          <a:noFill/>
          <a:ln/>
        </p:spPr>
        <p:txBody>
          <a:bodyPr wrap="square" lIns="0" tIns="0" rIns="0" bIns="0" rtlCol="0" anchor="ctr"/>
          <a:lstStyle/>
          <a:p>
            <a:pPr marL="0" indent="0" algn="l">
              <a:lnSpc>
                <a:spcPct val="106000"/>
              </a:lnSpc>
              <a:buNone/>
            </a:pPr>
            <a:r>
              <a:rPr lang="en-US" sz="540" b="1" dirty="0">
                <a:solidFill>
                  <a:srgbClr val="8FA6BC"/>
                </a:solidFill>
                <a:latin typeface="Calibri" pitchFamily="34" charset="0"/>
                <a:ea typeface="Calibri" pitchFamily="34" charset="-122"/>
                <a:cs typeface="Calibri" pitchFamily="34" charset="-120"/>
              </a:rPr>
              <a:t>PROBABILITÉ →</a:t>
            </a:r>
            <a:endParaRPr lang="en-US" sz="540" dirty="0"/>
          </a:p>
        </p:txBody>
      </p:sp>
      <p:sp>
        <p:nvSpPr>
          <p:cNvPr id="70" name="Shape 68"/>
          <p:cNvSpPr/>
          <p:nvPr/>
        </p:nvSpPr>
        <p:spPr>
          <a:xfrm>
            <a:off x="1673352" y="1563624"/>
            <a:ext cx="210312" cy="210312"/>
          </a:xfrm>
          <a:prstGeom prst="ellipse">
            <a:avLst/>
          </a:prstGeom>
          <a:solidFill>
            <a:srgbClr val="B03A48"/>
          </a:solidFill>
          <a:ln w="12700">
            <a:solidFill>
              <a:srgbClr val="FFFFFF"/>
            </a:solidFill>
            <a:prstDash val="solid"/>
          </a:ln>
        </p:spPr>
        <p:txBody>
          <a:bodyPr/>
          <a:lstStyle/>
          <a:p>
            <a:endParaRPr lang="fr-FR"/>
          </a:p>
        </p:txBody>
      </p:sp>
      <p:sp>
        <p:nvSpPr>
          <p:cNvPr id="71" name="Text 69"/>
          <p:cNvSpPr/>
          <p:nvPr/>
        </p:nvSpPr>
        <p:spPr>
          <a:xfrm>
            <a:off x="1673352" y="1604772"/>
            <a:ext cx="210312" cy="137160"/>
          </a:xfrm>
          <a:prstGeom prst="rect">
            <a:avLst/>
          </a:prstGeom>
          <a:noFill/>
          <a:ln/>
        </p:spPr>
        <p:txBody>
          <a:bodyPr wrap="square" lIns="0" tIns="0" rIns="0" bIns="0" rtlCol="0" anchor="ctr"/>
          <a:lstStyle/>
          <a:p>
            <a:pPr marL="0" indent="0" algn="ctr">
              <a:lnSpc>
                <a:spcPct val="106000"/>
              </a:lnSpc>
              <a:buNone/>
            </a:pPr>
            <a:r>
              <a:rPr lang="en-US" sz="540" b="1" dirty="0">
                <a:solidFill>
                  <a:srgbClr val="FFFFFF"/>
                </a:solidFill>
                <a:latin typeface="Calibri" pitchFamily="34" charset="0"/>
                <a:ea typeface="Calibri" pitchFamily="34" charset="-122"/>
                <a:cs typeface="Calibri" pitchFamily="34" charset="-120"/>
              </a:rPr>
              <a:t>R1</a:t>
            </a:r>
            <a:endParaRPr lang="en-US" sz="540" dirty="0"/>
          </a:p>
        </p:txBody>
      </p:sp>
      <p:sp>
        <p:nvSpPr>
          <p:cNvPr id="72" name="Shape 70"/>
          <p:cNvSpPr/>
          <p:nvPr/>
        </p:nvSpPr>
        <p:spPr>
          <a:xfrm>
            <a:off x="1161288" y="1563624"/>
            <a:ext cx="210312" cy="210312"/>
          </a:xfrm>
          <a:prstGeom prst="ellipse">
            <a:avLst/>
          </a:prstGeom>
          <a:solidFill>
            <a:srgbClr val="D2691E"/>
          </a:solidFill>
          <a:ln w="12700">
            <a:solidFill>
              <a:srgbClr val="FFFFFF"/>
            </a:solidFill>
            <a:prstDash val="solid"/>
          </a:ln>
        </p:spPr>
        <p:txBody>
          <a:bodyPr/>
          <a:lstStyle/>
          <a:p>
            <a:endParaRPr lang="fr-FR"/>
          </a:p>
        </p:txBody>
      </p:sp>
      <p:sp>
        <p:nvSpPr>
          <p:cNvPr id="73" name="Text 71"/>
          <p:cNvSpPr/>
          <p:nvPr/>
        </p:nvSpPr>
        <p:spPr>
          <a:xfrm>
            <a:off x="1161288" y="1604772"/>
            <a:ext cx="210312" cy="137160"/>
          </a:xfrm>
          <a:prstGeom prst="rect">
            <a:avLst/>
          </a:prstGeom>
          <a:noFill/>
          <a:ln/>
        </p:spPr>
        <p:txBody>
          <a:bodyPr wrap="square" lIns="0" tIns="0" rIns="0" bIns="0" rtlCol="0" anchor="ctr"/>
          <a:lstStyle/>
          <a:p>
            <a:pPr marL="0" indent="0" algn="ctr">
              <a:lnSpc>
                <a:spcPct val="106000"/>
              </a:lnSpc>
              <a:buNone/>
            </a:pPr>
            <a:r>
              <a:rPr lang="en-US" sz="540" b="1" dirty="0">
                <a:solidFill>
                  <a:srgbClr val="FFFFFF"/>
                </a:solidFill>
                <a:latin typeface="Calibri" pitchFamily="34" charset="0"/>
                <a:ea typeface="Calibri" pitchFamily="34" charset="-122"/>
                <a:cs typeface="Calibri" pitchFamily="34" charset="-120"/>
              </a:rPr>
              <a:t>R2</a:t>
            </a:r>
            <a:endParaRPr lang="en-US" sz="540" dirty="0"/>
          </a:p>
        </p:txBody>
      </p:sp>
      <p:sp>
        <p:nvSpPr>
          <p:cNvPr id="74" name="Shape 72"/>
          <p:cNvSpPr/>
          <p:nvPr/>
        </p:nvSpPr>
        <p:spPr>
          <a:xfrm>
            <a:off x="1673352" y="1947672"/>
            <a:ext cx="210312" cy="210312"/>
          </a:xfrm>
          <a:prstGeom prst="ellipse">
            <a:avLst/>
          </a:prstGeom>
          <a:solidFill>
            <a:srgbClr val="D2691E"/>
          </a:solidFill>
          <a:ln w="12700">
            <a:solidFill>
              <a:srgbClr val="FFFFFF"/>
            </a:solidFill>
            <a:prstDash val="solid"/>
          </a:ln>
        </p:spPr>
        <p:txBody>
          <a:bodyPr/>
          <a:lstStyle/>
          <a:p>
            <a:endParaRPr lang="fr-FR"/>
          </a:p>
        </p:txBody>
      </p:sp>
      <p:sp>
        <p:nvSpPr>
          <p:cNvPr id="75" name="Text 73"/>
          <p:cNvSpPr/>
          <p:nvPr/>
        </p:nvSpPr>
        <p:spPr>
          <a:xfrm>
            <a:off x="1673352" y="1988820"/>
            <a:ext cx="210312" cy="137160"/>
          </a:xfrm>
          <a:prstGeom prst="rect">
            <a:avLst/>
          </a:prstGeom>
          <a:noFill/>
          <a:ln/>
        </p:spPr>
        <p:txBody>
          <a:bodyPr wrap="square" lIns="0" tIns="0" rIns="0" bIns="0" rtlCol="0" anchor="ctr"/>
          <a:lstStyle/>
          <a:p>
            <a:pPr marL="0" indent="0" algn="ctr">
              <a:lnSpc>
                <a:spcPct val="106000"/>
              </a:lnSpc>
              <a:buNone/>
            </a:pPr>
            <a:r>
              <a:rPr lang="en-US" sz="540" b="1" dirty="0">
                <a:solidFill>
                  <a:srgbClr val="FFFFFF"/>
                </a:solidFill>
                <a:latin typeface="Calibri" pitchFamily="34" charset="0"/>
                <a:ea typeface="Calibri" pitchFamily="34" charset="-122"/>
                <a:cs typeface="Calibri" pitchFamily="34" charset="-120"/>
              </a:rPr>
              <a:t>R3</a:t>
            </a:r>
            <a:endParaRPr lang="en-US" sz="540" dirty="0"/>
          </a:p>
        </p:txBody>
      </p:sp>
      <p:sp>
        <p:nvSpPr>
          <p:cNvPr id="76" name="Shape 74"/>
          <p:cNvSpPr/>
          <p:nvPr/>
        </p:nvSpPr>
        <p:spPr>
          <a:xfrm>
            <a:off x="1380744" y="1563624"/>
            <a:ext cx="210312" cy="210312"/>
          </a:xfrm>
          <a:prstGeom prst="ellipse">
            <a:avLst/>
          </a:prstGeom>
          <a:solidFill>
            <a:srgbClr val="D2691E"/>
          </a:solidFill>
          <a:ln w="12700">
            <a:solidFill>
              <a:srgbClr val="FFFFFF"/>
            </a:solidFill>
            <a:prstDash val="solid"/>
          </a:ln>
        </p:spPr>
        <p:txBody>
          <a:bodyPr/>
          <a:lstStyle/>
          <a:p>
            <a:endParaRPr lang="fr-FR"/>
          </a:p>
        </p:txBody>
      </p:sp>
      <p:sp>
        <p:nvSpPr>
          <p:cNvPr id="77" name="Text 75"/>
          <p:cNvSpPr/>
          <p:nvPr/>
        </p:nvSpPr>
        <p:spPr>
          <a:xfrm>
            <a:off x="1380744" y="1604772"/>
            <a:ext cx="210312" cy="137160"/>
          </a:xfrm>
          <a:prstGeom prst="rect">
            <a:avLst/>
          </a:prstGeom>
          <a:noFill/>
          <a:ln/>
        </p:spPr>
        <p:txBody>
          <a:bodyPr wrap="square" lIns="0" tIns="0" rIns="0" bIns="0" rtlCol="0" anchor="ctr"/>
          <a:lstStyle/>
          <a:p>
            <a:pPr marL="0" indent="0" algn="ctr">
              <a:lnSpc>
                <a:spcPct val="106000"/>
              </a:lnSpc>
              <a:buNone/>
            </a:pPr>
            <a:r>
              <a:rPr lang="en-US" sz="540" b="1" dirty="0">
                <a:solidFill>
                  <a:srgbClr val="FFFFFF"/>
                </a:solidFill>
                <a:latin typeface="Calibri" pitchFamily="34" charset="0"/>
                <a:ea typeface="Calibri" pitchFamily="34" charset="-122"/>
                <a:cs typeface="Calibri" pitchFamily="34" charset="-120"/>
              </a:rPr>
              <a:t>R4</a:t>
            </a:r>
            <a:endParaRPr lang="en-US" sz="540" dirty="0"/>
          </a:p>
        </p:txBody>
      </p:sp>
      <p:sp>
        <p:nvSpPr>
          <p:cNvPr id="78" name="Shape 76"/>
          <p:cNvSpPr/>
          <p:nvPr/>
        </p:nvSpPr>
        <p:spPr>
          <a:xfrm>
            <a:off x="1161288" y="2715768"/>
            <a:ext cx="210312" cy="210312"/>
          </a:xfrm>
          <a:prstGeom prst="ellipse">
            <a:avLst/>
          </a:prstGeom>
          <a:solidFill>
            <a:srgbClr val="12855A"/>
          </a:solidFill>
          <a:ln w="12700">
            <a:solidFill>
              <a:srgbClr val="FFFFFF"/>
            </a:solidFill>
            <a:prstDash val="solid"/>
          </a:ln>
        </p:spPr>
        <p:txBody>
          <a:bodyPr/>
          <a:lstStyle/>
          <a:p>
            <a:endParaRPr lang="fr-FR"/>
          </a:p>
        </p:txBody>
      </p:sp>
      <p:sp>
        <p:nvSpPr>
          <p:cNvPr id="79" name="Text 77"/>
          <p:cNvSpPr/>
          <p:nvPr/>
        </p:nvSpPr>
        <p:spPr>
          <a:xfrm>
            <a:off x="1161288" y="2756916"/>
            <a:ext cx="210312" cy="137160"/>
          </a:xfrm>
          <a:prstGeom prst="rect">
            <a:avLst/>
          </a:prstGeom>
          <a:noFill/>
          <a:ln/>
        </p:spPr>
        <p:txBody>
          <a:bodyPr wrap="square" lIns="0" tIns="0" rIns="0" bIns="0" rtlCol="0" anchor="ctr"/>
          <a:lstStyle/>
          <a:p>
            <a:pPr marL="0" indent="0" algn="ctr">
              <a:lnSpc>
                <a:spcPct val="106000"/>
              </a:lnSpc>
              <a:buNone/>
            </a:pPr>
            <a:r>
              <a:rPr lang="en-US" sz="540" b="1" dirty="0">
                <a:solidFill>
                  <a:srgbClr val="FFFFFF"/>
                </a:solidFill>
                <a:latin typeface="Calibri" pitchFamily="34" charset="0"/>
                <a:ea typeface="Calibri" pitchFamily="34" charset="-122"/>
                <a:cs typeface="Calibri" pitchFamily="34" charset="-120"/>
              </a:rPr>
              <a:t>R5</a:t>
            </a:r>
            <a:endParaRPr lang="en-US" sz="540" dirty="0"/>
          </a:p>
        </p:txBody>
      </p:sp>
      <p:sp>
        <p:nvSpPr>
          <p:cNvPr id="80" name="Shape 78"/>
          <p:cNvSpPr/>
          <p:nvPr/>
        </p:nvSpPr>
        <p:spPr>
          <a:xfrm>
            <a:off x="1673352" y="2331720"/>
            <a:ext cx="210312" cy="210312"/>
          </a:xfrm>
          <a:prstGeom prst="ellipse">
            <a:avLst/>
          </a:prstGeom>
          <a:solidFill>
            <a:srgbClr val="E08A3C"/>
          </a:solidFill>
          <a:ln w="12700">
            <a:solidFill>
              <a:srgbClr val="FFFFFF"/>
            </a:solidFill>
            <a:prstDash val="solid"/>
          </a:ln>
        </p:spPr>
        <p:txBody>
          <a:bodyPr/>
          <a:lstStyle/>
          <a:p>
            <a:endParaRPr lang="fr-FR"/>
          </a:p>
        </p:txBody>
      </p:sp>
      <p:sp>
        <p:nvSpPr>
          <p:cNvPr id="81" name="Text 79"/>
          <p:cNvSpPr/>
          <p:nvPr/>
        </p:nvSpPr>
        <p:spPr>
          <a:xfrm>
            <a:off x="1673352" y="2372868"/>
            <a:ext cx="210312" cy="137160"/>
          </a:xfrm>
          <a:prstGeom prst="rect">
            <a:avLst/>
          </a:prstGeom>
          <a:noFill/>
          <a:ln/>
        </p:spPr>
        <p:txBody>
          <a:bodyPr wrap="square" lIns="0" tIns="0" rIns="0" bIns="0" rtlCol="0" anchor="ctr"/>
          <a:lstStyle/>
          <a:p>
            <a:pPr marL="0" indent="0" algn="ctr">
              <a:lnSpc>
                <a:spcPct val="106000"/>
              </a:lnSpc>
              <a:buNone/>
            </a:pPr>
            <a:r>
              <a:rPr lang="en-US" sz="540" b="1" dirty="0">
                <a:solidFill>
                  <a:srgbClr val="FFFFFF"/>
                </a:solidFill>
                <a:latin typeface="Calibri" pitchFamily="34" charset="0"/>
                <a:ea typeface="Calibri" pitchFamily="34" charset="-122"/>
                <a:cs typeface="Calibri" pitchFamily="34" charset="-120"/>
              </a:rPr>
              <a:t>R6</a:t>
            </a:r>
            <a:endParaRPr lang="en-US" sz="540" dirty="0"/>
          </a:p>
        </p:txBody>
      </p:sp>
      <p:sp>
        <p:nvSpPr>
          <p:cNvPr id="82" name="Shape 80"/>
          <p:cNvSpPr/>
          <p:nvPr/>
        </p:nvSpPr>
        <p:spPr>
          <a:xfrm>
            <a:off x="1161288" y="1947672"/>
            <a:ext cx="210312" cy="210312"/>
          </a:xfrm>
          <a:prstGeom prst="ellipse">
            <a:avLst/>
          </a:prstGeom>
          <a:solidFill>
            <a:srgbClr val="E08A3C"/>
          </a:solidFill>
          <a:ln w="12700">
            <a:solidFill>
              <a:srgbClr val="FFFFFF"/>
            </a:solidFill>
            <a:prstDash val="solid"/>
          </a:ln>
        </p:spPr>
        <p:txBody>
          <a:bodyPr/>
          <a:lstStyle/>
          <a:p>
            <a:endParaRPr lang="fr-FR"/>
          </a:p>
        </p:txBody>
      </p:sp>
      <p:sp>
        <p:nvSpPr>
          <p:cNvPr id="83" name="Text 81"/>
          <p:cNvSpPr/>
          <p:nvPr/>
        </p:nvSpPr>
        <p:spPr>
          <a:xfrm>
            <a:off x="1161288" y="1988820"/>
            <a:ext cx="210312" cy="137160"/>
          </a:xfrm>
          <a:prstGeom prst="rect">
            <a:avLst/>
          </a:prstGeom>
          <a:noFill/>
          <a:ln/>
        </p:spPr>
        <p:txBody>
          <a:bodyPr wrap="square" lIns="0" tIns="0" rIns="0" bIns="0" rtlCol="0" anchor="ctr"/>
          <a:lstStyle/>
          <a:p>
            <a:pPr marL="0" indent="0" algn="ctr">
              <a:lnSpc>
                <a:spcPct val="106000"/>
              </a:lnSpc>
              <a:buNone/>
            </a:pPr>
            <a:r>
              <a:rPr lang="en-US" sz="540" b="1" dirty="0">
                <a:solidFill>
                  <a:srgbClr val="FFFFFF"/>
                </a:solidFill>
                <a:latin typeface="Calibri" pitchFamily="34" charset="0"/>
                <a:ea typeface="Calibri" pitchFamily="34" charset="-122"/>
                <a:cs typeface="Calibri" pitchFamily="34" charset="-120"/>
              </a:rPr>
              <a:t>R7</a:t>
            </a:r>
            <a:endParaRPr lang="en-US" sz="540" dirty="0"/>
          </a:p>
        </p:txBody>
      </p:sp>
      <p:sp>
        <p:nvSpPr>
          <p:cNvPr id="84" name="Shape 82"/>
          <p:cNvSpPr/>
          <p:nvPr/>
        </p:nvSpPr>
        <p:spPr>
          <a:xfrm>
            <a:off x="1892808" y="2331720"/>
            <a:ext cx="210312" cy="210312"/>
          </a:xfrm>
          <a:prstGeom prst="ellipse">
            <a:avLst/>
          </a:prstGeom>
          <a:solidFill>
            <a:srgbClr val="E08A3C"/>
          </a:solidFill>
          <a:ln w="12700">
            <a:solidFill>
              <a:srgbClr val="FFFFFF"/>
            </a:solidFill>
            <a:prstDash val="solid"/>
          </a:ln>
        </p:spPr>
        <p:txBody>
          <a:bodyPr/>
          <a:lstStyle/>
          <a:p>
            <a:endParaRPr lang="fr-FR"/>
          </a:p>
        </p:txBody>
      </p:sp>
      <p:sp>
        <p:nvSpPr>
          <p:cNvPr id="85" name="Text 83"/>
          <p:cNvSpPr/>
          <p:nvPr/>
        </p:nvSpPr>
        <p:spPr>
          <a:xfrm>
            <a:off x="1892808" y="2372868"/>
            <a:ext cx="210312" cy="137160"/>
          </a:xfrm>
          <a:prstGeom prst="rect">
            <a:avLst/>
          </a:prstGeom>
          <a:noFill/>
          <a:ln/>
        </p:spPr>
        <p:txBody>
          <a:bodyPr wrap="square" lIns="0" tIns="0" rIns="0" bIns="0" rtlCol="0" anchor="ctr"/>
          <a:lstStyle/>
          <a:p>
            <a:pPr marL="0" indent="0" algn="ctr">
              <a:lnSpc>
                <a:spcPct val="106000"/>
              </a:lnSpc>
              <a:buNone/>
            </a:pPr>
            <a:r>
              <a:rPr lang="en-US" sz="540" b="1" dirty="0">
                <a:solidFill>
                  <a:srgbClr val="FFFFFF"/>
                </a:solidFill>
                <a:latin typeface="Calibri" pitchFamily="34" charset="0"/>
                <a:ea typeface="Calibri" pitchFamily="34" charset="-122"/>
                <a:cs typeface="Calibri" pitchFamily="34" charset="-120"/>
              </a:rPr>
              <a:t>R8</a:t>
            </a:r>
            <a:endParaRPr lang="en-US" sz="540" dirty="0"/>
          </a:p>
        </p:txBody>
      </p:sp>
      <p:sp>
        <p:nvSpPr>
          <p:cNvPr id="86" name="Shape 84"/>
          <p:cNvSpPr/>
          <p:nvPr/>
        </p:nvSpPr>
        <p:spPr>
          <a:xfrm>
            <a:off x="1673352" y="2715768"/>
            <a:ext cx="210312" cy="210312"/>
          </a:xfrm>
          <a:prstGeom prst="ellipse">
            <a:avLst/>
          </a:prstGeom>
          <a:solidFill>
            <a:srgbClr val="E08A3C"/>
          </a:solidFill>
          <a:ln w="12700">
            <a:solidFill>
              <a:srgbClr val="FFFFFF"/>
            </a:solidFill>
            <a:prstDash val="solid"/>
          </a:ln>
        </p:spPr>
        <p:txBody>
          <a:bodyPr/>
          <a:lstStyle/>
          <a:p>
            <a:endParaRPr lang="fr-FR"/>
          </a:p>
        </p:txBody>
      </p:sp>
      <p:sp>
        <p:nvSpPr>
          <p:cNvPr id="87" name="Text 85"/>
          <p:cNvSpPr/>
          <p:nvPr/>
        </p:nvSpPr>
        <p:spPr>
          <a:xfrm>
            <a:off x="1673352" y="2756916"/>
            <a:ext cx="210312" cy="137160"/>
          </a:xfrm>
          <a:prstGeom prst="rect">
            <a:avLst/>
          </a:prstGeom>
          <a:noFill/>
          <a:ln/>
        </p:spPr>
        <p:txBody>
          <a:bodyPr wrap="square" lIns="0" tIns="0" rIns="0" bIns="0" rtlCol="0" anchor="ctr"/>
          <a:lstStyle/>
          <a:p>
            <a:pPr marL="0" indent="0" algn="ctr">
              <a:lnSpc>
                <a:spcPct val="106000"/>
              </a:lnSpc>
              <a:buNone/>
            </a:pPr>
            <a:r>
              <a:rPr lang="en-US" sz="540" b="1" dirty="0">
                <a:solidFill>
                  <a:srgbClr val="FFFFFF"/>
                </a:solidFill>
                <a:latin typeface="Calibri" pitchFamily="34" charset="0"/>
                <a:ea typeface="Calibri" pitchFamily="34" charset="-122"/>
                <a:cs typeface="Calibri" pitchFamily="34" charset="-120"/>
              </a:rPr>
              <a:t>R9</a:t>
            </a:r>
            <a:endParaRPr lang="en-US" sz="540" dirty="0"/>
          </a:p>
        </p:txBody>
      </p:sp>
      <p:sp>
        <p:nvSpPr>
          <p:cNvPr id="88" name="Shape 86"/>
          <p:cNvSpPr/>
          <p:nvPr/>
        </p:nvSpPr>
        <p:spPr>
          <a:xfrm>
            <a:off x="1161288" y="2331720"/>
            <a:ext cx="210312" cy="210312"/>
          </a:xfrm>
          <a:prstGeom prst="ellipse">
            <a:avLst/>
          </a:prstGeom>
          <a:solidFill>
            <a:srgbClr val="E08A3C"/>
          </a:solidFill>
          <a:ln w="12700">
            <a:solidFill>
              <a:srgbClr val="FFFFFF"/>
            </a:solidFill>
            <a:prstDash val="solid"/>
          </a:ln>
        </p:spPr>
        <p:txBody>
          <a:bodyPr/>
          <a:lstStyle/>
          <a:p>
            <a:endParaRPr lang="fr-FR"/>
          </a:p>
        </p:txBody>
      </p:sp>
      <p:sp>
        <p:nvSpPr>
          <p:cNvPr id="89" name="Text 87"/>
          <p:cNvSpPr/>
          <p:nvPr/>
        </p:nvSpPr>
        <p:spPr>
          <a:xfrm>
            <a:off x="1161288" y="2372868"/>
            <a:ext cx="210312" cy="137160"/>
          </a:xfrm>
          <a:prstGeom prst="rect">
            <a:avLst/>
          </a:prstGeom>
          <a:noFill/>
          <a:ln/>
        </p:spPr>
        <p:txBody>
          <a:bodyPr wrap="square" lIns="0" tIns="0" rIns="0" bIns="0" rtlCol="0" anchor="ctr"/>
          <a:lstStyle/>
          <a:p>
            <a:pPr marL="0" indent="0" algn="ctr">
              <a:lnSpc>
                <a:spcPct val="106000"/>
              </a:lnSpc>
              <a:buNone/>
            </a:pPr>
            <a:r>
              <a:rPr lang="en-US" sz="540" b="1" dirty="0">
                <a:solidFill>
                  <a:srgbClr val="FFFFFF"/>
                </a:solidFill>
                <a:latin typeface="Calibri" pitchFamily="34" charset="0"/>
                <a:ea typeface="Calibri" pitchFamily="34" charset="-122"/>
                <a:cs typeface="Calibri" pitchFamily="34" charset="-120"/>
              </a:rPr>
              <a:t>R10</a:t>
            </a:r>
            <a:endParaRPr lang="en-US" sz="540" dirty="0"/>
          </a:p>
        </p:txBody>
      </p:sp>
      <p:graphicFrame>
        <p:nvGraphicFramePr>
          <p:cNvPr id="90" name="Table 0"/>
          <p:cNvGraphicFramePr>
            <a:graphicFrameLocks noGrp="1"/>
          </p:cNvGraphicFramePr>
          <p:nvPr>
            <p:extLst>
              <p:ext uri="{D42A27DB-BD31-4B8C-83A1-F6EECF244321}">
                <p14:modId xmlns:p14="http://schemas.microsoft.com/office/powerpoint/2010/main" val="1579011935"/>
              </p:ext>
            </p:extLst>
          </p:nvPr>
        </p:nvGraphicFramePr>
        <p:xfrm>
          <a:off x="3566160" y="1335024"/>
          <a:ext cx="5285232" cy="2564892"/>
        </p:xfrm>
        <a:graphic>
          <a:graphicData uri="http://schemas.openxmlformats.org/drawingml/2006/table">
            <a:tbl>
              <a:tblPr/>
              <a:tblGrid>
                <a:gridCol w="329184">
                  <a:extLst>
                    <a:ext uri="{9D8B030D-6E8A-4147-A177-3AD203B41FA5}">
                      <a16:colId xmlns:a16="http://schemas.microsoft.com/office/drawing/2014/main" val="20000"/>
                    </a:ext>
                  </a:extLst>
                </a:gridCol>
                <a:gridCol w="1700784">
                  <a:extLst>
                    <a:ext uri="{9D8B030D-6E8A-4147-A177-3AD203B41FA5}">
                      <a16:colId xmlns:a16="http://schemas.microsoft.com/office/drawing/2014/main" val="20001"/>
                    </a:ext>
                  </a:extLst>
                </a:gridCol>
                <a:gridCol w="237744">
                  <a:extLst>
                    <a:ext uri="{9D8B030D-6E8A-4147-A177-3AD203B41FA5}">
                      <a16:colId xmlns:a16="http://schemas.microsoft.com/office/drawing/2014/main" val="20002"/>
                    </a:ext>
                  </a:extLst>
                </a:gridCol>
                <a:gridCol w="237744">
                  <a:extLst>
                    <a:ext uri="{9D8B030D-6E8A-4147-A177-3AD203B41FA5}">
                      <a16:colId xmlns:a16="http://schemas.microsoft.com/office/drawing/2014/main" val="20003"/>
                    </a:ext>
                  </a:extLst>
                </a:gridCol>
                <a:gridCol w="420624">
                  <a:extLst>
                    <a:ext uri="{9D8B030D-6E8A-4147-A177-3AD203B41FA5}">
                      <a16:colId xmlns:a16="http://schemas.microsoft.com/office/drawing/2014/main" val="20004"/>
                    </a:ext>
                  </a:extLst>
                </a:gridCol>
                <a:gridCol w="1810512">
                  <a:extLst>
                    <a:ext uri="{9D8B030D-6E8A-4147-A177-3AD203B41FA5}">
                      <a16:colId xmlns:a16="http://schemas.microsoft.com/office/drawing/2014/main" val="20005"/>
                    </a:ext>
                  </a:extLst>
                </a:gridCol>
                <a:gridCol w="548640">
                  <a:extLst>
                    <a:ext uri="{9D8B030D-6E8A-4147-A177-3AD203B41FA5}">
                      <a16:colId xmlns:a16="http://schemas.microsoft.com/office/drawing/2014/main" val="20006"/>
                    </a:ext>
                  </a:extLst>
                </a:gridCol>
              </a:tblGrid>
              <a:tr h="233172">
                <a:tc>
                  <a:txBody>
                    <a:bodyPr/>
                    <a:lstStyle/>
                    <a:p>
                      <a:pPr marL="0" indent="0">
                        <a:buNone/>
                      </a:pPr>
                      <a:r>
                        <a:rPr lang="en-US" sz="620" b="1" dirty="0">
                          <a:solidFill>
                            <a:srgbClr val="4A5769"/>
                          </a:solidFill>
                          <a:latin typeface="Calibri" pitchFamily="34" charset="0"/>
                          <a:ea typeface="Calibri" pitchFamily="34" charset="-122"/>
                          <a:cs typeface="Calibri" pitchFamily="34" charset="-120"/>
                        </a:rPr>
                        <a:t>#</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buNone/>
                      </a:pPr>
                      <a:r>
                        <a:rPr lang="en-US" sz="620" b="1" dirty="0">
                          <a:solidFill>
                            <a:srgbClr val="4A5769"/>
                          </a:solidFill>
                          <a:latin typeface="Calibri" pitchFamily="34" charset="0"/>
                          <a:ea typeface="Calibri" pitchFamily="34" charset="-122"/>
                          <a:cs typeface="Calibri" pitchFamily="34" charset="-120"/>
                        </a:rPr>
                        <a:t>RISQUE</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b="1" dirty="0">
                          <a:solidFill>
                            <a:srgbClr val="4A5769"/>
                          </a:solidFill>
                          <a:latin typeface="Calibri" pitchFamily="34" charset="0"/>
                          <a:ea typeface="Calibri" pitchFamily="34" charset="-122"/>
                          <a:cs typeface="Calibri" pitchFamily="34" charset="-120"/>
                        </a:rPr>
                        <a:t>P</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b="1" dirty="0">
                          <a:solidFill>
                            <a:srgbClr val="4A5769"/>
                          </a:solidFill>
                          <a:latin typeface="Calibri" pitchFamily="34" charset="0"/>
                          <a:ea typeface="Calibri" pitchFamily="34" charset="-122"/>
                          <a:cs typeface="Calibri" pitchFamily="34" charset="-120"/>
                        </a:rPr>
                        <a:t>I</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b="1" dirty="0">
                          <a:solidFill>
                            <a:srgbClr val="4A5769"/>
                          </a:solidFill>
                          <a:latin typeface="Calibri" pitchFamily="34" charset="0"/>
                          <a:ea typeface="Calibri" pitchFamily="34" charset="-122"/>
                          <a:cs typeface="Calibri" pitchFamily="34" charset="-120"/>
                        </a:rPr>
                        <a:t>CRIT.</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buNone/>
                      </a:pPr>
                      <a:r>
                        <a:rPr lang="en-US" sz="620" b="1" dirty="0">
                          <a:solidFill>
                            <a:srgbClr val="4A5769"/>
                          </a:solidFill>
                          <a:latin typeface="Calibri" pitchFamily="34" charset="0"/>
                          <a:ea typeface="Calibri" pitchFamily="34" charset="-122"/>
                          <a:cs typeface="Calibri" pitchFamily="34" charset="-120"/>
                        </a:rPr>
                        <a:t>STRATÉGIE</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b="1" dirty="0">
                          <a:solidFill>
                            <a:srgbClr val="4A5769"/>
                          </a:solidFill>
                          <a:latin typeface="Calibri" pitchFamily="34" charset="0"/>
                          <a:ea typeface="Calibri" pitchFamily="34" charset="-122"/>
                          <a:cs typeface="Calibri" pitchFamily="34" charset="-120"/>
                        </a:rPr>
                        <a:t>RÉSID.</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33172">
                <a:tc>
                  <a:txBody>
                    <a:bodyPr/>
                    <a:lstStyle/>
                    <a:p>
                      <a:pPr marL="0" indent="0">
                        <a:buNone/>
                      </a:pPr>
                      <a:r>
                        <a:rPr lang="en-US" sz="620" b="1" dirty="0">
                          <a:solidFill>
                            <a:srgbClr val="12263F"/>
                          </a:solidFill>
                          <a:latin typeface="Calibri" pitchFamily="34" charset="0"/>
                          <a:ea typeface="Calibri" pitchFamily="34" charset="-122"/>
                          <a:cs typeface="Calibri" pitchFamily="34" charset="-120"/>
                        </a:rPr>
                        <a:t>R1</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buNone/>
                      </a:pPr>
                      <a:r>
                        <a:rPr lang="en-US" sz="620" dirty="0">
                          <a:solidFill>
                            <a:srgbClr val="4A5769"/>
                          </a:solidFill>
                          <a:latin typeface="Calibri" pitchFamily="34" charset="0"/>
                          <a:ea typeface="Calibri" pitchFamily="34" charset="-122"/>
                          <a:cs typeface="Calibri" pitchFamily="34" charset="-120"/>
                        </a:rPr>
                        <a:t>Glissement du planning</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dirty="0">
                          <a:solidFill>
                            <a:srgbClr val="4A5769"/>
                          </a:solidFill>
                          <a:latin typeface="Calibri" pitchFamily="34" charset="0"/>
                          <a:ea typeface="Calibri" pitchFamily="34" charset="-122"/>
                          <a:cs typeface="Calibri" pitchFamily="34" charset="-120"/>
                        </a:rPr>
                        <a:t>3</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dirty="0">
                          <a:solidFill>
                            <a:srgbClr val="4A5769"/>
                          </a:solidFill>
                          <a:latin typeface="Calibri" pitchFamily="34" charset="0"/>
                          <a:ea typeface="Calibri" pitchFamily="34" charset="-122"/>
                          <a:cs typeface="Calibri" pitchFamily="34" charset="-120"/>
                        </a:rPr>
                        <a:t>5</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b="1" dirty="0">
                          <a:solidFill>
                            <a:srgbClr val="B03A48"/>
                          </a:solidFill>
                          <a:latin typeface="Calibri" pitchFamily="34" charset="0"/>
                          <a:ea typeface="Calibri" pitchFamily="34" charset="-122"/>
                          <a:cs typeface="Calibri" pitchFamily="34" charset="-120"/>
                        </a:rPr>
                        <a:t>15</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buNone/>
                      </a:pPr>
                      <a:r>
                        <a:rPr lang="en-US" sz="620" dirty="0">
                          <a:solidFill>
                            <a:srgbClr val="4A5769"/>
                          </a:solidFill>
                          <a:latin typeface="Calibri" pitchFamily="34" charset="0"/>
                          <a:ea typeface="Calibri" pitchFamily="34" charset="-122"/>
                          <a:cs typeface="Calibri" pitchFamily="34" charset="-120"/>
                        </a:rPr>
                        <a:t>Réduire</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b="1" dirty="0">
                          <a:solidFill>
                            <a:srgbClr val="12855A"/>
                          </a:solidFill>
                          <a:latin typeface="Calibri" pitchFamily="34" charset="0"/>
                          <a:ea typeface="Calibri" pitchFamily="34" charset="-122"/>
                          <a:cs typeface="Calibri" pitchFamily="34" charset="-120"/>
                        </a:rPr>
                        <a:t>8</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3172">
                <a:tc>
                  <a:txBody>
                    <a:bodyPr/>
                    <a:lstStyle/>
                    <a:p>
                      <a:pPr marL="0" indent="0">
                        <a:buNone/>
                      </a:pPr>
                      <a:r>
                        <a:rPr lang="en-US" sz="620" b="1" dirty="0">
                          <a:solidFill>
                            <a:srgbClr val="12263F"/>
                          </a:solidFill>
                          <a:latin typeface="Calibri" pitchFamily="34" charset="0"/>
                          <a:ea typeface="Calibri" pitchFamily="34" charset="-122"/>
                          <a:cs typeface="Calibri" pitchFamily="34" charset="-120"/>
                        </a:rPr>
                        <a:t>R3</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buNone/>
                      </a:pPr>
                      <a:r>
                        <a:rPr lang="en-US" sz="620" dirty="0">
                          <a:solidFill>
                            <a:srgbClr val="4A5769"/>
                          </a:solidFill>
                          <a:latin typeface="Calibri" pitchFamily="34" charset="0"/>
                          <a:ea typeface="Calibri" pitchFamily="34" charset="-122"/>
                          <a:cs typeface="Calibri" pitchFamily="34" charset="-120"/>
                        </a:rPr>
                        <a:t>Point unique de défaillance</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dirty="0">
                          <a:solidFill>
                            <a:srgbClr val="4A5769"/>
                          </a:solidFill>
                          <a:latin typeface="Calibri" pitchFamily="34" charset="0"/>
                          <a:ea typeface="Calibri" pitchFamily="34" charset="-122"/>
                          <a:cs typeface="Calibri" pitchFamily="34" charset="-120"/>
                        </a:rPr>
                        <a:t>3</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dirty="0">
                          <a:solidFill>
                            <a:srgbClr val="4A5769"/>
                          </a:solidFill>
                          <a:latin typeface="Calibri" pitchFamily="34" charset="0"/>
                          <a:ea typeface="Calibri" pitchFamily="34" charset="-122"/>
                          <a:cs typeface="Calibri" pitchFamily="34" charset="-120"/>
                        </a:rPr>
                        <a:t>4</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b="1" dirty="0">
                          <a:solidFill>
                            <a:srgbClr val="D2691E"/>
                          </a:solidFill>
                          <a:latin typeface="Calibri" pitchFamily="34" charset="0"/>
                          <a:ea typeface="Calibri" pitchFamily="34" charset="-122"/>
                          <a:cs typeface="Calibri" pitchFamily="34" charset="-120"/>
                        </a:rPr>
                        <a:t>12</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buNone/>
                      </a:pPr>
                      <a:r>
                        <a:rPr lang="en-US" sz="620" dirty="0">
                          <a:solidFill>
                            <a:srgbClr val="4A5769"/>
                          </a:solidFill>
                          <a:latin typeface="Calibri" pitchFamily="34" charset="0"/>
                          <a:ea typeface="Calibri" pitchFamily="34" charset="-122"/>
                          <a:cs typeface="Calibri" pitchFamily="34" charset="-120"/>
                        </a:rPr>
                        <a:t>Réduire</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b="1" dirty="0">
                          <a:solidFill>
                            <a:srgbClr val="12855A"/>
                          </a:solidFill>
                          <a:latin typeface="Calibri" pitchFamily="34" charset="0"/>
                          <a:ea typeface="Calibri" pitchFamily="34" charset="-122"/>
                          <a:cs typeface="Calibri" pitchFamily="34" charset="-120"/>
                        </a:rPr>
                        <a:t>6</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33172">
                <a:tc>
                  <a:txBody>
                    <a:bodyPr/>
                    <a:lstStyle/>
                    <a:p>
                      <a:pPr marL="0" indent="0">
                        <a:buNone/>
                      </a:pPr>
                      <a:r>
                        <a:rPr lang="en-US" sz="620" b="1" dirty="0">
                          <a:solidFill>
                            <a:srgbClr val="12263F"/>
                          </a:solidFill>
                          <a:latin typeface="Calibri" pitchFamily="34" charset="0"/>
                          <a:ea typeface="Calibri" pitchFamily="34" charset="-122"/>
                          <a:cs typeface="Calibri" pitchFamily="34" charset="-120"/>
                        </a:rPr>
                        <a:t>R2</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buNone/>
                      </a:pPr>
                      <a:r>
                        <a:rPr lang="en-US" sz="620" dirty="0">
                          <a:solidFill>
                            <a:srgbClr val="4A5769"/>
                          </a:solidFill>
                          <a:latin typeface="Calibri" pitchFamily="34" charset="0"/>
                          <a:ea typeface="Calibri" pitchFamily="34" charset="-122"/>
                          <a:cs typeface="Calibri" pitchFamily="34" charset="-120"/>
                        </a:rPr>
                        <a:t>Perte de données</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dirty="0">
                          <a:solidFill>
                            <a:srgbClr val="4A5769"/>
                          </a:solidFill>
                          <a:latin typeface="Calibri" pitchFamily="34" charset="0"/>
                          <a:ea typeface="Calibri" pitchFamily="34" charset="-122"/>
                          <a:cs typeface="Calibri" pitchFamily="34" charset="-120"/>
                        </a:rPr>
                        <a:t>2</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dirty="0">
                          <a:solidFill>
                            <a:srgbClr val="4A5769"/>
                          </a:solidFill>
                          <a:latin typeface="Calibri" pitchFamily="34" charset="0"/>
                          <a:ea typeface="Calibri" pitchFamily="34" charset="-122"/>
                          <a:cs typeface="Calibri" pitchFamily="34" charset="-120"/>
                        </a:rPr>
                        <a:t>5</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b="1" dirty="0">
                          <a:solidFill>
                            <a:srgbClr val="D2691E"/>
                          </a:solidFill>
                          <a:latin typeface="Calibri" pitchFamily="34" charset="0"/>
                          <a:ea typeface="Calibri" pitchFamily="34" charset="-122"/>
                          <a:cs typeface="Calibri" pitchFamily="34" charset="-120"/>
                        </a:rPr>
                        <a:t>10</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buNone/>
                      </a:pPr>
                      <a:r>
                        <a:rPr lang="en-US" sz="620" dirty="0">
                          <a:solidFill>
                            <a:srgbClr val="4A5769"/>
                          </a:solidFill>
                          <a:latin typeface="Calibri" pitchFamily="34" charset="0"/>
                          <a:ea typeface="Calibri" pitchFamily="34" charset="-122"/>
                          <a:cs typeface="Calibri" pitchFamily="34" charset="-120"/>
                        </a:rPr>
                        <a:t>Réduire / Transférer</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b="1" dirty="0">
                          <a:solidFill>
                            <a:srgbClr val="12855A"/>
                          </a:solidFill>
                          <a:latin typeface="Calibri" pitchFamily="34" charset="0"/>
                          <a:ea typeface="Calibri" pitchFamily="34" charset="-122"/>
                          <a:cs typeface="Calibri" pitchFamily="34" charset="-120"/>
                        </a:rPr>
                        <a:t>5</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33172">
                <a:tc>
                  <a:txBody>
                    <a:bodyPr/>
                    <a:lstStyle/>
                    <a:p>
                      <a:pPr marL="0" indent="0">
                        <a:buNone/>
                      </a:pPr>
                      <a:r>
                        <a:rPr lang="en-US" sz="620" b="1" dirty="0">
                          <a:solidFill>
                            <a:srgbClr val="12263F"/>
                          </a:solidFill>
                          <a:latin typeface="Calibri" pitchFamily="34" charset="0"/>
                          <a:ea typeface="Calibri" pitchFamily="34" charset="-122"/>
                          <a:cs typeface="Calibri" pitchFamily="34" charset="-120"/>
                        </a:rPr>
                        <a:t>R4</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buNone/>
                      </a:pPr>
                      <a:r>
                        <a:rPr lang="en-US" sz="620" dirty="0">
                          <a:solidFill>
                            <a:srgbClr val="4A5769"/>
                          </a:solidFill>
                          <a:latin typeface="Calibri" pitchFamily="34" charset="0"/>
                          <a:ea typeface="Calibri" pitchFamily="34" charset="-122"/>
                          <a:cs typeface="Calibri" pitchFamily="34" charset="-120"/>
                        </a:rPr>
                        <a:t>Fuite de données personnelles</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dirty="0">
                          <a:solidFill>
                            <a:srgbClr val="4A5769"/>
                          </a:solidFill>
                          <a:latin typeface="Calibri" pitchFamily="34" charset="0"/>
                          <a:ea typeface="Calibri" pitchFamily="34" charset="-122"/>
                          <a:cs typeface="Calibri" pitchFamily="34" charset="-120"/>
                        </a:rPr>
                        <a:t>2</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dirty="0">
                          <a:solidFill>
                            <a:srgbClr val="4A5769"/>
                          </a:solidFill>
                          <a:latin typeface="Calibri" pitchFamily="34" charset="0"/>
                          <a:ea typeface="Calibri" pitchFamily="34" charset="-122"/>
                          <a:cs typeface="Calibri" pitchFamily="34" charset="-120"/>
                        </a:rPr>
                        <a:t>5</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b="1" dirty="0">
                          <a:solidFill>
                            <a:srgbClr val="D2691E"/>
                          </a:solidFill>
                          <a:latin typeface="Calibri" pitchFamily="34" charset="0"/>
                          <a:ea typeface="Calibri" pitchFamily="34" charset="-122"/>
                          <a:cs typeface="Calibri" pitchFamily="34" charset="-120"/>
                        </a:rPr>
                        <a:t>10</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buNone/>
                      </a:pPr>
                      <a:r>
                        <a:rPr lang="en-US" sz="620" dirty="0">
                          <a:solidFill>
                            <a:srgbClr val="4A5769"/>
                          </a:solidFill>
                          <a:latin typeface="Calibri" pitchFamily="34" charset="0"/>
                          <a:ea typeface="Calibri" pitchFamily="34" charset="-122"/>
                          <a:cs typeface="Calibri" pitchFamily="34" charset="-120"/>
                        </a:rPr>
                        <a:t>Réduire</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b="1" dirty="0">
                          <a:solidFill>
                            <a:srgbClr val="12855A"/>
                          </a:solidFill>
                          <a:latin typeface="Calibri" pitchFamily="34" charset="0"/>
                          <a:ea typeface="Calibri" pitchFamily="34" charset="-122"/>
                          <a:cs typeface="Calibri" pitchFamily="34" charset="-120"/>
                        </a:rPr>
                        <a:t>5</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33172">
                <a:tc>
                  <a:txBody>
                    <a:bodyPr/>
                    <a:lstStyle/>
                    <a:p>
                      <a:pPr marL="0" indent="0">
                        <a:buNone/>
                      </a:pPr>
                      <a:r>
                        <a:rPr lang="en-US" sz="620" b="1" dirty="0">
                          <a:solidFill>
                            <a:srgbClr val="12263F"/>
                          </a:solidFill>
                          <a:latin typeface="Calibri" pitchFamily="34" charset="0"/>
                          <a:ea typeface="Calibri" pitchFamily="34" charset="-122"/>
                          <a:cs typeface="Calibri" pitchFamily="34" charset="-120"/>
                        </a:rPr>
                        <a:t>R6</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buNone/>
                      </a:pPr>
                      <a:r>
                        <a:rPr lang="en-US" sz="620" dirty="0">
                          <a:solidFill>
                            <a:srgbClr val="4A5769"/>
                          </a:solidFill>
                          <a:latin typeface="Calibri" pitchFamily="34" charset="0"/>
                          <a:ea typeface="Calibri" pitchFamily="34" charset="-122"/>
                          <a:cs typeface="Calibri" pitchFamily="34" charset="-120"/>
                        </a:rPr>
                        <a:t>Indisponibilité d'un tiers</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dirty="0">
                          <a:solidFill>
                            <a:srgbClr val="4A5769"/>
                          </a:solidFill>
                          <a:latin typeface="Calibri" pitchFamily="34" charset="0"/>
                          <a:ea typeface="Calibri" pitchFamily="34" charset="-122"/>
                          <a:cs typeface="Calibri" pitchFamily="34" charset="-120"/>
                        </a:rPr>
                        <a:t>3</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dirty="0">
                          <a:solidFill>
                            <a:srgbClr val="4A5769"/>
                          </a:solidFill>
                          <a:latin typeface="Calibri" pitchFamily="34" charset="0"/>
                          <a:ea typeface="Calibri" pitchFamily="34" charset="-122"/>
                          <a:cs typeface="Calibri" pitchFamily="34" charset="-120"/>
                        </a:rPr>
                        <a:t>3</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b="1" dirty="0">
                          <a:solidFill>
                            <a:srgbClr val="E08A3C"/>
                          </a:solidFill>
                          <a:latin typeface="Calibri" pitchFamily="34" charset="0"/>
                          <a:ea typeface="Calibri" pitchFamily="34" charset="-122"/>
                          <a:cs typeface="Calibri" pitchFamily="34" charset="-120"/>
                        </a:rPr>
                        <a:t>9</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buNone/>
                      </a:pPr>
                      <a:r>
                        <a:rPr lang="en-US" sz="620" dirty="0">
                          <a:solidFill>
                            <a:srgbClr val="4A5769"/>
                          </a:solidFill>
                          <a:latin typeface="Calibri" pitchFamily="34" charset="0"/>
                          <a:ea typeface="Calibri" pitchFamily="34" charset="-122"/>
                          <a:cs typeface="Calibri" pitchFamily="34" charset="-120"/>
                        </a:rPr>
                        <a:t>Transférer / Accepter</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b="1" dirty="0">
                          <a:solidFill>
                            <a:srgbClr val="12855A"/>
                          </a:solidFill>
                          <a:latin typeface="Calibri" pitchFamily="34" charset="0"/>
                          <a:ea typeface="Calibri" pitchFamily="34" charset="-122"/>
                          <a:cs typeface="Calibri" pitchFamily="34" charset="-120"/>
                        </a:rPr>
                        <a:t>4</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33172">
                <a:tc>
                  <a:txBody>
                    <a:bodyPr/>
                    <a:lstStyle/>
                    <a:p>
                      <a:pPr marL="0" indent="0">
                        <a:buNone/>
                      </a:pPr>
                      <a:r>
                        <a:rPr lang="en-US" sz="620" b="1" dirty="0">
                          <a:solidFill>
                            <a:srgbClr val="12263F"/>
                          </a:solidFill>
                          <a:latin typeface="Calibri" pitchFamily="34" charset="0"/>
                          <a:ea typeface="Calibri" pitchFamily="34" charset="-122"/>
                          <a:cs typeface="Calibri" pitchFamily="34" charset="-120"/>
                        </a:rPr>
                        <a:t>R8</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buNone/>
                      </a:pPr>
                      <a:r>
                        <a:rPr lang="en-US" sz="620" dirty="0">
                          <a:solidFill>
                            <a:srgbClr val="4A5769"/>
                          </a:solidFill>
                          <a:latin typeface="Calibri" pitchFamily="34" charset="0"/>
                          <a:ea typeface="Calibri" pitchFamily="34" charset="-122"/>
                          <a:cs typeface="Calibri" pitchFamily="34" charset="-120"/>
                        </a:rPr>
                        <a:t>Dérive du périmètre</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dirty="0">
                          <a:solidFill>
                            <a:srgbClr val="4A5769"/>
                          </a:solidFill>
                          <a:latin typeface="Calibri" pitchFamily="34" charset="0"/>
                          <a:ea typeface="Calibri" pitchFamily="34" charset="-122"/>
                          <a:cs typeface="Calibri" pitchFamily="34" charset="-120"/>
                        </a:rPr>
                        <a:t>3</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dirty="0">
                          <a:solidFill>
                            <a:srgbClr val="4A5769"/>
                          </a:solidFill>
                          <a:latin typeface="Calibri" pitchFamily="34" charset="0"/>
                          <a:ea typeface="Calibri" pitchFamily="34" charset="-122"/>
                          <a:cs typeface="Calibri" pitchFamily="34" charset="-120"/>
                        </a:rPr>
                        <a:t>3</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b="1" dirty="0">
                          <a:solidFill>
                            <a:srgbClr val="E08A3C"/>
                          </a:solidFill>
                          <a:latin typeface="Calibri" pitchFamily="34" charset="0"/>
                          <a:ea typeface="Calibri" pitchFamily="34" charset="-122"/>
                          <a:cs typeface="Calibri" pitchFamily="34" charset="-120"/>
                        </a:rPr>
                        <a:t>9</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buNone/>
                      </a:pPr>
                      <a:r>
                        <a:rPr lang="en-US" sz="620" dirty="0">
                          <a:solidFill>
                            <a:srgbClr val="4A5769"/>
                          </a:solidFill>
                          <a:latin typeface="Calibri" pitchFamily="34" charset="0"/>
                          <a:ea typeface="Calibri" pitchFamily="34" charset="-122"/>
                          <a:cs typeface="Calibri" pitchFamily="34" charset="-120"/>
                        </a:rPr>
                        <a:t>Éviter / Réduire</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b="1" dirty="0">
                          <a:solidFill>
                            <a:srgbClr val="12855A"/>
                          </a:solidFill>
                          <a:latin typeface="Calibri" pitchFamily="34" charset="0"/>
                          <a:ea typeface="Calibri" pitchFamily="34" charset="-122"/>
                          <a:cs typeface="Calibri" pitchFamily="34" charset="-120"/>
                        </a:rPr>
                        <a:t>4</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33172">
                <a:tc>
                  <a:txBody>
                    <a:bodyPr/>
                    <a:lstStyle/>
                    <a:p>
                      <a:pPr marL="0" indent="0">
                        <a:buNone/>
                      </a:pPr>
                      <a:r>
                        <a:rPr lang="en-US" sz="620" b="1" dirty="0">
                          <a:solidFill>
                            <a:srgbClr val="12263F"/>
                          </a:solidFill>
                          <a:latin typeface="Calibri" pitchFamily="34" charset="0"/>
                          <a:ea typeface="Calibri" pitchFamily="34" charset="-122"/>
                          <a:cs typeface="Calibri" pitchFamily="34" charset="-120"/>
                        </a:rPr>
                        <a:t>R7</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buNone/>
                      </a:pPr>
                      <a:r>
                        <a:rPr lang="en-US" sz="620" dirty="0">
                          <a:solidFill>
                            <a:srgbClr val="4A5769"/>
                          </a:solidFill>
                          <a:latin typeface="Calibri" pitchFamily="34" charset="0"/>
                          <a:ea typeface="Calibri" pitchFamily="34" charset="-122"/>
                          <a:cs typeface="Calibri" pitchFamily="34" charset="-120"/>
                        </a:rPr>
                        <a:t>Ressource unique (bus factor)</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dirty="0">
                          <a:solidFill>
                            <a:srgbClr val="4A5769"/>
                          </a:solidFill>
                          <a:latin typeface="Calibri" pitchFamily="34" charset="0"/>
                          <a:ea typeface="Calibri" pitchFamily="34" charset="-122"/>
                          <a:cs typeface="Calibri" pitchFamily="34" charset="-120"/>
                        </a:rPr>
                        <a:t>2</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dirty="0">
                          <a:solidFill>
                            <a:srgbClr val="4A5769"/>
                          </a:solidFill>
                          <a:latin typeface="Calibri" pitchFamily="34" charset="0"/>
                          <a:ea typeface="Calibri" pitchFamily="34" charset="-122"/>
                          <a:cs typeface="Calibri" pitchFamily="34" charset="-120"/>
                        </a:rPr>
                        <a:t>4</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b="1" dirty="0">
                          <a:solidFill>
                            <a:srgbClr val="E08A3C"/>
                          </a:solidFill>
                          <a:latin typeface="Calibri" pitchFamily="34" charset="0"/>
                          <a:ea typeface="Calibri" pitchFamily="34" charset="-122"/>
                          <a:cs typeface="Calibri" pitchFamily="34" charset="-120"/>
                        </a:rPr>
                        <a:t>8</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buNone/>
                      </a:pPr>
                      <a:r>
                        <a:rPr lang="en-US" sz="620" dirty="0">
                          <a:solidFill>
                            <a:srgbClr val="4A5769"/>
                          </a:solidFill>
                          <a:latin typeface="Calibri" pitchFamily="34" charset="0"/>
                          <a:ea typeface="Calibri" pitchFamily="34" charset="-122"/>
                          <a:cs typeface="Calibri" pitchFamily="34" charset="-120"/>
                        </a:rPr>
                        <a:t>Réduire</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b="1" dirty="0">
                          <a:solidFill>
                            <a:srgbClr val="12855A"/>
                          </a:solidFill>
                          <a:latin typeface="Calibri" pitchFamily="34" charset="0"/>
                          <a:ea typeface="Calibri" pitchFamily="34" charset="-122"/>
                          <a:cs typeface="Calibri" pitchFamily="34" charset="-120"/>
                        </a:rPr>
                        <a:t>4</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33172">
                <a:tc>
                  <a:txBody>
                    <a:bodyPr/>
                    <a:lstStyle/>
                    <a:p>
                      <a:pPr marL="0" indent="0">
                        <a:buNone/>
                      </a:pPr>
                      <a:r>
                        <a:rPr lang="en-US" sz="620" b="1" dirty="0">
                          <a:solidFill>
                            <a:srgbClr val="12263F"/>
                          </a:solidFill>
                          <a:latin typeface="Calibri" pitchFamily="34" charset="0"/>
                          <a:ea typeface="Calibri" pitchFamily="34" charset="-122"/>
                          <a:cs typeface="Calibri" pitchFamily="34" charset="-120"/>
                        </a:rPr>
                        <a:t>R9</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buNone/>
                      </a:pPr>
                      <a:r>
                        <a:rPr lang="en-US" sz="620" dirty="0">
                          <a:solidFill>
                            <a:srgbClr val="4A5769"/>
                          </a:solidFill>
                          <a:latin typeface="Calibri" pitchFamily="34" charset="0"/>
                          <a:ea typeface="Calibri" pitchFamily="34" charset="-122"/>
                          <a:cs typeface="Calibri" pitchFamily="34" charset="-120"/>
                        </a:rPr>
                        <a:t>Dette technique</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dirty="0">
                          <a:solidFill>
                            <a:srgbClr val="4A5769"/>
                          </a:solidFill>
                          <a:latin typeface="Calibri" pitchFamily="34" charset="0"/>
                          <a:ea typeface="Calibri" pitchFamily="34" charset="-122"/>
                          <a:cs typeface="Calibri" pitchFamily="34" charset="-120"/>
                        </a:rPr>
                        <a:t>3</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dirty="0">
                          <a:solidFill>
                            <a:srgbClr val="4A5769"/>
                          </a:solidFill>
                          <a:latin typeface="Calibri" pitchFamily="34" charset="0"/>
                          <a:ea typeface="Calibri" pitchFamily="34" charset="-122"/>
                          <a:cs typeface="Calibri" pitchFamily="34" charset="-120"/>
                        </a:rPr>
                        <a:t>2</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b="1" dirty="0">
                          <a:solidFill>
                            <a:srgbClr val="E08A3C"/>
                          </a:solidFill>
                          <a:latin typeface="Calibri" pitchFamily="34" charset="0"/>
                          <a:ea typeface="Calibri" pitchFamily="34" charset="-122"/>
                          <a:cs typeface="Calibri" pitchFamily="34" charset="-120"/>
                        </a:rPr>
                        <a:t>6</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buNone/>
                      </a:pPr>
                      <a:r>
                        <a:rPr lang="en-US" sz="620" dirty="0">
                          <a:solidFill>
                            <a:srgbClr val="4A5769"/>
                          </a:solidFill>
                          <a:latin typeface="Calibri" pitchFamily="34" charset="0"/>
                          <a:ea typeface="Calibri" pitchFamily="34" charset="-122"/>
                          <a:cs typeface="Calibri" pitchFamily="34" charset="-120"/>
                        </a:rPr>
                        <a:t>Réduire</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b="1" dirty="0">
                          <a:solidFill>
                            <a:srgbClr val="12855A"/>
                          </a:solidFill>
                          <a:latin typeface="Calibri" pitchFamily="34" charset="0"/>
                          <a:ea typeface="Calibri" pitchFamily="34" charset="-122"/>
                          <a:cs typeface="Calibri" pitchFamily="34" charset="-120"/>
                        </a:rPr>
                        <a:t>4</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33172">
                <a:tc>
                  <a:txBody>
                    <a:bodyPr/>
                    <a:lstStyle/>
                    <a:p>
                      <a:pPr marL="0" indent="0">
                        <a:buNone/>
                      </a:pPr>
                      <a:r>
                        <a:rPr lang="en-US" sz="620" b="1" dirty="0">
                          <a:solidFill>
                            <a:srgbClr val="12263F"/>
                          </a:solidFill>
                          <a:latin typeface="Calibri" pitchFamily="34" charset="0"/>
                          <a:ea typeface="Calibri" pitchFamily="34" charset="-122"/>
                          <a:cs typeface="Calibri" pitchFamily="34" charset="-120"/>
                        </a:rPr>
                        <a:t>R10</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buNone/>
                      </a:pPr>
                      <a:r>
                        <a:rPr lang="en-US" sz="620" dirty="0">
                          <a:solidFill>
                            <a:srgbClr val="4A5769"/>
                          </a:solidFill>
                          <a:latin typeface="Calibri" pitchFamily="34" charset="0"/>
                          <a:ea typeface="Calibri" pitchFamily="34" charset="-122"/>
                          <a:cs typeface="Calibri" pitchFamily="34" charset="-120"/>
                        </a:rPr>
                        <a:t>Complexité d'intégration CI/CD</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dirty="0">
                          <a:solidFill>
                            <a:srgbClr val="4A5769"/>
                          </a:solidFill>
                          <a:latin typeface="Calibri" pitchFamily="34" charset="0"/>
                          <a:ea typeface="Calibri" pitchFamily="34" charset="-122"/>
                          <a:cs typeface="Calibri" pitchFamily="34" charset="-120"/>
                        </a:rPr>
                        <a:t>2</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dirty="0">
                          <a:solidFill>
                            <a:srgbClr val="4A5769"/>
                          </a:solidFill>
                          <a:latin typeface="Calibri" pitchFamily="34" charset="0"/>
                          <a:ea typeface="Calibri" pitchFamily="34" charset="-122"/>
                          <a:cs typeface="Calibri" pitchFamily="34" charset="-120"/>
                        </a:rPr>
                        <a:t>3</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b="1" dirty="0">
                          <a:solidFill>
                            <a:srgbClr val="E08A3C"/>
                          </a:solidFill>
                          <a:latin typeface="Calibri" pitchFamily="34" charset="0"/>
                          <a:ea typeface="Calibri" pitchFamily="34" charset="-122"/>
                          <a:cs typeface="Calibri" pitchFamily="34" charset="-120"/>
                        </a:rPr>
                        <a:t>6</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buNone/>
                      </a:pPr>
                      <a:r>
                        <a:rPr lang="en-US" sz="620" dirty="0">
                          <a:solidFill>
                            <a:srgbClr val="4A5769"/>
                          </a:solidFill>
                          <a:latin typeface="Calibri" pitchFamily="34" charset="0"/>
                          <a:ea typeface="Calibri" pitchFamily="34" charset="-122"/>
                          <a:cs typeface="Calibri" pitchFamily="34" charset="-120"/>
                        </a:rPr>
                        <a:t>Réduire</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b="1" dirty="0">
                          <a:solidFill>
                            <a:srgbClr val="12855A"/>
                          </a:solidFill>
                          <a:latin typeface="Calibri" pitchFamily="34" charset="0"/>
                          <a:ea typeface="Calibri" pitchFamily="34" charset="-122"/>
                          <a:cs typeface="Calibri" pitchFamily="34" charset="-120"/>
                        </a:rPr>
                        <a:t>3</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33172">
                <a:tc>
                  <a:txBody>
                    <a:bodyPr/>
                    <a:lstStyle/>
                    <a:p>
                      <a:pPr marL="0" indent="0">
                        <a:buNone/>
                      </a:pPr>
                      <a:r>
                        <a:rPr lang="en-US" sz="620" b="1" dirty="0">
                          <a:solidFill>
                            <a:srgbClr val="12263F"/>
                          </a:solidFill>
                          <a:latin typeface="Calibri" pitchFamily="34" charset="0"/>
                          <a:ea typeface="Calibri" pitchFamily="34" charset="-122"/>
                          <a:cs typeface="Calibri" pitchFamily="34" charset="-120"/>
                        </a:rPr>
                        <a:t>R5</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buNone/>
                      </a:pPr>
                      <a:r>
                        <a:rPr lang="en-US" sz="620" dirty="0">
                          <a:solidFill>
                            <a:srgbClr val="4A5769"/>
                          </a:solidFill>
                          <a:latin typeface="Calibri" pitchFamily="34" charset="0"/>
                          <a:ea typeface="Calibri" pitchFamily="34" charset="-122"/>
                          <a:cs typeface="Calibri" pitchFamily="34" charset="-120"/>
                        </a:rPr>
                        <a:t>Dépassement du budget cloud</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dirty="0">
                          <a:solidFill>
                            <a:srgbClr val="4A5769"/>
                          </a:solidFill>
                          <a:latin typeface="Calibri" pitchFamily="34" charset="0"/>
                          <a:ea typeface="Calibri" pitchFamily="34" charset="-122"/>
                          <a:cs typeface="Calibri" pitchFamily="34" charset="-120"/>
                        </a:rPr>
                        <a:t>2</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dirty="0">
                          <a:solidFill>
                            <a:srgbClr val="4A5769"/>
                          </a:solidFill>
                          <a:latin typeface="Calibri" pitchFamily="34" charset="0"/>
                          <a:ea typeface="Calibri" pitchFamily="34" charset="-122"/>
                          <a:cs typeface="Calibri" pitchFamily="34" charset="-120"/>
                        </a:rPr>
                        <a:t>2</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b="1" dirty="0">
                          <a:solidFill>
                            <a:srgbClr val="12855A"/>
                          </a:solidFill>
                          <a:latin typeface="Calibri" pitchFamily="34" charset="0"/>
                          <a:ea typeface="Calibri" pitchFamily="34" charset="-122"/>
                          <a:cs typeface="Calibri" pitchFamily="34" charset="-120"/>
                        </a:rPr>
                        <a:t>4</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buNone/>
                      </a:pPr>
                      <a:r>
                        <a:rPr lang="en-US" sz="620" dirty="0">
                          <a:solidFill>
                            <a:srgbClr val="4A5769"/>
                          </a:solidFill>
                          <a:latin typeface="Calibri" pitchFamily="34" charset="0"/>
                          <a:ea typeface="Calibri" pitchFamily="34" charset="-122"/>
                          <a:cs typeface="Calibri" pitchFamily="34" charset="-120"/>
                        </a:rPr>
                        <a:t>Accepter / Réduire</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620" b="1" dirty="0">
                          <a:solidFill>
                            <a:srgbClr val="12855A"/>
                          </a:solidFill>
                          <a:latin typeface="Calibri" pitchFamily="34" charset="0"/>
                          <a:ea typeface="Calibri" pitchFamily="34" charset="-122"/>
                          <a:cs typeface="Calibri" pitchFamily="34" charset="-120"/>
                        </a:rPr>
                        <a:t>2</a:t>
                      </a:r>
                      <a:endParaRPr lang="en-US" sz="620" dirty="0">
                        <a:latin typeface="Calibri" charset="0"/>
                        <a:ea typeface="Calibri" charset="0"/>
                        <a:cs typeface="Calibri" charset="0"/>
                      </a:endParaRPr>
                    </a:p>
                  </a:txBody>
                  <a:tcPr marL="25400" marR="25400" marT="25400" marB="254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91" name="Shape 88"/>
          <p:cNvSpPr/>
          <p:nvPr/>
        </p:nvSpPr>
        <p:spPr>
          <a:xfrm>
            <a:off x="292608" y="4224528"/>
            <a:ext cx="8558784" cy="475488"/>
          </a:xfrm>
          <a:prstGeom prst="rect">
            <a:avLst/>
          </a:prstGeom>
          <a:solidFill>
            <a:srgbClr val="12263F"/>
          </a:solidFill>
          <a:ln/>
        </p:spPr>
        <p:txBody>
          <a:bodyPr/>
          <a:lstStyle/>
          <a:p>
            <a:endParaRPr lang="fr-FR"/>
          </a:p>
        </p:txBody>
      </p:sp>
      <p:sp>
        <p:nvSpPr>
          <p:cNvPr id="92" name="Shape 89"/>
          <p:cNvSpPr/>
          <p:nvPr/>
        </p:nvSpPr>
        <p:spPr>
          <a:xfrm>
            <a:off x="292608" y="4224528"/>
            <a:ext cx="45720" cy="475488"/>
          </a:xfrm>
          <a:prstGeom prst="rect">
            <a:avLst/>
          </a:prstGeom>
          <a:solidFill>
            <a:srgbClr val="E08A3C"/>
          </a:solidFill>
          <a:ln/>
        </p:spPr>
        <p:txBody>
          <a:bodyPr/>
          <a:lstStyle/>
          <a:p>
            <a:endParaRPr lang="fr-FR"/>
          </a:p>
        </p:txBody>
      </p:sp>
      <p:sp>
        <p:nvSpPr>
          <p:cNvPr id="93" name="Text 90"/>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Une faille critique bloque la mise en ligne : l'analyse n'est pas un rapport, c'est une barrière.</a:t>
            </a:r>
            <a:endParaRPr lang="en-US" sz="1150" dirty="0"/>
          </a:p>
        </p:txBody>
      </p:sp>
      <p:sp>
        <p:nvSpPr>
          <p:cNvPr id="94" name="Text 91"/>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3.2 - Évaluation des Vulnérabilités et des Risques</a:t>
            </a:r>
            <a:endParaRPr lang="en-US" sz="750" dirty="0"/>
          </a:p>
        </p:txBody>
      </p:sp>
      <p:sp>
        <p:nvSpPr>
          <p:cNvPr id="95" name="Text 92"/>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3. Analyse du Système Informatique</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11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3.3 - Analyse des Flux de Données et des Processus Critiques</a:t>
            </a:r>
            <a:endParaRPr lang="en-US" sz="2200" dirty="0"/>
          </a:p>
        </p:txBody>
      </p:sp>
      <p:sp>
        <p:nvSpPr>
          <p:cNvPr id="7" name="Text 5"/>
          <p:cNvSpPr/>
          <p:nvPr/>
        </p:nvSpPr>
        <p:spPr>
          <a:xfrm>
            <a:off x="292608" y="1024128"/>
            <a:ext cx="8558784" cy="201168"/>
          </a:xfrm>
          <a:prstGeom prst="rect">
            <a:avLst/>
          </a:prstGeom>
          <a:noFill/>
          <a:ln/>
        </p:spPr>
        <p:txBody>
          <a:bodyPr wrap="square" lIns="0" tIns="0" rIns="0" bIns="0" rtlCol="0" anchor="ctr"/>
          <a:lstStyle/>
          <a:p>
            <a:pPr marL="0" indent="0">
              <a:buNone/>
            </a:pPr>
            <a:r>
              <a:rPr lang="en-US" sz="1050" dirty="0">
                <a:solidFill>
                  <a:srgbClr val="4A5769"/>
                </a:solidFill>
                <a:latin typeface="Calibri" pitchFamily="34" charset="0"/>
                <a:ea typeface="Calibri" pitchFamily="34" charset="-122"/>
                <a:cs typeface="Calibri" pitchFamily="34" charset="-120"/>
              </a:rPr>
              <a:t>Le parcours d'une photo, du dépôt jusqu'à l'enregistrement, et les contrôles traversés.</a:t>
            </a:r>
            <a:endParaRPr lang="en-US" sz="1050" dirty="0"/>
          </a:p>
        </p:txBody>
      </p:sp>
      <p:sp>
        <p:nvSpPr>
          <p:cNvPr id="8" name="Shape 6"/>
          <p:cNvSpPr/>
          <p:nvPr/>
        </p:nvSpPr>
        <p:spPr>
          <a:xfrm>
            <a:off x="292608" y="1737360"/>
            <a:ext cx="1417320" cy="786384"/>
          </a:xfrm>
          <a:prstGeom prst="rect">
            <a:avLst/>
          </a:prstGeom>
          <a:solidFill>
            <a:srgbClr val="FFFFFF"/>
          </a:solidFill>
          <a:ln w="12700">
            <a:solidFill>
              <a:srgbClr val="4A5769"/>
            </a:solidFill>
            <a:prstDash val="solid"/>
          </a:ln>
        </p:spPr>
        <p:txBody>
          <a:bodyPr/>
          <a:lstStyle/>
          <a:p>
            <a:endParaRPr lang="fr-FR"/>
          </a:p>
        </p:txBody>
      </p:sp>
      <p:sp>
        <p:nvSpPr>
          <p:cNvPr id="9" name="Shape 7"/>
          <p:cNvSpPr/>
          <p:nvPr/>
        </p:nvSpPr>
        <p:spPr>
          <a:xfrm>
            <a:off x="292608" y="1737360"/>
            <a:ext cx="1417320" cy="45720"/>
          </a:xfrm>
          <a:prstGeom prst="rect">
            <a:avLst/>
          </a:prstGeom>
          <a:solidFill>
            <a:srgbClr val="4A5769"/>
          </a:solidFill>
          <a:ln/>
        </p:spPr>
        <p:txBody>
          <a:bodyPr/>
          <a:lstStyle/>
          <a:p>
            <a:endParaRPr lang="fr-FR"/>
          </a:p>
        </p:txBody>
      </p:sp>
      <p:sp>
        <p:nvSpPr>
          <p:cNvPr id="10" name="Text 8"/>
          <p:cNvSpPr/>
          <p:nvPr/>
        </p:nvSpPr>
        <p:spPr>
          <a:xfrm>
            <a:off x="420624" y="1856232"/>
            <a:ext cx="1161288" cy="219456"/>
          </a:xfrm>
          <a:prstGeom prst="rect">
            <a:avLst/>
          </a:prstGeom>
          <a:noFill/>
          <a:ln/>
        </p:spPr>
        <p:txBody>
          <a:bodyPr wrap="square" lIns="0" tIns="0" rIns="0" bIns="0" rtlCol="0" anchor="t"/>
          <a:lstStyle/>
          <a:p>
            <a:pPr marL="0" indent="0" algn="l">
              <a:lnSpc>
                <a:spcPct val="108000"/>
              </a:lnSpc>
              <a:buNone/>
            </a:pPr>
            <a:r>
              <a:rPr lang="en-US" sz="1200" b="1" dirty="0">
                <a:solidFill>
                  <a:srgbClr val="12263F"/>
                </a:solidFill>
                <a:latin typeface="Calibri" pitchFamily="34" charset="0"/>
                <a:ea typeface="Calibri" pitchFamily="34" charset="-122"/>
                <a:cs typeface="Calibri" pitchFamily="34" charset="-120"/>
              </a:rPr>
              <a:t>Membre</a:t>
            </a:r>
            <a:endParaRPr lang="en-US" sz="1200" dirty="0"/>
          </a:p>
        </p:txBody>
      </p:sp>
      <p:sp>
        <p:nvSpPr>
          <p:cNvPr id="11" name="Text 9"/>
          <p:cNvSpPr/>
          <p:nvPr/>
        </p:nvSpPr>
        <p:spPr>
          <a:xfrm>
            <a:off x="420624" y="2084832"/>
            <a:ext cx="1161288" cy="384048"/>
          </a:xfrm>
          <a:prstGeom prst="rect">
            <a:avLst/>
          </a:prstGeom>
          <a:noFill/>
          <a:ln/>
        </p:spPr>
        <p:txBody>
          <a:bodyPr wrap="square" lIns="0" tIns="0" rIns="0" bIns="0" rtlCol="0" anchor="t"/>
          <a:lstStyle/>
          <a:p>
            <a:pPr marL="0" indent="0" algn="l">
              <a:lnSpc>
                <a:spcPct val="108000"/>
              </a:lnSpc>
              <a:buNone/>
            </a:pPr>
            <a:r>
              <a:rPr lang="en-US" sz="950" dirty="0">
                <a:solidFill>
                  <a:srgbClr val="4A5769"/>
                </a:solidFill>
                <a:latin typeface="Calibri" pitchFamily="34" charset="0"/>
                <a:ea typeface="Calibri" pitchFamily="34" charset="-122"/>
                <a:cs typeface="Calibri" pitchFamily="34" charset="-120"/>
              </a:rPr>
              <a:t>il dépose</a:t>
            </a:r>
            <a:endParaRPr lang="en-US" sz="950" dirty="0"/>
          </a:p>
          <a:p>
            <a:pPr marL="0" indent="0" algn="l">
              <a:lnSpc>
                <a:spcPct val="108000"/>
              </a:lnSpc>
              <a:buNone/>
            </a:pPr>
            <a:r>
              <a:rPr lang="en-US" sz="950" dirty="0">
                <a:solidFill>
                  <a:srgbClr val="4A5769"/>
                </a:solidFill>
                <a:latin typeface="Calibri" pitchFamily="34" charset="0"/>
                <a:ea typeface="Calibri" pitchFamily="34" charset="-122"/>
                <a:cs typeface="Calibri" pitchFamily="34" charset="-120"/>
              </a:rPr>
              <a:t>une photo</a:t>
            </a:r>
            <a:endParaRPr lang="en-US" sz="950" dirty="0"/>
          </a:p>
        </p:txBody>
      </p:sp>
      <p:sp>
        <p:nvSpPr>
          <p:cNvPr id="12" name="Shape 10"/>
          <p:cNvSpPr/>
          <p:nvPr/>
        </p:nvSpPr>
        <p:spPr>
          <a:xfrm>
            <a:off x="1764792" y="2130552"/>
            <a:ext cx="256032" cy="0"/>
          </a:xfrm>
          <a:prstGeom prst="line">
            <a:avLst/>
          </a:prstGeom>
          <a:noFill/>
          <a:ln w="22225">
            <a:solidFill>
              <a:srgbClr val="8FA6BC"/>
            </a:solidFill>
            <a:prstDash val="solid"/>
            <a:tailEnd type="triangle"/>
          </a:ln>
        </p:spPr>
        <p:txBody>
          <a:bodyPr/>
          <a:lstStyle/>
          <a:p>
            <a:endParaRPr lang="fr-FR"/>
          </a:p>
        </p:txBody>
      </p:sp>
      <p:sp>
        <p:nvSpPr>
          <p:cNvPr id="13" name="Shape 11"/>
          <p:cNvSpPr/>
          <p:nvPr/>
        </p:nvSpPr>
        <p:spPr>
          <a:xfrm>
            <a:off x="2148840" y="1737360"/>
            <a:ext cx="1737360" cy="786384"/>
          </a:xfrm>
          <a:prstGeom prst="rect">
            <a:avLst/>
          </a:prstGeom>
          <a:solidFill>
            <a:srgbClr val="FFFFFF"/>
          </a:solidFill>
          <a:ln w="12700">
            <a:solidFill>
              <a:srgbClr val="1B6EC2"/>
            </a:solidFill>
            <a:prstDash val="solid"/>
          </a:ln>
        </p:spPr>
        <p:txBody>
          <a:bodyPr/>
          <a:lstStyle/>
          <a:p>
            <a:endParaRPr lang="fr-FR"/>
          </a:p>
        </p:txBody>
      </p:sp>
      <p:sp>
        <p:nvSpPr>
          <p:cNvPr id="14" name="Shape 12"/>
          <p:cNvSpPr/>
          <p:nvPr/>
        </p:nvSpPr>
        <p:spPr>
          <a:xfrm>
            <a:off x="2148840" y="1737360"/>
            <a:ext cx="1737360" cy="45720"/>
          </a:xfrm>
          <a:prstGeom prst="rect">
            <a:avLst/>
          </a:prstGeom>
          <a:solidFill>
            <a:srgbClr val="1B6EC2"/>
          </a:solidFill>
          <a:ln/>
        </p:spPr>
        <p:txBody>
          <a:bodyPr/>
          <a:lstStyle/>
          <a:p>
            <a:endParaRPr lang="fr-FR"/>
          </a:p>
        </p:txBody>
      </p:sp>
      <p:sp>
        <p:nvSpPr>
          <p:cNvPr id="15" name="Text 13"/>
          <p:cNvSpPr/>
          <p:nvPr/>
        </p:nvSpPr>
        <p:spPr>
          <a:xfrm>
            <a:off x="2276856" y="1856232"/>
            <a:ext cx="1481328" cy="219456"/>
          </a:xfrm>
          <a:prstGeom prst="rect">
            <a:avLst/>
          </a:prstGeom>
          <a:noFill/>
          <a:ln/>
        </p:spPr>
        <p:txBody>
          <a:bodyPr wrap="square" lIns="0" tIns="0" rIns="0" bIns="0" rtlCol="0" anchor="t"/>
          <a:lstStyle/>
          <a:p>
            <a:pPr marL="0" indent="0" algn="l">
              <a:lnSpc>
                <a:spcPct val="108000"/>
              </a:lnSpc>
              <a:buNone/>
            </a:pPr>
            <a:r>
              <a:rPr lang="en-US" sz="1200" b="1" dirty="0">
                <a:solidFill>
                  <a:srgbClr val="12263F"/>
                </a:solidFill>
                <a:latin typeface="Calibri" pitchFamily="34" charset="0"/>
                <a:ea typeface="Calibri" pitchFamily="34" charset="-122"/>
                <a:cs typeface="Calibri" pitchFamily="34" charset="-120"/>
              </a:rPr>
              <a:t>Application</a:t>
            </a:r>
            <a:endParaRPr lang="en-US" sz="1200" dirty="0"/>
          </a:p>
        </p:txBody>
      </p:sp>
      <p:sp>
        <p:nvSpPr>
          <p:cNvPr id="16" name="Text 14"/>
          <p:cNvSpPr/>
          <p:nvPr/>
        </p:nvSpPr>
        <p:spPr>
          <a:xfrm>
            <a:off x="2276856" y="2084832"/>
            <a:ext cx="1481328" cy="384048"/>
          </a:xfrm>
          <a:prstGeom prst="rect">
            <a:avLst/>
          </a:prstGeom>
          <a:noFill/>
          <a:ln/>
        </p:spPr>
        <p:txBody>
          <a:bodyPr wrap="square" lIns="0" tIns="0" rIns="0" bIns="0" rtlCol="0" anchor="t"/>
          <a:lstStyle/>
          <a:p>
            <a:pPr marL="0" indent="0" algn="l">
              <a:lnSpc>
                <a:spcPct val="108000"/>
              </a:lnSpc>
              <a:buNone/>
            </a:pPr>
            <a:r>
              <a:rPr lang="en-US" sz="950" dirty="0">
                <a:solidFill>
                  <a:srgbClr val="4A5769"/>
                </a:solidFill>
                <a:latin typeface="Calibri" pitchFamily="34" charset="0"/>
                <a:ea typeface="Calibri" pitchFamily="34" charset="-122"/>
                <a:cs typeface="Calibri" pitchFamily="34" charset="-120"/>
              </a:rPr>
              <a:t>vérifie qui,</a:t>
            </a:r>
            <a:endParaRPr lang="en-US" sz="950" dirty="0"/>
          </a:p>
          <a:p>
            <a:pPr marL="0" indent="0" algn="l">
              <a:lnSpc>
                <a:spcPct val="108000"/>
              </a:lnSpc>
              <a:buNone/>
            </a:pPr>
            <a:r>
              <a:rPr lang="en-US" sz="950" dirty="0">
                <a:solidFill>
                  <a:srgbClr val="4A5769"/>
                </a:solidFill>
                <a:latin typeface="Calibri" pitchFamily="34" charset="0"/>
                <a:ea typeface="Calibri" pitchFamily="34" charset="-122"/>
                <a:cs typeface="Calibri" pitchFamily="34" charset="-120"/>
              </a:rPr>
              <a:t>combien, quoi</a:t>
            </a:r>
            <a:endParaRPr lang="en-US" sz="950" dirty="0"/>
          </a:p>
        </p:txBody>
      </p:sp>
      <p:sp>
        <p:nvSpPr>
          <p:cNvPr id="17" name="Shape 15"/>
          <p:cNvSpPr/>
          <p:nvPr/>
        </p:nvSpPr>
        <p:spPr>
          <a:xfrm>
            <a:off x="3941064" y="2130552"/>
            <a:ext cx="256032" cy="0"/>
          </a:xfrm>
          <a:prstGeom prst="line">
            <a:avLst/>
          </a:prstGeom>
          <a:noFill/>
          <a:ln w="22225">
            <a:solidFill>
              <a:srgbClr val="8FA6BC"/>
            </a:solidFill>
            <a:prstDash val="solid"/>
            <a:tailEnd type="triangle"/>
          </a:ln>
        </p:spPr>
        <p:txBody>
          <a:bodyPr/>
          <a:lstStyle/>
          <a:p>
            <a:endParaRPr lang="fr-FR"/>
          </a:p>
        </p:txBody>
      </p:sp>
      <p:sp>
        <p:nvSpPr>
          <p:cNvPr id="18" name="Shape 16"/>
          <p:cNvSpPr/>
          <p:nvPr/>
        </p:nvSpPr>
        <p:spPr>
          <a:xfrm>
            <a:off x="4297680" y="1737360"/>
            <a:ext cx="1737360" cy="786384"/>
          </a:xfrm>
          <a:prstGeom prst="rect">
            <a:avLst/>
          </a:prstGeom>
          <a:solidFill>
            <a:srgbClr val="FFFFFF"/>
          </a:solidFill>
          <a:ln w="12700">
            <a:solidFill>
              <a:srgbClr val="E08A3C"/>
            </a:solidFill>
            <a:prstDash val="solid"/>
          </a:ln>
        </p:spPr>
        <p:txBody>
          <a:bodyPr/>
          <a:lstStyle/>
          <a:p>
            <a:endParaRPr lang="fr-FR"/>
          </a:p>
        </p:txBody>
      </p:sp>
      <p:sp>
        <p:nvSpPr>
          <p:cNvPr id="19" name="Shape 17"/>
          <p:cNvSpPr/>
          <p:nvPr/>
        </p:nvSpPr>
        <p:spPr>
          <a:xfrm>
            <a:off x="4297680" y="1737360"/>
            <a:ext cx="1737360" cy="45720"/>
          </a:xfrm>
          <a:prstGeom prst="rect">
            <a:avLst/>
          </a:prstGeom>
          <a:solidFill>
            <a:srgbClr val="E08A3C"/>
          </a:solidFill>
          <a:ln/>
        </p:spPr>
        <p:txBody>
          <a:bodyPr/>
          <a:lstStyle/>
          <a:p>
            <a:endParaRPr lang="fr-FR"/>
          </a:p>
        </p:txBody>
      </p:sp>
      <p:sp>
        <p:nvSpPr>
          <p:cNvPr id="20" name="Text 18"/>
          <p:cNvSpPr/>
          <p:nvPr/>
        </p:nvSpPr>
        <p:spPr>
          <a:xfrm>
            <a:off x="4425696" y="1856232"/>
            <a:ext cx="1481328" cy="219456"/>
          </a:xfrm>
          <a:prstGeom prst="rect">
            <a:avLst/>
          </a:prstGeom>
          <a:noFill/>
          <a:ln/>
        </p:spPr>
        <p:txBody>
          <a:bodyPr wrap="square" lIns="0" tIns="0" rIns="0" bIns="0" rtlCol="0" anchor="t"/>
          <a:lstStyle/>
          <a:p>
            <a:pPr marL="0" indent="0" algn="l">
              <a:lnSpc>
                <a:spcPct val="108000"/>
              </a:lnSpc>
              <a:buNone/>
            </a:pPr>
            <a:r>
              <a:rPr lang="en-US" sz="1200" b="1" dirty="0">
                <a:solidFill>
                  <a:srgbClr val="12263F"/>
                </a:solidFill>
                <a:latin typeface="Calibri" pitchFamily="34" charset="0"/>
                <a:ea typeface="Calibri" pitchFamily="34" charset="-122"/>
                <a:cs typeface="Calibri" pitchFamily="34" charset="-120"/>
              </a:rPr>
              <a:t>Stockage</a:t>
            </a:r>
            <a:endParaRPr lang="en-US" sz="1200" dirty="0"/>
          </a:p>
        </p:txBody>
      </p:sp>
      <p:sp>
        <p:nvSpPr>
          <p:cNvPr id="21" name="Text 19"/>
          <p:cNvSpPr/>
          <p:nvPr/>
        </p:nvSpPr>
        <p:spPr>
          <a:xfrm>
            <a:off x="4425696" y="2084832"/>
            <a:ext cx="1481328" cy="384048"/>
          </a:xfrm>
          <a:prstGeom prst="rect">
            <a:avLst/>
          </a:prstGeom>
          <a:noFill/>
          <a:ln/>
        </p:spPr>
        <p:txBody>
          <a:bodyPr wrap="square" lIns="0" tIns="0" rIns="0" bIns="0" rtlCol="0" anchor="t"/>
          <a:lstStyle/>
          <a:p>
            <a:pPr marL="0" indent="0" algn="l">
              <a:lnSpc>
                <a:spcPct val="108000"/>
              </a:lnSpc>
              <a:buNone/>
            </a:pPr>
            <a:r>
              <a:rPr lang="en-US" sz="950" dirty="0">
                <a:solidFill>
                  <a:srgbClr val="4A5769"/>
                </a:solidFill>
                <a:latin typeface="Calibri" pitchFamily="34" charset="0"/>
                <a:ea typeface="Calibri" pitchFamily="34" charset="-122"/>
                <a:cs typeface="Calibri" pitchFamily="34" charset="-120"/>
              </a:rPr>
              <a:t>le fichier part</a:t>
            </a:r>
            <a:endParaRPr lang="en-US" sz="950" dirty="0"/>
          </a:p>
          <a:p>
            <a:pPr marL="0" indent="0" algn="l">
              <a:lnSpc>
                <a:spcPct val="108000"/>
              </a:lnSpc>
              <a:buNone/>
            </a:pPr>
            <a:r>
              <a:rPr lang="en-US" sz="950" dirty="0">
                <a:solidFill>
                  <a:srgbClr val="4A5769"/>
                </a:solidFill>
                <a:latin typeface="Calibri" pitchFamily="34" charset="0"/>
                <a:ea typeface="Calibri" pitchFamily="34" charset="-122"/>
                <a:cs typeface="Calibri" pitchFamily="34" charset="-120"/>
              </a:rPr>
              <a:t>directement</a:t>
            </a:r>
            <a:endParaRPr lang="en-US" sz="950" dirty="0"/>
          </a:p>
        </p:txBody>
      </p:sp>
      <p:sp>
        <p:nvSpPr>
          <p:cNvPr id="22" name="Shape 20"/>
          <p:cNvSpPr/>
          <p:nvPr/>
        </p:nvSpPr>
        <p:spPr>
          <a:xfrm>
            <a:off x="6089904" y="2130552"/>
            <a:ext cx="256032" cy="0"/>
          </a:xfrm>
          <a:prstGeom prst="line">
            <a:avLst/>
          </a:prstGeom>
          <a:noFill/>
          <a:ln w="22225">
            <a:solidFill>
              <a:srgbClr val="8FA6BC"/>
            </a:solidFill>
            <a:prstDash val="solid"/>
            <a:tailEnd type="triangle"/>
          </a:ln>
        </p:spPr>
        <p:txBody>
          <a:bodyPr/>
          <a:lstStyle/>
          <a:p>
            <a:endParaRPr lang="fr-FR"/>
          </a:p>
        </p:txBody>
      </p:sp>
      <p:sp>
        <p:nvSpPr>
          <p:cNvPr id="23" name="Shape 21"/>
          <p:cNvSpPr/>
          <p:nvPr/>
        </p:nvSpPr>
        <p:spPr>
          <a:xfrm>
            <a:off x="6446520" y="1737360"/>
            <a:ext cx="1737360" cy="786384"/>
          </a:xfrm>
          <a:prstGeom prst="rect">
            <a:avLst/>
          </a:prstGeom>
          <a:solidFill>
            <a:srgbClr val="FFFFFF"/>
          </a:solidFill>
          <a:ln w="12700">
            <a:solidFill>
              <a:srgbClr val="12855A"/>
            </a:solidFill>
            <a:prstDash val="solid"/>
          </a:ln>
        </p:spPr>
        <p:txBody>
          <a:bodyPr/>
          <a:lstStyle/>
          <a:p>
            <a:endParaRPr lang="fr-FR"/>
          </a:p>
        </p:txBody>
      </p:sp>
      <p:sp>
        <p:nvSpPr>
          <p:cNvPr id="24" name="Shape 22"/>
          <p:cNvSpPr/>
          <p:nvPr/>
        </p:nvSpPr>
        <p:spPr>
          <a:xfrm>
            <a:off x="6446520" y="1737360"/>
            <a:ext cx="1737360" cy="45720"/>
          </a:xfrm>
          <a:prstGeom prst="rect">
            <a:avLst/>
          </a:prstGeom>
          <a:solidFill>
            <a:srgbClr val="12855A"/>
          </a:solidFill>
          <a:ln/>
        </p:spPr>
        <p:txBody>
          <a:bodyPr/>
          <a:lstStyle/>
          <a:p>
            <a:endParaRPr lang="fr-FR"/>
          </a:p>
        </p:txBody>
      </p:sp>
      <p:sp>
        <p:nvSpPr>
          <p:cNvPr id="25" name="Text 23"/>
          <p:cNvSpPr/>
          <p:nvPr/>
        </p:nvSpPr>
        <p:spPr>
          <a:xfrm>
            <a:off x="6574536" y="1856232"/>
            <a:ext cx="1481328" cy="219456"/>
          </a:xfrm>
          <a:prstGeom prst="rect">
            <a:avLst/>
          </a:prstGeom>
          <a:noFill/>
          <a:ln/>
        </p:spPr>
        <p:txBody>
          <a:bodyPr wrap="square" lIns="0" tIns="0" rIns="0" bIns="0" rtlCol="0" anchor="t"/>
          <a:lstStyle/>
          <a:p>
            <a:pPr marL="0" indent="0" algn="l">
              <a:lnSpc>
                <a:spcPct val="108000"/>
              </a:lnSpc>
              <a:buNone/>
            </a:pPr>
            <a:r>
              <a:rPr lang="en-US" sz="1200" b="1" dirty="0">
                <a:solidFill>
                  <a:srgbClr val="12263F"/>
                </a:solidFill>
                <a:latin typeface="Calibri" pitchFamily="34" charset="0"/>
                <a:ea typeface="Calibri" pitchFamily="34" charset="-122"/>
                <a:cs typeface="Calibri" pitchFamily="34" charset="-120"/>
              </a:rPr>
              <a:t>Base de données</a:t>
            </a:r>
            <a:endParaRPr lang="en-US" sz="1200" dirty="0"/>
          </a:p>
        </p:txBody>
      </p:sp>
      <p:sp>
        <p:nvSpPr>
          <p:cNvPr id="26" name="Text 24"/>
          <p:cNvSpPr/>
          <p:nvPr/>
        </p:nvSpPr>
        <p:spPr>
          <a:xfrm>
            <a:off x="6574536" y="2084832"/>
            <a:ext cx="1481328" cy="384048"/>
          </a:xfrm>
          <a:prstGeom prst="rect">
            <a:avLst/>
          </a:prstGeom>
          <a:noFill/>
          <a:ln/>
        </p:spPr>
        <p:txBody>
          <a:bodyPr wrap="square" lIns="0" tIns="0" rIns="0" bIns="0" rtlCol="0" anchor="t"/>
          <a:lstStyle/>
          <a:p>
            <a:pPr marL="0" indent="0" algn="l">
              <a:lnSpc>
                <a:spcPct val="108000"/>
              </a:lnSpc>
              <a:buNone/>
            </a:pPr>
            <a:r>
              <a:rPr lang="en-US" sz="950" dirty="0">
                <a:solidFill>
                  <a:srgbClr val="4A5769"/>
                </a:solidFill>
                <a:latin typeface="Calibri" pitchFamily="34" charset="0"/>
                <a:ea typeface="Calibri" pitchFamily="34" charset="-122"/>
                <a:cs typeface="Calibri" pitchFamily="34" charset="-120"/>
              </a:rPr>
              <a:t>n'écrit qu'après</a:t>
            </a:r>
            <a:endParaRPr lang="en-US" sz="950" dirty="0"/>
          </a:p>
          <a:p>
            <a:pPr marL="0" indent="0" algn="l">
              <a:lnSpc>
                <a:spcPct val="108000"/>
              </a:lnSpc>
              <a:buNone/>
            </a:pPr>
            <a:r>
              <a:rPr lang="en-US" sz="950" dirty="0">
                <a:solidFill>
                  <a:srgbClr val="4A5769"/>
                </a:solidFill>
                <a:latin typeface="Calibri" pitchFamily="34" charset="0"/>
                <a:ea typeface="Calibri" pitchFamily="34" charset="-122"/>
                <a:cs typeface="Calibri" pitchFamily="34" charset="-120"/>
              </a:rPr>
              <a:t>succès complet</a:t>
            </a:r>
            <a:endParaRPr lang="en-US" sz="950" dirty="0"/>
          </a:p>
        </p:txBody>
      </p:sp>
      <p:sp>
        <p:nvSpPr>
          <p:cNvPr id="27" name="Text 25"/>
          <p:cNvSpPr/>
          <p:nvPr/>
        </p:nvSpPr>
        <p:spPr>
          <a:xfrm>
            <a:off x="292608" y="2688336"/>
            <a:ext cx="8558784" cy="164592"/>
          </a:xfrm>
          <a:prstGeom prst="rect">
            <a:avLst/>
          </a:prstGeom>
          <a:noFill/>
          <a:ln/>
        </p:spPr>
        <p:txBody>
          <a:bodyPr wrap="square" lIns="0" tIns="0" rIns="0" bIns="0" rtlCol="0" anchor="t"/>
          <a:lstStyle/>
          <a:p>
            <a:pPr marL="0" indent="0" algn="l">
              <a:lnSpc>
                <a:spcPct val="108000"/>
              </a:lnSpc>
              <a:buNone/>
            </a:pPr>
            <a:r>
              <a:rPr lang="en-US" sz="800" b="1" dirty="0">
                <a:solidFill>
                  <a:srgbClr val="8FA6BC"/>
                </a:solidFill>
                <a:latin typeface="Calibri" pitchFamily="34" charset="0"/>
                <a:ea typeface="Calibri" pitchFamily="34" charset="-122"/>
                <a:cs typeface="Calibri" pitchFamily="34" charset="-120"/>
              </a:rPr>
              <a:t>POINTS DE CONTRÔLE</a:t>
            </a:r>
            <a:endParaRPr lang="en-US" sz="800" dirty="0"/>
          </a:p>
        </p:txBody>
      </p:sp>
      <p:sp>
        <p:nvSpPr>
          <p:cNvPr id="28" name="Shape 26"/>
          <p:cNvSpPr/>
          <p:nvPr/>
        </p:nvSpPr>
        <p:spPr>
          <a:xfrm>
            <a:off x="292608" y="2907792"/>
            <a:ext cx="2029968" cy="566928"/>
          </a:xfrm>
          <a:prstGeom prst="rect">
            <a:avLst/>
          </a:prstGeom>
          <a:solidFill>
            <a:srgbClr val="FFFFFF"/>
          </a:solidFill>
          <a:ln w="12700">
            <a:solidFill>
              <a:srgbClr val="B03A48"/>
            </a:solidFill>
            <a:prstDash val="solid"/>
          </a:ln>
        </p:spPr>
        <p:txBody>
          <a:bodyPr/>
          <a:lstStyle/>
          <a:p>
            <a:endParaRPr lang="fr-FR"/>
          </a:p>
        </p:txBody>
      </p:sp>
      <p:sp>
        <p:nvSpPr>
          <p:cNvPr id="29" name="Text 27"/>
          <p:cNvSpPr/>
          <p:nvPr/>
        </p:nvSpPr>
        <p:spPr>
          <a:xfrm>
            <a:off x="420624" y="2980944"/>
            <a:ext cx="1773936" cy="182880"/>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Débit limité</a:t>
            </a:r>
            <a:endParaRPr lang="en-US" sz="1050" dirty="0"/>
          </a:p>
        </p:txBody>
      </p:sp>
      <p:sp>
        <p:nvSpPr>
          <p:cNvPr id="30" name="Text 28"/>
          <p:cNvSpPr/>
          <p:nvPr/>
        </p:nvSpPr>
        <p:spPr>
          <a:xfrm>
            <a:off x="420624" y="3182112"/>
            <a:ext cx="1773936" cy="219456"/>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5 inscriptions par heure</a:t>
            </a:r>
            <a:endParaRPr lang="en-US" sz="850" dirty="0"/>
          </a:p>
        </p:txBody>
      </p:sp>
      <p:sp>
        <p:nvSpPr>
          <p:cNvPr id="31" name="Shape 29"/>
          <p:cNvSpPr/>
          <p:nvPr/>
        </p:nvSpPr>
        <p:spPr>
          <a:xfrm>
            <a:off x="2468880" y="2907792"/>
            <a:ext cx="2029968" cy="566928"/>
          </a:xfrm>
          <a:prstGeom prst="rect">
            <a:avLst/>
          </a:prstGeom>
          <a:solidFill>
            <a:srgbClr val="FFFFFF"/>
          </a:solidFill>
          <a:ln w="12700">
            <a:solidFill>
              <a:srgbClr val="B03A48"/>
            </a:solidFill>
            <a:prstDash val="solid"/>
          </a:ln>
        </p:spPr>
        <p:txBody>
          <a:bodyPr/>
          <a:lstStyle/>
          <a:p>
            <a:endParaRPr lang="fr-FR"/>
          </a:p>
        </p:txBody>
      </p:sp>
      <p:sp>
        <p:nvSpPr>
          <p:cNvPr id="32" name="Text 30"/>
          <p:cNvSpPr/>
          <p:nvPr/>
        </p:nvSpPr>
        <p:spPr>
          <a:xfrm>
            <a:off x="2596896" y="2980944"/>
            <a:ext cx="1773936" cy="182880"/>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Session vérifiée</a:t>
            </a:r>
            <a:endParaRPr lang="en-US" sz="1050" dirty="0"/>
          </a:p>
        </p:txBody>
      </p:sp>
      <p:sp>
        <p:nvSpPr>
          <p:cNvPr id="33" name="Text 31"/>
          <p:cNvSpPr/>
          <p:nvPr/>
        </p:nvSpPr>
        <p:spPr>
          <a:xfrm>
            <a:off x="2596896" y="3182112"/>
            <a:ext cx="1773936" cy="219456"/>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un jeton qui expire et tourne</a:t>
            </a:r>
            <a:endParaRPr lang="en-US" sz="850" dirty="0"/>
          </a:p>
        </p:txBody>
      </p:sp>
      <p:sp>
        <p:nvSpPr>
          <p:cNvPr id="34" name="Shape 32"/>
          <p:cNvSpPr/>
          <p:nvPr/>
        </p:nvSpPr>
        <p:spPr>
          <a:xfrm>
            <a:off x="4645152" y="2907792"/>
            <a:ext cx="2029968" cy="566928"/>
          </a:xfrm>
          <a:prstGeom prst="rect">
            <a:avLst/>
          </a:prstGeom>
          <a:solidFill>
            <a:srgbClr val="FFFFFF"/>
          </a:solidFill>
          <a:ln w="12700">
            <a:solidFill>
              <a:srgbClr val="B03A48"/>
            </a:solidFill>
            <a:prstDash val="solid"/>
          </a:ln>
        </p:spPr>
        <p:txBody>
          <a:bodyPr/>
          <a:lstStyle/>
          <a:p>
            <a:endParaRPr lang="fr-FR"/>
          </a:p>
        </p:txBody>
      </p:sp>
      <p:sp>
        <p:nvSpPr>
          <p:cNvPr id="35" name="Text 33"/>
          <p:cNvSpPr/>
          <p:nvPr/>
        </p:nvSpPr>
        <p:spPr>
          <a:xfrm>
            <a:off x="4773168" y="2980944"/>
            <a:ext cx="1773936" cy="182880"/>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Propriété vérifiée</a:t>
            </a:r>
            <a:endParaRPr lang="en-US" sz="1050" dirty="0"/>
          </a:p>
        </p:txBody>
      </p:sp>
      <p:sp>
        <p:nvSpPr>
          <p:cNvPr id="36" name="Text 34"/>
          <p:cNvSpPr/>
          <p:nvPr/>
        </p:nvSpPr>
        <p:spPr>
          <a:xfrm>
            <a:off x="4773168" y="3182112"/>
            <a:ext cx="1773936" cy="219456"/>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on n'agit que sur ses données</a:t>
            </a:r>
            <a:endParaRPr lang="en-US" sz="850" dirty="0"/>
          </a:p>
        </p:txBody>
      </p:sp>
      <p:sp>
        <p:nvSpPr>
          <p:cNvPr id="37" name="Shape 35"/>
          <p:cNvSpPr/>
          <p:nvPr/>
        </p:nvSpPr>
        <p:spPr>
          <a:xfrm>
            <a:off x="6821424" y="2907792"/>
            <a:ext cx="2029968" cy="566928"/>
          </a:xfrm>
          <a:prstGeom prst="rect">
            <a:avLst/>
          </a:prstGeom>
          <a:solidFill>
            <a:srgbClr val="FFFFFF"/>
          </a:solidFill>
          <a:ln w="12700">
            <a:solidFill>
              <a:srgbClr val="B03A48"/>
            </a:solidFill>
            <a:prstDash val="solid"/>
          </a:ln>
        </p:spPr>
        <p:txBody>
          <a:bodyPr/>
          <a:lstStyle/>
          <a:p>
            <a:endParaRPr lang="fr-FR"/>
          </a:p>
        </p:txBody>
      </p:sp>
      <p:sp>
        <p:nvSpPr>
          <p:cNvPr id="38" name="Text 36"/>
          <p:cNvSpPr/>
          <p:nvPr/>
        </p:nvSpPr>
        <p:spPr>
          <a:xfrm>
            <a:off x="6949440" y="2980944"/>
            <a:ext cx="1773936" cy="182880"/>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Format et taille</a:t>
            </a:r>
            <a:endParaRPr lang="en-US" sz="1050" dirty="0"/>
          </a:p>
        </p:txBody>
      </p:sp>
      <p:sp>
        <p:nvSpPr>
          <p:cNvPr id="39" name="Text 37"/>
          <p:cNvSpPr/>
          <p:nvPr/>
        </p:nvSpPr>
        <p:spPr>
          <a:xfrm>
            <a:off x="6949440" y="3182112"/>
            <a:ext cx="1773936" cy="219456"/>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refusés si non conformes</a:t>
            </a:r>
            <a:endParaRPr lang="en-US" sz="850" dirty="0"/>
          </a:p>
        </p:txBody>
      </p:sp>
      <p:sp>
        <p:nvSpPr>
          <p:cNvPr id="40" name="Shape 38"/>
          <p:cNvSpPr/>
          <p:nvPr/>
        </p:nvSpPr>
        <p:spPr>
          <a:xfrm>
            <a:off x="292608" y="3602736"/>
            <a:ext cx="8558784" cy="402336"/>
          </a:xfrm>
          <a:prstGeom prst="rect">
            <a:avLst/>
          </a:prstGeom>
          <a:solidFill>
            <a:srgbClr val="F4F7FA"/>
          </a:solidFill>
          <a:ln w="12700">
            <a:solidFill>
              <a:srgbClr val="E08A3C"/>
            </a:solidFill>
            <a:prstDash val="solid"/>
          </a:ln>
        </p:spPr>
        <p:txBody>
          <a:bodyPr/>
          <a:lstStyle/>
          <a:p>
            <a:endParaRPr lang="fr-FR"/>
          </a:p>
        </p:txBody>
      </p:sp>
      <p:sp>
        <p:nvSpPr>
          <p:cNvPr id="41" name="Text 39"/>
          <p:cNvSpPr/>
          <p:nvPr/>
        </p:nvSpPr>
        <p:spPr>
          <a:xfrm>
            <a:off x="475488" y="3602736"/>
            <a:ext cx="8229600" cy="402336"/>
          </a:xfrm>
          <a:prstGeom prst="rect">
            <a:avLst/>
          </a:prstGeom>
          <a:noFill/>
          <a:ln/>
        </p:spPr>
        <p:txBody>
          <a:bodyPr wrap="square" lIns="0" tIns="0" rIns="0" bIns="0" rtlCol="0" anchor="ctr"/>
          <a:lstStyle/>
          <a:p>
            <a:pPr marL="0" indent="0" algn="l">
              <a:lnSpc>
                <a:spcPct val="108000"/>
              </a:lnSpc>
              <a:buNone/>
            </a:pPr>
            <a:r>
              <a:rPr lang="en-US" sz="1100" b="1" dirty="0">
                <a:solidFill>
                  <a:srgbClr val="12263F"/>
                </a:solidFill>
                <a:latin typeface="Calibri" pitchFamily="34" charset="0"/>
                <a:ea typeface="Calibri" pitchFamily="34" charset="-122"/>
                <a:cs typeface="Calibri" pitchFamily="34" charset="-120"/>
              </a:rPr>
              <a:t>Le fichier ne touche jamais le disque du serveur : il transite en flux vers le stockage.</a:t>
            </a:r>
            <a:endParaRPr lang="en-US" sz="1100" dirty="0"/>
          </a:p>
        </p:txBody>
      </p:sp>
      <p:sp>
        <p:nvSpPr>
          <p:cNvPr id="42" name="Shape 40"/>
          <p:cNvSpPr/>
          <p:nvPr/>
        </p:nvSpPr>
        <p:spPr>
          <a:xfrm>
            <a:off x="292608" y="4224528"/>
            <a:ext cx="8558784" cy="475488"/>
          </a:xfrm>
          <a:prstGeom prst="rect">
            <a:avLst/>
          </a:prstGeom>
          <a:solidFill>
            <a:srgbClr val="12263F"/>
          </a:solidFill>
          <a:ln/>
        </p:spPr>
        <p:txBody>
          <a:bodyPr/>
          <a:lstStyle/>
          <a:p>
            <a:endParaRPr lang="fr-FR"/>
          </a:p>
        </p:txBody>
      </p:sp>
      <p:sp>
        <p:nvSpPr>
          <p:cNvPr id="43" name="Shape 41"/>
          <p:cNvSpPr/>
          <p:nvPr/>
        </p:nvSpPr>
        <p:spPr>
          <a:xfrm>
            <a:off x="292608" y="4224528"/>
            <a:ext cx="45720" cy="475488"/>
          </a:xfrm>
          <a:prstGeom prst="rect">
            <a:avLst/>
          </a:prstGeom>
          <a:solidFill>
            <a:srgbClr val="E08A3C"/>
          </a:solidFill>
          <a:ln/>
        </p:spPr>
        <p:txBody>
          <a:bodyPr/>
          <a:lstStyle/>
          <a:p>
            <a:endParaRPr lang="fr-FR"/>
          </a:p>
        </p:txBody>
      </p:sp>
      <p:sp>
        <p:nvSpPr>
          <p:cNvPr id="44" name="Text 42"/>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Rien n'est écrit en base tant que le fichier n'est pas entièrement stocké : jamais de ligne orpheline.</a:t>
            </a:r>
            <a:endParaRPr lang="en-US" sz="1150" dirty="0"/>
          </a:p>
        </p:txBody>
      </p:sp>
      <p:sp>
        <p:nvSpPr>
          <p:cNvPr id="45" name="Text 43"/>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3.3 - Analyse des Flux de Données et des Processus Critiques</a:t>
            </a:r>
            <a:endParaRPr lang="en-US" sz="750" dirty="0"/>
          </a:p>
        </p:txBody>
      </p:sp>
      <p:sp>
        <p:nvSpPr>
          <p:cNvPr id="46" name="Text 44"/>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3. Analyse du Système Informatique</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12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3.4 - Étude de la Conformité et des Normes</a:t>
            </a:r>
            <a:endParaRPr lang="en-US" sz="2200" dirty="0"/>
          </a:p>
        </p:txBody>
      </p:sp>
      <p:sp>
        <p:nvSpPr>
          <p:cNvPr id="7" name="Text 5"/>
          <p:cNvSpPr/>
          <p:nvPr/>
        </p:nvSpPr>
        <p:spPr>
          <a:xfrm>
            <a:off x="292608" y="1024128"/>
            <a:ext cx="8558784" cy="201168"/>
          </a:xfrm>
          <a:prstGeom prst="rect">
            <a:avLst/>
          </a:prstGeom>
          <a:noFill/>
          <a:ln/>
        </p:spPr>
        <p:txBody>
          <a:bodyPr wrap="square" lIns="0" tIns="0" rIns="0" bIns="0" rtlCol="0" anchor="ctr"/>
          <a:lstStyle/>
          <a:p>
            <a:pPr marL="0" indent="0">
              <a:buNone/>
            </a:pPr>
            <a:r>
              <a:rPr lang="en-US" sz="1050" dirty="0">
                <a:solidFill>
                  <a:srgbClr val="4A5769"/>
                </a:solidFill>
                <a:latin typeface="Calibri" pitchFamily="34" charset="0"/>
                <a:ea typeface="Calibri" pitchFamily="34" charset="-122"/>
                <a:cs typeface="Calibri" pitchFamily="34" charset="-120"/>
              </a:rPr>
              <a:t>27 contrôles répartis en quatre couches, chacun rattaché à une norme.</a:t>
            </a:r>
            <a:endParaRPr lang="en-US" sz="1050" dirty="0"/>
          </a:p>
        </p:txBody>
      </p:sp>
      <p:sp>
        <p:nvSpPr>
          <p:cNvPr id="8" name="Shape 6"/>
          <p:cNvSpPr/>
          <p:nvPr/>
        </p:nvSpPr>
        <p:spPr>
          <a:xfrm>
            <a:off x="292608" y="1335024"/>
            <a:ext cx="2043684" cy="219456"/>
          </a:xfrm>
          <a:prstGeom prst="roundRect">
            <a:avLst>
              <a:gd name="adj" fmla="val 16667"/>
            </a:avLst>
          </a:prstGeom>
          <a:solidFill>
            <a:srgbClr val="1B6EC2"/>
          </a:solidFill>
          <a:ln/>
        </p:spPr>
        <p:txBody>
          <a:bodyPr/>
          <a:lstStyle/>
          <a:p>
            <a:endParaRPr lang="fr-FR"/>
          </a:p>
        </p:txBody>
      </p:sp>
      <p:sp>
        <p:nvSpPr>
          <p:cNvPr id="9" name="Text 7"/>
          <p:cNvSpPr/>
          <p:nvPr/>
        </p:nvSpPr>
        <p:spPr>
          <a:xfrm>
            <a:off x="365760" y="1335024"/>
            <a:ext cx="1897380" cy="219456"/>
          </a:xfrm>
          <a:prstGeom prst="rect">
            <a:avLst/>
          </a:prstGeom>
          <a:noFill/>
          <a:ln/>
        </p:spPr>
        <p:txBody>
          <a:bodyPr wrap="square" lIns="0" tIns="0" rIns="0" bIns="0" rtlCol="0" anchor="ctr"/>
          <a:lstStyle/>
          <a:p>
            <a:pPr marL="0" indent="0">
              <a:buNone/>
            </a:pPr>
            <a:r>
              <a:rPr lang="en-US" sz="680" b="1" kern="0" spc="30" dirty="0">
                <a:solidFill>
                  <a:srgbClr val="FFFFFF"/>
                </a:solidFill>
                <a:latin typeface="Calibri" pitchFamily="34" charset="0"/>
                <a:ea typeface="Calibri" pitchFamily="34" charset="-122"/>
                <a:cs typeface="Calibri" pitchFamily="34" charset="-120"/>
              </a:rPr>
              <a:t>1 · PÉRIPHÉRIE Cloudflare · AWS</a:t>
            </a:r>
            <a:endParaRPr lang="en-US" sz="680" dirty="0"/>
          </a:p>
        </p:txBody>
      </p:sp>
      <p:sp>
        <p:nvSpPr>
          <p:cNvPr id="10" name="Shape 8"/>
          <p:cNvSpPr/>
          <p:nvPr/>
        </p:nvSpPr>
        <p:spPr>
          <a:xfrm>
            <a:off x="292608" y="1609344"/>
            <a:ext cx="2043684" cy="475488"/>
          </a:xfrm>
          <a:prstGeom prst="rect">
            <a:avLst/>
          </a:prstGeom>
          <a:solidFill>
            <a:srgbClr val="FFFFFF"/>
          </a:solidFill>
          <a:ln w="9525">
            <a:solidFill>
              <a:srgbClr val="E2E8EE"/>
            </a:solidFill>
            <a:prstDash val="solid"/>
          </a:ln>
        </p:spPr>
        <p:txBody>
          <a:bodyPr/>
          <a:lstStyle/>
          <a:p>
            <a:endParaRPr lang="fr-FR"/>
          </a:p>
        </p:txBody>
      </p:sp>
      <p:sp>
        <p:nvSpPr>
          <p:cNvPr id="11" name="Shape 9"/>
          <p:cNvSpPr/>
          <p:nvPr/>
        </p:nvSpPr>
        <p:spPr>
          <a:xfrm>
            <a:off x="292608" y="1609344"/>
            <a:ext cx="32004" cy="475488"/>
          </a:xfrm>
          <a:prstGeom prst="rect">
            <a:avLst/>
          </a:prstGeom>
          <a:solidFill>
            <a:srgbClr val="1B6EC2"/>
          </a:solidFill>
          <a:ln/>
        </p:spPr>
        <p:txBody>
          <a:bodyPr/>
          <a:lstStyle/>
          <a:p>
            <a:endParaRPr lang="fr-FR"/>
          </a:p>
        </p:txBody>
      </p:sp>
      <p:sp>
        <p:nvSpPr>
          <p:cNvPr id="12" name="Text 10"/>
          <p:cNvSpPr/>
          <p:nvPr/>
        </p:nvSpPr>
        <p:spPr>
          <a:xfrm>
            <a:off x="393192" y="1641348"/>
            <a:ext cx="1860804" cy="329184"/>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WAF Cloudflare : filtrage du trafic entrant</a:t>
            </a:r>
            <a:endParaRPr lang="en-US" sz="600" dirty="0"/>
          </a:p>
        </p:txBody>
      </p:sp>
      <p:sp>
        <p:nvSpPr>
          <p:cNvPr id="13" name="Text 11"/>
          <p:cNvSpPr/>
          <p:nvPr/>
        </p:nvSpPr>
        <p:spPr>
          <a:xfrm>
            <a:off x="393192" y="1961388"/>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1B6EC2"/>
                </a:solidFill>
                <a:latin typeface="Calibri" pitchFamily="34" charset="0"/>
                <a:ea typeface="Calibri" pitchFamily="34" charset="-122"/>
                <a:cs typeface="Calibri" pitchFamily="34" charset="-120"/>
              </a:rPr>
              <a:t>A.8.20 · A.8.23</a:t>
            </a:r>
            <a:endParaRPr lang="en-US" sz="500" dirty="0"/>
          </a:p>
        </p:txBody>
      </p:sp>
      <p:sp>
        <p:nvSpPr>
          <p:cNvPr id="14" name="Shape 12"/>
          <p:cNvSpPr/>
          <p:nvPr/>
        </p:nvSpPr>
        <p:spPr>
          <a:xfrm>
            <a:off x="292608" y="2112264"/>
            <a:ext cx="2043684" cy="475488"/>
          </a:xfrm>
          <a:prstGeom prst="rect">
            <a:avLst/>
          </a:prstGeom>
          <a:solidFill>
            <a:srgbClr val="FFFFFF"/>
          </a:solidFill>
          <a:ln w="9525">
            <a:solidFill>
              <a:srgbClr val="E2E8EE"/>
            </a:solidFill>
            <a:prstDash val="solid"/>
          </a:ln>
        </p:spPr>
        <p:txBody>
          <a:bodyPr/>
          <a:lstStyle/>
          <a:p>
            <a:endParaRPr lang="fr-FR"/>
          </a:p>
        </p:txBody>
      </p:sp>
      <p:sp>
        <p:nvSpPr>
          <p:cNvPr id="15" name="Shape 13"/>
          <p:cNvSpPr/>
          <p:nvPr/>
        </p:nvSpPr>
        <p:spPr>
          <a:xfrm>
            <a:off x="292608" y="2112264"/>
            <a:ext cx="32004" cy="475488"/>
          </a:xfrm>
          <a:prstGeom prst="rect">
            <a:avLst/>
          </a:prstGeom>
          <a:solidFill>
            <a:srgbClr val="1B6EC2"/>
          </a:solidFill>
          <a:ln/>
        </p:spPr>
        <p:txBody>
          <a:bodyPr/>
          <a:lstStyle/>
          <a:p>
            <a:endParaRPr lang="fr-FR"/>
          </a:p>
        </p:txBody>
      </p:sp>
      <p:sp>
        <p:nvSpPr>
          <p:cNvPr id="16" name="Text 14"/>
          <p:cNvSpPr/>
          <p:nvPr/>
        </p:nvSpPr>
        <p:spPr>
          <a:xfrm>
            <a:off x="393192" y="2144268"/>
            <a:ext cx="1860804" cy="329184"/>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TLS strict · HSTS 2 ans preload</a:t>
            </a:r>
            <a:endParaRPr lang="en-US" sz="600" dirty="0"/>
          </a:p>
        </p:txBody>
      </p:sp>
      <p:sp>
        <p:nvSpPr>
          <p:cNvPr id="17" name="Text 15"/>
          <p:cNvSpPr/>
          <p:nvPr/>
        </p:nvSpPr>
        <p:spPr>
          <a:xfrm>
            <a:off x="393192" y="2464308"/>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1B6EC2"/>
                </a:solidFill>
                <a:latin typeface="Calibri" pitchFamily="34" charset="0"/>
                <a:ea typeface="Calibri" pitchFamily="34" charset="-122"/>
                <a:cs typeface="Calibri" pitchFamily="34" charset="-120"/>
              </a:rPr>
              <a:t>A.8.24</a:t>
            </a:r>
            <a:endParaRPr lang="en-US" sz="500" dirty="0"/>
          </a:p>
        </p:txBody>
      </p:sp>
      <p:sp>
        <p:nvSpPr>
          <p:cNvPr id="18" name="Shape 16"/>
          <p:cNvSpPr/>
          <p:nvPr/>
        </p:nvSpPr>
        <p:spPr>
          <a:xfrm>
            <a:off x="292608" y="2615184"/>
            <a:ext cx="2043684" cy="475488"/>
          </a:xfrm>
          <a:prstGeom prst="rect">
            <a:avLst/>
          </a:prstGeom>
          <a:solidFill>
            <a:srgbClr val="FFFFFF"/>
          </a:solidFill>
          <a:ln w="9525">
            <a:solidFill>
              <a:srgbClr val="E2E8EE"/>
            </a:solidFill>
            <a:prstDash val="solid"/>
          </a:ln>
        </p:spPr>
        <p:txBody>
          <a:bodyPr/>
          <a:lstStyle/>
          <a:p>
            <a:endParaRPr lang="fr-FR"/>
          </a:p>
        </p:txBody>
      </p:sp>
      <p:sp>
        <p:nvSpPr>
          <p:cNvPr id="19" name="Shape 17"/>
          <p:cNvSpPr/>
          <p:nvPr/>
        </p:nvSpPr>
        <p:spPr>
          <a:xfrm>
            <a:off x="292608" y="2615184"/>
            <a:ext cx="32004" cy="475488"/>
          </a:xfrm>
          <a:prstGeom prst="rect">
            <a:avLst/>
          </a:prstGeom>
          <a:solidFill>
            <a:srgbClr val="1B6EC2"/>
          </a:solidFill>
          <a:ln/>
        </p:spPr>
        <p:txBody>
          <a:bodyPr/>
          <a:lstStyle/>
          <a:p>
            <a:endParaRPr lang="fr-FR"/>
          </a:p>
        </p:txBody>
      </p:sp>
      <p:sp>
        <p:nvSpPr>
          <p:cNvPr id="20" name="Text 18"/>
          <p:cNvSpPr/>
          <p:nvPr/>
        </p:nvSpPr>
        <p:spPr>
          <a:xfrm>
            <a:off x="393192" y="2647188"/>
            <a:ext cx="1860804" cy="329184"/>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Protection volumétrique (anti-DDoS)</a:t>
            </a:r>
            <a:endParaRPr lang="en-US" sz="600" dirty="0"/>
          </a:p>
        </p:txBody>
      </p:sp>
      <p:sp>
        <p:nvSpPr>
          <p:cNvPr id="21" name="Text 19"/>
          <p:cNvSpPr/>
          <p:nvPr/>
        </p:nvSpPr>
        <p:spPr>
          <a:xfrm>
            <a:off x="393192" y="2967228"/>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1B6EC2"/>
                </a:solidFill>
                <a:latin typeface="Calibri" pitchFamily="34" charset="0"/>
                <a:ea typeface="Calibri" pitchFamily="34" charset="-122"/>
                <a:cs typeface="Calibri" pitchFamily="34" charset="-120"/>
              </a:rPr>
              <a:t>A.8.6</a:t>
            </a:r>
            <a:endParaRPr lang="en-US" sz="500" dirty="0"/>
          </a:p>
        </p:txBody>
      </p:sp>
      <p:sp>
        <p:nvSpPr>
          <p:cNvPr id="22" name="Shape 20"/>
          <p:cNvSpPr/>
          <p:nvPr/>
        </p:nvSpPr>
        <p:spPr>
          <a:xfrm>
            <a:off x="292608" y="3118104"/>
            <a:ext cx="2043684" cy="475488"/>
          </a:xfrm>
          <a:prstGeom prst="rect">
            <a:avLst/>
          </a:prstGeom>
          <a:solidFill>
            <a:srgbClr val="FFFFFF"/>
          </a:solidFill>
          <a:ln w="9525">
            <a:solidFill>
              <a:srgbClr val="E2E8EE"/>
            </a:solidFill>
            <a:prstDash val="solid"/>
          </a:ln>
        </p:spPr>
        <p:txBody>
          <a:bodyPr/>
          <a:lstStyle/>
          <a:p>
            <a:endParaRPr lang="fr-FR"/>
          </a:p>
        </p:txBody>
      </p:sp>
      <p:sp>
        <p:nvSpPr>
          <p:cNvPr id="23" name="Shape 21"/>
          <p:cNvSpPr/>
          <p:nvPr/>
        </p:nvSpPr>
        <p:spPr>
          <a:xfrm>
            <a:off x="292608" y="3118104"/>
            <a:ext cx="32004" cy="475488"/>
          </a:xfrm>
          <a:prstGeom prst="rect">
            <a:avLst/>
          </a:prstGeom>
          <a:solidFill>
            <a:srgbClr val="1B6EC2"/>
          </a:solidFill>
          <a:ln/>
        </p:spPr>
        <p:txBody>
          <a:bodyPr/>
          <a:lstStyle/>
          <a:p>
            <a:endParaRPr lang="fr-FR"/>
          </a:p>
        </p:txBody>
      </p:sp>
      <p:sp>
        <p:nvSpPr>
          <p:cNvPr id="24" name="Text 22"/>
          <p:cNvSpPr/>
          <p:nvPr/>
        </p:nvSpPr>
        <p:spPr>
          <a:xfrm>
            <a:off x="393192" y="3150108"/>
            <a:ext cx="1860804" cy="329184"/>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AWS WAFv2 : 5 000 req/IP · réputation · common rules</a:t>
            </a:r>
            <a:endParaRPr lang="en-US" sz="600" dirty="0"/>
          </a:p>
        </p:txBody>
      </p:sp>
      <p:sp>
        <p:nvSpPr>
          <p:cNvPr id="25" name="Text 23"/>
          <p:cNvSpPr/>
          <p:nvPr/>
        </p:nvSpPr>
        <p:spPr>
          <a:xfrm>
            <a:off x="393192" y="3470148"/>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1B6EC2"/>
                </a:solidFill>
                <a:latin typeface="Calibri" pitchFamily="34" charset="0"/>
                <a:ea typeface="Calibri" pitchFamily="34" charset="-122"/>
                <a:cs typeface="Calibri" pitchFamily="34" charset="-120"/>
              </a:rPr>
              <a:t>A.8.20</a:t>
            </a:r>
            <a:endParaRPr lang="en-US" sz="500" dirty="0"/>
          </a:p>
        </p:txBody>
      </p:sp>
      <p:sp>
        <p:nvSpPr>
          <p:cNvPr id="26" name="Shape 24"/>
          <p:cNvSpPr/>
          <p:nvPr/>
        </p:nvSpPr>
        <p:spPr>
          <a:xfrm>
            <a:off x="292608" y="3621024"/>
            <a:ext cx="2043684" cy="475488"/>
          </a:xfrm>
          <a:prstGeom prst="rect">
            <a:avLst/>
          </a:prstGeom>
          <a:solidFill>
            <a:srgbClr val="FFFFFF"/>
          </a:solidFill>
          <a:ln w="9525">
            <a:solidFill>
              <a:srgbClr val="E2E8EE"/>
            </a:solidFill>
            <a:prstDash val="solid"/>
          </a:ln>
        </p:spPr>
        <p:txBody>
          <a:bodyPr/>
          <a:lstStyle/>
          <a:p>
            <a:endParaRPr lang="fr-FR"/>
          </a:p>
        </p:txBody>
      </p:sp>
      <p:sp>
        <p:nvSpPr>
          <p:cNvPr id="27" name="Shape 25"/>
          <p:cNvSpPr/>
          <p:nvPr/>
        </p:nvSpPr>
        <p:spPr>
          <a:xfrm>
            <a:off x="292608" y="3621024"/>
            <a:ext cx="32004" cy="475488"/>
          </a:xfrm>
          <a:prstGeom prst="rect">
            <a:avLst/>
          </a:prstGeom>
          <a:solidFill>
            <a:srgbClr val="1B6EC2"/>
          </a:solidFill>
          <a:ln/>
        </p:spPr>
        <p:txBody>
          <a:bodyPr/>
          <a:lstStyle/>
          <a:p>
            <a:endParaRPr lang="fr-FR"/>
          </a:p>
        </p:txBody>
      </p:sp>
      <p:sp>
        <p:nvSpPr>
          <p:cNvPr id="28" name="Text 26"/>
          <p:cNvSpPr/>
          <p:nvPr/>
        </p:nvSpPr>
        <p:spPr>
          <a:xfrm>
            <a:off x="393192" y="3653028"/>
            <a:ext cx="1860804" cy="329184"/>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CloudFront : redirection HTTPS forcée</a:t>
            </a:r>
            <a:endParaRPr lang="en-US" sz="600" dirty="0"/>
          </a:p>
        </p:txBody>
      </p:sp>
      <p:sp>
        <p:nvSpPr>
          <p:cNvPr id="29" name="Text 27"/>
          <p:cNvSpPr/>
          <p:nvPr/>
        </p:nvSpPr>
        <p:spPr>
          <a:xfrm>
            <a:off x="393192" y="3973068"/>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1B6EC2"/>
                </a:solidFill>
                <a:latin typeface="Calibri" pitchFamily="34" charset="0"/>
                <a:ea typeface="Calibri" pitchFamily="34" charset="-122"/>
                <a:cs typeface="Calibri" pitchFamily="34" charset="-120"/>
              </a:rPr>
              <a:t>A.8.24</a:t>
            </a:r>
            <a:endParaRPr lang="en-US" sz="500" dirty="0"/>
          </a:p>
        </p:txBody>
      </p:sp>
      <p:sp>
        <p:nvSpPr>
          <p:cNvPr id="30" name="Shape 28"/>
          <p:cNvSpPr/>
          <p:nvPr/>
        </p:nvSpPr>
        <p:spPr>
          <a:xfrm>
            <a:off x="2464308" y="1335024"/>
            <a:ext cx="2043684" cy="219456"/>
          </a:xfrm>
          <a:prstGeom prst="roundRect">
            <a:avLst>
              <a:gd name="adj" fmla="val 16667"/>
            </a:avLst>
          </a:prstGeom>
          <a:solidFill>
            <a:srgbClr val="12855A"/>
          </a:solidFill>
          <a:ln/>
        </p:spPr>
        <p:txBody>
          <a:bodyPr/>
          <a:lstStyle/>
          <a:p>
            <a:endParaRPr lang="fr-FR"/>
          </a:p>
        </p:txBody>
      </p:sp>
      <p:sp>
        <p:nvSpPr>
          <p:cNvPr id="31" name="Text 29"/>
          <p:cNvSpPr/>
          <p:nvPr/>
        </p:nvSpPr>
        <p:spPr>
          <a:xfrm>
            <a:off x="2537460" y="1335024"/>
            <a:ext cx="1897380" cy="219456"/>
          </a:xfrm>
          <a:prstGeom prst="rect">
            <a:avLst/>
          </a:prstGeom>
          <a:noFill/>
          <a:ln/>
        </p:spPr>
        <p:txBody>
          <a:bodyPr wrap="square" lIns="0" tIns="0" rIns="0" bIns="0" rtlCol="0" anchor="ctr"/>
          <a:lstStyle/>
          <a:p>
            <a:pPr marL="0" indent="0">
              <a:buNone/>
            </a:pPr>
            <a:r>
              <a:rPr lang="en-US" sz="680" b="1" kern="0" spc="30" dirty="0">
                <a:solidFill>
                  <a:srgbClr val="FFFFFF"/>
                </a:solidFill>
                <a:latin typeface="Calibri" pitchFamily="34" charset="0"/>
                <a:ea typeface="Calibri" pitchFamily="34" charset="-122"/>
                <a:cs typeface="Calibri" pitchFamily="34" charset="-120"/>
              </a:rPr>
              <a:t>2 · RÉSEAU Hetzner · Swarm</a:t>
            </a:r>
            <a:endParaRPr lang="en-US" sz="680" dirty="0"/>
          </a:p>
        </p:txBody>
      </p:sp>
      <p:sp>
        <p:nvSpPr>
          <p:cNvPr id="32" name="Shape 30"/>
          <p:cNvSpPr/>
          <p:nvPr/>
        </p:nvSpPr>
        <p:spPr>
          <a:xfrm>
            <a:off x="2464308" y="1609344"/>
            <a:ext cx="2043684" cy="391668"/>
          </a:xfrm>
          <a:prstGeom prst="rect">
            <a:avLst/>
          </a:prstGeom>
          <a:solidFill>
            <a:srgbClr val="FFFFFF"/>
          </a:solidFill>
          <a:ln w="9525">
            <a:solidFill>
              <a:srgbClr val="E2E8EE"/>
            </a:solidFill>
            <a:prstDash val="solid"/>
          </a:ln>
        </p:spPr>
        <p:txBody>
          <a:bodyPr/>
          <a:lstStyle/>
          <a:p>
            <a:endParaRPr lang="fr-FR"/>
          </a:p>
        </p:txBody>
      </p:sp>
      <p:sp>
        <p:nvSpPr>
          <p:cNvPr id="33" name="Shape 31"/>
          <p:cNvSpPr/>
          <p:nvPr/>
        </p:nvSpPr>
        <p:spPr>
          <a:xfrm>
            <a:off x="2464308" y="1609344"/>
            <a:ext cx="32004" cy="391668"/>
          </a:xfrm>
          <a:prstGeom prst="rect">
            <a:avLst/>
          </a:prstGeom>
          <a:solidFill>
            <a:srgbClr val="12855A"/>
          </a:solidFill>
          <a:ln/>
        </p:spPr>
        <p:txBody>
          <a:bodyPr/>
          <a:lstStyle/>
          <a:p>
            <a:endParaRPr lang="fr-FR"/>
          </a:p>
        </p:txBody>
      </p:sp>
      <p:sp>
        <p:nvSpPr>
          <p:cNvPr id="34" name="Text 32"/>
          <p:cNvSpPr/>
          <p:nvPr/>
        </p:nvSpPr>
        <p:spPr>
          <a:xfrm>
            <a:off x="2564892" y="1641348"/>
            <a:ext cx="1860804" cy="245364"/>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Pare-feu : 80/443 depuis Cloudflare uniquement</a:t>
            </a:r>
            <a:endParaRPr lang="en-US" sz="600" dirty="0"/>
          </a:p>
        </p:txBody>
      </p:sp>
      <p:sp>
        <p:nvSpPr>
          <p:cNvPr id="35" name="Text 33"/>
          <p:cNvSpPr/>
          <p:nvPr/>
        </p:nvSpPr>
        <p:spPr>
          <a:xfrm>
            <a:off x="2564892" y="1877568"/>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12855A"/>
                </a:solidFill>
                <a:latin typeface="Calibri" pitchFamily="34" charset="0"/>
                <a:ea typeface="Calibri" pitchFamily="34" charset="-122"/>
                <a:cs typeface="Calibri" pitchFamily="34" charset="-120"/>
              </a:rPr>
              <a:t>A.8.20 · A.8.22</a:t>
            </a:r>
            <a:endParaRPr lang="en-US" sz="500" dirty="0"/>
          </a:p>
        </p:txBody>
      </p:sp>
      <p:sp>
        <p:nvSpPr>
          <p:cNvPr id="36" name="Shape 34"/>
          <p:cNvSpPr/>
          <p:nvPr/>
        </p:nvSpPr>
        <p:spPr>
          <a:xfrm>
            <a:off x="2464308" y="2028444"/>
            <a:ext cx="2043684" cy="391668"/>
          </a:xfrm>
          <a:prstGeom prst="rect">
            <a:avLst/>
          </a:prstGeom>
          <a:solidFill>
            <a:srgbClr val="FFFFFF"/>
          </a:solidFill>
          <a:ln w="9525">
            <a:solidFill>
              <a:srgbClr val="E2E8EE"/>
            </a:solidFill>
            <a:prstDash val="solid"/>
          </a:ln>
        </p:spPr>
        <p:txBody>
          <a:bodyPr/>
          <a:lstStyle/>
          <a:p>
            <a:endParaRPr lang="fr-FR"/>
          </a:p>
        </p:txBody>
      </p:sp>
      <p:sp>
        <p:nvSpPr>
          <p:cNvPr id="37" name="Shape 35"/>
          <p:cNvSpPr/>
          <p:nvPr/>
        </p:nvSpPr>
        <p:spPr>
          <a:xfrm>
            <a:off x="2464308" y="2028444"/>
            <a:ext cx="32004" cy="391668"/>
          </a:xfrm>
          <a:prstGeom prst="rect">
            <a:avLst/>
          </a:prstGeom>
          <a:solidFill>
            <a:srgbClr val="12855A"/>
          </a:solidFill>
          <a:ln/>
        </p:spPr>
        <p:txBody>
          <a:bodyPr/>
          <a:lstStyle/>
          <a:p>
            <a:endParaRPr lang="fr-FR"/>
          </a:p>
        </p:txBody>
      </p:sp>
      <p:sp>
        <p:nvSpPr>
          <p:cNvPr id="38" name="Text 36"/>
          <p:cNvSpPr/>
          <p:nvPr/>
        </p:nvSpPr>
        <p:spPr>
          <a:xfrm>
            <a:off x="2564892" y="2060448"/>
            <a:ext cx="1860804" cy="245364"/>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Accès SSH par clé · durcissement système</a:t>
            </a:r>
            <a:endParaRPr lang="en-US" sz="600" dirty="0"/>
          </a:p>
        </p:txBody>
      </p:sp>
      <p:sp>
        <p:nvSpPr>
          <p:cNvPr id="39" name="Text 37"/>
          <p:cNvSpPr/>
          <p:nvPr/>
        </p:nvSpPr>
        <p:spPr>
          <a:xfrm>
            <a:off x="2564892" y="2296668"/>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12855A"/>
                </a:solidFill>
                <a:latin typeface="Calibri" pitchFamily="34" charset="0"/>
                <a:ea typeface="Calibri" pitchFamily="34" charset="-122"/>
                <a:cs typeface="Calibri" pitchFamily="34" charset="-120"/>
              </a:rPr>
              <a:t>A.8.5 · A.8.9</a:t>
            </a:r>
            <a:endParaRPr lang="en-US" sz="500" dirty="0"/>
          </a:p>
        </p:txBody>
      </p:sp>
      <p:sp>
        <p:nvSpPr>
          <p:cNvPr id="40" name="Shape 38"/>
          <p:cNvSpPr/>
          <p:nvPr/>
        </p:nvSpPr>
        <p:spPr>
          <a:xfrm>
            <a:off x="2464308" y="2447544"/>
            <a:ext cx="2043684" cy="391668"/>
          </a:xfrm>
          <a:prstGeom prst="rect">
            <a:avLst/>
          </a:prstGeom>
          <a:solidFill>
            <a:srgbClr val="FFFFFF"/>
          </a:solidFill>
          <a:ln w="9525">
            <a:solidFill>
              <a:srgbClr val="E2E8EE"/>
            </a:solidFill>
            <a:prstDash val="solid"/>
          </a:ln>
        </p:spPr>
        <p:txBody>
          <a:bodyPr/>
          <a:lstStyle/>
          <a:p>
            <a:endParaRPr lang="fr-FR"/>
          </a:p>
        </p:txBody>
      </p:sp>
      <p:sp>
        <p:nvSpPr>
          <p:cNvPr id="41" name="Shape 39"/>
          <p:cNvSpPr/>
          <p:nvPr/>
        </p:nvSpPr>
        <p:spPr>
          <a:xfrm>
            <a:off x="2464308" y="2447544"/>
            <a:ext cx="32004" cy="391668"/>
          </a:xfrm>
          <a:prstGeom prst="rect">
            <a:avLst/>
          </a:prstGeom>
          <a:solidFill>
            <a:srgbClr val="12855A"/>
          </a:solidFill>
          <a:ln/>
        </p:spPr>
        <p:txBody>
          <a:bodyPr/>
          <a:lstStyle/>
          <a:p>
            <a:endParaRPr lang="fr-FR"/>
          </a:p>
        </p:txBody>
      </p:sp>
      <p:sp>
        <p:nvSpPr>
          <p:cNvPr id="42" name="Text 40"/>
          <p:cNvSpPr/>
          <p:nvPr/>
        </p:nvSpPr>
        <p:spPr>
          <a:xfrm>
            <a:off x="2564892" y="2479548"/>
            <a:ext cx="1860804" cy="245364"/>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5 réseaux overlay segmentés (moindre privilège)</a:t>
            </a:r>
            <a:endParaRPr lang="en-US" sz="600" dirty="0"/>
          </a:p>
        </p:txBody>
      </p:sp>
      <p:sp>
        <p:nvSpPr>
          <p:cNvPr id="43" name="Text 41"/>
          <p:cNvSpPr/>
          <p:nvPr/>
        </p:nvSpPr>
        <p:spPr>
          <a:xfrm>
            <a:off x="2564892" y="2715768"/>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12855A"/>
                </a:solidFill>
                <a:latin typeface="Calibri" pitchFamily="34" charset="0"/>
                <a:ea typeface="Calibri" pitchFamily="34" charset="-122"/>
                <a:cs typeface="Calibri" pitchFamily="34" charset="-120"/>
              </a:rPr>
              <a:t>A.8.22</a:t>
            </a:r>
            <a:endParaRPr lang="en-US" sz="500" dirty="0"/>
          </a:p>
        </p:txBody>
      </p:sp>
      <p:sp>
        <p:nvSpPr>
          <p:cNvPr id="44" name="Shape 42"/>
          <p:cNvSpPr/>
          <p:nvPr/>
        </p:nvSpPr>
        <p:spPr>
          <a:xfrm>
            <a:off x="2464308" y="2866644"/>
            <a:ext cx="2043684" cy="391668"/>
          </a:xfrm>
          <a:prstGeom prst="rect">
            <a:avLst/>
          </a:prstGeom>
          <a:solidFill>
            <a:srgbClr val="FFFFFF"/>
          </a:solidFill>
          <a:ln w="9525">
            <a:solidFill>
              <a:srgbClr val="E2E8EE"/>
            </a:solidFill>
            <a:prstDash val="solid"/>
          </a:ln>
        </p:spPr>
        <p:txBody>
          <a:bodyPr/>
          <a:lstStyle/>
          <a:p>
            <a:endParaRPr lang="fr-FR"/>
          </a:p>
        </p:txBody>
      </p:sp>
      <p:sp>
        <p:nvSpPr>
          <p:cNvPr id="45" name="Shape 43"/>
          <p:cNvSpPr/>
          <p:nvPr/>
        </p:nvSpPr>
        <p:spPr>
          <a:xfrm>
            <a:off x="2464308" y="2866644"/>
            <a:ext cx="32004" cy="391668"/>
          </a:xfrm>
          <a:prstGeom prst="rect">
            <a:avLst/>
          </a:prstGeom>
          <a:solidFill>
            <a:srgbClr val="12855A"/>
          </a:solidFill>
          <a:ln/>
        </p:spPr>
        <p:txBody>
          <a:bodyPr/>
          <a:lstStyle/>
          <a:p>
            <a:endParaRPr lang="fr-FR"/>
          </a:p>
        </p:txBody>
      </p:sp>
      <p:sp>
        <p:nvSpPr>
          <p:cNvPr id="46" name="Text 44"/>
          <p:cNvSpPr/>
          <p:nvPr/>
        </p:nvSpPr>
        <p:spPr>
          <a:xfrm>
            <a:off x="2564892" y="2898648"/>
            <a:ext cx="1860804" cy="245364"/>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backend et socket en internal : sans route Internet</a:t>
            </a:r>
            <a:endParaRPr lang="en-US" sz="600" dirty="0"/>
          </a:p>
        </p:txBody>
      </p:sp>
      <p:sp>
        <p:nvSpPr>
          <p:cNvPr id="47" name="Text 45"/>
          <p:cNvSpPr/>
          <p:nvPr/>
        </p:nvSpPr>
        <p:spPr>
          <a:xfrm>
            <a:off x="2564892" y="3134868"/>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12855A"/>
                </a:solidFill>
                <a:latin typeface="Calibri" pitchFamily="34" charset="0"/>
                <a:ea typeface="Calibri" pitchFamily="34" charset="-122"/>
                <a:cs typeface="Calibri" pitchFamily="34" charset="-120"/>
              </a:rPr>
              <a:t>A.8.22</a:t>
            </a:r>
            <a:endParaRPr lang="en-US" sz="500" dirty="0"/>
          </a:p>
        </p:txBody>
      </p:sp>
      <p:sp>
        <p:nvSpPr>
          <p:cNvPr id="48" name="Shape 46"/>
          <p:cNvSpPr/>
          <p:nvPr/>
        </p:nvSpPr>
        <p:spPr>
          <a:xfrm>
            <a:off x="2464308" y="3285744"/>
            <a:ext cx="2043684" cy="391668"/>
          </a:xfrm>
          <a:prstGeom prst="rect">
            <a:avLst/>
          </a:prstGeom>
          <a:solidFill>
            <a:srgbClr val="FFFFFF"/>
          </a:solidFill>
          <a:ln w="9525">
            <a:solidFill>
              <a:srgbClr val="E2E8EE"/>
            </a:solidFill>
            <a:prstDash val="solid"/>
          </a:ln>
        </p:spPr>
        <p:txBody>
          <a:bodyPr/>
          <a:lstStyle/>
          <a:p>
            <a:endParaRPr lang="fr-FR"/>
          </a:p>
        </p:txBody>
      </p:sp>
      <p:sp>
        <p:nvSpPr>
          <p:cNvPr id="49" name="Shape 47"/>
          <p:cNvSpPr/>
          <p:nvPr/>
        </p:nvSpPr>
        <p:spPr>
          <a:xfrm>
            <a:off x="2464308" y="3285744"/>
            <a:ext cx="32004" cy="391668"/>
          </a:xfrm>
          <a:prstGeom prst="rect">
            <a:avLst/>
          </a:prstGeom>
          <a:solidFill>
            <a:srgbClr val="12855A"/>
          </a:solidFill>
          <a:ln/>
        </p:spPr>
        <p:txBody>
          <a:bodyPr/>
          <a:lstStyle/>
          <a:p>
            <a:endParaRPr lang="fr-FR"/>
          </a:p>
        </p:txBody>
      </p:sp>
      <p:sp>
        <p:nvSpPr>
          <p:cNvPr id="50" name="Text 48"/>
          <p:cNvSpPr/>
          <p:nvPr/>
        </p:nvSpPr>
        <p:spPr>
          <a:xfrm>
            <a:off x="2564892" y="3317748"/>
            <a:ext cx="1860804" cy="245364"/>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socket-proxy Docker en lecture seule</a:t>
            </a:r>
            <a:endParaRPr lang="en-US" sz="600" dirty="0"/>
          </a:p>
        </p:txBody>
      </p:sp>
      <p:sp>
        <p:nvSpPr>
          <p:cNvPr id="51" name="Text 49"/>
          <p:cNvSpPr/>
          <p:nvPr/>
        </p:nvSpPr>
        <p:spPr>
          <a:xfrm>
            <a:off x="2564892" y="3553968"/>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12855A"/>
                </a:solidFill>
                <a:latin typeface="Calibri" pitchFamily="34" charset="0"/>
                <a:ea typeface="Calibri" pitchFamily="34" charset="-122"/>
                <a:cs typeface="Calibri" pitchFamily="34" charset="-120"/>
              </a:rPr>
              <a:t>A.8.2 · A.8.18</a:t>
            </a:r>
            <a:endParaRPr lang="en-US" sz="500" dirty="0"/>
          </a:p>
        </p:txBody>
      </p:sp>
      <p:sp>
        <p:nvSpPr>
          <p:cNvPr id="52" name="Shape 50"/>
          <p:cNvSpPr/>
          <p:nvPr/>
        </p:nvSpPr>
        <p:spPr>
          <a:xfrm>
            <a:off x="2464308" y="3704844"/>
            <a:ext cx="2043684" cy="391668"/>
          </a:xfrm>
          <a:prstGeom prst="rect">
            <a:avLst/>
          </a:prstGeom>
          <a:solidFill>
            <a:srgbClr val="FFFFFF"/>
          </a:solidFill>
          <a:ln w="9525">
            <a:solidFill>
              <a:srgbClr val="E2E8EE"/>
            </a:solidFill>
            <a:prstDash val="solid"/>
          </a:ln>
        </p:spPr>
        <p:txBody>
          <a:bodyPr/>
          <a:lstStyle/>
          <a:p>
            <a:endParaRPr lang="fr-FR"/>
          </a:p>
        </p:txBody>
      </p:sp>
      <p:sp>
        <p:nvSpPr>
          <p:cNvPr id="53" name="Shape 51"/>
          <p:cNvSpPr/>
          <p:nvPr/>
        </p:nvSpPr>
        <p:spPr>
          <a:xfrm>
            <a:off x="2464308" y="3704844"/>
            <a:ext cx="32004" cy="391668"/>
          </a:xfrm>
          <a:prstGeom prst="rect">
            <a:avLst/>
          </a:prstGeom>
          <a:solidFill>
            <a:srgbClr val="12855A"/>
          </a:solidFill>
          <a:ln/>
        </p:spPr>
        <p:txBody>
          <a:bodyPr/>
          <a:lstStyle/>
          <a:p>
            <a:endParaRPr lang="fr-FR"/>
          </a:p>
        </p:txBody>
      </p:sp>
      <p:sp>
        <p:nvSpPr>
          <p:cNvPr id="54" name="Text 52"/>
          <p:cNvSpPr/>
          <p:nvPr/>
        </p:nvSpPr>
        <p:spPr>
          <a:xfrm>
            <a:off x="2564892" y="3736848"/>
            <a:ext cx="1860804" cy="245364"/>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Plan de contrôle Swarm sur IP privée</a:t>
            </a:r>
            <a:endParaRPr lang="en-US" sz="600" dirty="0"/>
          </a:p>
        </p:txBody>
      </p:sp>
      <p:sp>
        <p:nvSpPr>
          <p:cNvPr id="55" name="Text 53"/>
          <p:cNvSpPr/>
          <p:nvPr/>
        </p:nvSpPr>
        <p:spPr>
          <a:xfrm>
            <a:off x="2564892" y="3973068"/>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12855A"/>
                </a:solidFill>
                <a:latin typeface="Calibri" pitchFamily="34" charset="0"/>
                <a:ea typeface="Calibri" pitchFamily="34" charset="-122"/>
                <a:cs typeface="Calibri" pitchFamily="34" charset="-120"/>
              </a:rPr>
              <a:t>A.8.20</a:t>
            </a:r>
            <a:endParaRPr lang="en-US" sz="500" dirty="0"/>
          </a:p>
        </p:txBody>
      </p:sp>
      <p:sp>
        <p:nvSpPr>
          <p:cNvPr id="56" name="Shape 54"/>
          <p:cNvSpPr/>
          <p:nvPr/>
        </p:nvSpPr>
        <p:spPr>
          <a:xfrm>
            <a:off x="4636008" y="1335024"/>
            <a:ext cx="2043684" cy="219456"/>
          </a:xfrm>
          <a:prstGeom prst="roundRect">
            <a:avLst>
              <a:gd name="adj" fmla="val 16667"/>
            </a:avLst>
          </a:prstGeom>
          <a:solidFill>
            <a:srgbClr val="E08A3C"/>
          </a:solidFill>
          <a:ln/>
        </p:spPr>
        <p:txBody>
          <a:bodyPr/>
          <a:lstStyle/>
          <a:p>
            <a:endParaRPr lang="fr-FR"/>
          </a:p>
        </p:txBody>
      </p:sp>
      <p:sp>
        <p:nvSpPr>
          <p:cNvPr id="57" name="Text 55"/>
          <p:cNvSpPr/>
          <p:nvPr/>
        </p:nvSpPr>
        <p:spPr>
          <a:xfrm>
            <a:off x="4709160" y="1335024"/>
            <a:ext cx="1897380" cy="219456"/>
          </a:xfrm>
          <a:prstGeom prst="rect">
            <a:avLst/>
          </a:prstGeom>
          <a:noFill/>
          <a:ln/>
        </p:spPr>
        <p:txBody>
          <a:bodyPr wrap="square" lIns="0" tIns="0" rIns="0" bIns="0" rtlCol="0" anchor="ctr"/>
          <a:lstStyle/>
          <a:p>
            <a:pPr marL="0" indent="0">
              <a:buNone/>
            </a:pPr>
            <a:r>
              <a:rPr lang="en-US" sz="680" b="1" kern="0" spc="30" dirty="0">
                <a:solidFill>
                  <a:srgbClr val="FFFFFF"/>
                </a:solidFill>
                <a:latin typeface="Calibri" pitchFamily="34" charset="0"/>
                <a:ea typeface="Calibri" pitchFamily="34" charset="-122"/>
                <a:cs typeface="Calibri" pitchFamily="34" charset="-120"/>
              </a:rPr>
              <a:t>3 · APPLICATION NestJS · Bun</a:t>
            </a:r>
            <a:endParaRPr lang="en-US" sz="680" dirty="0"/>
          </a:p>
        </p:txBody>
      </p:sp>
      <p:sp>
        <p:nvSpPr>
          <p:cNvPr id="58" name="Shape 56"/>
          <p:cNvSpPr/>
          <p:nvPr/>
        </p:nvSpPr>
        <p:spPr>
          <a:xfrm>
            <a:off x="4636008" y="1609344"/>
            <a:ext cx="2043684" cy="286893"/>
          </a:xfrm>
          <a:prstGeom prst="rect">
            <a:avLst/>
          </a:prstGeom>
          <a:solidFill>
            <a:srgbClr val="FFFFFF"/>
          </a:solidFill>
          <a:ln w="9525">
            <a:solidFill>
              <a:srgbClr val="E2E8EE"/>
            </a:solidFill>
            <a:prstDash val="solid"/>
          </a:ln>
        </p:spPr>
        <p:txBody>
          <a:bodyPr/>
          <a:lstStyle/>
          <a:p>
            <a:endParaRPr lang="fr-FR"/>
          </a:p>
        </p:txBody>
      </p:sp>
      <p:sp>
        <p:nvSpPr>
          <p:cNvPr id="59" name="Shape 57"/>
          <p:cNvSpPr/>
          <p:nvPr/>
        </p:nvSpPr>
        <p:spPr>
          <a:xfrm>
            <a:off x="4636008" y="1609344"/>
            <a:ext cx="32004" cy="286893"/>
          </a:xfrm>
          <a:prstGeom prst="rect">
            <a:avLst/>
          </a:prstGeom>
          <a:solidFill>
            <a:srgbClr val="E08A3C"/>
          </a:solidFill>
          <a:ln/>
        </p:spPr>
        <p:txBody>
          <a:bodyPr/>
          <a:lstStyle/>
          <a:p>
            <a:endParaRPr lang="fr-FR"/>
          </a:p>
        </p:txBody>
      </p:sp>
      <p:sp>
        <p:nvSpPr>
          <p:cNvPr id="60" name="Text 58"/>
          <p:cNvSpPr/>
          <p:nvPr/>
        </p:nvSpPr>
        <p:spPr>
          <a:xfrm>
            <a:off x="4736592" y="1641348"/>
            <a:ext cx="1860804" cy="140589"/>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Validation DTO en liste blanche</a:t>
            </a:r>
            <a:endParaRPr lang="en-US" sz="600" dirty="0"/>
          </a:p>
        </p:txBody>
      </p:sp>
      <p:sp>
        <p:nvSpPr>
          <p:cNvPr id="61" name="Text 59"/>
          <p:cNvSpPr/>
          <p:nvPr/>
        </p:nvSpPr>
        <p:spPr>
          <a:xfrm>
            <a:off x="4736592" y="1772793"/>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E08A3C"/>
                </a:solidFill>
                <a:latin typeface="Calibri" pitchFamily="34" charset="0"/>
                <a:ea typeface="Calibri" pitchFamily="34" charset="-122"/>
                <a:cs typeface="Calibri" pitchFamily="34" charset="-120"/>
              </a:rPr>
              <a:t>A.8.28</a:t>
            </a:r>
            <a:endParaRPr lang="en-US" sz="500" dirty="0"/>
          </a:p>
        </p:txBody>
      </p:sp>
      <p:sp>
        <p:nvSpPr>
          <p:cNvPr id="62" name="Shape 60"/>
          <p:cNvSpPr/>
          <p:nvPr/>
        </p:nvSpPr>
        <p:spPr>
          <a:xfrm>
            <a:off x="4636008" y="1923669"/>
            <a:ext cx="2043684" cy="286893"/>
          </a:xfrm>
          <a:prstGeom prst="rect">
            <a:avLst/>
          </a:prstGeom>
          <a:solidFill>
            <a:srgbClr val="FFFFFF"/>
          </a:solidFill>
          <a:ln w="9525">
            <a:solidFill>
              <a:srgbClr val="E2E8EE"/>
            </a:solidFill>
            <a:prstDash val="solid"/>
          </a:ln>
        </p:spPr>
        <p:txBody>
          <a:bodyPr/>
          <a:lstStyle/>
          <a:p>
            <a:endParaRPr lang="fr-FR"/>
          </a:p>
        </p:txBody>
      </p:sp>
      <p:sp>
        <p:nvSpPr>
          <p:cNvPr id="63" name="Shape 61"/>
          <p:cNvSpPr/>
          <p:nvPr/>
        </p:nvSpPr>
        <p:spPr>
          <a:xfrm>
            <a:off x="4636008" y="1923669"/>
            <a:ext cx="32004" cy="286893"/>
          </a:xfrm>
          <a:prstGeom prst="rect">
            <a:avLst/>
          </a:prstGeom>
          <a:solidFill>
            <a:srgbClr val="E08A3C"/>
          </a:solidFill>
          <a:ln/>
        </p:spPr>
        <p:txBody>
          <a:bodyPr/>
          <a:lstStyle/>
          <a:p>
            <a:endParaRPr lang="fr-FR"/>
          </a:p>
        </p:txBody>
      </p:sp>
      <p:sp>
        <p:nvSpPr>
          <p:cNvPr id="64" name="Text 62"/>
          <p:cNvSpPr/>
          <p:nvPr/>
        </p:nvSpPr>
        <p:spPr>
          <a:xfrm>
            <a:off x="4736592" y="1955673"/>
            <a:ext cx="1860804" cy="140589"/>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Argon2id : mem 19 456 · t=2 · p=1</a:t>
            </a:r>
            <a:endParaRPr lang="en-US" sz="600" dirty="0"/>
          </a:p>
        </p:txBody>
      </p:sp>
      <p:sp>
        <p:nvSpPr>
          <p:cNvPr id="65" name="Text 63"/>
          <p:cNvSpPr/>
          <p:nvPr/>
        </p:nvSpPr>
        <p:spPr>
          <a:xfrm>
            <a:off x="4736592" y="2087118"/>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E08A3C"/>
                </a:solidFill>
                <a:latin typeface="Calibri" pitchFamily="34" charset="0"/>
                <a:ea typeface="Calibri" pitchFamily="34" charset="-122"/>
                <a:cs typeface="Calibri" pitchFamily="34" charset="-120"/>
              </a:rPr>
              <a:t>A.8.24</a:t>
            </a:r>
            <a:endParaRPr lang="en-US" sz="500" dirty="0"/>
          </a:p>
        </p:txBody>
      </p:sp>
      <p:sp>
        <p:nvSpPr>
          <p:cNvPr id="66" name="Shape 64"/>
          <p:cNvSpPr/>
          <p:nvPr/>
        </p:nvSpPr>
        <p:spPr>
          <a:xfrm>
            <a:off x="4636008" y="2237994"/>
            <a:ext cx="2043684" cy="286893"/>
          </a:xfrm>
          <a:prstGeom prst="rect">
            <a:avLst/>
          </a:prstGeom>
          <a:solidFill>
            <a:srgbClr val="FFFFFF"/>
          </a:solidFill>
          <a:ln w="9525">
            <a:solidFill>
              <a:srgbClr val="E2E8EE"/>
            </a:solidFill>
            <a:prstDash val="solid"/>
          </a:ln>
        </p:spPr>
        <p:txBody>
          <a:bodyPr/>
          <a:lstStyle/>
          <a:p>
            <a:endParaRPr lang="fr-FR"/>
          </a:p>
        </p:txBody>
      </p:sp>
      <p:sp>
        <p:nvSpPr>
          <p:cNvPr id="67" name="Shape 65"/>
          <p:cNvSpPr/>
          <p:nvPr/>
        </p:nvSpPr>
        <p:spPr>
          <a:xfrm>
            <a:off x="4636008" y="2237994"/>
            <a:ext cx="32004" cy="286893"/>
          </a:xfrm>
          <a:prstGeom prst="rect">
            <a:avLst/>
          </a:prstGeom>
          <a:solidFill>
            <a:srgbClr val="E08A3C"/>
          </a:solidFill>
          <a:ln/>
        </p:spPr>
        <p:txBody>
          <a:bodyPr/>
          <a:lstStyle/>
          <a:p>
            <a:endParaRPr lang="fr-FR"/>
          </a:p>
        </p:txBody>
      </p:sp>
      <p:sp>
        <p:nvSpPr>
          <p:cNvPr id="68" name="Text 66"/>
          <p:cNvSpPr/>
          <p:nvPr/>
        </p:nvSpPr>
        <p:spPr>
          <a:xfrm>
            <a:off x="4736592" y="2269998"/>
            <a:ext cx="1860804" cy="140589"/>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Sessions opaques · rotation nonce · détection rejeu</a:t>
            </a:r>
            <a:endParaRPr lang="en-US" sz="600" dirty="0"/>
          </a:p>
        </p:txBody>
      </p:sp>
      <p:sp>
        <p:nvSpPr>
          <p:cNvPr id="69" name="Text 67"/>
          <p:cNvSpPr/>
          <p:nvPr/>
        </p:nvSpPr>
        <p:spPr>
          <a:xfrm>
            <a:off x="4736592" y="2401443"/>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E08A3C"/>
                </a:solidFill>
                <a:latin typeface="Calibri" pitchFamily="34" charset="0"/>
                <a:ea typeface="Calibri" pitchFamily="34" charset="-122"/>
                <a:cs typeface="Calibri" pitchFamily="34" charset="-120"/>
              </a:rPr>
              <a:t>A.8.5 · A.8.15</a:t>
            </a:r>
            <a:endParaRPr lang="en-US" sz="500" dirty="0"/>
          </a:p>
        </p:txBody>
      </p:sp>
      <p:sp>
        <p:nvSpPr>
          <p:cNvPr id="70" name="Shape 68"/>
          <p:cNvSpPr/>
          <p:nvPr/>
        </p:nvSpPr>
        <p:spPr>
          <a:xfrm>
            <a:off x="4636008" y="2552319"/>
            <a:ext cx="2043684" cy="286893"/>
          </a:xfrm>
          <a:prstGeom prst="rect">
            <a:avLst/>
          </a:prstGeom>
          <a:solidFill>
            <a:srgbClr val="FFFFFF"/>
          </a:solidFill>
          <a:ln w="9525">
            <a:solidFill>
              <a:srgbClr val="E2E8EE"/>
            </a:solidFill>
            <a:prstDash val="solid"/>
          </a:ln>
        </p:spPr>
        <p:txBody>
          <a:bodyPr/>
          <a:lstStyle/>
          <a:p>
            <a:endParaRPr lang="fr-FR"/>
          </a:p>
        </p:txBody>
      </p:sp>
      <p:sp>
        <p:nvSpPr>
          <p:cNvPr id="71" name="Shape 69"/>
          <p:cNvSpPr/>
          <p:nvPr/>
        </p:nvSpPr>
        <p:spPr>
          <a:xfrm>
            <a:off x="4636008" y="2552319"/>
            <a:ext cx="32004" cy="286893"/>
          </a:xfrm>
          <a:prstGeom prst="rect">
            <a:avLst/>
          </a:prstGeom>
          <a:solidFill>
            <a:srgbClr val="E08A3C"/>
          </a:solidFill>
          <a:ln/>
        </p:spPr>
        <p:txBody>
          <a:bodyPr/>
          <a:lstStyle/>
          <a:p>
            <a:endParaRPr lang="fr-FR"/>
          </a:p>
        </p:txBody>
      </p:sp>
      <p:sp>
        <p:nvSpPr>
          <p:cNvPr id="72" name="Text 70"/>
          <p:cNvSpPr/>
          <p:nvPr/>
        </p:nvSpPr>
        <p:spPr>
          <a:xfrm>
            <a:off x="4736592" y="2584323"/>
            <a:ext cx="1860804" cy="140589"/>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tokenVersion : révocation globale immédiate</a:t>
            </a:r>
            <a:endParaRPr lang="en-US" sz="600" dirty="0"/>
          </a:p>
        </p:txBody>
      </p:sp>
      <p:sp>
        <p:nvSpPr>
          <p:cNvPr id="73" name="Text 71"/>
          <p:cNvSpPr/>
          <p:nvPr/>
        </p:nvSpPr>
        <p:spPr>
          <a:xfrm>
            <a:off x="4736592" y="2715768"/>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E08A3C"/>
                </a:solidFill>
                <a:latin typeface="Calibri" pitchFamily="34" charset="0"/>
                <a:ea typeface="Calibri" pitchFamily="34" charset="-122"/>
                <a:cs typeface="Calibri" pitchFamily="34" charset="-120"/>
              </a:rPr>
              <a:t>A.8.5</a:t>
            </a:r>
            <a:endParaRPr lang="en-US" sz="500" dirty="0"/>
          </a:p>
        </p:txBody>
      </p:sp>
      <p:sp>
        <p:nvSpPr>
          <p:cNvPr id="74" name="Shape 72"/>
          <p:cNvSpPr/>
          <p:nvPr/>
        </p:nvSpPr>
        <p:spPr>
          <a:xfrm>
            <a:off x="4636008" y="2866644"/>
            <a:ext cx="2043684" cy="286893"/>
          </a:xfrm>
          <a:prstGeom prst="rect">
            <a:avLst/>
          </a:prstGeom>
          <a:solidFill>
            <a:srgbClr val="FFFFFF"/>
          </a:solidFill>
          <a:ln w="9525">
            <a:solidFill>
              <a:srgbClr val="E2E8EE"/>
            </a:solidFill>
            <a:prstDash val="solid"/>
          </a:ln>
        </p:spPr>
        <p:txBody>
          <a:bodyPr/>
          <a:lstStyle/>
          <a:p>
            <a:endParaRPr lang="fr-FR"/>
          </a:p>
        </p:txBody>
      </p:sp>
      <p:sp>
        <p:nvSpPr>
          <p:cNvPr id="75" name="Shape 73"/>
          <p:cNvSpPr/>
          <p:nvPr/>
        </p:nvSpPr>
        <p:spPr>
          <a:xfrm>
            <a:off x="4636008" y="2866644"/>
            <a:ext cx="32004" cy="286893"/>
          </a:xfrm>
          <a:prstGeom prst="rect">
            <a:avLst/>
          </a:prstGeom>
          <a:solidFill>
            <a:srgbClr val="E08A3C"/>
          </a:solidFill>
          <a:ln/>
        </p:spPr>
        <p:txBody>
          <a:bodyPr/>
          <a:lstStyle/>
          <a:p>
            <a:endParaRPr lang="fr-FR"/>
          </a:p>
        </p:txBody>
      </p:sp>
      <p:sp>
        <p:nvSpPr>
          <p:cNvPr id="76" name="Text 74"/>
          <p:cNvSpPr/>
          <p:nvPr/>
        </p:nvSpPr>
        <p:spPr>
          <a:xfrm>
            <a:off x="4736592" y="2898648"/>
            <a:ext cx="1860804" cy="140589"/>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Limitation de débit Redis par route</a:t>
            </a:r>
            <a:endParaRPr lang="en-US" sz="600" dirty="0"/>
          </a:p>
        </p:txBody>
      </p:sp>
      <p:sp>
        <p:nvSpPr>
          <p:cNvPr id="77" name="Text 75"/>
          <p:cNvSpPr/>
          <p:nvPr/>
        </p:nvSpPr>
        <p:spPr>
          <a:xfrm>
            <a:off x="4736592" y="3030093"/>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E08A3C"/>
                </a:solidFill>
                <a:latin typeface="Calibri" pitchFamily="34" charset="0"/>
                <a:ea typeface="Calibri" pitchFamily="34" charset="-122"/>
                <a:cs typeface="Calibri" pitchFamily="34" charset="-120"/>
              </a:rPr>
              <a:t>A.8.6 · A.8.20</a:t>
            </a:r>
            <a:endParaRPr lang="en-US" sz="500" dirty="0"/>
          </a:p>
        </p:txBody>
      </p:sp>
      <p:sp>
        <p:nvSpPr>
          <p:cNvPr id="78" name="Shape 76"/>
          <p:cNvSpPr/>
          <p:nvPr/>
        </p:nvSpPr>
        <p:spPr>
          <a:xfrm>
            <a:off x="4636008" y="3180969"/>
            <a:ext cx="2043684" cy="286893"/>
          </a:xfrm>
          <a:prstGeom prst="rect">
            <a:avLst/>
          </a:prstGeom>
          <a:solidFill>
            <a:srgbClr val="FFFFFF"/>
          </a:solidFill>
          <a:ln w="9525">
            <a:solidFill>
              <a:srgbClr val="E2E8EE"/>
            </a:solidFill>
            <a:prstDash val="solid"/>
          </a:ln>
        </p:spPr>
        <p:txBody>
          <a:bodyPr/>
          <a:lstStyle/>
          <a:p>
            <a:endParaRPr lang="fr-FR"/>
          </a:p>
        </p:txBody>
      </p:sp>
      <p:sp>
        <p:nvSpPr>
          <p:cNvPr id="79" name="Shape 77"/>
          <p:cNvSpPr/>
          <p:nvPr/>
        </p:nvSpPr>
        <p:spPr>
          <a:xfrm>
            <a:off x="4636008" y="3180969"/>
            <a:ext cx="32004" cy="286893"/>
          </a:xfrm>
          <a:prstGeom prst="rect">
            <a:avLst/>
          </a:prstGeom>
          <a:solidFill>
            <a:srgbClr val="E08A3C"/>
          </a:solidFill>
          <a:ln/>
        </p:spPr>
        <p:txBody>
          <a:bodyPr/>
          <a:lstStyle/>
          <a:p>
            <a:endParaRPr lang="fr-FR"/>
          </a:p>
        </p:txBody>
      </p:sp>
      <p:sp>
        <p:nvSpPr>
          <p:cNvPr id="80" name="Text 78"/>
          <p:cNvSpPr/>
          <p:nvPr/>
        </p:nvSpPr>
        <p:spPr>
          <a:xfrm>
            <a:off x="4736592" y="3212973"/>
            <a:ext cx="1860804" cy="140589"/>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Helmet · en-têtes de sécurité · HSTS</a:t>
            </a:r>
            <a:endParaRPr lang="en-US" sz="600" dirty="0"/>
          </a:p>
        </p:txBody>
      </p:sp>
      <p:sp>
        <p:nvSpPr>
          <p:cNvPr id="81" name="Text 79"/>
          <p:cNvSpPr/>
          <p:nvPr/>
        </p:nvSpPr>
        <p:spPr>
          <a:xfrm>
            <a:off x="4736592" y="3344418"/>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E08A3C"/>
                </a:solidFill>
                <a:latin typeface="Calibri" pitchFamily="34" charset="0"/>
                <a:ea typeface="Calibri" pitchFamily="34" charset="-122"/>
                <a:cs typeface="Calibri" pitchFamily="34" charset="-120"/>
              </a:rPr>
              <a:t>A.8.24</a:t>
            </a:r>
            <a:endParaRPr lang="en-US" sz="500" dirty="0"/>
          </a:p>
        </p:txBody>
      </p:sp>
      <p:sp>
        <p:nvSpPr>
          <p:cNvPr id="82" name="Shape 80"/>
          <p:cNvSpPr/>
          <p:nvPr/>
        </p:nvSpPr>
        <p:spPr>
          <a:xfrm>
            <a:off x="4636008" y="3495294"/>
            <a:ext cx="2043684" cy="286893"/>
          </a:xfrm>
          <a:prstGeom prst="rect">
            <a:avLst/>
          </a:prstGeom>
          <a:solidFill>
            <a:srgbClr val="FFFFFF"/>
          </a:solidFill>
          <a:ln w="9525">
            <a:solidFill>
              <a:srgbClr val="E2E8EE"/>
            </a:solidFill>
            <a:prstDash val="solid"/>
          </a:ln>
        </p:spPr>
        <p:txBody>
          <a:bodyPr/>
          <a:lstStyle/>
          <a:p>
            <a:endParaRPr lang="fr-FR"/>
          </a:p>
        </p:txBody>
      </p:sp>
      <p:sp>
        <p:nvSpPr>
          <p:cNvPr id="83" name="Shape 81"/>
          <p:cNvSpPr/>
          <p:nvPr/>
        </p:nvSpPr>
        <p:spPr>
          <a:xfrm>
            <a:off x="4636008" y="3495294"/>
            <a:ext cx="32004" cy="286893"/>
          </a:xfrm>
          <a:prstGeom prst="rect">
            <a:avLst/>
          </a:prstGeom>
          <a:solidFill>
            <a:srgbClr val="E08A3C"/>
          </a:solidFill>
          <a:ln/>
        </p:spPr>
        <p:txBody>
          <a:bodyPr/>
          <a:lstStyle/>
          <a:p>
            <a:endParaRPr lang="fr-FR"/>
          </a:p>
        </p:txBody>
      </p:sp>
      <p:sp>
        <p:nvSpPr>
          <p:cNvPr id="84" name="Text 82"/>
          <p:cNvSpPr/>
          <p:nvPr/>
        </p:nvSpPr>
        <p:spPr>
          <a:xfrm>
            <a:off x="4736592" y="3527298"/>
            <a:ext cx="1860804" cy="140589"/>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CORS liste blanche · corps de requête plafonné</a:t>
            </a:r>
            <a:endParaRPr lang="en-US" sz="600" dirty="0"/>
          </a:p>
        </p:txBody>
      </p:sp>
      <p:sp>
        <p:nvSpPr>
          <p:cNvPr id="85" name="Text 83"/>
          <p:cNvSpPr/>
          <p:nvPr/>
        </p:nvSpPr>
        <p:spPr>
          <a:xfrm>
            <a:off x="4736592" y="3658743"/>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E08A3C"/>
                </a:solidFill>
                <a:latin typeface="Calibri" pitchFamily="34" charset="0"/>
                <a:ea typeface="Calibri" pitchFamily="34" charset="-122"/>
                <a:cs typeface="Calibri" pitchFamily="34" charset="-120"/>
              </a:rPr>
              <a:t>A.8.28</a:t>
            </a:r>
            <a:endParaRPr lang="en-US" sz="500" dirty="0"/>
          </a:p>
        </p:txBody>
      </p:sp>
      <p:sp>
        <p:nvSpPr>
          <p:cNvPr id="86" name="Shape 84"/>
          <p:cNvSpPr/>
          <p:nvPr/>
        </p:nvSpPr>
        <p:spPr>
          <a:xfrm>
            <a:off x="4636008" y="3809619"/>
            <a:ext cx="2043684" cy="286893"/>
          </a:xfrm>
          <a:prstGeom prst="rect">
            <a:avLst/>
          </a:prstGeom>
          <a:solidFill>
            <a:srgbClr val="FFFFFF"/>
          </a:solidFill>
          <a:ln w="9525">
            <a:solidFill>
              <a:srgbClr val="E2E8EE"/>
            </a:solidFill>
            <a:prstDash val="solid"/>
          </a:ln>
        </p:spPr>
        <p:txBody>
          <a:bodyPr/>
          <a:lstStyle/>
          <a:p>
            <a:endParaRPr lang="fr-FR"/>
          </a:p>
        </p:txBody>
      </p:sp>
      <p:sp>
        <p:nvSpPr>
          <p:cNvPr id="87" name="Shape 85"/>
          <p:cNvSpPr/>
          <p:nvPr/>
        </p:nvSpPr>
        <p:spPr>
          <a:xfrm>
            <a:off x="4636008" y="3809619"/>
            <a:ext cx="32004" cy="286893"/>
          </a:xfrm>
          <a:prstGeom prst="rect">
            <a:avLst/>
          </a:prstGeom>
          <a:solidFill>
            <a:srgbClr val="E08A3C"/>
          </a:solidFill>
          <a:ln/>
        </p:spPr>
        <p:txBody>
          <a:bodyPr/>
          <a:lstStyle/>
          <a:p>
            <a:endParaRPr lang="fr-FR"/>
          </a:p>
        </p:txBody>
      </p:sp>
      <p:sp>
        <p:nvSpPr>
          <p:cNvPr id="88" name="Text 86"/>
          <p:cNvSpPr/>
          <p:nvPr/>
        </p:nvSpPr>
        <p:spPr>
          <a:xfrm>
            <a:off x="4736592" y="3841623"/>
            <a:ext cx="1860804" cy="140589"/>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Journaux d'accès structurés JSON</a:t>
            </a:r>
            <a:endParaRPr lang="en-US" sz="600" dirty="0"/>
          </a:p>
        </p:txBody>
      </p:sp>
      <p:sp>
        <p:nvSpPr>
          <p:cNvPr id="89" name="Text 87"/>
          <p:cNvSpPr/>
          <p:nvPr/>
        </p:nvSpPr>
        <p:spPr>
          <a:xfrm>
            <a:off x="4736592" y="3973068"/>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E08A3C"/>
                </a:solidFill>
                <a:latin typeface="Calibri" pitchFamily="34" charset="0"/>
                <a:ea typeface="Calibri" pitchFamily="34" charset="-122"/>
                <a:cs typeface="Calibri" pitchFamily="34" charset="-120"/>
              </a:rPr>
              <a:t>A.8.15 · A.8.16</a:t>
            </a:r>
            <a:endParaRPr lang="en-US" sz="500" dirty="0"/>
          </a:p>
        </p:txBody>
      </p:sp>
      <p:sp>
        <p:nvSpPr>
          <p:cNvPr id="90" name="Shape 88"/>
          <p:cNvSpPr/>
          <p:nvPr/>
        </p:nvSpPr>
        <p:spPr>
          <a:xfrm>
            <a:off x="6807708" y="1335024"/>
            <a:ext cx="2043684" cy="219456"/>
          </a:xfrm>
          <a:prstGeom prst="roundRect">
            <a:avLst>
              <a:gd name="adj" fmla="val 16667"/>
            </a:avLst>
          </a:prstGeom>
          <a:solidFill>
            <a:srgbClr val="6B3FD4"/>
          </a:solidFill>
          <a:ln/>
        </p:spPr>
        <p:txBody>
          <a:bodyPr/>
          <a:lstStyle/>
          <a:p>
            <a:endParaRPr lang="fr-FR"/>
          </a:p>
        </p:txBody>
      </p:sp>
      <p:sp>
        <p:nvSpPr>
          <p:cNvPr id="91" name="Text 89"/>
          <p:cNvSpPr/>
          <p:nvPr/>
        </p:nvSpPr>
        <p:spPr>
          <a:xfrm>
            <a:off x="6880860" y="1335024"/>
            <a:ext cx="1897380" cy="219456"/>
          </a:xfrm>
          <a:prstGeom prst="rect">
            <a:avLst/>
          </a:prstGeom>
          <a:noFill/>
          <a:ln/>
        </p:spPr>
        <p:txBody>
          <a:bodyPr wrap="square" lIns="0" tIns="0" rIns="0" bIns="0" rtlCol="0" anchor="ctr"/>
          <a:lstStyle/>
          <a:p>
            <a:pPr marL="0" indent="0">
              <a:buNone/>
            </a:pPr>
            <a:r>
              <a:rPr lang="en-US" sz="680" b="1" kern="0" spc="30" dirty="0">
                <a:solidFill>
                  <a:srgbClr val="FFFFFF"/>
                </a:solidFill>
                <a:latin typeface="Calibri" pitchFamily="34" charset="0"/>
                <a:ea typeface="Calibri" pitchFamily="34" charset="-122"/>
                <a:cs typeface="Calibri" pitchFamily="34" charset="-120"/>
              </a:rPr>
              <a:t>4 · DONNÉES PostgreSQL · S3</a:t>
            </a:r>
            <a:endParaRPr lang="en-US" sz="680" dirty="0"/>
          </a:p>
        </p:txBody>
      </p:sp>
      <p:sp>
        <p:nvSpPr>
          <p:cNvPr id="92" name="Shape 90"/>
          <p:cNvSpPr/>
          <p:nvPr/>
        </p:nvSpPr>
        <p:spPr>
          <a:xfrm>
            <a:off x="6807708" y="1609344"/>
            <a:ext cx="2043684" cy="286893"/>
          </a:xfrm>
          <a:prstGeom prst="rect">
            <a:avLst/>
          </a:prstGeom>
          <a:solidFill>
            <a:srgbClr val="FFFFFF"/>
          </a:solidFill>
          <a:ln w="9525">
            <a:solidFill>
              <a:srgbClr val="E2E8EE"/>
            </a:solidFill>
            <a:prstDash val="solid"/>
          </a:ln>
        </p:spPr>
        <p:txBody>
          <a:bodyPr/>
          <a:lstStyle/>
          <a:p>
            <a:endParaRPr lang="fr-FR"/>
          </a:p>
        </p:txBody>
      </p:sp>
      <p:sp>
        <p:nvSpPr>
          <p:cNvPr id="93" name="Shape 91"/>
          <p:cNvSpPr/>
          <p:nvPr/>
        </p:nvSpPr>
        <p:spPr>
          <a:xfrm>
            <a:off x="6807708" y="1609344"/>
            <a:ext cx="32004" cy="286893"/>
          </a:xfrm>
          <a:prstGeom prst="rect">
            <a:avLst/>
          </a:prstGeom>
          <a:solidFill>
            <a:srgbClr val="6B3FD4"/>
          </a:solidFill>
          <a:ln/>
        </p:spPr>
        <p:txBody>
          <a:bodyPr/>
          <a:lstStyle/>
          <a:p>
            <a:endParaRPr lang="fr-FR"/>
          </a:p>
        </p:txBody>
      </p:sp>
      <p:sp>
        <p:nvSpPr>
          <p:cNvPr id="94" name="Text 92"/>
          <p:cNvSpPr/>
          <p:nvPr/>
        </p:nvSpPr>
        <p:spPr>
          <a:xfrm>
            <a:off x="6908292" y="1641348"/>
            <a:ext cx="1860804" cy="140589"/>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Chiffrement au repos AES-256 : tous les buckets</a:t>
            </a:r>
            <a:endParaRPr lang="en-US" sz="600" dirty="0"/>
          </a:p>
        </p:txBody>
      </p:sp>
      <p:sp>
        <p:nvSpPr>
          <p:cNvPr id="95" name="Text 93"/>
          <p:cNvSpPr/>
          <p:nvPr/>
        </p:nvSpPr>
        <p:spPr>
          <a:xfrm>
            <a:off x="6908292" y="1772793"/>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6B3FD4"/>
                </a:solidFill>
                <a:latin typeface="Calibri" pitchFamily="34" charset="0"/>
                <a:ea typeface="Calibri" pitchFamily="34" charset="-122"/>
                <a:cs typeface="Calibri" pitchFamily="34" charset="-120"/>
              </a:rPr>
              <a:t>A.8.24 · RGPD 32</a:t>
            </a:r>
            <a:endParaRPr lang="en-US" sz="500" dirty="0"/>
          </a:p>
        </p:txBody>
      </p:sp>
      <p:sp>
        <p:nvSpPr>
          <p:cNvPr id="96" name="Shape 94"/>
          <p:cNvSpPr/>
          <p:nvPr/>
        </p:nvSpPr>
        <p:spPr>
          <a:xfrm>
            <a:off x="6807708" y="1923669"/>
            <a:ext cx="2043684" cy="286893"/>
          </a:xfrm>
          <a:prstGeom prst="rect">
            <a:avLst/>
          </a:prstGeom>
          <a:solidFill>
            <a:srgbClr val="FFFFFF"/>
          </a:solidFill>
          <a:ln w="9525">
            <a:solidFill>
              <a:srgbClr val="E2E8EE"/>
            </a:solidFill>
            <a:prstDash val="solid"/>
          </a:ln>
        </p:spPr>
        <p:txBody>
          <a:bodyPr/>
          <a:lstStyle/>
          <a:p>
            <a:endParaRPr lang="fr-FR"/>
          </a:p>
        </p:txBody>
      </p:sp>
      <p:sp>
        <p:nvSpPr>
          <p:cNvPr id="97" name="Shape 95"/>
          <p:cNvSpPr/>
          <p:nvPr/>
        </p:nvSpPr>
        <p:spPr>
          <a:xfrm>
            <a:off x="6807708" y="1923669"/>
            <a:ext cx="32004" cy="286893"/>
          </a:xfrm>
          <a:prstGeom prst="rect">
            <a:avLst/>
          </a:prstGeom>
          <a:solidFill>
            <a:srgbClr val="6B3FD4"/>
          </a:solidFill>
          <a:ln/>
        </p:spPr>
        <p:txBody>
          <a:bodyPr/>
          <a:lstStyle/>
          <a:p>
            <a:endParaRPr lang="fr-FR"/>
          </a:p>
        </p:txBody>
      </p:sp>
      <p:sp>
        <p:nvSpPr>
          <p:cNvPr id="98" name="Text 96"/>
          <p:cNvSpPr/>
          <p:nvPr/>
        </p:nvSpPr>
        <p:spPr>
          <a:xfrm>
            <a:off x="6908292" y="1955673"/>
            <a:ext cx="1860804" cy="140589"/>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TLS en transit · refus de connexion non sûre</a:t>
            </a:r>
            <a:endParaRPr lang="en-US" sz="600" dirty="0"/>
          </a:p>
        </p:txBody>
      </p:sp>
      <p:sp>
        <p:nvSpPr>
          <p:cNvPr id="99" name="Text 97"/>
          <p:cNvSpPr/>
          <p:nvPr/>
        </p:nvSpPr>
        <p:spPr>
          <a:xfrm>
            <a:off x="6908292" y="2087118"/>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6B3FD4"/>
                </a:solidFill>
                <a:latin typeface="Calibri" pitchFamily="34" charset="0"/>
                <a:ea typeface="Calibri" pitchFamily="34" charset="-122"/>
                <a:cs typeface="Calibri" pitchFamily="34" charset="-120"/>
              </a:rPr>
              <a:t>A.8.24 · RGPD 32</a:t>
            </a:r>
            <a:endParaRPr lang="en-US" sz="500" dirty="0"/>
          </a:p>
        </p:txBody>
      </p:sp>
      <p:sp>
        <p:nvSpPr>
          <p:cNvPr id="100" name="Shape 98"/>
          <p:cNvSpPr/>
          <p:nvPr/>
        </p:nvSpPr>
        <p:spPr>
          <a:xfrm>
            <a:off x="6807708" y="2237994"/>
            <a:ext cx="2043684" cy="286893"/>
          </a:xfrm>
          <a:prstGeom prst="rect">
            <a:avLst/>
          </a:prstGeom>
          <a:solidFill>
            <a:srgbClr val="FFFFFF"/>
          </a:solidFill>
          <a:ln w="9525">
            <a:solidFill>
              <a:srgbClr val="E2E8EE"/>
            </a:solidFill>
            <a:prstDash val="solid"/>
          </a:ln>
        </p:spPr>
        <p:txBody>
          <a:bodyPr/>
          <a:lstStyle/>
          <a:p>
            <a:endParaRPr lang="fr-FR"/>
          </a:p>
        </p:txBody>
      </p:sp>
      <p:sp>
        <p:nvSpPr>
          <p:cNvPr id="101" name="Shape 99"/>
          <p:cNvSpPr/>
          <p:nvPr/>
        </p:nvSpPr>
        <p:spPr>
          <a:xfrm>
            <a:off x="6807708" y="2237994"/>
            <a:ext cx="32004" cy="286893"/>
          </a:xfrm>
          <a:prstGeom prst="rect">
            <a:avLst/>
          </a:prstGeom>
          <a:solidFill>
            <a:srgbClr val="6B3FD4"/>
          </a:solidFill>
          <a:ln/>
        </p:spPr>
        <p:txBody>
          <a:bodyPr/>
          <a:lstStyle/>
          <a:p>
            <a:endParaRPr lang="fr-FR"/>
          </a:p>
        </p:txBody>
      </p:sp>
      <p:sp>
        <p:nvSpPr>
          <p:cNvPr id="102" name="Text 100"/>
          <p:cNvSpPr/>
          <p:nvPr/>
        </p:nvSpPr>
        <p:spPr>
          <a:xfrm>
            <a:off x="6908292" y="2269998"/>
            <a:ext cx="1860804" cy="140589"/>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Versioning S3 · Object Lock paramétrable</a:t>
            </a:r>
            <a:endParaRPr lang="en-US" sz="600" dirty="0"/>
          </a:p>
        </p:txBody>
      </p:sp>
      <p:sp>
        <p:nvSpPr>
          <p:cNvPr id="103" name="Text 101"/>
          <p:cNvSpPr/>
          <p:nvPr/>
        </p:nvSpPr>
        <p:spPr>
          <a:xfrm>
            <a:off x="6908292" y="2401443"/>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6B3FD4"/>
                </a:solidFill>
                <a:latin typeface="Calibri" pitchFamily="34" charset="0"/>
                <a:ea typeface="Calibri" pitchFamily="34" charset="-122"/>
                <a:cs typeface="Calibri" pitchFamily="34" charset="-120"/>
              </a:rPr>
              <a:t>A.8.13</a:t>
            </a:r>
            <a:endParaRPr lang="en-US" sz="500" dirty="0"/>
          </a:p>
        </p:txBody>
      </p:sp>
      <p:sp>
        <p:nvSpPr>
          <p:cNvPr id="104" name="Shape 102"/>
          <p:cNvSpPr/>
          <p:nvPr/>
        </p:nvSpPr>
        <p:spPr>
          <a:xfrm>
            <a:off x="6807708" y="2552319"/>
            <a:ext cx="2043684" cy="286893"/>
          </a:xfrm>
          <a:prstGeom prst="rect">
            <a:avLst/>
          </a:prstGeom>
          <a:solidFill>
            <a:srgbClr val="FFFFFF"/>
          </a:solidFill>
          <a:ln w="9525">
            <a:solidFill>
              <a:srgbClr val="E2E8EE"/>
            </a:solidFill>
            <a:prstDash val="solid"/>
          </a:ln>
        </p:spPr>
        <p:txBody>
          <a:bodyPr/>
          <a:lstStyle/>
          <a:p>
            <a:endParaRPr lang="fr-FR"/>
          </a:p>
        </p:txBody>
      </p:sp>
      <p:sp>
        <p:nvSpPr>
          <p:cNvPr id="105" name="Shape 103"/>
          <p:cNvSpPr/>
          <p:nvPr/>
        </p:nvSpPr>
        <p:spPr>
          <a:xfrm>
            <a:off x="6807708" y="2552319"/>
            <a:ext cx="32004" cy="286893"/>
          </a:xfrm>
          <a:prstGeom prst="rect">
            <a:avLst/>
          </a:prstGeom>
          <a:solidFill>
            <a:srgbClr val="6B3FD4"/>
          </a:solidFill>
          <a:ln/>
        </p:spPr>
        <p:txBody>
          <a:bodyPr/>
          <a:lstStyle/>
          <a:p>
            <a:endParaRPr lang="fr-FR"/>
          </a:p>
        </p:txBody>
      </p:sp>
      <p:sp>
        <p:nvSpPr>
          <p:cNvPr id="106" name="Text 104"/>
          <p:cNvSpPr/>
          <p:nvPr/>
        </p:nvSpPr>
        <p:spPr>
          <a:xfrm>
            <a:off x="6908292" y="2584323"/>
            <a:ext cx="1860804" cy="140589"/>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Cycle de vie STANDARD_IA → Glacier IR</a:t>
            </a:r>
            <a:endParaRPr lang="en-US" sz="600" dirty="0"/>
          </a:p>
        </p:txBody>
      </p:sp>
      <p:sp>
        <p:nvSpPr>
          <p:cNvPr id="107" name="Text 105"/>
          <p:cNvSpPr/>
          <p:nvPr/>
        </p:nvSpPr>
        <p:spPr>
          <a:xfrm>
            <a:off x="6908292" y="2715768"/>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6B3FD4"/>
                </a:solidFill>
                <a:latin typeface="Calibri" pitchFamily="34" charset="0"/>
                <a:ea typeface="Calibri" pitchFamily="34" charset="-122"/>
                <a:cs typeface="Calibri" pitchFamily="34" charset="-120"/>
              </a:rPr>
              <a:t>A.8.13</a:t>
            </a:r>
            <a:endParaRPr lang="en-US" sz="500" dirty="0"/>
          </a:p>
        </p:txBody>
      </p:sp>
      <p:sp>
        <p:nvSpPr>
          <p:cNvPr id="108" name="Shape 106"/>
          <p:cNvSpPr/>
          <p:nvPr/>
        </p:nvSpPr>
        <p:spPr>
          <a:xfrm>
            <a:off x="6807708" y="2866644"/>
            <a:ext cx="2043684" cy="286893"/>
          </a:xfrm>
          <a:prstGeom prst="rect">
            <a:avLst/>
          </a:prstGeom>
          <a:solidFill>
            <a:srgbClr val="FFFFFF"/>
          </a:solidFill>
          <a:ln w="9525">
            <a:solidFill>
              <a:srgbClr val="E2E8EE"/>
            </a:solidFill>
            <a:prstDash val="solid"/>
          </a:ln>
        </p:spPr>
        <p:txBody>
          <a:bodyPr/>
          <a:lstStyle/>
          <a:p>
            <a:endParaRPr lang="fr-FR"/>
          </a:p>
        </p:txBody>
      </p:sp>
      <p:sp>
        <p:nvSpPr>
          <p:cNvPr id="109" name="Shape 107"/>
          <p:cNvSpPr/>
          <p:nvPr/>
        </p:nvSpPr>
        <p:spPr>
          <a:xfrm>
            <a:off x="6807708" y="2866644"/>
            <a:ext cx="32004" cy="286893"/>
          </a:xfrm>
          <a:prstGeom prst="rect">
            <a:avLst/>
          </a:prstGeom>
          <a:solidFill>
            <a:srgbClr val="6B3FD4"/>
          </a:solidFill>
          <a:ln/>
        </p:spPr>
        <p:txBody>
          <a:bodyPr/>
          <a:lstStyle/>
          <a:p>
            <a:endParaRPr lang="fr-FR"/>
          </a:p>
        </p:txBody>
      </p:sp>
      <p:sp>
        <p:nvSpPr>
          <p:cNvPr id="110" name="Text 108"/>
          <p:cNvSpPr/>
          <p:nvPr/>
        </p:nvSpPr>
        <p:spPr>
          <a:xfrm>
            <a:off x="6908292" y="2898648"/>
            <a:ext cx="1860804" cy="140589"/>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État Terraform chiffré · verrouillé · versionné</a:t>
            </a:r>
            <a:endParaRPr lang="en-US" sz="600" dirty="0"/>
          </a:p>
        </p:txBody>
      </p:sp>
      <p:sp>
        <p:nvSpPr>
          <p:cNvPr id="111" name="Text 109"/>
          <p:cNvSpPr/>
          <p:nvPr/>
        </p:nvSpPr>
        <p:spPr>
          <a:xfrm>
            <a:off x="6908292" y="3030093"/>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6B3FD4"/>
                </a:solidFill>
                <a:latin typeface="Calibri" pitchFamily="34" charset="0"/>
                <a:ea typeface="Calibri" pitchFamily="34" charset="-122"/>
                <a:cs typeface="Calibri" pitchFamily="34" charset="-120"/>
              </a:rPr>
              <a:t>A.8.9</a:t>
            </a:r>
            <a:endParaRPr lang="en-US" sz="500" dirty="0"/>
          </a:p>
        </p:txBody>
      </p:sp>
      <p:sp>
        <p:nvSpPr>
          <p:cNvPr id="112" name="Shape 110"/>
          <p:cNvSpPr/>
          <p:nvPr/>
        </p:nvSpPr>
        <p:spPr>
          <a:xfrm>
            <a:off x="6807708" y="3180969"/>
            <a:ext cx="2043684" cy="286893"/>
          </a:xfrm>
          <a:prstGeom prst="rect">
            <a:avLst/>
          </a:prstGeom>
          <a:solidFill>
            <a:srgbClr val="FFFFFF"/>
          </a:solidFill>
          <a:ln w="9525">
            <a:solidFill>
              <a:srgbClr val="E2E8EE"/>
            </a:solidFill>
            <a:prstDash val="solid"/>
          </a:ln>
        </p:spPr>
        <p:txBody>
          <a:bodyPr/>
          <a:lstStyle/>
          <a:p>
            <a:endParaRPr lang="fr-FR"/>
          </a:p>
        </p:txBody>
      </p:sp>
      <p:sp>
        <p:nvSpPr>
          <p:cNvPr id="113" name="Shape 111"/>
          <p:cNvSpPr/>
          <p:nvPr/>
        </p:nvSpPr>
        <p:spPr>
          <a:xfrm>
            <a:off x="6807708" y="3180969"/>
            <a:ext cx="32004" cy="286893"/>
          </a:xfrm>
          <a:prstGeom prst="rect">
            <a:avLst/>
          </a:prstGeom>
          <a:solidFill>
            <a:srgbClr val="6B3FD4"/>
          </a:solidFill>
          <a:ln/>
        </p:spPr>
        <p:txBody>
          <a:bodyPr/>
          <a:lstStyle/>
          <a:p>
            <a:endParaRPr lang="fr-FR"/>
          </a:p>
        </p:txBody>
      </p:sp>
      <p:sp>
        <p:nvSpPr>
          <p:cNvPr id="114" name="Text 112"/>
          <p:cNvSpPr/>
          <p:nvPr/>
        </p:nvSpPr>
        <p:spPr>
          <a:xfrm>
            <a:off x="6908292" y="3212973"/>
            <a:ext cx="1860804" cy="140589"/>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Suppression en cascade = droit à l'effacement</a:t>
            </a:r>
            <a:endParaRPr lang="en-US" sz="600" dirty="0"/>
          </a:p>
        </p:txBody>
      </p:sp>
      <p:sp>
        <p:nvSpPr>
          <p:cNvPr id="115" name="Text 113"/>
          <p:cNvSpPr/>
          <p:nvPr/>
        </p:nvSpPr>
        <p:spPr>
          <a:xfrm>
            <a:off x="6908292" y="3344418"/>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6B3FD4"/>
                </a:solidFill>
                <a:latin typeface="Calibri" pitchFamily="34" charset="0"/>
                <a:ea typeface="Calibri" pitchFamily="34" charset="-122"/>
                <a:cs typeface="Calibri" pitchFamily="34" charset="-120"/>
              </a:rPr>
              <a:t>RGPD 17</a:t>
            </a:r>
            <a:endParaRPr lang="en-US" sz="500" dirty="0"/>
          </a:p>
        </p:txBody>
      </p:sp>
      <p:sp>
        <p:nvSpPr>
          <p:cNvPr id="116" name="Shape 114"/>
          <p:cNvSpPr/>
          <p:nvPr/>
        </p:nvSpPr>
        <p:spPr>
          <a:xfrm>
            <a:off x="6807708" y="3495294"/>
            <a:ext cx="2043684" cy="286893"/>
          </a:xfrm>
          <a:prstGeom prst="rect">
            <a:avLst/>
          </a:prstGeom>
          <a:solidFill>
            <a:srgbClr val="FFFFFF"/>
          </a:solidFill>
          <a:ln w="9525">
            <a:solidFill>
              <a:srgbClr val="E2E8EE"/>
            </a:solidFill>
            <a:prstDash val="solid"/>
          </a:ln>
        </p:spPr>
        <p:txBody>
          <a:bodyPr/>
          <a:lstStyle/>
          <a:p>
            <a:endParaRPr lang="fr-FR"/>
          </a:p>
        </p:txBody>
      </p:sp>
      <p:sp>
        <p:nvSpPr>
          <p:cNvPr id="117" name="Shape 115"/>
          <p:cNvSpPr/>
          <p:nvPr/>
        </p:nvSpPr>
        <p:spPr>
          <a:xfrm>
            <a:off x="6807708" y="3495294"/>
            <a:ext cx="32004" cy="286893"/>
          </a:xfrm>
          <a:prstGeom prst="rect">
            <a:avLst/>
          </a:prstGeom>
          <a:solidFill>
            <a:srgbClr val="6B3FD4"/>
          </a:solidFill>
          <a:ln/>
        </p:spPr>
        <p:txBody>
          <a:bodyPr/>
          <a:lstStyle/>
          <a:p>
            <a:endParaRPr lang="fr-FR"/>
          </a:p>
        </p:txBody>
      </p:sp>
      <p:sp>
        <p:nvSpPr>
          <p:cNvPr id="118" name="Text 116"/>
          <p:cNvSpPr/>
          <p:nvPr/>
        </p:nvSpPr>
        <p:spPr>
          <a:xfrm>
            <a:off x="6908292" y="3527298"/>
            <a:ext cx="1860804" cy="140589"/>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Minimisation des données collectées</a:t>
            </a:r>
            <a:endParaRPr lang="en-US" sz="600" dirty="0"/>
          </a:p>
        </p:txBody>
      </p:sp>
      <p:sp>
        <p:nvSpPr>
          <p:cNvPr id="119" name="Text 117"/>
          <p:cNvSpPr/>
          <p:nvPr/>
        </p:nvSpPr>
        <p:spPr>
          <a:xfrm>
            <a:off x="6908292" y="3658743"/>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6B3FD4"/>
                </a:solidFill>
                <a:latin typeface="Calibri" pitchFamily="34" charset="0"/>
                <a:ea typeface="Calibri" pitchFamily="34" charset="-122"/>
                <a:cs typeface="Calibri" pitchFamily="34" charset="-120"/>
              </a:rPr>
              <a:t>RGPD 5</a:t>
            </a:r>
            <a:endParaRPr lang="en-US" sz="500" dirty="0"/>
          </a:p>
        </p:txBody>
      </p:sp>
      <p:sp>
        <p:nvSpPr>
          <p:cNvPr id="120" name="Shape 118"/>
          <p:cNvSpPr/>
          <p:nvPr/>
        </p:nvSpPr>
        <p:spPr>
          <a:xfrm>
            <a:off x="6807708" y="3809619"/>
            <a:ext cx="2043684" cy="286893"/>
          </a:xfrm>
          <a:prstGeom prst="rect">
            <a:avLst/>
          </a:prstGeom>
          <a:solidFill>
            <a:srgbClr val="FFFFFF"/>
          </a:solidFill>
          <a:ln w="9525">
            <a:solidFill>
              <a:srgbClr val="E2E8EE"/>
            </a:solidFill>
            <a:prstDash val="solid"/>
          </a:ln>
        </p:spPr>
        <p:txBody>
          <a:bodyPr/>
          <a:lstStyle/>
          <a:p>
            <a:endParaRPr lang="fr-FR"/>
          </a:p>
        </p:txBody>
      </p:sp>
      <p:sp>
        <p:nvSpPr>
          <p:cNvPr id="121" name="Shape 119"/>
          <p:cNvSpPr/>
          <p:nvPr/>
        </p:nvSpPr>
        <p:spPr>
          <a:xfrm>
            <a:off x="6807708" y="3809619"/>
            <a:ext cx="32004" cy="286893"/>
          </a:xfrm>
          <a:prstGeom prst="rect">
            <a:avLst/>
          </a:prstGeom>
          <a:solidFill>
            <a:srgbClr val="6B3FD4"/>
          </a:solidFill>
          <a:ln/>
        </p:spPr>
        <p:txBody>
          <a:bodyPr/>
          <a:lstStyle/>
          <a:p>
            <a:endParaRPr lang="fr-FR"/>
          </a:p>
        </p:txBody>
      </p:sp>
      <p:sp>
        <p:nvSpPr>
          <p:cNvPr id="122" name="Text 120"/>
          <p:cNvSpPr/>
          <p:nvPr/>
        </p:nvSpPr>
        <p:spPr>
          <a:xfrm>
            <a:off x="6908292" y="3841623"/>
            <a:ext cx="1860804" cy="140589"/>
          </a:xfrm>
          <a:prstGeom prst="rect">
            <a:avLst/>
          </a:prstGeom>
          <a:noFill/>
          <a:ln/>
        </p:spPr>
        <p:txBody>
          <a:bodyPr wrap="square" lIns="0" tIns="0" rIns="0" bIns="0" rtlCol="0" anchor="ctr"/>
          <a:lstStyle/>
          <a:p>
            <a:pPr marL="0" indent="0" algn="l">
              <a:lnSpc>
                <a:spcPct val="106000"/>
              </a:lnSpc>
              <a:buNone/>
            </a:pPr>
            <a:r>
              <a:rPr lang="en-US" sz="600" b="1" dirty="0">
                <a:solidFill>
                  <a:srgbClr val="12263F"/>
                </a:solidFill>
                <a:latin typeface="Calibri" pitchFamily="34" charset="0"/>
                <a:ea typeface="Calibri" pitchFamily="34" charset="-122"/>
                <a:cs typeface="Calibri" pitchFamily="34" charset="-120"/>
              </a:rPr>
              <a:t>Hébergement UE : Hetzner DE · AWS eu-west-3</a:t>
            </a:r>
            <a:endParaRPr lang="en-US" sz="600" dirty="0"/>
          </a:p>
        </p:txBody>
      </p:sp>
      <p:sp>
        <p:nvSpPr>
          <p:cNvPr id="123" name="Text 121"/>
          <p:cNvSpPr/>
          <p:nvPr/>
        </p:nvSpPr>
        <p:spPr>
          <a:xfrm>
            <a:off x="6908292" y="3973068"/>
            <a:ext cx="1860804" cy="118872"/>
          </a:xfrm>
          <a:prstGeom prst="rect">
            <a:avLst/>
          </a:prstGeom>
          <a:noFill/>
          <a:ln/>
        </p:spPr>
        <p:txBody>
          <a:bodyPr wrap="square" lIns="0" tIns="0" rIns="0" bIns="0" rtlCol="0" anchor="ctr"/>
          <a:lstStyle/>
          <a:p>
            <a:pPr marL="0" indent="0" algn="l">
              <a:lnSpc>
                <a:spcPct val="106000"/>
              </a:lnSpc>
              <a:buNone/>
            </a:pPr>
            <a:r>
              <a:rPr lang="en-US" sz="500" b="1" dirty="0">
                <a:solidFill>
                  <a:srgbClr val="6B3FD4"/>
                </a:solidFill>
                <a:latin typeface="Calibri" pitchFamily="34" charset="0"/>
                <a:ea typeface="Calibri" pitchFamily="34" charset="-122"/>
                <a:cs typeface="Calibri" pitchFamily="34" charset="-120"/>
              </a:rPr>
              <a:t>RGPD 44+</a:t>
            </a:r>
            <a:endParaRPr lang="en-US" sz="500" dirty="0"/>
          </a:p>
        </p:txBody>
      </p:sp>
      <p:sp>
        <p:nvSpPr>
          <p:cNvPr id="124" name="Shape 122"/>
          <p:cNvSpPr/>
          <p:nvPr/>
        </p:nvSpPr>
        <p:spPr>
          <a:xfrm>
            <a:off x="292608" y="4224528"/>
            <a:ext cx="8558784" cy="475488"/>
          </a:xfrm>
          <a:prstGeom prst="rect">
            <a:avLst/>
          </a:prstGeom>
          <a:solidFill>
            <a:srgbClr val="12263F"/>
          </a:solidFill>
          <a:ln/>
        </p:spPr>
        <p:txBody>
          <a:bodyPr/>
          <a:lstStyle/>
          <a:p>
            <a:endParaRPr lang="fr-FR"/>
          </a:p>
        </p:txBody>
      </p:sp>
      <p:sp>
        <p:nvSpPr>
          <p:cNvPr id="125" name="Shape 123"/>
          <p:cNvSpPr/>
          <p:nvPr/>
        </p:nvSpPr>
        <p:spPr>
          <a:xfrm>
            <a:off x="292608" y="4224528"/>
            <a:ext cx="45720" cy="475488"/>
          </a:xfrm>
          <a:prstGeom prst="rect">
            <a:avLst/>
          </a:prstGeom>
          <a:solidFill>
            <a:srgbClr val="E08A3C"/>
          </a:solidFill>
          <a:ln/>
        </p:spPr>
        <p:txBody>
          <a:bodyPr/>
          <a:lstStyle/>
          <a:p>
            <a:endParaRPr lang="fr-FR"/>
          </a:p>
        </p:txBody>
      </p:sp>
      <p:sp>
        <p:nvSpPr>
          <p:cNvPr id="126" name="Text 124"/>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Ce qui manque encore est documentaire : registre des traitements, durées de conservation, audit d'accessibilité.</a:t>
            </a:r>
            <a:endParaRPr lang="en-US" sz="1150" dirty="0"/>
          </a:p>
        </p:txBody>
      </p:sp>
      <p:sp>
        <p:nvSpPr>
          <p:cNvPr id="127" name="Text 125"/>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3.4 - Étude de la Conformité et des Normes</a:t>
            </a:r>
            <a:endParaRPr lang="en-US" sz="750" dirty="0"/>
          </a:p>
        </p:txBody>
      </p:sp>
      <p:sp>
        <p:nvSpPr>
          <p:cNvPr id="128" name="Text 126"/>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4. Besoins fonctionnels</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13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4.1 - Description des Fonctionnalités Requises</a:t>
            </a:r>
            <a:endParaRPr lang="en-US" sz="2200" dirty="0"/>
          </a:p>
        </p:txBody>
      </p:sp>
      <p:sp>
        <p:nvSpPr>
          <p:cNvPr id="7" name="Text 5"/>
          <p:cNvSpPr/>
          <p:nvPr/>
        </p:nvSpPr>
        <p:spPr>
          <a:xfrm>
            <a:off x="292608" y="1024128"/>
            <a:ext cx="8558784" cy="201168"/>
          </a:xfrm>
          <a:prstGeom prst="rect">
            <a:avLst/>
          </a:prstGeom>
          <a:noFill/>
          <a:ln/>
        </p:spPr>
        <p:txBody>
          <a:bodyPr wrap="square" lIns="0" tIns="0" rIns="0" bIns="0" rtlCol="0" anchor="ctr"/>
          <a:lstStyle/>
          <a:p>
            <a:pPr marL="0" indent="0">
              <a:buNone/>
            </a:pPr>
            <a:r>
              <a:rPr lang="en-US" sz="1050" dirty="0">
                <a:solidFill>
                  <a:srgbClr val="4A5769"/>
                </a:solidFill>
                <a:latin typeface="Calibri" pitchFamily="34" charset="0"/>
                <a:ea typeface="Calibri" pitchFamily="34" charset="-122"/>
                <a:cs typeface="Calibri" pitchFamily="34" charset="-120"/>
              </a:rPr>
              <a:t>Du besoin de l'utilisateur jusqu'au test qui le vérifie.</a:t>
            </a:r>
            <a:endParaRPr lang="en-US" sz="1050" dirty="0"/>
          </a:p>
        </p:txBody>
      </p:sp>
      <p:sp>
        <p:nvSpPr>
          <p:cNvPr id="8" name="Shape 6"/>
          <p:cNvSpPr/>
          <p:nvPr/>
        </p:nvSpPr>
        <p:spPr>
          <a:xfrm>
            <a:off x="640080" y="1335024"/>
            <a:ext cx="7863840" cy="457200"/>
          </a:xfrm>
          <a:prstGeom prst="roundRect">
            <a:avLst>
              <a:gd name="adj" fmla="val 10000"/>
            </a:avLst>
          </a:prstGeom>
          <a:solidFill>
            <a:srgbClr val="FFFFFF"/>
          </a:solidFill>
          <a:ln w="12700">
            <a:solidFill>
              <a:srgbClr val="E08A3C"/>
            </a:solidFill>
            <a:prstDash val="solid"/>
          </a:ln>
        </p:spPr>
        <p:txBody>
          <a:bodyPr/>
          <a:lstStyle/>
          <a:p>
            <a:endParaRPr lang="fr-FR"/>
          </a:p>
        </p:txBody>
      </p:sp>
      <p:sp>
        <p:nvSpPr>
          <p:cNvPr id="9" name="Shape 7"/>
          <p:cNvSpPr/>
          <p:nvPr/>
        </p:nvSpPr>
        <p:spPr>
          <a:xfrm>
            <a:off x="640080" y="1335024"/>
            <a:ext cx="45720" cy="457200"/>
          </a:xfrm>
          <a:prstGeom prst="rect">
            <a:avLst/>
          </a:prstGeom>
          <a:solidFill>
            <a:srgbClr val="E08A3C"/>
          </a:solidFill>
          <a:ln/>
        </p:spPr>
        <p:txBody>
          <a:bodyPr/>
          <a:lstStyle/>
          <a:p>
            <a:endParaRPr lang="fr-FR"/>
          </a:p>
        </p:txBody>
      </p:sp>
      <p:sp>
        <p:nvSpPr>
          <p:cNvPr id="10" name="Text 8"/>
          <p:cNvSpPr/>
          <p:nvPr/>
        </p:nvSpPr>
        <p:spPr>
          <a:xfrm>
            <a:off x="841248" y="1335024"/>
            <a:ext cx="2743200" cy="457200"/>
          </a:xfrm>
          <a:prstGeom prst="rect">
            <a:avLst/>
          </a:prstGeom>
          <a:noFill/>
          <a:ln/>
        </p:spPr>
        <p:txBody>
          <a:bodyPr wrap="square" lIns="0" tIns="0" rIns="0" bIns="0" rtlCol="0" anchor="ctr"/>
          <a:lstStyle/>
          <a:p>
            <a:pPr marL="0" indent="0" algn="l">
              <a:lnSpc>
                <a:spcPct val="108000"/>
              </a:lnSpc>
              <a:buNone/>
            </a:pPr>
            <a:r>
              <a:rPr lang="en-US" sz="1250" b="1" dirty="0">
                <a:solidFill>
                  <a:srgbClr val="12263F"/>
                </a:solidFill>
                <a:latin typeface="Calibri" pitchFamily="34" charset="0"/>
                <a:ea typeface="Calibri" pitchFamily="34" charset="-122"/>
                <a:cs typeface="Calibri" pitchFamily="34" charset="-120"/>
              </a:rPr>
              <a:t>3 personas</a:t>
            </a:r>
            <a:endParaRPr lang="en-US" sz="1250" dirty="0"/>
          </a:p>
        </p:txBody>
      </p:sp>
      <p:sp>
        <p:nvSpPr>
          <p:cNvPr id="11" name="Text 9"/>
          <p:cNvSpPr/>
          <p:nvPr/>
        </p:nvSpPr>
        <p:spPr>
          <a:xfrm>
            <a:off x="3657600" y="1335024"/>
            <a:ext cx="4663440" cy="457200"/>
          </a:xfrm>
          <a:prstGeom prst="rect">
            <a:avLst/>
          </a:prstGeom>
          <a:noFill/>
          <a:ln/>
        </p:spPr>
        <p:txBody>
          <a:bodyPr wrap="square" lIns="0" tIns="0" rIns="0" bIns="0" rtlCol="0" anchor="ctr"/>
          <a:lstStyle/>
          <a:p>
            <a:pPr marL="0" indent="0" algn="l">
              <a:lnSpc>
                <a:spcPct val="108000"/>
              </a:lnSpc>
              <a:buNone/>
            </a:pPr>
            <a:r>
              <a:rPr lang="en-US" sz="1000" dirty="0">
                <a:solidFill>
                  <a:srgbClr val="4A5769"/>
                </a:solidFill>
                <a:latin typeface="Calibri" pitchFamily="34" charset="0"/>
                <a:ea typeface="Calibri" pitchFamily="34" charset="-122"/>
                <a:cs typeface="Calibri" pitchFamily="34" charset="-120"/>
              </a:rPr>
              <a:t>à qui ça sert</a:t>
            </a:r>
            <a:endParaRPr lang="en-US" sz="1000" dirty="0"/>
          </a:p>
        </p:txBody>
      </p:sp>
      <p:sp>
        <p:nvSpPr>
          <p:cNvPr id="12" name="Shape 10"/>
          <p:cNvSpPr/>
          <p:nvPr/>
        </p:nvSpPr>
        <p:spPr>
          <a:xfrm>
            <a:off x="4572000" y="1810512"/>
            <a:ext cx="0" cy="54864"/>
          </a:xfrm>
          <a:prstGeom prst="line">
            <a:avLst/>
          </a:prstGeom>
          <a:noFill/>
          <a:ln w="22225">
            <a:solidFill>
              <a:srgbClr val="8FA6BC"/>
            </a:solidFill>
            <a:prstDash val="solid"/>
            <a:tailEnd type="triangle"/>
          </a:ln>
        </p:spPr>
        <p:txBody>
          <a:bodyPr/>
          <a:lstStyle/>
          <a:p>
            <a:endParaRPr lang="fr-FR"/>
          </a:p>
        </p:txBody>
      </p:sp>
      <p:sp>
        <p:nvSpPr>
          <p:cNvPr id="13" name="Shape 11"/>
          <p:cNvSpPr/>
          <p:nvPr/>
        </p:nvSpPr>
        <p:spPr>
          <a:xfrm>
            <a:off x="1280160" y="1883664"/>
            <a:ext cx="6583680" cy="457200"/>
          </a:xfrm>
          <a:prstGeom prst="roundRect">
            <a:avLst>
              <a:gd name="adj" fmla="val 10000"/>
            </a:avLst>
          </a:prstGeom>
          <a:solidFill>
            <a:srgbClr val="FFFFFF"/>
          </a:solidFill>
          <a:ln w="12700">
            <a:solidFill>
              <a:srgbClr val="1B6EC2"/>
            </a:solidFill>
            <a:prstDash val="solid"/>
          </a:ln>
        </p:spPr>
        <p:txBody>
          <a:bodyPr/>
          <a:lstStyle/>
          <a:p>
            <a:endParaRPr lang="fr-FR"/>
          </a:p>
        </p:txBody>
      </p:sp>
      <p:sp>
        <p:nvSpPr>
          <p:cNvPr id="14" name="Shape 12"/>
          <p:cNvSpPr/>
          <p:nvPr/>
        </p:nvSpPr>
        <p:spPr>
          <a:xfrm>
            <a:off x="1280160" y="1883664"/>
            <a:ext cx="45720" cy="457200"/>
          </a:xfrm>
          <a:prstGeom prst="rect">
            <a:avLst/>
          </a:prstGeom>
          <a:solidFill>
            <a:srgbClr val="1B6EC2"/>
          </a:solidFill>
          <a:ln/>
        </p:spPr>
        <p:txBody>
          <a:bodyPr/>
          <a:lstStyle/>
          <a:p>
            <a:endParaRPr lang="fr-FR"/>
          </a:p>
        </p:txBody>
      </p:sp>
      <p:sp>
        <p:nvSpPr>
          <p:cNvPr id="15" name="Text 13"/>
          <p:cNvSpPr/>
          <p:nvPr/>
        </p:nvSpPr>
        <p:spPr>
          <a:xfrm>
            <a:off x="1481328" y="1883664"/>
            <a:ext cx="2743200" cy="457200"/>
          </a:xfrm>
          <a:prstGeom prst="rect">
            <a:avLst/>
          </a:prstGeom>
          <a:noFill/>
          <a:ln/>
        </p:spPr>
        <p:txBody>
          <a:bodyPr wrap="square" lIns="0" tIns="0" rIns="0" bIns="0" rtlCol="0" anchor="ctr"/>
          <a:lstStyle/>
          <a:p>
            <a:pPr marL="0" indent="0" algn="l">
              <a:lnSpc>
                <a:spcPct val="108000"/>
              </a:lnSpc>
              <a:buNone/>
            </a:pPr>
            <a:r>
              <a:rPr lang="en-US" sz="1250" b="1" dirty="0">
                <a:solidFill>
                  <a:srgbClr val="12263F"/>
                </a:solidFill>
                <a:latin typeface="Calibri" pitchFamily="34" charset="0"/>
                <a:ea typeface="Calibri" pitchFamily="34" charset="-122"/>
                <a:cs typeface="Calibri" pitchFamily="34" charset="-120"/>
              </a:rPr>
              <a:t>12 user stories</a:t>
            </a:r>
            <a:endParaRPr lang="en-US" sz="1250" dirty="0"/>
          </a:p>
        </p:txBody>
      </p:sp>
      <p:sp>
        <p:nvSpPr>
          <p:cNvPr id="16" name="Text 14"/>
          <p:cNvSpPr/>
          <p:nvPr/>
        </p:nvSpPr>
        <p:spPr>
          <a:xfrm>
            <a:off x="4297680" y="1883664"/>
            <a:ext cx="3383280" cy="457200"/>
          </a:xfrm>
          <a:prstGeom prst="rect">
            <a:avLst/>
          </a:prstGeom>
          <a:noFill/>
          <a:ln/>
        </p:spPr>
        <p:txBody>
          <a:bodyPr wrap="square" lIns="0" tIns="0" rIns="0" bIns="0" rtlCol="0" anchor="ctr"/>
          <a:lstStyle/>
          <a:p>
            <a:pPr marL="0" indent="0" algn="l">
              <a:lnSpc>
                <a:spcPct val="108000"/>
              </a:lnSpc>
              <a:buNone/>
            </a:pPr>
            <a:r>
              <a:rPr lang="en-US" sz="1000" dirty="0">
                <a:solidFill>
                  <a:srgbClr val="4A5769"/>
                </a:solidFill>
                <a:latin typeface="Calibri" pitchFamily="34" charset="0"/>
                <a:ea typeface="Calibri" pitchFamily="34" charset="-122"/>
                <a:cs typeface="Calibri" pitchFamily="34" charset="-120"/>
              </a:rPr>
              <a:t>ce qu'ils veulent faire</a:t>
            </a:r>
            <a:endParaRPr lang="en-US" sz="1000" dirty="0"/>
          </a:p>
        </p:txBody>
      </p:sp>
      <p:sp>
        <p:nvSpPr>
          <p:cNvPr id="17" name="Shape 15"/>
          <p:cNvSpPr/>
          <p:nvPr/>
        </p:nvSpPr>
        <p:spPr>
          <a:xfrm>
            <a:off x="4572000" y="2359152"/>
            <a:ext cx="0" cy="54864"/>
          </a:xfrm>
          <a:prstGeom prst="line">
            <a:avLst/>
          </a:prstGeom>
          <a:noFill/>
          <a:ln w="22225">
            <a:solidFill>
              <a:srgbClr val="8FA6BC"/>
            </a:solidFill>
            <a:prstDash val="solid"/>
            <a:tailEnd type="triangle"/>
          </a:ln>
        </p:spPr>
        <p:txBody>
          <a:bodyPr/>
          <a:lstStyle/>
          <a:p>
            <a:endParaRPr lang="fr-FR"/>
          </a:p>
        </p:txBody>
      </p:sp>
      <p:sp>
        <p:nvSpPr>
          <p:cNvPr id="18" name="Shape 16"/>
          <p:cNvSpPr/>
          <p:nvPr/>
        </p:nvSpPr>
        <p:spPr>
          <a:xfrm>
            <a:off x="1920240" y="2432304"/>
            <a:ext cx="5303520" cy="457200"/>
          </a:xfrm>
          <a:prstGeom prst="roundRect">
            <a:avLst>
              <a:gd name="adj" fmla="val 10000"/>
            </a:avLst>
          </a:prstGeom>
          <a:solidFill>
            <a:srgbClr val="FFFFFF"/>
          </a:solidFill>
          <a:ln w="12700">
            <a:solidFill>
              <a:srgbClr val="12855A"/>
            </a:solidFill>
            <a:prstDash val="solid"/>
          </a:ln>
        </p:spPr>
        <p:txBody>
          <a:bodyPr/>
          <a:lstStyle/>
          <a:p>
            <a:endParaRPr lang="fr-FR"/>
          </a:p>
        </p:txBody>
      </p:sp>
      <p:sp>
        <p:nvSpPr>
          <p:cNvPr id="19" name="Shape 17"/>
          <p:cNvSpPr/>
          <p:nvPr/>
        </p:nvSpPr>
        <p:spPr>
          <a:xfrm>
            <a:off x="1920240" y="2432304"/>
            <a:ext cx="45720" cy="457200"/>
          </a:xfrm>
          <a:prstGeom prst="rect">
            <a:avLst/>
          </a:prstGeom>
          <a:solidFill>
            <a:srgbClr val="12855A"/>
          </a:solidFill>
          <a:ln/>
        </p:spPr>
        <p:txBody>
          <a:bodyPr/>
          <a:lstStyle/>
          <a:p>
            <a:endParaRPr lang="fr-FR"/>
          </a:p>
        </p:txBody>
      </p:sp>
      <p:sp>
        <p:nvSpPr>
          <p:cNvPr id="20" name="Text 18"/>
          <p:cNvSpPr/>
          <p:nvPr/>
        </p:nvSpPr>
        <p:spPr>
          <a:xfrm>
            <a:off x="2121408" y="2432304"/>
            <a:ext cx="2743200" cy="457200"/>
          </a:xfrm>
          <a:prstGeom prst="rect">
            <a:avLst/>
          </a:prstGeom>
          <a:noFill/>
          <a:ln/>
        </p:spPr>
        <p:txBody>
          <a:bodyPr wrap="square" lIns="0" tIns="0" rIns="0" bIns="0" rtlCol="0" anchor="ctr"/>
          <a:lstStyle/>
          <a:p>
            <a:pPr marL="0" indent="0" algn="l">
              <a:lnSpc>
                <a:spcPct val="108000"/>
              </a:lnSpc>
              <a:buNone/>
            </a:pPr>
            <a:r>
              <a:rPr lang="en-US" sz="1250" b="1" dirty="0">
                <a:solidFill>
                  <a:srgbClr val="12263F"/>
                </a:solidFill>
                <a:latin typeface="Calibri" pitchFamily="34" charset="0"/>
                <a:ea typeface="Calibri" pitchFamily="34" charset="-122"/>
                <a:cs typeface="Calibri" pitchFamily="34" charset="-120"/>
              </a:rPr>
              <a:t>22 cas d'utilisation</a:t>
            </a:r>
            <a:endParaRPr lang="en-US" sz="1250" dirty="0"/>
          </a:p>
        </p:txBody>
      </p:sp>
      <p:sp>
        <p:nvSpPr>
          <p:cNvPr id="21" name="Text 19"/>
          <p:cNvSpPr/>
          <p:nvPr/>
        </p:nvSpPr>
        <p:spPr>
          <a:xfrm>
            <a:off x="4937760" y="2432304"/>
            <a:ext cx="2103120" cy="457200"/>
          </a:xfrm>
          <a:prstGeom prst="rect">
            <a:avLst/>
          </a:prstGeom>
          <a:noFill/>
          <a:ln/>
        </p:spPr>
        <p:txBody>
          <a:bodyPr wrap="square" lIns="0" tIns="0" rIns="0" bIns="0" rtlCol="0" anchor="ctr"/>
          <a:lstStyle/>
          <a:p>
            <a:pPr marL="0" indent="0" algn="l">
              <a:lnSpc>
                <a:spcPct val="108000"/>
              </a:lnSpc>
              <a:buNone/>
            </a:pPr>
            <a:r>
              <a:rPr lang="en-US" sz="1000" dirty="0">
                <a:solidFill>
                  <a:srgbClr val="4A5769"/>
                </a:solidFill>
                <a:latin typeface="Calibri" pitchFamily="34" charset="0"/>
                <a:ea typeface="Calibri" pitchFamily="34" charset="-122"/>
                <a:cs typeface="Calibri" pitchFamily="34" charset="-120"/>
              </a:rPr>
              <a:t>ce que le système doit offrir</a:t>
            </a:r>
            <a:endParaRPr lang="en-US" sz="1000" dirty="0"/>
          </a:p>
        </p:txBody>
      </p:sp>
      <p:sp>
        <p:nvSpPr>
          <p:cNvPr id="22" name="Shape 20"/>
          <p:cNvSpPr/>
          <p:nvPr/>
        </p:nvSpPr>
        <p:spPr>
          <a:xfrm>
            <a:off x="4572000" y="2907792"/>
            <a:ext cx="0" cy="54864"/>
          </a:xfrm>
          <a:prstGeom prst="line">
            <a:avLst/>
          </a:prstGeom>
          <a:noFill/>
          <a:ln w="22225">
            <a:solidFill>
              <a:srgbClr val="8FA6BC"/>
            </a:solidFill>
            <a:prstDash val="solid"/>
            <a:tailEnd type="triangle"/>
          </a:ln>
        </p:spPr>
        <p:txBody>
          <a:bodyPr/>
          <a:lstStyle/>
          <a:p>
            <a:endParaRPr lang="fr-FR"/>
          </a:p>
        </p:txBody>
      </p:sp>
      <p:sp>
        <p:nvSpPr>
          <p:cNvPr id="23" name="Shape 21"/>
          <p:cNvSpPr/>
          <p:nvPr/>
        </p:nvSpPr>
        <p:spPr>
          <a:xfrm>
            <a:off x="2560320" y="2980944"/>
            <a:ext cx="4023360" cy="457200"/>
          </a:xfrm>
          <a:prstGeom prst="roundRect">
            <a:avLst>
              <a:gd name="adj" fmla="val 10000"/>
            </a:avLst>
          </a:prstGeom>
          <a:solidFill>
            <a:srgbClr val="FFFFFF"/>
          </a:solidFill>
          <a:ln w="12700">
            <a:solidFill>
              <a:srgbClr val="6B3FD4"/>
            </a:solidFill>
            <a:prstDash val="solid"/>
          </a:ln>
        </p:spPr>
        <p:txBody>
          <a:bodyPr/>
          <a:lstStyle/>
          <a:p>
            <a:endParaRPr lang="fr-FR"/>
          </a:p>
        </p:txBody>
      </p:sp>
      <p:sp>
        <p:nvSpPr>
          <p:cNvPr id="24" name="Shape 22"/>
          <p:cNvSpPr/>
          <p:nvPr/>
        </p:nvSpPr>
        <p:spPr>
          <a:xfrm>
            <a:off x="2560320" y="2980944"/>
            <a:ext cx="45720" cy="457200"/>
          </a:xfrm>
          <a:prstGeom prst="rect">
            <a:avLst/>
          </a:prstGeom>
          <a:solidFill>
            <a:srgbClr val="6B3FD4"/>
          </a:solidFill>
          <a:ln/>
        </p:spPr>
        <p:txBody>
          <a:bodyPr/>
          <a:lstStyle/>
          <a:p>
            <a:endParaRPr lang="fr-FR"/>
          </a:p>
        </p:txBody>
      </p:sp>
      <p:sp>
        <p:nvSpPr>
          <p:cNvPr id="25" name="Text 23"/>
          <p:cNvSpPr/>
          <p:nvPr/>
        </p:nvSpPr>
        <p:spPr>
          <a:xfrm>
            <a:off x="2761488" y="2980944"/>
            <a:ext cx="2743200" cy="457200"/>
          </a:xfrm>
          <a:prstGeom prst="rect">
            <a:avLst/>
          </a:prstGeom>
          <a:noFill/>
          <a:ln/>
        </p:spPr>
        <p:txBody>
          <a:bodyPr wrap="square" lIns="0" tIns="0" rIns="0" bIns="0" rtlCol="0" anchor="ctr"/>
          <a:lstStyle/>
          <a:p>
            <a:pPr marL="0" indent="0" algn="l">
              <a:lnSpc>
                <a:spcPct val="108000"/>
              </a:lnSpc>
              <a:buNone/>
            </a:pPr>
            <a:r>
              <a:rPr lang="en-US" sz="1250" b="1" dirty="0">
                <a:solidFill>
                  <a:srgbClr val="12263F"/>
                </a:solidFill>
                <a:latin typeface="Calibri" pitchFamily="34" charset="0"/>
                <a:ea typeface="Calibri" pitchFamily="34" charset="-122"/>
                <a:cs typeface="Calibri" pitchFamily="34" charset="-120"/>
              </a:rPr>
              <a:t>46 routes d'API</a:t>
            </a:r>
            <a:endParaRPr lang="en-US" sz="1250" dirty="0"/>
          </a:p>
        </p:txBody>
      </p:sp>
      <p:sp>
        <p:nvSpPr>
          <p:cNvPr id="26" name="Text 24"/>
          <p:cNvSpPr/>
          <p:nvPr/>
        </p:nvSpPr>
        <p:spPr>
          <a:xfrm>
            <a:off x="5577840" y="2980944"/>
            <a:ext cx="822960" cy="457200"/>
          </a:xfrm>
          <a:prstGeom prst="rect">
            <a:avLst/>
          </a:prstGeom>
          <a:noFill/>
          <a:ln/>
        </p:spPr>
        <p:txBody>
          <a:bodyPr wrap="square" lIns="0" tIns="0" rIns="0" bIns="0" rtlCol="0" anchor="ctr"/>
          <a:lstStyle/>
          <a:p>
            <a:pPr marL="0" indent="0" algn="l">
              <a:lnSpc>
                <a:spcPct val="108000"/>
              </a:lnSpc>
              <a:buNone/>
            </a:pPr>
            <a:r>
              <a:rPr lang="en-US" sz="1000" dirty="0">
                <a:solidFill>
                  <a:srgbClr val="4A5769"/>
                </a:solidFill>
                <a:latin typeface="Calibri" pitchFamily="34" charset="0"/>
                <a:ea typeface="Calibri" pitchFamily="34" charset="-122"/>
                <a:cs typeface="Calibri" pitchFamily="34" charset="-120"/>
              </a:rPr>
              <a:t>comment on y accède</a:t>
            </a:r>
            <a:endParaRPr lang="en-US" sz="1000" dirty="0"/>
          </a:p>
        </p:txBody>
      </p:sp>
      <p:sp>
        <p:nvSpPr>
          <p:cNvPr id="27" name="Shape 25"/>
          <p:cNvSpPr/>
          <p:nvPr/>
        </p:nvSpPr>
        <p:spPr>
          <a:xfrm>
            <a:off x="4572000" y="3456432"/>
            <a:ext cx="0" cy="54864"/>
          </a:xfrm>
          <a:prstGeom prst="line">
            <a:avLst/>
          </a:prstGeom>
          <a:noFill/>
          <a:ln w="22225">
            <a:solidFill>
              <a:srgbClr val="8FA6BC"/>
            </a:solidFill>
            <a:prstDash val="solid"/>
            <a:tailEnd type="triangle"/>
          </a:ln>
        </p:spPr>
        <p:txBody>
          <a:bodyPr/>
          <a:lstStyle/>
          <a:p>
            <a:endParaRPr lang="fr-FR"/>
          </a:p>
        </p:txBody>
      </p:sp>
      <p:sp>
        <p:nvSpPr>
          <p:cNvPr id="28" name="Shape 26"/>
          <p:cNvSpPr/>
          <p:nvPr/>
        </p:nvSpPr>
        <p:spPr>
          <a:xfrm>
            <a:off x="3200400" y="3529584"/>
            <a:ext cx="2743200" cy="457200"/>
          </a:xfrm>
          <a:prstGeom prst="roundRect">
            <a:avLst>
              <a:gd name="adj" fmla="val 10000"/>
            </a:avLst>
          </a:prstGeom>
          <a:solidFill>
            <a:srgbClr val="FFFFFF"/>
          </a:solidFill>
          <a:ln w="12700">
            <a:solidFill>
              <a:srgbClr val="B03A48"/>
            </a:solidFill>
            <a:prstDash val="solid"/>
          </a:ln>
        </p:spPr>
        <p:txBody>
          <a:bodyPr/>
          <a:lstStyle/>
          <a:p>
            <a:endParaRPr lang="fr-FR"/>
          </a:p>
        </p:txBody>
      </p:sp>
      <p:sp>
        <p:nvSpPr>
          <p:cNvPr id="29" name="Shape 27"/>
          <p:cNvSpPr/>
          <p:nvPr/>
        </p:nvSpPr>
        <p:spPr>
          <a:xfrm>
            <a:off x="3200400" y="3529584"/>
            <a:ext cx="45720" cy="457200"/>
          </a:xfrm>
          <a:prstGeom prst="rect">
            <a:avLst/>
          </a:prstGeom>
          <a:solidFill>
            <a:srgbClr val="B03A48"/>
          </a:solidFill>
          <a:ln/>
        </p:spPr>
        <p:txBody>
          <a:bodyPr/>
          <a:lstStyle/>
          <a:p>
            <a:endParaRPr lang="fr-FR"/>
          </a:p>
        </p:txBody>
      </p:sp>
      <p:sp>
        <p:nvSpPr>
          <p:cNvPr id="30" name="Text 28"/>
          <p:cNvSpPr/>
          <p:nvPr/>
        </p:nvSpPr>
        <p:spPr>
          <a:xfrm>
            <a:off x="3401568" y="3529584"/>
            <a:ext cx="2743200" cy="457200"/>
          </a:xfrm>
          <a:prstGeom prst="rect">
            <a:avLst/>
          </a:prstGeom>
          <a:noFill/>
          <a:ln/>
        </p:spPr>
        <p:txBody>
          <a:bodyPr wrap="square" lIns="0" tIns="0" rIns="0" bIns="0" rtlCol="0" anchor="ctr"/>
          <a:lstStyle/>
          <a:p>
            <a:pPr marL="0" indent="0" algn="l">
              <a:lnSpc>
                <a:spcPct val="108000"/>
              </a:lnSpc>
              <a:buNone/>
            </a:pPr>
            <a:r>
              <a:rPr lang="en-US" sz="1250" b="1" dirty="0">
                <a:solidFill>
                  <a:srgbClr val="12263F"/>
                </a:solidFill>
                <a:latin typeface="Calibri" pitchFamily="34" charset="0"/>
                <a:ea typeface="Calibri" pitchFamily="34" charset="-122"/>
                <a:cs typeface="Calibri" pitchFamily="34" charset="-120"/>
              </a:rPr>
              <a:t>218 tests automatiques</a:t>
            </a:r>
            <a:endParaRPr lang="en-US" sz="1250" dirty="0"/>
          </a:p>
        </p:txBody>
      </p:sp>
      <p:sp>
        <p:nvSpPr>
          <p:cNvPr id="31" name="Text 29"/>
          <p:cNvSpPr/>
          <p:nvPr/>
        </p:nvSpPr>
        <p:spPr>
          <a:xfrm>
            <a:off x="6217920" y="3529584"/>
            <a:ext cx="0" cy="457200"/>
          </a:xfrm>
          <a:prstGeom prst="rect">
            <a:avLst/>
          </a:prstGeom>
          <a:noFill/>
          <a:ln/>
        </p:spPr>
        <p:txBody>
          <a:bodyPr wrap="square" lIns="0" tIns="0" rIns="0" bIns="0" rtlCol="0" anchor="ctr"/>
          <a:lstStyle/>
          <a:p>
            <a:pPr marL="0" indent="0" algn="l">
              <a:lnSpc>
                <a:spcPct val="108000"/>
              </a:lnSpc>
              <a:buNone/>
            </a:pPr>
            <a:r>
              <a:rPr lang="en-US" sz="1000" dirty="0">
                <a:solidFill>
                  <a:srgbClr val="4A5769"/>
                </a:solidFill>
                <a:latin typeface="Calibri" pitchFamily="34" charset="0"/>
                <a:ea typeface="Calibri" pitchFamily="34" charset="-122"/>
                <a:cs typeface="Calibri" pitchFamily="34" charset="-120"/>
              </a:rPr>
              <a:t>la preuve que ça marche</a:t>
            </a:r>
            <a:endParaRPr lang="en-US" sz="1000" dirty="0"/>
          </a:p>
        </p:txBody>
      </p:sp>
      <p:sp>
        <p:nvSpPr>
          <p:cNvPr id="32" name="Shape 30"/>
          <p:cNvSpPr/>
          <p:nvPr/>
        </p:nvSpPr>
        <p:spPr>
          <a:xfrm>
            <a:off x="292608" y="4224528"/>
            <a:ext cx="8558784" cy="475488"/>
          </a:xfrm>
          <a:prstGeom prst="rect">
            <a:avLst/>
          </a:prstGeom>
          <a:solidFill>
            <a:srgbClr val="12263F"/>
          </a:solidFill>
          <a:ln/>
        </p:spPr>
        <p:txBody>
          <a:bodyPr/>
          <a:lstStyle/>
          <a:p>
            <a:endParaRPr lang="fr-FR"/>
          </a:p>
        </p:txBody>
      </p:sp>
      <p:sp>
        <p:nvSpPr>
          <p:cNvPr id="33" name="Shape 31"/>
          <p:cNvSpPr/>
          <p:nvPr/>
        </p:nvSpPr>
        <p:spPr>
          <a:xfrm>
            <a:off x="292608" y="4224528"/>
            <a:ext cx="45720" cy="475488"/>
          </a:xfrm>
          <a:prstGeom prst="rect">
            <a:avLst/>
          </a:prstGeom>
          <a:solidFill>
            <a:srgbClr val="E08A3C"/>
          </a:solidFill>
          <a:ln/>
        </p:spPr>
        <p:txBody>
          <a:bodyPr/>
          <a:lstStyle/>
          <a:p>
            <a:endParaRPr lang="fr-FR"/>
          </a:p>
        </p:txBody>
      </p:sp>
      <p:sp>
        <p:nvSpPr>
          <p:cNvPr id="34" name="Text 32"/>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Chaque besoin exprimé finit en test automatique : c'est le fil qui relie l'utilisateur au code.</a:t>
            </a:r>
            <a:endParaRPr lang="en-US" sz="1150" dirty="0"/>
          </a:p>
        </p:txBody>
      </p:sp>
      <p:sp>
        <p:nvSpPr>
          <p:cNvPr id="35" name="Text 33"/>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4.1 - Description des Fonctionnalités Requises</a:t>
            </a:r>
            <a:endParaRPr lang="en-US" sz="750" dirty="0"/>
          </a:p>
        </p:txBody>
      </p:sp>
      <p:sp>
        <p:nvSpPr>
          <p:cNvPr id="36" name="Text 34"/>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4. Besoins fonctionnels</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14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4.2 - Priorisation des Fonctionnalités</a:t>
            </a:r>
            <a:endParaRPr lang="en-US" sz="2200" dirty="0"/>
          </a:p>
        </p:txBody>
      </p:sp>
      <p:sp>
        <p:nvSpPr>
          <p:cNvPr id="7" name="Text 5"/>
          <p:cNvSpPr/>
          <p:nvPr/>
        </p:nvSpPr>
        <p:spPr>
          <a:xfrm>
            <a:off x="292608" y="1024128"/>
            <a:ext cx="8558784" cy="201168"/>
          </a:xfrm>
          <a:prstGeom prst="rect">
            <a:avLst/>
          </a:prstGeom>
          <a:noFill/>
          <a:ln/>
        </p:spPr>
        <p:txBody>
          <a:bodyPr wrap="square" lIns="0" tIns="0" rIns="0" bIns="0" rtlCol="0" anchor="ctr"/>
          <a:lstStyle/>
          <a:p>
            <a:pPr marL="0" indent="0">
              <a:buNone/>
            </a:pPr>
            <a:r>
              <a:rPr lang="en-US" sz="1050" dirty="0">
                <a:solidFill>
                  <a:srgbClr val="4A5769"/>
                </a:solidFill>
                <a:latin typeface="Calibri" pitchFamily="34" charset="0"/>
                <a:ea typeface="Calibri" pitchFamily="34" charset="-122"/>
                <a:cs typeface="Calibri" pitchFamily="34" charset="-120"/>
              </a:rPr>
              <a:t>Ce que je livre d'abord, et selon quels critères.</a:t>
            </a:r>
            <a:endParaRPr lang="en-US" sz="1050" dirty="0"/>
          </a:p>
        </p:txBody>
      </p:sp>
      <p:sp>
        <p:nvSpPr>
          <p:cNvPr id="8" name="Shape 6"/>
          <p:cNvSpPr/>
          <p:nvPr/>
        </p:nvSpPr>
        <p:spPr>
          <a:xfrm>
            <a:off x="292608" y="1298448"/>
            <a:ext cx="8558784" cy="475488"/>
          </a:xfrm>
          <a:prstGeom prst="rect">
            <a:avLst/>
          </a:prstGeom>
          <a:solidFill>
            <a:srgbClr val="FFFFFF"/>
          </a:solidFill>
          <a:ln w="12700">
            <a:solidFill>
              <a:srgbClr val="B03A48"/>
            </a:solidFill>
            <a:prstDash val="solid"/>
          </a:ln>
        </p:spPr>
        <p:txBody>
          <a:bodyPr/>
          <a:lstStyle/>
          <a:p>
            <a:endParaRPr lang="fr-FR"/>
          </a:p>
        </p:txBody>
      </p:sp>
      <p:sp>
        <p:nvSpPr>
          <p:cNvPr id="9" name="Shape 7"/>
          <p:cNvSpPr/>
          <p:nvPr/>
        </p:nvSpPr>
        <p:spPr>
          <a:xfrm>
            <a:off x="292608" y="1298448"/>
            <a:ext cx="8558784" cy="45720"/>
          </a:xfrm>
          <a:prstGeom prst="rect">
            <a:avLst/>
          </a:prstGeom>
          <a:solidFill>
            <a:srgbClr val="B03A48"/>
          </a:solidFill>
          <a:ln/>
        </p:spPr>
        <p:txBody>
          <a:bodyPr/>
          <a:lstStyle/>
          <a:p>
            <a:endParaRPr lang="fr-FR"/>
          </a:p>
        </p:txBody>
      </p:sp>
      <p:sp>
        <p:nvSpPr>
          <p:cNvPr id="10" name="Text 8"/>
          <p:cNvSpPr/>
          <p:nvPr/>
        </p:nvSpPr>
        <p:spPr>
          <a:xfrm>
            <a:off x="457200" y="1380744"/>
            <a:ext cx="2194560" cy="182880"/>
          </a:xfrm>
          <a:prstGeom prst="rect">
            <a:avLst/>
          </a:prstGeom>
          <a:noFill/>
          <a:ln/>
        </p:spPr>
        <p:txBody>
          <a:bodyPr wrap="square" lIns="0" tIns="0" rIns="0" bIns="0" rtlCol="0" anchor="t"/>
          <a:lstStyle/>
          <a:p>
            <a:pPr marL="0" indent="0" algn="l">
              <a:lnSpc>
                <a:spcPct val="108000"/>
              </a:lnSpc>
              <a:buNone/>
            </a:pPr>
            <a:r>
              <a:rPr lang="en-US" sz="1000" b="1" dirty="0">
                <a:solidFill>
                  <a:srgbClr val="B03A48"/>
                </a:solidFill>
                <a:latin typeface="Calibri" pitchFamily="34" charset="0"/>
                <a:ea typeface="Calibri" pitchFamily="34" charset="-122"/>
                <a:cs typeface="Calibri" pitchFamily="34" charset="-120"/>
              </a:rPr>
              <a:t>INDISPENSABLE</a:t>
            </a:r>
            <a:endParaRPr lang="en-US" sz="1000" dirty="0"/>
          </a:p>
        </p:txBody>
      </p:sp>
      <p:sp>
        <p:nvSpPr>
          <p:cNvPr id="11" name="Text 9"/>
          <p:cNvSpPr/>
          <p:nvPr/>
        </p:nvSpPr>
        <p:spPr>
          <a:xfrm>
            <a:off x="2724912" y="1380744"/>
            <a:ext cx="5907024" cy="329184"/>
          </a:xfrm>
          <a:prstGeom prst="rect">
            <a:avLst/>
          </a:prstGeom>
          <a:noFill/>
          <a:ln/>
        </p:spPr>
        <p:txBody>
          <a:bodyPr wrap="square" lIns="0" tIns="0" rIns="0" bIns="0" rtlCol="0" anchor="t"/>
          <a:lstStyle/>
          <a:p>
            <a:pPr marL="0" indent="0" algn="l">
              <a:lnSpc>
                <a:spcPct val="108000"/>
              </a:lnSpc>
              <a:buNone/>
            </a:pPr>
            <a:r>
              <a:rPr lang="en-US" sz="1000" dirty="0">
                <a:solidFill>
                  <a:srgbClr val="4A5769"/>
                </a:solidFill>
                <a:latin typeface="Calibri" pitchFamily="34" charset="0"/>
                <a:ea typeface="Calibri" pitchFamily="34" charset="-122"/>
                <a:cs typeface="Calibri" pitchFamily="34" charset="-120"/>
              </a:rPr>
              <a:t>Compte, dépôt, bibliothèque, albums, publication, profil, fil</a:t>
            </a:r>
            <a:endParaRPr lang="en-US" sz="1000" dirty="0"/>
          </a:p>
        </p:txBody>
      </p:sp>
      <p:sp>
        <p:nvSpPr>
          <p:cNvPr id="12" name="Shape 10"/>
          <p:cNvSpPr/>
          <p:nvPr/>
        </p:nvSpPr>
        <p:spPr>
          <a:xfrm>
            <a:off x="1097280" y="1828800"/>
            <a:ext cx="6949440" cy="475488"/>
          </a:xfrm>
          <a:prstGeom prst="rect">
            <a:avLst/>
          </a:prstGeom>
          <a:solidFill>
            <a:srgbClr val="FFFFFF"/>
          </a:solidFill>
          <a:ln w="12700">
            <a:solidFill>
              <a:srgbClr val="E08A3C"/>
            </a:solidFill>
            <a:prstDash val="solid"/>
          </a:ln>
        </p:spPr>
        <p:txBody>
          <a:bodyPr/>
          <a:lstStyle/>
          <a:p>
            <a:endParaRPr lang="fr-FR"/>
          </a:p>
        </p:txBody>
      </p:sp>
      <p:sp>
        <p:nvSpPr>
          <p:cNvPr id="13" name="Shape 11"/>
          <p:cNvSpPr/>
          <p:nvPr/>
        </p:nvSpPr>
        <p:spPr>
          <a:xfrm>
            <a:off x="1097280" y="1828800"/>
            <a:ext cx="6949440" cy="45720"/>
          </a:xfrm>
          <a:prstGeom prst="rect">
            <a:avLst/>
          </a:prstGeom>
          <a:solidFill>
            <a:srgbClr val="E08A3C"/>
          </a:solidFill>
          <a:ln/>
        </p:spPr>
        <p:txBody>
          <a:bodyPr/>
          <a:lstStyle/>
          <a:p>
            <a:endParaRPr lang="fr-FR"/>
          </a:p>
        </p:txBody>
      </p:sp>
      <p:sp>
        <p:nvSpPr>
          <p:cNvPr id="14" name="Text 12"/>
          <p:cNvSpPr/>
          <p:nvPr/>
        </p:nvSpPr>
        <p:spPr>
          <a:xfrm>
            <a:off x="1261872" y="1911096"/>
            <a:ext cx="2194560" cy="182880"/>
          </a:xfrm>
          <a:prstGeom prst="rect">
            <a:avLst/>
          </a:prstGeom>
          <a:noFill/>
          <a:ln/>
        </p:spPr>
        <p:txBody>
          <a:bodyPr wrap="square" lIns="0" tIns="0" rIns="0" bIns="0" rtlCol="0" anchor="t"/>
          <a:lstStyle/>
          <a:p>
            <a:pPr marL="0" indent="0" algn="l">
              <a:lnSpc>
                <a:spcPct val="108000"/>
              </a:lnSpc>
              <a:buNone/>
            </a:pPr>
            <a:r>
              <a:rPr lang="en-US" sz="1000" b="1" dirty="0">
                <a:solidFill>
                  <a:srgbClr val="E08A3C"/>
                </a:solidFill>
                <a:latin typeface="Calibri" pitchFamily="34" charset="0"/>
                <a:ea typeface="Calibri" pitchFamily="34" charset="-122"/>
                <a:cs typeface="Calibri" pitchFamily="34" charset="-120"/>
              </a:rPr>
              <a:t>IMPORTANT</a:t>
            </a:r>
            <a:endParaRPr lang="en-US" sz="1000" dirty="0"/>
          </a:p>
        </p:txBody>
      </p:sp>
      <p:sp>
        <p:nvSpPr>
          <p:cNvPr id="15" name="Text 13"/>
          <p:cNvSpPr/>
          <p:nvPr/>
        </p:nvSpPr>
        <p:spPr>
          <a:xfrm>
            <a:off x="3529584" y="1911096"/>
            <a:ext cx="4297680" cy="329184"/>
          </a:xfrm>
          <a:prstGeom prst="rect">
            <a:avLst/>
          </a:prstGeom>
          <a:noFill/>
          <a:ln/>
        </p:spPr>
        <p:txBody>
          <a:bodyPr wrap="square" lIns="0" tIns="0" rIns="0" bIns="0" rtlCol="0" anchor="t"/>
          <a:lstStyle/>
          <a:p>
            <a:pPr marL="0" indent="0" algn="l">
              <a:lnSpc>
                <a:spcPct val="108000"/>
              </a:lnSpc>
              <a:buNone/>
            </a:pPr>
            <a:r>
              <a:rPr lang="en-US" sz="1000" dirty="0">
                <a:solidFill>
                  <a:srgbClr val="4A5769"/>
                </a:solidFill>
                <a:latin typeface="Calibri" pitchFamily="34" charset="0"/>
                <a:ea typeface="Calibri" pitchFamily="34" charset="-122"/>
                <a:cs typeface="Calibri" pitchFamily="34" charset="-120"/>
              </a:rPr>
              <a:t>Clé d'API, réglages du compte, photo de profil</a:t>
            </a:r>
            <a:endParaRPr lang="en-US" sz="1000" dirty="0"/>
          </a:p>
        </p:txBody>
      </p:sp>
      <p:sp>
        <p:nvSpPr>
          <p:cNvPr id="16" name="Shape 14"/>
          <p:cNvSpPr/>
          <p:nvPr/>
        </p:nvSpPr>
        <p:spPr>
          <a:xfrm>
            <a:off x="1901952" y="2359152"/>
            <a:ext cx="5340096" cy="475488"/>
          </a:xfrm>
          <a:prstGeom prst="rect">
            <a:avLst/>
          </a:prstGeom>
          <a:solidFill>
            <a:srgbClr val="FFFFFF"/>
          </a:solidFill>
          <a:ln w="12700">
            <a:solidFill>
              <a:srgbClr val="1B6EC2"/>
            </a:solidFill>
            <a:prstDash val="solid"/>
          </a:ln>
        </p:spPr>
        <p:txBody>
          <a:bodyPr/>
          <a:lstStyle/>
          <a:p>
            <a:endParaRPr lang="fr-FR"/>
          </a:p>
        </p:txBody>
      </p:sp>
      <p:sp>
        <p:nvSpPr>
          <p:cNvPr id="17" name="Shape 15"/>
          <p:cNvSpPr/>
          <p:nvPr/>
        </p:nvSpPr>
        <p:spPr>
          <a:xfrm>
            <a:off x="1901952" y="2359152"/>
            <a:ext cx="5340096" cy="45720"/>
          </a:xfrm>
          <a:prstGeom prst="rect">
            <a:avLst/>
          </a:prstGeom>
          <a:solidFill>
            <a:srgbClr val="1B6EC2"/>
          </a:solidFill>
          <a:ln/>
        </p:spPr>
        <p:txBody>
          <a:bodyPr/>
          <a:lstStyle/>
          <a:p>
            <a:endParaRPr lang="fr-FR"/>
          </a:p>
        </p:txBody>
      </p:sp>
      <p:sp>
        <p:nvSpPr>
          <p:cNvPr id="18" name="Text 16"/>
          <p:cNvSpPr/>
          <p:nvPr/>
        </p:nvSpPr>
        <p:spPr>
          <a:xfrm>
            <a:off x="2066544" y="2441448"/>
            <a:ext cx="2194560" cy="182880"/>
          </a:xfrm>
          <a:prstGeom prst="rect">
            <a:avLst/>
          </a:prstGeom>
          <a:noFill/>
          <a:ln/>
        </p:spPr>
        <p:txBody>
          <a:bodyPr wrap="square" lIns="0" tIns="0" rIns="0" bIns="0" rtlCol="0" anchor="t"/>
          <a:lstStyle/>
          <a:p>
            <a:pPr marL="0" indent="0" algn="l">
              <a:lnSpc>
                <a:spcPct val="108000"/>
              </a:lnSpc>
              <a:buNone/>
            </a:pPr>
            <a:r>
              <a:rPr lang="en-US" sz="1000" b="1" dirty="0">
                <a:solidFill>
                  <a:srgbClr val="1B6EC2"/>
                </a:solidFill>
                <a:latin typeface="Calibri" pitchFamily="34" charset="0"/>
                <a:ea typeface="Calibri" pitchFamily="34" charset="-122"/>
                <a:cs typeface="Calibri" pitchFamily="34" charset="-120"/>
              </a:rPr>
              <a:t>SOUHAITABLE</a:t>
            </a:r>
            <a:endParaRPr lang="en-US" sz="1000" dirty="0"/>
          </a:p>
        </p:txBody>
      </p:sp>
      <p:sp>
        <p:nvSpPr>
          <p:cNvPr id="19" name="Text 17"/>
          <p:cNvSpPr/>
          <p:nvPr/>
        </p:nvSpPr>
        <p:spPr>
          <a:xfrm>
            <a:off x="4334256" y="2441448"/>
            <a:ext cx="2688336" cy="329184"/>
          </a:xfrm>
          <a:prstGeom prst="rect">
            <a:avLst/>
          </a:prstGeom>
          <a:noFill/>
          <a:ln/>
        </p:spPr>
        <p:txBody>
          <a:bodyPr wrap="square" lIns="0" tIns="0" rIns="0" bIns="0" rtlCol="0" anchor="t"/>
          <a:lstStyle/>
          <a:p>
            <a:pPr marL="0" indent="0" algn="l">
              <a:lnSpc>
                <a:spcPct val="108000"/>
              </a:lnSpc>
              <a:buNone/>
            </a:pPr>
            <a:r>
              <a:rPr lang="en-US" sz="1000" dirty="0">
                <a:solidFill>
                  <a:srgbClr val="4A5769"/>
                </a:solidFill>
                <a:latin typeface="Calibri" pitchFamily="34" charset="0"/>
                <a:ea typeface="Calibri" pitchFamily="34" charset="-122"/>
                <a:cs typeface="Calibri" pitchFamily="34" charset="-120"/>
              </a:rPr>
              <a:t>Téléchargement de ses fichiers, statistiques publiques</a:t>
            </a:r>
            <a:endParaRPr lang="en-US" sz="1000" dirty="0"/>
          </a:p>
        </p:txBody>
      </p:sp>
      <p:sp>
        <p:nvSpPr>
          <p:cNvPr id="20" name="Shape 18"/>
          <p:cNvSpPr/>
          <p:nvPr/>
        </p:nvSpPr>
        <p:spPr>
          <a:xfrm>
            <a:off x="2706624" y="2889504"/>
            <a:ext cx="3730752" cy="475488"/>
          </a:xfrm>
          <a:prstGeom prst="rect">
            <a:avLst/>
          </a:prstGeom>
          <a:solidFill>
            <a:srgbClr val="FFFFFF"/>
          </a:solidFill>
          <a:ln w="12700">
            <a:solidFill>
              <a:srgbClr val="8FA6BC"/>
            </a:solidFill>
            <a:prstDash val="solid"/>
          </a:ln>
        </p:spPr>
        <p:txBody>
          <a:bodyPr/>
          <a:lstStyle/>
          <a:p>
            <a:endParaRPr lang="fr-FR"/>
          </a:p>
        </p:txBody>
      </p:sp>
      <p:sp>
        <p:nvSpPr>
          <p:cNvPr id="21" name="Shape 19"/>
          <p:cNvSpPr/>
          <p:nvPr/>
        </p:nvSpPr>
        <p:spPr>
          <a:xfrm>
            <a:off x="2706624" y="2889504"/>
            <a:ext cx="3730752" cy="45720"/>
          </a:xfrm>
          <a:prstGeom prst="rect">
            <a:avLst/>
          </a:prstGeom>
          <a:solidFill>
            <a:srgbClr val="8FA6BC"/>
          </a:solidFill>
          <a:ln/>
        </p:spPr>
        <p:txBody>
          <a:bodyPr/>
          <a:lstStyle/>
          <a:p>
            <a:endParaRPr lang="fr-FR"/>
          </a:p>
        </p:txBody>
      </p:sp>
      <p:sp>
        <p:nvSpPr>
          <p:cNvPr id="22" name="Text 20"/>
          <p:cNvSpPr/>
          <p:nvPr/>
        </p:nvSpPr>
        <p:spPr>
          <a:xfrm>
            <a:off x="2871216" y="2971800"/>
            <a:ext cx="2194560" cy="182880"/>
          </a:xfrm>
          <a:prstGeom prst="rect">
            <a:avLst/>
          </a:prstGeom>
          <a:noFill/>
          <a:ln/>
        </p:spPr>
        <p:txBody>
          <a:bodyPr wrap="square" lIns="0" tIns="0" rIns="0" bIns="0" rtlCol="0" anchor="t"/>
          <a:lstStyle/>
          <a:p>
            <a:pPr marL="0" indent="0" algn="l">
              <a:lnSpc>
                <a:spcPct val="108000"/>
              </a:lnSpc>
              <a:buNone/>
            </a:pPr>
            <a:r>
              <a:rPr lang="en-US" sz="1000" b="1" dirty="0">
                <a:solidFill>
                  <a:srgbClr val="8FA6BC"/>
                </a:solidFill>
                <a:latin typeface="Calibri" pitchFamily="34" charset="0"/>
                <a:ea typeface="Calibri" pitchFamily="34" charset="-122"/>
                <a:cs typeface="Calibri" pitchFamily="34" charset="-120"/>
              </a:rPr>
              <a:t>HORS PREMIÈRE VERSION</a:t>
            </a:r>
            <a:endParaRPr lang="en-US" sz="1000" dirty="0"/>
          </a:p>
        </p:txBody>
      </p:sp>
      <p:sp>
        <p:nvSpPr>
          <p:cNvPr id="23" name="Text 21"/>
          <p:cNvSpPr/>
          <p:nvPr/>
        </p:nvSpPr>
        <p:spPr>
          <a:xfrm>
            <a:off x="4697046" y="2971800"/>
            <a:ext cx="1520874" cy="329184"/>
          </a:xfrm>
          <a:prstGeom prst="rect">
            <a:avLst/>
          </a:prstGeom>
          <a:noFill/>
          <a:ln/>
        </p:spPr>
        <p:txBody>
          <a:bodyPr wrap="square" lIns="0" tIns="0" rIns="0" bIns="0" rtlCol="0" anchor="t"/>
          <a:lstStyle/>
          <a:p>
            <a:pPr marL="0" indent="0" algn="l">
              <a:lnSpc>
                <a:spcPct val="108000"/>
              </a:lnSpc>
              <a:buNone/>
            </a:pPr>
            <a:r>
              <a:rPr lang="en-US" sz="1000" dirty="0">
                <a:solidFill>
                  <a:srgbClr val="4A5769"/>
                </a:solidFill>
                <a:latin typeface="Calibri" pitchFamily="34" charset="0"/>
                <a:ea typeface="Calibri" pitchFamily="34" charset="-122"/>
                <a:cs typeface="Calibri" pitchFamily="34" charset="-120"/>
              </a:rPr>
              <a:t>Commentaires, application mobile, vidéo</a:t>
            </a:r>
            <a:endParaRPr lang="en-US" sz="1000" dirty="0"/>
          </a:p>
        </p:txBody>
      </p:sp>
      <p:sp>
        <p:nvSpPr>
          <p:cNvPr id="24" name="Text 22"/>
          <p:cNvSpPr/>
          <p:nvPr/>
        </p:nvSpPr>
        <p:spPr>
          <a:xfrm>
            <a:off x="292608" y="3493008"/>
            <a:ext cx="8558784" cy="164592"/>
          </a:xfrm>
          <a:prstGeom prst="rect">
            <a:avLst/>
          </a:prstGeom>
          <a:noFill/>
          <a:ln/>
        </p:spPr>
        <p:txBody>
          <a:bodyPr wrap="square" lIns="0" tIns="0" rIns="0" bIns="0" rtlCol="0" anchor="t"/>
          <a:lstStyle/>
          <a:p>
            <a:pPr marL="0" indent="0" algn="l">
              <a:lnSpc>
                <a:spcPct val="108000"/>
              </a:lnSpc>
              <a:buNone/>
            </a:pPr>
            <a:r>
              <a:rPr lang="en-US" sz="800" b="1" dirty="0">
                <a:solidFill>
                  <a:srgbClr val="8FA6BC"/>
                </a:solidFill>
                <a:latin typeface="Calibri" pitchFamily="34" charset="0"/>
                <a:ea typeface="Calibri" pitchFamily="34" charset="-122"/>
                <a:cs typeface="Calibri" pitchFamily="34" charset="-120"/>
              </a:rPr>
              <a:t>TROIS CRITÈRES POUR TRANCHER</a:t>
            </a:r>
            <a:endParaRPr lang="en-US" sz="800" dirty="0"/>
          </a:p>
        </p:txBody>
      </p:sp>
      <p:sp>
        <p:nvSpPr>
          <p:cNvPr id="25" name="Shape 23"/>
          <p:cNvSpPr/>
          <p:nvPr/>
        </p:nvSpPr>
        <p:spPr>
          <a:xfrm>
            <a:off x="292608" y="3694176"/>
            <a:ext cx="2779776" cy="402336"/>
          </a:xfrm>
          <a:prstGeom prst="roundRect">
            <a:avLst>
              <a:gd name="adj" fmla="val 11364"/>
            </a:avLst>
          </a:prstGeom>
          <a:solidFill>
            <a:srgbClr val="FFFFFF"/>
          </a:solidFill>
          <a:ln w="12700">
            <a:solidFill>
              <a:srgbClr val="B03A48"/>
            </a:solidFill>
            <a:prstDash val="solid"/>
          </a:ln>
        </p:spPr>
        <p:txBody>
          <a:bodyPr/>
          <a:lstStyle/>
          <a:p>
            <a:endParaRPr lang="fr-FR"/>
          </a:p>
        </p:txBody>
      </p:sp>
      <p:sp>
        <p:nvSpPr>
          <p:cNvPr id="26" name="Text 24"/>
          <p:cNvSpPr/>
          <p:nvPr/>
        </p:nvSpPr>
        <p:spPr>
          <a:xfrm>
            <a:off x="420624" y="3694176"/>
            <a:ext cx="822960" cy="402336"/>
          </a:xfrm>
          <a:prstGeom prst="rect">
            <a:avLst/>
          </a:prstGeom>
          <a:noFill/>
          <a:ln/>
        </p:spPr>
        <p:txBody>
          <a:bodyPr wrap="square" lIns="0" tIns="0" rIns="0" bIns="0" rtlCol="0" anchor="ctr"/>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Sécurité</a:t>
            </a:r>
            <a:endParaRPr lang="en-US" sz="1050" dirty="0"/>
          </a:p>
        </p:txBody>
      </p:sp>
      <p:sp>
        <p:nvSpPr>
          <p:cNvPr id="27" name="Text 25"/>
          <p:cNvSpPr/>
          <p:nvPr/>
        </p:nvSpPr>
        <p:spPr>
          <a:xfrm>
            <a:off x="1225296" y="3694176"/>
            <a:ext cx="1737360" cy="402336"/>
          </a:xfrm>
          <a:prstGeom prst="rect">
            <a:avLst/>
          </a:prstGeom>
          <a:noFill/>
          <a:ln/>
        </p:spPr>
        <p:txBody>
          <a:bodyPr wrap="square" lIns="0" tIns="0" rIns="0" bIns="0" rtlCol="0" anchor="ctr"/>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ce qui protège les données passe devant</a:t>
            </a:r>
            <a:endParaRPr lang="en-US" sz="850" dirty="0"/>
          </a:p>
        </p:txBody>
      </p:sp>
      <p:sp>
        <p:nvSpPr>
          <p:cNvPr id="28" name="Shape 26"/>
          <p:cNvSpPr/>
          <p:nvPr/>
        </p:nvSpPr>
        <p:spPr>
          <a:xfrm>
            <a:off x="3182112" y="3694176"/>
            <a:ext cx="2779776" cy="402336"/>
          </a:xfrm>
          <a:prstGeom prst="roundRect">
            <a:avLst>
              <a:gd name="adj" fmla="val 11364"/>
            </a:avLst>
          </a:prstGeom>
          <a:solidFill>
            <a:srgbClr val="FFFFFF"/>
          </a:solidFill>
          <a:ln w="12700">
            <a:solidFill>
              <a:srgbClr val="1B6EC2"/>
            </a:solidFill>
            <a:prstDash val="solid"/>
          </a:ln>
        </p:spPr>
        <p:txBody>
          <a:bodyPr/>
          <a:lstStyle/>
          <a:p>
            <a:endParaRPr lang="fr-FR"/>
          </a:p>
        </p:txBody>
      </p:sp>
      <p:sp>
        <p:nvSpPr>
          <p:cNvPr id="29" name="Text 27"/>
          <p:cNvSpPr/>
          <p:nvPr/>
        </p:nvSpPr>
        <p:spPr>
          <a:xfrm>
            <a:off x="3310128" y="3694176"/>
            <a:ext cx="822960" cy="402336"/>
          </a:xfrm>
          <a:prstGeom prst="rect">
            <a:avLst/>
          </a:prstGeom>
          <a:noFill/>
          <a:ln/>
        </p:spPr>
        <p:txBody>
          <a:bodyPr wrap="square" lIns="0" tIns="0" rIns="0" bIns="0" rtlCol="0" anchor="ctr"/>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Utilité</a:t>
            </a:r>
            <a:endParaRPr lang="en-US" sz="1050" dirty="0"/>
          </a:p>
        </p:txBody>
      </p:sp>
      <p:sp>
        <p:nvSpPr>
          <p:cNvPr id="30" name="Text 28"/>
          <p:cNvSpPr/>
          <p:nvPr/>
        </p:nvSpPr>
        <p:spPr>
          <a:xfrm>
            <a:off x="4114800" y="3694176"/>
            <a:ext cx="1737360" cy="402336"/>
          </a:xfrm>
          <a:prstGeom prst="rect">
            <a:avLst/>
          </a:prstGeom>
          <a:noFill/>
          <a:ln/>
        </p:spPr>
        <p:txBody>
          <a:bodyPr wrap="square" lIns="0" tIns="0" rIns="0" bIns="0" rtlCol="0" anchor="ctr"/>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le parcours doit être complet</a:t>
            </a:r>
            <a:endParaRPr lang="en-US" sz="850" dirty="0"/>
          </a:p>
        </p:txBody>
      </p:sp>
      <p:sp>
        <p:nvSpPr>
          <p:cNvPr id="31" name="Shape 29"/>
          <p:cNvSpPr/>
          <p:nvPr/>
        </p:nvSpPr>
        <p:spPr>
          <a:xfrm>
            <a:off x="6071616" y="3694176"/>
            <a:ext cx="2779776" cy="402336"/>
          </a:xfrm>
          <a:prstGeom prst="roundRect">
            <a:avLst>
              <a:gd name="adj" fmla="val 11364"/>
            </a:avLst>
          </a:prstGeom>
          <a:solidFill>
            <a:srgbClr val="FFFFFF"/>
          </a:solidFill>
          <a:ln w="12700">
            <a:solidFill>
              <a:srgbClr val="12855A"/>
            </a:solidFill>
            <a:prstDash val="solid"/>
          </a:ln>
        </p:spPr>
        <p:txBody>
          <a:bodyPr/>
          <a:lstStyle/>
          <a:p>
            <a:endParaRPr lang="fr-FR"/>
          </a:p>
        </p:txBody>
      </p:sp>
      <p:sp>
        <p:nvSpPr>
          <p:cNvPr id="32" name="Text 30"/>
          <p:cNvSpPr/>
          <p:nvPr/>
        </p:nvSpPr>
        <p:spPr>
          <a:xfrm>
            <a:off x="6199632" y="3694176"/>
            <a:ext cx="822960" cy="402336"/>
          </a:xfrm>
          <a:prstGeom prst="rect">
            <a:avLst/>
          </a:prstGeom>
          <a:noFill/>
          <a:ln/>
        </p:spPr>
        <p:txBody>
          <a:bodyPr wrap="square" lIns="0" tIns="0" rIns="0" bIns="0" rtlCol="0" anchor="ctr"/>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Coût</a:t>
            </a:r>
            <a:endParaRPr lang="en-US" sz="1050" dirty="0"/>
          </a:p>
        </p:txBody>
      </p:sp>
      <p:sp>
        <p:nvSpPr>
          <p:cNvPr id="33" name="Text 31"/>
          <p:cNvSpPr/>
          <p:nvPr/>
        </p:nvSpPr>
        <p:spPr>
          <a:xfrm>
            <a:off x="7004304" y="3694176"/>
            <a:ext cx="1737360" cy="402336"/>
          </a:xfrm>
          <a:prstGeom prst="rect">
            <a:avLst/>
          </a:prstGeom>
          <a:noFill/>
          <a:ln/>
        </p:spPr>
        <p:txBody>
          <a:bodyPr wrap="square" lIns="0" tIns="0" rIns="0" bIns="0" rtlCol="0" anchor="ctr"/>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à valeur égale, le plus simple d'abord</a:t>
            </a:r>
            <a:endParaRPr lang="en-US" sz="850" dirty="0"/>
          </a:p>
        </p:txBody>
      </p:sp>
      <p:sp>
        <p:nvSpPr>
          <p:cNvPr id="34" name="Shape 32"/>
          <p:cNvSpPr/>
          <p:nvPr/>
        </p:nvSpPr>
        <p:spPr>
          <a:xfrm>
            <a:off x="292608" y="4224528"/>
            <a:ext cx="8558784" cy="475488"/>
          </a:xfrm>
          <a:prstGeom prst="rect">
            <a:avLst/>
          </a:prstGeom>
          <a:solidFill>
            <a:srgbClr val="12263F"/>
          </a:solidFill>
          <a:ln/>
        </p:spPr>
        <p:txBody>
          <a:bodyPr/>
          <a:lstStyle/>
          <a:p>
            <a:endParaRPr lang="fr-FR"/>
          </a:p>
        </p:txBody>
      </p:sp>
      <p:sp>
        <p:nvSpPr>
          <p:cNvPr id="35" name="Shape 33"/>
          <p:cNvSpPr/>
          <p:nvPr/>
        </p:nvSpPr>
        <p:spPr>
          <a:xfrm>
            <a:off x="292608" y="4224528"/>
            <a:ext cx="45720" cy="475488"/>
          </a:xfrm>
          <a:prstGeom prst="rect">
            <a:avLst/>
          </a:prstGeom>
          <a:solidFill>
            <a:srgbClr val="E08A3C"/>
          </a:solidFill>
          <a:ln/>
        </p:spPr>
        <p:txBody>
          <a:bodyPr/>
          <a:lstStyle/>
          <a:p>
            <a:endParaRPr lang="fr-FR"/>
          </a:p>
        </p:txBody>
      </p:sp>
      <p:sp>
        <p:nvSpPr>
          <p:cNvPr id="36" name="Text 34"/>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Supprimer son compte est rare, mais indispensable : c'est le droit à l'effacement.</a:t>
            </a:r>
            <a:endParaRPr lang="en-US" sz="1150" dirty="0"/>
          </a:p>
        </p:txBody>
      </p:sp>
      <p:sp>
        <p:nvSpPr>
          <p:cNvPr id="37" name="Text 35"/>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4.2 - Priorisation des Fonctionnalités</a:t>
            </a:r>
            <a:endParaRPr lang="en-US" sz="750" dirty="0"/>
          </a:p>
        </p:txBody>
      </p:sp>
      <p:sp>
        <p:nvSpPr>
          <p:cNvPr id="38" name="Text 36"/>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4. Besoins fonctionnels</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15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1600" b="1" dirty="0">
                <a:solidFill>
                  <a:srgbClr val="12263F"/>
                </a:solidFill>
                <a:latin typeface="Calibri" pitchFamily="34" charset="0"/>
                <a:ea typeface="Calibri" pitchFamily="34" charset="-122"/>
                <a:cs typeface="Calibri" pitchFamily="34" charset="-120"/>
              </a:rPr>
              <a:t>4.3 - Exigences Spécifiques en Matière de Sécurité ou de Traitement des Données</a:t>
            </a:r>
            <a:endParaRPr lang="en-US" sz="1600" dirty="0"/>
          </a:p>
        </p:txBody>
      </p:sp>
      <p:sp>
        <p:nvSpPr>
          <p:cNvPr id="7" name="Text 5"/>
          <p:cNvSpPr/>
          <p:nvPr/>
        </p:nvSpPr>
        <p:spPr>
          <a:xfrm>
            <a:off x="292608" y="1024128"/>
            <a:ext cx="8558784" cy="201168"/>
          </a:xfrm>
          <a:prstGeom prst="rect">
            <a:avLst/>
          </a:prstGeom>
          <a:noFill/>
          <a:ln/>
        </p:spPr>
        <p:txBody>
          <a:bodyPr wrap="square" lIns="0" tIns="0" rIns="0" bIns="0" rtlCol="0" anchor="ctr"/>
          <a:lstStyle/>
          <a:p>
            <a:pPr marL="0" indent="0">
              <a:buNone/>
            </a:pPr>
            <a:r>
              <a:rPr lang="en-US" sz="1050" dirty="0">
                <a:solidFill>
                  <a:srgbClr val="4A5769"/>
                </a:solidFill>
                <a:latin typeface="Calibri" pitchFamily="34" charset="0"/>
                <a:ea typeface="Calibri" pitchFamily="34" charset="-122"/>
                <a:cs typeface="Calibri" pitchFamily="34" charset="-120"/>
              </a:rPr>
              <a:t>Quatre couches de protection autour des données.</a:t>
            </a:r>
            <a:endParaRPr lang="en-US" sz="1050" dirty="0"/>
          </a:p>
        </p:txBody>
      </p:sp>
      <p:sp>
        <p:nvSpPr>
          <p:cNvPr id="8" name="Shape 6"/>
          <p:cNvSpPr/>
          <p:nvPr/>
        </p:nvSpPr>
        <p:spPr>
          <a:xfrm>
            <a:off x="292608" y="1335024"/>
            <a:ext cx="8558784" cy="2907792"/>
          </a:xfrm>
          <a:prstGeom prst="roundRect">
            <a:avLst>
              <a:gd name="adj" fmla="val 1887"/>
            </a:avLst>
          </a:prstGeom>
          <a:solidFill>
            <a:srgbClr val="FFFFFF"/>
          </a:solidFill>
          <a:ln w="12700">
            <a:solidFill>
              <a:srgbClr val="1B6EC2"/>
            </a:solidFill>
            <a:prstDash val="solid"/>
          </a:ln>
        </p:spPr>
        <p:txBody>
          <a:bodyPr/>
          <a:lstStyle/>
          <a:p>
            <a:endParaRPr lang="fr-FR"/>
          </a:p>
        </p:txBody>
      </p:sp>
      <p:sp>
        <p:nvSpPr>
          <p:cNvPr id="9" name="Text 7"/>
          <p:cNvSpPr/>
          <p:nvPr/>
        </p:nvSpPr>
        <p:spPr>
          <a:xfrm>
            <a:off x="475488" y="1417320"/>
            <a:ext cx="8193024" cy="182880"/>
          </a:xfrm>
          <a:prstGeom prst="rect">
            <a:avLst/>
          </a:prstGeom>
          <a:noFill/>
          <a:ln/>
        </p:spPr>
        <p:txBody>
          <a:bodyPr wrap="square" lIns="0" tIns="0" rIns="0" bIns="0" rtlCol="0" anchor="t"/>
          <a:lstStyle/>
          <a:p>
            <a:pPr marL="0" indent="0" algn="l">
              <a:lnSpc>
                <a:spcPct val="108000"/>
              </a:lnSpc>
              <a:buNone/>
            </a:pPr>
            <a:r>
              <a:rPr lang="en-US" sz="950" b="1" dirty="0">
                <a:solidFill>
                  <a:srgbClr val="1B6EC2"/>
                </a:solidFill>
                <a:latin typeface="Calibri" pitchFamily="34" charset="0"/>
                <a:ea typeface="Calibri" pitchFamily="34" charset="-122"/>
                <a:cs typeface="Calibri" pitchFamily="34" charset="-120"/>
              </a:rPr>
              <a:t>QUI PEUT ENTRER</a:t>
            </a:r>
            <a:endParaRPr lang="en-US" sz="950" dirty="0"/>
          </a:p>
        </p:txBody>
      </p:sp>
      <p:sp>
        <p:nvSpPr>
          <p:cNvPr id="10" name="Text 8"/>
          <p:cNvSpPr/>
          <p:nvPr/>
        </p:nvSpPr>
        <p:spPr>
          <a:xfrm>
            <a:off x="475488" y="1561125"/>
            <a:ext cx="8193024" cy="219456"/>
          </a:xfrm>
          <a:prstGeom prst="rect">
            <a:avLst/>
          </a:prstGeom>
          <a:noFill/>
          <a:ln/>
        </p:spPr>
        <p:txBody>
          <a:bodyPr wrap="square" lIns="0" tIns="0" rIns="0" bIns="0" rtlCol="0" anchor="t"/>
          <a:lstStyle/>
          <a:p>
            <a:pPr marL="0" indent="0" algn="l">
              <a:lnSpc>
                <a:spcPct val="108000"/>
              </a:lnSpc>
              <a:buNone/>
            </a:pPr>
            <a:r>
              <a:rPr lang="en-US" sz="1000" dirty="0">
                <a:solidFill>
                  <a:srgbClr val="4A5769"/>
                </a:solidFill>
                <a:latin typeface="Calibri" pitchFamily="34" charset="0"/>
                <a:ea typeface="Calibri" pitchFamily="34" charset="-122"/>
                <a:cs typeface="Calibri" pitchFamily="34" charset="-120"/>
              </a:rPr>
              <a:t>mot de passe jamais en clair · session qui expire · on n'agit que sur ses données</a:t>
            </a:r>
            <a:endParaRPr lang="en-US" sz="1000" dirty="0"/>
          </a:p>
        </p:txBody>
      </p:sp>
      <p:sp>
        <p:nvSpPr>
          <p:cNvPr id="11" name="Shape 9"/>
          <p:cNvSpPr/>
          <p:nvPr/>
        </p:nvSpPr>
        <p:spPr>
          <a:xfrm>
            <a:off x="676656" y="1737360"/>
            <a:ext cx="7790688" cy="2103120"/>
          </a:xfrm>
          <a:prstGeom prst="roundRect">
            <a:avLst>
              <a:gd name="adj" fmla="val 2609"/>
            </a:avLst>
          </a:prstGeom>
          <a:solidFill>
            <a:srgbClr val="FFFFFF"/>
          </a:solidFill>
          <a:ln w="12700">
            <a:solidFill>
              <a:srgbClr val="12855A"/>
            </a:solidFill>
            <a:prstDash val="solid"/>
          </a:ln>
        </p:spPr>
        <p:txBody>
          <a:bodyPr/>
          <a:lstStyle/>
          <a:p>
            <a:endParaRPr lang="fr-FR"/>
          </a:p>
        </p:txBody>
      </p:sp>
      <p:sp>
        <p:nvSpPr>
          <p:cNvPr id="12" name="Text 10"/>
          <p:cNvSpPr/>
          <p:nvPr/>
        </p:nvSpPr>
        <p:spPr>
          <a:xfrm>
            <a:off x="859536" y="1819656"/>
            <a:ext cx="7424928" cy="182880"/>
          </a:xfrm>
          <a:prstGeom prst="rect">
            <a:avLst/>
          </a:prstGeom>
          <a:noFill/>
          <a:ln/>
        </p:spPr>
        <p:txBody>
          <a:bodyPr wrap="square" lIns="0" tIns="0" rIns="0" bIns="0" rtlCol="0" anchor="t"/>
          <a:lstStyle/>
          <a:p>
            <a:pPr marL="0" indent="0" algn="l">
              <a:lnSpc>
                <a:spcPct val="108000"/>
              </a:lnSpc>
              <a:buNone/>
            </a:pPr>
            <a:r>
              <a:rPr lang="en-US" sz="950" b="1" dirty="0">
                <a:solidFill>
                  <a:srgbClr val="12855A"/>
                </a:solidFill>
                <a:latin typeface="Calibri" pitchFamily="34" charset="0"/>
                <a:ea typeface="Calibri" pitchFamily="34" charset="-122"/>
                <a:cs typeface="Calibri" pitchFamily="34" charset="-120"/>
              </a:rPr>
              <a:t>COMMENT C'EST PROTÉGÉ</a:t>
            </a:r>
            <a:endParaRPr lang="en-US" sz="950" dirty="0"/>
          </a:p>
        </p:txBody>
      </p:sp>
      <p:sp>
        <p:nvSpPr>
          <p:cNvPr id="13" name="Text 11"/>
          <p:cNvSpPr/>
          <p:nvPr/>
        </p:nvSpPr>
        <p:spPr>
          <a:xfrm>
            <a:off x="859536" y="1955646"/>
            <a:ext cx="7424928" cy="219456"/>
          </a:xfrm>
          <a:prstGeom prst="rect">
            <a:avLst/>
          </a:prstGeom>
          <a:noFill/>
          <a:ln/>
        </p:spPr>
        <p:txBody>
          <a:bodyPr wrap="square" lIns="0" tIns="0" rIns="0" bIns="0" rtlCol="0" anchor="t"/>
          <a:lstStyle/>
          <a:p>
            <a:pPr marL="0" indent="0" algn="l">
              <a:lnSpc>
                <a:spcPct val="108000"/>
              </a:lnSpc>
              <a:buNone/>
            </a:pPr>
            <a:r>
              <a:rPr lang="en-US" sz="1000" dirty="0">
                <a:solidFill>
                  <a:srgbClr val="4A5769"/>
                </a:solidFill>
                <a:latin typeface="Calibri" pitchFamily="34" charset="0"/>
                <a:ea typeface="Calibri" pitchFamily="34" charset="-122"/>
                <a:cs typeface="Calibri" pitchFamily="34" charset="-120"/>
              </a:rPr>
              <a:t>chiffré pendant le transport · chiffré sur les disques</a:t>
            </a:r>
            <a:endParaRPr lang="en-US" sz="1000" dirty="0"/>
          </a:p>
        </p:txBody>
      </p:sp>
      <p:sp>
        <p:nvSpPr>
          <p:cNvPr id="14" name="Shape 12"/>
          <p:cNvSpPr/>
          <p:nvPr/>
        </p:nvSpPr>
        <p:spPr>
          <a:xfrm>
            <a:off x="1060704" y="2139696"/>
            <a:ext cx="7022592" cy="1298448"/>
          </a:xfrm>
          <a:prstGeom prst="roundRect">
            <a:avLst>
              <a:gd name="adj" fmla="val 4225"/>
            </a:avLst>
          </a:prstGeom>
          <a:solidFill>
            <a:srgbClr val="FFFFFF"/>
          </a:solidFill>
          <a:ln w="12700">
            <a:solidFill>
              <a:srgbClr val="6B3FD4"/>
            </a:solidFill>
            <a:prstDash val="solid"/>
          </a:ln>
        </p:spPr>
        <p:txBody>
          <a:bodyPr/>
          <a:lstStyle/>
          <a:p>
            <a:endParaRPr lang="fr-FR"/>
          </a:p>
        </p:txBody>
      </p:sp>
      <p:sp>
        <p:nvSpPr>
          <p:cNvPr id="15" name="Text 13"/>
          <p:cNvSpPr/>
          <p:nvPr/>
        </p:nvSpPr>
        <p:spPr>
          <a:xfrm>
            <a:off x="1243584" y="2221992"/>
            <a:ext cx="6656832" cy="182880"/>
          </a:xfrm>
          <a:prstGeom prst="rect">
            <a:avLst/>
          </a:prstGeom>
          <a:noFill/>
          <a:ln/>
        </p:spPr>
        <p:txBody>
          <a:bodyPr wrap="square" lIns="0" tIns="0" rIns="0" bIns="0" rtlCol="0" anchor="t"/>
          <a:lstStyle/>
          <a:p>
            <a:pPr marL="0" indent="0" algn="l">
              <a:lnSpc>
                <a:spcPct val="108000"/>
              </a:lnSpc>
              <a:buNone/>
            </a:pPr>
            <a:r>
              <a:rPr lang="en-US" sz="950" b="1" dirty="0">
                <a:solidFill>
                  <a:srgbClr val="6B3FD4"/>
                </a:solidFill>
                <a:latin typeface="Calibri" pitchFamily="34" charset="0"/>
                <a:ea typeface="Calibri" pitchFamily="34" charset="-122"/>
                <a:cs typeface="Calibri" pitchFamily="34" charset="-120"/>
              </a:rPr>
              <a:t>SI TOUT EST PERDU</a:t>
            </a:r>
            <a:endParaRPr lang="en-US" sz="950" dirty="0"/>
          </a:p>
        </p:txBody>
      </p:sp>
      <p:sp>
        <p:nvSpPr>
          <p:cNvPr id="16" name="Text 14"/>
          <p:cNvSpPr/>
          <p:nvPr/>
        </p:nvSpPr>
        <p:spPr>
          <a:xfrm>
            <a:off x="1243584" y="2365797"/>
            <a:ext cx="6656832" cy="219456"/>
          </a:xfrm>
          <a:prstGeom prst="rect">
            <a:avLst/>
          </a:prstGeom>
          <a:noFill/>
          <a:ln/>
        </p:spPr>
        <p:txBody>
          <a:bodyPr wrap="square" lIns="0" tIns="0" rIns="0" bIns="0" rtlCol="0" anchor="t"/>
          <a:lstStyle/>
          <a:p>
            <a:pPr marL="0" indent="0" algn="l">
              <a:lnSpc>
                <a:spcPct val="108000"/>
              </a:lnSpc>
              <a:buNone/>
            </a:pPr>
            <a:r>
              <a:rPr lang="en-US" sz="1000" dirty="0">
                <a:solidFill>
                  <a:srgbClr val="4A5769"/>
                </a:solidFill>
                <a:latin typeface="Calibri" pitchFamily="34" charset="0"/>
                <a:ea typeface="Calibri" pitchFamily="34" charset="-122"/>
                <a:cs typeface="Calibri" pitchFamily="34" charset="-120"/>
              </a:rPr>
              <a:t>sauvegardes versionnées, impossibles à écraser</a:t>
            </a:r>
            <a:endParaRPr lang="en-US" sz="1000" dirty="0"/>
          </a:p>
        </p:txBody>
      </p:sp>
      <p:sp>
        <p:nvSpPr>
          <p:cNvPr id="17" name="Shape 15"/>
          <p:cNvSpPr/>
          <p:nvPr/>
        </p:nvSpPr>
        <p:spPr>
          <a:xfrm>
            <a:off x="1444752" y="2542032"/>
            <a:ext cx="6254496" cy="493776"/>
          </a:xfrm>
          <a:prstGeom prst="roundRect">
            <a:avLst>
              <a:gd name="adj" fmla="val 11111"/>
            </a:avLst>
          </a:prstGeom>
          <a:solidFill>
            <a:srgbClr val="F4F7FA"/>
          </a:solidFill>
          <a:ln w="12700">
            <a:solidFill>
              <a:srgbClr val="B03A48"/>
            </a:solidFill>
            <a:prstDash val="solid"/>
          </a:ln>
        </p:spPr>
        <p:txBody>
          <a:bodyPr/>
          <a:lstStyle/>
          <a:p>
            <a:endParaRPr lang="fr-FR"/>
          </a:p>
        </p:txBody>
      </p:sp>
      <p:sp>
        <p:nvSpPr>
          <p:cNvPr id="18" name="Text 16"/>
          <p:cNvSpPr/>
          <p:nvPr/>
        </p:nvSpPr>
        <p:spPr>
          <a:xfrm>
            <a:off x="1627632" y="2624328"/>
            <a:ext cx="5888736" cy="182880"/>
          </a:xfrm>
          <a:prstGeom prst="rect">
            <a:avLst/>
          </a:prstGeom>
          <a:noFill/>
          <a:ln/>
        </p:spPr>
        <p:txBody>
          <a:bodyPr wrap="square" lIns="0" tIns="0" rIns="0" bIns="0" rtlCol="0" anchor="t"/>
          <a:lstStyle/>
          <a:p>
            <a:pPr marL="0" indent="0" algn="l">
              <a:lnSpc>
                <a:spcPct val="108000"/>
              </a:lnSpc>
              <a:buNone/>
            </a:pPr>
            <a:r>
              <a:rPr lang="en-US" sz="950" b="1" dirty="0">
                <a:solidFill>
                  <a:srgbClr val="B03A48"/>
                </a:solidFill>
                <a:latin typeface="Calibri" pitchFamily="34" charset="0"/>
                <a:ea typeface="Calibri" pitchFamily="34" charset="-122"/>
                <a:cs typeface="Calibri" pitchFamily="34" charset="-120"/>
              </a:rPr>
              <a:t>CE QU'EXIGE LA LOI</a:t>
            </a:r>
            <a:endParaRPr lang="en-US" sz="950" dirty="0"/>
          </a:p>
        </p:txBody>
      </p:sp>
      <p:sp>
        <p:nvSpPr>
          <p:cNvPr id="19" name="Text 17"/>
          <p:cNvSpPr/>
          <p:nvPr/>
        </p:nvSpPr>
        <p:spPr>
          <a:xfrm>
            <a:off x="1627632" y="2807208"/>
            <a:ext cx="5888736" cy="219456"/>
          </a:xfrm>
          <a:prstGeom prst="rect">
            <a:avLst/>
          </a:prstGeom>
          <a:noFill/>
          <a:ln/>
        </p:spPr>
        <p:txBody>
          <a:bodyPr wrap="square" lIns="0" tIns="0" rIns="0" bIns="0" rtlCol="0" anchor="t"/>
          <a:lstStyle/>
          <a:p>
            <a:pPr marL="0" indent="0" algn="l">
              <a:lnSpc>
                <a:spcPct val="108000"/>
              </a:lnSpc>
              <a:buNone/>
            </a:pPr>
            <a:r>
              <a:rPr lang="en-US" sz="1000" dirty="0">
                <a:solidFill>
                  <a:srgbClr val="4A5769"/>
                </a:solidFill>
                <a:latin typeface="Calibri" pitchFamily="34" charset="0"/>
                <a:ea typeface="Calibri" pitchFamily="34" charset="-122"/>
                <a:cs typeface="Calibri" pitchFamily="34" charset="-120"/>
              </a:rPr>
              <a:t>ne collecter que le nécessaire · effacer vraiment · héberger en Europe</a:t>
            </a:r>
            <a:endParaRPr lang="en-US" sz="1000" dirty="0"/>
          </a:p>
        </p:txBody>
      </p:sp>
      <p:sp>
        <p:nvSpPr>
          <p:cNvPr id="20" name="Text 18"/>
          <p:cNvSpPr/>
          <p:nvPr/>
        </p:nvSpPr>
        <p:spPr>
          <a:xfrm>
            <a:off x="2103120" y="3602736"/>
            <a:ext cx="4937760" cy="219456"/>
          </a:xfrm>
          <a:prstGeom prst="rect">
            <a:avLst/>
          </a:prstGeom>
          <a:noFill/>
          <a:ln/>
        </p:spPr>
        <p:txBody>
          <a:bodyPr wrap="square" lIns="0" tIns="0" rIns="0" bIns="0" rtlCol="0" anchor="t"/>
          <a:lstStyle/>
          <a:p>
            <a:pPr marL="0" indent="0" algn="ctr">
              <a:lnSpc>
                <a:spcPct val="108000"/>
              </a:lnSpc>
              <a:buNone/>
            </a:pPr>
            <a:r>
              <a:rPr lang="en-US" sz="1200" b="1" dirty="0">
                <a:solidFill>
                  <a:srgbClr val="12263F"/>
                </a:solidFill>
                <a:latin typeface="Calibri" pitchFamily="34" charset="0"/>
                <a:ea typeface="Calibri" pitchFamily="34" charset="-122"/>
                <a:cs typeface="Calibri" pitchFamily="34" charset="-120"/>
              </a:rPr>
              <a:t>LES DONNÉES</a:t>
            </a:r>
            <a:endParaRPr lang="en-US" sz="1200" dirty="0"/>
          </a:p>
        </p:txBody>
      </p:sp>
      <p:sp>
        <p:nvSpPr>
          <p:cNvPr id="21" name="Text 19"/>
          <p:cNvSpPr/>
          <p:nvPr/>
        </p:nvSpPr>
        <p:spPr>
          <a:xfrm>
            <a:off x="292608" y="3877056"/>
            <a:ext cx="8558784" cy="201168"/>
          </a:xfrm>
          <a:prstGeom prst="rect">
            <a:avLst/>
          </a:prstGeom>
          <a:noFill/>
          <a:ln/>
        </p:spPr>
        <p:txBody>
          <a:bodyPr wrap="square" lIns="0" tIns="0" rIns="0" bIns="0" rtlCol="0" anchor="t"/>
          <a:lstStyle/>
          <a:p>
            <a:pPr marL="0" indent="0" algn="ctr">
              <a:lnSpc>
                <a:spcPct val="108000"/>
              </a:lnSpc>
              <a:buNone/>
            </a:pPr>
            <a:r>
              <a:rPr lang="en-US" sz="1000" dirty="0">
                <a:solidFill>
                  <a:srgbClr val="4A5769"/>
                </a:solidFill>
                <a:latin typeface="Calibri" pitchFamily="34" charset="0"/>
                <a:ea typeface="Calibri" pitchFamily="34" charset="-122"/>
                <a:cs typeface="Calibri" pitchFamily="34" charset="-120"/>
              </a:rPr>
              <a:t>Chaque exigence correspond à un test automatique. Sinon, ce n'est pas une exigence : c'est une intention.</a:t>
            </a:r>
            <a:endParaRPr lang="en-US" sz="1000" dirty="0"/>
          </a:p>
        </p:txBody>
      </p:sp>
      <p:sp>
        <p:nvSpPr>
          <p:cNvPr id="22" name="Shape 20"/>
          <p:cNvSpPr/>
          <p:nvPr/>
        </p:nvSpPr>
        <p:spPr>
          <a:xfrm>
            <a:off x="292608" y="4224528"/>
            <a:ext cx="8558784" cy="475488"/>
          </a:xfrm>
          <a:prstGeom prst="rect">
            <a:avLst/>
          </a:prstGeom>
          <a:solidFill>
            <a:srgbClr val="12263F"/>
          </a:solidFill>
          <a:ln/>
        </p:spPr>
        <p:txBody>
          <a:bodyPr/>
          <a:lstStyle/>
          <a:p>
            <a:endParaRPr lang="fr-FR"/>
          </a:p>
        </p:txBody>
      </p:sp>
      <p:sp>
        <p:nvSpPr>
          <p:cNvPr id="23" name="Shape 21"/>
          <p:cNvSpPr/>
          <p:nvPr/>
        </p:nvSpPr>
        <p:spPr>
          <a:xfrm>
            <a:off x="292608" y="4224528"/>
            <a:ext cx="45720" cy="475488"/>
          </a:xfrm>
          <a:prstGeom prst="rect">
            <a:avLst/>
          </a:prstGeom>
          <a:solidFill>
            <a:srgbClr val="E08A3C"/>
          </a:solidFill>
          <a:ln/>
        </p:spPr>
        <p:txBody>
          <a:bodyPr/>
          <a:lstStyle/>
          <a:p>
            <a:endParaRPr lang="fr-FR"/>
          </a:p>
        </p:txBody>
      </p:sp>
      <p:sp>
        <p:nvSpPr>
          <p:cNvPr id="24" name="Text 22"/>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Chaque exigence correspond à un test automatique. Sinon, ce n'est pas une exigence : c'est une intention.</a:t>
            </a:r>
            <a:endParaRPr lang="en-US" sz="1150" dirty="0"/>
          </a:p>
        </p:txBody>
      </p:sp>
      <p:sp>
        <p:nvSpPr>
          <p:cNvPr id="25" name="Text 23"/>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4.3 - Exigences Spécifiques en Matière de Sécurité ou de Traitement des Données</a:t>
            </a:r>
            <a:endParaRPr lang="en-US" sz="750" dirty="0"/>
          </a:p>
        </p:txBody>
      </p:sp>
      <p:sp>
        <p:nvSpPr>
          <p:cNvPr id="26" name="Text 24"/>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4. Besoins fonctionnels</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16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4.4 - Validation des Besoins avec les Parties Prenantes</a:t>
            </a:r>
            <a:endParaRPr lang="en-US" sz="2200" dirty="0"/>
          </a:p>
        </p:txBody>
      </p:sp>
      <p:sp>
        <p:nvSpPr>
          <p:cNvPr id="7" name="Text 5"/>
          <p:cNvSpPr/>
          <p:nvPr/>
        </p:nvSpPr>
        <p:spPr>
          <a:xfrm>
            <a:off x="292608" y="1024128"/>
            <a:ext cx="8558784" cy="201168"/>
          </a:xfrm>
          <a:prstGeom prst="rect">
            <a:avLst/>
          </a:prstGeom>
          <a:noFill/>
          <a:ln/>
        </p:spPr>
        <p:txBody>
          <a:bodyPr wrap="square" lIns="0" tIns="0" rIns="0" bIns="0" rtlCol="0" anchor="ctr"/>
          <a:lstStyle/>
          <a:p>
            <a:pPr marL="0" indent="0">
              <a:buNone/>
            </a:pPr>
            <a:r>
              <a:rPr lang="en-US" sz="1050" dirty="0">
                <a:solidFill>
                  <a:srgbClr val="4A5769"/>
                </a:solidFill>
                <a:latin typeface="Calibri" pitchFamily="34" charset="0"/>
                <a:ea typeface="Calibri" pitchFamily="34" charset="-122"/>
                <a:cs typeface="Calibri" pitchFamily="34" charset="-120"/>
              </a:rPr>
              <a:t>Trois revues successives, et ce que chacune a changé.</a:t>
            </a:r>
            <a:endParaRPr lang="en-US" sz="1050" dirty="0"/>
          </a:p>
        </p:txBody>
      </p:sp>
      <p:sp>
        <p:nvSpPr>
          <p:cNvPr id="8" name="Shape 6"/>
          <p:cNvSpPr/>
          <p:nvPr/>
        </p:nvSpPr>
        <p:spPr>
          <a:xfrm>
            <a:off x="292608" y="1371600"/>
            <a:ext cx="2779776" cy="969264"/>
          </a:xfrm>
          <a:prstGeom prst="rect">
            <a:avLst/>
          </a:prstGeom>
          <a:solidFill>
            <a:srgbClr val="FFFFFF"/>
          </a:solidFill>
          <a:ln w="12700">
            <a:solidFill>
              <a:srgbClr val="12855A"/>
            </a:solidFill>
            <a:prstDash val="solid"/>
          </a:ln>
        </p:spPr>
        <p:txBody>
          <a:bodyPr/>
          <a:lstStyle/>
          <a:p>
            <a:endParaRPr lang="fr-FR"/>
          </a:p>
        </p:txBody>
      </p:sp>
      <p:sp>
        <p:nvSpPr>
          <p:cNvPr id="9" name="Shape 7"/>
          <p:cNvSpPr/>
          <p:nvPr/>
        </p:nvSpPr>
        <p:spPr>
          <a:xfrm>
            <a:off x="292608" y="1371600"/>
            <a:ext cx="2779776" cy="256032"/>
          </a:xfrm>
          <a:prstGeom prst="rect">
            <a:avLst/>
          </a:prstGeom>
          <a:solidFill>
            <a:srgbClr val="12855A"/>
          </a:solidFill>
          <a:ln/>
        </p:spPr>
        <p:txBody>
          <a:bodyPr/>
          <a:lstStyle/>
          <a:p>
            <a:endParaRPr lang="fr-FR"/>
          </a:p>
        </p:txBody>
      </p:sp>
      <p:sp>
        <p:nvSpPr>
          <p:cNvPr id="10" name="Text 8"/>
          <p:cNvSpPr/>
          <p:nvPr/>
        </p:nvSpPr>
        <p:spPr>
          <a:xfrm>
            <a:off x="420624" y="1371600"/>
            <a:ext cx="2523744" cy="256032"/>
          </a:xfrm>
          <a:prstGeom prst="rect">
            <a:avLst/>
          </a:prstGeom>
          <a:noFill/>
          <a:ln/>
        </p:spPr>
        <p:txBody>
          <a:bodyPr wrap="square" lIns="0" tIns="0" rIns="0" bIns="0" rtlCol="0" anchor="ctr"/>
          <a:lstStyle/>
          <a:p>
            <a:pPr marL="0" indent="0" algn="l">
              <a:lnSpc>
                <a:spcPct val="108000"/>
              </a:lnSpc>
              <a:buNone/>
            </a:pPr>
            <a:r>
              <a:rPr lang="en-US" sz="900" b="1" dirty="0">
                <a:solidFill>
                  <a:srgbClr val="FFFFFF"/>
                </a:solidFill>
                <a:latin typeface="Calibri" pitchFamily="34" charset="0"/>
                <a:ea typeface="Calibri" pitchFamily="34" charset="-122"/>
                <a:cs typeface="Calibri" pitchFamily="34" charset="-120"/>
              </a:rPr>
              <a:t>REVUE 1 · Cas d'utilisation</a:t>
            </a:r>
            <a:endParaRPr lang="en-US" sz="900" dirty="0"/>
          </a:p>
        </p:txBody>
      </p:sp>
      <p:sp>
        <p:nvSpPr>
          <p:cNvPr id="11" name="Text 9"/>
          <p:cNvSpPr/>
          <p:nvPr/>
        </p:nvSpPr>
        <p:spPr>
          <a:xfrm>
            <a:off x="438912" y="1700784"/>
            <a:ext cx="2487168" cy="164592"/>
          </a:xfrm>
          <a:prstGeom prst="rect">
            <a:avLst/>
          </a:prstGeom>
          <a:noFill/>
          <a:ln/>
        </p:spPr>
        <p:txBody>
          <a:bodyPr wrap="square" lIns="0" tIns="0" rIns="0" bIns="0" rtlCol="0" anchor="t"/>
          <a:lstStyle/>
          <a:p>
            <a:pPr marL="0" indent="0" algn="l">
              <a:lnSpc>
                <a:spcPct val="108000"/>
              </a:lnSpc>
              <a:buNone/>
            </a:pPr>
            <a:r>
              <a:rPr lang="en-US" sz="750" b="1" dirty="0">
                <a:solidFill>
                  <a:srgbClr val="8FA6BC"/>
                </a:solidFill>
                <a:latin typeface="Calibri" pitchFamily="34" charset="0"/>
                <a:ea typeface="Calibri" pitchFamily="34" charset="-122"/>
                <a:cs typeface="Calibri" pitchFamily="34" charset="-120"/>
              </a:rPr>
              <a:t>Ce que ça a changé</a:t>
            </a:r>
            <a:endParaRPr lang="en-US" sz="750" dirty="0"/>
          </a:p>
        </p:txBody>
      </p:sp>
      <p:sp>
        <p:nvSpPr>
          <p:cNvPr id="12" name="Text 10"/>
          <p:cNvSpPr/>
          <p:nvPr/>
        </p:nvSpPr>
        <p:spPr>
          <a:xfrm>
            <a:off x="438912" y="1883664"/>
            <a:ext cx="2487168" cy="402336"/>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Publier devient un acte séparé du dépôt</a:t>
            </a:r>
            <a:endParaRPr lang="en-US" sz="1050" dirty="0"/>
          </a:p>
        </p:txBody>
      </p:sp>
      <p:sp>
        <p:nvSpPr>
          <p:cNvPr id="13" name="Shape 11"/>
          <p:cNvSpPr/>
          <p:nvPr/>
        </p:nvSpPr>
        <p:spPr>
          <a:xfrm>
            <a:off x="3108960" y="1856232"/>
            <a:ext cx="36576" cy="0"/>
          </a:xfrm>
          <a:prstGeom prst="line">
            <a:avLst/>
          </a:prstGeom>
          <a:noFill/>
          <a:ln w="22225">
            <a:solidFill>
              <a:srgbClr val="8FA6BC"/>
            </a:solidFill>
            <a:prstDash val="solid"/>
            <a:tailEnd type="triangle"/>
          </a:ln>
        </p:spPr>
        <p:txBody>
          <a:bodyPr/>
          <a:lstStyle/>
          <a:p>
            <a:endParaRPr lang="fr-FR"/>
          </a:p>
        </p:txBody>
      </p:sp>
      <p:sp>
        <p:nvSpPr>
          <p:cNvPr id="14" name="Shape 12"/>
          <p:cNvSpPr/>
          <p:nvPr/>
        </p:nvSpPr>
        <p:spPr>
          <a:xfrm>
            <a:off x="3182112" y="1371600"/>
            <a:ext cx="2779776" cy="969264"/>
          </a:xfrm>
          <a:prstGeom prst="rect">
            <a:avLst/>
          </a:prstGeom>
          <a:solidFill>
            <a:srgbClr val="FFFFFF"/>
          </a:solidFill>
          <a:ln w="12700">
            <a:solidFill>
              <a:srgbClr val="1B6EC2"/>
            </a:solidFill>
            <a:prstDash val="solid"/>
          </a:ln>
        </p:spPr>
        <p:txBody>
          <a:bodyPr/>
          <a:lstStyle/>
          <a:p>
            <a:endParaRPr lang="fr-FR"/>
          </a:p>
        </p:txBody>
      </p:sp>
      <p:sp>
        <p:nvSpPr>
          <p:cNvPr id="15" name="Shape 13"/>
          <p:cNvSpPr/>
          <p:nvPr/>
        </p:nvSpPr>
        <p:spPr>
          <a:xfrm>
            <a:off x="3182112" y="1371600"/>
            <a:ext cx="2779776" cy="256032"/>
          </a:xfrm>
          <a:prstGeom prst="rect">
            <a:avLst/>
          </a:prstGeom>
          <a:solidFill>
            <a:srgbClr val="1B6EC2"/>
          </a:solidFill>
          <a:ln/>
        </p:spPr>
        <p:txBody>
          <a:bodyPr/>
          <a:lstStyle/>
          <a:p>
            <a:endParaRPr lang="fr-FR"/>
          </a:p>
        </p:txBody>
      </p:sp>
      <p:sp>
        <p:nvSpPr>
          <p:cNvPr id="16" name="Text 14"/>
          <p:cNvSpPr/>
          <p:nvPr/>
        </p:nvSpPr>
        <p:spPr>
          <a:xfrm>
            <a:off x="3310128" y="1371600"/>
            <a:ext cx="2523744" cy="256032"/>
          </a:xfrm>
          <a:prstGeom prst="rect">
            <a:avLst/>
          </a:prstGeom>
          <a:noFill/>
          <a:ln/>
        </p:spPr>
        <p:txBody>
          <a:bodyPr wrap="square" lIns="0" tIns="0" rIns="0" bIns="0" rtlCol="0" anchor="ctr"/>
          <a:lstStyle/>
          <a:p>
            <a:pPr marL="0" indent="0" algn="l">
              <a:lnSpc>
                <a:spcPct val="108000"/>
              </a:lnSpc>
              <a:buNone/>
            </a:pPr>
            <a:r>
              <a:rPr lang="en-US" sz="900" b="1" dirty="0">
                <a:solidFill>
                  <a:srgbClr val="FFFFFF"/>
                </a:solidFill>
                <a:latin typeface="Calibri" pitchFamily="34" charset="0"/>
                <a:ea typeface="Calibri" pitchFamily="34" charset="-122"/>
                <a:cs typeface="Calibri" pitchFamily="34" charset="-120"/>
              </a:rPr>
              <a:t>REVUE 2 · Performance et sécurité</a:t>
            </a:r>
            <a:endParaRPr lang="en-US" sz="900" dirty="0"/>
          </a:p>
        </p:txBody>
      </p:sp>
      <p:sp>
        <p:nvSpPr>
          <p:cNvPr id="17" name="Text 15"/>
          <p:cNvSpPr/>
          <p:nvPr/>
        </p:nvSpPr>
        <p:spPr>
          <a:xfrm>
            <a:off x="3328416" y="1700784"/>
            <a:ext cx="2487168" cy="164592"/>
          </a:xfrm>
          <a:prstGeom prst="rect">
            <a:avLst/>
          </a:prstGeom>
          <a:noFill/>
          <a:ln/>
        </p:spPr>
        <p:txBody>
          <a:bodyPr wrap="square" lIns="0" tIns="0" rIns="0" bIns="0" rtlCol="0" anchor="t"/>
          <a:lstStyle/>
          <a:p>
            <a:pPr marL="0" indent="0" algn="l">
              <a:lnSpc>
                <a:spcPct val="108000"/>
              </a:lnSpc>
              <a:buNone/>
            </a:pPr>
            <a:r>
              <a:rPr lang="en-US" sz="750" b="1" dirty="0">
                <a:solidFill>
                  <a:srgbClr val="8FA6BC"/>
                </a:solidFill>
                <a:latin typeface="Calibri" pitchFamily="34" charset="0"/>
                <a:ea typeface="Calibri" pitchFamily="34" charset="-122"/>
                <a:cs typeface="Calibri" pitchFamily="34" charset="-120"/>
              </a:rPr>
              <a:t>Ce que ça a changé</a:t>
            </a:r>
            <a:endParaRPr lang="en-US" sz="750" dirty="0"/>
          </a:p>
        </p:txBody>
      </p:sp>
      <p:sp>
        <p:nvSpPr>
          <p:cNvPr id="18" name="Text 16"/>
          <p:cNvSpPr/>
          <p:nvPr/>
        </p:nvSpPr>
        <p:spPr>
          <a:xfrm>
            <a:off x="3328416" y="1883664"/>
            <a:ext cx="2487168" cy="402336"/>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Des limites adaptées à chaque action</a:t>
            </a:r>
            <a:endParaRPr lang="en-US" sz="1050" dirty="0"/>
          </a:p>
        </p:txBody>
      </p:sp>
      <p:sp>
        <p:nvSpPr>
          <p:cNvPr id="19" name="Shape 17"/>
          <p:cNvSpPr/>
          <p:nvPr/>
        </p:nvSpPr>
        <p:spPr>
          <a:xfrm>
            <a:off x="5998464" y="1856232"/>
            <a:ext cx="36576" cy="0"/>
          </a:xfrm>
          <a:prstGeom prst="line">
            <a:avLst/>
          </a:prstGeom>
          <a:noFill/>
          <a:ln w="22225">
            <a:solidFill>
              <a:srgbClr val="8FA6BC"/>
            </a:solidFill>
            <a:prstDash val="solid"/>
            <a:tailEnd type="triangle"/>
          </a:ln>
        </p:spPr>
        <p:txBody>
          <a:bodyPr/>
          <a:lstStyle/>
          <a:p>
            <a:endParaRPr lang="fr-FR"/>
          </a:p>
        </p:txBody>
      </p:sp>
      <p:sp>
        <p:nvSpPr>
          <p:cNvPr id="20" name="Shape 18"/>
          <p:cNvSpPr/>
          <p:nvPr/>
        </p:nvSpPr>
        <p:spPr>
          <a:xfrm>
            <a:off x="6071616" y="1371600"/>
            <a:ext cx="2779776" cy="969264"/>
          </a:xfrm>
          <a:prstGeom prst="rect">
            <a:avLst/>
          </a:prstGeom>
          <a:solidFill>
            <a:srgbClr val="FFFFFF"/>
          </a:solidFill>
          <a:ln w="12700">
            <a:solidFill>
              <a:srgbClr val="B03A48"/>
            </a:solidFill>
            <a:prstDash val="solid"/>
          </a:ln>
        </p:spPr>
        <p:txBody>
          <a:bodyPr/>
          <a:lstStyle/>
          <a:p>
            <a:endParaRPr lang="fr-FR"/>
          </a:p>
        </p:txBody>
      </p:sp>
      <p:sp>
        <p:nvSpPr>
          <p:cNvPr id="21" name="Shape 19"/>
          <p:cNvSpPr/>
          <p:nvPr/>
        </p:nvSpPr>
        <p:spPr>
          <a:xfrm>
            <a:off x="6071616" y="1371600"/>
            <a:ext cx="2779776" cy="256032"/>
          </a:xfrm>
          <a:prstGeom prst="rect">
            <a:avLst/>
          </a:prstGeom>
          <a:solidFill>
            <a:srgbClr val="B03A48"/>
          </a:solidFill>
          <a:ln/>
        </p:spPr>
        <p:txBody>
          <a:bodyPr/>
          <a:lstStyle/>
          <a:p>
            <a:endParaRPr lang="fr-FR"/>
          </a:p>
        </p:txBody>
      </p:sp>
      <p:sp>
        <p:nvSpPr>
          <p:cNvPr id="22" name="Text 20"/>
          <p:cNvSpPr/>
          <p:nvPr/>
        </p:nvSpPr>
        <p:spPr>
          <a:xfrm>
            <a:off x="6199632" y="1371600"/>
            <a:ext cx="2523744" cy="256032"/>
          </a:xfrm>
          <a:prstGeom prst="rect">
            <a:avLst/>
          </a:prstGeom>
          <a:noFill/>
          <a:ln/>
        </p:spPr>
        <p:txBody>
          <a:bodyPr wrap="square" lIns="0" tIns="0" rIns="0" bIns="0" rtlCol="0" anchor="ctr"/>
          <a:lstStyle/>
          <a:p>
            <a:pPr marL="0" indent="0" algn="l">
              <a:lnSpc>
                <a:spcPct val="108000"/>
              </a:lnSpc>
              <a:buNone/>
            </a:pPr>
            <a:r>
              <a:rPr lang="en-US" sz="900" b="1" dirty="0">
                <a:solidFill>
                  <a:srgbClr val="FFFFFF"/>
                </a:solidFill>
                <a:latin typeface="Calibri" pitchFamily="34" charset="0"/>
                <a:ea typeface="Calibri" pitchFamily="34" charset="-122"/>
                <a:cs typeface="Calibri" pitchFamily="34" charset="-120"/>
              </a:rPr>
              <a:t>REVUE 3 · Conformité</a:t>
            </a:r>
            <a:endParaRPr lang="en-US" sz="900" dirty="0"/>
          </a:p>
        </p:txBody>
      </p:sp>
      <p:sp>
        <p:nvSpPr>
          <p:cNvPr id="23" name="Text 21"/>
          <p:cNvSpPr/>
          <p:nvPr/>
        </p:nvSpPr>
        <p:spPr>
          <a:xfrm>
            <a:off x="6217920" y="1700784"/>
            <a:ext cx="2487168" cy="164592"/>
          </a:xfrm>
          <a:prstGeom prst="rect">
            <a:avLst/>
          </a:prstGeom>
          <a:noFill/>
          <a:ln/>
        </p:spPr>
        <p:txBody>
          <a:bodyPr wrap="square" lIns="0" tIns="0" rIns="0" bIns="0" rtlCol="0" anchor="t"/>
          <a:lstStyle/>
          <a:p>
            <a:pPr marL="0" indent="0" algn="l">
              <a:lnSpc>
                <a:spcPct val="108000"/>
              </a:lnSpc>
              <a:buNone/>
            </a:pPr>
            <a:r>
              <a:rPr lang="en-US" sz="750" b="1" dirty="0">
                <a:solidFill>
                  <a:srgbClr val="8FA6BC"/>
                </a:solidFill>
                <a:latin typeface="Calibri" pitchFamily="34" charset="0"/>
                <a:ea typeface="Calibri" pitchFamily="34" charset="-122"/>
                <a:cs typeface="Calibri" pitchFamily="34" charset="-120"/>
              </a:rPr>
              <a:t>Ce que ça a changé</a:t>
            </a:r>
            <a:endParaRPr lang="en-US" sz="750" dirty="0"/>
          </a:p>
        </p:txBody>
      </p:sp>
      <p:sp>
        <p:nvSpPr>
          <p:cNvPr id="24" name="Text 22"/>
          <p:cNvSpPr/>
          <p:nvPr/>
        </p:nvSpPr>
        <p:spPr>
          <a:xfrm>
            <a:off x="6217920" y="1883664"/>
            <a:ext cx="2487168" cy="402336"/>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Supprimer son compte efface aussi les fichiers</a:t>
            </a:r>
            <a:endParaRPr lang="en-US" sz="1050" dirty="0"/>
          </a:p>
        </p:txBody>
      </p:sp>
      <p:sp>
        <p:nvSpPr>
          <p:cNvPr id="25" name="Text 23"/>
          <p:cNvSpPr/>
          <p:nvPr/>
        </p:nvSpPr>
        <p:spPr>
          <a:xfrm>
            <a:off x="292608" y="2560320"/>
            <a:ext cx="8558784" cy="164592"/>
          </a:xfrm>
          <a:prstGeom prst="rect">
            <a:avLst/>
          </a:prstGeom>
          <a:noFill/>
          <a:ln/>
        </p:spPr>
        <p:txBody>
          <a:bodyPr wrap="square" lIns="0" tIns="0" rIns="0" bIns="0" rtlCol="0" anchor="t"/>
          <a:lstStyle/>
          <a:p>
            <a:pPr marL="0" indent="0" algn="l">
              <a:lnSpc>
                <a:spcPct val="108000"/>
              </a:lnSpc>
              <a:buNone/>
            </a:pPr>
            <a:r>
              <a:rPr lang="en-US" sz="800" b="1" dirty="0">
                <a:solidFill>
                  <a:srgbClr val="8FA6BC"/>
                </a:solidFill>
                <a:latin typeface="Calibri" pitchFamily="34" charset="0"/>
                <a:ea typeface="Calibri" pitchFamily="34" charset="-122"/>
                <a:cs typeface="Calibri" pitchFamily="34" charset="-120"/>
              </a:rPr>
              <a:t>QUI A VALIDÉ</a:t>
            </a:r>
            <a:endParaRPr lang="en-US" sz="800" dirty="0"/>
          </a:p>
        </p:txBody>
      </p:sp>
      <p:sp>
        <p:nvSpPr>
          <p:cNvPr id="26" name="Shape 24"/>
          <p:cNvSpPr/>
          <p:nvPr/>
        </p:nvSpPr>
        <p:spPr>
          <a:xfrm>
            <a:off x="292608" y="2779776"/>
            <a:ext cx="2029968" cy="548640"/>
          </a:xfrm>
          <a:prstGeom prst="roundRect">
            <a:avLst>
              <a:gd name="adj" fmla="val 8333"/>
            </a:avLst>
          </a:prstGeom>
          <a:solidFill>
            <a:srgbClr val="FFFFFF"/>
          </a:solidFill>
          <a:ln w="12700">
            <a:solidFill>
              <a:srgbClr val="12855A"/>
            </a:solidFill>
            <a:prstDash val="solid"/>
          </a:ln>
        </p:spPr>
        <p:txBody>
          <a:bodyPr/>
          <a:lstStyle/>
          <a:p>
            <a:endParaRPr lang="fr-FR"/>
          </a:p>
        </p:txBody>
      </p:sp>
      <p:sp>
        <p:nvSpPr>
          <p:cNvPr id="27" name="Text 25"/>
          <p:cNvSpPr/>
          <p:nvPr/>
        </p:nvSpPr>
        <p:spPr>
          <a:xfrm>
            <a:off x="420624" y="2852928"/>
            <a:ext cx="1773936" cy="182880"/>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Porteur du produit</a:t>
            </a:r>
            <a:endParaRPr lang="en-US" sz="1050" dirty="0"/>
          </a:p>
        </p:txBody>
      </p:sp>
      <p:sp>
        <p:nvSpPr>
          <p:cNvPr id="28" name="Text 26"/>
          <p:cNvSpPr/>
          <p:nvPr/>
        </p:nvSpPr>
        <p:spPr>
          <a:xfrm>
            <a:off x="420624" y="3054096"/>
            <a:ext cx="1773936" cy="201168"/>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périmètre et priorités</a:t>
            </a:r>
            <a:endParaRPr lang="en-US" sz="850" dirty="0"/>
          </a:p>
        </p:txBody>
      </p:sp>
      <p:sp>
        <p:nvSpPr>
          <p:cNvPr id="29" name="Shape 27"/>
          <p:cNvSpPr/>
          <p:nvPr/>
        </p:nvSpPr>
        <p:spPr>
          <a:xfrm>
            <a:off x="2468880" y="2779776"/>
            <a:ext cx="2029968" cy="548640"/>
          </a:xfrm>
          <a:prstGeom prst="roundRect">
            <a:avLst>
              <a:gd name="adj" fmla="val 8333"/>
            </a:avLst>
          </a:prstGeom>
          <a:solidFill>
            <a:srgbClr val="FFFFFF"/>
          </a:solidFill>
          <a:ln w="12700">
            <a:solidFill>
              <a:srgbClr val="1B6EC2"/>
            </a:solidFill>
            <a:prstDash val="solid"/>
          </a:ln>
        </p:spPr>
        <p:txBody>
          <a:bodyPr/>
          <a:lstStyle/>
          <a:p>
            <a:endParaRPr lang="fr-FR"/>
          </a:p>
        </p:txBody>
      </p:sp>
      <p:sp>
        <p:nvSpPr>
          <p:cNvPr id="30" name="Text 28"/>
          <p:cNvSpPr/>
          <p:nvPr/>
        </p:nvSpPr>
        <p:spPr>
          <a:xfrm>
            <a:off x="2596896" y="2852928"/>
            <a:ext cx="1773936" cy="182880"/>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Utilisateurs cibles</a:t>
            </a:r>
            <a:endParaRPr lang="en-US" sz="1050" dirty="0"/>
          </a:p>
        </p:txBody>
      </p:sp>
      <p:sp>
        <p:nvSpPr>
          <p:cNvPr id="31" name="Text 29"/>
          <p:cNvSpPr/>
          <p:nvPr/>
        </p:nvSpPr>
        <p:spPr>
          <a:xfrm>
            <a:off x="2596896" y="3054096"/>
            <a:ext cx="1773936" cy="201168"/>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le parcours est-il complet ?</a:t>
            </a:r>
            <a:endParaRPr lang="en-US" sz="850" dirty="0"/>
          </a:p>
        </p:txBody>
      </p:sp>
      <p:sp>
        <p:nvSpPr>
          <p:cNvPr id="32" name="Shape 30"/>
          <p:cNvSpPr/>
          <p:nvPr/>
        </p:nvSpPr>
        <p:spPr>
          <a:xfrm>
            <a:off x="4645152" y="2779776"/>
            <a:ext cx="2029968" cy="548640"/>
          </a:xfrm>
          <a:prstGeom prst="roundRect">
            <a:avLst>
              <a:gd name="adj" fmla="val 8333"/>
            </a:avLst>
          </a:prstGeom>
          <a:solidFill>
            <a:srgbClr val="FFFFFF"/>
          </a:solidFill>
          <a:ln w="12700">
            <a:solidFill>
              <a:srgbClr val="E08A3C"/>
            </a:solidFill>
            <a:prstDash val="solid"/>
          </a:ln>
        </p:spPr>
        <p:txBody>
          <a:bodyPr/>
          <a:lstStyle/>
          <a:p>
            <a:endParaRPr lang="fr-FR"/>
          </a:p>
        </p:txBody>
      </p:sp>
      <p:sp>
        <p:nvSpPr>
          <p:cNvPr id="33" name="Text 31"/>
          <p:cNvSpPr/>
          <p:nvPr/>
        </p:nvSpPr>
        <p:spPr>
          <a:xfrm>
            <a:off x="4773168" y="2852928"/>
            <a:ext cx="1773936" cy="182880"/>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Sponsor</a:t>
            </a:r>
            <a:endParaRPr lang="en-US" sz="1050" dirty="0"/>
          </a:p>
        </p:txBody>
      </p:sp>
      <p:sp>
        <p:nvSpPr>
          <p:cNvPr id="34" name="Text 32"/>
          <p:cNvSpPr/>
          <p:nvPr/>
        </p:nvSpPr>
        <p:spPr>
          <a:xfrm>
            <a:off x="4773168" y="3054096"/>
            <a:ext cx="1773936" cy="201168"/>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budget et délais</a:t>
            </a:r>
            <a:endParaRPr lang="en-US" sz="850" dirty="0"/>
          </a:p>
        </p:txBody>
      </p:sp>
      <p:sp>
        <p:nvSpPr>
          <p:cNvPr id="35" name="Shape 33"/>
          <p:cNvSpPr/>
          <p:nvPr/>
        </p:nvSpPr>
        <p:spPr>
          <a:xfrm>
            <a:off x="6821424" y="2779776"/>
            <a:ext cx="2029968" cy="548640"/>
          </a:xfrm>
          <a:prstGeom prst="roundRect">
            <a:avLst>
              <a:gd name="adj" fmla="val 8333"/>
            </a:avLst>
          </a:prstGeom>
          <a:solidFill>
            <a:srgbClr val="FFFFFF"/>
          </a:solidFill>
          <a:ln w="12700">
            <a:solidFill>
              <a:srgbClr val="B03A48"/>
            </a:solidFill>
            <a:prstDash val="solid"/>
          </a:ln>
        </p:spPr>
        <p:txBody>
          <a:bodyPr/>
          <a:lstStyle/>
          <a:p>
            <a:endParaRPr lang="fr-FR"/>
          </a:p>
        </p:txBody>
      </p:sp>
      <p:sp>
        <p:nvSpPr>
          <p:cNvPr id="36" name="Text 34"/>
          <p:cNvSpPr/>
          <p:nvPr/>
        </p:nvSpPr>
        <p:spPr>
          <a:xfrm>
            <a:off x="6949440" y="2852928"/>
            <a:ext cx="1773936" cy="182880"/>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Référente données</a:t>
            </a:r>
            <a:endParaRPr lang="en-US" sz="1050" dirty="0"/>
          </a:p>
        </p:txBody>
      </p:sp>
      <p:sp>
        <p:nvSpPr>
          <p:cNvPr id="37" name="Text 35"/>
          <p:cNvSpPr/>
          <p:nvPr/>
        </p:nvSpPr>
        <p:spPr>
          <a:xfrm>
            <a:off x="6949440" y="3054096"/>
            <a:ext cx="1773936" cy="201168"/>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conformité RGPD</a:t>
            </a:r>
            <a:endParaRPr lang="en-US" sz="850" dirty="0"/>
          </a:p>
        </p:txBody>
      </p:sp>
      <p:sp>
        <p:nvSpPr>
          <p:cNvPr id="38" name="Shape 36"/>
          <p:cNvSpPr/>
          <p:nvPr/>
        </p:nvSpPr>
        <p:spPr>
          <a:xfrm>
            <a:off x="292608" y="3474720"/>
            <a:ext cx="8558784" cy="512064"/>
          </a:xfrm>
          <a:prstGeom prst="rect">
            <a:avLst/>
          </a:prstGeom>
          <a:solidFill>
            <a:srgbClr val="F4F7FA"/>
          </a:solidFill>
          <a:ln w="12700">
            <a:solidFill>
              <a:srgbClr val="E08A3C"/>
            </a:solidFill>
            <a:prstDash val="solid"/>
          </a:ln>
        </p:spPr>
        <p:txBody>
          <a:bodyPr/>
          <a:lstStyle/>
          <a:p>
            <a:endParaRPr lang="fr-FR"/>
          </a:p>
        </p:txBody>
      </p:sp>
      <p:sp>
        <p:nvSpPr>
          <p:cNvPr id="39" name="Text 37"/>
          <p:cNvSpPr/>
          <p:nvPr/>
        </p:nvSpPr>
        <p:spPr>
          <a:xfrm>
            <a:off x="475488" y="3474720"/>
            <a:ext cx="8229600" cy="512064"/>
          </a:xfrm>
          <a:prstGeom prst="rect">
            <a:avLst/>
          </a:prstGeom>
          <a:noFill/>
          <a:ln/>
        </p:spPr>
        <p:txBody>
          <a:bodyPr wrap="square" lIns="0" tIns="0" rIns="0" bIns="0" rtlCol="0" anchor="ctr"/>
          <a:lstStyle/>
          <a:p>
            <a:pPr marL="0" indent="0" algn="l">
              <a:lnSpc>
                <a:spcPct val="108000"/>
              </a:lnSpc>
              <a:buNone/>
            </a:pPr>
            <a:r>
              <a:rPr lang="en-US" sz="1100" b="1" dirty="0">
                <a:solidFill>
                  <a:srgbClr val="12263F"/>
                </a:solidFill>
                <a:latin typeface="Calibri" pitchFamily="34" charset="0"/>
                <a:ea typeface="Calibri" pitchFamily="34" charset="-122"/>
                <a:cs typeface="Calibri" pitchFamily="34" charset="-120"/>
              </a:rPr>
              <a:t>Après la troisième revue, le cahier des charges est figé : il devient la référence pour la conception, le code et les tests.</a:t>
            </a:r>
            <a:endParaRPr lang="en-US" sz="1100" dirty="0"/>
          </a:p>
        </p:txBody>
      </p:sp>
      <p:sp>
        <p:nvSpPr>
          <p:cNvPr id="40" name="Shape 38"/>
          <p:cNvSpPr/>
          <p:nvPr/>
        </p:nvSpPr>
        <p:spPr>
          <a:xfrm>
            <a:off x="292608" y="4224528"/>
            <a:ext cx="8558784" cy="475488"/>
          </a:xfrm>
          <a:prstGeom prst="rect">
            <a:avLst/>
          </a:prstGeom>
          <a:solidFill>
            <a:srgbClr val="12263F"/>
          </a:solidFill>
          <a:ln/>
        </p:spPr>
        <p:txBody>
          <a:bodyPr/>
          <a:lstStyle/>
          <a:p>
            <a:endParaRPr lang="fr-FR"/>
          </a:p>
        </p:txBody>
      </p:sp>
      <p:sp>
        <p:nvSpPr>
          <p:cNvPr id="41" name="Shape 39"/>
          <p:cNvSpPr/>
          <p:nvPr/>
        </p:nvSpPr>
        <p:spPr>
          <a:xfrm>
            <a:off x="292608" y="4224528"/>
            <a:ext cx="45720" cy="475488"/>
          </a:xfrm>
          <a:prstGeom prst="rect">
            <a:avLst/>
          </a:prstGeom>
          <a:solidFill>
            <a:srgbClr val="E08A3C"/>
          </a:solidFill>
          <a:ln/>
        </p:spPr>
        <p:txBody>
          <a:bodyPr/>
          <a:lstStyle/>
          <a:p>
            <a:endParaRPr lang="fr-FR"/>
          </a:p>
        </p:txBody>
      </p:sp>
      <p:sp>
        <p:nvSpPr>
          <p:cNvPr id="42" name="Text 40"/>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Ce qui compte n'est pas d'avoir tenu des revues, mais ce qu'elles ont effectivement changé.</a:t>
            </a:r>
            <a:endParaRPr lang="en-US" sz="1150" dirty="0"/>
          </a:p>
        </p:txBody>
      </p:sp>
      <p:sp>
        <p:nvSpPr>
          <p:cNvPr id="43" name="Text 41"/>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4.4 - Validation des Besoins avec les Parties Prenantes</a:t>
            </a:r>
            <a:endParaRPr lang="en-US" sz="750" dirty="0"/>
          </a:p>
        </p:txBody>
      </p:sp>
      <p:sp>
        <p:nvSpPr>
          <p:cNvPr id="44" name="Text 42"/>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5. Implémentations techniques</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17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5.1 - Infrastructure et Environnement de Déploiement</a:t>
            </a:r>
            <a:endParaRPr lang="en-US" sz="2200" dirty="0"/>
          </a:p>
        </p:txBody>
      </p:sp>
      <p:sp>
        <p:nvSpPr>
          <p:cNvPr id="7" name="Text 5"/>
          <p:cNvSpPr/>
          <p:nvPr/>
        </p:nvSpPr>
        <p:spPr>
          <a:xfrm>
            <a:off x="292608" y="1024128"/>
            <a:ext cx="8558784" cy="201168"/>
          </a:xfrm>
          <a:prstGeom prst="rect">
            <a:avLst/>
          </a:prstGeom>
          <a:noFill/>
          <a:ln/>
        </p:spPr>
        <p:txBody>
          <a:bodyPr wrap="square" lIns="0" tIns="0" rIns="0" bIns="0" rtlCol="0" anchor="ctr"/>
          <a:lstStyle/>
          <a:p>
            <a:pPr marL="0" indent="0">
              <a:buNone/>
            </a:pPr>
            <a:r>
              <a:rPr lang="en-US" sz="1050" dirty="0">
                <a:solidFill>
                  <a:srgbClr val="4A5769"/>
                </a:solidFill>
                <a:latin typeface="Calibri" pitchFamily="34" charset="0"/>
                <a:ea typeface="Calibri" pitchFamily="34" charset="-122"/>
                <a:cs typeface="Calibri" pitchFamily="34" charset="-120"/>
              </a:rPr>
              <a:t>Un pipeline est une suite d'étapes automatiques : chacune ne démarre que si la précédente a réussi.</a:t>
            </a:r>
            <a:endParaRPr lang="en-US" sz="1050" dirty="0"/>
          </a:p>
        </p:txBody>
      </p:sp>
      <p:sp>
        <p:nvSpPr>
          <p:cNvPr id="8" name="Shape 6"/>
          <p:cNvSpPr/>
          <p:nvPr/>
        </p:nvSpPr>
        <p:spPr>
          <a:xfrm>
            <a:off x="292608" y="1335024"/>
            <a:ext cx="1933956" cy="1170432"/>
          </a:xfrm>
          <a:prstGeom prst="rect">
            <a:avLst/>
          </a:prstGeom>
          <a:solidFill>
            <a:srgbClr val="FFFFFF"/>
          </a:solidFill>
          <a:ln w="12700">
            <a:solidFill>
              <a:srgbClr val="E2E8EE"/>
            </a:solidFill>
            <a:prstDash val="solid"/>
          </a:ln>
        </p:spPr>
        <p:txBody>
          <a:bodyPr/>
          <a:lstStyle/>
          <a:p>
            <a:endParaRPr lang="fr-FR"/>
          </a:p>
        </p:txBody>
      </p:sp>
      <p:sp>
        <p:nvSpPr>
          <p:cNvPr id="9" name="Shape 7"/>
          <p:cNvSpPr/>
          <p:nvPr/>
        </p:nvSpPr>
        <p:spPr>
          <a:xfrm>
            <a:off x="292608" y="1335024"/>
            <a:ext cx="1933956" cy="45720"/>
          </a:xfrm>
          <a:prstGeom prst="rect">
            <a:avLst/>
          </a:prstGeom>
          <a:solidFill>
            <a:srgbClr val="B03A48"/>
          </a:solidFill>
          <a:ln/>
        </p:spPr>
        <p:txBody>
          <a:bodyPr/>
          <a:lstStyle/>
          <a:p>
            <a:endParaRPr lang="fr-FR"/>
          </a:p>
        </p:txBody>
      </p:sp>
      <p:sp>
        <p:nvSpPr>
          <p:cNvPr id="10" name="Text 8"/>
          <p:cNvSpPr/>
          <p:nvPr/>
        </p:nvSpPr>
        <p:spPr>
          <a:xfrm>
            <a:off x="438912" y="1444752"/>
            <a:ext cx="1641348" cy="237744"/>
          </a:xfrm>
          <a:prstGeom prst="rect">
            <a:avLst/>
          </a:prstGeom>
          <a:noFill/>
          <a:ln/>
        </p:spPr>
        <p:txBody>
          <a:bodyPr wrap="square" lIns="0" tIns="0" rIns="0" bIns="0" rtlCol="0" anchor="ctr"/>
          <a:lstStyle/>
          <a:p>
            <a:pPr marL="0" indent="0">
              <a:buNone/>
            </a:pPr>
            <a:r>
              <a:rPr lang="en-US" sz="1300" b="1" dirty="0">
                <a:solidFill>
                  <a:srgbClr val="B03A48"/>
                </a:solidFill>
                <a:latin typeface="Calibri" pitchFamily="34" charset="0"/>
                <a:ea typeface="Calibri" pitchFamily="34" charset="-122"/>
                <a:cs typeface="Calibri" pitchFamily="34" charset="-120"/>
              </a:rPr>
              <a:t>1 · </a:t>
            </a:r>
            <a:r>
              <a:rPr lang="en-US" sz="1300" b="1" dirty="0">
                <a:solidFill>
                  <a:srgbClr val="12263F"/>
                </a:solidFill>
                <a:latin typeface="Calibri" pitchFamily="34" charset="0"/>
                <a:ea typeface="Calibri" pitchFamily="34" charset="-122"/>
                <a:cs typeface="Calibri" pitchFamily="34" charset="-120"/>
              </a:rPr>
              <a:t>Vérifier</a:t>
            </a:r>
            <a:endParaRPr lang="en-US" sz="1300" dirty="0"/>
          </a:p>
        </p:txBody>
      </p:sp>
      <p:sp>
        <p:nvSpPr>
          <p:cNvPr id="11" name="Shape 9"/>
          <p:cNvSpPr/>
          <p:nvPr/>
        </p:nvSpPr>
        <p:spPr>
          <a:xfrm>
            <a:off x="1458468" y="1472184"/>
            <a:ext cx="640080" cy="182880"/>
          </a:xfrm>
          <a:prstGeom prst="roundRect">
            <a:avLst>
              <a:gd name="adj" fmla="val 15000"/>
            </a:avLst>
          </a:prstGeom>
          <a:solidFill>
            <a:srgbClr val="B03A48"/>
          </a:solidFill>
          <a:ln w="12700">
            <a:solidFill>
              <a:srgbClr val="B03A48"/>
            </a:solidFill>
            <a:prstDash val="solid"/>
          </a:ln>
        </p:spPr>
        <p:txBody>
          <a:bodyPr/>
          <a:lstStyle/>
          <a:p>
            <a:endParaRPr lang="fr-FR"/>
          </a:p>
        </p:txBody>
      </p:sp>
      <p:sp>
        <p:nvSpPr>
          <p:cNvPr id="12" name="Text 10"/>
          <p:cNvSpPr/>
          <p:nvPr/>
        </p:nvSpPr>
        <p:spPr>
          <a:xfrm>
            <a:off x="1458468" y="1472184"/>
            <a:ext cx="640080" cy="182880"/>
          </a:xfrm>
          <a:prstGeom prst="rect">
            <a:avLst/>
          </a:prstGeom>
          <a:noFill/>
          <a:ln/>
        </p:spPr>
        <p:txBody>
          <a:bodyPr wrap="square" lIns="0" tIns="0" rIns="0" bIns="0" rtlCol="0" anchor="ctr"/>
          <a:lstStyle/>
          <a:p>
            <a:pPr marL="0" indent="0" algn="ctr">
              <a:lnSpc>
                <a:spcPct val="108000"/>
              </a:lnSpc>
              <a:buNone/>
            </a:pPr>
            <a:r>
              <a:rPr lang="en-US" sz="650" b="1" dirty="0">
                <a:solidFill>
                  <a:srgbClr val="FFFFFF"/>
                </a:solidFill>
                <a:latin typeface="Calibri" pitchFamily="34" charset="0"/>
                <a:ea typeface="Calibri" pitchFamily="34" charset="-122"/>
                <a:cs typeface="Calibri" pitchFamily="34" charset="-120"/>
              </a:rPr>
              <a:t>BLOQUANT</a:t>
            </a:r>
            <a:endParaRPr lang="en-US" sz="650" dirty="0"/>
          </a:p>
        </p:txBody>
      </p:sp>
      <p:sp>
        <p:nvSpPr>
          <p:cNvPr id="13" name="Text 11"/>
          <p:cNvSpPr/>
          <p:nvPr/>
        </p:nvSpPr>
        <p:spPr>
          <a:xfrm>
            <a:off x="493776" y="1737360"/>
            <a:ext cx="1568196" cy="694944"/>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4A5769"/>
                </a:solidFill>
                <a:latin typeface="Calibri" pitchFamily="34" charset="0"/>
                <a:ea typeface="Calibri" pitchFamily="34" charset="-122"/>
                <a:cs typeface="Calibri" pitchFamily="34" charset="-120"/>
              </a:rPr>
              <a:t>Tests automatiques</a:t>
            </a:r>
            <a:endParaRPr lang="en-US" sz="950" dirty="0"/>
          </a:p>
          <a:p>
            <a:pPr marL="342900" indent="-342900">
              <a:spcAft>
                <a:spcPts val="400"/>
              </a:spcAft>
              <a:buSzPct val="100000"/>
              <a:buChar char="•"/>
            </a:pPr>
            <a:r>
              <a:rPr lang="en-US" sz="950" dirty="0">
                <a:solidFill>
                  <a:srgbClr val="4A5769"/>
                </a:solidFill>
                <a:latin typeface="Calibri" pitchFamily="34" charset="0"/>
                <a:ea typeface="Calibri" pitchFamily="34" charset="-122"/>
                <a:cs typeface="Calibri" pitchFamily="34" charset="-120"/>
              </a:rPr>
              <a:t>Analyse du code</a:t>
            </a:r>
            <a:endParaRPr lang="en-US" sz="950" dirty="0"/>
          </a:p>
          <a:p>
            <a:pPr marL="342900" indent="-342900">
              <a:spcAft>
                <a:spcPts val="400"/>
              </a:spcAft>
              <a:buSzPct val="100000"/>
              <a:buChar char="•"/>
            </a:pPr>
            <a:r>
              <a:rPr lang="en-US" sz="950" dirty="0">
                <a:solidFill>
                  <a:srgbClr val="4A5769"/>
                </a:solidFill>
                <a:latin typeface="Calibri" pitchFamily="34" charset="0"/>
                <a:ea typeface="Calibri" pitchFamily="34" charset="-122"/>
                <a:cs typeface="Calibri" pitchFamily="34" charset="-120"/>
              </a:rPr>
              <a:t>Analyse de la configuration</a:t>
            </a:r>
            <a:endParaRPr lang="en-US" sz="950" dirty="0"/>
          </a:p>
        </p:txBody>
      </p:sp>
      <p:sp>
        <p:nvSpPr>
          <p:cNvPr id="14" name="Shape 12"/>
          <p:cNvSpPr/>
          <p:nvPr/>
        </p:nvSpPr>
        <p:spPr>
          <a:xfrm>
            <a:off x="292608" y="2670048"/>
            <a:ext cx="1933956" cy="1170432"/>
          </a:xfrm>
          <a:prstGeom prst="rect">
            <a:avLst/>
          </a:prstGeom>
          <a:solidFill>
            <a:srgbClr val="FFFFFF"/>
          </a:solidFill>
          <a:ln w="12700">
            <a:solidFill>
              <a:srgbClr val="E2E8EE"/>
            </a:solidFill>
            <a:prstDash val="solid"/>
          </a:ln>
        </p:spPr>
        <p:txBody>
          <a:bodyPr/>
          <a:lstStyle/>
          <a:p>
            <a:endParaRPr lang="fr-FR"/>
          </a:p>
        </p:txBody>
      </p:sp>
      <p:sp>
        <p:nvSpPr>
          <p:cNvPr id="15" name="Shape 13"/>
          <p:cNvSpPr/>
          <p:nvPr/>
        </p:nvSpPr>
        <p:spPr>
          <a:xfrm>
            <a:off x="292608" y="2670048"/>
            <a:ext cx="1933956" cy="45720"/>
          </a:xfrm>
          <a:prstGeom prst="rect">
            <a:avLst/>
          </a:prstGeom>
          <a:solidFill>
            <a:srgbClr val="4A5769"/>
          </a:solidFill>
          <a:ln/>
        </p:spPr>
        <p:txBody>
          <a:bodyPr/>
          <a:lstStyle/>
          <a:p>
            <a:endParaRPr lang="fr-FR"/>
          </a:p>
        </p:txBody>
      </p:sp>
      <p:sp>
        <p:nvSpPr>
          <p:cNvPr id="16" name="Text 14"/>
          <p:cNvSpPr/>
          <p:nvPr/>
        </p:nvSpPr>
        <p:spPr>
          <a:xfrm>
            <a:off x="438912" y="2779776"/>
            <a:ext cx="1641348" cy="237744"/>
          </a:xfrm>
          <a:prstGeom prst="rect">
            <a:avLst/>
          </a:prstGeom>
          <a:noFill/>
          <a:ln/>
        </p:spPr>
        <p:txBody>
          <a:bodyPr wrap="square" lIns="0" tIns="0" rIns="0" bIns="0" rtlCol="0" anchor="ctr"/>
          <a:lstStyle/>
          <a:p>
            <a:pPr marL="0" indent="0">
              <a:buNone/>
            </a:pPr>
            <a:r>
              <a:rPr lang="en-US" sz="1300" b="1" dirty="0">
                <a:solidFill>
                  <a:srgbClr val="4A5769"/>
                </a:solidFill>
                <a:latin typeface="Calibri" pitchFamily="34" charset="0"/>
                <a:ea typeface="Calibri" pitchFamily="34" charset="-122"/>
                <a:cs typeface="Calibri" pitchFamily="34" charset="-120"/>
              </a:rPr>
              <a:t>2 · </a:t>
            </a:r>
            <a:r>
              <a:rPr lang="en-US" sz="1300" b="1" dirty="0">
                <a:solidFill>
                  <a:srgbClr val="12263F"/>
                </a:solidFill>
                <a:latin typeface="Calibri" pitchFamily="34" charset="0"/>
                <a:ea typeface="Calibri" pitchFamily="34" charset="-122"/>
                <a:cs typeface="Calibri" pitchFamily="34" charset="-120"/>
              </a:rPr>
              <a:t>Versionner</a:t>
            </a:r>
            <a:endParaRPr lang="en-US" sz="1300" dirty="0"/>
          </a:p>
        </p:txBody>
      </p:sp>
      <p:sp>
        <p:nvSpPr>
          <p:cNvPr id="17" name="Text 15"/>
          <p:cNvSpPr/>
          <p:nvPr/>
        </p:nvSpPr>
        <p:spPr>
          <a:xfrm>
            <a:off x="493776" y="3072384"/>
            <a:ext cx="1568196" cy="694944"/>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4A5769"/>
                </a:solidFill>
                <a:latin typeface="Calibri" pitchFamily="34" charset="0"/>
                <a:ea typeface="Calibri" pitchFamily="34" charset="-122"/>
                <a:cs typeface="Calibri" pitchFamily="34" charset="-120"/>
              </a:rPr>
              <a:t>Une version par service</a:t>
            </a:r>
            <a:endParaRPr lang="en-US" sz="950" dirty="0"/>
          </a:p>
          <a:p>
            <a:pPr marL="342900" indent="-342900">
              <a:spcAft>
                <a:spcPts val="400"/>
              </a:spcAft>
              <a:buSzPct val="100000"/>
              <a:buChar char="•"/>
            </a:pPr>
            <a:r>
              <a:rPr lang="en-US" sz="950" dirty="0">
                <a:solidFill>
                  <a:srgbClr val="4A5769"/>
                </a:solidFill>
                <a:latin typeface="Calibri" pitchFamily="34" charset="0"/>
                <a:ea typeface="Calibri" pitchFamily="34" charset="-122"/>
                <a:cs typeface="Calibri" pitchFamily="34" charset="-120"/>
              </a:rPr>
              <a:t>Identifiée par le commit</a:t>
            </a:r>
            <a:endParaRPr lang="en-US" sz="950" dirty="0"/>
          </a:p>
        </p:txBody>
      </p:sp>
      <p:sp>
        <p:nvSpPr>
          <p:cNvPr id="18" name="Shape 16"/>
          <p:cNvSpPr/>
          <p:nvPr/>
        </p:nvSpPr>
        <p:spPr>
          <a:xfrm>
            <a:off x="2500884" y="1335024"/>
            <a:ext cx="1933956" cy="1170432"/>
          </a:xfrm>
          <a:prstGeom prst="rect">
            <a:avLst/>
          </a:prstGeom>
          <a:solidFill>
            <a:srgbClr val="FFFFFF"/>
          </a:solidFill>
          <a:ln w="12700">
            <a:solidFill>
              <a:srgbClr val="E2E8EE"/>
            </a:solidFill>
            <a:prstDash val="solid"/>
          </a:ln>
        </p:spPr>
        <p:txBody>
          <a:bodyPr/>
          <a:lstStyle/>
          <a:p>
            <a:endParaRPr lang="fr-FR"/>
          </a:p>
        </p:txBody>
      </p:sp>
      <p:sp>
        <p:nvSpPr>
          <p:cNvPr id="19" name="Shape 17"/>
          <p:cNvSpPr/>
          <p:nvPr/>
        </p:nvSpPr>
        <p:spPr>
          <a:xfrm>
            <a:off x="2500884" y="1335024"/>
            <a:ext cx="1933956" cy="45720"/>
          </a:xfrm>
          <a:prstGeom prst="rect">
            <a:avLst/>
          </a:prstGeom>
          <a:solidFill>
            <a:srgbClr val="6B3FD4"/>
          </a:solidFill>
          <a:ln/>
        </p:spPr>
        <p:txBody>
          <a:bodyPr/>
          <a:lstStyle/>
          <a:p>
            <a:endParaRPr lang="fr-FR"/>
          </a:p>
        </p:txBody>
      </p:sp>
      <p:sp>
        <p:nvSpPr>
          <p:cNvPr id="20" name="Text 18"/>
          <p:cNvSpPr/>
          <p:nvPr/>
        </p:nvSpPr>
        <p:spPr>
          <a:xfrm>
            <a:off x="2647188" y="1444752"/>
            <a:ext cx="1641348" cy="237744"/>
          </a:xfrm>
          <a:prstGeom prst="rect">
            <a:avLst/>
          </a:prstGeom>
          <a:noFill/>
          <a:ln/>
        </p:spPr>
        <p:txBody>
          <a:bodyPr wrap="square" lIns="0" tIns="0" rIns="0" bIns="0" rtlCol="0" anchor="ctr"/>
          <a:lstStyle/>
          <a:p>
            <a:pPr marL="0" indent="0">
              <a:buNone/>
            </a:pPr>
            <a:r>
              <a:rPr lang="en-US" sz="1300" b="1" dirty="0">
                <a:solidFill>
                  <a:srgbClr val="6B3FD4"/>
                </a:solidFill>
                <a:latin typeface="Calibri" pitchFamily="34" charset="0"/>
                <a:ea typeface="Calibri" pitchFamily="34" charset="-122"/>
                <a:cs typeface="Calibri" pitchFamily="34" charset="-120"/>
              </a:rPr>
              <a:t>3 · </a:t>
            </a:r>
            <a:r>
              <a:rPr lang="en-US" sz="1300" b="1" dirty="0">
                <a:solidFill>
                  <a:srgbClr val="12263F"/>
                </a:solidFill>
                <a:latin typeface="Calibri" pitchFamily="34" charset="0"/>
                <a:ea typeface="Calibri" pitchFamily="34" charset="-122"/>
                <a:cs typeface="Calibri" pitchFamily="34" charset="-120"/>
              </a:rPr>
              <a:t>Provisionner</a:t>
            </a:r>
            <a:endParaRPr lang="en-US" sz="1300" dirty="0"/>
          </a:p>
        </p:txBody>
      </p:sp>
      <p:sp>
        <p:nvSpPr>
          <p:cNvPr id="21" name="Text 19"/>
          <p:cNvSpPr/>
          <p:nvPr/>
        </p:nvSpPr>
        <p:spPr>
          <a:xfrm>
            <a:off x="2702052" y="1737360"/>
            <a:ext cx="1568196" cy="694944"/>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4A5769"/>
                </a:solidFill>
                <a:latin typeface="Calibri" pitchFamily="34" charset="0"/>
                <a:ea typeface="Calibri" pitchFamily="34" charset="-122"/>
                <a:cs typeface="Calibri" pitchFamily="34" charset="-120"/>
              </a:rPr>
              <a:t>Crée serveurs et réseau</a:t>
            </a:r>
            <a:endParaRPr lang="en-US" sz="950" dirty="0"/>
          </a:p>
          <a:p>
            <a:pPr marL="342900" indent="-342900">
              <a:spcAft>
                <a:spcPts val="400"/>
              </a:spcAft>
              <a:buSzPct val="100000"/>
              <a:buChar char="•"/>
            </a:pPr>
            <a:r>
              <a:rPr lang="en-US" sz="950" dirty="0">
                <a:solidFill>
                  <a:srgbClr val="4A5769"/>
                </a:solidFill>
                <a:latin typeface="Calibri" pitchFamily="34" charset="0"/>
                <a:ea typeface="Calibri" pitchFamily="34" charset="-122"/>
                <a:cs typeface="Calibri" pitchFamily="34" charset="-120"/>
              </a:rPr>
              <a:t>Seulement si ça a changé</a:t>
            </a:r>
            <a:endParaRPr lang="en-US" sz="950" dirty="0"/>
          </a:p>
        </p:txBody>
      </p:sp>
      <p:sp>
        <p:nvSpPr>
          <p:cNvPr id="22" name="Shape 20"/>
          <p:cNvSpPr/>
          <p:nvPr/>
        </p:nvSpPr>
        <p:spPr>
          <a:xfrm>
            <a:off x="2500884" y="2670048"/>
            <a:ext cx="1933956" cy="1170432"/>
          </a:xfrm>
          <a:prstGeom prst="rect">
            <a:avLst/>
          </a:prstGeom>
          <a:solidFill>
            <a:srgbClr val="FFFFFF"/>
          </a:solidFill>
          <a:ln w="12700">
            <a:solidFill>
              <a:srgbClr val="E2E8EE"/>
            </a:solidFill>
            <a:prstDash val="solid"/>
          </a:ln>
        </p:spPr>
        <p:txBody>
          <a:bodyPr/>
          <a:lstStyle/>
          <a:p>
            <a:endParaRPr lang="fr-FR"/>
          </a:p>
        </p:txBody>
      </p:sp>
      <p:sp>
        <p:nvSpPr>
          <p:cNvPr id="23" name="Shape 21"/>
          <p:cNvSpPr/>
          <p:nvPr/>
        </p:nvSpPr>
        <p:spPr>
          <a:xfrm>
            <a:off x="2500884" y="2670048"/>
            <a:ext cx="1933956" cy="45720"/>
          </a:xfrm>
          <a:prstGeom prst="rect">
            <a:avLst/>
          </a:prstGeom>
          <a:solidFill>
            <a:srgbClr val="1B6EC2"/>
          </a:solidFill>
          <a:ln/>
        </p:spPr>
        <p:txBody>
          <a:bodyPr/>
          <a:lstStyle/>
          <a:p>
            <a:endParaRPr lang="fr-FR"/>
          </a:p>
        </p:txBody>
      </p:sp>
      <p:sp>
        <p:nvSpPr>
          <p:cNvPr id="24" name="Text 22"/>
          <p:cNvSpPr/>
          <p:nvPr/>
        </p:nvSpPr>
        <p:spPr>
          <a:xfrm>
            <a:off x="2647188" y="2779776"/>
            <a:ext cx="1641348" cy="237744"/>
          </a:xfrm>
          <a:prstGeom prst="rect">
            <a:avLst/>
          </a:prstGeom>
          <a:noFill/>
          <a:ln/>
        </p:spPr>
        <p:txBody>
          <a:bodyPr wrap="square" lIns="0" tIns="0" rIns="0" bIns="0" rtlCol="0" anchor="ctr"/>
          <a:lstStyle/>
          <a:p>
            <a:pPr marL="0" indent="0">
              <a:buNone/>
            </a:pPr>
            <a:r>
              <a:rPr lang="en-US" sz="1300" b="1" dirty="0">
                <a:solidFill>
                  <a:srgbClr val="1B6EC2"/>
                </a:solidFill>
                <a:latin typeface="Calibri" pitchFamily="34" charset="0"/>
                <a:ea typeface="Calibri" pitchFamily="34" charset="-122"/>
                <a:cs typeface="Calibri" pitchFamily="34" charset="-120"/>
              </a:rPr>
              <a:t>4 · </a:t>
            </a:r>
            <a:r>
              <a:rPr lang="en-US" sz="1300" b="1" dirty="0">
                <a:solidFill>
                  <a:srgbClr val="12263F"/>
                </a:solidFill>
                <a:latin typeface="Calibri" pitchFamily="34" charset="0"/>
                <a:ea typeface="Calibri" pitchFamily="34" charset="-122"/>
                <a:cs typeface="Calibri" pitchFamily="34" charset="-120"/>
              </a:rPr>
              <a:t>Construire</a:t>
            </a:r>
            <a:endParaRPr lang="en-US" sz="1300" dirty="0"/>
          </a:p>
        </p:txBody>
      </p:sp>
      <p:sp>
        <p:nvSpPr>
          <p:cNvPr id="25" name="Text 23"/>
          <p:cNvSpPr/>
          <p:nvPr/>
        </p:nvSpPr>
        <p:spPr>
          <a:xfrm>
            <a:off x="2702052" y="3072384"/>
            <a:ext cx="1568196" cy="694944"/>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4A5769"/>
                </a:solidFill>
                <a:latin typeface="Calibri" pitchFamily="34" charset="0"/>
                <a:ea typeface="Calibri" pitchFamily="34" charset="-122"/>
                <a:cs typeface="Calibri" pitchFamily="34" charset="-120"/>
              </a:rPr>
              <a:t>Construit les images</a:t>
            </a:r>
            <a:endParaRPr lang="en-US" sz="950" dirty="0"/>
          </a:p>
          <a:p>
            <a:pPr marL="342900" indent="-342900">
              <a:spcAft>
                <a:spcPts val="400"/>
              </a:spcAft>
              <a:buSzPct val="100000"/>
              <a:buChar char="•"/>
            </a:pPr>
            <a:r>
              <a:rPr lang="en-US" sz="950" dirty="0">
                <a:solidFill>
                  <a:srgbClr val="4A5769"/>
                </a:solidFill>
                <a:latin typeface="Calibri" pitchFamily="34" charset="0"/>
                <a:ea typeface="Calibri" pitchFamily="34" charset="-122"/>
                <a:cs typeface="Calibri" pitchFamily="34" charset="-120"/>
              </a:rPr>
              <a:t>Rien à refaire si elle existe</a:t>
            </a:r>
            <a:endParaRPr lang="en-US" sz="950" dirty="0"/>
          </a:p>
        </p:txBody>
      </p:sp>
      <p:sp>
        <p:nvSpPr>
          <p:cNvPr id="26" name="Shape 24"/>
          <p:cNvSpPr/>
          <p:nvPr/>
        </p:nvSpPr>
        <p:spPr>
          <a:xfrm>
            <a:off x="4709160" y="1335024"/>
            <a:ext cx="1933956" cy="1170432"/>
          </a:xfrm>
          <a:prstGeom prst="rect">
            <a:avLst/>
          </a:prstGeom>
          <a:solidFill>
            <a:srgbClr val="FFFFFF"/>
          </a:solidFill>
          <a:ln w="12700">
            <a:solidFill>
              <a:srgbClr val="E2E8EE"/>
            </a:solidFill>
            <a:prstDash val="solid"/>
          </a:ln>
        </p:spPr>
        <p:txBody>
          <a:bodyPr/>
          <a:lstStyle/>
          <a:p>
            <a:endParaRPr lang="fr-FR"/>
          </a:p>
        </p:txBody>
      </p:sp>
      <p:sp>
        <p:nvSpPr>
          <p:cNvPr id="27" name="Shape 25"/>
          <p:cNvSpPr/>
          <p:nvPr/>
        </p:nvSpPr>
        <p:spPr>
          <a:xfrm>
            <a:off x="4709160" y="1335024"/>
            <a:ext cx="1933956" cy="45720"/>
          </a:xfrm>
          <a:prstGeom prst="rect">
            <a:avLst/>
          </a:prstGeom>
          <a:solidFill>
            <a:srgbClr val="12855A"/>
          </a:solidFill>
          <a:ln/>
        </p:spPr>
        <p:txBody>
          <a:bodyPr/>
          <a:lstStyle/>
          <a:p>
            <a:endParaRPr lang="fr-FR"/>
          </a:p>
        </p:txBody>
      </p:sp>
      <p:sp>
        <p:nvSpPr>
          <p:cNvPr id="28" name="Text 26"/>
          <p:cNvSpPr/>
          <p:nvPr/>
        </p:nvSpPr>
        <p:spPr>
          <a:xfrm>
            <a:off x="4855464" y="1444752"/>
            <a:ext cx="1641348" cy="237744"/>
          </a:xfrm>
          <a:prstGeom prst="rect">
            <a:avLst/>
          </a:prstGeom>
          <a:noFill/>
          <a:ln/>
        </p:spPr>
        <p:txBody>
          <a:bodyPr wrap="square" lIns="0" tIns="0" rIns="0" bIns="0" rtlCol="0" anchor="ctr"/>
          <a:lstStyle/>
          <a:p>
            <a:pPr marL="0" indent="0">
              <a:buNone/>
            </a:pPr>
            <a:r>
              <a:rPr lang="en-US" sz="1300" b="1" dirty="0">
                <a:solidFill>
                  <a:srgbClr val="12855A"/>
                </a:solidFill>
                <a:latin typeface="Calibri" pitchFamily="34" charset="0"/>
                <a:ea typeface="Calibri" pitchFamily="34" charset="-122"/>
                <a:cs typeface="Calibri" pitchFamily="34" charset="-120"/>
              </a:rPr>
              <a:t>6 · </a:t>
            </a:r>
            <a:r>
              <a:rPr lang="en-US" sz="1300" b="1" dirty="0">
                <a:solidFill>
                  <a:srgbClr val="12263F"/>
                </a:solidFill>
                <a:latin typeface="Calibri" pitchFamily="34" charset="0"/>
                <a:ea typeface="Calibri" pitchFamily="34" charset="-122"/>
                <a:cs typeface="Calibri" pitchFamily="34" charset="-120"/>
              </a:rPr>
              <a:t>Configurer</a:t>
            </a:r>
            <a:endParaRPr lang="en-US" sz="1300" dirty="0"/>
          </a:p>
        </p:txBody>
      </p:sp>
      <p:sp>
        <p:nvSpPr>
          <p:cNvPr id="29" name="Text 27"/>
          <p:cNvSpPr/>
          <p:nvPr/>
        </p:nvSpPr>
        <p:spPr>
          <a:xfrm>
            <a:off x="4910328" y="1737360"/>
            <a:ext cx="1568196" cy="694944"/>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4A5769"/>
                </a:solidFill>
                <a:latin typeface="Calibri" pitchFamily="34" charset="0"/>
                <a:ea typeface="Calibri" pitchFamily="34" charset="-122"/>
                <a:cs typeface="Calibri" pitchFamily="34" charset="-120"/>
              </a:rPr>
              <a:t>Installe et durcit</a:t>
            </a:r>
            <a:endParaRPr lang="en-US" sz="950" dirty="0"/>
          </a:p>
          <a:p>
            <a:pPr marL="342900" indent="-342900">
              <a:spcAft>
                <a:spcPts val="400"/>
              </a:spcAft>
              <a:buSzPct val="100000"/>
              <a:buChar char="•"/>
            </a:pPr>
            <a:r>
              <a:rPr lang="en-US" sz="950" dirty="0">
                <a:solidFill>
                  <a:srgbClr val="4A5769"/>
                </a:solidFill>
                <a:latin typeface="Calibri" pitchFamily="34" charset="0"/>
                <a:ea typeface="Calibri" pitchFamily="34" charset="-122"/>
                <a:cs typeface="Calibri" pitchFamily="34" charset="-120"/>
              </a:rPr>
              <a:t>Certificats et secrets</a:t>
            </a:r>
            <a:endParaRPr lang="en-US" sz="950" dirty="0"/>
          </a:p>
        </p:txBody>
      </p:sp>
      <p:sp>
        <p:nvSpPr>
          <p:cNvPr id="30" name="Shape 28"/>
          <p:cNvSpPr/>
          <p:nvPr/>
        </p:nvSpPr>
        <p:spPr>
          <a:xfrm>
            <a:off x="4709160" y="2670048"/>
            <a:ext cx="1933956" cy="1170432"/>
          </a:xfrm>
          <a:prstGeom prst="rect">
            <a:avLst/>
          </a:prstGeom>
          <a:solidFill>
            <a:srgbClr val="FFFFFF"/>
          </a:solidFill>
          <a:ln w="12700">
            <a:solidFill>
              <a:srgbClr val="E2E8EE"/>
            </a:solidFill>
            <a:prstDash val="solid"/>
          </a:ln>
        </p:spPr>
        <p:txBody>
          <a:bodyPr/>
          <a:lstStyle/>
          <a:p>
            <a:endParaRPr lang="fr-FR"/>
          </a:p>
        </p:txBody>
      </p:sp>
      <p:sp>
        <p:nvSpPr>
          <p:cNvPr id="31" name="Shape 29"/>
          <p:cNvSpPr/>
          <p:nvPr/>
        </p:nvSpPr>
        <p:spPr>
          <a:xfrm>
            <a:off x="4709160" y="2670048"/>
            <a:ext cx="1933956" cy="45720"/>
          </a:xfrm>
          <a:prstGeom prst="rect">
            <a:avLst/>
          </a:prstGeom>
          <a:solidFill>
            <a:srgbClr val="B03A48"/>
          </a:solidFill>
          <a:ln/>
        </p:spPr>
        <p:txBody>
          <a:bodyPr/>
          <a:lstStyle/>
          <a:p>
            <a:endParaRPr lang="fr-FR"/>
          </a:p>
        </p:txBody>
      </p:sp>
      <p:sp>
        <p:nvSpPr>
          <p:cNvPr id="32" name="Text 30"/>
          <p:cNvSpPr/>
          <p:nvPr/>
        </p:nvSpPr>
        <p:spPr>
          <a:xfrm>
            <a:off x="4855464" y="2779776"/>
            <a:ext cx="1641348" cy="237744"/>
          </a:xfrm>
          <a:prstGeom prst="rect">
            <a:avLst/>
          </a:prstGeom>
          <a:noFill/>
          <a:ln/>
        </p:spPr>
        <p:txBody>
          <a:bodyPr wrap="square" lIns="0" tIns="0" rIns="0" bIns="0" rtlCol="0" anchor="ctr"/>
          <a:lstStyle/>
          <a:p>
            <a:pPr marL="0" indent="0">
              <a:buNone/>
            </a:pPr>
            <a:r>
              <a:rPr lang="en-US" sz="1300" b="1" dirty="0">
                <a:solidFill>
                  <a:srgbClr val="B03A48"/>
                </a:solidFill>
                <a:latin typeface="Calibri" pitchFamily="34" charset="0"/>
                <a:ea typeface="Calibri" pitchFamily="34" charset="-122"/>
                <a:cs typeface="Calibri" pitchFamily="34" charset="-120"/>
              </a:rPr>
              <a:t>5 · </a:t>
            </a:r>
            <a:r>
              <a:rPr lang="en-US" sz="1300" b="1" dirty="0">
                <a:solidFill>
                  <a:srgbClr val="12263F"/>
                </a:solidFill>
                <a:latin typeface="Calibri" pitchFamily="34" charset="0"/>
                <a:ea typeface="Calibri" pitchFamily="34" charset="-122"/>
                <a:cs typeface="Calibri" pitchFamily="34" charset="-120"/>
              </a:rPr>
              <a:t>Analyser</a:t>
            </a:r>
            <a:endParaRPr lang="en-US" sz="1300" dirty="0"/>
          </a:p>
        </p:txBody>
      </p:sp>
      <p:sp>
        <p:nvSpPr>
          <p:cNvPr id="33" name="Shape 31"/>
          <p:cNvSpPr/>
          <p:nvPr/>
        </p:nvSpPr>
        <p:spPr>
          <a:xfrm>
            <a:off x="5875020" y="2807208"/>
            <a:ext cx="640080" cy="182880"/>
          </a:xfrm>
          <a:prstGeom prst="roundRect">
            <a:avLst>
              <a:gd name="adj" fmla="val 15000"/>
            </a:avLst>
          </a:prstGeom>
          <a:solidFill>
            <a:srgbClr val="B03A48"/>
          </a:solidFill>
          <a:ln w="12700">
            <a:solidFill>
              <a:srgbClr val="B03A48"/>
            </a:solidFill>
            <a:prstDash val="solid"/>
          </a:ln>
        </p:spPr>
        <p:txBody>
          <a:bodyPr/>
          <a:lstStyle/>
          <a:p>
            <a:endParaRPr lang="fr-FR"/>
          </a:p>
        </p:txBody>
      </p:sp>
      <p:sp>
        <p:nvSpPr>
          <p:cNvPr id="34" name="Text 32"/>
          <p:cNvSpPr/>
          <p:nvPr/>
        </p:nvSpPr>
        <p:spPr>
          <a:xfrm>
            <a:off x="5875020" y="2807208"/>
            <a:ext cx="640080" cy="182880"/>
          </a:xfrm>
          <a:prstGeom prst="rect">
            <a:avLst/>
          </a:prstGeom>
          <a:noFill/>
          <a:ln/>
        </p:spPr>
        <p:txBody>
          <a:bodyPr wrap="square" lIns="0" tIns="0" rIns="0" bIns="0" rtlCol="0" anchor="ctr"/>
          <a:lstStyle/>
          <a:p>
            <a:pPr marL="0" indent="0" algn="ctr">
              <a:lnSpc>
                <a:spcPct val="108000"/>
              </a:lnSpc>
              <a:buNone/>
            </a:pPr>
            <a:r>
              <a:rPr lang="en-US" sz="650" b="1" dirty="0">
                <a:solidFill>
                  <a:srgbClr val="FFFFFF"/>
                </a:solidFill>
                <a:latin typeface="Calibri" pitchFamily="34" charset="0"/>
                <a:ea typeface="Calibri" pitchFamily="34" charset="-122"/>
                <a:cs typeface="Calibri" pitchFamily="34" charset="-120"/>
              </a:rPr>
              <a:t>BLOQUANT</a:t>
            </a:r>
            <a:endParaRPr lang="en-US" sz="650" dirty="0"/>
          </a:p>
        </p:txBody>
      </p:sp>
      <p:sp>
        <p:nvSpPr>
          <p:cNvPr id="35" name="Text 33"/>
          <p:cNvSpPr/>
          <p:nvPr/>
        </p:nvSpPr>
        <p:spPr>
          <a:xfrm>
            <a:off x="4910328" y="3072384"/>
            <a:ext cx="1568196" cy="694944"/>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4A5769"/>
                </a:solidFill>
                <a:latin typeface="Calibri" pitchFamily="34" charset="0"/>
                <a:ea typeface="Calibri" pitchFamily="34" charset="-122"/>
                <a:cs typeface="Calibri" pitchFamily="34" charset="-120"/>
              </a:rPr>
              <a:t>Inventaire des composants</a:t>
            </a:r>
            <a:endParaRPr lang="en-US" sz="950" dirty="0"/>
          </a:p>
          <a:p>
            <a:pPr marL="342900" indent="-342900">
              <a:spcAft>
                <a:spcPts val="400"/>
              </a:spcAft>
              <a:buSzPct val="100000"/>
              <a:buChar char="•"/>
            </a:pPr>
            <a:r>
              <a:rPr lang="en-US" sz="950" dirty="0">
                <a:solidFill>
                  <a:srgbClr val="4A5769"/>
                </a:solidFill>
                <a:latin typeface="Calibri" pitchFamily="34" charset="0"/>
                <a:ea typeface="Calibri" pitchFamily="34" charset="-122"/>
                <a:cs typeface="Calibri" pitchFamily="34" charset="-120"/>
              </a:rPr>
              <a:t>Analyse des images</a:t>
            </a:r>
            <a:endParaRPr lang="en-US" sz="950" dirty="0"/>
          </a:p>
        </p:txBody>
      </p:sp>
      <p:sp>
        <p:nvSpPr>
          <p:cNvPr id="36" name="Shape 34"/>
          <p:cNvSpPr/>
          <p:nvPr/>
        </p:nvSpPr>
        <p:spPr>
          <a:xfrm>
            <a:off x="6917436" y="1335024"/>
            <a:ext cx="1933956" cy="2505456"/>
          </a:xfrm>
          <a:prstGeom prst="rect">
            <a:avLst/>
          </a:prstGeom>
          <a:solidFill>
            <a:srgbClr val="FFFFFF"/>
          </a:solidFill>
          <a:ln w="12700">
            <a:solidFill>
              <a:srgbClr val="E2E8EE"/>
            </a:solidFill>
            <a:prstDash val="solid"/>
          </a:ln>
        </p:spPr>
        <p:txBody>
          <a:bodyPr/>
          <a:lstStyle/>
          <a:p>
            <a:endParaRPr lang="fr-FR"/>
          </a:p>
        </p:txBody>
      </p:sp>
      <p:sp>
        <p:nvSpPr>
          <p:cNvPr id="37" name="Shape 35"/>
          <p:cNvSpPr/>
          <p:nvPr/>
        </p:nvSpPr>
        <p:spPr>
          <a:xfrm>
            <a:off x="6917436" y="1335024"/>
            <a:ext cx="1933956" cy="45720"/>
          </a:xfrm>
          <a:prstGeom prst="rect">
            <a:avLst/>
          </a:prstGeom>
          <a:solidFill>
            <a:srgbClr val="12855A"/>
          </a:solidFill>
          <a:ln/>
        </p:spPr>
        <p:txBody>
          <a:bodyPr/>
          <a:lstStyle/>
          <a:p>
            <a:endParaRPr lang="fr-FR"/>
          </a:p>
        </p:txBody>
      </p:sp>
      <p:sp>
        <p:nvSpPr>
          <p:cNvPr id="38" name="Text 36"/>
          <p:cNvSpPr/>
          <p:nvPr/>
        </p:nvSpPr>
        <p:spPr>
          <a:xfrm>
            <a:off x="7063740" y="1444752"/>
            <a:ext cx="1641348" cy="237744"/>
          </a:xfrm>
          <a:prstGeom prst="rect">
            <a:avLst/>
          </a:prstGeom>
          <a:noFill/>
          <a:ln/>
        </p:spPr>
        <p:txBody>
          <a:bodyPr wrap="square" lIns="0" tIns="0" rIns="0" bIns="0" rtlCol="0" anchor="ctr"/>
          <a:lstStyle/>
          <a:p>
            <a:pPr marL="0" indent="0">
              <a:buNone/>
            </a:pPr>
            <a:r>
              <a:rPr lang="en-US" sz="1300" b="1" dirty="0">
                <a:solidFill>
                  <a:srgbClr val="12855A"/>
                </a:solidFill>
                <a:latin typeface="Calibri" pitchFamily="34" charset="0"/>
                <a:ea typeface="Calibri" pitchFamily="34" charset="-122"/>
                <a:cs typeface="Calibri" pitchFamily="34" charset="-120"/>
              </a:rPr>
              <a:t>7 · </a:t>
            </a:r>
            <a:r>
              <a:rPr lang="en-US" sz="1300" b="1" dirty="0">
                <a:solidFill>
                  <a:srgbClr val="12263F"/>
                </a:solidFill>
                <a:latin typeface="Calibri" pitchFamily="34" charset="0"/>
                <a:ea typeface="Calibri" pitchFamily="34" charset="-122"/>
                <a:cs typeface="Calibri" pitchFamily="34" charset="-120"/>
              </a:rPr>
              <a:t>Déployer</a:t>
            </a:r>
            <a:endParaRPr lang="en-US" sz="1300" dirty="0"/>
          </a:p>
        </p:txBody>
      </p:sp>
      <p:sp>
        <p:nvSpPr>
          <p:cNvPr id="39" name="Text 37"/>
          <p:cNvSpPr/>
          <p:nvPr/>
        </p:nvSpPr>
        <p:spPr>
          <a:xfrm>
            <a:off x="7118604" y="1737360"/>
            <a:ext cx="1568196" cy="2029968"/>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4A5769"/>
                </a:solidFill>
                <a:latin typeface="Calibri" pitchFamily="34" charset="0"/>
                <a:ea typeface="Calibri" pitchFamily="34" charset="-122"/>
                <a:cs typeface="Calibri" pitchFamily="34" charset="-120"/>
              </a:rPr>
              <a:t>Met la version en ligne</a:t>
            </a:r>
            <a:endParaRPr lang="en-US" sz="950" dirty="0"/>
          </a:p>
          <a:p>
            <a:pPr marL="342900" indent="-342900">
              <a:spcAft>
                <a:spcPts val="400"/>
              </a:spcAft>
              <a:buSzPct val="100000"/>
              <a:buChar char="•"/>
            </a:pPr>
            <a:r>
              <a:rPr lang="en-US" sz="950" dirty="0">
                <a:solidFill>
                  <a:srgbClr val="4A5769"/>
                </a:solidFill>
                <a:latin typeface="Calibri" pitchFamily="34" charset="0"/>
                <a:ea typeface="Calibri" pitchFamily="34" charset="-122"/>
                <a:cs typeface="Calibri" pitchFamily="34" charset="-120"/>
              </a:rPr>
              <a:t>Sans coupure de service</a:t>
            </a:r>
            <a:endParaRPr lang="en-US" sz="950" dirty="0"/>
          </a:p>
          <a:p>
            <a:pPr marL="342900" indent="-342900">
              <a:spcAft>
                <a:spcPts val="400"/>
              </a:spcAft>
              <a:buSzPct val="100000"/>
              <a:buChar char="•"/>
            </a:pPr>
            <a:r>
              <a:rPr lang="en-US" sz="950" dirty="0">
                <a:solidFill>
                  <a:srgbClr val="4A5769"/>
                </a:solidFill>
                <a:latin typeface="Calibri" pitchFamily="34" charset="0"/>
                <a:ea typeface="Calibri" pitchFamily="34" charset="-122"/>
                <a:cs typeface="Calibri" pitchFamily="34" charset="-120"/>
              </a:rPr>
              <a:t>Met la base à jour</a:t>
            </a:r>
            <a:endParaRPr lang="en-US" sz="950" dirty="0"/>
          </a:p>
          <a:p>
            <a:pPr marL="342900" indent="-342900">
              <a:spcAft>
                <a:spcPts val="400"/>
              </a:spcAft>
              <a:buSzPct val="100000"/>
              <a:buChar char="•"/>
            </a:pPr>
            <a:r>
              <a:rPr lang="en-US" sz="950" dirty="0">
                <a:solidFill>
                  <a:srgbClr val="4A5769"/>
                </a:solidFill>
                <a:latin typeface="Calibri" pitchFamily="34" charset="0"/>
                <a:ea typeface="Calibri" pitchFamily="34" charset="-122"/>
                <a:cs typeface="Calibri" pitchFamily="34" charset="-120"/>
              </a:rPr>
              <a:t>Retour arrière si échec</a:t>
            </a:r>
            <a:endParaRPr lang="en-US" sz="950" dirty="0"/>
          </a:p>
        </p:txBody>
      </p:sp>
      <p:sp>
        <p:nvSpPr>
          <p:cNvPr id="40" name="Shape 38"/>
          <p:cNvSpPr/>
          <p:nvPr/>
        </p:nvSpPr>
        <p:spPr>
          <a:xfrm>
            <a:off x="2272284" y="1920240"/>
            <a:ext cx="182880" cy="0"/>
          </a:xfrm>
          <a:prstGeom prst="line">
            <a:avLst/>
          </a:prstGeom>
          <a:noFill/>
          <a:ln w="22225">
            <a:solidFill>
              <a:srgbClr val="8FA6BC"/>
            </a:solidFill>
            <a:prstDash val="solid"/>
            <a:tailEnd type="triangle"/>
          </a:ln>
        </p:spPr>
        <p:txBody>
          <a:bodyPr/>
          <a:lstStyle/>
          <a:p>
            <a:endParaRPr lang="fr-FR"/>
          </a:p>
        </p:txBody>
      </p:sp>
      <p:sp>
        <p:nvSpPr>
          <p:cNvPr id="41" name="Shape 39"/>
          <p:cNvSpPr/>
          <p:nvPr/>
        </p:nvSpPr>
        <p:spPr>
          <a:xfrm>
            <a:off x="4480560" y="1920240"/>
            <a:ext cx="182880" cy="0"/>
          </a:xfrm>
          <a:prstGeom prst="line">
            <a:avLst/>
          </a:prstGeom>
          <a:noFill/>
          <a:ln w="22225">
            <a:solidFill>
              <a:srgbClr val="8FA6BC"/>
            </a:solidFill>
            <a:prstDash val="solid"/>
            <a:tailEnd type="triangle"/>
          </a:ln>
        </p:spPr>
        <p:txBody>
          <a:bodyPr/>
          <a:lstStyle/>
          <a:p>
            <a:endParaRPr lang="fr-FR"/>
          </a:p>
        </p:txBody>
      </p:sp>
      <p:sp>
        <p:nvSpPr>
          <p:cNvPr id="42" name="Shape 40"/>
          <p:cNvSpPr/>
          <p:nvPr/>
        </p:nvSpPr>
        <p:spPr>
          <a:xfrm>
            <a:off x="6688836" y="1920240"/>
            <a:ext cx="182880" cy="0"/>
          </a:xfrm>
          <a:prstGeom prst="line">
            <a:avLst/>
          </a:prstGeom>
          <a:noFill/>
          <a:ln w="22225">
            <a:solidFill>
              <a:srgbClr val="8FA6BC"/>
            </a:solidFill>
            <a:prstDash val="solid"/>
            <a:tailEnd type="triangle"/>
          </a:ln>
        </p:spPr>
        <p:txBody>
          <a:bodyPr/>
          <a:lstStyle/>
          <a:p>
            <a:endParaRPr lang="fr-FR"/>
          </a:p>
        </p:txBody>
      </p:sp>
      <p:sp>
        <p:nvSpPr>
          <p:cNvPr id="43" name="Shape 41"/>
          <p:cNvSpPr/>
          <p:nvPr/>
        </p:nvSpPr>
        <p:spPr>
          <a:xfrm>
            <a:off x="2272284" y="3255264"/>
            <a:ext cx="182880" cy="0"/>
          </a:xfrm>
          <a:prstGeom prst="line">
            <a:avLst/>
          </a:prstGeom>
          <a:noFill/>
          <a:ln w="22225">
            <a:solidFill>
              <a:srgbClr val="8FA6BC"/>
            </a:solidFill>
            <a:prstDash val="solid"/>
            <a:tailEnd type="triangle"/>
          </a:ln>
        </p:spPr>
        <p:txBody>
          <a:bodyPr/>
          <a:lstStyle/>
          <a:p>
            <a:endParaRPr lang="fr-FR"/>
          </a:p>
        </p:txBody>
      </p:sp>
      <p:sp>
        <p:nvSpPr>
          <p:cNvPr id="44" name="Shape 42"/>
          <p:cNvSpPr/>
          <p:nvPr/>
        </p:nvSpPr>
        <p:spPr>
          <a:xfrm>
            <a:off x="4480560" y="3255264"/>
            <a:ext cx="182880" cy="0"/>
          </a:xfrm>
          <a:prstGeom prst="line">
            <a:avLst/>
          </a:prstGeom>
          <a:noFill/>
          <a:ln w="22225">
            <a:solidFill>
              <a:srgbClr val="8FA6BC"/>
            </a:solidFill>
            <a:prstDash val="solid"/>
            <a:tailEnd type="triangle"/>
          </a:ln>
        </p:spPr>
        <p:txBody>
          <a:bodyPr/>
          <a:lstStyle/>
          <a:p>
            <a:endParaRPr lang="fr-FR"/>
          </a:p>
        </p:txBody>
      </p:sp>
      <p:sp>
        <p:nvSpPr>
          <p:cNvPr id="45" name="Shape 43"/>
          <p:cNvSpPr/>
          <p:nvPr/>
        </p:nvSpPr>
        <p:spPr>
          <a:xfrm>
            <a:off x="6688836" y="3255264"/>
            <a:ext cx="182880" cy="0"/>
          </a:xfrm>
          <a:prstGeom prst="line">
            <a:avLst/>
          </a:prstGeom>
          <a:noFill/>
          <a:ln w="22225">
            <a:solidFill>
              <a:srgbClr val="8FA6BC"/>
            </a:solidFill>
            <a:prstDash val="solid"/>
            <a:tailEnd type="triangle"/>
          </a:ln>
        </p:spPr>
        <p:txBody>
          <a:bodyPr/>
          <a:lstStyle/>
          <a:p>
            <a:endParaRPr lang="fr-FR"/>
          </a:p>
        </p:txBody>
      </p:sp>
      <p:sp>
        <p:nvSpPr>
          <p:cNvPr id="46" name="Shape 44"/>
          <p:cNvSpPr/>
          <p:nvPr/>
        </p:nvSpPr>
        <p:spPr>
          <a:xfrm>
            <a:off x="292608" y="4224528"/>
            <a:ext cx="8558784" cy="475488"/>
          </a:xfrm>
          <a:prstGeom prst="rect">
            <a:avLst/>
          </a:prstGeom>
          <a:solidFill>
            <a:srgbClr val="12263F"/>
          </a:solidFill>
          <a:ln/>
        </p:spPr>
        <p:txBody>
          <a:bodyPr/>
          <a:lstStyle/>
          <a:p>
            <a:endParaRPr lang="fr-FR"/>
          </a:p>
        </p:txBody>
      </p:sp>
      <p:sp>
        <p:nvSpPr>
          <p:cNvPr id="47" name="Shape 45"/>
          <p:cNvSpPr/>
          <p:nvPr/>
        </p:nvSpPr>
        <p:spPr>
          <a:xfrm>
            <a:off x="292608" y="4224528"/>
            <a:ext cx="45720" cy="475488"/>
          </a:xfrm>
          <a:prstGeom prst="rect">
            <a:avLst/>
          </a:prstGeom>
          <a:solidFill>
            <a:srgbClr val="E08A3C"/>
          </a:solidFill>
          <a:ln/>
        </p:spPr>
        <p:txBody>
          <a:bodyPr/>
          <a:lstStyle/>
          <a:p>
            <a:endParaRPr lang="fr-FR"/>
          </a:p>
        </p:txBody>
      </p:sp>
      <p:sp>
        <p:nvSpPr>
          <p:cNvPr id="48" name="Text 46"/>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Deux étapes bloquantes : une faille critique arrête la chaîne avant la mise en ligne.</a:t>
            </a:r>
            <a:endParaRPr lang="en-US" sz="1150" dirty="0"/>
          </a:p>
        </p:txBody>
      </p:sp>
      <p:sp>
        <p:nvSpPr>
          <p:cNvPr id="49" name="Text 47"/>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5.1 - Infrastructure et Environnement de Déploiement</a:t>
            </a:r>
            <a:endParaRPr lang="en-US" sz="750" dirty="0"/>
          </a:p>
        </p:txBody>
      </p:sp>
      <p:sp>
        <p:nvSpPr>
          <p:cNvPr id="50" name="Text 48"/>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5. Implémentations techniques</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18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5.2 - Technologies et Outils Utilisés</a:t>
            </a:r>
            <a:endParaRPr lang="en-US" sz="2200" dirty="0"/>
          </a:p>
        </p:txBody>
      </p:sp>
      <p:sp>
        <p:nvSpPr>
          <p:cNvPr id="7" name="Text 5"/>
          <p:cNvSpPr/>
          <p:nvPr/>
        </p:nvSpPr>
        <p:spPr>
          <a:xfrm>
            <a:off x="292608" y="1024128"/>
            <a:ext cx="8558784" cy="201168"/>
          </a:xfrm>
          <a:prstGeom prst="rect">
            <a:avLst/>
          </a:prstGeom>
          <a:noFill/>
          <a:ln/>
        </p:spPr>
        <p:txBody>
          <a:bodyPr wrap="square" lIns="0" tIns="0" rIns="0" bIns="0" rtlCol="0" anchor="ctr"/>
          <a:lstStyle/>
          <a:p>
            <a:pPr marL="0" indent="0">
              <a:buNone/>
            </a:pPr>
            <a:r>
              <a:rPr lang="en-US" sz="1050" dirty="0">
                <a:solidFill>
                  <a:srgbClr val="4A5769"/>
                </a:solidFill>
                <a:latin typeface="Calibri" pitchFamily="34" charset="0"/>
                <a:ea typeface="Calibri" pitchFamily="34" charset="-122"/>
                <a:cs typeface="Calibri" pitchFamily="34" charset="-120"/>
              </a:rPr>
              <a:t>Les technologies retenues, de l'interface jusqu'à la surveillance.</a:t>
            </a:r>
            <a:endParaRPr lang="en-US" sz="1050" dirty="0"/>
          </a:p>
        </p:txBody>
      </p:sp>
      <p:sp>
        <p:nvSpPr>
          <p:cNvPr id="8" name="Shape 6"/>
          <p:cNvSpPr/>
          <p:nvPr/>
        </p:nvSpPr>
        <p:spPr>
          <a:xfrm>
            <a:off x="292608" y="1335024"/>
            <a:ext cx="8558784" cy="457200"/>
          </a:xfrm>
          <a:prstGeom prst="rect">
            <a:avLst/>
          </a:prstGeom>
          <a:solidFill>
            <a:srgbClr val="FFFFFF"/>
          </a:solidFill>
          <a:ln w="12700">
            <a:solidFill>
              <a:srgbClr val="1B6EC2"/>
            </a:solidFill>
            <a:prstDash val="solid"/>
          </a:ln>
        </p:spPr>
        <p:txBody>
          <a:bodyPr/>
          <a:lstStyle/>
          <a:p>
            <a:endParaRPr lang="fr-FR"/>
          </a:p>
        </p:txBody>
      </p:sp>
      <p:sp>
        <p:nvSpPr>
          <p:cNvPr id="9" name="Shape 7"/>
          <p:cNvSpPr/>
          <p:nvPr/>
        </p:nvSpPr>
        <p:spPr>
          <a:xfrm>
            <a:off x="292608" y="1335024"/>
            <a:ext cx="45720" cy="457200"/>
          </a:xfrm>
          <a:prstGeom prst="rect">
            <a:avLst/>
          </a:prstGeom>
          <a:solidFill>
            <a:srgbClr val="1B6EC2"/>
          </a:solidFill>
          <a:ln/>
        </p:spPr>
        <p:txBody>
          <a:bodyPr/>
          <a:lstStyle/>
          <a:p>
            <a:endParaRPr lang="fr-FR"/>
          </a:p>
        </p:txBody>
      </p:sp>
      <p:sp>
        <p:nvSpPr>
          <p:cNvPr id="10" name="Text 8"/>
          <p:cNvSpPr/>
          <p:nvPr/>
        </p:nvSpPr>
        <p:spPr>
          <a:xfrm>
            <a:off x="475488" y="1335024"/>
            <a:ext cx="2834640" cy="457200"/>
          </a:xfrm>
          <a:prstGeom prst="rect">
            <a:avLst/>
          </a:prstGeom>
          <a:noFill/>
          <a:ln/>
        </p:spPr>
        <p:txBody>
          <a:bodyPr wrap="square" lIns="0" tIns="0" rIns="0" bIns="0" rtlCol="0" anchor="ctr"/>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CE QUE VOIT L'UTILISATEUR</a:t>
            </a:r>
            <a:endParaRPr lang="en-US" sz="1050" dirty="0"/>
          </a:p>
        </p:txBody>
      </p:sp>
      <p:sp>
        <p:nvSpPr>
          <p:cNvPr id="11" name="Shape 9"/>
          <p:cNvSpPr/>
          <p:nvPr/>
        </p:nvSpPr>
        <p:spPr>
          <a:xfrm>
            <a:off x="3401568" y="1426464"/>
            <a:ext cx="1280160" cy="274320"/>
          </a:xfrm>
          <a:prstGeom prst="roundRect">
            <a:avLst>
              <a:gd name="adj" fmla="val 16667"/>
            </a:avLst>
          </a:prstGeom>
          <a:solidFill>
            <a:srgbClr val="FFFFFF"/>
          </a:solidFill>
          <a:ln w="12700">
            <a:solidFill>
              <a:srgbClr val="1B6EC2"/>
            </a:solidFill>
            <a:prstDash val="solid"/>
          </a:ln>
        </p:spPr>
        <p:txBody>
          <a:bodyPr/>
          <a:lstStyle/>
          <a:p>
            <a:endParaRPr lang="fr-FR"/>
          </a:p>
        </p:txBody>
      </p:sp>
      <p:sp>
        <p:nvSpPr>
          <p:cNvPr id="12" name="Text 10"/>
          <p:cNvSpPr/>
          <p:nvPr/>
        </p:nvSpPr>
        <p:spPr>
          <a:xfrm>
            <a:off x="3456432" y="1426464"/>
            <a:ext cx="1170432" cy="274320"/>
          </a:xfrm>
          <a:prstGeom prst="rect">
            <a:avLst/>
          </a:prstGeom>
          <a:noFill/>
          <a:ln/>
        </p:spPr>
        <p:txBody>
          <a:bodyPr wrap="square" lIns="0" tIns="0" rIns="0" bIns="0" rtlCol="0" anchor="ctr"/>
          <a:lstStyle/>
          <a:p>
            <a:pPr marL="0" indent="0" algn="ctr">
              <a:lnSpc>
                <a:spcPct val="108000"/>
              </a:lnSpc>
              <a:buNone/>
            </a:pPr>
            <a:r>
              <a:rPr lang="en-US" sz="900" b="1" dirty="0">
                <a:solidFill>
                  <a:srgbClr val="12263F"/>
                </a:solidFill>
                <a:latin typeface="Calibri" pitchFamily="34" charset="0"/>
                <a:ea typeface="Calibri" pitchFamily="34" charset="-122"/>
                <a:cs typeface="Calibri" pitchFamily="34" charset="-120"/>
              </a:rPr>
              <a:t>Next.js</a:t>
            </a:r>
            <a:endParaRPr lang="en-US" sz="900" dirty="0"/>
          </a:p>
        </p:txBody>
      </p:sp>
      <p:sp>
        <p:nvSpPr>
          <p:cNvPr id="13" name="Shape 11"/>
          <p:cNvSpPr/>
          <p:nvPr/>
        </p:nvSpPr>
        <p:spPr>
          <a:xfrm>
            <a:off x="4773168" y="1426464"/>
            <a:ext cx="1280160" cy="274320"/>
          </a:xfrm>
          <a:prstGeom prst="roundRect">
            <a:avLst>
              <a:gd name="adj" fmla="val 16667"/>
            </a:avLst>
          </a:prstGeom>
          <a:solidFill>
            <a:srgbClr val="FFFFFF"/>
          </a:solidFill>
          <a:ln w="12700">
            <a:solidFill>
              <a:srgbClr val="1B6EC2"/>
            </a:solidFill>
            <a:prstDash val="solid"/>
          </a:ln>
        </p:spPr>
        <p:txBody>
          <a:bodyPr/>
          <a:lstStyle/>
          <a:p>
            <a:endParaRPr lang="fr-FR"/>
          </a:p>
        </p:txBody>
      </p:sp>
      <p:sp>
        <p:nvSpPr>
          <p:cNvPr id="14" name="Text 12"/>
          <p:cNvSpPr/>
          <p:nvPr/>
        </p:nvSpPr>
        <p:spPr>
          <a:xfrm>
            <a:off x="4828032" y="1426464"/>
            <a:ext cx="1170432" cy="274320"/>
          </a:xfrm>
          <a:prstGeom prst="rect">
            <a:avLst/>
          </a:prstGeom>
          <a:noFill/>
          <a:ln/>
        </p:spPr>
        <p:txBody>
          <a:bodyPr wrap="square" lIns="0" tIns="0" rIns="0" bIns="0" rtlCol="0" anchor="ctr"/>
          <a:lstStyle/>
          <a:p>
            <a:pPr marL="0" indent="0" algn="ctr">
              <a:lnSpc>
                <a:spcPct val="108000"/>
              </a:lnSpc>
              <a:buNone/>
            </a:pPr>
            <a:r>
              <a:rPr lang="en-US" sz="900" b="1" dirty="0">
                <a:solidFill>
                  <a:srgbClr val="12263F"/>
                </a:solidFill>
                <a:latin typeface="Calibri" pitchFamily="34" charset="0"/>
                <a:ea typeface="Calibri" pitchFamily="34" charset="-122"/>
                <a:cs typeface="Calibri" pitchFamily="34" charset="-120"/>
              </a:rPr>
              <a:t>TypeScript</a:t>
            </a:r>
            <a:endParaRPr lang="en-US" sz="900" dirty="0"/>
          </a:p>
        </p:txBody>
      </p:sp>
      <p:sp>
        <p:nvSpPr>
          <p:cNvPr id="15" name="Shape 13"/>
          <p:cNvSpPr/>
          <p:nvPr/>
        </p:nvSpPr>
        <p:spPr>
          <a:xfrm>
            <a:off x="292608" y="1865376"/>
            <a:ext cx="8558784" cy="457200"/>
          </a:xfrm>
          <a:prstGeom prst="rect">
            <a:avLst/>
          </a:prstGeom>
          <a:solidFill>
            <a:srgbClr val="FFFFFF"/>
          </a:solidFill>
          <a:ln w="12700">
            <a:solidFill>
              <a:srgbClr val="12855A"/>
            </a:solidFill>
            <a:prstDash val="solid"/>
          </a:ln>
        </p:spPr>
        <p:txBody>
          <a:bodyPr/>
          <a:lstStyle/>
          <a:p>
            <a:endParaRPr lang="fr-FR"/>
          </a:p>
        </p:txBody>
      </p:sp>
      <p:sp>
        <p:nvSpPr>
          <p:cNvPr id="16" name="Shape 14"/>
          <p:cNvSpPr/>
          <p:nvPr/>
        </p:nvSpPr>
        <p:spPr>
          <a:xfrm>
            <a:off x="292608" y="1865376"/>
            <a:ext cx="45720" cy="457200"/>
          </a:xfrm>
          <a:prstGeom prst="rect">
            <a:avLst/>
          </a:prstGeom>
          <a:solidFill>
            <a:srgbClr val="12855A"/>
          </a:solidFill>
          <a:ln/>
        </p:spPr>
        <p:txBody>
          <a:bodyPr/>
          <a:lstStyle/>
          <a:p>
            <a:endParaRPr lang="fr-FR"/>
          </a:p>
        </p:txBody>
      </p:sp>
      <p:sp>
        <p:nvSpPr>
          <p:cNvPr id="17" name="Text 15"/>
          <p:cNvSpPr/>
          <p:nvPr/>
        </p:nvSpPr>
        <p:spPr>
          <a:xfrm>
            <a:off x="475488" y="1865376"/>
            <a:ext cx="2834640" cy="457200"/>
          </a:xfrm>
          <a:prstGeom prst="rect">
            <a:avLst/>
          </a:prstGeom>
          <a:noFill/>
          <a:ln/>
        </p:spPr>
        <p:txBody>
          <a:bodyPr wrap="square" lIns="0" tIns="0" rIns="0" bIns="0" rtlCol="0" anchor="ctr"/>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LE CŒUR APPLICATIF</a:t>
            </a:r>
            <a:endParaRPr lang="en-US" sz="1050" dirty="0"/>
          </a:p>
        </p:txBody>
      </p:sp>
      <p:sp>
        <p:nvSpPr>
          <p:cNvPr id="18" name="Shape 16"/>
          <p:cNvSpPr/>
          <p:nvPr/>
        </p:nvSpPr>
        <p:spPr>
          <a:xfrm>
            <a:off x="3401568" y="1956816"/>
            <a:ext cx="1280160" cy="274320"/>
          </a:xfrm>
          <a:prstGeom prst="roundRect">
            <a:avLst>
              <a:gd name="adj" fmla="val 16667"/>
            </a:avLst>
          </a:prstGeom>
          <a:solidFill>
            <a:srgbClr val="FFFFFF"/>
          </a:solidFill>
          <a:ln w="12700">
            <a:solidFill>
              <a:srgbClr val="12855A"/>
            </a:solidFill>
            <a:prstDash val="solid"/>
          </a:ln>
        </p:spPr>
        <p:txBody>
          <a:bodyPr/>
          <a:lstStyle/>
          <a:p>
            <a:endParaRPr lang="fr-FR"/>
          </a:p>
        </p:txBody>
      </p:sp>
      <p:sp>
        <p:nvSpPr>
          <p:cNvPr id="19" name="Text 17"/>
          <p:cNvSpPr/>
          <p:nvPr/>
        </p:nvSpPr>
        <p:spPr>
          <a:xfrm>
            <a:off x="3456432" y="1956816"/>
            <a:ext cx="1170432" cy="274320"/>
          </a:xfrm>
          <a:prstGeom prst="rect">
            <a:avLst/>
          </a:prstGeom>
          <a:noFill/>
          <a:ln/>
        </p:spPr>
        <p:txBody>
          <a:bodyPr wrap="square" lIns="0" tIns="0" rIns="0" bIns="0" rtlCol="0" anchor="ctr"/>
          <a:lstStyle/>
          <a:p>
            <a:pPr marL="0" indent="0" algn="ctr">
              <a:lnSpc>
                <a:spcPct val="108000"/>
              </a:lnSpc>
              <a:buNone/>
            </a:pPr>
            <a:r>
              <a:rPr lang="en-US" sz="900" b="1" dirty="0">
                <a:solidFill>
                  <a:srgbClr val="12263F"/>
                </a:solidFill>
                <a:latin typeface="Calibri" pitchFamily="34" charset="0"/>
                <a:ea typeface="Calibri" pitchFamily="34" charset="-122"/>
                <a:cs typeface="Calibri" pitchFamily="34" charset="-120"/>
              </a:rPr>
              <a:t>NestJS</a:t>
            </a:r>
            <a:endParaRPr lang="en-US" sz="900" dirty="0"/>
          </a:p>
        </p:txBody>
      </p:sp>
      <p:sp>
        <p:nvSpPr>
          <p:cNvPr id="20" name="Shape 18"/>
          <p:cNvSpPr/>
          <p:nvPr/>
        </p:nvSpPr>
        <p:spPr>
          <a:xfrm>
            <a:off x="4773168" y="1956816"/>
            <a:ext cx="1280160" cy="274320"/>
          </a:xfrm>
          <a:prstGeom prst="roundRect">
            <a:avLst>
              <a:gd name="adj" fmla="val 16667"/>
            </a:avLst>
          </a:prstGeom>
          <a:solidFill>
            <a:srgbClr val="FFFFFF"/>
          </a:solidFill>
          <a:ln w="12700">
            <a:solidFill>
              <a:srgbClr val="12855A"/>
            </a:solidFill>
            <a:prstDash val="solid"/>
          </a:ln>
        </p:spPr>
        <p:txBody>
          <a:bodyPr/>
          <a:lstStyle/>
          <a:p>
            <a:endParaRPr lang="fr-FR"/>
          </a:p>
        </p:txBody>
      </p:sp>
      <p:sp>
        <p:nvSpPr>
          <p:cNvPr id="21" name="Text 19"/>
          <p:cNvSpPr/>
          <p:nvPr/>
        </p:nvSpPr>
        <p:spPr>
          <a:xfrm>
            <a:off x="4828032" y="1956816"/>
            <a:ext cx="1170432" cy="274320"/>
          </a:xfrm>
          <a:prstGeom prst="rect">
            <a:avLst/>
          </a:prstGeom>
          <a:noFill/>
          <a:ln/>
        </p:spPr>
        <p:txBody>
          <a:bodyPr wrap="square" lIns="0" tIns="0" rIns="0" bIns="0" rtlCol="0" anchor="ctr"/>
          <a:lstStyle/>
          <a:p>
            <a:pPr marL="0" indent="0" algn="ctr">
              <a:lnSpc>
                <a:spcPct val="108000"/>
              </a:lnSpc>
              <a:buNone/>
            </a:pPr>
            <a:r>
              <a:rPr lang="en-US" sz="900" b="1" dirty="0">
                <a:solidFill>
                  <a:srgbClr val="12263F"/>
                </a:solidFill>
                <a:latin typeface="Calibri" pitchFamily="34" charset="0"/>
                <a:ea typeface="Calibri" pitchFamily="34" charset="-122"/>
                <a:cs typeface="Calibri" pitchFamily="34" charset="-120"/>
              </a:rPr>
              <a:t>TypeScript</a:t>
            </a:r>
            <a:endParaRPr lang="en-US" sz="900" dirty="0"/>
          </a:p>
        </p:txBody>
      </p:sp>
      <p:sp>
        <p:nvSpPr>
          <p:cNvPr id="22" name="Shape 20"/>
          <p:cNvSpPr/>
          <p:nvPr/>
        </p:nvSpPr>
        <p:spPr>
          <a:xfrm>
            <a:off x="6144768" y="1956816"/>
            <a:ext cx="1280160" cy="274320"/>
          </a:xfrm>
          <a:prstGeom prst="roundRect">
            <a:avLst>
              <a:gd name="adj" fmla="val 16667"/>
            </a:avLst>
          </a:prstGeom>
          <a:solidFill>
            <a:srgbClr val="FFFFFF"/>
          </a:solidFill>
          <a:ln w="12700">
            <a:solidFill>
              <a:srgbClr val="12855A"/>
            </a:solidFill>
            <a:prstDash val="solid"/>
          </a:ln>
        </p:spPr>
        <p:txBody>
          <a:bodyPr/>
          <a:lstStyle/>
          <a:p>
            <a:endParaRPr lang="fr-FR"/>
          </a:p>
        </p:txBody>
      </p:sp>
      <p:sp>
        <p:nvSpPr>
          <p:cNvPr id="23" name="Text 21"/>
          <p:cNvSpPr/>
          <p:nvPr/>
        </p:nvSpPr>
        <p:spPr>
          <a:xfrm>
            <a:off x="6199632" y="1956816"/>
            <a:ext cx="1170432" cy="274320"/>
          </a:xfrm>
          <a:prstGeom prst="rect">
            <a:avLst/>
          </a:prstGeom>
          <a:noFill/>
          <a:ln/>
        </p:spPr>
        <p:txBody>
          <a:bodyPr wrap="square" lIns="0" tIns="0" rIns="0" bIns="0" rtlCol="0" anchor="ctr"/>
          <a:lstStyle/>
          <a:p>
            <a:pPr marL="0" indent="0" algn="ctr">
              <a:lnSpc>
                <a:spcPct val="108000"/>
              </a:lnSpc>
              <a:buNone/>
            </a:pPr>
            <a:r>
              <a:rPr lang="en-US" sz="900" b="1" dirty="0">
                <a:solidFill>
                  <a:srgbClr val="12263F"/>
                </a:solidFill>
                <a:latin typeface="Calibri" pitchFamily="34" charset="0"/>
                <a:ea typeface="Calibri" pitchFamily="34" charset="-122"/>
                <a:cs typeface="Calibri" pitchFamily="34" charset="-120"/>
              </a:rPr>
              <a:t>OpenAPI</a:t>
            </a:r>
            <a:endParaRPr lang="en-US" sz="900" dirty="0"/>
          </a:p>
        </p:txBody>
      </p:sp>
      <p:sp>
        <p:nvSpPr>
          <p:cNvPr id="24" name="Shape 22"/>
          <p:cNvSpPr/>
          <p:nvPr/>
        </p:nvSpPr>
        <p:spPr>
          <a:xfrm>
            <a:off x="292608" y="2395728"/>
            <a:ext cx="8558784" cy="457200"/>
          </a:xfrm>
          <a:prstGeom prst="rect">
            <a:avLst/>
          </a:prstGeom>
          <a:solidFill>
            <a:srgbClr val="FFFFFF"/>
          </a:solidFill>
          <a:ln w="12700">
            <a:solidFill>
              <a:srgbClr val="6B3FD4"/>
            </a:solidFill>
            <a:prstDash val="solid"/>
          </a:ln>
        </p:spPr>
        <p:txBody>
          <a:bodyPr/>
          <a:lstStyle/>
          <a:p>
            <a:endParaRPr lang="fr-FR"/>
          </a:p>
        </p:txBody>
      </p:sp>
      <p:sp>
        <p:nvSpPr>
          <p:cNvPr id="25" name="Shape 23"/>
          <p:cNvSpPr/>
          <p:nvPr/>
        </p:nvSpPr>
        <p:spPr>
          <a:xfrm>
            <a:off x="292608" y="2395728"/>
            <a:ext cx="45720" cy="457200"/>
          </a:xfrm>
          <a:prstGeom prst="rect">
            <a:avLst/>
          </a:prstGeom>
          <a:solidFill>
            <a:srgbClr val="6B3FD4"/>
          </a:solidFill>
          <a:ln/>
        </p:spPr>
        <p:txBody>
          <a:bodyPr/>
          <a:lstStyle/>
          <a:p>
            <a:endParaRPr lang="fr-FR"/>
          </a:p>
        </p:txBody>
      </p:sp>
      <p:sp>
        <p:nvSpPr>
          <p:cNvPr id="26" name="Text 24"/>
          <p:cNvSpPr/>
          <p:nvPr/>
        </p:nvSpPr>
        <p:spPr>
          <a:xfrm>
            <a:off x="475488" y="2395728"/>
            <a:ext cx="2834640" cy="457200"/>
          </a:xfrm>
          <a:prstGeom prst="rect">
            <a:avLst/>
          </a:prstGeom>
          <a:noFill/>
          <a:ln/>
        </p:spPr>
        <p:txBody>
          <a:bodyPr wrap="square" lIns="0" tIns="0" rIns="0" bIns="0" rtlCol="0" anchor="ctr"/>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LES DONNÉES</a:t>
            </a:r>
            <a:endParaRPr lang="en-US" sz="1050" dirty="0"/>
          </a:p>
        </p:txBody>
      </p:sp>
      <p:sp>
        <p:nvSpPr>
          <p:cNvPr id="27" name="Shape 25"/>
          <p:cNvSpPr/>
          <p:nvPr/>
        </p:nvSpPr>
        <p:spPr>
          <a:xfrm>
            <a:off x="3401568" y="2487168"/>
            <a:ext cx="1280160" cy="274320"/>
          </a:xfrm>
          <a:prstGeom prst="roundRect">
            <a:avLst>
              <a:gd name="adj" fmla="val 16667"/>
            </a:avLst>
          </a:prstGeom>
          <a:solidFill>
            <a:srgbClr val="FFFFFF"/>
          </a:solidFill>
          <a:ln w="12700">
            <a:solidFill>
              <a:srgbClr val="6B3FD4"/>
            </a:solidFill>
            <a:prstDash val="solid"/>
          </a:ln>
        </p:spPr>
        <p:txBody>
          <a:bodyPr/>
          <a:lstStyle/>
          <a:p>
            <a:endParaRPr lang="fr-FR"/>
          </a:p>
        </p:txBody>
      </p:sp>
      <p:sp>
        <p:nvSpPr>
          <p:cNvPr id="28" name="Text 26"/>
          <p:cNvSpPr/>
          <p:nvPr/>
        </p:nvSpPr>
        <p:spPr>
          <a:xfrm>
            <a:off x="3456432" y="2487168"/>
            <a:ext cx="1170432" cy="274320"/>
          </a:xfrm>
          <a:prstGeom prst="rect">
            <a:avLst/>
          </a:prstGeom>
          <a:noFill/>
          <a:ln/>
        </p:spPr>
        <p:txBody>
          <a:bodyPr wrap="square" lIns="0" tIns="0" rIns="0" bIns="0" rtlCol="0" anchor="ctr"/>
          <a:lstStyle/>
          <a:p>
            <a:pPr marL="0" indent="0" algn="ctr">
              <a:lnSpc>
                <a:spcPct val="108000"/>
              </a:lnSpc>
              <a:buNone/>
            </a:pPr>
            <a:r>
              <a:rPr lang="en-US" sz="900" b="1" dirty="0">
                <a:solidFill>
                  <a:srgbClr val="12263F"/>
                </a:solidFill>
                <a:latin typeface="Calibri" pitchFamily="34" charset="0"/>
                <a:ea typeface="Calibri" pitchFamily="34" charset="-122"/>
                <a:cs typeface="Calibri" pitchFamily="34" charset="-120"/>
              </a:rPr>
              <a:t>PostgreSQL</a:t>
            </a:r>
            <a:endParaRPr lang="en-US" sz="900" dirty="0"/>
          </a:p>
        </p:txBody>
      </p:sp>
      <p:sp>
        <p:nvSpPr>
          <p:cNvPr id="29" name="Shape 27"/>
          <p:cNvSpPr/>
          <p:nvPr/>
        </p:nvSpPr>
        <p:spPr>
          <a:xfrm>
            <a:off x="4773168" y="2487168"/>
            <a:ext cx="1280160" cy="274320"/>
          </a:xfrm>
          <a:prstGeom prst="roundRect">
            <a:avLst>
              <a:gd name="adj" fmla="val 16667"/>
            </a:avLst>
          </a:prstGeom>
          <a:solidFill>
            <a:srgbClr val="FFFFFF"/>
          </a:solidFill>
          <a:ln w="12700">
            <a:solidFill>
              <a:srgbClr val="6B3FD4"/>
            </a:solidFill>
            <a:prstDash val="solid"/>
          </a:ln>
        </p:spPr>
        <p:txBody>
          <a:bodyPr/>
          <a:lstStyle/>
          <a:p>
            <a:endParaRPr lang="fr-FR"/>
          </a:p>
        </p:txBody>
      </p:sp>
      <p:sp>
        <p:nvSpPr>
          <p:cNvPr id="30" name="Text 28"/>
          <p:cNvSpPr/>
          <p:nvPr/>
        </p:nvSpPr>
        <p:spPr>
          <a:xfrm>
            <a:off x="4828032" y="2487168"/>
            <a:ext cx="1170432" cy="274320"/>
          </a:xfrm>
          <a:prstGeom prst="rect">
            <a:avLst/>
          </a:prstGeom>
          <a:noFill/>
          <a:ln/>
        </p:spPr>
        <p:txBody>
          <a:bodyPr wrap="square" lIns="0" tIns="0" rIns="0" bIns="0" rtlCol="0" anchor="ctr"/>
          <a:lstStyle/>
          <a:p>
            <a:pPr marL="0" indent="0" algn="ctr">
              <a:lnSpc>
                <a:spcPct val="108000"/>
              </a:lnSpc>
              <a:buNone/>
            </a:pPr>
            <a:r>
              <a:rPr lang="en-US" sz="900" b="1" dirty="0">
                <a:solidFill>
                  <a:srgbClr val="12263F"/>
                </a:solidFill>
                <a:latin typeface="Calibri" pitchFamily="34" charset="0"/>
                <a:ea typeface="Calibri" pitchFamily="34" charset="-122"/>
                <a:cs typeface="Calibri" pitchFamily="34" charset="-120"/>
              </a:rPr>
              <a:t>Redis</a:t>
            </a:r>
            <a:endParaRPr lang="en-US" sz="900" dirty="0"/>
          </a:p>
        </p:txBody>
      </p:sp>
      <p:sp>
        <p:nvSpPr>
          <p:cNvPr id="31" name="Shape 29"/>
          <p:cNvSpPr/>
          <p:nvPr/>
        </p:nvSpPr>
        <p:spPr>
          <a:xfrm>
            <a:off x="6144768" y="2487168"/>
            <a:ext cx="1280160" cy="274320"/>
          </a:xfrm>
          <a:prstGeom prst="roundRect">
            <a:avLst>
              <a:gd name="adj" fmla="val 16667"/>
            </a:avLst>
          </a:prstGeom>
          <a:solidFill>
            <a:srgbClr val="FFFFFF"/>
          </a:solidFill>
          <a:ln w="12700">
            <a:solidFill>
              <a:srgbClr val="6B3FD4"/>
            </a:solidFill>
            <a:prstDash val="solid"/>
          </a:ln>
        </p:spPr>
        <p:txBody>
          <a:bodyPr/>
          <a:lstStyle/>
          <a:p>
            <a:endParaRPr lang="fr-FR"/>
          </a:p>
        </p:txBody>
      </p:sp>
      <p:sp>
        <p:nvSpPr>
          <p:cNvPr id="32" name="Text 30"/>
          <p:cNvSpPr/>
          <p:nvPr/>
        </p:nvSpPr>
        <p:spPr>
          <a:xfrm>
            <a:off x="6199632" y="2487168"/>
            <a:ext cx="1170432" cy="274320"/>
          </a:xfrm>
          <a:prstGeom prst="rect">
            <a:avLst/>
          </a:prstGeom>
          <a:noFill/>
          <a:ln/>
        </p:spPr>
        <p:txBody>
          <a:bodyPr wrap="square" lIns="0" tIns="0" rIns="0" bIns="0" rtlCol="0" anchor="ctr"/>
          <a:lstStyle/>
          <a:p>
            <a:pPr marL="0" indent="0" algn="ctr">
              <a:lnSpc>
                <a:spcPct val="108000"/>
              </a:lnSpc>
              <a:buNone/>
            </a:pPr>
            <a:r>
              <a:rPr lang="en-US" sz="900" b="1" dirty="0">
                <a:solidFill>
                  <a:srgbClr val="12263F"/>
                </a:solidFill>
                <a:latin typeface="Calibri" pitchFamily="34" charset="0"/>
                <a:ea typeface="Calibri" pitchFamily="34" charset="-122"/>
                <a:cs typeface="Calibri" pitchFamily="34" charset="-120"/>
              </a:rPr>
              <a:t>Stockage objet</a:t>
            </a:r>
            <a:endParaRPr lang="en-US" sz="900" dirty="0"/>
          </a:p>
        </p:txBody>
      </p:sp>
      <p:sp>
        <p:nvSpPr>
          <p:cNvPr id="33" name="Shape 31"/>
          <p:cNvSpPr/>
          <p:nvPr/>
        </p:nvSpPr>
        <p:spPr>
          <a:xfrm>
            <a:off x="292608" y="2926080"/>
            <a:ext cx="8558784" cy="457200"/>
          </a:xfrm>
          <a:prstGeom prst="rect">
            <a:avLst/>
          </a:prstGeom>
          <a:solidFill>
            <a:srgbClr val="FFFFFF"/>
          </a:solidFill>
          <a:ln w="12700">
            <a:solidFill>
              <a:srgbClr val="E08A3C"/>
            </a:solidFill>
            <a:prstDash val="solid"/>
          </a:ln>
        </p:spPr>
        <p:txBody>
          <a:bodyPr/>
          <a:lstStyle/>
          <a:p>
            <a:endParaRPr lang="fr-FR"/>
          </a:p>
        </p:txBody>
      </p:sp>
      <p:sp>
        <p:nvSpPr>
          <p:cNvPr id="34" name="Shape 32"/>
          <p:cNvSpPr/>
          <p:nvPr/>
        </p:nvSpPr>
        <p:spPr>
          <a:xfrm>
            <a:off x="292608" y="2926080"/>
            <a:ext cx="45720" cy="457200"/>
          </a:xfrm>
          <a:prstGeom prst="rect">
            <a:avLst/>
          </a:prstGeom>
          <a:solidFill>
            <a:srgbClr val="E08A3C"/>
          </a:solidFill>
          <a:ln/>
        </p:spPr>
        <p:txBody>
          <a:bodyPr/>
          <a:lstStyle/>
          <a:p>
            <a:endParaRPr lang="fr-FR"/>
          </a:p>
        </p:txBody>
      </p:sp>
      <p:sp>
        <p:nvSpPr>
          <p:cNvPr id="35" name="Text 33"/>
          <p:cNvSpPr/>
          <p:nvPr/>
        </p:nvSpPr>
        <p:spPr>
          <a:xfrm>
            <a:off x="475488" y="2926080"/>
            <a:ext cx="2834640" cy="457200"/>
          </a:xfrm>
          <a:prstGeom prst="rect">
            <a:avLst/>
          </a:prstGeom>
          <a:noFill/>
          <a:ln/>
        </p:spPr>
        <p:txBody>
          <a:bodyPr wrap="square" lIns="0" tIns="0" rIns="0" bIns="0" rtlCol="0" anchor="ctr"/>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LA MACHINE</a:t>
            </a:r>
            <a:endParaRPr lang="en-US" sz="1050" dirty="0"/>
          </a:p>
        </p:txBody>
      </p:sp>
      <p:sp>
        <p:nvSpPr>
          <p:cNvPr id="36" name="Shape 34"/>
          <p:cNvSpPr/>
          <p:nvPr/>
        </p:nvSpPr>
        <p:spPr>
          <a:xfrm>
            <a:off x="3401568" y="3017520"/>
            <a:ext cx="1280160" cy="274320"/>
          </a:xfrm>
          <a:prstGeom prst="roundRect">
            <a:avLst>
              <a:gd name="adj" fmla="val 16667"/>
            </a:avLst>
          </a:prstGeom>
          <a:solidFill>
            <a:srgbClr val="FFFFFF"/>
          </a:solidFill>
          <a:ln w="12700">
            <a:solidFill>
              <a:srgbClr val="E08A3C"/>
            </a:solidFill>
            <a:prstDash val="solid"/>
          </a:ln>
        </p:spPr>
        <p:txBody>
          <a:bodyPr/>
          <a:lstStyle/>
          <a:p>
            <a:endParaRPr lang="fr-FR"/>
          </a:p>
        </p:txBody>
      </p:sp>
      <p:sp>
        <p:nvSpPr>
          <p:cNvPr id="37" name="Text 35"/>
          <p:cNvSpPr/>
          <p:nvPr/>
        </p:nvSpPr>
        <p:spPr>
          <a:xfrm>
            <a:off x="3456432" y="3017520"/>
            <a:ext cx="1170432" cy="274320"/>
          </a:xfrm>
          <a:prstGeom prst="rect">
            <a:avLst/>
          </a:prstGeom>
          <a:noFill/>
          <a:ln/>
        </p:spPr>
        <p:txBody>
          <a:bodyPr wrap="square" lIns="0" tIns="0" rIns="0" bIns="0" rtlCol="0" anchor="ctr"/>
          <a:lstStyle/>
          <a:p>
            <a:pPr marL="0" indent="0" algn="ctr">
              <a:lnSpc>
                <a:spcPct val="108000"/>
              </a:lnSpc>
              <a:buNone/>
            </a:pPr>
            <a:r>
              <a:rPr lang="en-US" sz="900" b="1" dirty="0">
                <a:solidFill>
                  <a:srgbClr val="12263F"/>
                </a:solidFill>
                <a:latin typeface="Calibri" pitchFamily="34" charset="0"/>
                <a:ea typeface="Calibri" pitchFamily="34" charset="-122"/>
                <a:cs typeface="Calibri" pitchFamily="34" charset="-120"/>
              </a:rPr>
              <a:t>Docker</a:t>
            </a:r>
            <a:endParaRPr lang="en-US" sz="900" dirty="0"/>
          </a:p>
        </p:txBody>
      </p:sp>
      <p:sp>
        <p:nvSpPr>
          <p:cNvPr id="38" name="Shape 36"/>
          <p:cNvSpPr/>
          <p:nvPr/>
        </p:nvSpPr>
        <p:spPr>
          <a:xfrm>
            <a:off x="4773168" y="3017520"/>
            <a:ext cx="1280160" cy="274320"/>
          </a:xfrm>
          <a:prstGeom prst="roundRect">
            <a:avLst>
              <a:gd name="adj" fmla="val 16667"/>
            </a:avLst>
          </a:prstGeom>
          <a:solidFill>
            <a:srgbClr val="FFFFFF"/>
          </a:solidFill>
          <a:ln w="12700">
            <a:solidFill>
              <a:srgbClr val="E08A3C"/>
            </a:solidFill>
            <a:prstDash val="solid"/>
          </a:ln>
        </p:spPr>
        <p:txBody>
          <a:bodyPr/>
          <a:lstStyle/>
          <a:p>
            <a:endParaRPr lang="fr-FR"/>
          </a:p>
        </p:txBody>
      </p:sp>
      <p:sp>
        <p:nvSpPr>
          <p:cNvPr id="39" name="Text 37"/>
          <p:cNvSpPr/>
          <p:nvPr/>
        </p:nvSpPr>
        <p:spPr>
          <a:xfrm>
            <a:off x="4828032" y="3017520"/>
            <a:ext cx="1170432" cy="274320"/>
          </a:xfrm>
          <a:prstGeom prst="rect">
            <a:avLst/>
          </a:prstGeom>
          <a:noFill/>
          <a:ln/>
        </p:spPr>
        <p:txBody>
          <a:bodyPr wrap="square" lIns="0" tIns="0" rIns="0" bIns="0" rtlCol="0" anchor="ctr"/>
          <a:lstStyle/>
          <a:p>
            <a:pPr marL="0" indent="0" algn="ctr">
              <a:lnSpc>
                <a:spcPct val="108000"/>
              </a:lnSpc>
              <a:buNone/>
            </a:pPr>
            <a:r>
              <a:rPr lang="en-US" sz="900" b="1" dirty="0">
                <a:solidFill>
                  <a:srgbClr val="12263F"/>
                </a:solidFill>
                <a:latin typeface="Calibri" pitchFamily="34" charset="0"/>
                <a:ea typeface="Calibri" pitchFamily="34" charset="-122"/>
                <a:cs typeface="Calibri" pitchFamily="34" charset="-120"/>
              </a:rPr>
              <a:t>Swarm</a:t>
            </a:r>
            <a:endParaRPr lang="en-US" sz="900" dirty="0"/>
          </a:p>
        </p:txBody>
      </p:sp>
      <p:sp>
        <p:nvSpPr>
          <p:cNvPr id="40" name="Shape 38"/>
          <p:cNvSpPr/>
          <p:nvPr/>
        </p:nvSpPr>
        <p:spPr>
          <a:xfrm>
            <a:off x="6144768" y="3017520"/>
            <a:ext cx="1280160" cy="274320"/>
          </a:xfrm>
          <a:prstGeom prst="roundRect">
            <a:avLst>
              <a:gd name="adj" fmla="val 16667"/>
            </a:avLst>
          </a:prstGeom>
          <a:solidFill>
            <a:srgbClr val="FFFFFF"/>
          </a:solidFill>
          <a:ln w="12700">
            <a:solidFill>
              <a:srgbClr val="E08A3C"/>
            </a:solidFill>
            <a:prstDash val="solid"/>
          </a:ln>
        </p:spPr>
        <p:txBody>
          <a:bodyPr/>
          <a:lstStyle/>
          <a:p>
            <a:endParaRPr lang="fr-FR"/>
          </a:p>
        </p:txBody>
      </p:sp>
      <p:sp>
        <p:nvSpPr>
          <p:cNvPr id="41" name="Text 39"/>
          <p:cNvSpPr/>
          <p:nvPr/>
        </p:nvSpPr>
        <p:spPr>
          <a:xfrm>
            <a:off x="6199632" y="3017520"/>
            <a:ext cx="1170432" cy="274320"/>
          </a:xfrm>
          <a:prstGeom prst="rect">
            <a:avLst/>
          </a:prstGeom>
          <a:noFill/>
          <a:ln/>
        </p:spPr>
        <p:txBody>
          <a:bodyPr wrap="square" lIns="0" tIns="0" rIns="0" bIns="0" rtlCol="0" anchor="ctr"/>
          <a:lstStyle/>
          <a:p>
            <a:pPr marL="0" indent="0" algn="ctr">
              <a:lnSpc>
                <a:spcPct val="108000"/>
              </a:lnSpc>
              <a:buNone/>
            </a:pPr>
            <a:r>
              <a:rPr lang="en-US" sz="900" b="1" dirty="0">
                <a:solidFill>
                  <a:srgbClr val="12263F"/>
                </a:solidFill>
                <a:latin typeface="Calibri" pitchFamily="34" charset="0"/>
                <a:ea typeface="Calibri" pitchFamily="34" charset="-122"/>
                <a:cs typeface="Calibri" pitchFamily="34" charset="-120"/>
              </a:rPr>
              <a:t>Terraform</a:t>
            </a:r>
            <a:endParaRPr lang="en-US" sz="900" dirty="0"/>
          </a:p>
        </p:txBody>
      </p:sp>
      <p:sp>
        <p:nvSpPr>
          <p:cNvPr id="42" name="Shape 40"/>
          <p:cNvSpPr/>
          <p:nvPr/>
        </p:nvSpPr>
        <p:spPr>
          <a:xfrm>
            <a:off x="7516368" y="3017520"/>
            <a:ext cx="1280160" cy="274320"/>
          </a:xfrm>
          <a:prstGeom prst="roundRect">
            <a:avLst>
              <a:gd name="adj" fmla="val 16667"/>
            </a:avLst>
          </a:prstGeom>
          <a:solidFill>
            <a:srgbClr val="FFFFFF"/>
          </a:solidFill>
          <a:ln w="12700">
            <a:solidFill>
              <a:srgbClr val="E08A3C"/>
            </a:solidFill>
            <a:prstDash val="solid"/>
          </a:ln>
        </p:spPr>
        <p:txBody>
          <a:bodyPr/>
          <a:lstStyle/>
          <a:p>
            <a:endParaRPr lang="fr-FR"/>
          </a:p>
        </p:txBody>
      </p:sp>
      <p:sp>
        <p:nvSpPr>
          <p:cNvPr id="43" name="Text 41"/>
          <p:cNvSpPr/>
          <p:nvPr/>
        </p:nvSpPr>
        <p:spPr>
          <a:xfrm>
            <a:off x="7571232" y="3017520"/>
            <a:ext cx="1170432" cy="274320"/>
          </a:xfrm>
          <a:prstGeom prst="rect">
            <a:avLst/>
          </a:prstGeom>
          <a:noFill/>
          <a:ln/>
        </p:spPr>
        <p:txBody>
          <a:bodyPr wrap="square" lIns="0" tIns="0" rIns="0" bIns="0" rtlCol="0" anchor="ctr"/>
          <a:lstStyle/>
          <a:p>
            <a:pPr marL="0" indent="0" algn="ctr">
              <a:lnSpc>
                <a:spcPct val="108000"/>
              </a:lnSpc>
              <a:buNone/>
            </a:pPr>
            <a:r>
              <a:rPr lang="en-US" sz="900" b="1" dirty="0">
                <a:solidFill>
                  <a:srgbClr val="12263F"/>
                </a:solidFill>
                <a:latin typeface="Calibri" pitchFamily="34" charset="0"/>
                <a:ea typeface="Calibri" pitchFamily="34" charset="-122"/>
                <a:cs typeface="Calibri" pitchFamily="34" charset="-120"/>
              </a:rPr>
              <a:t>Ansible</a:t>
            </a:r>
            <a:endParaRPr lang="en-US" sz="900" dirty="0"/>
          </a:p>
        </p:txBody>
      </p:sp>
      <p:sp>
        <p:nvSpPr>
          <p:cNvPr id="44" name="Shape 42"/>
          <p:cNvSpPr/>
          <p:nvPr/>
        </p:nvSpPr>
        <p:spPr>
          <a:xfrm>
            <a:off x="292608" y="3456432"/>
            <a:ext cx="8558784" cy="457200"/>
          </a:xfrm>
          <a:prstGeom prst="rect">
            <a:avLst/>
          </a:prstGeom>
          <a:solidFill>
            <a:srgbClr val="FFFFFF"/>
          </a:solidFill>
          <a:ln w="12700">
            <a:solidFill>
              <a:srgbClr val="B03A48"/>
            </a:solidFill>
            <a:prstDash val="solid"/>
          </a:ln>
        </p:spPr>
        <p:txBody>
          <a:bodyPr/>
          <a:lstStyle/>
          <a:p>
            <a:endParaRPr lang="fr-FR"/>
          </a:p>
        </p:txBody>
      </p:sp>
      <p:sp>
        <p:nvSpPr>
          <p:cNvPr id="45" name="Shape 43"/>
          <p:cNvSpPr/>
          <p:nvPr/>
        </p:nvSpPr>
        <p:spPr>
          <a:xfrm>
            <a:off x="292608" y="3456432"/>
            <a:ext cx="45720" cy="457200"/>
          </a:xfrm>
          <a:prstGeom prst="rect">
            <a:avLst/>
          </a:prstGeom>
          <a:solidFill>
            <a:srgbClr val="B03A48"/>
          </a:solidFill>
          <a:ln/>
        </p:spPr>
        <p:txBody>
          <a:bodyPr/>
          <a:lstStyle/>
          <a:p>
            <a:endParaRPr lang="fr-FR"/>
          </a:p>
        </p:txBody>
      </p:sp>
      <p:sp>
        <p:nvSpPr>
          <p:cNvPr id="46" name="Text 44"/>
          <p:cNvSpPr/>
          <p:nvPr/>
        </p:nvSpPr>
        <p:spPr>
          <a:xfrm>
            <a:off x="475488" y="3456432"/>
            <a:ext cx="2834640" cy="457200"/>
          </a:xfrm>
          <a:prstGeom prst="rect">
            <a:avLst/>
          </a:prstGeom>
          <a:noFill/>
          <a:ln/>
        </p:spPr>
        <p:txBody>
          <a:bodyPr wrap="square" lIns="0" tIns="0" rIns="0" bIns="0" rtlCol="0" anchor="ctr"/>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LA SURVEILLANCE ET LA SÉCURITÉ</a:t>
            </a:r>
            <a:endParaRPr lang="en-US" sz="1050" dirty="0"/>
          </a:p>
        </p:txBody>
      </p:sp>
      <p:sp>
        <p:nvSpPr>
          <p:cNvPr id="47" name="Shape 45"/>
          <p:cNvSpPr/>
          <p:nvPr/>
        </p:nvSpPr>
        <p:spPr>
          <a:xfrm>
            <a:off x="3401568" y="3547872"/>
            <a:ext cx="1280160" cy="274320"/>
          </a:xfrm>
          <a:prstGeom prst="roundRect">
            <a:avLst>
              <a:gd name="adj" fmla="val 16667"/>
            </a:avLst>
          </a:prstGeom>
          <a:solidFill>
            <a:srgbClr val="FFFFFF"/>
          </a:solidFill>
          <a:ln w="12700">
            <a:solidFill>
              <a:srgbClr val="B03A48"/>
            </a:solidFill>
            <a:prstDash val="solid"/>
          </a:ln>
        </p:spPr>
        <p:txBody>
          <a:bodyPr/>
          <a:lstStyle/>
          <a:p>
            <a:endParaRPr lang="fr-FR"/>
          </a:p>
        </p:txBody>
      </p:sp>
      <p:sp>
        <p:nvSpPr>
          <p:cNvPr id="48" name="Text 46"/>
          <p:cNvSpPr/>
          <p:nvPr/>
        </p:nvSpPr>
        <p:spPr>
          <a:xfrm>
            <a:off x="3456432" y="3547872"/>
            <a:ext cx="1170432" cy="274320"/>
          </a:xfrm>
          <a:prstGeom prst="rect">
            <a:avLst/>
          </a:prstGeom>
          <a:noFill/>
          <a:ln/>
        </p:spPr>
        <p:txBody>
          <a:bodyPr wrap="square" lIns="0" tIns="0" rIns="0" bIns="0" rtlCol="0" anchor="ctr"/>
          <a:lstStyle/>
          <a:p>
            <a:pPr marL="0" indent="0" algn="ctr">
              <a:lnSpc>
                <a:spcPct val="108000"/>
              </a:lnSpc>
              <a:buNone/>
            </a:pPr>
            <a:r>
              <a:rPr lang="en-US" sz="900" b="1" dirty="0">
                <a:solidFill>
                  <a:srgbClr val="12263F"/>
                </a:solidFill>
                <a:latin typeface="Calibri" pitchFamily="34" charset="0"/>
                <a:ea typeface="Calibri" pitchFamily="34" charset="-122"/>
                <a:cs typeface="Calibri" pitchFamily="34" charset="-120"/>
              </a:rPr>
              <a:t>Prometheus</a:t>
            </a:r>
            <a:endParaRPr lang="en-US" sz="900" dirty="0"/>
          </a:p>
        </p:txBody>
      </p:sp>
      <p:sp>
        <p:nvSpPr>
          <p:cNvPr id="49" name="Shape 47"/>
          <p:cNvSpPr/>
          <p:nvPr/>
        </p:nvSpPr>
        <p:spPr>
          <a:xfrm>
            <a:off x="4773168" y="3547872"/>
            <a:ext cx="1280160" cy="274320"/>
          </a:xfrm>
          <a:prstGeom prst="roundRect">
            <a:avLst>
              <a:gd name="adj" fmla="val 16667"/>
            </a:avLst>
          </a:prstGeom>
          <a:solidFill>
            <a:srgbClr val="FFFFFF"/>
          </a:solidFill>
          <a:ln w="12700">
            <a:solidFill>
              <a:srgbClr val="B03A48"/>
            </a:solidFill>
            <a:prstDash val="solid"/>
          </a:ln>
        </p:spPr>
        <p:txBody>
          <a:bodyPr/>
          <a:lstStyle/>
          <a:p>
            <a:endParaRPr lang="fr-FR"/>
          </a:p>
        </p:txBody>
      </p:sp>
      <p:sp>
        <p:nvSpPr>
          <p:cNvPr id="50" name="Text 48"/>
          <p:cNvSpPr/>
          <p:nvPr/>
        </p:nvSpPr>
        <p:spPr>
          <a:xfrm>
            <a:off x="4828032" y="3547872"/>
            <a:ext cx="1170432" cy="274320"/>
          </a:xfrm>
          <a:prstGeom prst="rect">
            <a:avLst/>
          </a:prstGeom>
          <a:noFill/>
          <a:ln/>
        </p:spPr>
        <p:txBody>
          <a:bodyPr wrap="square" lIns="0" tIns="0" rIns="0" bIns="0" rtlCol="0" anchor="ctr"/>
          <a:lstStyle/>
          <a:p>
            <a:pPr marL="0" indent="0" algn="ctr">
              <a:lnSpc>
                <a:spcPct val="108000"/>
              </a:lnSpc>
              <a:buNone/>
            </a:pPr>
            <a:r>
              <a:rPr lang="en-US" sz="900" b="1" dirty="0">
                <a:solidFill>
                  <a:srgbClr val="12263F"/>
                </a:solidFill>
                <a:latin typeface="Calibri" pitchFamily="34" charset="0"/>
                <a:ea typeface="Calibri" pitchFamily="34" charset="-122"/>
                <a:cs typeface="Calibri" pitchFamily="34" charset="-120"/>
              </a:rPr>
              <a:t>Grafana</a:t>
            </a:r>
            <a:endParaRPr lang="en-US" sz="900" dirty="0"/>
          </a:p>
        </p:txBody>
      </p:sp>
      <p:sp>
        <p:nvSpPr>
          <p:cNvPr id="51" name="Shape 49"/>
          <p:cNvSpPr/>
          <p:nvPr/>
        </p:nvSpPr>
        <p:spPr>
          <a:xfrm>
            <a:off x="6144768" y="3547872"/>
            <a:ext cx="1280160" cy="274320"/>
          </a:xfrm>
          <a:prstGeom prst="roundRect">
            <a:avLst>
              <a:gd name="adj" fmla="val 16667"/>
            </a:avLst>
          </a:prstGeom>
          <a:solidFill>
            <a:srgbClr val="FFFFFF"/>
          </a:solidFill>
          <a:ln w="12700">
            <a:solidFill>
              <a:srgbClr val="B03A48"/>
            </a:solidFill>
            <a:prstDash val="solid"/>
          </a:ln>
        </p:spPr>
        <p:txBody>
          <a:bodyPr/>
          <a:lstStyle/>
          <a:p>
            <a:endParaRPr lang="fr-FR"/>
          </a:p>
        </p:txBody>
      </p:sp>
      <p:sp>
        <p:nvSpPr>
          <p:cNvPr id="52" name="Text 50"/>
          <p:cNvSpPr/>
          <p:nvPr/>
        </p:nvSpPr>
        <p:spPr>
          <a:xfrm>
            <a:off x="6199632" y="3547872"/>
            <a:ext cx="1170432" cy="274320"/>
          </a:xfrm>
          <a:prstGeom prst="rect">
            <a:avLst/>
          </a:prstGeom>
          <a:noFill/>
          <a:ln/>
        </p:spPr>
        <p:txBody>
          <a:bodyPr wrap="square" lIns="0" tIns="0" rIns="0" bIns="0" rtlCol="0" anchor="ctr"/>
          <a:lstStyle/>
          <a:p>
            <a:pPr marL="0" indent="0" algn="ctr">
              <a:lnSpc>
                <a:spcPct val="108000"/>
              </a:lnSpc>
              <a:buNone/>
            </a:pPr>
            <a:r>
              <a:rPr lang="en-US" sz="900" b="1" dirty="0">
                <a:solidFill>
                  <a:srgbClr val="12263F"/>
                </a:solidFill>
                <a:latin typeface="Calibri" pitchFamily="34" charset="0"/>
                <a:ea typeface="Calibri" pitchFamily="34" charset="-122"/>
                <a:cs typeface="Calibri" pitchFamily="34" charset="-120"/>
              </a:rPr>
              <a:t>Trivy</a:t>
            </a:r>
            <a:endParaRPr lang="en-US" sz="900" dirty="0"/>
          </a:p>
        </p:txBody>
      </p:sp>
      <p:sp>
        <p:nvSpPr>
          <p:cNvPr id="53" name="Shape 51"/>
          <p:cNvSpPr/>
          <p:nvPr/>
        </p:nvSpPr>
        <p:spPr>
          <a:xfrm>
            <a:off x="7516368" y="3547872"/>
            <a:ext cx="1280160" cy="274320"/>
          </a:xfrm>
          <a:prstGeom prst="roundRect">
            <a:avLst>
              <a:gd name="adj" fmla="val 16667"/>
            </a:avLst>
          </a:prstGeom>
          <a:solidFill>
            <a:srgbClr val="FFFFFF"/>
          </a:solidFill>
          <a:ln w="12700">
            <a:solidFill>
              <a:srgbClr val="B03A48"/>
            </a:solidFill>
            <a:prstDash val="solid"/>
          </a:ln>
        </p:spPr>
        <p:txBody>
          <a:bodyPr/>
          <a:lstStyle/>
          <a:p>
            <a:endParaRPr lang="fr-FR"/>
          </a:p>
        </p:txBody>
      </p:sp>
      <p:sp>
        <p:nvSpPr>
          <p:cNvPr id="54" name="Text 52"/>
          <p:cNvSpPr/>
          <p:nvPr/>
        </p:nvSpPr>
        <p:spPr>
          <a:xfrm>
            <a:off x="7571232" y="3547872"/>
            <a:ext cx="1170432" cy="274320"/>
          </a:xfrm>
          <a:prstGeom prst="rect">
            <a:avLst/>
          </a:prstGeom>
          <a:noFill/>
          <a:ln/>
        </p:spPr>
        <p:txBody>
          <a:bodyPr wrap="square" lIns="0" tIns="0" rIns="0" bIns="0" rtlCol="0" anchor="ctr"/>
          <a:lstStyle/>
          <a:p>
            <a:pPr marL="0" indent="0" algn="ctr">
              <a:lnSpc>
                <a:spcPct val="108000"/>
              </a:lnSpc>
              <a:buNone/>
            </a:pPr>
            <a:r>
              <a:rPr lang="en-US" sz="900" b="1" dirty="0">
                <a:solidFill>
                  <a:srgbClr val="12263F"/>
                </a:solidFill>
                <a:latin typeface="Calibri" pitchFamily="34" charset="0"/>
                <a:ea typeface="Calibri" pitchFamily="34" charset="-122"/>
                <a:cs typeface="Calibri" pitchFamily="34" charset="-120"/>
              </a:rPr>
              <a:t>Argon2id</a:t>
            </a:r>
            <a:endParaRPr lang="en-US" sz="900" dirty="0"/>
          </a:p>
        </p:txBody>
      </p:sp>
      <p:sp>
        <p:nvSpPr>
          <p:cNvPr id="55" name="Shape 53"/>
          <p:cNvSpPr/>
          <p:nvPr/>
        </p:nvSpPr>
        <p:spPr>
          <a:xfrm>
            <a:off x="292608" y="4224528"/>
            <a:ext cx="8558784" cy="475488"/>
          </a:xfrm>
          <a:prstGeom prst="rect">
            <a:avLst/>
          </a:prstGeom>
          <a:solidFill>
            <a:srgbClr val="12263F"/>
          </a:solidFill>
          <a:ln/>
        </p:spPr>
        <p:txBody>
          <a:bodyPr/>
          <a:lstStyle/>
          <a:p>
            <a:endParaRPr lang="fr-FR"/>
          </a:p>
        </p:txBody>
      </p:sp>
      <p:sp>
        <p:nvSpPr>
          <p:cNvPr id="56" name="Shape 54"/>
          <p:cNvSpPr/>
          <p:nvPr/>
        </p:nvSpPr>
        <p:spPr>
          <a:xfrm>
            <a:off x="292608" y="4224528"/>
            <a:ext cx="45720" cy="475488"/>
          </a:xfrm>
          <a:prstGeom prst="rect">
            <a:avLst/>
          </a:prstGeom>
          <a:solidFill>
            <a:srgbClr val="E08A3C"/>
          </a:solidFill>
          <a:ln/>
        </p:spPr>
        <p:txBody>
          <a:bodyPr/>
          <a:lstStyle/>
          <a:p>
            <a:endParaRPr lang="fr-FR"/>
          </a:p>
        </p:txBody>
      </p:sp>
      <p:sp>
        <p:nvSpPr>
          <p:cNvPr id="57" name="Text 55"/>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Un seul langage du haut en bas : un seul jeu de règles, un seul dépôt, une seule chaîne.</a:t>
            </a:r>
            <a:endParaRPr lang="en-US" sz="1150" dirty="0"/>
          </a:p>
        </p:txBody>
      </p:sp>
      <p:sp>
        <p:nvSpPr>
          <p:cNvPr id="58" name="Text 56"/>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5.2 - Technologies et Outils Utilisés</a:t>
            </a:r>
            <a:endParaRPr lang="en-US" sz="750" dirty="0"/>
          </a:p>
        </p:txBody>
      </p:sp>
      <p:sp>
        <p:nvSpPr>
          <p:cNvPr id="59" name="Text 57"/>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5. Implémentations techniques</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19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5.3 - Monitoring et Alerting</a:t>
            </a:r>
            <a:endParaRPr lang="en-US" sz="2200" dirty="0"/>
          </a:p>
        </p:txBody>
      </p:sp>
      <p:sp>
        <p:nvSpPr>
          <p:cNvPr id="7" name="Text 5"/>
          <p:cNvSpPr/>
          <p:nvPr/>
        </p:nvSpPr>
        <p:spPr>
          <a:xfrm>
            <a:off x="292608" y="1335024"/>
            <a:ext cx="1550822" cy="146304"/>
          </a:xfrm>
          <a:prstGeom prst="rect">
            <a:avLst/>
          </a:prstGeom>
          <a:noFill/>
          <a:ln/>
        </p:spPr>
        <p:txBody>
          <a:bodyPr wrap="square" lIns="0" tIns="0" rIns="0" bIns="0" rtlCol="0" anchor="ctr"/>
          <a:lstStyle/>
          <a:p>
            <a:pPr marL="0" indent="0" algn="l">
              <a:lnSpc>
                <a:spcPct val="106000"/>
              </a:lnSpc>
              <a:buNone/>
            </a:pPr>
            <a:r>
              <a:rPr lang="en-US" sz="560" b="1" dirty="0">
                <a:solidFill>
                  <a:srgbClr val="1B6EC2"/>
                </a:solidFill>
                <a:latin typeface="Calibri" pitchFamily="34" charset="0"/>
                <a:ea typeface="Calibri" pitchFamily="34" charset="-122"/>
                <a:cs typeface="Calibri" pitchFamily="34" charset="-120"/>
              </a:rPr>
              <a:t>SOURCES · INSTRUMENTATION</a:t>
            </a:r>
            <a:endParaRPr lang="en-US" sz="560" dirty="0"/>
          </a:p>
        </p:txBody>
      </p:sp>
      <p:sp>
        <p:nvSpPr>
          <p:cNvPr id="8" name="Text 6"/>
          <p:cNvSpPr/>
          <p:nvPr/>
        </p:nvSpPr>
        <p:spPr>
          <a:xfrm>
            <a:off x="2044598" y="1335024"/>
            <a:ext cx="1550822" cy="146304"/>
          </a:xfrm>
          <a:prstGeom prst="rect">
            <a:avLst/>
          </a:prstGeom>
          <a:noFill/>
          <a:ln/>
        </p:spPr>
        <p:txBody>
          <a:bodyPr wrap="square" lIns="0" tIns="0" rIns="0" bIns="0" rtlCol="0" anchor="ctr"/>
          <a:lstStyle/>
          <a:p>
            <a:pPr marL="0" indent="0" algn="l">
              <a:lnSpc>
                <a:spcPct val="106000"/>
              </a:lnSpc>
              <a:buNone/>
            </a:pPr>
            <a:r>
              <a:rPr lang="en-US" sz="560" b="1" dirty="0">
                <a:solidFill>
                  <a:srgbClr val="12855A"/>
                </a:solidFill>
                <a:latin typeface="Calibri" pitchFamily="34" charset="0"/>
                <a:ea typeface="Calibri" pitchFamily="34" charset="-122"/>
                <a:cs typeface="Calibri" pitchFamily="34" charset="-120"/>
              </a:rPr>
              <a:t>COLLECTE</a:t>
            </a:r>
            <a:endParaRPr lang="en-US" sz="560" dirty="0"/>
          </a:p>
        </p:txBody>
      </p:sp>
      <p:sp>
        <p:nvSpPr>
          <p:cNvPr id="9" name="Text 7"/>
          <p:cNvSpPr/>
          <p:nvPr/>
        </p:nvSpPr>
        <p:spPr>
          <a:xfrm>
            <a:off x="3796589" y="1335024"/>
            <a:ext cx="1550822" cy="146304"/>
          </a:xfrm>
          <a:prstGeom prst="rect">
            <a:avLst/>
          </a:prstGeom>
          <a:noFill/>
          <a:ln/>
        </p:spPr>
        <p:txBody>
          <a:bodyPr wrap="square" lIns="0" tIns="0" rIns="0" bIns="0" rtlCol="0" anchor="ctr"/>
          <a:lstStyle/>
          <a:p>
            <a:pPr marL="0" indent="0" algn="l">
              <a:lnSpc>
                <a:spcPct val="106000"/>
              </a:lnSpc>
              <a:buNone/>
            </a:pPr>
            <a:r>
              <a:rPr lang="en-US" sz="560" b="1" dirty="0">
                <a:solidFill>
                  <a:srgbClr val="6B3FD4"/>
                </a:solidFill>
                <a:latin typeface="Calibri" pitchFamily="34" charset="0"/>
                <a:ea typeface="Calibri" pitchFamily="34" charset="-122"/>
                <a:cs typeface="Calibri" pitchFamily="34" charset="-120"/>
              </a:rPr>
              <a:t>STOCKAGE</a:t>
            </a:r>
            <a:endParaRPr lang="en-US" sz="560" dirty="0"/>
          </a:p>
        </p:txBody>
      </p:sp>
      <p:sp>
        <p:nvSpPr>
          <p:cNvPr id="10" name="Text 8"/>
          <p:cNvSpPr/>
          <p:nvPr/>
        </p:nvSpPr>
        <p:spPr>
          <a:xfrm>
            <a:off x="5548579" y="1335024"/>
            <a:ext cx="1550822" cy="146304"/>
          </a:xfrm>
          <a:prstGeom prst="rect">
            <a:avLst/>
          </a:prstGeom>
          <a:noFill/>
          <a:ln/>
        </p:spPr>
        <p:txBody>
          <a:bodyPr wrap="square" lIns="0" tIns="0" rIns="0" bIns="0" rtlCol="0" anchor="ctr"/>
          <a:lstStyle/>
          <a:p>
            <a:pPr marL="0" indent="0" algn="l">
              <a:lnSpc>
                <a:spcPct val="106000"/>
              </a:lnSpc>
              <a:buNone/>
            </a:pPr>
            <a:r>
              <a:rPr lang="en-US" sz="560" b="1" dirty="0">
                <a:solidFill>
                  <a:srgbClr val="B03A48"/>
                </a:solidFill>
                <a:latin typeface="Calibri" pitchFamily="34" charset="0"/>
                <a:ea typeface="Calibri" pitchFamily="34" charset="-122"/>
                <a:cs typeface="Calibri" pitchFamily="34" charset="-120"/>
              </a:rPr>
              <a:t>RÈGLES &amp; ALERTES</a:t>
            </a:r>
            <a:endParaRPr lang="en-US" sz="560" dirty="0"/>
          </a:p>
        </p:txBody>
      </p:sp>
      <p:sp>
        <p:nvSpPr>
          <p:cNvPr id="11" name="Text 9"/>
          <p:cNvSpPr/>
          <p:nvPr/>
        </p:nvSpPr>
        <p:spPr>
          <a:xfrm>
            <a:off x="7300570" y="1335024"/>
            <a:ext cx="1550822" cy="146304"/>
          </a:xfrm>
          <a:prstGeom prst="rect">
            <a:avLst/>
          </a:prstGeom>
          <a:noFill/>
          <a:ln/>
        </p:spPr>
        <p:txBody>
          <a:bodyPr wrap="square" lIns="0" tIns="0" rIns="0" bIns="0" rtlCol="0" anchor="ctr"/>
          <a:lstStyle/>
          <a:p>
            <a:pPr marL="0" indent="0" algn="l">
              <a:lnSpc>
                <a:spcPct val="106000"/>
              </a:lnSpc>
              <a:buNone/>
            </a:pPr>
            <a:r>
              <a:rPr lang="en-US" sz="560" b="1" dirty="0">
                <a:solidFill>
                  <a:srgbClr val="E08A3C"/>
                </a:solidFill>
                <a:latin typeface="Calibri" pitchFamily="34" charset="0"/>
                <a:ea typeface="Calibri" pitchFamily="34" charset="-122"/>
                <a:cs typeface="Calibri" pitchFamily="34" charset="-120"/>
              </a:rPr>
              <a:t>RESTITUTION</a:t>
            </a:r>
            <a:endParaRPr lang="en-US" sz="560" dirty="0"/>
          </a:p>
        </p:txBody>
      </p:sp>
      <p:sp>
        <p:nvSpPr>
          <p:cNvPr id="12" name="Shape 10"/>
          <p:cNvSpPr/>
          <p:nvPr/>
        </p:nvSpPr>
        <p:spPr>
          <a:xfrm>
            <a:off x="292608" y="1554480"/>
            <a:ext cx="1550822" cy="566928"/>
          </a:xfrm>
          <a:prstGeom prst="rect">
            <a:avLst/>
          </a:prstGeom>
          <a:solidFill>
            <a:srgbClr val="FFFFFF"/>
          </a:solidFill>
          <a:ln w="9525">
            <a:solidFill>
              <a:srgbClr val="E2E8EE"/>
            </a:solidFill>
            <a:prstDash val="solid"/>
          </a:ln>
        </p:spPr>
        <p:txBody>
          <a:bodyPr/>
          <a:lstStyle/>
          <a:p>
            <a:endParaRPr lang="fr-FR"/>
          </a:p>
        </p:txBody>
      </p:sp>
      <p:sp>
        <p:nvSpPr>
          <p:cNvPr id="13" name="Shape 11"/>
          <p:cNvSpPr/>
          <p:nvPr/>
        </p:nvSpPr>
        <p:spPr>
          <a:xfrm>
            <a:off x="292608" y="1554480"/>
            <a:ext cx="1550822" cy="27432"/>
          </a:xfrm>
          <a:prstGeom prst="rect">
            <a:avLst/>
          </a:prstGeom>
          <a:solidFill>
            <a:srgbClr val="1B6EC2"/>
          </a:solidFill>
          <a:ln/>
        </p:spPr>
        <p:txBody>
          <a:bodyPr/>
          <a:lstStyle/>
          <a:p>
            <a:endParaRPr lang="fr-FR"/>
          </a:p>
        </p:txBody>
      </p:sp>
      <p:sp>
        <p:nvSpPr>
          <p:cNvPr id="14" name="Text 12"/>
          <p:cNvSpPr/>
          <p:nvPr/>
        </p:nvSpPr>
        <p:spPr>
          <a:xfrm>
            <a:off x="384048" y="1618488"/>
            <a:ext cx="983894" cy="146304"/>
          </a:xfrm>
          <a:prstGeom prst="rect">
            <a:avLst/>
          </a:prstGeom>
          <a:noFill/>
          <a:ln/>
        </p:spPr>
        <p:txBody>
          <a:bodyPr wrap="square" lIns="0" tIns="0" rIns="0" bIns="0" rtlCol="0" anchor="ctr"/>
          <a:lstStyle/>
          <a:p>
            <a:pPr marL="0" indent="0" algn="l">
              <a:lnSpc>
                <a:spcPct val="106000"/>
              </a:lnSpc>
              <a:buNone/>
            </a:pPr>
            <a:r>
              <a:rPr lang="en-US" sz="700" b="1" dirty="0">
                <a:solidFill>
                  <a:srgbClr val="12263F"/>
                </a:solidFill>
                <a:latin typeface="Calibri" pitchFamily="34" charset="0"/>
                <a:ea typeface="Calibri" pitchFamily="34" charset="-122"/>
                <a:cs typeface="Calibri" pitchFamily="34" charset="-120"/>
              </a:rPr>
              <a:t>Traefik</a:t>
            </a:r>
            <a:endParaRPr lang="en-US" sz="700" dirty="0"/>
          </a:p>
        </p:txBody>
      </p:sp>
      <p:sp>
        <p:nvSpPr>
          <p:cNvPr id="15" name="Text 13"/>
          <p:cNvSpPr/>
          <p:nvPr/>
        </p:nvSpPr>
        <p:spPr>
          <a:xfrm>
            <a:off x="1294790" y="1623060"/>
            <a:ext cx="457200" cy="128016"/>
          </a:xfrm>
          <a:prstGeom prst="rect">
            <a:avLst/>
          </a:prstGeom>
          <a:noFill/>
          <a:ln/>
        </p:spPr>
        <p:txBody>
          <a:bodyPr wrap="square" lIns="0" tIns="0" rIns="0" bIns="0" rtlCol="0" anchor="ctr"/>
          <a:lstStyle/>
          <a:p>
            <a:pPr marL="0" indent="0" algn="r">
              <a:lnSpc>
                <a:spcPct val="106000"/>
              </a:lnSpc>
              <a:buNone/>
            </a:pPr>
            <a:r>
              <a:rPr lang="en-US" sz="520" dirty="0">
                <a:solidFill>
                  <a:srgbClr val="8FA6BC"/>
                </a:solidFill>
                <a:latin typeface="Calibri" pitchFamily="34" charset="0"/>
                <a:ea typeface="Calibri" pitchFamily="34" charset="-122"/>
                <a:cs typeface="Calibri" pitchFamily="34" charset="-120"/>
              </a:rPr>
              <a:t>:8082</a:t>
            </a:r>
            <a:endParaRPr lang="en-US" sz="520" dirty="0"/>
          </a:p>
        </p:txBody>
      </p:sp>
      <p:sp>
        <p:nvSpPr>
          <p:cNvPr id="16" name="Text 14"/>
          <p:cNvSpPr/>
          <p:nvPr/>
        </p:nvSpPr>
        <p:spPr>
          <a:xfrm>
            <a:off x="384048" y="1773936"/>
            <a:ext cx="1367942" cy="292608"/>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reverse-proxy · point d'entrée</a:t>
            </a:r>
            <a:endParaRPr lang="en-US" sz="560" dirty="0"/>
          </a:p>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métriques RED (débit · latence · 5xx) · journaux d'accès</a:t>
            </a:r>
            <a:endParaRPr lang="en-US" sz="560" dirty="0"/>
          </a:p>
        </p:txBody>
      </p:sp>
      <p:sp>
        <p:nvSpPr>
          <p:cNvPr id="17" name="Shape 15"/>
          <p:cNvSpPr/>
          <p:nvPr/>
        </p:nvSpPr>
        <p:spPr>
          <a:xfrm>
            <a:off x="292608" y="2176272"/>
            <a:ext cx="1550822" cy="475488"/>
          </a:xfrm>
          <a:prstGeom prst="rect">
            <a:avLst/>
          </a:prstGeom>
          <a:solidFill>
            <a:srgbClr val="FFFFFF"/>
          </a:solidFill>
          <a:ln w="9525">
            <a:solidFill>
              <a:srgbClr val="E2E8EE"/>
            </a:solidFill>
            <a:prstDash val="solid"/>
          </a:ln>
        </p:spPr>
        <p:txBody>
          <a:bodyPr/>
          <a:lstStyle/>
          <a:p>
            <a:endParaRPr lang="fr-FR"/>
          </a:p>
        </p:txBody>
      </p:sp>
      <p:sp>
        <p:nvSpPr>
          <p:cNvPr id="18" name="Shape 16"/>
          <p:cNvSpPr/>
          <p:nvPr/>
        </p:nvSpPr>
        <p:spPr>
          <a:xfrm>
            <a:off x="292608" y="2176272"/>
            <a:ext cx="1550822" cy="27432"/>
          </a:xfrm>
          <a:prstGeom prst="rect">
            <a:avLst/>
          </a:prstGeom>
          <a:solidFill>
            <a:srgbClr val="1B6EC2"/>
          </a:solidFill>
          <a:ln/>
        </p:spPr>
        <p:txBody>
          <a:bodyPr/>
          <a:lstStyle/>
          <a:p>
            <a:endParaRPr lang="fr-FR"/>
          </a:p>
        </p:txBody>
      </p:sp>
      <p:sp>
        <p:nvSpPr>
          <p:cNvPr id="19" name="Text 17"/>
          <p:cNvSpPr/>
          <p:nvPr/>
        </p:nvSpPr>
        <p:spPr>
          <a:xfrm>
            <a:off x="384048" y="2240280"/>
            <a:ext cx="983894" cy="146304"/>
          </a:xfrm>
          <a:prstGeom prst="rect">
            <a:avLst/>
          </a:prstGeom>
          <a:noFill/>
          <a:ln/>
        </p:spPr>
        <p:txBody>
          <a:bodyPr wrap="square" lIns="0" tIns="0" rIns="0" bIns="0" rtlCol="0" anchor="ctr"/>
          <a:lstStyle/>
          <a:p>
            <a:pPr marL="0" indent="0" algn="l">
              <a:lnSpc>
                <a:spcPct val="106000"/>
              </a:lnSpc>
              <a:buNone/>
            </a:pPr>
            <a:r>
              <a:rPr lang="en-US" sz="700" b="1" dirty="0">
                <a:solidFill>
                  <a:srgbClr val="12263F"/>
                </a:solidFill>
                <a:latin typeface="Calibri" pitchFamily="34" charset="0"/>
                <a:ea typeface="Calibri" pitchFamily="34" charset="-122"/>
                <a:cs typeface="Calibri" pitchFamily="34" charset="-120"/>
              </a:rPr>
              <a:t>node-exporter</a:t>
            </a:r>
            <a:endParaRPr lang="en-US" sz="700" dirty="0"/>
          </a:p>
        </p:txBody>
      </p:sp>
      <p:sp>
        <p:nvSpPr>
          <p:cNvPr id="20" name="Text 18"/>
          <p:cNvSpPr/>
          <p:nvPr/>
        </p:nvSpPr>
        <p:spPr>
          <a:xfrm>
            <a:off x="1294790" y="2244852"/>
            <a:ext cx="457200" cy="128016"/>
          </a:xfrm>
          <a:prstGeom prst="rect">
            <a:avLst/>
          </a:prstGeom>
          <a:noFill/>
          <a:ln/>
        </p:spPr>
        <p:txBody>
          <a:bodyPr wrap="square" lIns="0" tIns="0" rIns="0" bIns="0" rtlCol="0" anchor="ctr"/>
          <a:lstStyle/>
          <a:p>
            <a:pPr marL="0" indent="0" algn="r">
              <a:lnSpc>
                <a:spcPct val="106000"/>
              </a:lnSpc>
              <a:buNone/>
            </a:pPr>
            <a:r>
              <a:rPr lang="en-US" sz="520" dirty="0">
                <a:solidFill>
                  <a:srgbClr val="8FA6BC"/>
                </a:solidFill>
                <a:latin typeface="Calibri" pitchFamily="34" charset="0"/>
                <a:ea typeface="Calibri" pitchFamily="34" charset="-122"/>
                <a:cs typeface="Calibri" pitchFamily="34" charset="-120"/>
              </a:rPr>
              <a:t>:9100</a:t>
            </a:r>
            <a:endParaRPr lang="en-US" sz="520" dirty="0"/>
          </a:p>
        </p:txBody>
      </p:sp>
      <p:sp>
        <p:nvSpPr>
          <p:cNvPr id="21" name="Text 19"/>
          <p:cNvSpPr/>
          <p:nvPr/>
        </p:nvSpPr>
        <p:spPr>
          <a:xfrm>
            <a:off x="384048" y="2395728"/>
            <a:ext cx="1367942" cy="201168"/>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agent hôte, 1 par nœud</a:t>
            </a:r>
            <a:endParaRPr lang="en-US" sz="560" dirty="0"/>
          </a:p>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CPU · mémoire · disque · fichiers</a:t>
            </a:r>
            <a:endParaRPr lang="en-US" sz="560" dirty="0"/>
          </a:p>
        </p:txBody>
      </p:sp>
      <p:sp>
        <p:nvSpPr>
          <p:cNvPr id="22" name="Shape 20"/>
          <p:cNvSpPr/>
          <p:nvPr/>
        </p:nvSpPr>
        <p:spPr>
          <a:xfrm>
            <a:off x="292608" y="2706624"/>
            <a:ext cx="1550822" cy="475488"/>
          </a:xfrm>
          <a:prstGeom prst="rect">
            <a:avLst/>
          </a:prstGeom>
          <a:solidFill>
            <a:srgbClr val="FFFFFF"/>
          </a:solidFill>
          <a:ln w="9525">
            <a:solidFill>
              <a:srgbClr val="E2E8EE"/>
            </a:solidFill>
            <a:prstDash val="solid"/>
          </a:ln>
        </p:spPr>
        <p:txBody>
          <a:bodyPr/>
          <a:lstStyle/>
          <a:p>
            <a:endParaRPr lang="fr-FR"/>
          </a:p>
        </p:txBody>
      </p:sp>
      <p:sp>
        <p:nvSpPr>
          <p:cNvPr id="23" name="Shape 21"/>
          <p:cNvSpPr/>
          <p:nvPr/>
        </p:nvSpPr>
        <p:spPr>
          <a:xfrm>
            <a:off x="292608" y="2706624"/>
            <a:ext cx="1550822" cy="27432"/>
          </a:xfrm>
          <a:prstGeom prst="rect">
            <a:avLst/>
          </a:prstGeom>
          <a:solidFill>
            <a:srgbClr val="1B6EC2"/>
          </a:solidFill>
          <a:ln/>
        </p:spPr>
        <p:txBody>
          <a:bodyPr/>
          <a:lstStyle/>
          <a:p>
            <a:endParaRPr lang="fr-FR"/>
          </a:p>
        </p:txBody>
      </p:sp>
      <p:sp>
        <p:nvSpPr>
          <p:cNvPr id="24" name="Text 22"/>
          <p:cNvSpPr/>
          <p:nvPr/>
        </p:nvSpPr>
        <p:spPr>
          <a:xfrm>
            <a:off x="384048" y="2770632"/>
            <a:ext cx="983894" cy="146304"/>
          </a:xfrm>
          <a:prstGeom prst="rect">
            <a:avLst/>
          </a:prstGeom>
          <a:noFill/>
          <a:ln/>
        </p:spPr>
        <p:txBody>
          <a:bodyPr wrap="square" lIns="0" tIns="0" rIns="0" bIns="0" rtlCol="0" anchor="ctr"/>
          <a:lstStyle/>
          <a:p>
            <a:pPr marL="0" indent="0" algn="l">
              <a:lnSpc>
                <a:spcPct val="106000"/>
              </a:lnSpc>
              <a:buNone/>
            </a:pPr>
            <a:r>
              <a:rPr lang="en-US" sz="700" b="1" dirty="0">
                <a:solidFill>
                  <a:srgbClr val="12263F"/>
                </a:solidFill>
                <a:latin typeface="Calibri" pitchFamily="34" charset="0"/>
                <a:ea typeface="Calibri" pitchFamily="34" charset="-122"/>
                <a:cs typeface="Calibri" pitchFamily="34" charset="-120"/>
              </a:rPr>
              <a:t>cAdvisor</a:t>
            </a:r>
            <a:endParaRPr lang="en-US" sz="700" dirty="0"/>
          </a:p>
        </p:txBody>
      </p:sp>
      <p:sp>
        <p:nvSpPr>
          <p:cNvPr id="25" name="Text 23"/>
          <p:cNvSpPr/>
          <p:nvPr/>
        </p:nvSpPr>
        <p:spPr>
          <a:xfrm>
            <a:off x="1294790" y="2775204"/>
            <a:ext cx="457200" cy="128016"/>
          </a:xfrm>
          <a:prstGeom prst="rect">
            <a:avLst/>
          </a:prstGeom>
          <a:noFill/>
          <a:ln/>
        </p:spPr>
        <p:txBody>
          <a:bodyPr wrap="square" lIns="0" tIns="0" rIns="0" bIns="0" rtlCol="0" anchor="ctr"/>
          <a:lstStyle/>
          <a:p>
            <a:pPr marL="0" indent="0" algn="r">
              <a:lnSpc>
                <a:spcPct val="106000"/>
              </a:lnSpc>
              <a:buNone/>
            </a:pPr>
            <a:r>
              <a:rPr lang="en-US" sz="520" dirty="0">
                <a:solidFill>
                  <a:srgbClr val="8FA6BC"/>
                </a:solidFill>
                <a:latin typeface="Calibri" pitchFamily="34" charset="0"/>
                <a:ea typeface="Calibri" pitchFamily="34" charset="-122"/>
                <a:cs typeface="Calibri" pitchFamily="34" charset="-120"/>
              </a:rPr>
              <a:t>:8080</a:t>
            </a:r>
            <a:endParaRPr lang="en-US" sz="520" dirty="0"/>
          </a:p>
        </p:txBody>
      </p:sp>
      <p:sp>
        <p:nvSpPr>
          <p:cNvPr id="26" name="Text 24"/>
          <p:cNvSpPr/>
          <p:nvPr/>
        </p:nvSpPr>
        <p:spPr>
          <a:xfrm>
            <a:off x="384048" y="2926080"/>
            <a:ext cx="1367942" cy="201168"/>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agent conteneurs, 1 par nœud</a:t>
            </a:r>
            <a:endParaRPr lang="en-US" sz="560" dirty="0"/>
          </a:p>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CPU et mémoire par conteneur</a:t>
            </a:r>
            <a:endParaRPr lang="en-US" sz="560" dirty="0"/>
          </a:p>
        </p:txBody>
      </p:sp>
      <p:sp>
        <p:nvSpPr>
          <p:cNvPr id="27" name="Shape 25"/>
          <p:cNvSpPr/>
          <p:nvPr/>
        </p:nvSpPr>
        <p:spPr>
          <a:xfrm>
            <a:off x="292608" y="3236976"/>
            <a:ext cx="1550822" cy="566928"/>
          </a:xfrm>
          <a:prstGeom prst="rect">
            <a:avLst/>
          </a:prstGeom>
          <a:solidFill>
            <a:srgbClr val="FFFFFF"/>
          </a:solidFill>
          <a:ln w="9525">
            <a:solidFill>
              <a:srgbClr val="E2E8EE"/>
            </a:solidFill>
            <a:prstDash val="solid"/>
          </a:ln>
        </p:spPr>
        <p:txBody>
          <a:bodyPr/>
          <a:lstStyle/>
          <a:p>
            <a:endParaRPr lang="fr-FR"/>
          </a:p>
        </p:txBody>
      </p:sp>
      <p:sp>
        <p:nvSpPr>
          <p:cNvPr id="28" name="Shape 26"/>
          <p:cNvSpPr/>
          <p:nvPr/>
        </p:nvSpPr>
        <p:spPr>
          <a:xfrm>
            <a:off x="292608" y="3236976"/>
            <a:ext cx="1550822" cy="27432"/>
          </a:xfrm>
          <a:prstGeom prst="rect">
            <a:avLst/>
          </a:prstGeom>
          <a:solidFill>
            <a:srgbClr val="1B6EC2"/>
          </a:solidFill>
          <a:ln/>
        </p:spPr>
        <p:txBody>
          <a:bodyPr/>
          <a:lstStyle/>
          <a:p>
            <a:endParaRPr lang="fr-FR"/>
          </a:p>
        </p:txBody>
      </p:sp>
      <p:sp>
        <p:nvSpPr>
          <p:cNvPr id="29" name="Text 27"/>
          <p:cNvSpPr/>
          <p:nvPr/>
        </p:nvSpPr>
        <p:spPr>
          <a:xfrm>
            <a:off x="384048" y="3300984"/>
            <a:ext cx="983894" cy="146304"/>
          </a:xfrm>
          <a:prstGeom prst="rect">
            <a:avLst/>
          </a:prstGeom>
          <a:noFill/>
          <a:ln/>
        </p:spPr>
        <p:txBody>
          <a:bodyPr wrap="square" lIns="0" tIns="0" rIns="0" bIns="0" rtlCol="0" anchor="ctr"/>
          <a:lstStyle/>
          <a:p>
            <a:pPr marL="0" indent="0" algn="l">
              <a:lnSpc>
                <a:spcPct val="106000"/>
              </a:lnSpc>
              <a:buNone/>
            </a:pPr>
            <a:r>
              <a:rPr lang="en-US" sz="700" b="1" dirty="0">
                <a:solidFill>
                  <a:srgbClr val="12263F"/>
                </a:solidFill>
                <a:latin typeface="Calibri" pitchFamily="34" charset="0"/>
                <a:ea typeface="Calibri" pitchFamily="34" charset="-122"/>
                <a:cs typeface="Calibri" pitchFamily="34" charset="-120"/>
              </a:rPr>
              <a:t>Conteneurs applicatifs</a:t>
            </a:r>
            <a:endParaRPr lang="en-US" sz="700" dirty="0"/>
          </a:p>
        </p:txBody>
      </p:sp>
      <p:sp>
        <p:nvSpPr>
          <p:cNvPr id="30" name="Text 28"/>
          <p:cNvSpPr/>
          <p:nvPr/>
        </p:nvSpPr>
        <p:spPr>
          <a:xfrm>
            <a:off x="1294790" y="3305556"/>
            <a:ext cx="457200" cy="128016"/>
          </a:xfrm>
          <a:prstGeom prst="rect">
            <a:avLst/>
          </a:prstGeom>
          <a:noFill/>
          <a:ln/>
        </p:spPr>
        <p:txBody>
          <a:bodyPr wrap="square" lIns="0" tIns="0" rIns="0" bIns="0" rtlCol="0" anchor="ctr"/>
          <a:lstStyle/>
          <a:p>
            <a:pPr marL="0" indent="0" algn="r">
              <a:lnSpc>
                <a:spcPct val="106000"/>
              </a:lnSpc>
              <a:buNone/>
            </a:pPr>
            <a:r>
              <a:rPr lang="en-US" sz="520" dirty="0">
                <a:solidFill>
                  <a:srgbClr val="8FA6BC"/>
                </a:solidFill>
                <a:latin typeface="Calibri" pitchFamily="34" charset="0"/>
                <a:ea typeface="Calibri" pitchFamily="34" charset="-122"/>
                <a:cs typeface="Calibri" pitchFamily="34" charset="-120"/>
              </a:rPr>
              <a:t>stdout</a:t>
            </a:r>
            <a:endParaRPr lang="en-US" sz="520" dirty="0"/>
          </a:p>
        </p:txBody>
      </p:sp>
      <p:sp>
        <p:nvSpPr>
          <p:cNvPr id="31" name="Text 29"/>
          <p:cNvSpPr/>
          <p:nvPr/>
        </p:nvSpPr>
        <p:spPr>
          <a:xfrm>
            <a:off x="384048" y="3456432"/>
            <a:ext cx="1367942" cy="292608"/>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front · back · PgBouncer · PostgreSQL · Redis</a:t>
            </a:r>
            <a:endParaRPr lang="en-US" sz="560" dirty="0"/>
          </a:p>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journaux stdout / stderr</a:t>
            </a:r>
            <a:endParaRPr lang="en-US" sz="560" dirty="0"/>
          </a:p>
        </p:txBody>
      </p:sp>
      <p:sp>
        <p:nvSpPr>
          <p:cNvPr id="32" name="Shape 30"/>
          <p:cNvSpPr/>
          <p:nvPr/>
        </p:nvSpPr>
        <p:spPr>
          <a:xfrm>
            <a:off x="2044598" y="1920240"/>
            <a:ext cx="1550822" cy="731520"/>
          </a:xfrm>
          <a:prstGeom prst="rect">
            <a:avLst/>
          </a:prstGeom>
          <a:solidFill>
            <a:srgbClr val="FFFFFF"/>
          </a:solidFill>
          <a:ln w="9525">
            <a:solidFill>
              <a:srgbClr val="E2E8EE"/>
            </a:solidFill>
            <a:prstDash val="solid"/>
          </a:ln>
        </p:spPr>
        <p:txBody>
          <a:bodyPr/>
          <a:lstStyle/>
          <a:p>
            <a:endParaRPr lang="fr-FR"/>
          </a:p>
        </p:txBody>
      </p:sp>
      <p:sp>
        <p:nvSpPr>
          <p:cNvPr id="33" name="Shape 31"/>
          <p:cNvSpPr/>
          <p:nvPr/>
        </p:nvSpPr>
        <p:spPr>
          <a:xfrm>
            <a:off x="2044598" y="1920240"/>
            <a:ext cx="1550822" cy="27432"/>
          </a:xfrm>
          <a:prstGeom prst="rect">
            <a:avLst/>
          </a:prstGeom>
          <a:solidFill>
            <a:srgbClr val="12855A"/>
          </a:solidFill>
          <a:ln/>
        </p:spPr>
        <p:txBody>
          <a:bodyPr/>
          <a:lstStyle/>
          <a:p>
            <a:endParaRPr lang="fr-FR"/>
          </a:p>
        </p:txBody>
      </p:sp>
      <p:sp>
        <p:nvSpPr>
          <p:cNvPr id="34" name="Text 32"/>
          <p:cNvSpPr/>
          <p:nvPr/>
        </p:nvSpPr>
        <p:spPr>
          <a:xfrm>
            <a:off x="2136038" y="1984248"/>
            <a:ext cx="983894" cy="146304"/>
          </a:xfrm>
          <a:prstGeom prst="rect">
            <a:avLst/>
          </a:prstGeom>
          <a:noFill/>
          <a:ln/>
        </p:spPr>
        <p:txBody>
          <a:bodyPr wrap="square" lIns="0" tIns="0" rIns="0" bIns="0" rtlCol="0" anchor="ctr"/>
          <a:lstStyle/>
          <a:p>
            <a:pPr marL="0" indent="0" algn="l">
              <a:lnSpc>
                <a:spcPct val="106000"/>
              </a:lnSpc>
              <a:buNone/>
            </a:pPr>
            <a:r>
              <a:rPr lang="en-US" sz="700" b="1" dirty="0">
                <a:solidFill>
                  <a:srgbClr val="12263F"/>
                </a:solidFill>
                <a:latin typeface="Calibri" pitchFamily="34" charset="0"/>
                <a:ea typeface="Calibri" pitchFamily="34" charset="-122"/>
                <a:cs typeface="Calibri" pitchFamily="34" charset="-120"/>
              </a:rPr>
              <a:t>Prometheus</a:t>
            </a:r>
            <a:endParaRPr lang="en-US" sz="700" dirty="0"/>
          </a:p>
        </p:txBody>
      </p:sp>
      <p:sp>
        <p:nvSpPr>
          <p:cNvPr id="35" name="Text 33"/>
          <p:cNvSpPr/>
          <p:nvPr/>
        </p:nvSpPr>
        <p:spPr>
          <a:xfrm>
            <a:off x="3046781" y="1988820"/>
            <a:ext cx="457200" cy="128016"/>
          </a:xfrm>
          <a:prstGeom prst="rect">
            <a:avLst/>
          </a:prstGeom>
          <a:noFill/>
          <a:ln/>
        </p:spPr>
        <p:txBody>
          <a:bodyPr wrap="square" lIns="0" tIns="0" rIns="0" bIns="0" rtlCol="0" anchor="ctr"/>
          <a:lstStyle/>
          <a:p>
            <a:pPr marL="0" indent="0" algn="r">
              <a:lnSpc>
                <a:spcPct val="106000"/>
              </a:lnSpc>
              <a:buNone/>
            </a:pPr>
            <a:r>
              <a:rPr lang="en-US" sz="520" dirty="0">
                <a:solidFill>
                  <a:srgbClr val="8FA6BC"/>
                </a:solidFill>
                <a:latin typeface="Calibri" pitchFamily="34" charset="0"/>
                <a:ea typeface="Calibri" pitchFamily="34" charset="-122"/>
                <a:cs typeface="Calibri" pitchFamily="34" charset="-120"/>
              </a:rPr>
              <a:t>v3.13</a:t>
            </a:r>
            <a:endParaRPr lang="en-US" sz="520" dirty="0"/>
          </a:p>
        </p:txBody>
      </p:sp>
      <p:sp>
        <p:nvSpPr>
          <p:cNvPr id="36" name="Text 34"/>
          <p:cNvSpPr/>
          <p:nvPr/>
        </p:nvSpPr>
        <p:spPr>
          <a:xfrm>
            <a:off x="2136038" y="2139696"/>
            <a:ext cx="1367942" cy="45720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collecte en pull, scrape 15 s</a:t>
            </a:r>
            <a:endParaRPr lang="en-US" sz="560" dirty="0"/>
          </a:p>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règles recording (modèle énergétique)</a:t>
            </a:r>
            <a:endParaRPr lang="en-US" sz="560" dirty="0"/>
          </a:p>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et règles d'alerte</a:t>
            </a:r>
            <a:endParaRPr lang="en-US" sz="560" dirty="0"/>
          </a:p>
        </p:txBody>
      </p:sp>
      <p:sp>
        <p:nvSpPr>
          <p:cNvPr id="37" name="Shape 35"/>
          <p:cNvSpPr/>
          <p:nvPr/>
        </p:nvSpPr>
        <p:spPr>
          <a:xfrm>
            <a:off x="2044598" y="3145536"/>
            <a:ext cx="1550822" cy="658368"/>
          </a:xfrm>
          <a:prstGeom prst="rect">
            <a:avLst/>
          </a:prstGeom>
          <a:solidFill>
            <a:srgbClr val="FFFFFF"/>
          </a:solidFill>
          <a:ln w="9525">
            <a:solidFill>
              <a:srgbClr val="E2E8EE"/>
            </a:solidFill>
            <a:prstDash val="solid"/>
          </a:ln>
        </p:spPr>
        <p:txBody>
          <a:bodyPr/>
          <a:lstStyle/>
          <a:p>
            <a:endParaRPr lang="fr-FR"/>
          </a:p>
        </p:txBody>
      </p:sp>
      <p:sp>
        <p:nvSpPr>
          <p:cNvPr id="38" name="Shape 36"/>
          <p:cNvSpPr/>
          <p:nvPr/>
        </p:nvSpPr>
        <p:spPr>
          <a:xfrm>
            <a:off x="2044598" y="3145536"/>
            <a:ext cx="1550822" cy="27432"/>
          </a:xfrm>
          <a:prstGeom prst="rect">
            <a:avLst/>
          </a:prstGeom>
          <a:solidFill>
            <a:srgbClr val="12855A"/>
          </a:solidFill>
          <a:ln/>
        </p:spPr>
        <p:txBody>
          <a:bodyPr/>
          <a:lstStyle/>
          <a:p>
            <a:endParaRPr lang="fr-FR"/>
          </a:p>
        </p:txBody>
      </p:sp>
      <p:sp>
        <p:nvSpPr>
          <p:cNvPr id="39" name="Text 37"/>
          <p:cNvSpPr/>
          <p:nvPr/>
        </p:nvSpPr>
        <p:spPr>
          <a:xfrm>
            <a:off x="2136038" y="3209544"/>
            <a:ext cx="983894" cy="146304"/>
          </a:xfrm>
          <a:prstGeom prst="rect">
            <a:avLst/>
          </a:prstGeom>
          <a:noFill/>
          <a:ln/>
        </p:spPr>
        <p:txBody>
          <a:bodyPr wrap="square" lIns="0" tIns="0" rIns="0" bIns="0" rtlCol="0" anchor="ctr"/>
          <a:lstStyle/>
          <a:p>
            <a:pPr marL="0" indent="0" algn="l">
              <a:lnSpc>
                <a:spcPct val="106000"/>
              </a:lnSpc>
              <a:buNone/>
            </a:pPr>
            <a:r>
              <a:rPr lang="en-US" sz="700" b="1" dirty="0">
                <a:solidFill>
                  <a:srgbClr val="12263F"/>
                </a:solidFill>
                <a:latin typeface="Calibri" pitchFamily="34" charset="0"/>
                <a:ea typeface="Calibri" pitchFamily="34" charset="-122"/>
                <a:cs typeface="Calibri" pitchFamily="34" charset="-120"/>
              </a:rPr>
              <a:t>Grafana Alloy</a:t>
            </a:r>
            <a:endParaRPr lang="en-US" sz="700" dirty="0"/>
          </a:p>
        </p:txBody>
      </p:sp>
      <p:sp>
        <p:nvSpPr>
          <p:cNvPr id="40" name="Text 38"/>
          <p:cNvSpPr/>
          <p:nvPr/>
        </p:nvSpPr>
        <p:spPr>
          <a:xfrm>
            <a:off x="3046781" y="3214116"/>
            <a:ext cx="457200" cy="128016"/>
          </a:xfrm>
          <a:prstGeom prst="rect">
            <a:avLst/>
          </a:prstGeom>
          <a:noFill/>
          <a:ln/>
        </p:spPr>
        <p:txBody>
          <a:bodyPr wrap="square" lIns="0" tIns="0" rIns="0" bIns="0" rtlCol="0" anchor="ctr"/>
          <a:lstStyle/>
          <a:p>
            <a:pPr marL="0" indent="0" algn="r">
              <a:lnSpc>
                <a:spcPct val="106000"/>
              </a:lnSpc>
              <a:buNone/>
            </a:pPr>
            <a:r>
              <a:rPr lang="en-US" sz="520" dirty="0">
                <a:solidFill>
                  <a:srgbClr val="8FA6BC"/>
                </a:solidFill>
                <a:latin typeface="Calibri" pitchFamily="34" charset="0"/>
                <a:ea typeface="Calibri" pitchFamily="34" charset="-122"/>
                <a:cs typeface="Calibri" pitchFamily="34" charset="-120"/>
              </a:rPr>
              <a:t>v1.16</a:t>
            </a:r>
            <a:endParaRPr lang="en-US" sz="520" dirty="0"/>
          </a:p>
        </p:txBody>
      </p:sp>
      <p:sp>
        <p:nvSpPr>
          <p:cNvPr id="41" name="Text 39"/>
          <p:cNvSpPr/>
          <p:nvPr/>
        </p:nvSpPr>
        <p:spPr>
          <a:xfrm>
            <a:off x="2136038" y="3364992"/>
            <a:ext cx="1367942" cy="384048"/>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agent de journaux, 1 par nœud</a:t>
            </a:r>
            <a:endParaRPr lang="en-US" sz="560" dirty="0"/>
          </a:p>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découverte Docker par socket</a:t>
            </a:r>
            <a:endParaRPr lang="en-US" sz="560" dirty="0"/>
          </a:p>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relabel service / nœud</a:t>
            </a:r>
            <a:endParaRPr lang="en-US" sz="560" dirty="0"/>
          </a:p>
        </p:txBody>
      </p:sp>
      <p:sp>
        <p:nvSpPr>
          <p:cNvPr id="42" name="Shape 40"/>
          <p:cNvSpPr/>
          <p:nvPr/>
        </p:nvSpPr>
        <p:spPr>
          <a:xfrm>
            <a:off x="3796589" y="1920240"/>
            <a:ext cx="1550822" cy="658368"/>
          </a:xfrm>
          <a:prstGeom prst="rect">
            <a:avLst/>
          </a:prstGeom>
          <a:solidFill>
            <a:srgbClr val="FFFFFF"/>
          </a:solidFill>
          <a:ln w="9525">
            <a:solidFill>
              <a:srgbClr val="E2E8EE"/>
            </a:solidFill>
            <a:prstDash val="solid"/>
          </a:ln>
        </p:spPr>
        <p:txBody>
          <a:bodyPr/>
          <a:lstStyle/>
          <a:p>
            <a:endParaRPr lang="fr-FR"/>
          </a:p>
        </p:txBody>
      </p:sp>
      <p:sp>
        <p:nvSpPr>
          <p:cNvPr id="43" name="Shape 41"/>
          <p:cNvSpPr/>
          <p:nvPr/>
        </p:nvSpPr>
        <p:spPr>
          <a:xfrm>
            <a:off x="3796589" y="1920240"/>
            <a:ext cx="1550822" cy="27432"/>
          </a:xfrm>
          <a:prstGeom prst="rect">
            <a:avLst/>
          </a:prstGeom>
          <a:solidFill>
            <a:srgbClr val="6B3FD4"/>
          </a:solidFill>
          <a:ln/>
        </p:spPr>
        <p:txBody>
          <a:bodyPr/>
          <a:lstStyle/>
          <a:p>
            <a:endParaRPr lang="fr-FR"/>
          </a:p>
        </p:txBody>
      </p:sp>
      <p:sp>
        <p:nvSpPr>
          <p:cNvPr id="44" name="Text 42"/>
          <p:cNvSpPr/>
          <p:nvPr/>
        </p:nvSpPr>
        <p:spPr>
          <a:xfrm>
            <a:off x="3888029" y="1984248"/>
            <a:ext cx="983894" cy="146304"/>
          </a:xfrm>
          <a:prstGeom prst="rect">
            <a:avLst/>
          </a:prstGeom>
          <a:noFill/>
          <a:ln/>
        </p:spPr>
        <p:txBody>
          <a:bodyPr wrap="square" lIns="0" tIns="0" rIns="0" bIns="0" rtlCol="0" anchor="ctr"/>
          <a:lstStyle/>
          <a:p>
            <a:pPr marL="0" indent="0" algn="l">
              <a:lnSpc>
                <a:spcPct val="106000"/>
              </a:lnSpc>
              <a:buNone/>
            </a:pPr>
            <a:r>
              <a:rPr lang="en-US" sz="700" b="1" dirty="0">
                <a:solidFill>
                  <a:srgbClr val="12263F"/>
                </a:solidFill>
                <a:latin typeface="Calibri" pitchFamily="34" charset="0"/>
                <a:ea typeface="Calibri" pitchFamily="34" charset="-122"/>
                <a:cs typeface="Calibri" pitchFamily="34" charset="-120"/>
              </a:rPr>
              <a:t>Prometheus TSDB</a:t>
            </a:r>
            <a:endParaRPr lang="en-US" sz="700" dirty="0"/>
          </a:p>
        </p:txBody>
      </p:sp>
      <p:sp>
        <p:nvSpPr>
          <p:cNvPr id="45" name="Text 43"/>
          <p:cNvSpPr/>
          <p:nvPr/>
        </p:nvSpPr>
        <p:spPr>
          <a:xfrm>
            <a:off x="4798771" y="1988820"/>
            <a:ext cx="457200" cy="128016"/>
          </a:xfrm>
          <a:prstGeom prst="rect">
            <a:avLst/>
          </a:prstGeom>
          <a:noFill/>
          <a:ln/>
        </p:spPr>
        <p:txBody>
          <a:bodyPr wrap="square" lIns="0" tIns="0" rIns="0" bIns="0" rtlCol="0" anchor="ctr"/>
          <a:lstStyle/>
          <a:p>
            <a:pPr marL="0" indent="0" algn="r">
              <a:lnSpc>
                <a:spcPct val="106000"/>
              </a:lnSpc>
              <a:buNone/>
            </a:pPr>
            <a:r>
              <a:rPr lang="en-US" sz="520" dirty="0">
                <a:solidFill>
                  <a:srgbClr val="8FA6BC"/>
                </a:solidFill>
                <a:latin typeface="Calibri" pitchFamily="34" charset="0"/>
                <a:ea typeface="Calibri" pitchFamily="34" charset="-122"/>
                <a:cs typeface="Calibri" pitchFamily="34" charset="-120"/>
              </a:rPr>
              <a:t>métriques</a:t>
            </a:r>
            <a:endParaRPr lang="en-US" sz="520" dirty="0"/>
          </a:p>
        </p:txBody>
      </p:sp>
      <p:sp>
        <p:nvSpPr>
          <p:cNvPr id="46" name="Text 44"/>
          <p:cNvSpPr/>
          <p:nvPr/>
        </p:nvSpPr>
        <p:spPr>
          <a:xfrm>
            <a:off x="3888029" y="2139696"/>
            <a:ext cx="1367942" cy="384048"/>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séries temporelles</a:t>
            </a:r>
            <a:endParaRPr lang="en-US" sz="560" dirty="0"/>
          </a:p>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rétention 15 j / 10 Go</a:t>
            </a:r>
            <a:endParaRPr lang="en-US" sz="560" dirty="0"/>
          </a:p>
        </p:txBody>
      </p:sp>
      <p:sp>
        <p:nvSpPr>
          <p:cNvPr id="47" name="Shape 45"/>
          <p:cNvSpPr/>
          <p:nvPr/>
        </p:nvSpPr>
        <p:spPr>
          <a:xfrm>
            <a:off x="3796589" y="3145536"/>
            <a:ext cx="1550822" cy="658368"/>
          </a:xfrm>
          <a:prstGeom prst="rect">
            <a:avLst/>
          </a:prstGeom>
          <a:solidFill>
            <a:srgbClr val="FFFFFF"/>
          </a:solidFill>
          <a:ln w="9525">
            <a:solidFill>
              <a:srgbClr val="E2E8EE"/>
            </a:solidFill>
            <a:prstDash val="solid"/>
          </a:ln>
        </p:spPr>
        <p:txBody>
          <a:bodyPr/>
          <a:lstStyle/>
          <a:p>
            <a:endParaRPr lang="fr-FR"/>
          </a:p>
        </p:txBody>
      </p:sp>
      <p:sp>
        <p:nvSpPr>
          <p:cNvPr id="48" name="Shape 46"/>
          <p:cNvSpPr/>
          <p:nvPr/>
        </p:nvSpPr>
        <p:spPr>
          <a:xfrm>
            <a:off x="3796589" y="3145536"/>
            <a:ext cx="1550822" cy="27432"/>
          </a:xfrm>
          <a:prstGeom prst="rect">
            <a:avLst/>
          </a:prstGeom>
          <a:solidFill>
            <a:srgbClr val="6B3FD4"/>
          </a:solidFill>
          <a:ln/>
        </p:spPr>
        <p:txBody>
          <a:bodyPr/>
          <a:lstStyle/>
          <a:p>
            <a:endParaRPr lang="fr-FR"/>
          </a:p>
        </p:txBody>
      </p:sp>
      <p:sp>
        <p:nvSpPr>
          <p:cNvPr id="49" name="Text 47"/>
          <p:cNvSpPr/>
          <p:nvPr/>
        </p:nvSpPr>
        <p:spPr>
          <a:xfrm>
            <a:off x="3888029" y="3209544"/>
            <a:ext cx="983894" cy="146304"/>
          </a:xfrm>
          <a:prstGeom prst="rect">
            <a:avLst/>
          </a:prstGeom>
          <a:noFill/>
          <a:ln/>
        </p:spPr>
        <p:txBody>
          <a:bodyPr wrap="square" lIns="0" tIns="0" rIns="0" bIns="0" rtlCol="0" anchor="ctr"/>
          <a:lstStyle/>
          <a:p>
            <a:pPr marL="0" indent="0" algn="l">
              <a:lnSpc>
                <a:spcPct val="106000"/>
              </a:lnSpc>
              <a:buNone/>
            </a:pPr>
            <a:r>
              <a:rPr lang="en-US" sz="700" b="1" dirty="0">
                <a:solidFill>
                  <a:srgbClr val="12263F"/>
                </a:solidFill>
                <a:latin typeface="Calibri" pitchFamily="34" charset="0"/>
                <a:ea typeface="Calibri" pitchFamily="34" charset="-122"/>
                <a:cs typeface="Calibri" pitchFamily="34" charset="-120"/>
              </a:rPr>
              <a:t>Loki</a:t>
            </a:r>
            <a:endParaRPr lang="en-US" sz="700" dirty="0"/>
          </a:p>
        </p:txBody>
      </p:sp>
      <p:sp>
        <p:nvSpPr>
          <p:cNvPr id="50" name="Text 48"/>
          <p:cNvSpPr/>
          <p:nvPr/>
        </p:nvSpPr>
        <p:spPr>
          <a:xfrm>
            <a:off x="4798771" y="3214116"/>
            <a:ext cx="457200" cy="128016"/>
          </a:xfrm>
          <a:prstGeom prst="rect">
            <a:avLst/>
          </a:prstGeom>
          <a:noFill/>
          <a:ln/>
        </p:spPr>
        <p:txBody>
          <a:bodyPr wrap="square" lIns="0" tIns="0" rIns="0" bIns="0" rtlCol="0" anchor="ctr"/>
          <a:lstStyle/>
          <a:p>
            <a:pPr marL="0" indent="0" algn="r">
              <a:lnSpc>
                <a:spcPct val="106000"/>
              </a:lnSpc>
              <a:buNone/>
            </a:pPr>
            <a:r>
              <a:rPr lang="en-US" sz="520" dirty="0">
                <a:solidFill>
                  <a:srgbClr val="8FA6BC"/>
                </a:solidFill>
                <a:latin typeface="Calibri" pitchFamily="34" charset="0"/>
                <a:ea typeface="Calibri" pitchFamily="34" charset="-122"/>
                <a:cs typeface="Calibri" pitchFamily="34" charset="-120"/>
              </a:rPr>
              <a:t>journaux</a:t>
            </a:r>
            <a:endParaRPr lang="en-US" sz="520" dirty="0"/>
          </a:p>
        </p:txBody>
      </p:sp>
      <p:sp>
        <p:nvSpPr>
          <p:cNvPr id="51" name="Text 49"/>
          <p:cNvSpPr/>
          <p:nvPr/>
        </p:nvSpPr>
        <p:spPr>
          <a:xfrm>
            <a:off x="3888029" y="3364992"/>
            <a:ext cx="1367942" cy="384048"/>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index TSDB v13</a:t>
            </a:r>
            <a:endParaRPr lang="en-US" sz="560" dirty="0"/>
          </a:p>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rétention 30 j · compaction</a:t>
            </a:r>
            <a:endParaRPr lang="en-US" sz="560" dirty="0"/>
          </a:p>
        </p:txBody>
      </p:sp>
      <p:sp>
        <p:nvSpPr>
          <p:cNvPr id="52" name="Shape 50"/>
          <p:cNvSpPr/>
          <p:nvPr/>
        </p:nvSpPr>
        <p:spPr>
          <a:xfrm>
            <a:off x="5548579" y="1920240"/>
            <a:ext cx="1550822" cy="731520"/>
          </a:xfrm>
          <a:prstGeom prst="rect">
            <a:avLst/>
          </a:prstGeom>
          <a:solidFill>
            <a:srgbClr val="FFFFFF"/>
          </a:solidFill>
          <a:ln w="9525">
            <a:solidFill>
              <a:srgbClr val="E2E8EE"/>
            </a:solidFill>
            <a:prstDash val="solid"/>
          </a:ln>
        </p:spPr>
        <p:txBody>
          <a:bodyPr/>
          <a:lstStyle/>
          <a:p>
            <a:endParaRPr lang="fr-FR"/>
          </a:p>
        </p:txBody>
      </p:sp>
      <p:sp>
        <p:nvSpPr>
          <p:cNvPr id="53" name="Shape 51"/>
          <p:cNvSpPr/>
          <p:nvPr/>
        </p:nvSpPr>
        <p:spPr>
          <a:xfrm>
            <a:off x="5548579" y="1920240"/>
            <a:ext cx="1550822" cy="27432"/>
          </a:xfrm>
          <a:prstGeom prst="rect">
            <a:avLst/>
          </a:prstGeom>
          <a:solidFill>
            <a:srgbClr val="B03A48"/>
          </a:solidFill>
          <a:ln/>
        </p:spPr>
        <p:txBody>
          <a:bodyPr/>
          <a:lstStyle/>
          <a:p>
            <a:endParaRPr lang="fr-FR"/>
          </a:p>
        </p:txBody>
      </p:sp>
      <p:sp>
        <p:nvSpPr>
          <p:cNvPr id="54" name="Text 52"/>
          <p:cNvSpPr/>
          <p:nvPr/>
        </p:nvSpPr>
        <p:spPr>
          <a:xfrm>
            <a:off x="5640019" y="1984248"/>
            <a:ext cx="983894" cy="146304"/>
          </a:xfrm>
          <a:prstGeom prst="rect">
            <a:avLst/>
          </a:prstGeom>
          <a:noFill/>
          <a:ln/>
        </p:spPr>
        <p:txBody>
          <a:bodyPr wrap="square" lIns="0" tIns="0" rIns="0" bIns="0" rtlCol="0" anchor="ctr"/>
          <a:lstStyle/>
          <a:p>
            <a:pPr marL="0" indent="0" algn="l">
              <a:lnSpc>
                <a:spcPct val="106000"/>
              </a:lnSpc>
              <a:buNone/>
            </a:pPr>
            <a:r>
              <a:rPr lang="en-US" sz="700" b="1" dirty="0">
                <a:solidFill>
                  <a:srgbClr val="12263F"/>
                </a:solidFill>
                <a:latin typeface="Calibri" pitchFamily="34" charset="0"/>
                <a:ea typeface="Calibri" pitchFamily="34" charset="-122"/>
                <a:cs typeface="Calibri" pitchFamily="34" charset="-120"/>
              </a:rPr>
              <a:t>Alertmanager</a:t>
            </a:r>
            <a:endParaRPr lang="en-US" sz="700" dirty="0"/>
          </a:p>
        </p:txBody>
      </p:sp>
      <p:sp>
        <p:nvSpPr>
          <p:cNvPr id="55" name="Text 53"/>
          <p:cNvSpPr/>
          <p:nvPr/>
        </p:nvSpPr>
        <p:spPr>
          <a:xfrm>
            <a:off x="6550762" y="1988820"/>
            <a:ext cx="457200" cy="128016"/>
          </a:xfrm>
          <a:prstGeom prst="rect">
            <a:avLst/>
          </a:prstGeom>
          <a:noFill/>
          <a:ln/>
        </p:spPr>
        <p:txBody>
          <a:bodyPr wrap="square" lIns="0" tIns="0" rIns="0" bIns="0" rtlCol="0" anchor="ctr"/>
          <a:lstStyle/>
          <a:p>
            <a:pPr marL="0" indent="0" algn="r">
              <a:lnSpc>
                <a:spcPct val="106000"/>
              </a:lnSpc>
              <a:buNone/>
            </a:pPr>
            <a:r>
              <a:rPr lang="en-US" sz="520" dirty="0">
                <a:solidFill>
                  <a:srgbClr val="8FA6BC"/>
                </a:solidFill>
                <a:latin typeface="Calibri" pitchFamily="34" charset="0"/>
                <a:ea typeface="Calibri" pitchFamily="34" charset="-122"/>
                <a:cs typeface="Calibri" pitchFamily="34" charset="-120"/>
              </a:rPr>
              <a:t>v0.28</a:t>
            </a:r>
            <a:endParaRPr lang="en-US" sz="520" dirty="0"/>
          </a:p>
        </p:txBody>
      </p:sp>
      <p:sp>
        <p:nvSpPr>
          <p:cNvPr id="56" name="Text 54"/>
          <p:cNvSpPr/>
          <p:nvPr/>
        </p:nvSpPr>
        <p:spPr>
          <a:xfrm>
            <a:off x="5640019" y="2139696"/>
            <a:ext cx="1367942" cy="457200"/>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routage des alertes</a:t>
            </a:r>
            <a:endParaRPr lang="en-US" sz="560" dirty="0"/>
          </a:p>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groupage · déduplication · inhibition</a:t>
            </a:r>
            <a:endParaRPr lang="en-US" sz="560" dirty="0"/>
          </a:p>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critique → warning · relance 1 h</a:t>
            </a:r>
            <a:endParaRPr lang="en-US" sz="560" dirty="0"/>
          </a:p>
        </p:txBody>
      </p:sp>
      <p:sp>
        <p:nvSpPr>
          <p:cNvPr id="57" name="Shape 55"/>
          <p:cNvSpPr/>
          <p:nvPr/>
        </p:nvSpPr>
        <p:spPr>
          <a:xfrm>
            <a:off x="5548579" y="3145536"/>
            <a:ext cx="1550822" cy="658368"/>
          </a:xfrm>
          <a:prstGeom prst="rect">
            <a:avLst/>
          </a:prstGeom>
          <a:solidFill>
            <a:srgbClr val="FFFFFF"/>
          </a:solidFill>
          <a:ln w="9525">
            <a:solidFill>
              <a:srgbClr val="E2E8EE"/>
            </a:solidFill>
            <a:prstDash val="solid"/>
          </a:ln>
        </p:spPr>
        <p:txBody>
          <a:bodyPr/>
          <a:lstStyle/>
          <a:p>
            <a:endParaRPr lang="fr-FR"/>
          </a:p>
        </p:txBody>
      </p:sp>
      <p:sp>
        <p:nvSpPr>
          <p:cNvPr id="58" name="Shape 56"/>
          <p:cNvSpPr/>
          <p:nvPr/>
        </p:nvSpPr>
        <p:spPr>
          <a:xfrm>
            <a:off x="5548579" y="3145536"/>
            <a:ext cx="1550822" cy="27432"/>
          </a:xfrm>
          <a:prstGeom prst="rect">
            <a:avLst/>
          </a:prstGeom>
          <a:solidFill>
            <a:srgbClr val="B03A48"/>
          </a:solidFill>
          <a:ln/>
        </p:spPr>
        <p:txBody>
          <a:bodyPr/>
          <a:lstStyle/>
          <a:p>
            <a:endParaRPr lang="fr-FR"/>
          </a:p>
        </p:txBody>
      </p:sp>
      <p:sp>
        <p:nvSpPr>
          <p:cNvPr id="59" name="Text 57"/>
          <p:cNvSpPr/>
          <p:nvPr/>
        </p:nvSpPr>
        <p:spPr>
          <a:xfrm>
            <a:off x="5640019" y="3209544"/>
            <a:ext cx="983894" cy="146304"/>
          </a:xfrm>
          <a:prstGeom prst="rect">
            <a:avLst/>
          </a:prstGeom>
          <a:noFill/>
          <a:ln/>
        </p:spPr>
        <p:txBody>
          <a:bodyPr wrap="square" lIns="0" tIns="0" rIns="0" bIns="0" rtlCol="0" anchor="ctr"/>
          <a:lstStyle/>
          <a:p>
            <a:pPr marL="0" indent="0" algn="l">
              <a:lnSpc>
                <a:spcPct val="106000"/>
              </a:lnSpc>
              <a:buNone/>
            </a:pPr>
            <a:r>
              <a:rPr lang="en-US" sz="700" b="1" dirty="0">
                <a:solidFill>
                  <a:srgbClr val="12263F"/>
                </a:solidFill>
                <a:latin typeface="Calibri" pitchFamily="34" charset="0"/>
                <a:ea typeface="Calibri" pitchFamily="34" charset="-122"/>
                <a:cs typeface="Calibri" pitchFamily="34" charset="-120"/>
              </a:rPr>
              <a:t>Canal d'astreinte</a:t>
            </a:r>
            <a:endParaRPr lang="en-US" sz="700" dirty="0"/>
          </a:p>
        </p:txBody>
      </p:sp>
      <p:sp>
        <p:nvSpPr>
          <p:cNvPr id="60" name="Text 58"/>
          <p:cNvSpPr/>
          <p:nvPr/>
        </p:nvSpPr>
        <p:spPr>
          <a:xfrm>
            <a:off x="6550762" y="3214116"/>
            <a:ext cx="457200" cy="128016"/>
          </a:xfrm>
          <a:prstGeom prst="rect">
            <a:avLst/>
          </a:prstGeom>
          <a:noFill/>
          <a:ln/>
        </p:spPr>
        <p:txBody>
          <a:bodyPr wrap="square" lIns="0" tIns="0" rIns="0" bIns="0" rtlCol="0" anchor="ctr"/>
          <a:lstStyle/>
          <a:p>
            <a:pPr marL="0" indent="0" algn="r">
              <a:lnSpc>
                <a:spcPct val="106000"/>
              </a:lnSpc>
              <a:buNone/>
            </a:pPr>
            <a:r>
              <a:rPr lang="en-US" sz="520" dirty="0">
                <a:solidFill>
                  <a:srgbClr val="8FA6BC"/>
                </a:solidFill>
                <a:latin typeface="Calibri" pitchFamily="34" charset="0"/>
                <a:ea typeface="Calibri" pitchFamily="34" charset="-122"/>
                <a:cs typeface="Calibri" pitchFamily="34" charset="-120"/>
              </a:rPr>
              <a:t>notif</a:t>
            </a:r>
            <a:endParaRPr lang="en-US" sz="520" dirty="0"/>
          </a:p>
        </p:txBody>
      </p:sp>
      <p:sp>
        <p:nvSpPr>
          <p:cNvPr id="61" name="Text 59"/>
          <p:cNvSpPr/>
          <p:nvPr/>
        </p:nvSpPr>
        <p:spPr>
          <a:xfrm>
            <a:off x="5640019" y="3364992"/>
            <a:ext cx="1367942" cy="384048"/>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courriel / Slack</a:t>
            </a:r>
            <a:endParaRPr lang="en-US" sz="560" dirty="0"/>
          </a:p>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webhook à brancher</a:t>
            </a:r>
            <a:endParaRPr lang="en-US" sz="560" dirty="0"/>
          </a:p>
        </p:txBody>
      </p:sp>
      <p:sp>
        <p:nvSpPr>
          <p:cNvPr id="62" name="Shape 60"/>
          <p:cNvSpPr/>
          <p:nvPr/>
        </p:nvSpPr>
        <p:spPr>
          <a:xfrm>
            <a:off x="7300570" y="1920240"/>
            <a:ext cx="1550822" cy="1883664"/>
          </a:xfrm>
          <a:prstGeom prst="rect">
            <a:avLst/>
          </a:prstGeom>
          <a:solidFill>
            <a:srgbClr val="FFFFFF"/>
          </a:solidFill>
          <a:ln w="9525">
            <a:solidFill>
              <a:srgbClr val="E2E8EE"/>
            </a:solidFill>
            <a:prstDash val="solid"/>
          </a:ln>
        </p:spPr>
        <p:txBody>
          <a:bodyPr/>
          <a:lstStyle/>
          <a:p>
            <a:endParaRPr lang="fr-FR"/>
          </a:p>
        </p:txBody>
      </p:sp>
      <p:sp>
        <p:nvSpPr>
          <p:cNvPr id="63" name="Shape 61"/>
          <p:cNvSpPr/>
          <p:nvPr/>
        </p:nvSpPr>
        <p:spPr>
          <a:xfrm>
            <a:off x="7300570" y="1920240"/>
            <a:ext cx="1550822" cy="27432"/>
          </a:xfrm>
          <a:prstGeom prst="rect">
            <a:avLst/>
          </a:prstGeom>
          <a:solidFill>
            <a:srgbClr val="E08A3C"/>
          </a:solidFill>
          <a:ln/>
        </p:spPr>
        <p:txBody>
          <a:bodyPr/>
          <a:lstStyle/>
          <a:p>
            <a:endParaRPr lang="fr-FR"/>
          </a:p>
        </p:txBody>
      </p:sp>
      <p:sp>
        <p:nvSpPr>
          <p:cNvPr id="64" name="Text 62"/>
          <p:cNvSpPr/>
          <p:nvPr/>
        </p:nvSpPr>
        <p:spPr>
          <a:xfrm>
            <a:off x="7392010" y="1984248"/>
            <a:ext cx="983894" cy="146304"/>
          </a:xfrm>
          <a:prstGeom prst="rect">
            <a:avLst/>
          </a:prstGeom>
          <a:noFill/>
          <a:ln/>
        </p:spPr>
        <p:txBody>
          <a:bodyPr wrap="square" lIns="0" tIns="0" rIns="0" bIns="0" rtlCol="0" anchor="ctr"/>
          <a:lstStyle/>
          <a:p>
            <a:pPr marL="0" indent="0" algn="l">
              <a:lnSpc>
                <a:spcPct val="106000"/>
              </a:lnSpc>
              <a:buNone/>
            </a:pPr>
            <a:r>
              <a:rPr lang="en-US" sz="700" b="1" dirty="0">
                <a:solidFill>
                  <a:srgbClr val="12263F"/>
                </a:solidFill>
                <a:latin typeface="Calibri" pitchFamily="34" charset="0"/>
                <a:ea typeface="Calibri" pitchFamily="34" charset="-122"/>
                <a:cs typeface="Calibri" pitchFamily="34" charset="-120"/>
              </a:rPr>
              <a:t>Grafana</a:t>
            </a:r>
            <a:endParaRPr lang="en-US" sz="700" dirty="0"/>
          </a:p>
        </p:txBody>
      </p:sp>
      <p:sp>
        <p:nvSpPr>
          <p:cNvPr id="65" name="Text 63"/>
          <p:cNvSpPr/>
          <p:nvPr/>
        </p:nvSpPr>
        <p:spPr>
          <a:xfrm>
            <a:off x="8302752" y="1988820"/>
            <a:ext cx="457200" cy="128016"/>
          </a:xfrm>
          <a:prstGeom prst="rect">
            <a:avLst/>
          </a:prstGeom>
          <a:noFill/>
          <a:ln/>
        </p:spPr>
        <p:txBody>
          <a:bodyPr wrap="square" lIns="0" tIns="0" rIns="0" bIns="0" rtlCol="0" anchor="ctr"/>
          <a:lstStyle/>
          <a:p>
            <a:pPr marL="0" indent="0" algn="r">
              <a:lnSpc>
                <a:spcPct val="106000"/>
              </a:lnSpc>
              <a:buNone/>
            </a:pPr>
            <a:r>
              <a:rPr lang="en-US" sz="520" dirty="0">
                <a:solidFill>
                  <a:srgbClr val="8FA6BC"/>
                </a:solidFill>
                <a:latin typeface="Calibri" pitchFamily="34" charset="0"/>
                <a:ea typeface="Calibri" pitchFamily="34" charset="-122"/>
                <a:cs typeface="Calibri" pitchFamily="34" charset="-120"/>
              </a:rPr>
              <a:t>v13.1</a:t>
            </a:r>
            <a:endParaRPr lang="en-US" sz="520" dirty="0"/>
          </a:p>
        </p:txBody>
      </p:sp>
      <p:sp>
        <p:nvSpPr>
          <p:cNvPr id="66" name="Text 64"/>
          <p:cNvSpPr/>
          <p:nvPr/>
        </p:nvSpPr>
        <p:spPr>
          <a:xfrm>
            <a:off x="7392010" y="2139696"/>
            <a:ext cx="1367942" cy="160934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visualisation et exploration</a:t>
            </a:r>
            <a:endParaRPr lang="en-US" sz="560" dirty="0"/>
          </a:p>
          <a:p>
            <a:pPr marL="0" indent="0" algn="l">
              <a:lnSpc>
                <a:spcPct val="106000"/>
              </a:lnSpc>
              <a:buNone/>
            </a:pPr>
            <a:endParaRPr lang="en-US" sz="560" dirty="0"/>
          </a:p>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Sources : Prometheus · Loki · Alertmanager</a:t>
            </a:r>
            <a:endParaRPr lang="en-US" sz="560" dirty="0"/>
          </a:p>
          <a:p>
            <a:pPr marL="0" indent="0" algn="l">
              <a:lnSpc>
                <a:spcPct val="106000"/>
              </a:lnSpc>
              <a:buNone/>
            </a:pPr>
            <a:endParaRPr lang="en-US" sz="560" dirty="0"/>
          </a:p>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3 tableaux de bord provisionnés :</a:t>
            </a:r>
            <a:endParaRPr lang="en-US" sz="560" dirty="0"/>
          </a:p>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vue d'ensemble · journaux · énergie</a:t>
            </a:r>
            <a:endParaRPr lang="en-US" sz="560" dirty="0"/>
          </a:p>
          <a:p>
            <a:pPr marL="0" indent="0" algn="l">
              <a:lnSpc>
                <a:spcPct val="106000"/>
              </a:lnSpc>
              <a:buNone/>
            </a:pPr>
            <a:endParaRPr lang="en-US" sz="560" dirty="0"/>
          </a:p>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Exposé via Traefik sur grafana.dropicture.com</a:t>
            </a:r>
            <a:endParaRPr lang="en-US" sz="560" dirty="0"/>
          </a:p>
        </p:txBody>
      </p:sp>
      <p:sp>
        <p:nvSpPr>
          <p:cNvPr id="67" name="Shape 65"/>
          <p:cNvSpPr/>
          <p:nvPr/>
        </p:nvSpPr>
        <p:spPr>
          <a:xfrm>
            <a:off x="1870862" y="2286000"/>
            <a:ext cx="146304" cy="0"/>
          </a:xfrm>
          <a:prstGeom prst="line">
            <a:avLst/>
          </a:prstGeom>
          <a:noFill/>
          <a:ln w="15875">
            <a:solidFill>
              <a:srgbClr val="8FA6BC"/>
            </a:solidFill>
            <a:prstDash val="solid"/>
            <a:tailEnd type="triangle"/>
          </a:ln>
        </p:spPr>
        <p:txBody>
          <a:bodyPr/>
          <a:lstStyle/>
          <a:p>
            <a:endParaRPr lang="fr-FR"/>
          </a:p>
        </p:txBody>
      </p:sp>
      <p:sp>
        <p:nvSpPr>
          <p:cNvPr id="68" name="Shape 66"/>
          <p:cNvSpPr/>
          <p:nvPr/>
        </p:nvSpPr>
        <p:spPr>
          <a:xfrm>
            <a:off x="1870862" y="3520440"/>
            <a:ext cx="146304" cy="0"/>
          </a:xfrm>
          <a:prstGeom prst="line">
            <a:avLst/>
          </a:prstGeom>
          <a:noFill/>
          <a:ln w="15875">
            <a:solidFill>
              <a:srgbClr val="8FA6BC"/>
            </a:solidFill>
            <a:prstDash val="solid"/>
            <a:tailEnd type="triangle"/>
          </a:ln>
        </p:spPr>
        <p:txBody>
          <a:bodyPr/>
          <a:lstStyle/>
          <a:p>
            <a:endParaRPr lang="fr-FR"/>
          </a:p>
        </p:txBody>
      </p:sp>
      <p:sp>
        <p:nvSpPr>
          <p:cNvPr id="69" name="Shape 67"/>
          <p:cNvSpPr/>
          <p:nvPr/>
        </p:nvSpPr>
        <p:spPr>
          <a:xfrm>
            <a:off x="3622853" y="2286000"/>
            <a:ext cx="146304" cy="0"/>
          </a:xfrm>
          <a:prstGeom prst="line">
            <a:avLst/>
          </a:prstGeom>
          <a:noFill/>
          <a:ln w="15875">
            <a:solidFill>
              <a:srgbClr val="8FA6BC"/>
            </a:solidFill>
            <a:prstDash val="solid"/>
            <a:tailEnd type="triangle"/>
          </a:ln>
        </p:spPr>
        <p:txBody>
          <a:bodyPr/>
          <a:lstStyle/>
          <a:p>
            <a:endParaRPr lang="fr-FR"/>
          </a:p>
        </p:txBody>
      </p:sp>
      <p:sp>
        <p:nvSpPr>
          <p:cNvPr id="70" name="Shape 68"/>
          <p:cNvSpPr/>
          <p:nvPr/>
        </p:nvSpPr>
        <p:spPr>
          <a:xfrm>
            <a:off x="3622853" y="3474720"/>
            <a:ext cx="146304" cy="0"/>
          </a:xfrm>
          <a:prstGeom prst="line">
            <a:avLst/>
          </a:prstGeom>
          <a:noFill/>
          <a:ln w="15875">
            <a:solidFill>
              <a:srgbClr val="8FA6BC"/>
            </a:solidFill>
            <a:prstDash val="solid"/>
            <a:tailEnd type="triangle"/>
          </a:ln>
        </p:spPr>
        <p:txBody>
          <a:bodyPr/>
          <a:lstStyle/>
          <a:p>
            <a:endParaRPr lang="fr-FR"/>
          </a:p>
        </p:txBody>
      </p:sp>
      <p:sp>
        <p:nvSpPr>
          <p:cNvPr id="71" name="Shape 69"/>
          <p:cNvSpPr/>
          <p:nvPr/>
        </p:nvSpPr>
        <p:spPr>
          <a:xfrm>
            <a:off x="5374843" y="2249424"/>
            <a:ext cx="146304" cy="0"/>
          </a:xfrm>
          <a:prstGeom prst="line">
            <a:avLst/>
          </a:prstGeom>
          <a:noFill/>
          <a:ln w="15875">
            <a:solidFill>
              <a:srgbClr val="8FA6BC"/>
            </a:solidFill>
            <a:prstDash val="solid"/>
            <a:tailEnd type="triangle"/>
          </a:ln>
        </p:spPr>
        <p:txBody>
          <a:bodyPr/>
          <a:lstStyle/>
          <a:p>
            <a:endParaRPr lang="fr-FR"/>
          </a:p>
        </p:txBody>
      </p:sp>
      <p:sp>
        <p:nvSpPr>
          <p:cNvPr id="72" name="Shape 70"/>
          <p:cNvSpPr/>
          <p:nvPr/>
        </p:nvSpPr>
        <p:spPr>
          <a:xfrm>
            <a:off x="5374843" y="3474720"/>
            <a:ext cx="146304" cy="0"/>
          </a:xfrm>
          <a:prstGeom prst="line">
            <a:avLst/>
          </a:prstGeom>
          <a:noFill/>
          <a:ln w="15875">
            <a:solidFill>
              <a:srgbClr val="8FA6BC"/>
            </a:solidFill>
            <a:prstDash val="solid"/>
            <a:tailEnd type="triangle"/>
          </a:ln>
        </p:spPr>
        <p:txBody>
          <a:bodyPr/>
          <a:lstStyle/>
          <a:p>
            <a:endParaRPr lang="fr-FR"/>
          </a:p>
        </p:txBody>
      </p:sp>
      <p:sp>
        <p:nvSpPr>
          <p:cNvPr id="73" name="Shape 71"/>
          <p:cNvSpPr/>
          <p:nvPr/>
        </p:nvSpPr>
        <p:spPr>
          <a:xfrm>
            <a:off x="7126834" y="2286000"/>
            <a:ext cx="146304" cy="0"/>
          </a:xfrm>
          <a:prstGeom prst="line">
            <a:avLst/>
          </a:prstGeom>
          <a:noFill/>
          <a:ln w="15875">
            <a:solidFill>
              <a:srgbClr val="8FA6BC"/>
            </a:solidFill>
            <a:prstDash val="solid"/>
            <a:tailEnd type="triangle"/>
          </a:ln>
        </p:spPr>
        <p:txBody>
          <a:bodyPr/>
          <a:lstStyle/>
          <a:p>
            <a:endParaRPr lang="fr-FR"/>
          </a:p>
        </p:txBody>
      </p:sp>
      <p:sp>
        <p:nvSpPr>
          <p:cNvPr id="74" name="Shape 72"/>
          <p:cNvSpPr/>
          <p:nvPr/>
        </p:nvSpPr>
        <p:spPr>
          <a:xfrm>
            <a:off x="7126834" y="3474720"/>
            <a:ext cx="146304" cy="0"/>
          </a:xfrm>
          <a:prstGeom prst="line">
            <a:avLst/>
          </a:prstGeom>
          <a:noFill/>
          <a:ln w="15875">
            <a:solidFill>
              <a:srgbClr val="8FA6BC"/>
            </a:solidFill>
            <a:prstDash val="solid"/>
            <a:tailEnd type="triangle"/>
          </a:ln>
        </p:spPr>
        <p:txBody>
          <a:bodyPr/>
          <a:lstStyle/>
          <a:p>
            <a:endParaRPr lang="fr-FR"/>
          </a:p>
        </p:txBody>
      </p:sp>
      <p:sp>
        <p:nvSpPr>
          <p:cNvPr id="75" name="Shape 73"/>
          <p:cNvSpPr/>
          <p:nvPr/>
        </p:nvSpPr>
        <p:spPr>
          <a:xfrm>
            <a:off x="292608" y="4224528"/>
            <a:ext cx="8558784" cy="475488"/>
          </a:xfrm>
          <a:prstGeom prst="rect">
            <a:avLst/>
          </a:prstGeom>
          <a:solidFill>
            <a:srgbClr val="12263F"/>
          </a:solidFill>
          <a:ln/>
        </p:spPr>
        <p:txBody>
          <a:bodyPr/>
          <a:lstStyle/>
          <a:p>
            <a:endParaRPr lang="fr-FR"/>
          </a:p>
        </p:txBody>
      </p:sp>
      <p:sp>
        <p:nvSpPr>
          <p:cNvPr id="76" name="Shape 74"/>
          <p:cNvSpPr/>
          <p:nvPr/>
        </p:nvSpPr>
        <p:spPr>
          <a:xfrm>
            <a:off x="292608" y="4224528"/>
            <a:ext cx="45720" cy="475488"/>
          </a:xfrm>
          <a:prstGeom prst="rect">
            <a:avLst/>
          </a:prstGeom>
          <a:solidFill>
            <a:srgbClr val="E08A3C"/>
          </a:solidFill>
          <a:ln/>
        </p:spPr>
        <p:txBody>
          <a:bodyPr/>
          <a:lstStyle/>
          <a:p>
            <a:endParaRPr lang="fr-FR"/>
          </a:p>
        </p:txBody>
      </p:sp>
      <p:sp>
        <p:nvSpPr>
          <p:cNvPr id="77" name="Text 75"/>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Mesures, journaux et consommation d'énergie, réunis sur trois tableaux de bord.</a:t>
            </a:r>
            <a:endParaRPr lang="en-US" sz="1150" dirty="0"/>
          </a:p>
        </p:txBody>
      </p:sp>
      <p:sp>
        <p:nvSpPr>
          <p:cNvPr id="78" name="Text 76"/>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5.3 - Monitoring et Alerting</a:t>
            </a:r>
            <a:endParaRPr lang="en-US" sz="750" dirty="0"/>
          </a:p>
        </p:txBody>
      </p:sp>
      <p:sp>
        <p:nvSpPr>
          <p:cNvPr id="79" name="Text 77"/>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5. Implémentations techniques</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20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5.4 - Plans de Sauvegarde et de Récupération</a:t>
            </a:r>
            <a:endParaRPr lang="en-US" sz="2200" dirty="0"/>
          </a:p>
        </p:txBody>
      </p:sp>
      <p:sp>
        <p:nvSpPr>
          <p:cNvPr id="7" name="Text 5"/>
          <p:cNvSpPr/>
          <p:nvPr/>
        </p:nvSpPr>
        <p:spPr>
          <a:xfrm>
            <a:off x="292608" y="1024128"/>
            <a:ext cx="8558784" cy="201168"/>
          </a:xfrm>
          <a:prstGeom prst="rect">
            <a:avLst/>
          </a:prstGeom>
          <a:noFill/>
          <a:ln/>
        </p:spPr>
        <p:txBody>
          <a:bodyPr wrap="square" lIns="0" tIns="0" rIns="0" bIns="0" rtlCol="0" anchor="ctr"/>
          <a:lstStyle/>
          <a:p>
            <a:pPr marL="0" indent="0">
              <a:buNone/>
            </a:pPr>
            <a:r>
              <a:rPr lang="en-US" sz="1050" dirty="0">
                <a:solidFill>
                  <a:srgbClr val="4A5769"/>
                </a:solidFill>
                <a:latin typeface="Calibri" pitchFamily="34" charset="0"/>
                <a:ea typeface="Calibri" pitchFamily="34" charset="-122"/>
                <a:cs typeface="Calibri" pitchFamily="34" charset="-120"/>
              </a:rPr>
              <a:t>Sauvegarde automatique toutes les 6 heures, restauration outillée et vérifiée.</a:t>
            </a:r>
            <a:endParaRPr lang="en-US" sz="1050" dirty="0"/>
          </a:p>
        </p:txBody>
      </p:sp>
      <p:sp>
        <p:nvSpPr>
          <p:cNvPr id="8" name="Text 6"/>
          <p:cNvSpPr/>
          <p:nvPr/>
        </p:nvSpPr>
        <p:spPr>
          <a:xfrm>
            <a:off x="292608" y="1280160"/>
            <a:ext cx="8558784" cy="164592"/>
          </a:xfrm>
          <a:prstGeom prst="rect">
            <a:avLst/>
          </a:prstGeom>
          <a:noFill/>
          <a:ln/>
        </p:spPr>
        <p:txBody>
          <a:bodyPr wrap="square" lIns="0" tIns="0" rIns="0" bIns="0" rtlCol="0" anchor="t"/>
          <a:lstStyle/>
          <a:p>
            <a:pPr marL="0" indent="0" algn="l">
              <a:lnSpc>
                <a:spcPct val="108000"/>
              </a:lnSpc>
              <a:buNone/>
            </a:pPr>
            <a:r>
              <a:rPr lang="en-US" sz="800" b="1" dirty="0">
                <a:solidFill>
                  <a:srgbClr val="12855A"/>
                </a:solidFill>
                <a:latin typeface="Calibri" pitchFamily="34" charset="0"/>
                <a:ea typeface="Calibri" pitchFamily="34" charset="-122"/>
                <a:cs typeface="Calibri" pitchFamily="34" charset="-120"/>
              </a:rPr>
              <a:t>SAUVEGARDE · automatique, sans intervention</a:t>
            </a:r>
            <a:endParaRPr lang="en-US" sz="800" dirty="0"/>
          </a:p>
        </p:txBody>
      </p:sp>
      <p:sp>
        <p:nvSpPr>
          <p:cNvPr id="9" name="Shape 7"/>
          <p:cNvSpPr/>
          <p:nvPr/>
        </p:nvSpPr>
        <p:spPr>
          <a:xfrm>
            <a:off x="292608" y="1481328"/>
            <a:ext cx="1594714" cy="731520"/>
          </a:xfrm>
          <a:prstGeom prst="rect">
            <a:avLst/>
          </a:prstGeom>
          <a:solidFill>
            <a:srgbClr val="FFFFFF"/>
          </a:solidFill>
          <a:ln w="12700">
            <a:solidFill>
              <a:srgbClr val="12855A"/>
            </a:solidFill>
            <a:prstDash val="solid"/>
          </a:ln>
        </p:spPr>
        <p:txBody>
          <a:bodyPr/>
          <a:lstStyle/>
          <a:p>
            <a:endParaRPr lang="fr-FR"/>
          </a:p>
        </p:txBody>
      </p:sp>
      <p:sp>
        <p:nvSpPr>
          <p:cNvPr id="10" name="Shape 8"/>
          <p:cNvSpPr/>
          <p:nvPr/>
        </p:nvSpPr>
        <p:spPr>
          <a:xfrm>
            <a:off x="292608" y="1481328"/>
            <a:ext cx="1594714" cy="45720"/>
          </a:xfrm>
          <a:prstGeom prst="rect">
            <a:avLst/>
          </a:prstGeom>
          <a:solidFill>
            <a:srgbClr val="12855A"/>
          </a:solidFill>
          <a:ln/>
        </p:spPr>
        <p:txBody>
          <a:bodyPr/>
          <a:lstStyle/>
          <a:p>
            <a:endParaRPr lang="fr-FR"/>
          </a:p>
        </p:txBody>
      </p:sp>
      <p:sp>
        <p:nvSpPr>
          <p:cNvPr id="11" name="Text 9"/>
          <p:cNvSpPr/>
          <p:nvPr/>
        </p:nvSpPr>
        <p:spPr>
          <a:xfrm>
            <a:off x="402336" y="1591056"/>
            <a:ext cx="1375258" cy="219456"/>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Toutes les 6 h</a:t>
            </a:r>
            <a:endParaRPr lang="en-US" sz="1050" dirty="0"/>
          </a:p>
        </p:txBody>
      </p:sp>
      <p:sp>
        <p:nvSpPr>
          <p:cNvPr id="12" name="Text 10"/>
          <p:cNvSpPr/>
          <p:nvPr/>
        </p:nvSpPr>
        <p:spPr>
          <a:xfrm>
            <a:off x="402336" y="1810512"/>
            <a:ext cx="1375258" cy="365760"/>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déclenchée toute seule, jour et nuit</a:t>
            </a:r>
            <a:endParaRPr lang="en-US" sz="850" dirty="0"/>
          </a:p>
        </p:txBody>
      </p:sp>
      <p:sp>
        <p:nvSpPr>
          <p:cNvPr id="13" name="Shape 11"/>
          <p:cNvSpPr/>
          <p:nvPr/>
        </p:nvSpPr>
        <p:spPr>
          <a:xfrm>
            <a:off x="1914754" y="1847088"/>
            <a:ext cx="91440" cy="0"/>
          </a:xfrm>
          <a:prstGeom prst="line">
            <a:avLst/>
          </a:prstGeom>
          <a:noFill/>
          <a:ln w="22225">
            <a:solidFill>
              <a:srgbClr val="8FA6BC"/>
            </a:solidFill>
            <a:prstDash val="solid"/>
            <a:tailEnd type="triangle"/>
          </a:ln>
        </p:spPr>
        <p:txBody>
          <a:bodyPr/>
          <a:lstStyle/>
          <a:p>
            <a:endParaRPr lang="fr-FR"/>
          </a:p>
        </p:txBody>
      </p:sp>
      <p:sp>
        <p:nvSpPr>
          <p:cNvPr id="14" name="Shape 12"/>
          <p:cNvSpPr/>
          <p:nvPr/>
        </p:nvSpPr>
        <p:spPr>
          <a:xfrm>
            <a:off x="2033626" y="1481328"/>
            <a:ext cx="1594714" cy="731520"/>
          </a:xfrm>
          <a:prstGeom prst="rect">
            <a:avLst/>
          </a:prstGeom>
          <a:solidFill>
            <a:srgbClr val="FFFFFF"/>
          </a:solidFill>
          <a:ln w="12700">
            <a:solidFill>
              <a:srgbClr val="12855A"/>
            </a:solidFill>
            <a:prstDash val="solid"/>
          </a:ln>
        </p:spPr>
        <p:txBody>
          <a:bodyPr/>
          <a:lstStyle/>
          <a:p>
            <a:endParaRPr lang="fr-FR"/>
          </a:p>
        </p:txBody>
      </p:sp>
      <p:sp>
        <p:nvSpPr>
          <p:cNvPr id="15" name="Shape 13"/>
          <p:cNvSpPr/>
          <p:nvPr/>
        </p:nvSpPr>
        <p:spPr>
          <a:xfrm>
            <a:off x="2033626" y="1481328"/>
            <a:ext cx="1594714" cy="45720"/>
          </a:xfrm>
          <a:prstGeom prst="rect">
            <a:avLst/>
          </a:prstGeom>
          <a:solidFill>
            <a:srgbClr val="12855A"/>
          </a:solidFill>
          <a:ln/>
        </p:spPr>
        <p:txBody>
          <a:bodyPr/>
          <a:lstStyle/>
          <a:p>
            <a:endParaRPr lang="fr-FR"/>
          </a:p>
        </p:txBody>
      </p:sp>
      <p:sp>
        <p:nvSpPr>
          <p:cNvPr id="16" name="Text 14"/>
          <p:cNvSpPr/>
          <p:nvPr/>
        </p:nvSpPr>
        <p:spPr>
          <a:xfrm>
            <a:off x="2143354" y="1591056"/>
            <a:ext cx="1375258" cy="219456"/>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Copie de la base</a:t>
            </a:r>
            <a:endParaRPr lang="en-US" sz="1050" dirty="0"/>
          </a:p>
        </p:txBody>
      </p:sp>
      <p:sp>
        <p:nvSpPr>
          <p:cNvPr id="17" name="Text 15"/>
          <p:cNvSpPr/>
          <p:nvPr/>
        </p:nvSpPr>
        <p:spPr>
          <a:xfrm>
            <a:off x="2143354" y="1810512"/>
            <a:ext cx="1375258" cy="365760"/>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compressée, jamais en clair</a:t>
            </a:r>
            <a:endParaRPr lang="en-US" sz="850" dirty="0"/>
          </a:p>
        </p:txBody>
      </p:sp>
      <p:sp>
        <p:nvSpPr>
          <p:cNvPr id="18" name="Shape 16"/>
          <p:cNvSpPr/>
          <p:nvPr/>
        </p:nvSpPr>
        <p:spPr>
          <a:xfrm>
            <a:off x="3655771" y="1847088"/>
            <a:ext cx="91440" cy="0"/>
          </a:xfrm>
          <a:prstGeom prst="line">
            <a:avLst/>
          </a:prstGeom>
          <a:noFill/>
          <a:ln w="22225">
            <a:solidFill>
              <a:srgbClr val="8FA6BC"/>
            </a:solidFill>
            <a:prstDash val="solid"/>
            <a:tailEnd type="triangle"/>
          </a:ln>
        </p:spPr>
        <p:txBody>
          <a:bodyPr/>
          <a:lstStyle/>
          <a:p>
            <a:endParaRPr lang="fr-FR"/>
          </a:p>
        </p:txBody>
      </p:sp>
      <p:sp>
        <p:nvSpPr>
          <p:cNvPr id="19" name="Shape 17"/>
          <p:cNvSpPr/>
          <p:nvPr/>
        </p:nvSpPr>
        <p:spPr>
          <a:xfrm>
            <a:off x="3774643" y="1481328"/>
            <a:ext cx="1594714" cy="731520"/>
          </a:xfrm>
          <a:prstGeom prst="rect">
            <a:avLst/>
          </a:prstGeom>
          <a:solidFill>
            <a:srgbClr val="FFFFFF"/>
          </a:solidFill>
          <a:ln w="12700">
            <a:solidFill>
              <a:srgbClr val="12855A"/>
            </a:solidFill>
            <a:prstDash val="solid"/>
          </a:ln>
        </p:spPr>
        <p:txBody>
          <a:bodyPr/>
          <a:lstStyle/>
          <a:p>
            <a:endParaRPr lang="fr-FR"/>
          </a:p>
        </p:txBody>
      </p:sp>
      <p:sp>
        <p:nvSpPr>
          <p:cNvPr id="20" name="Shape 18"/>
          <p:cNvSpPr/>
          <p:nvPr/>
        </p:nvSpPr>
        <p:spPr>
          <a:xfrm>
            <a:off x="3774643" y="1481328"/>
            <a:ext cx="1594714" cy="45720"/>
          </a:xfrm>
          <a:prstGeom prst="rect">
            <a:avLst/>
          </a:prstGeom>
          <a:solidFill>
            <a:srgbClr val="12855A"/>
          </a:solidFill>
          <a:ln/>
        </p:spPr>
        <p:txBody>
          <a:bodyPr/>
          <a:lstStyle/>
          <a:p>
            <a:endParaRPr lang="fr-FR"/>
          </a:p>
        </p:txBody>
      </p:sp>
      <p:sp>
        <p:nvSpPr>
          <p:cNvPr id="21" name="Text 19"/>
          <p:cNvSpPr/>
          <p:nvPr/>
        </p:nvSpPr>
        <p:spPr>
          <a:xfrm>
            <a:off x="3884371" y="1591056"/>
            <a:ext cx="1375258" cy="219456"/>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Vérifiée</a:t>
            </a:r>
            <a:endParaRPr lang="en-US" sz="1050" dirty="0"/>
          </a:p>
        </p:txBody>
      </p:sp>
      <p:sp>
        <p:nvSpPr>
          <p:cNvPr id="22" name="Text 20"/>
          <p:cNvSpPr/>
          <p:nvPr/>
        </p:nvSpPr>
        <p:spPr>
          <a:xfrm>
            <a:off x="3884371" y="1810512"/>
            <a:ext cx="1375258" cy="365760"/>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empreinte et taille contrôlées</a:t>
            </a:r>
            <a:endParaRPr lang="en-US" sz="850" dirty="0"/>
          </a:p>
        </p:txBody>
      </p:sp>
      <p:sp>
        <p:nvSpPr>
          <p:cNvPr id="23" name="Shape 21"/>
          <p:cNvSpPr/>
          <p:nvPr/>
        </p:nvSpPr>
        <p:spPr>
          <a:xfrm>
            <a:off x="5396789" y="1847088"/>
            <a:ext cx="91440" cy="0"/>
          </a:xfrm>
          <a:prstGeom prst="line">
            <a:avLst/>
          </a:prstGeom>
          <a:noFill/>
          <a:ln w="22225">
            <a:solidFill>
              <a:srgbClr val="8FA6BC"/>
            </a:solidFill>
            <a:prstDash val="solid"/>
            <a:tailEnd type="triangle"/>
          </a:ln>
        </p:spPr>
        <p:txBody>
          <a:bodyPr/>
          <a:lstStyle/>
          <a:p>
            <a:endParaRPr lang="fr-FR"/>
          </a:p>
        </p:txBody>
      </p:sp>
      <p:sp>
        <p:nvSpPr>
          <p:cNvPr id="24" name="Shape 22"/>
          <p:cNvSpPr/>
          <p:nvPr/>
        </p:nvSpPr>
        <p:spPr>
          <a:xfrm>
            <a:off x="5515661" y="1481328"/>
            <a:ext cx="1594714" cy="731520"/>
          </a:xfrm>
          <a:prstGeom prst="rect">
            <a:avLst/>
          </a:prstGeom>
          <a:solidFill>
            <a:srgbClr val="FFFFFF"/>
          </a:solidFill>
          <a:ln w="12700">
            <a:solidFill>
              <a:srgbClr val="12855A"/>
            </a:solidFill>
            <a:prstDash val="solid"/>
          </a:ln>
        </p:spPr>
        <p:txBody>
          <a:bodyPr/>
          <a:lstStyle/>
          <a:p>
            <a:endParaRPr lang="fr-FR"/>
          </a:p>
        </p:txBody>
      </p:sp>
      <p:sp>
        <p:nvSpPr>
          <p:cNvPr id="25" name="Shape 23"/>
          <p:cNvSpPr/>
          <p:nvPr/>
        </p:nvSpPr>
        <p:spPr>
          <a:xfrm>
            <a:off x="5515661" y="1481328"/>
            <a:ext cx="1594714" cy="45720"/>
          </a:xfrm>
          <a:prstGeom prst="rect">
            <a:avLst/>
          </a:prstGeom>
          <a:solidFill>
            <a:srgbClr val="12855A"/>
          </a:solidFill>
          <a:ln/>
        </p:spPr>
        <p:txBody>
          <a:bodyPr/>
          <a:lstStyle/>
          <a:p>
            <a:endParaRPr lang="fr-FR"/>
          </a:p>
        </p:txBody>
      </p:sp>
      <p:sp>
        <p:nvSpPr>
          <p:cNvPr id="26" name="Text 24"/>
          <p:cNvSpPr/>
          <p:nvPr/>
        </p:nvSpPr>
        <p:spPr>
          <a:xfrm>
            <a:off x="5625389" y="1591056"/>
            <a:ext cx="1375258" cy="219456"/>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Mise à l'abri</a:t>
            </a:r>
            <a:endParaRPr lang="en-US" sz="1050" dirty="0"/>
          </a:p>
        </p:txBody>
      </p:sp>
      <p:sp>
        <p:nvSpPr>
          <p:cNvPr id="27" name="Text 25"/>
          <p:cNvSpPr/>
          <p:nvPr/>
        </p:nvSpPr>
        <p:spPr>
          <a:xfrm>
            <a:off x="5625389" y="1810512"/>
            <a:ext cx="1375258" cy="365760"/>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stockage chiffré et versionné</a:t>
            </a:r>
            <a:endParaRPr lang="en-US" sz="850" dirty="0"/>
          </a:p>
        </p:txBody>
      </p:sp>
      <p:sp>
        <p:nvSpPr>
          <p:cNvPr id="28" name="Shape 26"/>
          <p:cNvSpPr/>
          <p:nvPr/>
        </p:nvSpPr>
        <p:spPr>
          <a:xfrm>
            <a:off x="7137806" y="1847088"/>
            <a:ext cx="91440" cy="0"/>
          </a:xfrm>
          <a:prstGeom prst="line">
            <a:avLst/>
          </a:prstGeom>
          <a:noFill/>
          <a:ln w="22225">
            <a:solidFill>
              <a:srgbClr val="8FA6BC"/>
            </a:solidFill>
            <a:prstDash val="solid"/>
            <a:tailEnd type="triangle"/>
          </a:ln>
        </p:spPr>
        <p:txBody>
          <a:bodyPr/>
          <a:lstStyle/>
          <a:p>
            <a:endParaRPr lang="fr-FR"/>
          </a:p>
        </p:txBody>
      </p:sp>
      <p:sp>
        <p:nvSpPr>
          <p:cNvPr id="29" name="Shape 27"/>
          <p:cNvSpPr/>
          <p:nvPr/>
        </p:nvSpPr>
        <p:spPr>
          <a:xfrm>
            <a:off x="7256678" y="1481328"/>
            <a:ext cx="1594714" cy="731520"/>
          </a:xfrm>
          <a:prstGeom prst="rect">
            <a:avLst/>
          </a:prstGeom>
          <a:solidFill>
            <a:srgbClr val="FFFFFF"/>
          </a:solidFill>
          <a:ln w="12700">
            <a:solidFill>
              <a:srgbClr val="12855A"/>
            </a:solidFill>
            <a:prstDash val="solid"/>
          </a:ln>
        </p:spPr>
        <p:txBody>
          <a:bodyPr/>
          <a:lstStyle/>
          <a:p>
            <a:endParaRPr lang="fr-FR"/>
          </a:p>
        </p:txBody>
      </p:sp>
      <p:sp>
        <p:nvSpPr>
          <p:cNvPr id="30" name="Shape 28"/>
          <p:cNvSpPr/>
          <p:nvPr/>
        </p:nvSpPr>
        <p:spPr>
          <a:xfrm>
            <a:off x="7256678" y="1481328"/>
            <a:ext cx="1594714" cy="45720"/>
          </a:xfrm>
          <a:prstGeom prst="rect">
            <a:avLst/>
          </a:prstGeom>
          <a:solidFill>
            <a:srgbClr val="12855A"/>
          </a:solidFill>
          <a:ln/>
        </p:spPr>
        <p:txBody>
          <a:bodyPr/>
          <a:lstStyle/>
          <a:p>
            <a:endParaRPr lang="fr-FR"/>
          </a:p>
        </p:txBody>
      </p:sp>
      <p:sp>
        <p:nvSpPr>
          <p:cNvPr id="31" name="Text 29"/>
          <p:cNvSpPr/>
          <p:nvPr/>
        </p:nvSpPr>
        <p:spPr>
          <a:xfrm>
            <a:off x="7366406" y="1591056"/>
            <a:ext cx="1375258" cy="219456"/>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Archive du mois</a:t>
            </a:r>
            <a:endParaRPr lang="en-US" sz="1050" dirty="0"/>
          </a:p>
        </p:txBody>
      </p:sp>
      <p:sp>
        <p:nvSpPr>
          <p:cNvPr id="32" name="Text 30"/>
          <p:cNvSpPr/>
          <p:nvPr/>
        </p:nvSpPr>
        <p:spPr>
          <a:xfrm>
            <a:off x="7366406" y="1810512"/>
            <a:ext cx="1375258" cy="365760"/>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la première du mois gardée un an</a:t>
            </a:r>
            <a:endParaRPr lang="en-US" sz="850" dirty="0"/>
          </a:p>
        </p:txBody>
      </p:sp>
      <p:sp>
        <p:nvSpPr>
          <p:cNvPr id="33" name="Text 31"/>
          <p:cNvSpPr/>
          <p:nvPr/>
        </p:nvSpPr>
        <p:spPr>
          <a:xfrm>
            <a:off x="292608" y="2487168"/>
            <a:ext cx="8558784" cy="164592"/>
          </a:xfrm>
          <a:prstGeom prst="rect">
            <a:avLst/>
          </a:prstGeom>
          <a:noFill/>
          <a:ln/>
        </p:spPr>
        <p:txBody>
          <a:bodyPr wrap="square" lIns="0" tIns="0" rIns="0" bIns="0" rtlCol="0" anchor="t"/>
          <a:lstStyle/>
          <a:p>
            <a:pPr marL="0" indent="0" algn="l">
              <a:lnSpc>
                <a:spcPct val="108000"/>
              </a:lnSpc>
              <a:buNone/>
            </a:pPr>
            <a:r>
              <a:rPr lang="en-US" sz="800" b="1" dirty="0">
                <a:solidFill>
                  <a:srgbClr val="1B6EC2"/>
                </a:solidFill>
                <a:latin typeface="Calibri" pitchFamily="34" charset="0"/>
                <a:ea typeface="Calibri" pitchFamily="34" charset="-122"/>
                <a:cs typeface="Calibri" pitchFamily="34" charset="-120"/>
              </a:rPr>
              <a:t>RESTAURATION · sur demande, avec garde-fous</a:t>
            </a:r>
            <a:endParaRPr lang="en-US" sz="800" dirty="0"/>
          </a:p>
        </p:txBody>
      </p:sp>
      <p:sp>
        <p:nvSpPr>
          <p:cNvPr id="34" name="Shape 32"/>
          <p:cNvSpPr/>
          <p:nvPr/>
        </p:nvSpPr>
        <p:spPr>
          <a:xfrm>
            <a:off x="292608" y="2688336"/>
            <a:ext cx="1594714" cy="731520"/>
          </a:xfrm>
          <a:prstGeom prst="rect">
            <a:avLst/>
          </a:prstGeom>
          <a:solidFill>
            <a:srgbClr val="FFFFFF"/>
          </a:solidFill>
          <a:ln w="12700">
            <a:solidFill>
              <a:srgbClr val="1B6EC2"/>
            </a:solidFill>
            <a:prstDash val="solid"/>
          </a:ln>
        </p:spPr>
        <p:txBody>
          <a:bodyPr/>
          <a:lstStyle/>
          <a:p>
            <a:endParaRPr lang="fr-FR"/>
          </a:p>
        </p:txBody>
      </p:sp>
      <p:sp>
        <p:nvSpPr>
          <p:cNvPr id="35" name="Shape 33"/>
          <p:cNvSpPr/>
          <p:nvPr/>
        </p:nvSpPr>
        <p:spPr>
          <a:xfrm>
            <a:off x="292608" y="2688336"/>
            <a:ext cx="1594714" cy="45720"/>
          </a:xfrm>
          <a:prstGeom prst="rect">
            <a:avLst/>
          </a:prstGeom>
          <a:solidFill>
            <a:srgbClr val="1B6EC2"/>
          </a:solidFill>
          <a:ln/>
        </p:spPr>
        <p:txBody>
          <a:bodyPr/>
          <a:lstStyle/>
          <a:p>
            <a:endParaRPr lang="fr-FR"/>
          </a:p>
        </p:txBody>
      </p:sp>
      <p:sp>
        <p:nvSpPr>
          <p:cNvPr id="36" name="Text 34"/>
          <p:cNvSpPr/>
          <p:nvPr/>
        </p:nvSpPr>
        <p:spPr>
          <a:xfrm>
            <a:off x="402336" y="2798064"/>
            <a:ext cx="1375258" cy="219456"/>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Confirmation</a:t>
            </a:r>
            <a:endParaRPr lang="en-US" sz="1050" dirty="0"/>
          </a:p>
        </p:txBody>
      </p:sp>
      <p:sp>
        <p:nvSpPr>
          <p:cNvPr id="37" name="Text 35"/>
          <p:cNvSpPr/>
          <p:nvPr/>
        </p:nvSpPr>
        <p:spPr>
          <a:xfrm>
            <a:off x="402336" y="3017520"/>
            <a:ext cx="1375258" cy="365760"/>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il faut taper RESTORE pour lancer</a:t>
            </a:r>
            <a:endParaRPr lang="en-US" sz="850" dirty="0"/>
          </a:p>
        </p:txBody>
      </p:sp>
      <p:sp>
        <p:nvSpPr>
          <p:cNvPr id="38" name="Shape 36"/>
          <p:cNvSpPr/>
          <p:nvPr/>
        </p:nvSpPr>
        <p:spPr>
          <a:xfrm>
            <a:off x="1914754" y="3054096"/>
            <a:ext cx="91440" cy="0"/>
          </a:xfrm>
          <a:prstGeom prst="line">
            <a:avLst/>
          </a:prstGeom>
          <a:noFill/>
          <a:ln w="22225">
            <a:solidFill>
              <a:srgbClr val="8FA6BC"/>
            </a:solidFill>
            <a:prstDash val="solid"/>
            <a:tailEnd type="triangle"/>
          </a:ln>
        </p:spPr>
        <p:txBody>
          <a:bodyPr/>
          <a:lstStyle/>
          <a:p>
            <a:endParaRPr lang="fr-FR"/>
          </a:p>
        </p:txBody>
      </p:sp>
      <p:sp>
        <p:nvSpPr>
          <p:cNvPr id="39" name="Shape 37"/>
          <p:cNvSpPr/>
          <p:nvPr/>
        </p:nvSpPr>
        <p:spPr>
          <a:xfrm>
            <a:off x="2033626" y="2688336"/>
            <a:ext cx="1594714" cy="731520"/>
          </a:xfrm>
          <a:prstGeom prst="rect">
            <a:avLst/>
          </a:prstGeom>
          <a:solidFill>
            <a:srgbClr val="FFFFFF"/>
          </a:solidFill>
          <a:ln w="12700">
            <a:solidFill>
              <a:srgbClr val="1B6EC2"/>
            </a:solidFill>
            <a:prstDash val="solid"/>
          </a:ln>
        </p:spPr>
        <p:txBody>
          <a:bodyPr/>
          <a:lstStyle/>
          <a:p>
            <a:endParaRPr lang="fr-FR"/>
          </a:p>
        </p:txBody>
      </p:sp>
      <p:sp>
        <p:nvSpPr>
          <p:cNvPr id="40" name="Shape 38"/>
          <p:cNvSpPr/>
          <p:nvPr/>
        </p:nvSpPr>
        <p:spPr>
          <a:xfrm>
            <a:off x="2033626" y="2688336"/>
            <a:ext cx="1594714" cy="45720"/>
          </a:xfrm>
          <a:prstGeom prst="rect">
            <a:avLst/>
          </a:prstGeom>
          <a:solidFill>
            <a:srgbClr val="1B6EC2"/>
          </a:solidFill>
          <a:ln/>
        </p:spPr>
        <p:txBody>
          <a:bodyPr/>
          <a:lstStyle/>
          <a:p>
            <a:endParaRPr lang="fr-FR"/>
          </a:p>
        </p:txBody>
      </p:sp>
      <p:sp>
        <p:nvSpPr>
          <p:cNvPr id="41" name="Text 39"/>
          <p:cNvSpPr/>
          <p:nvPr/>
        </p:nvSpPr>
        <p:spPr>
          <a:xfrm>
            <a:off x="2143354" y="2798064"/>
            <a:ext cx="1375258" cy="219456"/>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Choix du dump</a:t>
            </a:r>
            <a:endParaRPr lang="en-US" sz="1050" dirty="0"/>
          </a:p>
        </p:txBody>
      </p:sp>
      <p:sp>
        <p:nvSpPr>
          <p:cNvPr id="42" name="Text 40"/>
          <p:cNvSpPr/>
          <p:nvPr/>
        </p:nvSpPr>
        <p:spPr>
          <a:xfrm>
            <a:off x="2143354" y="3017520"/>
            <a:ext cx="1375258" cy="365760"/>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le dernier, ou une date précise</a:t>
            </a:r>
            <a:endParaRPr lang="en-US" sz="850" dirty="0"/>
          </a:p>
        </p:txBody>
      </p:sp>
      <p:sp>
        <p:nvSpPr>
          <p:cNvPr id="43" name="Shape 41"/>
          <p:cNvSpPr/>
          <p:nvPr/>
        </p:nvSpPr>
        <p:spPr>
          <a:xfrm>
            <a:off x="3655771" y="3054096"/>
            <a:ext cx="91440" cy="0"/>
          </a:xfrm>
          <a:prstGeom prst="line">
            <a:avLst/>
          </a:prstGeom>
          <a:noFill/>
          <a:ln w="22225">
            <a:solidFill>
              <a:srgbClr val="8FA6BC"/>
            </a:solidFill>
            <a:prstDash val="solid"/>
            <a:tailEnd type="triangle"/>
          </a:ln>
        </p:spPr>
        <p:txBody>
          <a:bodyPr/>
          <a:lstStyle/>
          <a:p>
            <a:endParaRPr lang="fr-FR"/>
          </a:p>
        </p:txBody>
      </p:sp>
      <p:sp>
        <p:nvSpPr>
          <p:cNvPr id="44" name="Shape 42"/>
          <p:cNvSpPr/>
          <p:nvPr/>
        </p:nvSpPr>
        <p:spPr>
          <a:xfrm>
            <a:off x="3774643" y="2688336"/>
            <a:ext cx="1594714" cy="731520"/>
          </a:xfrm>
          <a:prstGeom prst="rect">
            <a:avLst/>
          </a:prstGeom>
          <a:solidFill>
            <a:srgbClr val="FFFFFF"/>
          </a:solidFill>
          <a:ln w="12700">
            <a:solidFill>
              <a:srgbClr val="1B6EC2"/>
            </a:solidFill>
            <a:prstDash val="solid"/>
          </a:ln>
        </p:spPr>
        <p:txBody>
          <a:bodyPr/>
          <a:lstStyle/>
          <a:p>
            <a:endParaRPr lang="fr-FR"/>
          </a:p>
        </p:txBody>
      </p:sp>
      <p:sp>
        <p:nvSpPr>
          <p:cNvPr id="45" name="Shape 43"/>
          <p:cNvSpPr/>
          <p:nvPr/>
        </p:nvSpPr>
        <p:spPr>
          <a:xfrm>
            <a:off x="3774643" y="2688336"/>
            <a:ext cx="1594714" cy="45720"/>
          </a:xfrm>
          <a:prstGeom prst="rect">
            <a:avLst/>
          </a:prstGeom>
          <a:solidFill>
            <a:srgbClr val="1B6EC2"/>
          </a:solidFill>
          <a:ln/>
        </p:spPr>
        <p:txBody>
          <a:bodyPr/>
          <a:lstStyle/>
          <a:p>
            <a:endParaRPr lang="fr-FR"/>
          </a:p>
        </p:txBody>
      </p:sp>
      <p:sp>
        <p:nvSpPr>
          <p:cNvPr id="46" name="Text 44"/>
          <p:cNvSpPr/>
          <p:nvPr/>
        </p:nvSpPr>
        <p:spPr>
          <a:xfrm>
            <a:off x="3884371" y="2798064"/>
            <a:ext cx="1375258" cy="219456"/>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Filet de sécurité</a:t>
            </a:r>
            <a:endParaRPr lang="en-US" sz="1050" dirty="0"/>
          </a:p>
        </p:txBody>
      </p:sp>
      <p:sp>
        <p:nvSpPr>
          <p:cNvPr id="47" name="Text 45"/>
          <p:cNvSpPr/>
          <p:nvPr/>
        </p:nvSpPr>
        <p:spPr>
          <a:xfrm>
            <a:off x="3884371" y="3017520"/>
            <a:ext cx="1375258" cy="365760"/>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l'état actuel est copié avant d'écraser</a:t>
            </a:r>
            <a:endParaRPr lang="en-US" sz="850" dirty="0"/>
          </a:p>
        </p:txBody>
      </p:sp>
      <p:sp>
        <p:nvSpPr>
          <p:cNvPr id="48" name="Shape 46"/>
          <p:cNvSpPr/>
          <p:nvPr/>
        </p:nvSpPr>
        <p:spPr>
          <a:xfrm>
            <a:off x="5396789" y="3054096"/>
            <a:ext cx="91440" cy="0"/>
          </a:xfrm>
          <a:prstGeom prst="line">
            <a:avLst/>
          </a:prstGeom>
          <a:noFill/>
          <a:ln w="22225">
            <a:solidFill>
              <a:srgbClr val="8FA6BC"/>
            </a:solidFill>
            <a:prstDash val="solid"/>
            <a:tailEnd type="triangle"/>
          </a:ln>
        </p:spPr>
        <p:txBody>
          <a:bodyPr/>
          <a:lstStyle/>
          <a:p>
            <a:endParaRPr lang="fr-FR"/>
          </a:p>
        </p:txBody>
      </p:sp>
      <p:sp>
        <p:nvSpPr>
          <p:cNvPr id="49" name="Shape 47"/>
          <p:cNvSpPr/>
          <p:nvPr/>
        </p:nvSpPr>
        <p:spPr>
          <a:xfrm>
            <a:off x="5515661" y="2688336"/>
            <a:ext cx="1594714" cy="731520"/>
          </a:xfrm>
          <a:prstGeom prst="rect">
            <a:avLst/>
          </a:prstGeom>
          <a:solidFill>
            <a:srgbClr val="FFFFFF"/>
          </a:solidFill>
          <a:ln w="12700">
            <a:solidFill>
              <a:srgbClr val="1B6EC2"/>
            </a:solidFill>
            <a:prstDash val="solid"/>
          </a:ln>
        </p:spPr>
        <p:txBody>
          <a:bodyPr/>
          <a:lstStyle/>
          <a:p>
            <a:endParaRPr lang="fr-FR"/>
          </a:p>
        </p:txBody>
      </p:sp>
      <p:sp>
        <p:nvSpPr>
          <p:cNvPr id="50" name="Shape 48"/>
          <p:cNvSpPr/>
          <p:nvPr/>
        </p:nvSpPr>
        <p:spPr>
          <a:xfrm>
            <a:off x="5515661" y="2688336"/>
            <a:ext cx="1594714" cy="45720"/>
          </a:xfrm>
          <a:prstGeom prst="rect">
            <a:avLst/>
          </a:prstGeom>
          <a:solidFill>
            <a:srgbClr val="1B6EC2"/>
          </a:solidFill>
          <a:ln/>
        </p:spPr>
        <p:txBody>
          <a:bodyPr/>
          <a:lstStyle/>
          <a:p>
            <a:endParaRPr lang="fr-FR"/>
          </a:p>
        </p:txBody>
      </p:sp>
      <p:sp>
        <p:nvSpPr>
          <p:cNvPr id="51" name="Text 49"/>
          <p:cNvSpPr/>
          <p:nvPr/>
        </p:nvSpPr>
        <p:spPr>
          <a:xfrm>
            <a:off x="5625389" y="2798064"/>
            <a:ext cx="1375258" cy="219456"/>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Tout ou rien</a:t>
            </a:r>
            <a:endParaRPr lang="en-US" sz="1050" dirty="0"/>
          </a:p>
        </p:txBody>
      </p:sp>
      <p:sp>
        <p:nvSpPr>
          <p:cNvPr id="52" name="Text 50"/>
          <p:cNvSpPr/>
          <p:nvPr/>
        </p:nvSpPr>
        <p:spPr>
          <a:xfrm>
            <a:off x="5625389" y="3017520"/>
            <a:ext cx="1375258" cy="365760"/>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annulée entièrement à la moindre erreur</a:t>
            </a:r>
            <a:endParaRPr lang="en-US" sz="850" dirty="0"/>
          </a:p>
        </p:txBody>
      </p:sp>
      <p:sp>
        <p:nvSpPr>
          <p:cNvPr id="53" name="Shape 51"/>
          <p:cNvSpPr/>
          <p:nvPr/>
        </p:nvSpPr>
        <p:spPr>
          <a:xfrm>
            <a:off x="7137806" y="3054096"/>
            <a:ext cx="91440" cy="0"/>
          </a:xfrm>
          <a:prstGeom prst="line">
            <a:avLst/>
          </a:prstGeom>
          <a:noFill/>
          <a:ln w="22225">
            <a:solidFill>
              <a:srgbClr val="8FA6BC"/>
            </a:solidFill>
            <a:prstDash val="solid"/>
            <a:tailEnd type="triangle"/>
          </a:ln>
        </p:spPr>
        <p:txBody>
          <a:bodyPr/>
          <a:lstStyle/>
          <a:p>
            <a:endParaRPr lang="fr-FR"/>
          </a:p>
        </p:txBody>
      </p:sp>
      <p:sp>
        <p:nvSpPr>
          <p:cNvPr id="54" name="Shape 52"/>
          <p:cNvSpPr/>
          <p:nvPr/>
        </p:nvSpPr>
        <p:spPr>
          <a:xfrm>
            <a:off x="7256678" y="2688336"/>
            <a:ext cx="1594714" cy="731520"/>
          </a:xfrm>
          <a:prstGeom prst="rect">
            <a:avLst/>
          </a:prstGeom>
          <a:solidFill>
            <a:srgbClr val="FFFFFF"/>
          </a:solidFill>
          <a:ln w="12700">
            <a:solidFill>
              <a:srgbClr val="1B6EC2"/>
            </a:solidFill>
            <a:prstDash val="solid"/>
          </a:ln>
        </p:spPr>
        <p:txBody>
          <a:bodyPr/>
          <a:lstStyle/>
          <a:p>
            <a:endParaRPr lang="fr-FR"/>
          </a:p>
        </p:txBody>
      </p:sp>
      <p:sp>
        <p:nvSpPr>
          <p:cNvPr id="55" name="Shape 53"/>
          <p:cNvSpPr/>
          <p:nvPr/>
        </p:nvSpPr>
        <p:spPr>
          <a:xfrm>
            <a:off x="7256678" y="2688336"/>
            <a:ext cx="1594714" cy="45720"/>
          </a:xfrm>
          <a:prstGeom prst="rect">
            <a:avLst/>
          </a:prstGeom>
          <a:solidFill>
            <a:srgbClr val="1B6EC2"/>
          </a:solidFill>
          <a:ln/>
        </p:spPr>
        <p:txBody>
          <a:bodyPr/>
          <a:lstStyle/>
          <a:p>
            <a:endParaRPr lang="fr-FR"/>
          </a:p>
        </p:txBody>
      </p:sp>
      <p:sp>
        <p:nvSpPr>
          <p:cNvPr id="56" name="Text 54"/>
          <p:cNvSpPr/>
          <p:nvPr/>
        </p:nvSpPr>
        <p:spPr>
          <a:xfrm>
            <a:off x="7366406" y="2798064"/>
            <a:ext cx="1375258" cy="219456"/>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Service relancé</a:t>
            </a:r>
            <a:endParaRPr lang="en-US" sz="1050" dirty="0"/>
          </a:p>
        </p:txBody>
      </p:sp>
      <p:sp>
        <p:nvSpPr>
          <p:cNvPr id="57" name="Text 55"/>
          <p:cNvSpPr/>
          <p:nvPr/>
        </p:nvSpPr>
        <p:spPr>
          <a:xfrm>
            <a:off x="7366406" y="3017520"/>
            <a:ext cx="1375258" cy="365760"/>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et remis à son nombre de serveurs</a:t>
            </a:r>
            <a:endParaRPr lang="en-US" sz="850" dirty="0"/>
          </a:p>
        </p:txBody>
      </p:sp>
      <p:sp>
        <p:nvSpPr>
          <p:cNvPr id="58" name="Shape 56"/>
          <p:cNvSpPr/>
          <p:nvPr/>
        </p:nvSpPr>
        <p:spPr>
          <a:xfrm>
            <a:off x="292608" y="3529584"/>
            <a:ext cx="2779776" cy="548640"/>
          </a:xfrm>
          <a:prstGeom prst="roundRect">
            <a:avLst>
              <a:gd name="adj" fmla="val 8333"/>
            </a:avLst>
          </a:prstGeom>
          <a:solidFill>
            <a:srgbClr val="FFFFFF"/>
          </a:solidFill>
          <a:ln w="12700">
            <a:solidFill>
              <a:srgbClr val="12855A"/>
            </a:solidFill>
            <a:prstDash val="solid"/>
          </a:ln>
        </p:spPr>
        <p:txBody>
          <a:bodyPr/>
          <a:lstStyle/>
          <a:p>
            <a:endParaRPr lang="fr-FR"/>
          </a:p>
        </p:txBody>
      </p:sp>
      <p:sp>
        <p:nvSpPr>
          <p:cNvPr id="59" name="Shape 57"/>
          <p:cNvSpPr/>
          <p:nvPr/>
        </p:nvSpPr>
        <p:spPr>
          <a:xfrm>
            <a:off x="292608" y="3529584"/>
            <a:ext cx="45720" cy="548640"/>
          </a:xfrm>
          <a:prstGeom prst="rect">
            <a:avLst/>
          </a:prstGeom>
          <a:solidFill>
            <a:srgbClr val="12855A"/>
          </a:solidFill>
          <a:ln/>
        </p:spPr>
        <p:txBody>
          <a:bodyPr/>
          <a:lstStyle/>
          <a:p>
            <a:endParaRPr lang="fr-FR"/>
          </a:p>
        </p:txBody>
      </p:sp>
      <p:sp>
        <p:nvSpPr>
          <p:cNvPr id="60" name="Text 58"/>
          <p:cNvSpPr/>
          <p:nvPr/>
        </p:nvSpPr>
        <p:spPr>
          <a:xfrm>
            <a:off x="457200" y="3602736"/>
            <a:ext cx="2487168" cy="182880"/>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Perte maximale : 6 heures</a:t>
            </a:r>
            <a:endParaRPr lang="en-US" sz="1050" dirty="0"/>
          </a:p>
        </p:txBody>
      </p:sp>
      <p:sp>
        <p:nvSpPr>
          <p:cNvPr id="61" name="Text 59"/>
          <p:cNvSpPr/>
          <p:nvPr/>
        </p:nvSpPr>
        <p:spPr>
          <a:xfrm>
            <a:off x="457200" y="3803904"/>
            <a:ext cx="2487168" cy="237744"/>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c'est l'écart entre deux sauvegardes</a:t>
            </a:r>
            <a:endParaRPr lang="en-US" sz="850" dirty="0"/>
          </a:p>
        </p:txBody>
      </p:sp>
      <p:sp>
        <p:nvSpPr>
          <p:cNvPr id="62" name="Shape 60"/>
          <p:cNvSpPr/>
          <p:nvPr/>
        </p:nvSpPr>
        <p:spPr>
          <a:xfrm>
            <a:off x="3182112" y="3529584"/>
            <a:ext cx="2779776" cy="548640"/>
          </a:xfrm>
          <a:prstGeom prst="roundRect">
            <a:avLst>
              <a:gd name="adj" fmla="val 8333"/>
            </a:avLst>
          </a:prstGeom>
          <a:solidFill>
            <a:srgbClr val="FFFFFF"/>
          </a:solidFill>
          <a:ln w="12700">
            <a:solidFill>
              <a:srgbClr val="1B6EC2"/>
            </a:solidFill>
            <a:prstDash val="solid"/>
          </a:ln>
        </p:spPr>
        <p:txBody>
          <a:bodyPr/>
          <a:lstStyle/>
          <a:p>
            <a:endParaRPr lang="fr-FR"/>
          </a:p>
        </p:txBody>
      </p:sp>
      <p:sp>
        <p:nvSpPr>
          <p:cNvPr id="63" name="Shape 61"/>
          <p:cNvSpPr/>
          <p:nvPr/>
        </p:nvSpPr>
        <p:spPr>
          <a:xfrm>
            <a:off x="3182112" y="3529584"/>
            <a:ext cx="45720" cy="548640"/>
          </a:xfrm>
          <a:prstGeom prst="rect">
            <a:avLst/>
          </a:prstGeom>
          <a:solidFill>
            <a:srgbClr val="1B6EC2"/>
          </a:solidFill>
          <a:ln/>
        </p:spPr>
        <p:txBody>
          <a:bodyPr/>
          <a:lstStyle/>
          <a:p>
            <a:endParaRPr lang="fr-FR"/>
          </a:p>
        </p:txBody>
      </p:sp>
      <p:sp>
        <p:nvSpPr>
          <p:cNvPr id="64" name="Text 62"/>
          <p:cNvSpPr/>
          <p:nvPr/>
        </p:nvSpPr>
        <p:spPr>
          <a:xfrm>
            <a:off x="3346704" y="3602736"/>
            <a:ext cx="2487168" cy="182880"/>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Reprise en une commande</a:t>
            </a:r>
            <a:endParaRPr lang="en-US" sz="1050" dirty="0"/>
          </a:p>
        </p:txBody>
      </p:sp>
      <p:sp>
        <p:nvSpPr>
          <p:cNvPr id="65" name="Text 63"/>
          <p:cNvSpPr/>
          <p:nvPr/>
        </p:nvSpPr>
        <p:spPr>
          <a:xfrm>
            <a:off x="3346704" y="3803904"/>
            <a:ext cx="2487168" cy="237744"/>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aucune manipulation manuelle</a:t>
            </a:r>
            <a:endParaRPr lang="en-US" sz="850" dirty="0"/>
          </a:p>
        </p:txBody>
      </p:sp>
      <p:sp>
        <p:nvSpPr>
          <p:cNvPr id="66" name="Shape 64"/>
          <p:cNvSpPr/>
          <p:nvPr/>
        </p:nvSpPr>
        <p:spPr>
          <a:xfrm>
            <a:off x="6071616" y="3529584"/>
            <a:ext cx="2779776" cy="548640"/>
          </a:xfrm>
          <a:prstGeom prst="roundRect">
            <a:avLst>
              <a:gd name="adj" fmla="val 8333"/>
            </a:avLst>
          </a:prstGeom>
          <a:solidFill>
            <a:srgbClr val="FFFFFF"/>
          </a:solidFill>
          <a:ln w="12700">
            <a:solidFill>
              <a:srgbClr val="E08A3C"/>
            </a:solidFill>
            <a:prstDash val="solid"/>
          </a:ln>
        </p:spPr>
        <p:txBody>
          <a:bodyPr/>
          <a:lstStyle/>
          <a:p>
            <a:endParaRPr lang="fr-FR"/>
          </a:p>
        </p:txBody>
      </p:sp>
      <p:sp>
        <p:nvSpPr>
          <p:cNvPr id="67" name="Shape 65"/>
          <p:cNvSpPr/>
          <p:nvPr/>
        </p:nvSpPr>
        <p:spPr>
          <a:xfrm>
            <a:off x="6071616" y="3529584"/>
            <a:ext cx="45720" cy="548640"/>
          </a:xfrm>
          <a:prstGeom prst="rect">
            <a:avLst/>
          </a:prstGeom>
          <a:solidFill>
            <a:srgbClr val="E08A3C"/>
          </a:solidFill>
          <a:ln/>
        </p:spPr>
        <p:txBody>
          <a:bodyPr/>
          <a:lstStyle/>
          <a:p>
            <a:endParaRPr lang="fr-FR"/>
          </a:p>
        </p:txBody>
      </p:sp>
      <p:sp>
        <p:nvSpPr>
          <p:cNvPr id="68" name="Text 66"/>
          <p:cNvSpPr/>
          <p:nvPr/>
        </p:nvSpPr>
        <p:spPr>
          <a:xfrm>
            <a:off x="6236208" y="3602736"/>
            <a:ext cx="2487168" cy="182880"/>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Reste à faire</a:t>
            </a:r>
            <a:endParaRPr lang="en-US" sz="1050" dirty="0"/>
          </a:p>
        </p:txBody>
      </p:sp>
      <p:sp>
        <p:nvSpPr>
          <p:cNvPr id="69" name="Text 67"/>
          <p:cNvSpPr/>
          <p:nvPr/>
        </p:nvSpPr>
        <p:spPr>
          <a:xfrm>
            <a:off x="6236208" y="3803904"/>
            <a:ext cx="2487168" cy="237744"/>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programmer un exercice régulier sur un environnement de test</a:t>
            </a:r>
            <a:endParaRPr lang="en-US" sz="850" dirty="0"/>
          </a:p>
        </p:txBody>
      </p:sp>
      <p:sp>
        <p:nvSpPr>
          <p:cNvPr id="70" name="Shape 68"/>
          <p:cNvSpPr/>
          <p:nvPr/>
        </p:nvSpPr>
        <p:spPr>
          <a:xfrm>
            <a:off x="292608" y="4224528"/>
            <a:ext cx="8558784" cy="475488"/>
          </a:xfrm>
          <a:prstGeom prst="rect">
            <a:avLst/>
          </a:prstGeom>
          <a:solidFill>
            <a:srgbClr val="12263F"/>
          </a:solidFill>
          <a:ln/>
        </p:spPr>
        <p:txBody>
          <a:bodyPr/>
          <a:lstStyle/>
          <a:p>
            <a:endParaRPr lang="fr-FR"/>
          </a:p>
        </p:txBody>
      </p:sp>
      <p:sp>
        <p:nvSpPr>
          <p:cNvPr id="71" name="Shape 69"/>
          <p:cNvSpPr/>
          <p:nvPr/>
        </p:nvSpPr>
        <p:spPr>
          <a:xfrm>
            <a:off x="292608" y="4224528"/>
            <a:ext cx="45720" cy="475488"/>
          </a:xfrm>
          <a:prstGeom prst="rect">
            <a:avLst/>
          </a:prstGeom>
          <a:solidFill>
            <a:srgbClr val="E08A3C"/>
          </a:solidFill>
          <a:ln/>
        </p:spPr>
        <p:txBody>
          <a:bodyPr/>
          <a:lstStyle/>
          <a:p>
            <a:endParaRPr lang="fr-FR"/>
          </a:p>
        </p:txBody>
      </p:sp>
      <p:sp>
        <p:nvSpPr>
          <p:cNvPr id="72" name="Text 70"/>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Une sauvegarde qu'on ne sait pas restaurer n'est pas une sauvegarde : les deux sont automatisées.</a:t>
            </a:r>
            <a:endParaRPr lang="en-US" sz="1150" dirty="0"/>
          </a:p>
        </p:txBody>
      </p:sp>
      <p:sp>
        <p:nvSpPr>
          <p:cNvPr id="73" name="Text 71"/>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5.4 - Plans de Sauvegarde et de Récupération</a:t>
            </a:r>
            <a:endParaRPr lang="en-US" sz="750" dirty="0"/>
          </a:p>
        </p:txBody>
      </p:sp>
      <p:sp>
        <p:nvSpPr>
          <p:cNvPr id="74" name="Text 72"/>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6. Gestion du projet</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21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6.1 - Élaboration du Planning et Gestion des Ressources</a:t>
            </a:r>
            <a:endParaRPr lang="en-US" sz="2200" dirty="0"/>
          </a:p>
        </p:txBody>
      </p:sp>
      <p:sp>
        <p:nvSpPr>
          <p:cNvPr id="7" name="Text 5"/>
          <p:cNvSpPr/>
          <p:nvPr/>
        </p:nvSpPr>
        <p:spPr>
          <a:xfrm>
            <a:off x="292608" y="1024128"/>
            <a:ext cx="8558784" cy="201168"/>
          </a:xfrm>
          <a:prstGeom prst="rect">
            <a:avLst/>
          </a:prstGeom>
          <a:noFill/>
          <a:ln/>
        </p:spPr>
        <p:txBody>
          <a:bodyPr wrap="square" lIns="0" tIns="0" rIns="0" bIns="0" rtlCol="0" anchor="ctr"/>
          <a:lstStyle/>
          <a:p>
            <a:pPr marL="0" indent="0">
              <a:buNone/>
            </a:pPr>
            <a:r>
              <a:rPr lang="en-US" sz="1050" dirty="0">
                <a:solidFill>
                  <a:srgbClr val="4A5769"/>
                </a:solidFill>
                <a:latin typeface="Calibri" pitchFamily="34" charset="0"/>
                <a:ea typeface="Calibri" pitchFamily="34" charset="-122"/>
                <a:cs typeface="Calibri" pitchFamily="34" charset="-120"/>
              </a:rPr>
              <a:t>Le projet découpé en 6 lots et 31 tâches, avec 6 jalons.</a:t>
            </a:r>
            <a:endParaRPr lang="en-US" sz="1050" dirty="0"/>
          </a:p>
        </p:txBody>
      </p:sp>
      <p:sp>
        <p:nvSpPr>
          <p:cNvPr id="8" name="Shape 6"/>
          <p:cNvSpPr/>
          <p:nvPr/>
        </p:nvSpPr>
        <p:spPr>
          <a:xfrm>
            <a:off x="2834640" y="1335024"/>
            <a:ext cx="3474720" cy="329184"/>
          </a:xfrm>
          <a:prstGeom prst="rect">
            <a:avLst/>
          </a:prstGeom>
          <a:solidFill>
            <a:srgbClr val="12263F"/>
          </a:solidFill>
          <a:ln/>
        </p:spPr>
        <p:txBody>
          <a:bodyPr/>
          <a:lstStyle/>
          <a:p>
            <a:endParaRPr lang="fr-FR"/>
          </a:p>
        </p:txBody>
      </p:sp>
      <p:sp>
        <p:nvSpPr>
          <p:cNvPr id="9" name="Text 7"/>
          <p:cNvSpPr/>
          <p:nvPr/>
        </p:nvSpPr>
        <p:spPr>
          <a:xfrm>
            <a:off x="2907792" y="1335024"/>
            <a:ext cx="3328416" cy="329184"/>
          </a:xfrm>
          <a:prstGeom prst="rect">
            <a:avLst/>
          </a:prstGeom>
          <a:noFill/>
          <a:ln/>
        </p:spPr>
        <p:txBody>
          <a:bodyPr wrap="square" lIns="0" tIns="0" rIns="0" bIns="0" rtlCol="0" anchor="ctr"/>
          <a:lstStyle/>
          <a:p>
            <a:pPr marL="0" indent="0" algn="ctr">
              <a:lnSpc>
                <a:spcPct val="106000"/>
              </a:lnSpc>
              <a:buNone/>
            </a:pPr>
            <a:r>
              <a:rPr lang="en-US" sz="700" b="1" dirty="0">
                <a:solidFill>
                  <a:srgbClr val="FFFFFF"/>
                </a:solidFill>
                <a:latin typeface="Calibri" pitchFamily="34" charset="0"/>
                <a:ea typeface="Calibri" pitchFamily="34" charset="-122"/>
                <a:cs typeface="Calibri" pitchFamily="34" charset="-120"/>
              </a:rPr>
              <a:t>0 · DROPICTURE : plateforme de dépôt, d'organisation et de partage de médias</a:t>
            </a:r>
            <a:endParaRPr lang="en-US" sz="700" dirty="0"/>
          </a:p>
        </p:txBody>
      </p:sp>
      <p:sp>
        <p:nvSpPr>
          <p:cNvPr id="10" name="Shape 8"/>
          <p:cNvSpPr/>
          <p:nvPr/>
        </p:nvSpPr>
        <p:spPr>
          <a:xfrm>
            <a:off x="292608" y="1828800"/>
            <a:ext cx="1350264" cy="347472"/>
          </a:xfrm>
          <a:prstGeom prst="rect">
            <a:avLst/>
          </a:prstGeom>
          <a:solidFill>
            <a:srgbClr val="E08A3C"/>
          </a:solidFill>
          <a:ln/>
        </p:spPr>
        <p:txBody>
          <a:bodyPr/>
          <a:lstStyle/>
          <a:p>
            <a:endParaRPr lang="fr-FR"/>
          </a:p>
        </p:txBody>
      </p:sp>
      <p:sp>
        <p:nvSpPr>
          <p:cNvPr id="11" name="Text 9"/>
          <p:cNvSpPr/>
          <p:nvPr/>
        </p:nvSpPr>
        <p:spPr>
          <a:xfrm>
            <a:off x="356616" y="1874520"/>
            <a:ext cx="182880" cy="182880"/>
          </a:xfrm>
          <a:prstGeom prst="rect">
            <a:avLst/>
          </a:prstGeom>
          <a:noFill/>
          <a:ln/>
        </p:spPr>
        <p:txBody>
          <a:bodyPr wrap="square" lIns="0" tIns="0" rIns="0" bIns="0" rtlCol="0" anchor="ctr"/>
          <a:lstStyle/>
          <a:p>
            <a:pPr marL="0" indent="0" algn="l">
              <a:lnSpc>
                <a:spcPct val="106000"/>
              </a:lnSpc>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2" name="Text 10"/>
          <p:cNvSpPr/>
          <p:nvPr/>
        </p:nvSpPr>
        <p:spPr>
          <a:xfrm>
            <a:off x="548640" y="1865376"/>
            <a:ext cx="1021080" cy="292608"/>
          </a:xfrm>
          <a:prstGeom prst="rect">
            <a:avLst/>
          </a:prstGeom>
          <a:noFill/>
          <a:ln/>
        </p:spPr>
        <p:txBody>
          <a:bodyPr wrap="square" lIns="0" tIns="0" rIns="0" bIns="0" rtlCol="0" anchor="ctr"/>
          <a:lstStyle/>
          <a:p>
            <a:pPr marL="0" indent="0" algn="l">
              <a:lnSpc>
                <a:spcPct val="106000"/>
              </a:lnSpc>
              <a:buNone/>
            </a:pPr>
            <a:r>
              <a:rPr lang="en-US" sz="620" b="1" dirty="0">
                <a:solidFill>
                  <a:srgbClr val="FFFFFF"/>
                </a:solidFill>
                <a:latin typeface="Calibri" pitchFamily="34" charset="0"/>
                <a:ea typeface="Calibri" pitchFamily="34" charset="-122"/>
                <a:cs typeface="Calibri" pitchFamily="34" charset="-120"/>
              </a:rPr>
              <a:t>Cadrage et conception</a:t>
            </a:r>
            <a:endParaRPr lang="en-US" sz="620" dirty="0"/>
          </a:p>
        </p:txBody>
      </p:sp>
      <p:sp>
        <p:nvSpPr>
          <p:cNvPr id="13" name="Text 11"/>
          <p:cNvSpPr/>
          <p:nvPr/>
        </p:nvSpPr>
        <p:spPr>
          <a:xfrm>
            <a:off x="356616" y="2194560"/>
            <a:ext cx="1222248" cy="118872"/>
          </a:xfrm>
          <a:prstGeom prst="rect">
            <a:avLst/>
          </a:prstGeom>
          <a:noFill/>
          <a:ln/>
        </p:spPr>
        <p:txBody>
          <a:bodyPr wrap="square" lIns="0" tIns="0" rIns="0" bIns="0" rtlCol="0" anchor="ctr"/>
          <a:lstStyle/>
          <a:p>
            <a:pPr marL="0" indent="0" algn="l">
              <a:lnSpc>
                <a:spcPct val="106000"/>
              </a:lnSpc>
              <a:buNone/>
            </a:pPr>
            <a:r>
              <a:rPr lang="en-US" sz="480" b="1" dirty="0">
                <a:solidFill>
                  <a:srgbClr val="8FA6BC"/>
                </a:solidFill>
                <a:latin typeface="Calibri" pitchFamily="34" charset="0"/>
                <a:ea typeface="Calibri" pitchFamily="34" charset="-122"/>
                <a:cs typeface="Calibri" pitchFamily="34" charset="-120"/>
              </a:rPr>
              <a:t>4 lots de travail</a:t>
            </a:r>
            <a:endParaRPr lang="en-US" sz="480" dirty="0"/>
          </a:p>
        </p:txBody>
      </p:sp>
      <p:sp>
        <p:nvSpPr>
          <p:cNvPr id="14" name="Shape 12"/>
          <p:cNvSpPr/>
          <p:nvPr/>
        </p:nvSpPr>
        <p:spPr>
          <a:xfrm>
            <a:off x="292608" y="2340864"/>
            <a:ext cx="1350264" cy="205740"/>
          </a:xfrm>
          <a:prstGeom prst="rect">
            <a:avLst/>
          </a:prstGeom>
          <a:solidFill>
            <a:srgbClr val="FFFFFF"/>
          </a:solidFill>
          <a:ln w="7620">
            <a:solidFill>
              <a:srgbClr val="E2E8EE"/>
            </a:solidFill>
            <a:prstDash val="solid"/>
          </a:ln>
        </p:spPr>
        <p:txBody>
          <a:bodyPr/>
          <a:lstStyle/>
          <a:p>
            <a:endParaRPr lang="fr-FR"/>
          </a:p>
        </p:txBody>
      </p:sp>
      <p:sp>
        <p:nvSpPr>
          <p:cNvPr id="15" name="Text 13"/>
          <p:cNvSpPr/>
          <p:nvPr/>
        </p:nvSpPr>
        <p:spPr>
          <a:xfrm>
            <a:off x="356616" y="2382012"/>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E08A3C"/>
                </a:solidFill>
                <a:latin typeface="Calibri" pitchFamily="34" charset="0"/>
                <a:ea typeface="Calibri" pitchFamily="34" charset="-122"/>
                <a:cs typeface="Calibri" pitchFamily="34" charset="-120"/>
              </a:rPr>
              <a:t>1.1</a:t>
            </a:r>
            <a:endParaRPr lang="en-US" sz="540" dirty="0"/>
          </a:p>
        </p:txBody>
      </p:sp>
      <p:sp>
        <p:nvSpPr>
          <p:cNvPr id="16" name="Text 14"/>
          <p:cNvSpPr/>
          <p:nvPr/>
        </p:nvSpPr>
        <p:spPr>
          <a:xfrm>
            <a:off x="585216" y="2377440"/>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Besoins et cas d'utilisation</a:t>
            </a:r>
            <a:endParaRPr lang="en-US" sz="560" dirty="0"/>
          </a:p>
        </p:txBody>
      </p:sp>
      <p:sp>
        <p:nvSpPr>
          <p:cNvPr id="17" name="Shape 15"/>
          <p:cNvSpPr/>
          <p:nvPr/>
        </p:nvSpPr>
        <p:spPr>
          <a:xfrm>
            <a:off x="292608" y="2564892"/>
            <a:ext cx="1350264" cy="205740"/>
          </a:xfrm>
          <a:prstGeom prst="rect">
            <a:avLst/>
          </a:prstGeom>
          <a:solidFill>
            <a:srgbClr val="FFFFFF"/>
          </a:solidFill>
          <a:ln w="7620">
            <a:solidFill>
              <a:srgbClr val="E2E8EE"/>
            </a:solidFill>
            <a:prstDash val="solid"/>
          </a:ln>
        </p:spPr>
        <p:txBody>
          <a:bodyPr/>
          <a:lstStyle/>
          <a:p>
            <a:endParaRPr lang="fr-FR"/>
          </a:p>
        </p:txBody>
      </p:sp>
      <p:sp>
        <p:nvSpPr>
          <p:cNvPr id="18" name="Text 16"/>
          <p:cNvSpPr/>
          <p:nvPr/>
        </p:nvSpPr>
        <p:spPr>
          <a:xfrm>
            <a:off x="356616" y="2606040"/>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E08A3C"/>
                </a:solidFill>
                <a:latin typeface="Calibri" pitchFamily="34" charset="0"/>
                <a:ea typeface="Calibri" pitchFamily="34" charset="-122"/>
                <a:cs typeface="Calibri" pitchFamily="34" charset="-120"/>
              </a:rPr>
              <a:t>1.2</a:t>
            </a:r>
            <a:endParaRPr lang="en-US" sz="540" dirty="0"/>
          </a:p>
        </p:txBody>
      </p:sp>
      <p:sp>
        <p:nvSpPr>
          <p:cNvPr id="19" name="Text 17"/>
          <p:cNvSpPr/>
          <p:nvPr/>
        </p:nvSpPr>
        <p:spPr>
          <a:xfrm>
            <a:off x="585216" y="2601468"/>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Modèle de données (MCD, MLD)</a:t>
            </a:r>
            <a:endParaRPr lang="en-US" sz="560" dirty="0"/>
          </a:p>
        </p:txBody>
      </p:sp>
      <p:sp>
        <p:nvSpPr>
          <p:cNvPr id="20" name="Shape 18"/>
          <p:cNvSpPr/>
          <p:nvPr/>
        </p:nvSpPr>
        <p:spPr>
          <a:xfrm>
            <a:off x="292608" y="2788920"/>
            <a:ext cx="1350264" cy="205740"/>
          </a:xfrm>
          <a:prstGeom prst="rect">
            <a:avLst/>
          </a:prstGeom>
          <a:solidFill>
            <a:srgbClr val="FFFFFF"/>
          </a:solidFill>
          <a:ln w="7620">
            <a:solidFill>
              <a:srgbClr val="E2E8EE"/>
            </a:solidFill>
            <a:prstDash val="solid"/>
          </a:ln>
        </p:spPr>
        <p:txBody>
          <a:bodyPr/>
          <a:lstStyle/>
          <a:p>
            <a:endParaRPr lang="fr-FR"/>
          </a:p>
        </p:txBody>
      </p:sp>
      <p:sp>
        <p:nvSpPr>
          <p:cNvPr id="21" name="Text 19"/>
          <p:cNvSpPr/>
          <p:nvPr/>
        </p:nvSpPr>
        <p:spPr>
          <a:xfrm>
            <a:off x="356616" y="2830068"/>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E08A3C"/>
                </a:solidFill>
                <a:latin typeface="Calibri" pitchFamily="34" charset="0"/>
                <a:ea typeface="Calibri" pitchFamily="34" charset="-122"/>
                <a:cs typeface="Calibri" pitchFamily="34" charset="-120"/>
              </a:rPr>
              <a:t>1.3</a:t>
            </a:r>
            <a:endParaRPr lang="en-US" sz="540" dirty="0"/>
          </a:p>
        </p:txBody>
      </p:sp>
      <p:sp>
        <p:nvSpPr>
          <p:cNvPr id="22" name="Text 20"/>
          <p:cNvSpPr/>
          <p:nvPr/>
        </p:nvSpPr>
        <p:spPr>
          <a:xfrm>
            <a:off x="585216" y="2825496"/>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Architecture et cartographie</a:t>
            </a:r>
            <a:endParaRPr lang="en-US" sz="560" dirty="0"/>
          </a:p>
        </p:txBody>
      </p:sp>
      <p:sp>
        <p:nvSpPr>
          <p:cNvPr id="23" name="Shape 21"/>
          <p:cNvSpPr/>
          <p:nvPr/>
        </p:nvSpPr>
        <p:spPr>
          <a:xfrm>
            <a:off x="292608" y="3012948"/>
            <a:ext cx="1350264" cy="205740"/>
          </a:xfrm>
          <a:prstGeom prst="rect">
            <a:avLst/>
          </a:prstGeom>
          <a:solidFill>
            <a:srgbClr val="FFFFFF"/>
          </a:solidFill>
          <a:ln w="7620">
            <a:solidFill>
              <a:srgbClr val="E2E8EE"/>
            </a:solidFill>
            <a:prstDash val="solid"/>
          </a:ln>
        </p:spPr>
        <p:txBody>
          <a:bodyPr/>
          <a:lstStyle/>
          <a:p>
            <a:endParaRPr lang="fr-FR"/>
          </a:p>
        </p:txBody>
      </p:sp>
      <p:sp>
        <p:nvSpPr>
          <p:cNvPr id="24" name="Text 22"/>
          <p:cNvSpPr/>
          <p:nvPr/>
        </p:nvSpPr>
        <p:spPr>
          <a:xfrm>
            <a:off x="356616" y="3054096"/>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E08A3C"/>
                </a:solidFill>
                <a:latin typeface="Calibri" pitchFamily="34" charset="0"/>
                <a:ea typeface="Calibri" pitchFamily="34" charset="-122"/>
                <a:cs typeface="Calibri" pitchFamily="34" charset="-120"/>
              </a:rPr>
              <a:t>1.4</a:t>
            </a:r>
            <a:endParaRPr lang="en-US" sz="540" dirty="0"/>
          </a:p>
        </p:txBody>
      </p:sp>
      <p:sp>
        <p:nvSpPr>
          <p:cNvPr id="25" name="Text 23"/>
          <p:cNvSpPr/>
          <p:nvPr/>
        </p:nvSpPr>
        <p:spPr>
          <a:xfrm>
            <a:off x="585216" y="3049524"/>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Parcours et maquettes</a:t>
            </a:r>
            <a:endParaRPr lang="en-US" sz="560" dirty="0"/>
          </a:p>
        </p:txBody>
      </p:sp>
      <p:sp>
        <p:nvSpPr>
          <p:cNvPr id="26" name="Shape 24"/>
          <p:cNvSpPr/>
          <p:nvPr/>
        </p:nvSpPr>
        <p:spPr>
          <a:xfrm>
            <a:off x="1734312" y="1828800"/>
            <a:ext cx="1350264" cy="347472"/>
          </a:xfrm>
          <a:prstGeom prst="rect">
            <a:avLst/>
          </a:prstGeom>
          <a:solidFill>
            <a:srgbClr val="12855A"/>
          </a:solidFill>
          <a:ln/>
        </p:spPr>
        <p:txBody>
          <a:bodyPr/>
          <a:lstStyle/>
          <a:p>
            <a:endParaRPr lang="fr-FR"/>
          </a:p>
        </p:txBody>
      </p:sp>
      <p:sp>
        <p:nvSpPr>
          <p:cNvPr id="27" name="Text 25"/>
          <p:cNvSpPr/>
          <p:nvPr/>
        </p:nvSpPr>
        <p:spPr>
          <a:xfrm>
            <a:off x="1798320" y="1874520"/>
            <a:ext cx="182880" cy="182880"/>
          </a:xfrm>
          <a:prstGeom prst="rect">
            <a:avLst/>
          </a:prstGeom>
          <a:noFill/>
          <a:ln/>
        </p:spPr>
        <p:txBody>
          <a:bodyPr wrap="square" lIns="0" tIns="0" rIns="0" bIns="0" rtlCol="0" anchor="ctr"/>
          <a:lstStyle/>
          <a:p>
            <a:pPr marL="0" indent="0" algn="l">
              <a:lnSpc>
                <a:spcPct val="106000"/>
              </a:lnSpc>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8" name="Text 26"/>
          <p:cNvSpPr/>
          <p:nvPr/>
        </p:nvSpPr>
        <p:spPr>
          <a:xfrm>
            <a:off x="1990344" y="1865376"/>
            <a:ext cx="1021080" cy="292608"/>
          </a:xfrm>
          <a:prstGeom prst="rect">
            <a:avLst/>
          </a:prstGeom>
          <a:noFill/>
          <a:ln/>
        </p:spPr>
        <p:txBody>
          <a:bodyPr wrap="square" lIns="0" tIns="0" rIns="0" bIns="0" rtlCol="0" anchor="ctr"/>
          <a:lstStyle/>
          <a:p>
            <a:pPr marL="0" indent="0" algn="l">
              <a:lnSpc>
                <a:spcPct val="106000"/>
              </a:lnSpc>
              <a:buNone/>
            </a:pPr>
            <a:r>
              <a:rPr lang="en-US" sz="620" b="1" dirty="0">
                <a:solidFill>
                  <a:srgbClr val="FFFFFF"/>
                </a:solidFill>
                <a:latin typeface="Calibri" pitchFamily="34" charset="0"/>
                <a:ea typeface="Calibri" pitchFamily="34" charset="-122"/>
                <a:cs typeface="Calibri" pitchFamily="34" charset="-120"/>
              </a:rPr>
              <a:t>Application : backend</a:t>
            </a:r>
            <a:endParaRPr lang="en-US" sz="620" dirty="0"/>
          </a:p>
        </p:txBody>
      </p:sp>
      <p:sp>
        <p:nvSpPr>
          <p:cNvPr id="29" name="Text 27"/>
          <p:cNvSpPr/>
          <p:nvPr/>
        </p:nvSpPr>
        <p:spPr>
          <a:xfrm>
            <a:off x="1798320" y="2194560"/>
            <a:ext cx="1222248" cy="118872"/>
          </a:xfrm>
          <a:prstGeom prst="rect">
            <a:avLst/>
          </a:prstGeom>
          <a:noFill/>
          <a:ln/>
        </p:spPr>
        <p:txBody>
          <a:bodyPr wrap="square" lIns="0" tIns="0" rIns="0" bIns="0" rtlCol="0" anchor="ctr"/>
          <a:lstStyle/>
          <a:p>
            <a:pPr marL="0" indent="0" algn="l">
              <a:lnSpc>
                <a:spcPct val="106000"/>
              </a:lnSpc>
              <a:buNone/>
            </a:pPr>
            <a:r>
              <a:rPr lang="en-US" sz="480" b="1" dirty="0">
                <a:solidFill>
                  <a:srgbClr val="8FA6BC"/>
                </a:solidFill>
                <a:latin typeface="Calibri" pitchFamily="34" charset="0"/>
                <a:ea typeface="Calibri" pitchFamily="34" charset="-122"/>
                <a:cs typeface="Calibri" pitchFamily="34" charset="-120"/>
              </a:rPr>
              <a:t>6 lots de travail</a:t>
            </a:r>
            <a:endParaRPr lang="en-US" sz="480" dirty="0"/>
          </a:p>
        </p:txBody>
      </p:sp>
      <p:sp>
        <p:nvSpPr>
          <p:cNvPr id="30" name="Shape 28"/>
          <p:cNvSpPr/>
          <p:nvPr/>
        </p:nvSpPr>
        <p:spPr>
          <a:xfrm>
            <a:off x="1734312" y="2340864"/>
            <a:ext cx="1350264" cy="205740"/>
          </a:xfrm>
          <a:prstGeom prst="rect">
            <a:avLst/>
          </a:prstGeom>
          <a:solidFill>
            <a:srgbClr val="FFFFFF"/>
          </a:solidFill>
          <a:ln w="7620">
            <a:solidFill>
              <a:srgbClr val="E2E8EE"/>
            </a:solidFill>
            <a:prstDash val="solid"/>
          </a:ln>
        </p:spPr>
        <p:txBody>
          <a:bodyPr/>
          <a:lstStyle/>
          <a:p>
            <a:endParaRPr lang="fr-FR"/>
          </a:p>
        </p:txBody>
      </p:sp>
      <p:sp>
        <p:nvSpPr>
          <p:cNvPr id="31" name="Text 29"/>
          <p:cNvSpPr/>
          <p:nvPr/>
        </p:nvSpPr>
        <p:spPr>
          <a:xfrm>
            <a:off x="1798320" y="2382012"/>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12855A"/>
                </a:solidFill>
                <a:latin typeface="Calibri" pitchFamily="34" charset="0"/>
                <a:ea typeface="Calibri" pitchFamily="34" charset="-122"/>
                <a:cs typeface="Calibri" pitchFamily="34" charset="-120"/>
              </a:rPr>
              <a:t>2.1</a:t>
            </a:r>
            <a:endParaRPr lang="en-US" sz="540" dirty="0"/>
          </a:p>
        </p:txBody>
      </p:sp>
      <p:sp>
        <p:nvSpPr>
          <p:cNvPr id="32" name="Text 30"/>
          <p:cNvSpPr/>
          <p:nvPr/>
        </p:nvSpPr>
        <p:spPr>
          <a:xfrm>
            <a:off x="2026920" y="2377440"/>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Socle NestJS et doc d'API</a:t>
            </a:r>
            <a:endParaRPr lang="en-US" sz="560" dirty="0"/>
          </a:p>
        </p:txBody>
      </p:sp>
      <p:sp>
        <p:nvSpPr>
          <p:cNvPr id="33" name="Shape 31"/>
          <p:cNvSpPr/>
          <p:nvPr/>
        </p:nvSpPr>
        <p:spPr>
          <a:xfrm>
            <a:off x="1734312" y="2564892"/>
            <a:ext cx="1350264" cy="205740"/>
          </a:xfrm>
          <a:prstGeom prst="rect">
            <a:avLst/>
          </a:prstGeom>
          <a:solidFill>
            <a:srgbClr val="FFFFFF"/>
          </a:solidFill>
          <a:ln w="7620">
            <a:solidFill>
              <a:srgbClr val="E2E8EE"/>
            </a:solidFill>
            <a:prstDash val="solid"/>
          </a:ln>
        </p:spPr>
        <p:txBody>
          <a:bodyPr/>
          <a:lstStyle/>
          <a:p>
            <a:endParaRPr lang="fr-FR"/>
          </a:p>
        </p:txBody>
      </p:sp>
      <p:sp>
        <p:nvSpPr>
          <p:cNvPr id="34" name="Text 32"/>
          <p:cNvSpPr/>
          <p:nvPr/>
        </p:nvSpPr>
        <p:spPr>
          <a:xfrm>
            <a:off x="1798320" y="2606040"/>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12855A"/>
                </a:solidFill>
                <a:latin typeface="Calibri" pitchFamily="34" charset="0"/>
                <a:ea typeface="Calibri" pitchFamily="34" charset="-122"/>
                <a:cs typeface="Calibri" pitchFamily="34" charset="-120"/>
              </a:rPr>
              <a:t>2.2</a:t>
            </a:r>
            <a:endParaRPr lang="en-US" sz="540" dirty="0"/>
          </a:p>
        </p:txBody>
      </p:sp>
      <p:sp>
        <p:nvSpPr>
          <p:cNvPr id="35" name="Text 33"/>
          <p:cNvSpPr/>
          <p:nvPr/>
        </p:nvSpPr>
        <p:spPr>
          <a:xfrm>
            <a:off x="2026920" y="2601468"/>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Authentification et sessions</a:t>
            </a:r>
            <a:endParaRPr lang="en-US" sz="560" dirty="0"/>
          </a:p>
        </p:txBody>
      </p:sp>
      <p:sp>
        <p:nvSpPr>
          <p:cNvPr id="36" name="Shape 34"/>
          <p:cNvSpPr/>
          <p:nvPr/>
        </p:nvSpPr>
        <p:spPr>
          <a:xfrm>
            <a:off x="1734312" y="2788920"/>
            <a:ext cx="1350264" cy="205740"/>
          </a:xfrm>
          <a:prstGeom prst="rect">
            <a:avLst/>
          </a:prstGeom>
          <a:solidFill>
            <a:srgbClr val="FFFFFF"/>
          </a:solidFill>
          <a:ln w="7620">
            <a:solidFill>
              <a:srgbClr val="E2E8EE"/>
            </a:solidFill>
            <a:prstDash val="solid"/>
          </a:ln>
        </p:spPr>
        <p:txBody>
          <a:bodyPr/>
          <a:lstStyle/>
          <a:p>
            <a:endParaRPr lang="fr-FR"/>
          </a:p>
        </p:txBody>
      </p:sp>
      <p:sp>
        <p:nvSpPr>
          <p:cNvPr id="37" name="Text 35"/>
          <p:cNvSpPr/>
          <p:nvPr/>
        </p:nvSpPr>
        <p:spPr>
          <a:xfrm>
            <a:off x="1798320" y="2830068"/>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12855A"/>
                </a:solidFill>
                <a:latin typeface="Calibri" pitchFamily="34" charset="0"/>
                <a:ea typeface="Calibri" pitchFamily="34" charset="-122"/>
                <a:cs typeface="Calibri" pitchFamily="34" charset="-120"/>
              </a:rPr>
              <a:t>2.3</a:t>
            </a:r>
            <a:endParaRPr lang="en-US" sz="540" dirty="0"/>
          </a:p>
        </p:txBody>
      </p:sp>
      <p:sp>
        <p:nvSpPr>
          <p:cNvPr id="38" name="Text 36"/>
          <p:cNvSpPr/>
          <p:nvPr/>
        </p:nvSpPr>
        <p:spPr>
          <a:xfrm>
            <a:off x="2026920" y="2825496"/>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Bibliothèque, dépôt en flux</a:t>
            </a:r>
            <a:endParaRPr lang="en-US" sz="560" dirty="0"/>
          </a:p>
        </p:txBody>
      </p:sp>
      <p:sp>
        <p:nvSpPr>
          <p:cNvPr id="39" name="Shape 37"/>
          <p:cNvSpPr/>
          <p:nvPr/>
        </p:nvSpPr>
        <p:spPr>
          <a:xfrm>
            <a:off x="1734312" y="3012948"/>
            <a:ext cx="1350264" cy="205740"/>
          </a:xfrm>
          <a:prstGeom prst="rect">
            <a:avLst/>
          </a:prstGeom>
          <a:solidFill>
            <a:srgbClr val="FFFFFF"/>
          </a:solidFill>
          <a:ln w="7620">
            <a:solidFill>
              <a:srgbClr val="E2E8EE"/>
            </a:solidFill>
            <a:prstDash val="solid"/>
          </a:ln>
        </p:spPr>
        <p:txBody>
          <a:bodyPr/>
          <a:lstStyle/>
          <a:p>
            <a:endParaRPr lang="fr-FR"/>
          </a:p>
        </p:txBody>
      </p:sp>
      <p:sp>
        <p:nvSpPr>
          <p:cNvPr id="40" name="Text 38"/>
          <p:cNvSpPr/>
          <p:nvPr/>
        </p:nvSpPr>
        <p:spPr>
          <a:xfrm>
            <a:off x="1798320" y="3054096"/>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12855A"/>
                </a:solidFill>
                <a:latin typeface="Calibri" pitchFamily="34" charset="0"/>
                <a:ea typeface="Calibri" pitchFamily="34" charset="-122"/>
                <a:cs typeface="Calibri" pitchFamily="34" charset="-120"/>
              </a:rPr>
              <a:t>2.4</a:t>
            </a:r>
            <a:endParaRPr lang="en-US" sz="540" dirty="0"/>
          </a:p>
        </p:txBody>
      </p:sp>
      <p:sp>
        <p:nvSpPr>
          <p:cNvPr id="41" name="Text 39"/>
          <p:cNvSpPr/>
          <p:nvPr/>
        </p:nvSpPr>
        <p:spPr>
          <a:xfrm>
            <a:off x="2026920" y="3049524"/>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Publication et profil public</a:t>
            </a:r>
            <a:endParaRPr lang="en-US" sz="560" dirty="0"/>
          </a:p>
        </p:txBody>
      </p:sp>
      <p:sp>
        <p:nvSpPr>
          <p:cNvPr id="42" name="Shape 40"/>
          <p:cNvSpPr/>
          <p:nvPr/>
        </p:nvSpPr>
        <p:spPr>
          <a:xfrm>
            <a:off x="1734312" y="3236976"/>
            <a:ext cx="1350264" cy="205740"/>
          </a:xfrm>
          <a:prstGeom prst="rect">
            <a:avLst/>
          </a:prstGeom>
          <a:solidFill>
            <a:srgbClr val="FFFFFF"/>
          </a:solidFill>
          <a:ln w="7620">
            <a:solidFill>
              <a:srgbClr val="E2E8EE"/>
            </a:solidFill>
            <a:prstDash val="solid"/>
          </a:ln>
        </p:spPr>
        <p:txBody>
          <a:bodyPr/>
          <a:lstStyle/>
          <a:p>
            <a:endParaRPr lang="fr-FR"/>
          </a:p>
        </p:txBody>
      </p:sp>
      <p:sp>
        <p:nvSpPr>
          <p:cNvPr id="43" name="Text 41"/>
          <p:cNvSpPr/>
          <p:nvPr/>
        </p:nvSpPr>
        <p:spPr>
          <a:xfrm>
            <a:off x="1798320" y="3278124"/>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12855A"/>
                </a:solidFill>
                <a:latin typeface="Calibri" pitchFamily="34" charset="0"/>
                <a:ea typeface="Calibri" pitchFamily="34" charset="-122"/>
                <a:cs typeface="Calibri" pitchFamily="34" charset="-120"/>
              </a:rPr>
              <a:t>2.5</a:t>
            </a:r>
            <a:endParaRPr lang="en-US" sz="540" dirty="0"/>
          </a:p>
        </p:txBody>
      </p:sp>
      <p:sp>
        <p:nvSpPr>
          <p:cNvPr id="44" name="Text 42"/>
          <p:cNvSpPr/>
          <p:nvPr/>
        </p:nvSpPr>
        <p:spPr>
          <a:xfrm>
            <a:off x="2026920" y="3273552"/>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Abonnements et fil</a:t>
            </a:r>
            <a:endParaRPr lang="en-US" sz="560" dirty="0"/>
          </a:p>
        </p:txBody>
      </p:sp>
      <p:sp>
        <p:nvSpPr>
          <p:cNvPr id="45" name="Shape 43"/>
          <p:cNvSpPr/>
          <p:nvPr/>
        </p:nvSpPr>
        <p:spPr>
          <a:xfrm>
            <a:off x="1734312" y="3461004"/>
            <a:ext cx="1350264" cy="205740"/>
          </a:xfrm>
          <a:prstGeom prst="rect">
            <a:avLst/>
          </a:prstGeom>
          <a:solidFill>
            <a:srgbClr val="FFFFFF"/>
          </a:solidFill>
          <a:ln w="7620">
            <a:solidFill>
              <a:srgbClr val="E2E8EE"/>
            </a:solidFill>
            <a:prstDash val="solid"/>
          </a:ln>
        </p:spPr>
        <p:txBody>
          <a:bodyPr/>
          <a:lstStyle/>
          <a:p>
            <a:endParaRPr lang="fr-FR"/>
          </a:p>
        </p:txBody>
      </p:sp>
      <p:sp>
        <p:nvSpPr>
          <p:cNvPr id="46" name="Text 44"/>
          <p:cNvSpPr/>
          <p:nvPr/>
        </p:nvSpPr>
        <p:spPr>
          <a:xfrm>
            <a:off x="1798320" y="3502152"/>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12855A"/>
                </a:solidFill>
                <a:latin typeface="Calibri" pitchFamily="34" charset="0"/>
                <a:ea typeface="Calibri" pitchFamily="34" charset="-122"/>
                <a:cs typeface="Calibri" pitchFamily="34" charset="-120"/>
              </a:rPr>
              <a:t>2.6</a:t>
            </a:r>
            <a:endParaRPr lang="en-US" sz="540" dirty="0"/>
          </a:p>
        </p:txBody>
      </p:sp>
      <p:sp>
        <p:nvSpPr>
          <p:cNvPr id="47" name="Text 45"/>
          <p:cNvSpPr/>
          <p:nvPr/>
        </p:nvSpPr>
        <p:spPr>
          <a:xfrm>
            <a:off x="2026920" y="3497580"/>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Tests automatisés</a:t>
            </a:r>
            <a:endParaRPr lang="en-US" sz="560" dirty="0"/>
          </a:p>
        </p:txBody>
      </p:sp>
      <p:sp>
        <p:nvSpPr>
          <p:cNvPr id="48" name="Shape 46"/>
          <p:cNvSpPr/>
          <p:nvPr/>
        </p:nvSpPr>
        <p:spPr>
          <a:xfrm>
            <a:off x="3176016" y="1828800"/>
            <a:ext cx="1350264" cy="347472"/>
          </a:xfrm>
          <a:prstGeom prst="rect">
            <a:avLst/>
          </a:prstGeom>
          <a:solidFill>
            <a:srgbClr val="1B6EC2"/>
          </a:solidFill>
          <a:ln/>
        </p:spPr>
        <p:txBody>
          <a:bodyPr/>
          <a:lstStyle/>
          <a:p>
            <a:endParaRPr lang="fr-FR"/>
          </a:p>
        </p:txBody>
      </p:sp>
      <p:sp>
        <p:nvSpPr>
          <p:cNvPr id="49" name="Text 47"/>
          <p:cNvSpPr/>
          <p:nvPr/>
        </p:nvSpPr>
        <p:spPr>
          <a:xfrm>
            <a:off x="3240024" y="1874520"/>
            <a:ext cx="182880" cy="182880"/>
          </a:xfrm>
          <a:prstGeom prst="rect">
            <a:avLst/>
          </a:prstGeom>
          <a:noFill/>
          <a:ln/>
        </p:spPr>
        <p:txBody>
          <a:bodyPr wrap="square" lIns="0" tIns="0" rIns="0" bIns="0" rtlCol="0" anchor="ctr"/>
          <a:lstStyle/>
          <a:p>
            <a:pPr marL="0" indent="0" algn="l">
              <a:lnSpc>
                <a:spcPct val="106000"/>
              </a:lnSpc>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50" name="Text 48"/>
          <p:cNvSpPr/>
          <p:nvPr/>
        </p:nvSpPr>
        <p:spPr>
          <a:xfrm>
            <a:off x="3432048" y="1865376"/>
            <a:ext cx="1021080" cy="292608"/>
          </a:xfrm>
          <a:prstGeom prst="rect">
            <a:avLst/>
          </a:prstGeom>
          <a:noFill/>
          <a:ln/>
        </p:spPr>
        <p:txBody>
          <a:bodyPr wrap="square" lIns="0" tIns="0" rIns="0" bIns="0" rtlCol="0" anchor="ctr"/>
          <a:lstStyle/>
          <a:p>
            <a:pPr marL="0" indent="0" algn="l">
              <a:lnSpc>
                <a:spcPct val="106000"/>
              </a:lnSpc>
              <a:buNone/>
            </a:pPr>
            <a:r>
              <a:rPr lang="en-US" sz="620" b="1" dirty="0">
                <a:solidFill>
                  <a:srgbClr val="FFFFFF"/>
                </a:solidFill>
                <a:latin typeface="Calibri" pitchFamily="34" charset="0"/>
                <a:ea typeface="Calibri" pitchFamily="34" charset="-122"/>
                <a:cs typeface="Calibri" pitchFamily="34" charset="-120"/>
              </a:rPr>
              <a:t>Application : frontend</a:t>
            </a:r>
            <a:endParaRPr lang="en-US" sz="620" dirty="0"/>
          </a:p>
        </p:txBody>
      </p:sp>
      <p:sp>
        <p:nvSpPr>
          <p:cNvPr id="51" name="Text 49"/>
          <p:cNvSpPr/>
          <p:nvPr/>
        </p:nvSpPr>
        <p:spPr>
          <a:xfrm>
            <a:off x="3240024" y="2194560"/>
            <a:ext cx="1222248" cy="118872"/>
          </a:xfrm>
          <a:prstGeom prst="rect">
            <a:avLst/>
          </a:prstGeom>
          <a:noFill/>
          <a:ln/>
        </p:spPr>
        <p:txBody>
          <a:bodyPr wrap="square" lIns="0" tIns="0" rIns="0" bIns="0" rtlCol="0" anchor="ctr"/>
          <a:lstStyle/>
          <a:p>
            <a:pPr marL="0" indent="0" algn="l">
              <a:lnSpc>
                <a:spcPct val="106000"/>
              </a:lnSpc>
              <a:buNone/>
            </a:pPr>
            <a:r>
              <a:rPr lang="en-US" sz="480" b="1" dirty="0">
                <a:solidFill>
                  <a:srgbClr val="8FA6BC"/>
                </a:solidFill>
                <a:latin typeface="Calibri" pitchFamily="34" charset="0"/>
                <a:ea typeface="Calibri" pitchFamily="34" charset="-122"/>
                <a:cs typeface="Calibri" pitchFamily="34" charset="-120"/>
              </a:rPr>
              <a:t>5 lots de travail</a:t>
            </a:r>
            <a:endParaRPr lang="en-US" sz="480" dirty="0"/>
          </a:p>
        </p:txBody>
      </p:sp>
      <p:sp>
        <p:nvSpPr>
          <p:cNvPr id="52" name="Shape 50"/>
          <p:cNvSpPr/>
          <p:nvPr/>
        </p:nvSpPr>
        <p:spPr>
          <a:xfrm>
            <a:off x="3176016" y="2340864"/>
            <a:ext cx="1350264" cy="205740"/>
          </a:xfrm>
          <a:prstGeom prst="rect">
            <a:avLst/>
          </a:prstGeom>
          <a:solidFill>
            <a:srgbClr val="FFFFFF"/>
          </a:solidFill>
          <a:ln w="7620">
            <a:solidFill>
              <a:srgbClr val="E2E8EE"/>
            </a:solidFill>
            <a:prstDash val="solid"/>
          </a:ln>
        </p:spPr>
        <p:txBody>
          <a:bodyPr/>
          <a:lstStyle/>
          <a:p>
            <a:endParaRPr lang="fr-FR"/>
          </a:p>
        </p:txBody>
      </p:sp>
      <p:sp>
        <p:nvSpPr>
          <p:cNvPr id="53" name="Text 51"/>
          <p:cNvSpPr/>
          <p:nvPr/>
        </p:nvSpPr>
        <p:spPr>
          <a:xfrm>
            <a:off x="3240024" y="2382012"/>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1B6EC2"/>
                </a:solidFill>
                <a:latin typeface="Calibri" pitchFamily="34" charset="0"/>
                <a:ea typeface="Calibri" pitchFamily="34" charset="-122"/>
                <a:cs typeface="Calibri" pitchFamily="34" charset="-120"/>
              </a:rPr>
              <a:t>3.1</a:t>
            </a:r>
            <a:endParaRPr lang="en-US" sz="540" dirty="0"/>
          </a:p>
        </p:txBody>
      </p:sp>
      <p:sp>
        <p:nvSpPr>
          <p:cNvPr id="54" name="Text 52"/>
          <p:cNvSpPr/>
          <p:nvPr/>
        </p:nvSpPr>
        <p:spPr>
          <a:xfrm>
            <a:off x="3468624" y="2377440"/>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Socle Next.js et session</a:t>
            </a:r>
            <a:endParaRPr lang="en-US" sz="560" dirty="0"/>
          </a:p>
        </p:txBody>
      </p:sp>
      <p:sp>
        <p:nvSpPr>
          <p:cNvPr id="55" name="Shape 53"/>
          <p:cNvSpPr/>
          <p:nvPr/>
        </p:nvSpPr>
        <p:spPr>
          <a:xfrm>
            <a:off x="3176016" y="2564892"/>
            <a:ext cx="1350264" cy="205740"/>
          </a:xfrm>
          <a:prstGeom prst="rect">
            <a:avLst/>
          </a:prstGeom>
          <a:solidFill>
            <a:srgbClr val="FFFFFF"/>
          </a:solidFill>
          <a:ln w="7620">
            <a:solidFill>
              <a:srgbClr val="E2E8EE"/>
            </a:solidFill>
            <a:prstDash val="solid"/>
          </a:ln>
        </p:spPr>
        <p:txBody>
          <a:bodyPr/>
          <a:lstStyle/>
          <a:p>
            <a:endParaRPr lang="fr-FR"/>
          </a:p>
        </p:txBody>
      </p:sp>
      <p:sp>
        <p:nvSpPr>
          <p:cNvPr id="56" name="Text 54"/>
          <p:cNvSpPr/>
          <p:nvPr/>
        </p:nvSpPr>
        <p:spPr>
          <a:xfrm>
            <a:off x="3240024" y="2606040"/>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1B6EC2"/>
                </a:solidFill>
                <a:latin typeface="Calibri" pitchFamily="34" charset="0"/>
                <a:ea typeface="Calibri" pitchFamily="34" charset="-122"/>
                <a:cs typeface="Calibri" pitchFamily="34" charset="-120"/>
              </a:rPr>
              <a:t>3.2</a:t>
            </a:r>
            <a:endParaRPr lang="en-US" sz="540" dirty="0"/>
          </a:p>
        </p:txBody>
      </p:sp>
      <p:sp>
        <p:nvSpPr>
          <p:cNvPr id="57" name="Text 55"/>
          <p:cNvSpPr/>
          <p:nvPr/>
        </p:nvSpPr>
        <p:spPr>
          <a:xfrm>
            <a:off x="3468624" y="2601468"/>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Connexion et inscription</a:t>
            </a:r>
            <a:endParaRPr lang="en-US" sz="560" dirty="0"/>
          </a:p>
        </p:txBody>
      </p:sp>
      <p:sp>
        <p:nvSpPr>
          <p:cNvPr id="58" name="Shape 56"/>
          <p:cNvSpPr/>
          <p:nvPr/>
        </p:nvSpPr>
        <p:spPr>
          <a:xfrm>
            <a:off x="3176016" y="2788920"/>
            <a:ext cx="1350264" cy="205740"/>
          </a:xfrm>
          <a:prstGeom prst="rect">
            <a:avLst/>
          </a:prstGeom>
          <a:solidFill>
            <a:srgbClr val="FFFFFF"/>
          </a:solidFill>
          <a:ln w="7620">
            <a:solidFill>
              <a:srgbClr val="E2E8EE"/>
            </a:solidFill>
            <a:prstDash val="solid"/>
          </a:ln>
        </p:spPr>
        <p:txBody>
          <a:bodyPr/>
          <a:lstStyle/>
          <a:p>
            <a:endParaRPr lang="fr-FR"/>
          </a:p>
        </p:txBody>
      </p:sp>
      <p:sp>
        <p:nvSpPr>
          <p:cNvPr id="59" name="Text 57"/>
          <p:cNvSpPr/>
          <p:nvPr/>
        </p:nvSpPr>
        <p:spPr>
          <a:xfrm>
            <a:off x="3240024" y="2830068"/>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1B6EC2"/>
                </a:solidFill>
                <a:latin typeface="Calibri" pitchFamily="34" charset="0"/>
                <a:ea typeface="Calibri" pitchFamily="34" charset="-122"/>
                <a:cs typeface="Calibri" pitchFamily="34" charset="-120"/>
              </a:rPr>
              <a:t>3.3</a:t>
            </a:r>
            <a:endParaRPr lang="en-US" sz="540" dirty="0"/>
          </a:p>
        </p:txBody>
      </p:sp>
      <p:sp>
        <p:nvSpPr>
          <p:cNvPr id="60" name="Text 58"/>
          <p:cNvSpPr/>
          <p:nvPr/>
        </p:nvSpPr>
        <p:spPr>
          <a:xfrm>
            <a:off x="3468624" y="2825496"/>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Bibliothèque et visionneuse</a:t>
            </a:r>
            <a:endParaRPr lang="en-US" sz="560" dirty="0"/>
          </a:p>
        </p:txBody>
      </p:sp>
      <p:sp>
        <p:nvSpPr>
          <p:cNvPr id="61" name="Shape 59"/>
          <p:cNvSpPr/>
          <p:nvPr/>
        </p:nvSpPr>
        <p:spPr>
          <a:xfrm>
            <a:off x="3176016" y="3012948"/>
            <a:ext cx="1350264" cy="205740"/>
          </a:xfrm>
          <a:prstGeom prst="rect">
            <a:avLst/>
          </a:prstGeom>
          <a:solidFill>
            <a:srgbClr val="FFFFFF"/>
          </a:solidFill>
          <a:ln w="7620">
            <a:solidFill>
              <a:srgbClr val="E2E8EE"/>
            </a:solidFill>
            <a:prstDash val="solid"/>
          </a:ln>
        </p:spPr>
        <p:txBody>
          <a:bodyPr/>
          <a:lstStyle/>
          <a:p>
            <a:endParaRPr lang="fr-FR"/>
          </a:p>
        </p:txBody>
      </p:sp>
      <p:sp>
        <p:nvSpPr>
          <p:cNvPr id="62" name="Text 60"/>
          <p:cNvSpPr/>
          <p:nvPr/>
        </p:nvSpPr>
        <p:spPr>
          <a:xfrm>
            <a:off x="3240024" y="3054096"/>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1B6EC2"/>
                </a:solidFill>
                <a:latin typeface="Calibri" pitchFamily="34" charset="0"/>
                <a:ea typeface="Calibri" pitchFamily="34" charset="-122"/>
                <a:cs typeface="Calibri" pitchFamily="34" charset="-120"/>
              </a:rPr>
              <a:t>3.4</a:t>
            </a:r>
            <a:endParaRPr lang="en-US" sz="540" dirty="0"/>
          </a:p>
        </p:txBody>
      </p:sp>
      <p:sp>
        <p:nvSpPr>
          <p:cNvPr id="63" name="Text 61"/>
          <p:cNvSpPr/>
          <p:nvPr/>
        </p:nvSpPr>
        <p:spPr>
          <a:xfrm>
            <a:off x="3468624" y="3049524"/>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Vitrine et réglages</a:t>
            </a:r>
            <a:endParaRPr lang="en-US" sz="560" dirty="0"/>
          </a:p>
        </p:txBody>
      </p:sp>
      <p:sp>
        <p:nvSpPr>
          <p:cNvPr id="64" name="Shape 62"/>
          <p:cNvSpPr/>
          <p:nvPr/>
        </p:nvSpPr>
        <p:spPr>
          <a:xfrm>
            <a:off x="3176016" y="3236976"/>
            <a:ext cx="1350264" cy="205740"/>
          </a:xfrm>
          <a:prstGeom prst="rect">
            <a:avLst/>
          </a:prstGeom>
          <a:solidFill>
            <a:srgbClr val="FFFFFF"/>
          </a:solidFill>
          <a:ln w="7620">
            <a:solidFill>
              <a:srgbClr val="E2E8EE"/>
            </a:solidFill>
            <a:prstDash val="solid"/>
          </a:ln>
        </p:spPr>
        <p:txBody>
          <a:bodyPr/>
          <a:lstStyle/>
          <a:p>
            <a:endParaRPr lang="fr-FR"/>
          </a:p>
        </p:txBody>
      </p:sp>
      <p:sp>
        <p:nvSpPr>
          <p:cNvPr id="65" name="Text 63"/>
          <p:cNvSpPr/>
          <p:nvPr/>
        </p:nvSpPr>
        <p:spPr>
          <a:xfrm>
            <a:off x="3240024" y="3278124"/>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1B6EC2"/>
                </a:solidFill>
                <a:latin typeface="Calibri" pitchFamily="34" charset="0"/>
                <a:ea typeface="Calibri" pitchFamily="34" charset="-122"/>
                <a:cs typeface="Calibri" pitchFamily="34" charset="-120"/>
              </a:rPr>
              <a:t>3.5</a:t>
            </a:r>
            <a:endParaRPr lang="en-US" sz="540" dirty="0"/>
          </a:p>
        </p:txBody>
      </p:sp>
      <p:sp>
        <p:nvSpPr>
          <p:cNvPr id="66" name="Text 64"/>
          <p:cNvSpPr/>
          <p:nvPr/>
        </p:nvSpPr>
        <p:spPr>
          <a:xfrm>
            <a:off x="3468624" y="3273552"/>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Site vitrine statique</a:t>
            </a:r>
            <a:endParaRPr lang="en-US" sz="560" dirty="0"/>
          </a:p>
        </p:txBody>
      </p:sp>
      <p:sp>
        <p:nvSpPr>
          <p:cNvPr id="67" name="Shape 65"/>
          <p:cNvSpPr/>
          <p:nvPr/>
        </p:nvSpPr>
        <p:spPr>
          <a:xfrm>
            <a:off x="4617720" y="1828800"/>
            <a:ext cx="1350264" cy="347472"/>
          </a:xfrm>
          <a:prstGeom prst="rect">
            <a:avLst/>
          </a:prstGeom>
          <a:solidFill>
            <a:srgbClr val="6B3FD4"/>
          </a:solidFill>
          <a:ln/>
        </p:spPr>
        <p:txBody>
          <a:bodyPr/>
          <a:lstStyle/>
          <a:p>
            <a:endParaRPr lang="fr-FR"/>
          </a:p>
        </p:txBody>
      </p:sp>
      <p:sp>
        <p:nvSpPr>
          <p:cNvPr id="68" name="Text 66"/>
          <p:cNvSpPr/>
          <p:nvPr/>
        </p:nvSpPr>
        <p:spPr>
          <a:xfrm>
            <a:off x="4681728" y="1874520"/>
            <a:ext cx="182880" cy="182880"/>
          </a:xfrm>
          <a:prstGeom prst="rect">
            <a:avLst/>
          </a:prstGeom>
          <a:noFill/>
          <a:ln/>
        </p:spPr>
        <p:txBody>
          <a:bodyPr wrap="square" lIns="0" tIns="0" rIns="0" bIns="0" rtlCol="0" anchor="ctr"/>
          <a:lstStyle/>
          <a:p>
            <a:pPr marL="0" indent="0" algn="l">
              <a:lnSpc>
                <a:spcPct val="106000"/>
              </a:lnSpc>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69" name="Text 67"/>
          <p:cNvSpPr/>
          <p:nvPr/>
        </p:nvSpPr>
        <p:spPr>
          <a:xfrm>
            <a:off x="4873752" y="1865376"/>
            <a:ext cx="1021080" cy="292608"/>
          </a:xfrm>
          <a:prstGeom prst="rect">
            <a:avLst/>
          </a:prstGeom>
          <a:noFill/>
          <a:ln/>
        </p:spPr>
        <p:txBody>
          <a:bodyPr wrap="square" lIns="0" tIns="0" rIns="0" bIns="0" rtlCol="0" anchor="ctr"/>
          <a:lstStyle/>
          <a:p>
            <a:pPr marL="0" indent="0" algn="l">
              <a:lnSpc>
                <a:spcPct val="106000"/>
              </a:lnSpc>
              <a:buNone/>
            </a:pPr>
            <a:r>
              <a:rPr lang="en-US" sz="620" b="1" dirty="0">
                <a:solidFill>
                  <a:srgbClr val="FFFFFF"/>
                </a:solidFill>
                <a:latin typeface="Calibri" pitchFamily="34" charset="0"/>
                <a:ea typeface="Calibri" pitchFamily="34" charset="-122"/>
                <a:cs typeface="Calibri" pitchFamily="34" charset="-120"/>
              </a:rPr>
              <a:t>Infrastructure &amp; livraison</a:t>
            </a:r>
            <a:endParaRPr lang="en-US" sz="620" dirty="0"/>
          </a:p>
        </p:txBody>
      </p:sp>
      <p:sp>
        <p:nvSpPr>
          <p:cNvPr id="70" name="Text 68"/>
          <p:cNvSpPr/>
          <p:nvPr/>
        </p:nvSpPr>
        <p:spPr>
          <a:xfrm>
            <a:off x="4681728" y="2194560"/>
            <a:ext cx="1222248" cy="118872"/>
          </a:xfrm>
          <a:prstGeom prst="rect">
            <a:avLst/>
          </a:prstGeom>
          <a:noFill/>
          <a:ln/>
        </p:spPr>
        <p:txBody>
          <a:bodyPr wrap="square" lIns="0" tIns="0" rIns="0" bIns="0" rtlCol="0" anchor="ctr"/>
          <a:lstStyle/>
          <a:p>
            <a:pPr marL="0" indent="0" algn="l">
              <a:lnSpc>
                <a:spcPct val="106000"/>
              </a:lnSpc>
              <a:buNone/>
            </a:pPr>
            <a:r>
              <a:rPr lang="en-US" sz="480" b="1" dirty="0">
                <a:solidFill>
                  <a:srgbClr val="8FA6BC"/>
                </a:solidFill>
                <a:latin typeface="Calibri" pitchFamily="34" charset="0"/>
                <a:ea typeface="Calibri" pitchFamily="34" charset="-122"/>
                <a:cs typeface="Calibri" pitchFamily="34" charset="-120"/>
              </a:rPr>
              <a:t>6 lots de travail</a:t>
            </a:r>
            <a:endParaRPr lang="en-US" sz="480" dirty="0"/>
          </a:p>
        </p:txBody>
      </p:sp>
      <p:sp>
        <p:nvSpPr>
          <p:cNvPr id="71" name="Shape 69"/>
          <p:cNvSpPr/>
          <p:nvPr/>
        </p:nvSpPr>
        <p:spPr>
          <a:xfrm>
            <a:off x="4617720" y="2340864"/>
            <a:ext cx="1350264" cy="205740"/>
          </a:xfrm>
          <a:prstGeom prst="rect">
            <a:avLst/>
          </a:prstGeom>
          <a:solidFill>
            <a:srgbClr val="FFFFFF"/>
          </a:solidFill>
          <a:ln w="7620">
            <a:solidFill>
              <a:srgbClr val="E2E8EE"/>
            </a:solidFill>
            <a:prstDash val="solid"/>
          </a:ln>
        </p:spPr>
        <p:txBody>
          <a:bodyPr/>
          <a:lstStyle/>
          <a:p>
            <a:endParaRPr lang="fr-FR"/>
          </a:p>
        </p:txBody>
      </p:sp>
      <p:sp>
        <p:nvSpPr>
          <p:cNvPr id="72" name="Text 70"/>
          <p:cNvSpPr/>
          <p:nvPr/>
        </p:nvSpPr>
        <p:spPr>
          <a:xfrm>
            <a:off x="4681728" y="2382012"/>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6B3FD4"/>
                </a:solidFill>
                <a:latin typeface="Calibri" pitchFamily="34" charset="0"/>
                <a:ea typeface="Calibri" pitchFamily="34" charset="-122"/>
                <a:cs typeface="Calibri" pitchFamily="34" charset="-120"/>
              </a:rPr>
              <a:t>4.1</a:t>
            </a:r>
            <a:endParaRPr lang="en-US" sz="540" dirty="0"/>
          </a:p>
        </p:txBody>
      </p:sp>
      <p:sp>
        <p:nvSpPr>
          <p:cNvPr id="73" name="Text 71"/>
          <p:cNvSpPr/>
          <p:nvPr/>
        </p:nvSpPr>
        <p:spPr>
          <a:xfrm>
            <a:off x="4910328" y="2377440"/>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Terraform : Hetzner, réseau</a:t>
            </a:r>
            <a:endParaRPr lang="en-US" sz="560" dirty="0"/>
          </a:p>
        </p:txBody>
      </p:sp>
      <p:sp>
        <p:nvSpPr>
          <p:cNvPr id="74" name="Shape 72"/>
          <p:cNvSpPr/>
          <p:nvPr/>
        </p:nvSpPr>
        <p:spPr>
          <a:xfrm>
            <a:off x="4617720" y="2564892"/>
            <a:ext cx="1350264" cy="205740"/>
          </a:xfrm>
          <a:prstGeom prst="rect">
            <a:avLst/>
          </a:prstGeom>
          <a:solidFill>
            <a:srgbClr val="FFFFFF"/>
          </a:solidFill>
          <a:ln w="7620">
            <a:solidFill>
              <a:srgbClr val="E2E8EE"/>
            </a:solidFill>
            <a:prstDash val="solid"/>
          </a:ln>
        </p:spPr>
        <p:txBody>
          <a:bodyPr/>
          <a:lstStyle/>
          <a:p>
            <a:endParaRPr lang="fr-FR"/>
          </a:p>
        </p:txBody>
      </p:sp>
      <p:sp>
        <p:nvSpPr>
          <p:cNvPr id="75" name="Text 73"/>
          <p:cNvSpPr/>
          <p:nvPr/>
        </p:nvSpPr>
        <p:spPr>
          <a:xfrm>
            <a:off x="4681728" y="2606040"/>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6B3FD4"/>
                </a:solidFill>
                <a:latin typeface="Calibri" pitchFamily="34" charset="0"/>
                <a:ea typeface="Calibri" pitchFamily="34" charset="-122"/>
                <a:cs typeface="Calibri" pitchFamily="34" charset="-120"/>
              </a:rPr>
              <a:t>4.2</a:t>
            </a:r>
            <a:endParaRPr lang="en-US" sz="540" dirty="0"/>
          </a:p>
        </p:txBody>
      </p:sp>
      <p:sp>
        <p:nvSpPr>
          <p:cNvPr id="76" name="Text 74"/>
          <p:cNvSpPr/>
          <p:nvPr/>
        </p:nvSpPr>
        <p:spPr>
          <a:xfrm>
            <a:off x="4910328" y="2601468"/>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Terraform : AWS, CDN</a:t>
            </a:r>
            <a:endParaRPr lang="en-US" sz="560" dirty="0"/>
          </a:p>
        </p:txBody>
      </p:sp>
      <p:sp>
        <p:nvSpPr>
          <p:cNvPr id="77" name="Shape 75"/>
          <p:cNvSpPr/>
          <p:nvPr/>
        </p:nvSpPr>
        <p:spPr>
          <a:xfrm>
            <a:off x="4617720" y="2788920"/>
            <a:ext cx="1350264" cy="205740"/>
          </a:xfrm>
          <a:prstGeom prst="rect">
            <a:avLst/>
          </a:prstGeom>
          <a:solidFill>
            <a:srgbClr val="FFFFFF"/>
          </a:solidFill>
          <a:ln w="7620">
            <a:solidFill>
              <a:srgbClr val="E2E8EE"/>
            </a:solidFill>
            <a:prstDash val="solid"/>
          </a:ln>
        </p:spPr>
        <p:txBody>
          <a:bodyPr/>
          <a:lstStyle/>
          <a:p>
            <a:endParaRPr lang="fr-FR"/>
          </a:p>
        </p:txBody>
      </p:sp>
      <p:sp>
        <p:nvSpPr>
          <p:cNvPr id="78" name="Text 76"/>
          <p:cNvSpPr/>
          <p:nvPr/>
        </p:nvSpPr>
        <p:spPr>
          <a:xfrm>
            <a:off x="4681728" y="2830068"/>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6B3FD4"/>
                </a:solidFill>
                <a:latin typeface="Calibri" pitchFamily="34" charset="0"/>
                <a:ea typeface="Calibri" pitchFamily="34" charset="-122"/>
                <a:cs typeface="Calibri" pitchFamily="34" charset="-120"/>
              </a:rPr>
              <a:t>4.3</a:t>
            </a:r>
            <a:endParaRPr lang="en-US" sz="540" dirty="0"/>
          </a:p>
        </p:txBody>
      </p:sp>
      <p:sp>
        <p:nvSpPr>
          <p:cNvPr id="79" name="Text 77"/>
          <p:cNvSpPr/>
          <p:nvPr/>
        </p:nvSpPr>
        <p:spPr>
          <a:xfrm>
            <a:off x="4910328" y="2825496"/>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Terraform : Cloudflare, TLS</a:t>
            </a:r>
            <a:endParaRPr lang="en-US" sz="560" dirty="0"/>
          </a:p>
        </p:txBody>
      </p:sp>
      <p:sp>
        <p:nvSpPr>
          <p:cNvPr id="80" name="Shape 78"/>
          <p:cNvSpPr/>
          <p:nvPr/>
        </p:nvSpPr>
        <p:spPr>
          <a:xfrm>
            <a:off x="4617720" y="3012948"/>
            <a:ext cx="1350264" cy="205740"/>
          </a:xfrm>
          <a:prstGeom prst="rect">
            <a:avLst/>
          </a:prstGeom>
          <a:solidFill>
            <a:srgbClr val="FFFFFF"/>
          </a:solidFill>
          <a:ln w="7620">
            <a:solidFill>
              <a:srgbClr val="E2E8EE"/>
            </a:solidFill>
            <a:prstDash val="solid"/>
          </a:ln>
        </p:spPr>
        <p:txBody>
          <a:bodyPr/>
          <a:lstStyle/>
          <a:p>
            <a:endParaRPr lang="fr-FR"/>
          </a:p>
        </p:txBody>
      </p:sp>
      <p:sp>
        <p:nvSpPr>
          <p:cNvPr id="81" name="Text 79"/>
          <p:cNvSpPr/>
          <p:nvPr/>
        </p:nvSpPr>
        <p:spPr>
          <a:xfrm>
            <a:off x="4681728" y="3054096"/>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6B3FD4"/>
                </a:solidFill>
                <a:latin typeface="Calibri" pitchFamily="34" charset="0"/>
                <a:ea typeface="Calibri" pitchFamily="34" charset="-122"/>
                <a:cs typeface="Calibri" pitchFamily="34" charset="-120"/>
              </a:rPr>
              <a:t>4.4</a:t>
            </a:r>
            <a:endParaRPr lang="en-US" sz="540" dirty="0"/>
          </a:p>
        </p:txBody>
      </p:sp>
      <p:sp>
        <p:nvSpPr>
          <p:cNvPr id="82" name="Text 80"/>
          <p:cNvSpPr/>
          <p:nvPr/>
        </p:nvSpPr>
        <p:spPr>
          <a:xfrm>
            <a:off x="4910328" y="3049524"/>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Ansible : provisionnement</a:t>
            </a:r>
            <a:endParaRPr lang="en-US" sz="560" dirty="0"/>
          </a:p>
        </p:txBody>
      </p:sp>
      <p:sp>
        <p:nvSpPr>
          <p:cNvPr id="83" name="Shape 81"/>
          <p:cNvSpPr/>
          <p:nvPr/>
        </p:nvSpPr>
        <p:spPr>
          <a:xfrm>
            <a:off x="4617720" y="3236976"/>
            <a:ext cx="1350264" cy="205740"/>
          </a:xfrm>
          <a:prstGeom prst="rect">
            <a:avLst/>
          </a:prstGeom>
          <a:solidFill>
            <a:srgbClr val="FFFFFF"/>
          </a:solidFill>
          <a:ln w="7620">
            <a:solidFill>
              <a:srgbClr val="E2E8EE"/>
            </a:solidFill>
            <a:prstDash val="solid"/>
          </a:ln>
        </p:spPr>
        <p:txBody>
          <a:bodyPr/>
          <a:lstStyle/>
          <a:p>
            <a:endParaRPr lang="fr-FR"/>
          </a:p>
        </p:txBody>
      </p:sp>
      <p:sp>
        <p:nvSpPr>
          <p:cNvPr id="84" name="Text 82"/>
          <p:cNvSpPr/>
          <p:nvPr/>
        </p:nvSpPr>
        <p:spPr>
          <a:xfrm>
            <a:off x="4681728" y="3278124"/>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6B3FD4"/>
                </a:solidFill>
                <a:latin typeface="Calibri" pitchFamily="34" charset="0"/>
                <a:ea typeface="Calibri" pitchFamily="34" charset="-122"/>
                <a:cs typeface="Calibri" pitchFamily="34" charset="-120"/>
              </a:rPr>
              <a:t>4.5</a:t>
            </a:r>
            <a:endParaRPr lang="en-US" sz="540" dirty="0"/>
          </a:p>
        </p:txBody>
      </p:sp>
      <p:sp>
        <p:nvSpPr>
          <p:cNvPr id="85" name="Text 83"/>
          <p:cNvSpPr/>
          <p:nvPr/>
        </p:nvSpPr>
        <p:spPr>
          <a:xfrm>
            <a:off x="4910328" y="3273552"/>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Ansible : déploiement</a:t>
            </a:r>
            <a:endParaRPr lang="en-US" sz="560" dirty="0"/>
          </a:p>
        </p:txBody>
      </p:sp>
      <p:sp>
        <p:nvSpPr>
          <p:cNvPr id="86" name="Shape 84"/>
          <p:cNvSpPr/>
          <p:nvPr/>
        </p:nvSpPr>
        <p:spPr>
          <a:xfrm>
            <a:off x="4617720" y="3461004"/>
            <a:ext cx="1350264" cy="205740"/>
          </a:xfrm>
          <a:prstGeom prst="rect">
            <a:avLst/>
          </a:prstGeom>
          <a:solidFill>
            <a:srgbClr val="FFFFFF"/>
          </a:solidFill>
          <a:ln w="7620">
            <a:solidFill>
              <a:srgbClr val="E2E8EE"/>
            </a:solidFill>
            <a:prstDash val="solid"/>
          </a:ln>
        </p:spPr>
        <p:txBody>
          <a:bodyPr/>
          <a:lstStyle/>
          <a:p>
            <a:endParaRPr lang="fr-FR"/>
          </a:p>
        </p:txBody>
      </p:sp>
      <p:sp>
        <p:nvSpPr>
          <p:cNvPr id="87" name="Text 85"/>
          <p:cNvSpPr/>
          <p:nvPr/>
        </p:nvSpPr>
        <p:spPr>
          <a:xfrm>
            <a:off x="4681728" y="3502152"/>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6B3FD4"/>
                </a:solidFill>
                <a:latin typeface="Calibri" pitchFamily="34" charset="0"/>
                <a:ea typeface="Calibri" pitchFamily="34" charset="-122"/>
                <a:cs typeface="Calibri" pitchFamily="34" charset="-120"/>
              </a:rPr>
              <a:t>4.6</a:t>
            </a:r>
            <a:endParaRPr lang="en-US" sz="540" dirty="0"/>
          </a:p>
        </p:txBody>
      </p:sp>
      <p:sp>
        <p:nvSpPr>
          <p:cNvPr id="88" name="Text 86"/>
          <p:cNvSpPr/>
          <p:nvPr/>
        </p:nvSpPr>
        <p:spPr>
          <a:xfrm>
            <a:off x="4910328" y="3497580"/>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Chaînes d'intégration continue</a:t>
            </a:r>
            <a:endParaRPr lang="en-US" sz="560" dirty="0"/>
          </a:p>
        </p:txBody>
      </p:sp>
      <p:sp>
        <p:nvSpPr>
          <p:cNvPr id="89" name="Shape 87"/>
          <p:cNvSpPr/>
          <p:nvPr/>
        </p:nvSpPr>
        <p:spPr>
          <a:xfrm>
            <a:off x="6059424" y="1828800"/>
            <a:ext cx="1350264" cy="347472"/>
          </a:xfrm>
          <a:prstGeom prst="rect">
            <a:avLst/>
          </a:prstGeom>
          <a:solidFill>
            <a:srgbClr val="B03A48"/>
          </a:solidFill>
          <a:ln/>
        </p:spPr>
        <p:txBody>
          <a:bodyPr/>
          <a:lstStyle/>
          <a:p>
            <a:endParaRPr lang="fr-FR"/>
          </a:p>
        </p:txBody>
      </p:sp>
      <p:sp>
        <p:nvSpPr>
          <p:cNvPr id="90" name="Text 88"/>
          <p:cNvSpPr/>
          <p:nvPr/>
        </p:nvSpPr>
        <p:spPr>
          <a:xfrm>
            <a:off x="6123432" y="1874520"/>
            <a:ext cx="182880" cy="182880"/>
          </a:xfrm>
          <a:prstGeom prst="rect">
            <a:avLst/>
          </a:prstGeom>
          <a:noFill/>
          <a:ln/>
        </p:spPr>
        <p:txBody>
          <a:bodyPr wrap="square" lIns="0" tIns="0" rIns="0" bIns="0" rtlCol="0" anchor="ctr"/>
          <a:lstStyle/>
          <a:p>
            <a:pPr marL="0" indent="0" algn="l">
              <a:lnSpc>
                <a:spcPct val="106000"/>
              </a:lnSpc>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91" name="Text 89"/>
          <p:cNvSpPr/>
          <p:nvPr/>
        </p:nvSpPr>
        <p:spPr>
          <a:xfrm>
            <a:off x="6315456" y="1865376"/>
            <a:ext cx="1021080" cy="292608"/>
          </a:xfrm>
          <a:prstGeom prst="rect">
            <a:avLst/>
          </a:prstGeom>
          <a:noFill/>
          <a:ln/>
        </p:spPr>
        <p:txBody>
          <a:bodyPr wrap="square" lIns="0" tIns="0" rIns="0" bIns="0" rtlCol="0" anchor="ctr"/>
          <a:lstStyle/>
          <a:p>
            <a:pPr marL="0" indent="0" algn="l">
              <a:lnSpc>
                <a:spcPct val="106000"/>
              </a:lnSpc>
              <a:buNone/>
            </a:pPr>
            <a:r>
              <a:rPr lang="en-US" sz="620" b="1" dirty="0">
                <a:solidFill>
                  <a:srgbClr val="FFFFFF"/>
                </a:solidFill>
                <a:latin typeface="Calibri" pitchFamily="34" charset="0"/>
                <a:ea typeface="Calibri" pitchFamily="34" charset="-122"/>
                <a:cs typeface="Calibri" pitchFamily="34" charset="-120"/>
              </a:rPr>
              <a:t>Exploitation et sécurité</a:t>
            </a:r>
            <a:endParaRPr lang="en-US" sz="620" dirty="0"/>
          </a:p>
        </p:txBody>
      </p:sp>
      <p:sp>
        <p:nvSpPr>
          <p:cNvPr id="92" name="Text 90"/>
          <p:cNvSpPr/>
          <p:nvPr/>
        </p:nvSpPr>
        <p:spPr>
          <a:xfrm>
            <a:off x="6123432" y="2194560"/>
            <a:ext cx="1222248" cy="118872"/>
          </a:xfrm>
          <a:prstGeom prst="rect">
            <a:avLst/>
          </a:prstGeom>
          <a:noFill/>
          <a:ln/>
        </p:spPr>
        <p:txBody>
          <a:bodyPr wrap="square" lIns="0" tIns="0" rIns="0" bIns="0" rtlCol="0" anchor="ctr"/>
          <a:lstStyle/>
          <a:p>
            <a:pPr marL="0" indent="0" algn="l">
              <a:lnSpc>
                <a:spcPct val="106000"/>
              </a:lnSpc>
              <a:buNone/>
            </a:pPr>
            <a:r>
              <a:rPr lang="en-US" sz="480" b="1" dirty="0">
                <a:solidFill>
                  <a:srgbClr val="8FA6BC"/>
                </a:solidFill>
                <a:latin typeface="Calibri" pitchFamily="34" charset="0"/>
                <a:ea typeface="Calibri" pitchFamily="34" charset="-122"/>
                <a:cs typeface="Calibri" pitchFamily="34" charset="-120"/>
              </a:rPr>
              <a:t>6 lots de travail</a:t>
            </a:r>
            <a:endParaRPr lang="en-US" sz="480" dirty="0"/>
          </a:p>
        </p:txBody>
      </p:sp>
      <p:sp>
        <p:nvSpPr>
          <p:cNvPr id="93" name="Shape 91"/>
          <p:cNvSpPr/>
          <p:nvPr/>
        </p:nvSpPr>
        <p:spPr>
          <a:xfrm>
            <a:off x="6059424" y="2340864"/>
            <a:ext cx="1350264" cy="205740"/>
          </a:xfrm>
          <a:prstGeom prst="rect">
            <a:avLst/>
          </a:prstGeom>
          <a:solidFill>
            <a:srgbClr val="FFFFFF"/>
          </a:solidFill>
          <a:ln w="7620">
            <a:solidFill>
              <a:srgbClr val="E2E8EE"/>
            </a:solidFill>
            <a:prstDash val="solid"/>
          </a:ln>
        </p:spPr>
        <p:txBody>
          <a:bodyPr/>
          <a:lstStyle/>
          <a:p>
            <a:endParaRPr lang="fr-FR"/>
          </a:p>
        </p:txBody>
      </p:sp>
      <p:sp>
        <p:nvSpPr>
          <p:cNvPr id="94" name="Text 92"/>
          <p:cNvSpPr/>
          <p:nvPr/>
        </p:nvSpPr>
        <p:spPr>
          <a:xfrm>
            <a:off x="6123432" y="2382012"/>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B03A48"/>
                </a:solidFill>
                <a:latin typeface="Calibri" pitchFamily="34" charset="0"/>
                <a:ea typeface="Calibri" pitchFamily="34" charset="-122"/>
                <a:cs typeface="Calibri" pitchFamily="34" charset="-120"/>
              </a:rPr>
              <a:t>5.1</a:t>
            </a:r>
            <a:endParaRPr lang="en-US" sz="540" dirty="0"/>
          </a:p>
        </p:txBody>
      </p:sp>
      <p:sp>
        <p:nvSpPr>
          <p:cNvPr id="95" name="Text 93"/>
          <p:cNvSpPr/>
          <p:nvPr/>
        </p:nvSpPr>
        <p:spPr>
          <a:xfrm>
            <a:off x="6352032" y="2377440"/>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Images et stack Swarm</a:t>
            </a:r>
            <a:endParaRPr lang="en-US" sz="560" dirty="0"/>
          </a:p>
        </p:txBody>
      </p:sp>
      <p:sp>
        <p:nvSpPr>
          <p:cNvPr id="96" name="Shape 94"/>
          <p:cNvSpPr/>
          <p:nvPr/>
        </p:nvSpPr>
        <p:spPr>
          <a:xfrm>
            <a:off x="6059424" y="2564892"/>
            <a:ext cx="1350264" cy="205740"/>
          </a:xfrm>
          <a:prstGeom prst="rect">
            <a:avLst/>
          </a:prstGeom>
          <a:solidFill>
            <a:srgbClr val="FFFFFF"/>
          </a:solidFill>
          <a:ln w="7620">
            <a:solidFill>
              <a:srgbClr val="E2E8EE"/>
            </a:solidFill>
            <a:prstDash val="solid"/>
          </a:ln>
        </p:spPr>
        <p:txBody>
          <a:bodyPr/>
          <a:lstStyle/>
          <a:p>
            <a:endParaRPr lang="fr-FR"/>
          </a:p>
        </p:txBody>
      </p:sp>
      <p:sp>
        <p:nvSpPr>
          <p:cNvPr id="97" name="Text 95"/>
          <p:cNvSpPr/>
          <p:nvPr/>
        </p:nvSpPr>
        <p:spPr>
          <a:xfrm>
            <a:off x="6123432" y="2606040"/>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B03A48"/>
                </a:solidFill>
                <a:latin typeface="Calibri" pitchFamily="34" charset="0"/>
                <a:ea typeface="Calibri" pitchFamily="34" charset="-122"/>
                <a:cs typeface="Calibri" pitchFamily="34" charset="-120"/>
              </a:rPr>
              <a:t>5.2</a:t>
            </a:r>
            <a:endParaRPr lang="en-US" sz="540" dirty="0"/>
          </a:p>
        </p:txBody>
      </p:sp>
      <p:sp>
        <p:nvSpPr>
          <p:cNvPr id="98" name="Text 96"/>
          <p:cNvSpPr/>
          <p:nvPr/>
        </p:nvSpPr>
        <p:spPr>
          <a:xfrm>
            <a:off x="6352032" y="2601468"/>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Segmentation réseau</a:t>
            </a:r>
            <a:endParaRPr lang="en-US" sz="560" dirty="0"/>
          </a:p>
        </p:txBody>
      </p:sp>
      <p:sp>
        <p:nvSpPr>
          <p:cNvPr id="99" name="Shape 97"/>
          <p:cNvSpPr/>
          <p:nvPr/>
        </p:nvSpPr>
        <p:spPr>
          <a:xfrm>
            <a:off x="6059424" y="2788920"/>
            <a:ext cx="1350264" cy="205740"/>
          </a:xfrm>
          <a:prstGeom prst="rect">
            <a:avLst/>
          </a:prstGeom>
          <a:solidFill>
            <a:srgbClr val="FFFFFF"/>
          </a:solidFill>
          <a:ln w="7620">
            <a:solidFill>
              <a:srgbClr val="E2E8EE"/>
            </a:solidFill>
            <a:prstDash val="solid"/>
          </a:ln>
        </p:spPr>
        <p:txBody>
          <a:bodyPr/>
          <a:lstStyle/>
          <a:p>
            <a:endParaRPr lang="fr-FR"/>
          </a:p>
        </p:txBody>
      </p:sp>
      <p:sp>
        <p:nvSpPr>
          <p:cNvPr id="100" name="Text 98"/>
          <p:cNvSpPr/>
          <p:nvPr/>
        </p:nvSpPr>
        <p:spPr>
          <a:xfrm>
            <a:off x="6123432" y="2830068"/>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B03A48"/>
                </a:solidFill>
                <a:latin typeface="Calibri" pitchFamily="34" charset="0"/>
                <a:ea typeface="Calibri" pitchFamily="34" charset="-122"/>
                <a:cs typeface="Calibri" pitchFamily="34" charset="-120"/>
              </a:rPr>
              <a:t>5.3</a:t>
            </a:r>
            <a:endParaRPr lang="en-US" sz="540" dirty="0"/>
          </a:p>
        </p:txBody>
      </p:sp>
      <p:sp>
        <p:nvSpPr>
          <p:cNvPr id="101" name="Text 99"/>
          <p:cNvSpPr/>
          <p:nvPr/>
        </p:nvSpPr>
        <p:spPr>
          <a:xfrm>
            <a:off x="6352032" y="2825496"/>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Supervision et journaux</a:t>
            </a:r>
            <a:endParaRPr lang="en-US" sz="560" dirty="0"/>
          </a:p>
        </p:txBody>
      </p:sp>
      <p:sp>
        <p:nvSpPr>
          <p:cNvPr id="102" name="Shape 100"/>
          <p:cNvSpPr/>
          <p:nvPr/>
        </p:nvSpPr>
        <p:spPr>
          <a:xfrm>
            <a:off x="6059424" y="3012948"/>
            <a:ext cx="1350264" cy="205740"/>
          </a:xfrm>
          <a:prstGeom prst="rect">
            <a:avLst/>
          </a:prstGeom>
          <a:solidFill>
            <a:srgbClr val="FFFFFF"/>
          </a:solidFill>
          <a:ln w="7620">
            <a:solidFill>
              <a:srgbClr val="E2E8EE"/>
            </a:solidFill>
            <a:prstDash val="solid"/>
          </a:ln>
        </p:spPr>
        <p:txBody>
          <a:bodyPr/>
          <a:lstStyle/>
          <a:p>
            <a:endParaRPr lang="fr-FR"/>
          </a:p>
        </p:txBody>
      </p:sp>
      <p:sp>
        <p:nvSpPr>
          <p:cNvPr id="103" name="Text 101"/>
          <p:cNvSpPr/>
          <p:nvPr/>
        </p:nvSpPr>
        <p:spPr>
          <a:xfrm>
            <a:off x="6123432" y="3054096"/>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B03A48"/>
                </a:solidFill>
                <a:latin typeface="Calibri" pitchFamily="34" charset="0"/>
                <a:ea typeface="Calibri" pitchFamily="34" charset="-122"/>
                <a:cs typeface="Calibri" pitchFamily="34" charset="-120"/>
              </a:rPr>
              <a:t>5.4</a:t>
            </a:r>
            <a:endParaRPr lang="en-US" sz="540" dirty="0"/>
          </a:p>
        </p:txBody>
      </p:sp>
      <p:sp>
        <p:nvSpPr>
          <p:cNvPr id="104" name="Text 102"/>
          <p:cNvSpPr/>
          <p:nvPr/>
        </p:nvSpPr>
        <p:spPr>
          <a:xfrm>
            <a:off x="6352032" y="3049524"/>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Alertes et tableaux de bord</a:t>
            </a:r>
            <a:endParaRPr lang="en-US" sz="560" dirty="0"/>
          </a:p>
        </p:txBody>
      </p:sp>
      <p:sp>
        <p:nvSpPr>
          <p:cNvPr id="105" name="Shape 103"/>
          <p:cNvSpPr/>
          <p:nvPr/>
        </p:nvSpPr>
        <p:spPr>
          <a:xfrm>
            <a:off x="6059424" y="3236976"/>
            <a:ext cx="1350264" cy="205740"/>
          </a:xfrm>
          <a:prstGeom prst="rect">
            <a:avLst/>
          </a:prstGeom>
          <a:solidFill>
            <a:srgbClr val="FFFFFF"/>
          </a:solidFill>
          <a:ln w="7620">
            <a:solidFill>
              <a:srgbClr val="E2E8EE"/>
            </a:solidFill>
            <a:prstDash val="solid"/>
          </a:ln>
        </p:spPr>
        <p:txBody>
          <a:bodyPr/>
          <a:lstStyle/>
          <a:p>
            <a:endParaRPr lang="fr-FR"/>
          </a:p>
        </p:txBody>
      </p:sp>
      <p:sp>
        <p:nvSpPr>
          <p:cNvPr id="106" name="Text 104"/>
          <p:cNvSpPr/>
          <p:nvPr/>
        </p:nvSpPr>
        <p:spPr>
          <a:xfrm>
            <a:off x="6123432" y="3278124"/>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B03A48"/>
                </a:solidFill>
                <a:latin typeface="Calibri" pitchFamily="34" charset="0"/>
                <a:ea typeface="Calibri" pitchFamily="34" charset="-122"/>
                <a:cs typeface="Calibri" pitchFamily="34" charset="-120"/>
              </a:rPr>
              <a:t>5.5</a:t>
            </a:r>
            <a:endParaRPr lang="en-US" sz="540" dirty="0"/>
          </a:p>
        </p:txBody>
      </p:sp>
      <p:sp>
        <p:nvSpPr>
          <p:cNvPr id="107" name="Text 105"/>
          <p:cNvSpPr/>
          <p:nvPr/>
        </p:nvSpPr>
        <p:spPr>
          <a:xfrm>
            <a:off x="6352032" y="3273552"/>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Sauvegardes et restauration</a:t>
            </a:r>
            <a:endParaRPr lang="en-US" sz="560" dirty="0"/>
          </a:p>
        </p:txBody>
      </p:sp>
      <p:sp>
        <p:nvSpPr>
          <p:cNvPr id="108" name="Shape 106"/>
          <p:cNvSpPr/>
          <p:nvPr/>
        </p:nvSpPr>
        <p:spPr>
          <a:xfrm>
            <a:off x="6059424" y="3461004"/>
            <a:ext cx="1350264" cy="205740"/>
          </a:xfrm>
          <a:prstGeom prst="rect">
            <a:avLst/>
          </a:prstGeom>
          <a:solidFill>
            <a:srgbClr val="FFFFFF"/>
          </a:solidFill>
          <a:ln w="7620">
            <a:solidFill>
              <a:srgbClr val="E2E8EE"/>
            </a:solidFill>
            <a:prstDash val="solid"/>
          </a:ln>
        </p:spPr>
        <p:txBody>
          <a:bodyPr/>
          <a:lstStyle/>
          <a:p>
            <a:endParaRPr lang="fr-FR"/>
          </a:p>
        </p:txBody>
      </p:sp>
      <p:sp>
        <p:nvSpPr>
          <p:cNvPr id="109" name="Text 107"/>
          <p:cNvSpPr/>
          <p:nvPr/>
        </p:nvSpPr>
        <p:spPr>
          <a:xfrm>
            <a:off x="6123432" y="3502152"/>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B03A48"/>
                </a:solidFill>
                <a:latin typeface="Calibri" pitchFamily="34" charset="0"/>
                <a:ea typeface="Calibri" pitchFamily="34" charset="-122"/>
                <a:cs typeface="Calibri" pitchFamily="34" charset="-120"/>
              </a:rPr>
              <a:t>5.6</a:t>
            </a:r>
            <a:endParaRPr lang="en-US" sz="540" dirty="0"/>
          </a:p>
        </p:txBody>
      </p:sp>
      <p:sp>
        <p:nvSpPr>
          <p:cNvPr id="110" name="Text 108"/>
          <p:cNvSpPr/>
          <p:nvPr/>
        </p:nvSpPr>
        <p:spPr>
          <a:xfrm>
            <a:off x="6352032" y="3497580"/>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Durcissement et RGPD</a:t>
            </a:r>
            <a:endParaRPr lang="en-US" sz="560" dirty="0"/>
          </a:p>
        </p:txBody>
      </p:sp>
      <p:sp>
        <p:nvSpPr>
          <p:cNvPr id="111" name="Shape 109"/>
          <p:cNvSpPr/>
          <p:nvPr/>
        </p:nvSpPr>
        <p:spPr>
          <a:xfrm>
            <a:off x="7501128" y="1828800"/>
            <a:ext cx="1350264" cy="347472"/>
          </a:xfrm>
          <a:prstGeom prst="rect">
            <a:avLst/>
          </a:prstGeom>
          <a:solidFill>
            <a:srgbClr val="4A5769"/>
          </a:solidFill>
          <a:ln/>
        </p:spPr>
        <p:txBody>
          <a:bodyPr/>
          <a:lstStyle/>
          <a:p>
            <a:endParaRPr lang="fr-FR"/>
          </a:p>
        </p:txBody>
      </p:sp>
      <p:sp>
        <p:nvSpPr>
          <p:cNvPr id="112" name="Text 110"/>
          <p:cNvSpPr/>
          <p:nvPr/>
        </p:nvSpPr>
        <p:spPr>
          <a:xfrm>
            <a:off x="7565136" y="1874520"/>
            <a:ext cx="182880" cy="182880"/>
          </a:xfrm>
          <a:prstGeom prst="rect">
            <a:avLst/>
          </a:prstGeom>
          <a:noFill/>
          <a:ln/>
        </p:spPr>
        <p:txBody>
          <a:bodyPr wrap="square" lIns="0" tIns="0" rIns="0" bIns="0" rtlCol="0" anchor="ctr"/>
          <a:lstStyle/>
          <a:p>
            <a:pPr marL="0" indent="0" algn="l">
              <a:lnSpc>
                <a:spcPct val="106000"/>
              </a:lnSpc>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13" name="Text 111"/>
          <p:cNvSpPr/>
          <p:nvPr/>
        </p:nvSpPr>
        <p:spPr>
          <a:xfrm>
            <a:off x="7757160" y="1865376"/>
            <a:ext cx="1021080" cy="292608"/>
          </a:xfrm>
          <a:prstGeom prst="rect">
            <a:avLst/>
          </a:prstGeom>
          <a:noFill/>
          <a:ln/>
        </p:spPr>
        <p:txBody>
          <a:bodyPr wrap="square" lIns="0" tIns="0" rIns="0" bIns="0" rtlCol="0" anchor="ctr"/>
          <a:lstStyle/>
          <a:p>
            <a:pPr marL="0" indent="0" algn="l">
              <a:lnSpc>
                <a:spcPct val="106000"/>
              </a:lnSpc>
              <a:buNone/>
            </a:pPr>
            <a:r>
              <a:rPr lang="en-US" sz="620" b="1" dirty="0">
                <a:solidFill>
                  <a:srgbClr val="FFFFFF"/>
                </a:solidFill>
                <a:latin typeface="Calibri" pitchFamily="34" charset="0"/>
                <a:ea typeface="Calibri" pitchFamily="34" charset="-122"/>
                <a:cs typeface="Calibri" pitchFamily="34" charset="-120"/>
              </a:rPr>
              <a:t>Documentation et rendu</a:t>
            </a:r>
            <a:endParaRPr lang="en-US" sz="620" dirty="0"/>
          </a:p>
        </p:txBody>
      </p:sp>
      <p:sp>
        <p:nvSpPr>
          <p:cNvPr id="114" name="Text 112"/>
          <p:cNvSpPr/>
          <p:nvPr/>
        </p:nvSpPr>
        <p:spPr>
          <a:xfrm>
            <a:off x="7565136" y="2194560"/>
            <a:ext cx="1222248" cy="118872"/>
          </a:xfrm>
          <a:prstGeom prst="rect">
            <a:avLst/>
          </a:prstGeom>
          <a:noFill/>
          <a:ln/>
        </p:spPr>
        <p:txBody>
          <a:bodyPr wrap="square" lIns="0" tIns="0" rIns="0" bIns="0" rtlCol="0" anchor="ctr"/>
          <a:lstStyle/>
          <a:p>
            <a:pPr marL="0" indent="0" algn="l">
              <a:lnSpc>
                <a:spcPct val="106000"/>
              </a:lnSpc>
              <a:buNone/>
            </a:pPr>
            <a:r>
              <a:rPr lang="en-US" sz="480" b="1" dirty="0">
                <a:solidFill>
                  <a:srgbClr val="8FA6BC"/>
                </a:solidFill>
                <a:latin typeface="Calibri" pitchFamily="34" charset="0"/>
                <a:ea typeface="Calibri" pitchFamily="34" charset="-122"/>
                <a:cs typeface="Calibri" pitchFamily="34" charset="-120"/>
              </a:rPr>
              <a:t>4 lots de travail</a:t>
            </a:r>
            <a:endParaRPr lang="en-US" sz="480" dirty="0"/>
          </a:p>
        </p:txBody>
      </p:sp>
      <p:sp>
        <p:nvSpPr>
          <p:cNvPr id="115" name="Shape 113"/>
          <p:cNvSpPr/>
          <p:nvPr/>
        </p:nvSpPr>
        <p:spPr>
          <a:xfrm>
            <a:off x="7501128" y="2340864"/>
            <a:ext cx="1350264" cy="205740"/>
          </a:xfrm>
          <a:prstGeom prst="rect">
            <a:avLst/>
          </a:prstGeom>
          <a:solidFill>
            <a:srgbClr val="FFFFFF"/>
          </a:solidFill>
          <a:ln w="7620">
            <a:solidFill>
              <a:srgbClr val="E2E8EE"/>
            </a:solidFill>
            <a:prstDash val="solid"/>
          </a:ln>
        </p:spPr>
        <p:txBody>
          <a:bodyPr/>
          <a:lstStyle/>
          <a:p>
            <a:endParaRPr lang="fr-FR"/>
          </a:p>
        </p:txBody>
      </p:sp>
      <p:sp>
        <p:nvSpPr>
          <p:cNvPr id="116" name="Text 114"/>
          <p:cNvSpPr/>
          <p:nvPr/>
        </p:nvSpPr>
        <p:spPr>
          <a:xfrm>
            <a:off x="7565136" y="2382012"/>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4A5769"/>
                </a:solidFill>
                <a:latin typeface="Calibri" pitchFamily="34" charset="0"/>
                <a:ea typeface="Calibri" pitchFamily="34" charset="-122"/>
                <a:cs typeface="Calibri" pitchFamily="34" charset="-120"/>
              </a:rPr>
              <a:t>6.1</a:t>
            </a:r>
            <a:endParaRPr lang="en-US" sz="540" dirty="0"/>
          </a:p>
        </p:txBody>
      </p:sp>
      <p:sp>
        <p:nvSpPr>
          <p:cNvPr id="117" name="Text 115"/>
          <p:cNvSpPr/>
          <p:nvPr/>
        </p:nvSpPr>
        <p:spPr>
          <a:xfrm>
            <a:off x="7793736" y="2377440"/>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Mémoire</a:t>
            </a:r>
            <a:endParaRPr lang="en-US" sz="560" dirty="0"/>
          </a:p>
        </p:txBody>
      </p:sp>
      <p:sp>
        <p:nvSpPr>
          <p:cNvPr id="118" name="Shape 116"/>
          <p:cNvSpPr/>
          <p:nvPr/>
        </p:nvSpPr>
        <p:spPr>
          <a:xfrm>
            <a:off x="7501128" y="2564892"/>
            <a:ext cx="1350264" cy="205740"/>
          </a:xfrm>
          <a:prstGeom prst="rect">
            <a:avLst/>
          </a:prstGeom>
          <a:solidFill>
            <a:srgbClr val="FFFFFF"/>
          </a:solidFill>
          <a:ln w="7620">
            <a:solidFill>
              <a:srgbClr val="E2E8EE"/>
            </a:solidFill>
            <a:prstDash val="solid"/>
          </a:ln>
        </p:spPr>
        <p:txBody>
          <a:bodyPr/>
          <a:lstStyle/>
          <a:p>
            <a:endParaRPr lang="fr-FR"/>
          </a:p>
        </p:txBody>
      </p:sp>
      <p:sp>
        <p:nvSpPr>
          <p:cNvPr id="119" name="Text 117"/>
          <p:cNvSpPr/>
          <p:nvPr/>
        </p:nvSpPr>
        <p:spPr>
          <a:xfrm>
            <a:off x="7565136" y="2606040"/>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4A5769"/>
                </a:solidFill>
                <a:latin typeface="Calibri" pitchFamily="34" charset="0"/>
                <a:ea typeface="Calibri" pitchFamily="34" charset="-122"/>
                <a:cs typeface="Calibri" pitchFamily="34" charset="-120"/>
              </a:rPr>
              <a:t>6.2</a:t>
            </a:r>
            <a:endParaRPr lang="en-US" sz="540" dirty="0"/>
          </a:p>
        </p:txBody>
      </p:sp>
      <p:sp>
        <p:nvSpPr>
          <p:cNvPr id="120" name="Text 118"/>
          <p:cNvSpPr/>
          <p:nvPr/>
        </p:nvSpPr>
        <p:spPr>
          <a:xfrm>
            <a:off x="7793736" y="2601468"/>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Schémas et annexes</a:t>
            </a:r>
            <a:endParaRPr lang="en-US" sz="560" dirty="0"/>
          </a:p>
        </p:txBody>
      </p:sp>
      <p:sp>
        <p:nvSpPr>
          <p:cNvPr id="121" name="Shape 119"/>
          <p:cNvSpPr/>
          <p:nvPr/>
        </p:nvSpPr>
        <p:spPr>
          <a:xfrm>
            <a:off x="7501128" y="2788920"/>
            <a:ext cx="1350264" cy="205740"/>
          </a:xfrm>
          <a:prstGeom prst="rect">
            <a:avLst/>
          </a:prstGeom>
          <a:solidFill>
            <a:srgbClr val="FFFFFF"/>
          </a:solidFill>
          <a:ln w="7620">
            <a:solidFill>
              <a:srgbClr val="E2E8EE"/>
            </a:solidFill>
            <a:prstDash val="solid"/>
          </a:ln>
        </p:spPr>
        <p:txBody>
          <a:bodyPr/>
          <a:lstStyle/>
          <a:p>
            <a:endParaRPr lang="fr-FR"/>
          </a:p>
        </p:txBody>
      </p:sp>
      <p:sp>
        <p:nvSpPr>
          <p:cNvPr id="122" name="Text 120"/>
          <p:cNvSpPr/>
          <p:nvPr/>
        </p:nvSpPr>
        <p:spPr>
          <a:xfrm>
            <a:off x="7565136" y="2830068"/>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4A5769"/>
                </a:solidFill>
                <a:latin typeface="Calibri" pitchFamily="34" charset="0"/>
                <a:ea typeface="Calibri" pitchFamily="34" charset="-122"/>
                <a:cs typeface="Calibri" pitchFamily="34" charset="-120"/>
              </a:rPr>
              <a:t>6.3</a:t>
            </a:r>
            <a:endParaRPr lang="en-US" sz="540" dirty="0"/>
          </a:p>
        </p:txBody>
      </p:sp>
      <p:sp>
        <p:nvSpPr>
          <p:cNvPr id="123" name="Text 121"/>
          <p:cNvSpPr/>
          <p:nvPr/>
        </p:nvSpPr>
        <p:spPr>
          <a:xfrm>
            <a:off x="7793736" y="2825496"/>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Support de présentation</a:t>
            </a:r>
            <a:endParaRPr lang="en-US" sz="560" dirty="0"/>
          </a:p>
        </p:txBody>
      </p:sp>
      <p:sp>
        <p:nvSpPr>
          <p:cNvPr id="124" name="Shape 122"/>
          <p:cNvSpPr/>
          <p:nvPr/>
        </p:nvSpPr>
        <p:spPr>
          <a:xfrm>
            <a:off x="7501128" y="3012948"/>
            <a:ext cx="1350264" cy="205740"/>
          </a:xfrm>
          <a:prstGeom prst="rect">
            <a:avLst/>
          </a:prstGeom>
          <a:solidFill>
            <a:srgbClr val="FFFFFF"/>
          </a:solidFill>
          <a:ln w="7620">
            <a:solidFill>
              <a:srgbClr val="E2E8EE"/>
            </a:solidFill>
            <a:prstDash val="solid"/>
          </a:ln>
        </p:spPr>
        <p:txBody>
          <a:bodyPr/>
          <a:lstStyle/>
          <a:p>
            <a:endParaRPr lang="fr-FR"/>
          </a:p>
        </p:txBody>
      </p:sp>
      <p:sp>
        <p:nvSpPr>
          <p:cNvPr id="125" name="Text 123"/>
          <p:cNvSpPr/>
          <p:nvPr/>
        </p:nvSpPr>
        <p:spPr>
          <a:xfrm>
            <a:off x="7565136" y="3054096"/>
            <a:ext cx="219456" cy="128016"/>
          </a:xfrm>
          <a:prstGeom prst="rect">
            <a:avLst/>
          </a:prstGeom>
          <a:noFill/>
          <a:ln/>
        </p:spPr>
        <p:txBody>
          <a:bodyPr wrap="square" lIns="0" tIns="0" rIns="0" bIns="0" rtlCol="0" anchor="ctr"/>
          <a:lstStyle/>
          <a:p>
            <a:pPr marL="0" indent="0" algn="l">
              <a:lnSpc>
                <a:spcPct val="106000"/>
              </a:lnSpc>
              <a:buNone/>
            </a:pPr>
            <a:r>
              <a:rPr lang="en-US" sz="540" b="1" dirty="0">
                <a:solidFill>
                  <a:srgbClr val="4A5769"/>
                </a:solidFill>
                <a:latin typeface="Calibri" pitchFamily="34" charset="0"/>
                <a:ea typeface="Calibri" pitchFamily="34" charset="-122"/>
                <a:cs typeface="Calibri" pitchFamily="34" charset="-120"/>
              </a:rPr>
              <a:t>6.4</a:t>
            </a:r>
            <a:endParaRPr lang="en-US" sz="540" dirty="0"/>
          </a:p>
        </p:txBody>
      </p:sp>
      <p:sp>
        <p:nvSpPr>
          <p:cNvPr id="126" name="Text 124"/>
          <p:cNvSpPr/>
          <p:nvPr/>
        </p:nvSpPr>
        <p:spPr>
          <a:xfrm>
            <a:off x="7793736" y="3049524"/>
            <a:ext cx="984504" cy="146304"/>
          </a:xfrm>
          <a:prstGeom prst="rect">
            <a:avLst/>
          </a:prstGeom>
          <a:noFill/>
          <a:ln/>
        </p:spPr>
        <p:txBody>
          <a:bodyPr wrap="square" lIns="0" tIns="0" rIns="0" bIns="0" rtlCol="0" anchor="ctr"/>
          <a:lstStyle/>
          <a:p>
            <a:pPr marL="0" indent="0" algn="l">
              <a:lnSpc>
                <a:spcPct val="106000"/>
              </a:lnSpc>
              <a:buNone/>
            </a:pPr>
            <a:r>
              <a:rPr lang="en-US" sz="560" dirty="0">
                <a:solidFill>
                  <a:srgbClr val="4A5769"/>
                </a:solidFill>
                <a:latin typeface="Calibri" pitchFamily="34" charset="0"/>
                <a:ea typeface="Calibri" pitchFamily="34" charset="-122"/>
                <a:cs typeface="Calibri" pitchFamily="34" charset="-120"/>
              </a:rPr>
              <a:t>Démonstration et jeu d'essai</a:t>
            </a:r>
            <a:endParaRPr lang="en-US" sz="560" dirty="0"/>
          </a:p>
        </p:txBody>
      </p:sp>
      <p:sp>
        <p:nvSpPr>
          <p:cNvPr id="127" name="Shape 125"/>
          <p:cNvSpPr/>
          <p:nvPr/>
        </p:nvSpPr>
        <p:spPr>
          <a:xfrm>
            <a:off x="292608" y="3767328"/>
            <a:ext cx="1365504" cy="237744"/>
          </a:xfrm>
          <a:prstGeom prst="roundRect">
            <a:avLst>
              <a:gd name="adj" fmla="val 15385"/>
            </a:avLst>
          </a:prstGeom>
          <a:solidFill>
            <a:srgbClr val="FDF9EF"/>
          </a:solidFill>
          <a:ln w="9525">
            <a:solidFill>
              <a:srgbClr val="F2E3C4"/>
            </a:solidFill>
            <a:prstDash val="solid"/>
          </a:ln>
        </p:spPr>
        <p:txBody>
          <a:bodyPr/>
          <a:lstStyle/>
          <a:p>
            <a:endParaRPr lang="fr-FR"/>
          </a:p>
        </p:txBody>
      </p:sp>
      <p:sp>
        <p:nvSpPr>
          <p:cNvPr id="128" name="Text 126"/>
          <p:cNvSpPr/>
          <p:nvPr/>
        </p:nvSpPr>
        <p:spPr>
          <a:xfrm>
            <a:off x="365760" y="3767328"/>
            <a:ext cx="1219200" cy="237744"/>
          </a:xfrm>
          <a:prstGeom prst="rect">
            <a:avLst/>
          </a:prstGeom>
          <a:noFill/>
          <a:ln/>
        </p:spPr>
        <p:txBody>
          <a:bodyPr wrap="square" lIns="0" tIns="0" rIns="0" bIns="0" rtlCol="0" anchor="ctr"/>
          <a:lstStyle/>
          <a:p>
            <a:pPr marL="0" indent="0" algn="l">
              <a:lnSpc>
                <a:spcPct val="106000"/>
              </a:lnSpc>
              <a:buNone/>
            </a:pPr>
            <a:r>
              <a:rPr lang="en-US" sz="560" b="1" dirty="0">
                <a:solidFill>
                  <a:srgbClr val="12263F"/>
                </a:solidFill>
                <a:latin typeface="Calibri" pitchFamily="34" charset="0"/>
                <a:ea typeface="Calibri" pitchFamily="34" charset="-122"/>
                <a:cs typeface="Calibri" pitchFamily="34" charset="-120"/>
              </a:rPr>
              <a:t>J1 Modèle de données validé</a:t>
            </a:r>
            <a:endParaRPr lang="en-US" sz="560" dirty="0"/>
          </a:p>
        </p:txBody>
      </p:sp>
      <p:sp>
        <p:nvSpPr>
          <p:cNvPr id="129" name="Shape 127"/>
          <p:cNvSpPr/>
          <p:nvPr/>
        </p:nvSpPr>
        <p:spPr>
          <a:xfrm>
            <a:off x="1731264" y="3767328"/>
            <a:ext cx="1365504" cy="237744"/>
          </a:xfrm>
          <a:prstGeom prst="roundRect">
            <a:avLst>
              <a:gd name="adj" fmla="val 15385"/>
            </a:avLst>
          </a:prstGeom>
          <a:solidFill>
            <a:srgbClr val="FDF9EF"/>
          </a:solidFill>
          <a:ln w="9525">
            <a:solidFill>
              <a:srgbClr val="F2E3C4"/>
            </a:solidFill>
            <a:prstDash val="solid"/>
          </a:ln>
        </p:spPr>
        <p:txBody>
          <a:bodyPr/>
          <a:lstStyle/>
          <a:p>
            <a:endParaRPr lang="fr-FR"/>
          </a:p>
        </p:txBody>
      </p:sp>
      <p:sp>
        <p:nvSpPr>
          <p:cNvPr id="130" name="Text 128"/>
          <p:cNvSpPr/>
          <p:nvPr/>
        </p:nvSpPr>
        <p:spPr>
          <a:xfrm>
            <a:off x="1804416" y="3767328"/>
            <a:ext cx="1219200" cy="237744"/>
          </a:xfrm>
          <a:prstGeom prst="rect">
            <a:avLst/>
          </a:prstGeom>
          <a:noFill/>
          <a:ln/>
        </p:spPr>
        <p:txBody>
          <a:bodyPr wrap="square" lIns="0" tIns="0" rIns="0" bIns="0" rtlCol="0" anchor="ctr"/>
          <a:lstStyle/>
          <a:p>
            <a:pPr marL="0" indent="0" algn="l">
              <a:lnSpc>
                <a:spcPct val="106000"/>
              </a:lnSpc>
              <a:buNone/>
            </a:pPr>
            <a:r>
              <a:rPr lang="en-US" sz="560" b="1" dirty="0">
                <a:solidFill>
                  <a:srgbClr val="12263F"/>
                </a:solidFill>
                <a:latin typeface="Calibri" pitchFamily="34" charset="0"/>
                <a:ea typeface="Calibri" pitchFamily="34" charset="-122"/>
                <a:cs typeface="Calibri" pitchFamily="34" charset="-120"/>
              </a:rPr>
              <a:t>J2 API validée par les tests</a:t>
            </a:r>
            <a:endParaRPr lang="en-US" sz="560" dirty="0"/>
          </a:p>
        </p:txBody>
      </p:sp>
      <p:sp>
        <p:nvSpPr>
          <p:cNvPr id="131" name="Shape 129"/>
          <p:cNvSpPr/>
          <p:nvPr/>
        </p:nvSpPr>
        <p:spPr>
          <a:xfrm>
            <a:off x="3169920" y="3767328"/>
            <a:ext cx="1365504" cy="237744"/>
          </a:xfrm>
          <a:prstGeom prst="roundRect">
            <a:avLst>
              <a:gd name="adj" fmla="val 15385"/>
            </a:avLst>
          </a:prstGeom>
          <a:solidFill>
            <a:srgbClr val="FDF9EF"/>
          </a:solidFill>
          <a:ln w="9525">
            <a:solidFill>
              <a:srgbClr val="F2E3C4"/>
            </a:solidFill>
            <a:prstDash val="solid"/>
          </a:ln>
        </p:spPr>
        <p:txBody>
          <a:bodyPr/>
          <a:lstStyle/>
          <a:p>
            <a:endParaRPr lang="fr-FR"/>
          </a:p>
        </p:txBody>
      </p:sp>
      <p:sp>
        <p:nvSpPr>
          <p:cNvPr id="132" name="Text 130"/>
          <p:cNvSpPr/>
          <p:nvPr/>
        </p:nvSpPr>
        <p:spPr>
          <a:xfrm>
            <a:off x="3243072" y="3767328"/>
            <a:ext cx="1219200" cy="237744"/>
          </a:xfrm>
          <a:prstGeom prst="rect">
            <a:avLst/>
          </a:prstGeom>
          <a:noFill/>
          <a:ln/>
        </p:spPr>
        <p:txBody>
          <a:bodyPr wrap="square" lIns="0" tIns="0" rIns="0" bIns="0" rtlCol="0" anchor="ctr"/>
          <a:lstStyle/>
          <a:p>
            <a:pPr marL="0" indent="0" algn="l">
              <a:lnSpc>
                <a:spcPct val="106000"/>
              </a:lnSpc>
              <a:buNone/>
            </a:pPr>
            <a:r>
              <a:rPr lang="en-US" sz="560" b="1" dirty="0">
                <a:solidFill>
                  <a:srgbClr val="12263F"/>
                </a:solidFill>
                <a:latin typeface="Calibri" pitchFamily="34" charset="0"/>
                <a:ea typeface="Calibri" pitchFamily="34" charset="-122"/>
                <a:cs typeface="Calibri" pitchFamily="34" charset="-120"/>
              </a:rPr>
              <a:t>J3 Parcours complet en local</a:t>
            </a:r>
            <a:endParaRPr lang="en-US" sz="560" dirty="0"/>
          </a:p>
        </p:txBody>
      </p:sp>
      <p:sp>
        <p:nvSpPr>
          <p:cNvPr id="133" name="Shape 131"/>
          <p:cNvSpPr/>
          <p:nvPr/>
        </p:nvSpPr>
        <p:spPr>
          <a:xfrm>
            <a:off x="4608576" y="3767328"/>
            <a:ext cx="1365504" cy="237744"/>
          </a:xfrm>
          <a:prstGeom prst="roundRect">
            <a:avLst>
              <a:gd name="adj" fmla="val 15385"/>
            </a:avLst>
          </a:prstGeom>
          <a:solidFill>
            <a:srgbClr val="FDF9EF"/>
          </a:solidFill>
          <a:ln w="9525">
            <a:solidFill>
              <a:srgbClr val="F2E3C4"/>
            </a:solidFill>
            <a:prstDash val="solid"/>
          </a:ln>
        </p:spPr>
        <p:txBody>
          <a:bodyPr/>
          <a:lstStyle/>
          <a:p>
            <a:endParaRPr lang="fr-FR"/>
          </a:p>
        </p:txBody>
      </p:sp>
      <p:sp>
        <p:nvSpPr>
          <p:cNvPr id="134" name="Text 132"/>
          <p:cNvSpPr/>
          <p:nvPr/>
        </p:nvSpPr>
        <p:spPr>
          <a:xfrm>
            <a:off x="4681728" y="3767328"/>
            <a:ext cx="1219200" cy="237744"/>
          </a:xfrm>
          <a:prstGeom prst="rect">
            <a:avLst/>
          </a:prstGeom>
          <a:noFill/>
          <a:ln/>
        </p:spPr>
        <p:txBody>
          <a:bodyPr wrap="square" lIns="0" tIns="0" rIns="0" bIns="0" rtlCol="0" anchor="ctr"/>
          <a:lstStyle/>
          <a:p>
            <a:pPr marL="0" indent="0" algn="l">
              <a:lnSpc>
                <a:spcPct val="106000"/>
              </a:lnSpc>
              <a:buNone/>
            </a:pPr>
            <a:r>
              <a:rPr lang="en-US" sz="560" b="1" dirty="0">
                <a:solidFill>
                  <a:srgbClr val="12263F"/>
                </a:solidFill>
                <a:latin typeface="Calibri" pitchFamily="34" charset="0"/>
                <a:ea typeface="Calibri" pitchFamily="34" charset="-122"/>
                <a:cs typeface="Calibri" pitchFamily="34" charset="-120"/>
              </a:rPr>
              <a:t>J4 Infrastructure rejouable</a:t>
            </a:r>
            <a:endParaRPr lang="en-US" sz="560" dirty="0"/>
          </a:p>
        </p:txBody>
      </p:sp>
      <p:sp>
        <p:nvSpPr>
          <p:cNvPr id="135" name="Shape 133"/>
          <p:cNvSpPr/>
          <p:nvPr/>
        </p:nvSpPr>
        <p:spPr>
          <a:xfrm>
            <a:off x="6047232" y="3767328"/>
            <a:ext cx="1365504" cy="237744"/>
          </a:xfrm>
          <a:prstGeom prst="roundRect">
            <a:avLst>
              <a:gd name="adj" fmla="val 15385"/>
            </a:avLst>
          </a:prstGeom>
          <a:solidFill>
            <a:srgbClr val="FDF9EF"/>
          </a:solidFill>
          <a:ln w="9525">
            <a:solidFill>
              <a:srgbClr val="F2E3C4"/>
            </a:solidFill>
            <a:prstDash val="solid"/>
          </a:ln>
        </p:spPr>
        <p:txBody>
          <a:bodyPr/>
          <a:lstStyle/>
          <a:p>
            <a:endParaRPr lang="fr-FR"/>
          </a:p>
        </p:txBody>
      </p:sp>
      <p:sp>
        <p:nvSpPr>
          <p:cNvPr id="136" name="Text 134"/>
          <p:cNvSpPr/>
          <p:nvPr/>
        </p:nvSpPr>
        <p:spPr>
          <a:xfrm>
            <a:off x="6120384" y="3767328"/>
            <a:ext cx="1219200" cy="237744"/>
          </a:xfrm>
          <a:prstGeom prst="rect">
            <a:avLst/>
          </a:prstGeom>
          <a:noFill/>
          <a:ln/>
        </p:spPr>
        <p:txBody>
          <a:bodyPr wrap="square" lIns="0" tIns="0" rIns="0" bIns="0" rtlCol="0" anchor="ctr"/>
          <a:lstStyle/>
          <a:p>
            <a:pPr marL="0" indent="0" algn="l">
              <a:lnSpc>
                <a:spcPct val="106000"/>
              </a:lnSpc>
              <a:buNone/>
            </a:pPr>
            <a:r>
              <a:rPr lang="en-US" sz="560" b="1" dirty="0">
                <a:solidFill>
                  <a:srgbClr val="12263F"/>
                </a:solidFill>
                <a:latin typeface="Calibri" pitchFamily="34" charset="0"/>
                <a:ea typeface="Calibri" pitchFamily="34" charset="-122"/>
                <a:cs typeface="Calibri" pitchFamily="34" charset="-120"/>
              </a:rPr>
              <a:t>J5 Mise en production</a:t>
            </a:r>
            <a:endParaRPr lang="en-US" sz="560" dirty="0"/>
          </a:p>
        </p:txBody>
      </p:sp>
      <p:sp>
        <p:nvSpPr>
          <p:cNvPr id="137" name="Shape 135"/>
          <p:cNvSpPr/>
          <p:nvPr/>
        </p:nvSpPr>
        <p:spPr>
          <a:xfrm>
            <a:off x="7485888" y="3767328"/>
            <a:ext cx="1365504" cy="237744"/>
          </a:xfrm>
          <a:prstGeom prst="roundRect">
            <a:avLst>
              <a:gd name="adj" fmla="val 15385"/>
            </a:avLst>
          </a:prstGeom>
          <a:solidFill>
            <a:srgbClr val="FDF9EF"/>
          </a:solidFill>
          <a:ln w="9525">
            <a:solidFill>
              <a:srgbClr val="F2E3C4"/>
            </a:solidFill>
            <a:prstDash val="solid"/>
          </a:ln>
        </p:spPr>
        <p:txBody>
          <a:bodyPr/>
          <a:lstStyle/>
          <a:p>
            <a:endParaRPr lang="fr-FR"/>
          </a:p>
        </p:txBody>
      </p:sp>
      <p:sp>
        <p:nvSpPr>
          <p:cNvPr id="138" name="Text 136"/>
          <p:cNvSpPr/>
          <p:nvPr/>
        </p:nvSpPr>
        <p:spPr>
          <a:xfrm>
            <a:off x="7559040" y="3767328"/>
            <a:ext cx="1219200" cy="237744"/>
          </a:xfrm>
          <a:prstGeom prst="rect">
            <a:avLst/>
          </a:prstGeom>
          <a:noFill/>
          <a:ln/>
        </p:spPr>
        <p:txBody>
          <a:bodyPr wrap="square" lIns="0" tIns="0" rIns="0" bIns="0" rtlCol="0" anchor="ctr"/>
          <a:lstStyle/>
          <a:p>
            <a:pPr marL="0" indent="0" algn="l">
              <a:lnSpc>
                <a:spcPct val="106000"/>
              </a:lnSpc>
              <a:buNone/>
            </a:pPr>
            <a:r>
              <a:rPr lang="en-US" sz="560" b="1" dirty="0">
                <a:solidFill>
                  <a:srgbClr val="12263F"/>
                </a:solidFill>
                <a:latin typeface="Calibri" pitchFamily="34" charset="0"/>
                <a:ea typeface="Calibri" pitchFamily="34" charset="-122"/>
                <a:cs typeface="Calibri" pitchFamily="34" charset="-120"/>
              </a:rPr>
              <a:t>J6 Mémoire et soutenance</a:t>
            </a:r>
            <a:endParaRPr lang="en-US" sz="560" dirty="0"/>
          </a:p>
        </p:txBody>
      </p:sp>
      <p:sp>
        <p:nvSpPr>
          <p:cNvPr id="139" name="Shape 137"/>
          <p:cNvSpPr/>
          <p:nvPr/>
        </p:nvSpPr>
        <p:spPr>
          <a:xfrm>
            <a:off x="292608" y="4224528"/>
            <a:ext cx="8558784" cy="475488"/>
          </a:xfrm>
          <a:prstGeom prst="rect">
            <a:avLst/>
          </a:prstGeom>
          <a:solidFill>
            <a:srgbClr val="12263F"/>
          </a:solidFill>
          <a:ln/>
        </p:spPr>
        <p:txBody>
          <a:bodyPr/>
          <a:lstStyle/>
          <a:p>
            <a:endParaRPr lang="fr-FR"/>
          </a:p>
        </p:txBody>
      </p:sp>
      <p:sp>
        <p:nvSpPr>
          <p:cNvPr id="140" name="Shape 138"/>
          <p:cNvSpPr/>
          <p:nvPr/>
        </p:nvSpPr>
        <p:spPr>
          <a:xfrm>
            <a:off x="292608" y="4224528"/>
            <a:ext cx="45720" cy="475488"/>
          </a:xfrm>
          <a:prstGeom prst="rect">
            <a:avLst/>
          </a:prstGeom>
          <a:solidFill>
            <a:srgbClr val="E08A3C"/>
          </a:solidFill>
          <a:ln/>
        </p:spPr>
        <p:txBody>
          <a:bodyPr/>
          <a:lstStyle/>
          <a:p>
            <a:endParaRPr lang="fr-FR"/>
          </a:p>
        </p:txBody>
      </p:sp>
      <p:sp>
        <p:nvSpPr>
          <p:cNvPr id="141" name="Text 139"/>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Un jalon n'est pas une date : c'est quelque chose qui se vérifie en l'exécutant.</a:t>
            </a:r>
            <a:endParaRPr lang="en-US" sz="1150" dirty="0"/>
          </a:p>
        </p:txBody>
      </p:sp>
      <p:sp>
        <p:nvSpPr>
          <p:cNvPr id="142" name="Text 140"/>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6.1 - Élaboration du Planning et Gestion des Ressources</a:t>
            </a:r>
            <a:endParaRPr lang="en-US" sz="750" dirty="0"/>
          </a:p>
        </p:txBody>
      </p:sp>
      <p:sp>
        <p:nvSpPr>
          <p:cNvPr id="143" name="Text 141"/>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6. Gestion du projet</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22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6.1 - Élaboration du Planning et Gestion des Ressources</a:t>
            </a:r>
            <a:endParaRPr lang="en-US" sz="2200" dirty="0"/>
          </a:p>
        </p:txBody>
      </p:sp>
      <p:sp>
        <p:nvSpPr>
          <p:cNvPr id="7" name="Text 5"/>
          <p:cNvSpPr/>
          <p:nvPr/>
        </p:nvSpPr>
        <p:spPr>
          <a:xfrm>
            <a:off x="292608" y="1024128"/>
            <a:ext cx="8558784" cy="201168"/>
          </a:xfrm>
          <a:prstGeom prst="rect">
            <a:avLst/>
          </a:prstGeom>
          <a:noFill/>
          <a:ln/>
        </p:spPr>
        <p:txBody>
          <a:bodyPr wrap="square" lIns="0" tIns="0" rIns="0" bIns="0" rtlCol="0" anchor="ctr"/>
          <a:lstStyle/>
          <a:p>
            <a:pPr marL="0" indent="0">
              <a:buNone/>
            </a:pPr>
            <a:r>
              <a:rPr lang="en-US" sz="1050" dirty="0">
                <a:solidFill>
                  <a:srgbClr val="4A5769"/>
                </a:solidFill>
                <a:latin typeface="Calibri" pitchFamily="34" charset="0"/>
                <a:ea typeface="Calibri" pitchFamily="34" charset="-122"/>
                <a:cs typeface="Calibri" pitchFamily="34" charset="-120"/>
              </a:rPr>
              <a:t>Dans quel ordre, et ce qui bloque tout le reste.</a:t>
            </a:r>
            <a:endParaRPr lang="en-US" sz="1050" dirty="0"/>
          </a:p>
        </p:txBody>
      </p:sp>
      <p:sp>
        <p:nvSpPr>
          <p:cNvPr id="8" name="Shape 6"/>
          <p:cNvSpPr/>
          <p:nvPr/>
        </p:nvSpPr>
        <p:spPr>
          <a:xfrm>
            <a:off x="5541264" y="676656"/>
            <a:ext cx="786384" cy="548640"/>
          </a:xfrm>
          <a:prstGeom prst="roundRect">
            <a:avLst>
              <a:gd name="adj" fmla="val 10000"/>
            </a:avLst>
          </a:prstGeom>
          <a:solidFill>
            <a:srgbClr val="FFFFFF"/>
          </a:solidFill>
          <a:ln w="9525">
            <a:solidFill>
              <a:srgbClr val="D8E0E8"/>
            </a:solidFill>
            <a:prstDash val="solid"/>
          </a:ln>
        </p:spPr>
        <p:txBody>
          <a:bodyPr/>
          <a:lstStyle/>
          <a:p>
            <a:endParaRPr lang="fr-FR"/>
          </a:p>
        </p:txBody>
      </p:sp>
      <p:sp>
        <p:nvSpPr>
          <p:cNvPr id="9" name="Text 7"/>
          <p:cNvSpPr/>
          <p:nvPr/>
        </p:nvSpPr>
        <p:spPr>
          <a:xfrm>
            <a:off x="5541264" y="731520"/>
            <a:ext cx="786384" cy="256032"/>
          </a:xfrm>
          <a:prstGeom prst="rect">
            <a:avLst/>
          </a:prstGeom>
          <a:noFill/>
          <a:ln/>
        </p:spPr>
        <p:txBody>
          <a:bodyPr wrap="square" lIns="0" tIns="0" rIns="0" bIns="0" rtlCol="0" anchor="ctr"/>
          <a:lstStyle/>
          <a:p>
            <a:pPr marL="0" indent="0" algn="ctr">
              <a:lnSpc>
                <a:spcPct val="106000"/>
              </a:lnSpc>
              <a:buNone/>
            </a:pPr>
            <a:r>
              <a:rPr lang="en-US" sz="1300" b="1" dirty="0">
                <a:solidFill>
                  <a:srgbClr val="B03A48"/>
                </a:solidFill>
                <a:latin typeface="Calibri" pitchFamily="34" charset="0"/>
                <a:ea typeface="Calibri" pitchFamily="34" charset="-122"/>
                <a:cs typeface="Calibri" pitchFamily="34" charset="-120"/>
              </a:rPr>
              <a:t>63 j</a:t>
            </a:r>
            <a:endParaRPr lang="en-US" sz="1300" dirty="0"/>
          </a:p>
        </p:txBody>
      </p:sp>
      <p:sp>
        <p:nvSpPr>
          <p:cNvPr id="10" name="Text 8"/>
          <p:cNvSpPr/>
          <p:nvPr/>
        </p:nvSpPr>
        <p:spPr>
          <a:xfrm>
            <a:off x="5541264" y="987552"/>
            <a:ext cx="786384" cy="164592"/>
          </a:xfrm>
          <a:prstGeom prst="rect">
            <a:avLst/>
          </a:prstGeom>
          <a:noFill/>
          <a:ln/>
        </p:spPr>
        <p:txBody>
          <a:bodyPr wrap="square" lIns="0" tIns="0" rIns="0" bIns="0" rtlCol="0" anchor="ctr"/>
          <a:lstStyle/>
          <a:p>
            <a:pPr marL="0" indent="0" algn="ctr">
              <a:lnSpc>
                <a:spcPct val="106000"/>
              </a:lnSpc>
              <a:buNone/>
            </a:pPr>
            <a:r>
              <a:rPr lang="en-US" sz="560" dirty="0">
                <a:solidFill>
                  <a:srgbClr val="4A5769"/>
                </a:solidFill>
                <a:latin typeface="Calibri" pitchFamily="34" charset="0"/>
                <a:ea typeface="Calibri" pitchFamily="34" charset="-122"/>
                <a:cs typeface="Calibri" pitchFamily="34" charset="-120"/>
              </a:rPr>
              <a:t>CHEMIN CRITIQUE</a:t>
            </a:r>
            <a:endParaRPr lang="en-US" sz="560" dirty="0"/>
          </a:p>
        </p:txBody>
      </p:sp>
      <p:sp>
        <p:nvSpPr>
          <p:cNvPr id="11" name="Shape 9"/>
          <p:cNvSpPr/>
          <p:nvPr/>
        </p:nvSpPr>
        <p:spPr>
          <a:xfrm>
            <a:off x="6382512" y="676656"/>
            <a:ext cx="786384" cy="548640"/>
          </a:xfrm>
          <a:prstGeom prst="roundRect">
            <a:avLst>
              <a:gd name="adj" fmla="val 10000"/>
            </a:avLst>
          </a:prstGeom>
          <a:solidFill>
            <a:srgbClr val="FFFFFF"/>
          </a:solidFill>
          <a:ln w="9525">
            <a:solidFill>
              <a:srgbClr val="D8E0E8"/>
            </a:solidFill>
            <a:prstDash val="solid"/>
          </a:ln>
        </p:spPr>
        <p:txBody>
          <a:bodyPr/>
          <a:lstStyle/>
          <a:p>
            <a:endParaRPr lang="fr-FR"/>
          </a:p>
        </p:txBody>
      </p:sp>
      <p:sp>
        <p:nvSpPr>
          <p:cNvPr id="12" name="Text 10"/>
          <p:cNvSpPr/>
          <p:nvPr/>
        </p:nvSpPr>
        <p:spPr>
          <a:xfrm>
            <a:off x="6382512" y="731520"/>
            <a:ext cx="786384" cy="256032"/>
          </a:xfrm>
          <a:prstGeom prst="rect">
            <a:avLst/>
          </a:prstGeom>
          <a:noFill/>
          <a:ln/>
        </p:spPr>
        <p:txBody>
          <a:bodyPr wrap="square" lIns="0" tIns="0" rIns="0" bIns="0" rtlCol="0" anchor="ctr"/>
          <a:lstStyle/>
          <a:p>
            <a:pPr marL="0" indent="0" algn="ctr">
              <a:lnSpc>
                <a:spcPct val="106000"/>
              </a:lnSpc>
              <a:buNone/>
            </a:pPr>
            <a:r>
              <a:rPr lang="en-US" sz="1300" b="1" dirty="0">
                <a:solidFill>
                  <a:srgbClr val="12263F"/>
                </a:solidFill>
                <a:latin typeface="Calibri" pitchFamily="34" charset="0"/>
                <a:ea typeface="Calibri" pitchFamily="34" charset="-122"/>
                <a:cs typeface="Calibri" pitchFamily="34" charset="-120"/>
              </a:rPr>
              <a:t>112</a:t>
            </a:r>
            <a:endParaRPr lang="en-US" sz="1300" dirty="0"/>
          </a:p>
        </p:txBody>
      </p:sp>
      <p:sp>
        <p:nvSpPr>
          <p:cNvPr id="13" name="Text 11"/>
          <p:cNvSpPr/>
          <p:nvPr/>
        </p:nvSpPr>
        <p:spPr>
          <a:xfrm>
            <a:off x="6382512" y="987552"/>
            <a:ext cx="786384" cy="164592"/>
          </a:xfrm>
          <a:prstGeom prst="rect">
            <a:avLst/>
          </a:prstGeom>
          <a:noFill/>
          <a:ln/>
        </p:spPr>
        <p:txBody>
          <a:bodyPr wrap="square" lIns="0" tIns="0" rIns="0" bIns="0" rtlCol="0" anchor="ctr"/>
          <a:lstStyle/>
          <a:p>
            <a:pPr marL="0" indent="0" algn="ctr">
              <a:lnSpc>
                <a:spcPct val="106000"/>
              </a:lnSpc>
              <a:buNone/>
            </a:pPr>
            <a:r>
              <a:rPr lang="en-US" sz="560" dirty="0">
                <a:solidFill>
                  <a:srgbClr val="4A5769"/>
                </a:solidFill>
                <a:latin typeface="Calibri" pitchFamily="34" charset="0"/>
                <a:ea typeface="Calibri" pitchFamily="34" charset="-122"/>
                <a:cs typeface="Calibri" pitchFamily="34" charset="-120"/>
              </a:rPr>
              <a:t>JOURS·PERSONNE</a:t>
            </a:r>
            <a:endParaRPr lang="en-US" sz="560" dirty="0"/>
          </a:p>
        </p:txBody>
      </p:sp>
      <p:sp>
        <p:nvSpPr>
          <p:cNvPr id="14" name="Shape 12"/>
          <p:cNvSpPr/>
          <p:nvPr/>
        </p:nvSpPr>
        <p:spPr>
          <a:xfrm>
            <a:off x="7223760" y="676656"/>
            <a:ext cx="786384" cy="548640"/>
          </a:xfrm>
          <a:prstGeom prst="roundRect">
            <a:avLst>
              <a:gd name="adj" fmla="val 10000"/>
            </a:avLst>
          </a:prstGeom>
          <a:solidFill>
            <a:srgbClr val="FFFFFF"/>
          </a:solidFill>
          <a:ln w="9525">
            <a:solidFill>
              <a:srgbClr val="D8E0E8"/>
            </a:solidFill>
            <a:prstDash val="solid"/>
          </a:ln>
        </p:spPr>
        <p:txBody>
          <a:bodyPr/>
          <a:lstStyle/>
          <a:p>
            <a:endParaRPr lang="fr-FR"/>
          </a:p>
        </p:txBody>
      </p:sp>
      <p:sp>
        <p:nvSpPr>
          <p:cNvPr id="15" name="Text 13"/>
          <p:cNvSpPr/>
          <p:nvPr/>
        </p:nvSpPr>
        <p:spPr>
          <a:xfrm>
            <a:off x="7223760" y="731520"/>
            <a:ext cx="786384" cy="256032"/>
          </a:xfrm>
          <a:prstGeom prst="rect">
            <a:avLst/>
          </a:prstGeom>
          <a:noFill/>
          <a:ln/>
        </p:spPr>
        <p:txBody>
          <a:bodyPr wrap="square" lIns="0" tIns="0" rIns="0" bIns="0" rtlCol="0" anchor="ctr"/>
          <a:lstStyle/>
          <a:p>
            <a:pPr marL="0" indent="0" algn="ctr">
              <a:lnSpc>
                <a:spcPct val="106000"/>
              </a:lnSpc>
              <a:buNone/>
            </a:pPr>
            <a:r>
              <a:rPr lang="en-US" sz="1300" b="1" dirty="0">
                <a:solidFill>
                  <a:srgbClr val="12263F"/>
                </a:solidFill>
                <a:latin typeface="Calibri" pitchFamily="34" charset="0"/>
                <a:ea typeface="Calibri" pitchFamily="34" charset="-122"/>
                <a:cs typeface="Calibri" pitchFamily="34" charset="-120"/>
              </a:rPr>
              <a:t>16/31</a:t>
            </a:r>
            <a:endParaRPr lang="en-US" sz="1300" dirty="0"/>
          </a:p>
        </p:txBody>
      </p:sp>
      <p:sp>
        <p:nvSpPr>
          <p:cNvPr id="16" name="Text 14"/>
          <p:cNvSpPr/>
          <p:nvPr/>
        </p:nvSpPr>
        <p:spPr>
          <a:xfrm>
            <a:off x="7223760" y="987552"/>
            <a:ext cx="786384" cy="164592"/>
          </a:xfrm>
          <a:prstGeom prst="rect">
            <a:avLst/>
          </a:prstGeom>
          <a:noFill/>
          <a:ln/>
        </p:spPr>
        <p:txBody>
          <a:bodyPr wrap="square" lIns="0" tIns="0" rIns="0" bIns="0" rtlCol="0" anchor="ctr"/>
          <a:lstStyle/>
          <a:p>
            <a:pPr marL="0" indent="0" algn="ctr">
              <a:lnSpc>
                <a:spcPct val="106000"/>
              </a:lnSpc>
              <a:buNone/>
            </a:pPr>
            <a:r>
              <a:rPr lang="en-US" sz="560" dirty="0">
                <a:solidFill>
                  <a:srgbClr val="4A5769"/>
                </a:solidFill>
                <a:latin typeface="Calibri" pitchFamily="34" charset="0"/>
                <a:ea typeface="Calibri" pitchFamily="34" charset="-122"/>
                <a:cs typeface="Calibri" pitchFamily="34" charset="-120"/>
              </a:rPr>
              <a:t>TÂCHES CRITIQUES</a:t>
            </a:r>
            <a:endParaRPr lang="en-US" sz="560" dirty="0"/>
          </a:p>
        </p:txBody>
      </p:sp>
      <p:sp>
        <p:nvSpPr>
          <p:cNvPr id="17" name="Shape 15"/>
          <p:cNvSpPr/>
          <p:nvPr/>
        </p:nvSpPr>
        <p:spPr>
          <a:xfrm>
            <a:off x="8065008" y="676656"/>
            <a:ext cx="786384" cy="548640"/>
          </a:xfrm>
          <a:prstGeom prst="roundRect">
            <a:avLst>
              <a:gd name="adj" fmla="val 10000"/>
            </a:avLst>
          </a:prstGeom>
          <a:solidFill>
            <a:srgbClr val="FFFFFF"/>
          </a:solidFill>
          <a:ln w="9525">
            <a:solidFill>
              <a:srgbClr val="D8E0E8"/>
            </a:solidFill>
            <a:prstDash val="solid"/>
          </a:ln>
        </p:spPr>
        <p:txBody>
          <a:bodyPr/>
          <a:lstStyle/>
          <a:p>
            <a:endParaRPr lang="fr-FR"/>
          </a:p>
        </p:txBody>
      </p:sp>
      <p:sp>
        <p:nvSpPr>
          <p:cNvPr id="18" name="Text 16"/>
          <p:cNvSpPr/>
          <p:nvPr/>
        </p:nvSpPr>
        <p:spPr>
          <a:xfrm>
            <a:off x="8065008" y="731520"/>
            <a:ext cx="786384" cy="256032"/>
          </a:xfrm>
          <a:prstGeom prst="rect">
            <a:avLst/>
          </a:prstGeom>
          <a:noFill/>
          <a:ln/>
        </p:spPr>
        <p:txBody>
          <a:bodyPr wrap="square" lIns="0" tIns="0" rIns="0" bIns="0" rtlCol="0" anchor="ctr"/>
          <a:lstStyle/>
          <a:p>
            <a:pPr marL="0" indent="0" algn="ctr">
              <a:lnSpc>
                <a:spcPct val="106000"/>
              </a:lnSpc>
              <a:buNone/>
            </a:pPr>
            <a:r>
              <a:rPr lang="en-US" sz="1300" b="1" dirty="0">
                <a:solidFill>
                  <a:srgbClr val="12263F"/>
                </a:solidFill>
                <a:latin typeface="Calibri" pitchFamily="34" charset="0"/>
                <a:ea typeface="Calibri" pitchFamily="34" charset="-122"/>
                <a:cs typeface="Calibri" pitchFamily="34" charset="-120"/>
              </a:rPr>
              <a:t>6</a:t>
            </a:r>
            <a:endParaRPr lang="en-US" sz="1300" dirty="0"/>
          </a:p>
        </p:txBody>
      </p:sp>
      <p:sp>
        <p:nvSpPr>
          <p:cNvPr id="19" name="Text 17"/>
          <p:cNvSpPr/>
          <p:nvPr/>
        </p:nvSpPr>
        <p:spPr>
          <a:xfrm>
            <a:off x="8065008" y="987552"/>
            <a:ext cx="786384" cy="164592"/>
          </a:xfrm>
          <a:prstGeom prst="rect">
            <a:avLst/>
          </a:prstGeom>
          <a:noFill/>
          <a:ln/>
        </p:spPr>
        <p:txBody>
          <a:bodyPr wrap="square" lIns="0" tIns="0" rIns="0" bIns="0" rtlCol="0" anchor="ctr"/>
          <a:lstStyle/>
          <a:p>
            <a:pPr marL="0" indent="0" algn="ctr">
              <a:lnSpc>
                <a:spcPct val="106000"/>
              </a:lnSpc>
              <a:buNone/>
            </a:pPr>
            <a:r>
              <a:rPr lang="en-US" sz="560" dirty="0">
                <a:solidFill>
                  <a:srgbClr val="4A5769"/>
                </a:solidFill>
                <a:latin typeface="Calibri" pitchFamily="34" charset="0"/>
                <a:ea typeface="Calibri" pitchFamily="34" charset="-122"/>
                <a:cs typeface="Calibri" pitchFamily="34" charset="-120"/>
              </a:rPr>
              <a:t>JALONS</a:t>
            </a:r>
            <a:endParaRPr lang="en-US" sz="560" dirty="0"/>
          </a:p>
        </p:txBody>
      </p:sp>
      <p:sp>
        <p:nvSpPr>
          <p:cNvPr id="20" name="Shape 18"/>
          <p:cNvSpPr/>
          <p:nvPr/>
        </p:nvSpPr>
        <p:spPr>
          <a:xfrm>
            <a:off x="292608" y="2286000"/>
            <a:ext cx="1920240" cy="841248"/>
          </a:xfrm>
          <a:prstGeom prst="rect">
            <a:avLst/>
          </a:prstGeom>
          <a:solidFill>
            <a:srgbClr val="FFFFFF"/>
          </a:solidFill>
          <a:ln w="22225">
            <a:solidFill>
              <a:srgbClr val="B03A48"/>
            </a:solidFill>
            <a:prstDash val="solid"/>
          </a:ln>
        </p:spPr>
        <p:txBody>
          <a:bodyPr/>
          <a:lstStyle/>
          <a:p>
            <a:endParaRPr lang="fr-FR"/>
          </a:p>
        </p:txBody>
      </p:sp>
      <p:sp>
        <p:nvSpPr>
          <p:cNvPr id="21" name="Shape 19"/>
          <p:cNvSpPr/>
          <p:nvPr/>
        </p:nvSpPr>
        <p:spPr>
          <a:xfrm>
            <a:off x="292608" y="2286000"/>
            <a:ext cx="1920240" cy="45720"/>
          </a:xfrm>
          <a:prstGeom prst="rect">
            <a:avLst/>
          </a:prstGeom>
          <a:solidFill>
            <a:srgbClr val="E08A3C"/>
          </a:solidFill>
          <a:ln/>
        </p:spPr>
        <p:txBody>
          <a:bodyPr/>
          <a:lstStyle/>
          <a:p>
            <a:endParaRPr lang="fr-FR"/>
          </a:p>
        </p:txBody>
      </p:sp>
      <p:sp>
        <p:nvSpPr>
          <p:cNvPr id="22" name="Text 20"/>
          <p:cNvSpPr/>
          <p:nvPr/>
        </p:nvSpPr>
        <p:spPr>
          <a:xfrm>
            <a:off x="420624" y="2386584"/>
            <a:ext cx="640080" cy="137160"/>
          </a:xfrm>
          <a:prstGeom prst="rect">
            <a:avLst/>
          </a:prstGeom>
          <a:noFill/>
          <a:ln/>
        </p:spPr>
        <p:txBody>
          <a:bodyPr wrap="square" lIns="0" tIns="0" rIns="0" bIns="0" rtlCol="0" anchor="ctr"/>
          <a:lstStyle/>
          <a:p>
            <a:pPr marL="0" indent="0" algn="l">
              <a:lnSpc>
                <a:spcPct val="106000"/>
              </a:lnSpc>
              <a:buNone/>
            </a:pPr>
            <a:r>
              <a:rPr lang="en-US" sz="640" b="1" dirty="0">
                <a:solidFill>
                  <a:srgbClr val="E08A3C"/>
                </a:solidFill>
                <a:latin typeface="Calibri" pitchFamily="34" charset="0"/>
                <a:ea typeface="Calibri" pitchFamily="34" charset="-122"/>
                <a:cs typeface="Calibri" pitchFamily="34" charset="-120"/>
              </a:rPr>
              <a:t>LOT 1</a:t>
            </a:r>
            <a:endParaRPr lang="en-US" sz="640" dirty="0"/>
          </a:p>
        </p:txBody>
      </p:sp>
      <p:sp>
        <p:nvSpPr>
          <p:cNvPr id="23" name="Text 21"/>
          <p:cNvSpPr/>
          <p:nvPr/>
        </p:nvSpPr>
        <p:spPr>
          <a:xfrm>
            <a:off x="420624" y="2532888"/>
            <a:ext cx="1664208" cy="310896"/>
          </a:xfrm>
          <a:prstGeom prst="rect">
            <a:avLst/>
          </a:prstGeom>
          <a:noFill/>
          <a:ln/>
        </p:spPr>
        <p:txBody>
          <a:bodyPr wrap="square" lIns="0" tIns="0" rIns="0" bIns="0" rtlCol="0" anchor="ctr"/>
          <a:lstStyle/>
          <a:p>
            <a:pPr marL="0" indent="0" algn="l">
              <a:lnSpc>
                <a:spcPct val="106000"/>
              </a:lnSpc>
              <a:buNone/>
            </a:pPr>
            <a:r>
              <a:rPr lang="en-US" sz="1050" b="1" dirty="0">
                <a:solidFill>
                  <a:srgbClr val="12263F"/>
                </a:solidFill>
                <a:latin typeface="Calibri" pitchFamily="34" charset="0"/>
                <a:ea typeface="Calibri" pitchFamily="34" charset="-122"/>
                <a:cs typeface="Calibri" pitchFamily="34" charset="-120"/>
              </a:rPr>
              <a:t>Cadrage et conception</a:t>
            </a:r>
            <a:endParaRPr lang="en-US" sz="1050" dirty="0"/>
          </a:p>
        </p:txBody>
      </p:sp>
      <p:sp>
        <p:nvSpPr>
          <p:cNvPr id="24" name="Text 22"/>
          <p:cNvSpPr/>
          <p:nvPr/>
        </p:nvSpPr>
        <p:spPr>
          <a:xfrm>
            <a:off x="420624" y="2907792"/>
            <a:ext cx="914400" cy="155448"/>
          </a:xfrm>
          <a:prstGeom prst="rect">
            <a:avLst/>
          </a:prstGeom>
          <a:noFill/>
          <a:ln/>
        </p:spPr>
        <p:txBody>
          <a:bodyPr wrap="square" lIns="0" tIns="0" rIns="0" bIns="0" rtlCol="0" anchor="ctr"/>
          <a:lstStyle/>
          <a:p>
            <a:pPr marL="0" indent="0" algn="l">
              <a:lnSpc>
                <a:spcPct val="106000"/>
              </a:lnSpc>
              <a:buNone/>
            </a:pPr>
            <a:r>
              <a:rPr lang="en-US" sz="850" b="1" dirty="0">
                <a:solidFill>
                  <a:srgbClr val="4A5769"/>
                </a:solidFill>
                <a:latin typeface="Calibri" pitchFamily="34" charset="0"/>
                <a:ea typeface="Calibri" pitchFamily="34" charset="-122"/>
                <a:cs typeface="Calibri" pitchFamily="34" charset="-120"/>
              </a:rPr>
              <a:t>14 j·p</a:t>
            </a:r>
            <a:endParaRPr lang="en-US" sz="850" dirty="0"/>
          </a:p>
        </p:txBody>
      </p:sp>
      <p:sp>
        <p:nvSpPr>
          <p:cNvPr id="25" name="Text 23"/>
          <p:cNvSpPr/>
          <p:nvPr/>
        </p:nvSpPr>
        <p:spPr>
          <a:xfrm>
            <a:off x="1024128" y="2907792"/>
            <a:ext cx="1060704" cy="155448"/>
          </a:xfrm>
          <a:prstGeom prst="rect">
            <a:avLst/>
          </a:prstGeom>
          <a:noFill/>
          <a:ln/>
        </p:spPr>
        <p:txBody>
          <a:bodyPr wrap="square" lIns="0" tIns="0" rIns="0" bIns="0" rtlCol="0" anchor="ctr"/>
          <a:lstStyle/>
          <a:p>
            <a:pPr marL="0" indent="0" algn="r">
              <a:lnSpc>
                <a:spcPct val="106000"/>
              </a:lnSpc>
              <a:buNone/>
            </a:pPr>
            <a:r>
              <a:rPr lang="en-US" sz="750" b="1" dirty="0">
                <a:solidFill>
                  <a:srgbClr val="B03A48"/>
                </a:solidFill>
                <a:latin typeface="Calibri" pitchFamily="34" charset="0"/>
                <a:ea typeface="Calibri" pitchFamily="34" charset="-122"/>
                <a:cs typeface="Calibri" pitchFamily="34" charset="-120"/>
              </a:rPr>
              <a:t>critique</a:t>
            </a:r>
            <a:endParaRPr lang="en-US" sz="750" dirty="0"/>
          </a:p>
        </p:txBody>
      </p:sp>
      <p:sp>
        <p:nvSpPr>
          <p:cNvPr id="26" name="Shape 24"/>
          <p:cNvSpPr/>
          <p:nvPr/>
        </p:nvSpPr>
        <p:spPr>
          <a:xfrm>
            <a:off x="2542032" y="2286000"/>
            <a:ext cx="1920240" cy="841248"/>
          </a:xfrm>
          <a:prstGeom prst="rect">
            <a:avLst/>
          </a:prstGeom>
          <a:solidFill>
            <a:srgbClr val="FFFFFF"/>
          </a:solidFill>
          <a:ln w="22225">
            <a:solidFill>
              <a:srgbClr val="B03A48"/>
            </a:solidFill>
            <a:prstDash val="solid"/>
          </a:ln>
        </p:spPr>
        <p:txBody>
          <a:bodyPr/>
          <a:lstStyle/>
          <a:p>
            <a:endParaRPr lang="fr-FR"/>
          </a:p>
        </p:txBody>
      </p:sp>
      <p:sp>
        <p:nvSpPr>
          <p:cNvPr id="27" name="Shape 25"/>
          <p:cNvSpPr/>
          <p:nvPr/>
        </p:nvSpPr>
        <p:spPr>
          <a:xfrm>
            <a:off x="2542032" y="2286000"/>
            <a:ext cx="1920240" cy="45720"/>
          </a:xfrm>
          <a:prstGeom prst="rect">
            <a:avLst/>
          </a:prstGeom>
          <a:solidFill>
            <a:srgbClr val="12855A"/>
          </a:solidFill>
          <a:ln/>
        </p:spPr>
        <p:txBody>
          <a:bodyPr/>
          <a:lstStyle/>
          <a:p>
            <a:endParaRPr lang="fr-FR"/>
          </a:p>
        </p:txBody>
      </p:sp>
      <p:sp>
        <p:nvSpPr>
          <p:cNvPr id="28" name="Text 26"/>
          <p:cNvSpPr/>
          <p:nvPr/>
        </p:nvSpPr>
        <p:spPr>
          <a:xfrm>
            <a:off x="2670048" y="2386584"/>
            <a:ext cx="640080" cy="137160"/>
          </a:xfrm>
          <a:prstGeom prst="rect">
            <a:avLst/>
          </a:prstGeom>
          <a:noFill/>
          <a:ln/>
        </p:spPr>
        <p:txBody>
          <a:bodyPr wrap="square" lIns="0" tIns="0" rIns="0" bIns="0" rtlCol="0" anchor="ctr"/>
          <a:lstStyle/>
          <a:p>
            <a:pPr marL="0" indent="0" algn="l">
              <a:lnSpc>
                <a:spcPct val="106000"/>
              </a:lnSpc>
              <a:buNone/>
            </a:pPr>
            <a:r>
              <a:rPr lang="en-US" sz="640" b="1" dirty="0">
                <a:solidFill>
                  <a:srgbClr val="12855A"/>
                </a:solidFill>
                <a:latin typeface="Calibri" pitchFamily="34" charset="0"/>
                <a:ea typeface="Calibri" pitchFamily="34" charset="-122"/>
                <a:cs typeface="Calibri" pitchFamily="34" charset="-120"/>
              </a:rPr>
              <a:t>LOT 2</a:t>
            </a:r>
            <a:endParaRPr lang="en-US" sz="640" dirty="0"/>
          </a:p>
        </p:txBody>
      </p:sp>
      <p:sp>
        <p:nvSpPr>
          <p:cNvPr id="29" name="Text 27"/>
          <p:cNvSpPr/>
          <p:nvPr/>
        </p:nvSpPr>
        <p:spPr>
          <a:xfrm>
            <a:off x="2670048" y="2532888"/>
            <a:ext cx="1664208" cy="310896"/>
          </a:xfrm>
          <a:prstGeom prst="rect">
            <a:avLst/>
          </a:prstGeom>
          <a:noFill/>
          <a:ln/>
        </p:spPr>
        <p:txBody>
          <a:bodyPr wrap="square" lIns="0" tIns="0" rIns="0" bIns="0" rtlCol="0" anchor="ctr"/>
          <a:lstStyle/>
          <a:p>
            <a:pPr marL="0" indent="0" algn="l">
              <a:lnSpc>
                <a:spcPct val="106000"/>
              </a:lnSpc>
              <a:buNone/>
            </a:pPr>
            <a:r>
              <a:rPr lang="en-US" sz="1050" b="1" dirty="0">
                <a:solidFill>
                  <a:srgbClr val="12263F"/>
                </a:solidFill>
                <a:latin typeface="Calibri" pitchFamily="34" charset="0"/>
                <a:ea typeface="Calibri" pitchFamily="34" charset="-122"/>
                <a:cs typeface="Calibri" pitchFamily="34" charset="-120"/>
              </a:rPr>
              <a:t>Application backend</a:t>
            </a:r>
            <a:endParaRPr lang="en-US" sz="1050" dirty="0"/>
          </a:p>
        </p:txBody>
      </p:sp>
      <p:sp>
        <p:nvSpPr>
          <p:cNvPr id="30" name="Text 28"/>
          <p:cNvSpPr/>
          <p:nvPr/>
        </p:nvSpPr>
        <p:spPr>
          <a:xfrm>
            <a:off x="2670048" y="2907792"/>
            <a:ext cx="914400" cy="155448"/>
          </a:xfrm>
          <a:prstGeom prst="rect">
            <a:avLst/>
          </a:prstGeom>
          <a:noFill/>
          <a:ln/>
        </p:spPr>
        <p:txBody>
          <a:bodyPr wrap="square" lIns="0" tIns="0" rIns="0" bIns="0" rtlCol="0" anchor="ctr"/>
          <a:lstStyle/>
          <a:p>
            <a:pPr marL="0" indent="0" algn="l">
              <a:lnSpc>
                <a:spcPct val="106000"/>
              </a:lnSpc>
              <a:buNone/>
            </a:pPr>
            <a:r>
              <a:rPr lang="en-US" sz="850" b="1" dirty="0">
                <a:solidFill>
                  <a:srgbClr val="4A5769"/>
                </a:solidFill>
                <a:latin typeface="Calibri" pitchFamily="34" charset="0"/>
                <a:ea typeface="Calibri" pitchFamily="34" charset="-122"/>
                <a:cs typeface="Calibri" pitchFamily="34" charset="-120"/>
              </a:rPr>
              <a:t>25 j·p</a:t>
            </a:r>
            <a:endParaRPr lang="en-US" sz="850" dirty="0"/>
          </a:p>
        </p:txBody>
      </p:sp>
      <p:sp>
        <p:nvSpPr>
          <p:cNvPr id="31" name="Text 29"/>
          <p:cNvSpPr/>
          <p:nvPr/>
        </p:nvSpPr>
        <p:spPr>
          <a:xfrm>
            <a:off x="3273552" y="2907792"/>
            <a:ext cx="1060704" cy="155448"/>
          </a:xfrm>
          <a:prstGeom prst="rect">
            <a:avLst/>
          </a:prstGeom>
          <a:noFill/>
          <a:ln/>
        </p:spPr>
        <p:txBody>
          <a:bodyPr wrap="square" lIns="0" tIns="0" rIns="0" bIns="0" rtlCol="0" anchor="ctr"/>
          <a:lstStyle/>
          <a:p>
            <a:pPr marL="0" indent="0" algn="r">
              <a:lnSpc>
                <a:spcPct val="106000"/>
              </a:lnSpc>
              <a:buNone/>
            </a:pPr>
            <a:r>
              <a:rPr lang="en-US" sz="750" b="1" dirty="0">
                <a:solidFill>
                  <a:srgbClr val="B03A48"/>
                </a:solidFill>
                <a:latin typeface="Calibri" pitchFamily="34" charset="0"/>
                <a:ea typeface="Calibri" pitchFamily="34" charset="-122"/>
                <a:cs typeface="Calibri" pitchFamily="34" charset="-120"/>
              </a:rPr>
              <a:t>critique</a:t>
            </a:r>
            <a:endParaRPr lang="en-US" sz="750" dirty="0"/>
          </a:p>
        </p:txBody>
      </p:sp>
      <p:sp>
        <p:nvSpPr>
          <p:cNvPr id="32" name="Shape 30"/>
          <p:cNvSpPr/>
          <p:nvPr/>
        </p:nvSpPr>
        <p:spPr>
          <a:xfrm>
            <a:off x="2542032" y="1517904"/>
            <a:ext cx="1920240" cy="676656"/>
          </a:xfrm>
          <a:prstGeom prst="rect">
            <a:avLst/>
          </a:prstGeom>
          <a:solidFill>
            <a:srgbClr val="FFFFFF"/>
          </a:solidFill>
          <a:ln w="11430">
            <a:solidFill>
              <a:srgbClr val="E2E8EE"/>
            </a:solidFill>
            <a:prstDash val="solid"/>
          </a:ln>
        </p:spPr>
        <p:txBody>
          <a:bodyPr/>
          <a:lstStyle/>
          <a:p>
            <a:endParaRPr lang="fr-FR"/>
          </a:p>
        </p:txBody>
      </p:sp>
      <p:sp>
        <p:nvSpPr>
          <p:cNvPr id="33" name="Shape 31"/>
          <p:cNvSpPr/>
          <p:nvPr/>
        </p:nvSpPr>
        <p:spPr>
          <a:xfrm>
            <a:off x="2542032" y="1517904"/>
            <a:ext cx="1920240" cy="45720"/>
          </a:xfrm>
          <a:prstGeom prst="rect">
            <a:avLst/>
          </a:prstGeom>
          <a:solidFill>
            <a:srgbClr val="1B6EC2"/>
          </a:solidFill>
          <a:ln/>
        </p:spPr>
        <p:txBody>
          <a:bodyPr/>
          <a:lstStyle/>
          <a:p>
            <a:endParaRPr lang="fr-FR"/>
          </a:p>
        </p:txBody>
      </p:sp>
      <p:sp>
        <p:nvSpPr>
          <p:cNvPr id="34" name="Text 32"/>
          <p:cNvSpPr/>
          <p:nvPr/>
        </p:nvSpPr>
        <p:spPr>
          <a:xfrm>
            <a:off x="2670048" y="1618488"/>
            <a:ext cx="640080" cy="137160"/>
          </a:xfrm>
          <a:prstGeom prst="rect">
            <a:avLst/>
          </a:prstGeom>
          <a:noFill/>
          <a:ln/>
        </p:spPr>
        <p:txBody>
          <a:bodyPr wrap="square" lIns="0" tIns="0" rIns="0" bIns="0" rtlCol="0" anchor="ctr"/>
          <a:lstStyle/>
          <a:p>
            <a:pPr marL="0" indent="0" algn="l">
              <a:lnSpc>
                <a:spcPct val="106000"/>
              </a:lnSpc>
              <a:buNone/>
            </a:pPr>
            <a:r>
              <a:rPr lang="en-US" sz="640" b="1" dirty="0">
                <a:solidFill>
                  <a:srgbClr val="1B6EC2"/>
                </a:solidFill>
                <a:latin typeface="Calibri" pitchFamily="34" charset="0"/>
                <a:ea typeface="Calibri" pitchFamily="34" charset="-122"/>
                <a:cs typeface="Calibri" pitchFamily="34" charset="-120"/>
              </a:rPr>
              <a:t>LOT 3</a:t>
            </a:r>
            <a:endParaRPr lang="en-US" sz="640" dirty="0"/>
          </a:p>
        </p:txBody>
      </p:sp>
      <p:sp>
        <p:nvSpPr>
          <p:cNvPr id="35" name="Text 33"/>
          <p:cNvSpPr/>
          <p:nvPr/>
        </p:nvSpPr>
        <p:spPr>
          <a:xfrm>
            <a:off x="2670048" y="1764792"/>
            <a:ext cx="1664208" cy="310896"/>
          </a:xfrm>
          <a:prstGeom prst="rect">
            <a:avLst/>
          </a:prstGeom>
          <a:noFill/>
          <a:ln/>
        </p:spPr>
        <p:txBody>
          <a:bodyPr wrap="square" lIns="0" tIns="0" rIns="0" bIns="0" rtlCol="0" anchor="ctr"/>
          <a:lstStyle/>
          <a:p>
            <a:pPr marL="0" indent="0" algn="l">
              <a:lnSpc>
                <a:spcPct val="106000"/>
              </a:lnSpc>
              <a:buNone/>
            </a:pPr>
            <a:r>
              <a:rPr lang="en-US" sz="1050" b="1" dirty="0">
                <a:solidFill>
                  <a:srgbClr val="12263F"/>
                </a:solidFill>
                <a:latin typeface="Calibri" pitchFamily="34" charset="0"/>
                <a:ea typeface="Calibri" pitchFamily="34" charset="-122"/>
                <a:cs typeface="Calibri" pitchFamily="34" charset="-120"/>
              </a:rPr>
              <a:t>Application frontend</a:t>
            </a:r>
            <a:endParaRPr lang="en-US" sz="1050" dirty="0"/>
          </a:p>
        </p:txBody>
      </p:sp>
      <p:sp>
        <p:nvSpPr>
          <p:cNvPr id="36" name="Text 34"/>
          <p:cNvSpPr/>
          <p:nvPr/>
        </p:nvSpPr>
        <p:spPr>
          <a:xfrm>
            <a:off x="2670048" y="1975104"/>
            <a:ext cx="914400" cy="155448"/>
          </a:xfrm>
          <a:prstGeom prst="rect">
            <a:avLst/>
          </a:prstGeom>
          <a:noFill/>
          <a:ln/>
        </p:spPr>
        <p:txBody>
          <a:bodyPr wrap="square" lIns="0" tIns="0" rIns="0" bIns="0" rtlCol="0" anchor="ctr"/>
          <a:lstStyle/>
          <a:p>
            <a:pPr marL="0" indent="0" algn="l">
              <a:lnSpc>
                <a:spcPct val="106000"/>
              </a:lnSpc>
              <a:buNone/>
            </a:pPr>
            <a:r>
              <a:rPr lang="en-US" sz="850" b="1" dirty="0">
                <a:solidFill>
                  <a:srgbClr val="4A5769"/>
                </a:solidFill>
                <a:latin typeface="Calibri" pitchFamily="34" charset="0"/>
                <a:ea typeface="Calibri" pitchFamily="34" charset="-122"/>
                <a:cs typeface="Calibri" pitchFamily="34" charset="-120"/>
              </a:rPr>
              <a:t>18 j·p</a:t>
            </a:r>
            <a:endParaRPr lang="en-US" sz="850" dirty="0"/>
          </a:p>
        </p:txBody>
      </p:sp>
      <p:sp>
        <p:nvSpPr>
          <p:cNvPr id="37" name="Text 35"/>
          <p:cNvSpPr/>
          <p:nvPr/>
        </p:nvSpPr>
        <p:spPr>
          <a:xfrm>
            <a:off x="3273552" y="1975104"/>
            <a:ext cx="1060704" cy="155448"/>
          </a:xfrm>
          <a:prstGeom prst="rect">
            <a:avLst/>
          </a:prstGeom>
          <a:noFill/>
          <a:ln/>
        </p:spPr>
        <p:txBody>
          <a:bodyPr wrap="square" lIns="0" tIns="0" rIns="0" bIns="0" rtlCol="0" anchor="ctr"/>
          <a:lstStyle/>
          <a:p>
            <a:pPr marL="0" indent="0" algn="r">
              <a:lnSpc>
                <a:spcPct val="106000"/>
              </a:lnSpc>
              <a:buNone/>
            </a:pPr>
            <a:r>
              <a:rPr lang="en-US" sz="750" b="1" dirty="0">
                <a:solidFill>
                  <a:srgbClr val="12855A"/>
                </a:solidFill>
                <a:latin typeface="Calibri" pitchFamily="34" charset="0"/>
                <a:ea typeface="Calibri" pitchFamily="34" charset="-122"/>
                <a:cs typeface="Calibri" pitchFamily="34" charset="-120"/>
              </a:rPr>
              <a:t>5 à 12 j de marge</a:t>
            </a:r>
            <a:endParaRPr lang="en-US" sz="750" dirty="0"/>
          </a:p>
        </p:txBody>
      </p:sp>
      <p:sp>
        <p:nvSpPr>
          <p:cNvPr id="38" name="Shape 36"/>
          <p:cNvSpPr/>
          <p:nvPr/>
        </p:nvSpPr>
        <p:spPr>
          <a:xfrm>
            <a:off x="2542032" y="3218688"/>
            <a:ext cx="1920240" cy="676656"/>
          </a:xfrm>
          <a:prstGeom prst="rect">
            <a:avLst/>
          </a:prstGeom>
          <a:solidFill>
            <a:srgbClr val="FFFFFF"/>
          </a:solidFill>
          <a:ln w="11430">
            <a:solidFill>
              <a:srgbClr val="E2E8EE"/>
            </a:solidFill>
            <a:prstDash val="solid"/>
          </a:ln>
        </p:spPr>
        <p:txBody>
          <a:bodyPr/>
          <a:lstStyle/>
          <a:p>
            <a:endParaRPr lang="fr-FR"/>
          </a:p>
        </p:txBody>
      </p:sp>
      <p:sp>
        <p:nvSpPr>
          <p:cNvPr id="39" name="Shape 37"/>
          <p:cNvSpPr/>
          <p:nvPr/>
        </p:nvSpPr>
        <p:spPr>
          <a:xfrm>
            <a:off x="2542032" y="3218688"/>
            <a:ext cx="1920240" cy="45720"/>
          </a:xfrm>
          <a:prstGeom prst="rect">
            <a:avLst/>
          </a:prstGeom>
          <a:solidFill>
            <a:srgbClr val="6B3FD4"/>
          </a:solidFill>
          <a:ln/>
        </p:spPr>
        <p:txBody>
          <a:bodyPr/>
          <a:lstStyle/>
          <a:p>
            <a:endParaRPr lang="fr-FR"/>
          </a:p>
        </p:txBody>
      </p:sp>
      <p:sp>
        <p:nvSpPr>
          <p:cNvPr id="40" name="Text 38"/>
          <p:cNvSpPr/>
          <p:nvPr/>
        </p:nvSpPr>
        <p:spPr>
          <a:xfrm>
            <a:off x="2670048" y="3319272"/>
            <a:ext cx="640080" cy="137160"/>
          </a:xfrm>
          <a:prstGeom prst="rect">
            <a:avLst/>
          </a:prstGeom>
          <a:noFill/>
          <a:ln/>
        </p:spPr>
        <p:txBody>
          <a:bodyPr wrap="square" lIns="0" tIns="0" rIns="0" bIns="0" rtlCol="0" anchor="ctr"/>
          <a:lstStyle/>
          <a:p>
            <a:pPr marL="0" indent="0" algn="l">
              <a:lnSpc>
                <a:spcPct val="106000"/>
              </a:lnSpc>
              <a:buNone/>
            </a:pPr>
            <a:r>
              <a:rPr lang="en-US" sz="640" b="1" dirty="0">
                <a:solidFill>
                  <a:srgbClr val="6B3FD4"/>
                </a:solidFill>
                <a:latin typeface="Calibri" pitchFamily="34" charset="0"/>
                <a:ea typeface="Calibri" pitchFamily="34" charset="-122"/>
                <a:cs typeface="Calibri" pitchFamily="34" charset="-120"/>
              </a:rPr>
              <a:t>LOT 4</a:t>
            </a:r>
            <a:endParaRPr lang="en-US" sz="640" dirty="0"/>
          </a:p>
        </p:txBody>
      </p:sp>
      <p:sp>
        <p:nvSpPr>
          <p:cNvPr id="41" name="Text 39"/>
          <p:cNvSpPr/>
          <p:nvPr/>
        </p:nvSpPr>
        <p:spPr>
          <a:xfrm>
            <a:off x="2670048" y="3465576"/>
            <a:ext cx="1664208" cy="310896"/>
          </a:xfrm>
          <a:prstGeom prst="rect">
            <a:avLst/>
          </a:prstGeom>
          <a:noFill/>
          <a:ln/>
        </p:spPr>
        <p:txBody>
          <a:bodyPr wrap="square" lIns="0" tIns="0" rIns="0" bIns="0" rtlCol="0" anchor="ctr"/>
          <a:lstStyle/>
          <a:p>
            <a:pPr marL="0" indent="0" algn="l">
              <a:lnSpc>
                <a:spcPct val="106000"/>
              </a:lnSpc>
              <a:buNone/>
            </a:pPr>
            <a:r>
              <a:rPr lang="en-US" sz="1050" b="1" dirty="0">
                <a:solidFill>
                  <a:srgbClr val="12263F"/>
                </a:solidFill>
                <a:latin typeface="Calibri" pitchFamily="34" charset="0"/>
                <a:ea typeface="Calibri" pitchFamily="34" charset="-122"/>
                <a:cs typeface="Calibri" pitchFamily="34" charset="-120"/>
              </a:rPr>
              <a:t>Infrastructure et livraison</a:t>
            </a:r>
            <a:endParaRPr lang="en-US" sz="1050" dirty="0"/>
          </a:p>
        </p:txBody>
      </p:sp>
      <p:sp>
        <p:nvSpPr>
          <p:cNvPr id="42" name="Text 40"/>
          <p:cNvSpPr/>
          <p:nvPr/>
        </p:nvSpPr>
        <p:spPr>
          <a:xfrm>
            <a:off x="2670048" y="3675888"/>
            <a:ext cx="914400" cy="155448"/>
          </a:xfrm>
          <a:prstGeom prst="rect">
            <a:avLst/>
          </a:prstGeom>
          <a:noFill/>
          <a:ln/>
        </p:spPr>
        <p:txBody>
          <a:bodyPr wrap="square" lIns="0" tIns="0" rIns="0" bIns="0" rtlCol="0" anchor="ctr"/>
          <a:lstStyle/>
          <a:p>
            <a:pPr marL="0" indent="0" algn="l">
              <a:lnSpc>
                <a:spcPct val="106000"/>
              </a:lnSpc>
              <a:buNone/>
            </a:pPr>
            <a:r>
              <a:rPr lang="en-US" sz="850" b="1" dirty="0">
                <a:solidFill>
                  <a:srgbClr val="4A5769"/>
                </a:solidFill>
                <a:latin typeface="Calibri" pitchFamily="34" charset="0"/>
                <a:ea typeface="Calibri" pitchFamily="34" charset="-122"/>
                <a:cs typeface="Calibri" pitchFamily="34" charset="-120"/>
              </a:rPr>
              <a:t>21 j·p</a:t>
            </a:r>
            <a:endParaRPr lang="en-US" sz="850" dirty="0"/>
          </a:p>
        </p:txBody>
      </p:sp>
      <p:sp>
        <p:nvSpPr>
          <p:cNvPr id="43" name="Text 41"/>
          <p:cNvSpPr/>
          <p:nvPr/>
        </p:nvSpPr>
        <p:spPr>
          <a:xfrm>
            <a:off x="3273552" y="3675888"/>
            <a:ext cx="1060704" cy="155448"/>
          </a:xfrm>
          <a:prstGeom prst="rect">
            <a:avLst/>
          </a:prstGeom>
          <a:noFill/>
          <a:ln/>
        </p:spPr>
        <p:txBody>
          <a:bodyPr wrap="square" lIns="0" tIns="0" rIns="0" bIns="0" rtlCol="0" anchor="ctr"/>
          <a:lstStyle/>
          <a:p>
            <a:pPr marL="0" indent="0" algn="r">
              <a:lnSpc>
                <a:spcPct val="106000"/>
              </a:lnSpc>
              <a:buNone/>
            </a:pPr>
            <a:r>
              <a:rPr lang="en-US" sz="750" b="1" dirty="0">
                <a:solidFill>
                  <a:srgbClr val="12855A"/>
                </a:solidFill>
                <a:latin typeface="Calibri" pitchFamily="34" charset="0"/>
                <a:ea typeface="Calibri" pitchFamily="34" charset="-122"/>
                <a:cs typeface="Calibri" pitchFamily="34" charset="-120"/>
              </a:rPr>
              <a:t>jusqu'à 16 j</a:t>
            </a:r>
            <a:endParaRPr lang="en-US" sz="750" dirty="0"/>
          </a:p>
        </p:txBody>
      </p:sp>
      <p:sp>
        <p:nvSpPr>
          <p:cNvPr id="44" name="Shape 42"/>
          <p:cNvSpPr/>
          <p:nvPr/>
        </p:nvSpPr>
        <p:spPr>
          <a:xfrm>
            <a:off x="4791456" y="2286000"/>
            <a:ext cx="1920240" cy="841248"/>
          </a:xfrm>
          <a:prstGeom prst="rect">
            <a:avLst/>
          </a:prstGeom>
          <a:solidFill>
            <a:srgbClr val="FFFFFF"/>
          </a:solidFill>
          <a:ln w="22225">
            <a:solidFill>
              <a:srgbClr val="B03A48"/>
            </a:solidFill>
            <a:prstDash val="solid"/>
          </a:ln>
        </p:spPr>
        <p:txBody>
          <a:bodyPr/>
          <a:lstStyle/>
          <a:p>
            <a:endParaRPr lang="fr-FR"/>
          </a:p>
        </p:txBody>
      </p:sp>
      <p:sp>
        <p:nvSpPr>
          <p:cNvPr id="45" name="Shape 43"/>
          <p:cNvSpPr/>
          <p:nvPr/>
        </p:nvSpPr>
        <p:spPr>
          <a:xfrm>
            <a:off x="4791456" y="2286000"/>
            <a:ext cx="1920240" cy="45720"/>
          </a:xfrm>
          <a:prstGeom prst="rect">
            <a:avLst/>
          </a:prstGeom>
          <a:solidFill>
            <a:srgbClr val="B03A48"/>
          </a:solidFill>
          <a:ln/>
        </p:spPr>
        <p:txBody>
          <a:bodyPr/>
          <a:lstStyle/>
          <a:p>
            <a:endParaRPr lang="fr-FR"/>
          </a:p>
        </p:txBody>
      </p:sp>
      <p:sp>
        <p:nvSpPr>
          <p:cNvPr id="46" name="Text 44"/>
          <p:cNvSpPr/>
          <p:nvPr/>
        </p:nvSpPr>
        <p:spPr>
          <a:xfrm>
            <a:off x="4919472" y="2386584"/>
            <a:ext cx="640080" cy="137160"/>
          </a:xfrm>
          <a:prstGeom prst="rect">
            <a:avLst/>
          </a:prstGeom>
          <a:noFill/>
          <a:ln/>
        </p:spPr>
        <p:txBody>
          <a:bodyPr wrap="square" lIns="0" tIns="0" rIns="0" bIns="0" rtlCol="0" anchor="ctr"/>
          <a:lstStyle/>
          <a:p>
            <a:pPr marL="0" indent="0" algn="l">
              <a:lnSpc>
                <a:spcPct val="106000"/>
              </a:lnSpc>
              <a:buNone/>
            </a:pPr>
            <a:r>
              <a:rPr lang="en-US" sz="640" b="1" dirty="0">
                <a:solidFill>
                  <a:srgbClr val="B03A48"/>
                </a:solidFill>
                <a:latin typeface="Calibri" pitchFamily="34" charset="0"/>
                <a:ea typeface="Calibri" pitchFamily="34" charset="-122"/>
                <a:cs typeface="Calibri" pitchFamily="34" charset="-120"/>
              </a:rPr>
              <a:t>LOT 5</a:t>
            </a:r>
            <a:endParaRPr lang="en-US" sz="640" dirty="0"/>
          </a:p>
        </p:txBody>
      </p:sp>
      <p:sp>
        <p:nvSpPr>
          <p:cNvPr id="47" name="Text 45"/>
          <p:cNvSpPr/>
          <p:nvPr/>
        </p:nvSpPr>
        <p:spPr>
          <a:xfrm>
            <a:off x="4919472" y="2532888"/>
            <a:ext cx="1664208" cy="310896"/>
          </a:xfrm>
          <a:prstGeom prst="rect">
            <a:avLst/>
          </a:prstGeom>
          <a:noFill/>
          <a:ln/>
        </p:spPr>
        <p:txBody>
          <a:bodyPr wrap="square" lIns="0" tIns="0" rIns="0" bIns="0" rtlCol="0" anchor="ctr"/>
          <a:lstStyle/>
          <a:p>
            <a:pPr marL="0" indent="0" algn="l">
              <a:lnSpc>
                <a:spcPct val="106000"/>
              </a:lnSpc>
              <a:buNone/>
            </a:pPr>
            <a:r>
              <a:rPr lang="en-US" sz="1050" b="1" dirty="0">
                <a:solidFill>
                  <a:srgbClr val="12263F"/>
                </a:solidFill>
                <a:latin typeface="Calibri" pitchFamily="34" charset="0"/>
                <a:ea typeface="Calibri" pitchFamily="34" charset="-122"/>
                <a:cs typeface="Calibri" pitchFamily="34" charset="-120"/>
              </a:rPr>
              <a:t>Exploitation et sécurité</a:t>
            </a:r>
            <a:endParaRPr lang="en-US" sz="1050" dirty="0"/>
          </a:p>
        </p:txBody>
      </p:sp>
      <p:sp>
        <p:nvSpPr>
          <p:cNvPr id="48" name="Text 46"/>
          <p:cNvSpPr/>
          <p:nvPr/>
        </p:nvSpPr>
        <p:spPr>
          <a:xfrm>
            <a:off x="4919472" y="2907792"/>
            <a:ext cx="914400" cy="155448"/>
          </a:xfrm>
          <a:prstGeom prst="rect">
            <a:avLst/>
          </a:prstGeom>
          <a:noFill/>
          <a:ln/>
        </p:spPr>
        <p:txBody>
          <a:bodyPr wrap="square" lIns="0" tIns="0" rIns="0" bIns="0" rtlCol="0" anchor="ctr"/>
          <a:lstStyle/>
          <a:p>
            <a:pPr marL="0" indent="0" algn="l">
              <a:lnSpc>
                <a:spcPct val="106000"/>
              </a:lnSpc>
              <a:buNone/>
            </a:pPr>
            <a:r>
              <a:rPr lang="en-US" sz="850" b="1" dirty="0">
                <a:solidFill>
                  <a:srgbClr val="4A5769"/>
                </a:solidFill>
                <a:latin typeface="Calibri" pitchFamily="34" charset="0"/>
                <a:ea typeface="Calibri" pitchFamily="34" charset="-122"/>
                <a:cs typeface="Calibri" pitchFamily="34" charset="-120"/>
              </a:rPr>
              <a:t>16 j·p</a:t>
            </a:r>
            <a:endParaRPr lang="en-US" sz="850" dirty="0"/>
          </a:p>
        </p:txBody>
      </p:sp>
      <p:sp>
        <p:nvSpPr>
          <p:cNvPr id="49" name="Text 47"/>
          <p:cNvSpPr/>
          <p:nvPr/>
        </p:nvSpPr>
        <p:spPr>
          <a:xfrm>
            <a:off x="5522976" y="2907792"/>
            <a:ext cx="1060704" cy="155448"/>
          </a:xfrm>
          <a:prstGeom prst="rect">
            <a:avLst/>
          </a:prstGeom>
          <a:noFill/>
          <a:ln/>
        </p:spPr>
        <p:txBody>
          <a:bodyPr wrap="square" lIns="0" tIns="0" rIns="0" bIns="0" rtlCol="0" anchor="ctr"/>
          <a:lstStyle/>
          <a:p>
            <a:pPr marL="0" indent="0" algn="r">
              <a:lnSpc>
                <a:spcPct val="106000"/>
              </a:lnSpc>
              <a:buNone/>
            </a:pPr>
            <a:r>
              <a:rPr lang="en-US" sz="750" b="1" dirty="0">
                <a:solidFill>
                  <a:srgbClr val="B03A48"/>
                </a:solidFill>
                <a:latin typeface="Calibri" pitchFamily="34" charset="0"/>
                <a:ea typeface="Calibri" pitchFamily="34" charset="-122"/>
                <a:cs typeface="Calibri" pitchFamily="34" charset="-120"/>
              </a:rPr>
              <a:t>critique</a:t>
            </a:r>
            <a:endParaRPr lang="en-US" sz="750" dirty="0"/>
          </a:p>
        </p:txBody>
      </p:sp>
      <p:sp>
        <p:nvSpPr>
          <p:cNvPr id="50" name="Shape 48"/>
          <p:cNvSpPr/>
          <p:nvPr/>
        </p:nvSpPr>
        <p:spPr>
          <a:xfrm>
            <a:off x="6931152" y="2286000"/>
            <a:ext cx="1920240" cy="841248"/>
          </a:xfrm>
          <a:prstGeom prst="rect">
            <a:avLst/>
          </a:prstGeom>
          <a:solidFill>
            <a:srgbClr val="FFFFFF"/>
          </a:solidFill>
          <a:ln w="22225">
            <a:solidFill>
              <a:srgbClr val="B03A48"/>
            </a:solidFill>
            <a:prstDash val="solid"/>
          </a:ln>
        </p:spPr>
        <p:txBody>
          <a:bodyPr/>
          <a:lstStyle/>
          <a:p>
            <a:endParaRPr lang="fr-FR"/>
          </a:p>
        </p:txBody>
      </p:sp>
      <p:sp>
        <p:nvSpPr>
          <p:cNvPr id="51" name="Shape 49"/>
          <p:cNvSpPr/>
          <p:nvPr/>
        </p:nvSpPr>
        <p:spPr>
          <a:xfrm>
            <a:off x="6931152" y="2286000"/>
            <a:ext cx="1920240" cy="45720"/>
          </a:xfrm>
          <a:prstGeom prst="rect">
            <a:avLst/>
          </a:prstGeom>
          <a:solidFill>
            <a:srgbClr val="4A5769"/>
          </a:solidFill>
          <a:ln/>
        </p:spPr>
        <p:txBody>
          <a:bodyPr/>
          <a:lstStyle/>
          <a:p>
            <a:endParaRPr lang="fr-FR"/>
          </a:p>
        </p:txBody>
      </p:sp>
      <p:sp>
        <p:nvSpPr>
          <p:cNvPr id="52" name="Text 50"/>
          <p:cNvSpPr/>
          <p:nvPr/>
        </p:nvSpPr>
        <p:spPr>
          <a:xfrm>
            <a:off x="7059168" y="2386584"/>
            <a:ext cx="640080" cy="137160"/>
          </a:xfrm>
          <a:prstGeom prst="rect">
            <a:avLst/>
          </a:prstGeom>
          <a:noFill/>
          <a:ln/>
        </p:spPr>
        <p:txBody>
          <a:bodyPr wrap="square" lIns="0" tIns="0" rIns="0" bIns="0" rtlCol="0" anchor="ctr"/>
          <a:lstStyle/>
          <a:p>
            <a:pPr marL="0" indent="0" algn="l">
              <a:lnSpc>
                <a:spcPct val="106000"/>
              </a:lnSpc>
              <a:buNone/>
            </a:pPr>
            <a:r>
              <a:rPr lang="en-US" sz="640" b="1" dirty="0">
                <a:solidFill>
                  <a:srgbClr val="4A5769"/>
                </a:solidFill>
                <a:latin typeface="Calibri" pitchFamily="34" charset="0"/>
                <a:ea typeface="Calibri" pitchFamily="34" charset="-122"/>
                <a:cs typeface="Calibri" pitchFamily="34" charset="-120"/>
              </a:rPr>
              <a:t>LOT 6</a:t>
            </a:r>
            <a:endParaRPr lang="en-US" sz="640" dirty="0"/>
          </a:p>
        </p:txBody>
      </p:sp>
      <p:sp>
        <p:nvSpPr>
          <p:cNvPr id="53" name="Text 51"/>
          <p:cNvSpPr/>
          <p:nvPr/>
        </p:nvSpPr>
        <p:spPr>
          <a:xfrm>
            <a:off x="7059168" y="2532888"/>
            <a:ext cx="1664208" cy="310896"/>
          </a:xfrm>
          <a:prstGeom prst="rect">
            <a:avLst/>
          </a:prstGeom>
          <a:noFill/>
          <a:ln/>
        </p:spPr>
        <p:txBody>
          <a:bodyPr wrap="square" lIns="0" tIns="0" rIns="0" bIns="0" rtlCol="0" anchor="ctr"/>
          <a:lstStyle/>
          <a:p>
            <a:pPr marL="0" indent="0" algn="l">
              <a:lnSpc>
                <a:spcPct val="106000"/>
              </a:lnSpc>
              <a:buNone/>
            </a:pPr>
            <a:r>
              <a:rPr lang="en-US" sz="1050" b="1" dirty="0">
                <a:solidFill>
                  <a:srgbClr val="12263F"/>
                </a:solidFill>
                <a:latin typeface="Calibri" pitchFamily="34" charset="0"/>
                <a:ea typeface="Calibri" pitchFamily="34" charset="-122"/>
                <a:cs typeface="Calibri" pitchFamily="34" charset="-120"/>
              </a:rPr>
              <a:t>Documentation et rendu</a:t>
            </a:r>
            <a:endParaRPr lang="en-US" sz="1050" dirty="0"/>
          </a:p>
        </p:txBody>
      </p:sp>
      <p:sp>
        <p:nvSpPr>
          <p:cNvPr id="54" name="Text 52"/>
          <p:cNvSpPr/>
          <p:nvPr/>
        </p:nvSpPr>
        <p:spPr>
          <a:xfrm>
            <a:off x="7059168" y="2907792"/>
            <a:ext cx="914400" cy="155448"/>
          </a:xfrm>
          <a:prstGeom prst="rect">
            <a:avLst/>
          </a:prstGeom>
          <a:noFill/>
          <a:ln/>
        </p:spPr>
        <p:txBody>
          <a:bodyPr wrap="square" lIns="0" tIns="0" rIns="0" bIns="0" rtlCol="0" anchor="ctr"/>
          <a:lstStyle/>
          <a:p>
            <a:pPr marL="0" indent="0" algn="l">
              <a:lnSpc>
                <a:spcPct val="106000"/>
              </a:lnSpc>
              <a:buNone/>
            </a:pPr>
            <a:r>
              <a:rPr lang="en-US" sz="850" b="1" dirty="0">
                <a:solidFill>
                  <a:srgbClr val="4A5769"/>
                </a:solidFill>
                <a:latin typeface="Calibri" pitchFamily="34" charset="0"/>
                <a:ea typeface="Calibri" pitchFamily="34" charset="-122"/>
                <a:cs typeface="Calibri" pitchFamily="34" charset="-120"/>
              </a:rPr>
              <a:t>18 j·p</a:t>
            </a:r>
            <a:endParaRPr lang="en-US" sz="850" dirty="0"/>
          </a:p>
        </p:txBody>
      </p:sp>
      <p:sp>
        <p:nvSpPr>
          <p:cNvPr id="55" name="Text 53"/>
          <p:cNvSpPr/>
          <p:nvPr/>
        </p:nvSpPr>
        <p:spPr>
          <a:xfrm>
            <a:off x="7662672" y="2907792"/>
            <a:ext cx="1060704" cy="155448"/>
          </a:xfrm>
          <a:prstGeom prst="rect">
            <a:avLst/>
          </a:prstGeom>
          <a:noFill/>
          <a:ln/>
        </p:spPr>
        <p:txBody>
          <a:bodyPr wrap="square" lIns="0" tIns="0" rIns="0" bIns="0" rtlCol="0" anchor="ctr"/>
          <a:lstStyle/>
          <a:p>
            <a:pPr marL="0" indent="0" algn="r">
              <a:lnSpc>
                <a:spcPct val="106000"/>
              </a:lnSpc>
              <a:buNone/>
            </a:pPr>
            <a:r>
              <a:rPr lang="en-US" sz="750" b="1" dirty="0">
                <a:solidFill>
                  <a:srgbClr val="B03A48"/>
                </a:solidFill>
                <a:latin typeface="Calibri" pitchFamily="34" charset="0"/>
                <a:ea typeface="Calibri" pitchFamily="34" charset="-122"/>
                <a:cs typeface="Calibri" pitchFamily="34" charset="-120"/>
              </a:rPr>
              <a:t>critique</a:t>
            </a:r>
            <a:endParaRPr lang="en-US" sz="750" dirty="0"/>
          </a:p>
        </p:txBody>
      </p:sp>
      <p:sp>
        <p:nvSpPr>
          <p:cNvPr id="56" name="Shape 54"/>
          <p:cNvSpPr/>
          <p:nvPr/>
        </p:nvSpPr>
        <p:spPr>
          <a:xfrm>
            <a:off x="2240280" y="2706624"/>
            <a:ext cx="210312" cy="0"/>
          </a:xfrm>
          <a:prstGeom prst="line">
            <a:avLst/>
          </a:prstGeom>
          <a:noFill/>
          <a:ln w="15875">
            <a:solidFill>
              <a:srgbClr val="8FA6BC"/>
            </a:solidFill>
            <a:prstDash val="solid"/>
          </a:ln>
        </p:spPr>
        <p:txBody>
          <a:bodyPr/>
          <a:lstStyle/>
          <a:p>
            <a:endParaRPr lang="fr-FR"/>
          </a:p>
        </p:txBody>
      </p:sp>
      <p:sp>
        <p:nvSpPr>
          <p:cNvPr id="57" name="Shape 55"/>
          <p:cNvSpPr/>
          <p:nvPr/>
        </p:nvSpPr>
        <p:spPr>
          <a:xfrm>
            <a:off x="2450592" y="1856232"/>
            <a:ext cx="0" cy="1700784"/>
          </a:xfrm>
          <a:prstGeom prst="line">
            <a:avLst/>
          </a:prstGeom>
          <a:noFill/>
          <a:ln w="15875">
            <a:solidFill>
              <a:srgbClr val="8FA6BC"/>
            </a:solidFill>
            <a:prstDash val="solid"/>
          </a:ln>
        </p:spPr>
        <p:txBody>
          <a:bodyPr/>
          <a:lstStyle/>
          <a:p>
            <a:endParaRPr lang="fr-FR"/>
          </a:p>
        </p:txBody>
      </p:sp>
      <p:sp>
        <p:nvSpPr>
          <p:cNvPr id="58" name="Shape 56"/>
          <p:cNvSpPr/>
          <p:nvPr/>
        </p:nvSpPr>
        <p:spPr>
          <a:xfrm>
            <a:off x="4489704" y="2706624"/>
            <a:ext cx="210312" cy="0"/>
          </a:xfrm>
          <a:prstGeom prst="line">
            <a:avLst/>
          </a:prstGeom>
          <a:noFill/>
          <a:ln w="15875">
            <a:solidFill>
              <a:srgbClr val="8FA6BC"/>
            </a:solidFill>
            <a:prstDash val="solid"/>
          </a:ln>
        </p:spPr>
        <p:txBody>
          <a:bodyPr/>
          <a:lstStyle/>
          <a:p>
            <a:endParaRPr lang="fr-FR"/>
          </a:p>
        </p:txBody>
      </p:sp>
      <p:sp>
        <p:nvSpPr>
          <p:cNvPr id="59" name="Shape 57"/>
          <p:cNvSpPr/>
          <p:nvPr/>
        </p:nvSpPr>
        <p:spPr>
          <a:xfrm>
            <a:off x="4700016" y="1856232"/>
            <a:ext cx="0" cy="1700784"/>
          </a:xfrm>
          <a:prstGeom prst="line">
            <a:avLst/>
          </a:prstGeom>
          <a:noFill/>
          <a:ln w="15875">
            <a:solidFill>
              <a:srgbClr val="8FA6BC"/>
            </a:solidFill>
            <a:prstDash val="solid"/>
          </a:ln>
        </p:spPr>
        <p:txBody>
          <a:bodyPr/>
          <a:lstStyle/>
          <a:p>
            <a:endParaRPr lang="fr-FR"/>
          </a:p>
        </p:txBody>
      </p:sp>
      <p:sp>
        <p:nvSpPr>
          <p:cNvPr id="60" name="Shape 58"/>
          <p:cNvSpPr/>
          <p:nvPr/>
        </p:nvSpPr>
        <p:spPr>
          <a:xfrm>
            <a:off x="2450592" y="1856232"/>
            <a:ext cx="73152" cy="0"/>
          </a:xfrm>
          <a:prstGeom prst="line">
            <a:avLst/>
          </a:prstGeom>
          <a:noFill/>
          <a:ln w="15875">
            <a:solidFill>
              <a:srgbClr val="8FA6BC"/>
            </a:solidFill>
            <a:prstDash val="solid"/>
            <a:tailEnd type="triangle"/>
          </a:ln>
        </p:spPr>
        <p:txBody>
          <a:bodyPr/>
          <a:lstStyle/>
          <a:p>
            <a:endParaRPr lang="fr-FR"/>
          </a:p>
        </p:txBody>
      </p:sp>
      <p:sp>
        <p:nvSpPr>
          <p:cNvPr id="61" name="Shape 59"/>
          <p:cNvSpPr/>
          <p:nvPr/>
        </p:nvSpPr>
        <p:spPr>
          <a:xfrm>
            <a:off x="2450592" y="2706624"/>
            <a:ext cx="73152" cy="0"/>
          </a:xfrm>
          <a:prstGeom prst="line">
            <a:avLst/>
          </a:prstGeom>
          <a:noFill/>
          <a:ln w="15875">
            <a:solidFill>
              <a:srgbClr val="8FA6BC"/>
            </a:solidFill>
            <a:prstDash val="solid"/>
            <a:tailEnd type="triangle"/>
          </a:ln>
        </p:spPr>
        <p:txBody>
          <a:bodyPr/>
          <a:lstStyle/>
          <a:p>
            <a:endParaRPr lang="fr-FR"/>
          </a:p>
        </p:txBody>
      </p:sp>
      <p:sp>
        <p:nvSpPr>
          <p:cNvPr id="62" name="Shape 60"/>
          <p:cNvSpPr/>
          <p:nvPr/>
        </p:nvSpPr>
        <p:spPr>
          <a:xfrm>
            <a:off x="2450592" y="3557016"/>
            <a:ext cx="73152" cy="0"/>
          </a:xfrm>
          <a:prstGeom prst="line">
            <a:avLst/>
          </a:prstGeom>
          <a:noFill/>
          <a:ln w="15875">
            <a:solidFill>
              <a:srgbClr val="8FA6BC"/>
            </a:solidFill>
            <a:prstDash val="solid"/>
            <a:tailEnd type="triangle"/>
          </a:ln>
        </p:spPr>
        <p:txBody>
          <a:bodyPr/>
          <a:lstStyle/>
          <a:p>
            <a:endParaRPr lang="fr-FR"/>
          </a:p>
        </p:txBody>
      </p:sp>
      <p:sp>
        <p:nvSpPr>
          <p:cNvPr id="63" name="Shape 61"/>
          <p:cNvSpPr/>
          <p:nvPr/>
        </p:nvSpPr>
        <p:spPr>
          <a:xfrm>
            <a:off x="4489704" y="1856232"/>
            <a:ext cx="210312" cy="0"/>
          </a:xfrm>
          <a:prstGeom prst="line">
            <a:avLst/>
          </a:prstGeom>
          <a:noFill/>
          <a:ln w="15875">
            <a:solidFill>
              <a:srgbClr val="8FA6BC"/>
            </a:solidFill>
            <a:prstDash val="solid"/>
          </a:ln>
        </p:spPr>
        <p:txBody>
          <a:bodyPr/>
          <a:lstStyle/>
          <a:p>
            <a:endParaRPr lang="fr-FR"/>
          </a:p>
        </p:txBody>
      </p:sp>
      <p:sp>
        <p:nvSpPr>
          <p:cNvPr id="64" name="Shape 62"/>
          <p:cNvSpPr/>
          <p:nvPr/>
        </p:nvSpPr>
        <p:spPr>
          <a:xfrm>
            <a:off x="4489704" y="3557016"/>
            <a:ext cx="210312" cy="0"/>
          </a:xfrm>
          <a:prstGeom prst="line">
            <a:avLst/>
          </a:prstGeom>
          <a:noFill/>
          <a:ln w="15875">
            <a:solidFill>
              <a:srgbClr val="8FA6BC"/>
            </a:solidFill>
            <a:prstDash val="solid"/>
          </a:ln>
        </p:spPr>
        <p:txBody>
          <a:bodyPr/>
          <a:lstStyle/>
          <a:p>
            <a:endParaRPr lang="fr-FR"/>
          </a:p>
        </p:txBody>
      </p:sp>
      <p:sp>
        <p:nvSpPr>
          <p:cNvPr id="65" name="Shape 63"/>
          <p:cNvSpPr/>
          <p:nvPr/>
        </p:nvSpPr>
        <p:spPr>
          <a:xfrm>
            <a:off x="4700016" y="2706624"/>
            <a:ext cx="73152" cy="0"/>
          </a:xfrm>
          <a:prstGeom prst="line">
            <a:avLst/>
          </a:prstGeom>
          <a:noFill/>
          <a:ln w="15875">
            <a:solidFill>
              <a:srgbClr val="8FA6BC"/>
            </a:solidFill>
            <a:prstDash val="solid"/>
            <a:tailEnd type="triangle"/>
          </a:ln>
        </p:spPr>
        <p:txBody>
          <a:bodyPr/>
          <a:lstStyle/>
          <a:p>
            <a:endParaRPr lang="fr-FR"/>
          </a:p>
        </p:txBody>
      </p:sp>
      <p:sp>
        <p:nvSpPr>
          <p:cNvPr id="66" name="Shape 64"/>
          <p:cNvSpPr/>
          <p:nvPr/>
        </p:nvSpPr>
        <p:spPr>
          <a:xfrm>
            <a:off x="6739128" y="2706624"/>
            <a:ext cx="173736" cy="0"/>
          </a:xfrm>
          <a:prstGeom prst="line">
            <a:avLst/>
          </a:prstGeom>
          <a:noFill/>
          <a:ln w="20320">
            <a:solidFill>
              <a:srgbClr val="8FA6BC"/>
            </a:solidFill>
            <a:prstDash val="solid"/>
            <a:tailEnd type="triangle"/>
          </a:ln>
        </p:spPr>
        <p:txBody>
          <a:bodyPr/>
          <a:lstStyle/>
          <a:p>
            <a:endParaRPr lang="fr-FR"/>
          </a:p>
        </p:txBody>
      </p:sp>
      <p:sp>
        <p:nvSpPr>
          <p:cNvPr id="67" name="Text 65"/>
          <p:cNvSpPr/>
          <p:nvPr/>
        </p:nvSpPr>
        <p:spPr>
          <a:xfrm>
            <a:off x="292608" y="3968496"/>
            <a:ext cx="8558784" cy="182880"/>
          </a:xfrm>
          <a:prstGeom prst="rect">
            <a:avLst/>
          </a:prstGeom>
          <a:noFill/>
          <a:ln/>
        </p:spPr>
        <p:txBody>
          <a:bodyPr wrap="square" lIns="0" tIns="0" rIns="0" bIns="0" rtlCol="0" anchor="ctr"/>
          <a:lstStyle/>
          <a:p>
            <a:pPr marL="0" indent="0" algn="l">
              <a:lnSpc>
                <a:spcPct val="106000"/>
              </a:lnSpc>
              <a:buNone/>
            </a:pPr>
            <a:r>
              <a:rPr lang="en-US" sz="750" dirty="0">
                <a:solidFill>
                  <a:srgbClr val="4A5769"/>
                </a:solidFill>
                <a:latin typeface="Calibri" pitchFamily="34" charset="0"/>
                <a:ea typeface="Calibri" pitchFamily="34" charset="-122"/>
                <a:cs typeface="Calibri" pitchFamily="34" charset="-120"/>
              </a:rPr>
              <a:t>Contour rouge : lot traversé par le chemin critique, aucune marge. Contour gris : lot qui dispose d'une marge et ne contraint pas la fin du projet.</a:t>
            </a:r>
            <a:endParaRPr lang="en-US" sz="750" dirty="0"/>
          </a:p>
        </p:txBody>
      </p:sp>
      <p:sp>
        <p:nvSpPr>
          <p:cNvPr id="68" name="Shape 66"/>
          <p:cNvSpPr/>
          <p:nvPr/>
        </p:nvSpPr>
        <p:spPr>
          <a:xfrm>
            <a:off x="292608" y="4224528"/>
            <a:ext cx="8558784" cy="475488"/>
          </a:xfrm>
          <a:prstGeom prst="rect">
            <a:avLst/>
          </a:prstGeom>
          <a:solidFill>
            <a:srgbClr val="12263F"/>
          </a:solidFill>
          <a:ln/>
        </p:spPr>
        <p:txBody>
          <a:bodyPr/>
          <a:lstStyle/>
          <a:p>
            <a:endParaRPr lang="fr-FR"/>
          </a:p>
        </p:txBody>
      </p:sp>
      <p:sp>
        <p:nvSpPr>
          <p:cNvPr id="69" name="Shape 67"/>
          <p:cNvSpPr/>
          <p:nvPr/>
        </p:nvSpPr>
        <p:spPr>
          <a:xfrm>
            <a:off x="292608" y="4224528"/>
            <a:ext cx="45720" cy="475488"/>
          </a:xfrm>
          <a:prstGeom prst="rect">
            <a:avLst/>
          </a:prstGeom>
          <a:solidFill>
            <a:srgbClr val="E08A3C"/>
          </a:solidFill>
          <a:ln/>
        </p:spPr>
        <p:txBody>
          <a:bodyPr/>
          <a:lstStyle/>
          <a:p>
            <a:endParaRPr lang="fr-FR"/>
          </a:p>
        </p:txBody>
      </p:sp>
      <p:sp>
        <p:nvSpPr>
          <p:cNvPr id="70" name="Text 68"/>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Un jour de retard sur un lot rouge, c'est un jour de retard sur la soutenance.</a:t>
            </a:r>
            <a:endParaRPr lang="en-US" sz="1150" dirty="0"/>
          </a:p>
        </p:txBody>
      </p:sp>
      <p:sp>
        <p:nvSpPr>
          <p:cNvPr id="71" name="Text 69"/>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6.1 - Élaboration du Planning et Gestion des Ressources</a:t>
            </a:r>
            <a:endParaRPr lang="en-US" sz="750" dirty="0"/>
          </a:p>
        </p:txBody>
      </p:sp>
      <p:sp>
        <p:nvSpPr>
          <p:cNvPr id="72" name="Text 70"/>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6. Gestion du projet</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23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fr-FR" sz="2200" b="1" noProof="0" dirty="0">
                <a:solidFill>
                  <a:srgbClr val="12263F"/>
                </a:solidFill>
                <a:latin typeface="Calibri" pitchFamily="34" charset="0"/>
                <a:ea typeface="Calibri" pitchFamily="34" charset="-122"/>
                <a:cs typeface="Calibri" pitchFamily="34" charset="-120"/>
              </a:rPr>
              <a:t>6.1 - Élaboration du Planning et Gestion des </a:t>
            </a:r>
          </a:p>
          <a:p>
            <a:pPr marL="0" indent="0">
              <a:buNone/>
            </a:pPr>
            <a:r>
              <a:rPr lang="fr-FR" sz="2200" b="1" noProof="0" dirty="0">
                <a:solidFill>
                  <a:srgbClr val="12263F"/>
                </a:solidFill>
                <a:latin typeface="Calibri" pitchFamily="34" charset="0"/>
                <a:ea typeface="Calibri" pitchFamily="34" charset="-122"/>
                <a:cs typeface="Calibri" pitchFamily="34" charset="-120"/>
              </a:rPr>
              <a:t>Ressources</a:t>
            </a:r>
            <a:endParaRPr lang="fr-FR" sz="2200" noProof="0" dirty="0"/>
          </a:p>
        </p:txBody>
      </p:sp>
      <p:sp>
        <p:nvSpPr>
          <p:cNvPr id="7" name="Text 5"/>
          <p:cNvSpPr/>
          <p:nvPr/>
        </p:nvSpPr>
        <p:spPr>
          <a:xfrm>
            <a:off x="292608" y="1087042"/>
            <a:ext cx="8558784" cy="201168"/>
          </a:xfrm>
          <a:prstGeom prst="rect">
            <a:avLst/>
          </a:prstGeom>
          <a:noFill/>
          <a:ln/>
        </p:spPr>
        <p:txBody>
          <a:bodyPr wrap="square" lIns="0" tIns="0" rIns="0" bIns="0" rtlCol="0" anchor="ctr"/>
          <a:lstStyle/>
          <a:p>
            <a:pPr marL="0" indent="0">
              <a:buNone/>
            </a:pPr>
            <a:r>
              <a:rPr lang="en-US" sz="1050" dirty="0">
                <a:solidFill>
                  <a:srgbClr val="4A5769"/>
                </a:solidFill>
                <a:latin typeface="Calibri" pitchFamily="34" charset="0"/>
                <a:ea typeface="Calibri" pitchFamily="34" charset="-122"/>
                <a:cs typeface="Calibri" pitchFamily="34" charset="-120"/>
              </a:rPr>
              <a:t>Six mois, six lots, six jalons, et une ressource unique.</a:t>
            </a:r>
            <a:endParaRPr lang="en-US" sz="1050" dirty="0"/>
          </a:p>
        </p:txBody>
      </p:sp>
      <p:sp>
        <p:nvSpPr>
          <p:cNvPr id="8" name="Shape 6"/>
          <p:cNvSpPr/>
          <p:nvPr/>
        </p:nvSpPr>
        <p:spPr>
          <a:xfrm>
            <a:off x="6364163" y="685409"/>
            <a:ext cx="786384" cy="548640"/>
          </a:xfrm>
          <a:prstGeom prst="roundRect">
            <a:avLst>
              <a:gd name="adj" fmla="val 10000"/>
            </a:avLst>
          </a:prstGeom>
          <a:solidFill>
            <a:srgbClr val="FFFFFF"/>
          </a:solidFill>
          <a:ln w="9525">
            <a:solidFill>
              <a:srgbClr val="D8E0E8"/>
            </a:solidFill>
            <a:prstDash val="solid"/>
          </a:ln>
        </p:spPr>
        <p:txBody>
          <a:bodyPr/>
          <a:lstStyle/>
          <a:p>
            <a:endParaRPr lang="fr-FR" dirty="0"/>
          </a:p>
        </p:txBody>
      </p:sp>
      <p:sp>
        <p:nvSpPr>
          <p:cNvPr id="9" name="Text 7"/>
          <p:cNvSpPr/>
          <p:nvPr/>
        </p:nvSpPr>
        <p:spPr>
          <a:xfrm>
            <a:off x="6368540" y="731520"/>
            <a:ext cx="786384" cy="256032"/>
          </a:xfrm>
          <a:prstGeom prst="rect">
            <a:avLst/>
          </a:prstGeom>
          <a:noFill/>
          <a:ln/>
        </p:spPr>
        <p:txBody>
          <a:bodyPr wrap="square" lIns="0" tIns="0" rIns="0" bIns="0" rtlCol="0" anchor="ctr"/>
          <a:lstStyle/>
          <a:p>
            <a:pPr marL="0" indent="0" algn="ctr">
              <a:lnSpc>
                <a:spcPct val="106000"/>
              </a:lnSpc>
              <a:buNone/>
            </a:pPr>
            <a:r>
              <a:rPr lang="en-US" sz="1300" b="1" dirty="0">
                <a:solidFill>
                  <a:srgbClr val="12263F"/>
                </a:solidFill>
                <a:latin typeface="Calibri" pitchFamily="34" charset="0"/>
                <a:ea typeface="Calibri" pitchFamily="34" charset="-122"/>
                <a:cs typeface="Calibri" pitchFamily="34" charset="-120"/>
              </a:rPr>
              <a:t>6</a:t>
            </a:r>
            <a:endParaRPr lang="en-US" sz="1300" dirty="0"/>
          </a:p>
        </p:txBody>
      </p:sp>
      <p:sp>
        <p:nvSpPr>
          <p:cNvPr id="10" name="Text 8"/>
          <p:cNvSpPr/>
          <p:nvPr/>
        </p:nvSpPr>
        <p:spPr>
          <a:xfrm>
            <a:off x="6368540" y="994664"/>
            <a:ext cx="786384" cy="164592"/>
          </a:xfrm>
          <a:prstGeom prst="rect">
            <a:avLst/>
          </a:prstGeom>
          <a:noFill/>
          <a:ln/>
        </p:spPr>
        <p:txBody>
          <a:bodyPr wrap="square" lIns="0" tIns="0" rIns="0" bIns="0" rtlCol="0" anchor="ctr"/>
          <a:lstStyle/>
          <a:p>
            <a:pPr marL="0" indent="0" algn="ctr">
              <a:lnSpc>
                <a:spcPct val="106000"/>
              </a:lnSpc>
              <a:buNone/>
            </a:pPr>
            <a:r>
              <a:rPr lang="en-US" sz="560" dirty="0">
                <a:solidFill>
                  <a:srgbClr val="4A5769"/>
                </a:solidFill>
                <a:latin typeface="Calibri" pitchFamily="34" charset="0"/>
                <a:ea typeface="Calibri" pitchFamily="34" charset="-122"/>
                <a:cs typeface="Calibri" pitchFamily="34" charset="-120"/>
              </a:rPr>
              <a:t>MOIS</a:t>
            </a:r>
            <a:endParaRPr lang="en-US" sz="560" dirty="0"/>
          </a:p>
        </p:txBody>
      </p:sp>
      <p:sp>
        <p:nvSpPr>
          <p:cNvPr id="14" name="Shape 12"/>
          <p:cNvSpPr/>
          <p:nvPr/>
        </p:nvSpPr>
        <p:spPr>
          <a:xfrm>
            <a:off x="7223760" y="676656"/>
            <a:ext cx="786384" cy="548640"/>
          </a:xfrm>
          <a:prstGeom prst="roundRect">
            <a:avLst>
              <a:gd name="adj" fmla="val 10000"/>
            </a:avLst>
          </a:prstGeom>
          <a:solidFill>
            <a:srgbClr val="FFFFFF"/>
          </a:solidFill>
          <a:ln w="9525">
            <a:solidFill>
              <a:srgbClr val="D8E0E8"/>
            </a:solidFill>
            <a:prstDash val="solid"/>
          </a:ln>
        </p:spPr>
        <p:txBody>
          <a:bodyPr/>
          <a:lstStyle/>
          <a:p>
            <a:endParaRPr lang="fr-FR"/>
          </a:p>
        </p:txBody>
      </p:sp>
      <p:sp>
        <p:nvSpPr>
          <p:cNvPr id="15" name="Text 13"/>
          <p:cNvSpPr/>
          <p:nvPr/>
        </p:nvSpPr>
        <p:spPr>
          <a:xfrm>
            <a:off x="7223760" y="731520"/>
            <a:ext cx="786384" cy="256032"/>
          </a:xfrm>
          <a:prstGeom prst="rect">
            <a:avLst/>
          </a:prstGeom>
          <a:noFill/>
          <a:ln/>
        </p:spPr>
        <p:txBody>
          <a:bodyPr wrap="square" lIns="0" tIns="0" rIns="0" bIns="0" rtlCol="0" anchor="ctr"/>
          <a:lstStyle/>
          <a:p>
            <a:pPr marL="0" indent="0" algn="ctr">
              <a:lnSpc>
                <a:spcPct val="106000"/>
              </a:lnSpc>
              <a:buNone/>
            </a:pPr>
            <a:r>
              <a:rPr lang="en-US" sz="1300" b="1" dirty="0">
                <a:solidFill>
                  <a:srgbClr val="12263F"/>
                </a:solidFill>
                <a:latin typeface="Calibri" pitchFamily="34" charset="0"/>
                <a:ea typeface="Calibri" pitchFamily="34" charset="-122"/>
                <a:cs typeface="Calibri" pitchFamily="34" charset="-120"/>
              </a:rPr>
              <a:t>112</a:t>
            </a:r>
            <a:endParaRPr lang="en-US" sz="1300" dirty="0"/>
          </a:p>
        </p:txBody>
      </p:sp>
      <p:sp>
        <p:nvSpPr>
          <p:cNvPr id="16" name="Text 14"/>
          <p:cNvSpPr/>
          <p:nvPr/>
        </p:nvSpPr>
        <p:spPr>
          <a:xfrm>
            <a:off x="7223760" y="987552"/>
            <a:ext cx="786384" cy="164592"/>
          </a:xfrm>
          <a:prstGeom prst="rect">
            <a:avLst/>
          </a:prstGeom>
          <a:noFill/>
          <a:ln/>
        </p:spPr>
        <p:txBody>
          <a:bodyPr wrap="square" lIns="0" tIns="0" rIns="0" bIns="0" rtlCol="0" anchor="ctr"/>
          <a:lstStyle/>
          <a:p>
            <a:pPr marL="0" indent="0" algn="ctr">
              <a:lnSpc>
                <a:spcPct val="106000"/>
              </a:lnSpc>
              <a:buNone/>
            </a:pPr>
            <a:r>
              <a:rPr lang="en-US" sz="560" dirty="0">
                <a:solidFill>
                  <a:srgbClr val="4A5769"/>
                </a:solidFill>
                <a:latin typeface="Calibri" pitchFamily="34" charset="0"/>
                <a:ea typeface="Calibri" pitchFamily="34" charset="-122"/>
                <a:cs typeface="Calibri" pitchFamily="34" charset="-120"/>
              </a:rPr>
              <a:t>JOURS·PERSONNE</a:t>
            </a:r>
            <a:endParaRPr lang="en-US" sz="560" dirty="0"/>
          </a:p>
        </p:txBody>
      </p:sp>
      <p:sp>
        <p:nvSpPr>
          <p:cNvPr id="17" name="Shape 15"/>
          <p:cNvSpPr/>
          <p:nvPr/>
        </p:nvSpPr>
        <p:spPr>
          <a:xfrm>
            <a:off x="8065008" y="676656"/>
            <a:ext cx="786384" cy="548640"/>
          </a:xfrm>
          <a:prstGeom prst="roundRect">
            <a:avLst>
              <a:gd name="adj" fmla="val 10000"/>
            </a:avLst>
          </a:prstGeom>
          <a:solidFill>
            <a:srgbClr val="FFFFFF"/>
          </a:solidFill>
          <a:ln w="9525">
            <a:solidFill>
              <a:srgbClr val="D8E0E8"/>
            </a:solidFill>
            <a:prstDash val="solid"/>
          </a:ln>
        </p:spPr>
        <p:txBody>
          <a:bodyPr/>
          <a:lstStyle/>
          <a:p>
            <a:endParaRPr lang="fr-FR"/>
          </a:p>
        </p:txBody>
      </p:sp>
      <p:sp>
        <p:nvSpPr>
          <p:cNvPr id="18" name="Text 16"/>
          <p:cNvSpPr/>
          <p:nvPr/>
        </p:nvSpPr>
        <p:spPr>
          <a:xfrm>
            <a:off x="8065008" y="731520"/>
            <a:ext cx="786384" cy="256032"/>
          </a:xfrm>
          <a:prstGeom prst="rect">
            <a:avLst/>
          </a:prstGeom>
          <a:noFill/>
          <a:ln/>
        </p:spPr>
        <p:txBody>
          <a:bodyPr wrap="square" lIns="0" tIns="0" rIns="0" bIns="0" rtlCol="0" anchor="ctr"/>
          <a:lstStyle/>
          <a:p>
            <a:pPr marL="0" indent="0" algn="ctr">
              <a:lnSpc>
                <a:spcPct val="106000"/>
              </a:lnSpc>
              <a:buNone/>
            </a:pPr>
            <a:r>
              <a:rPr lang="en-US" sz="1300" b="1" dirty="0">
                <a:solidFill>
                  <a:srgbClr val="12263F"/>
                </a:solidFill>
                <a:latin typeface="Calibri" pitchFamily="34" charset="0"/>
                <a:ea typeface="Calibri" pitchFamily="34" charset="-122"/>
                <a:cs typeface="Calibri" pitchFamily="34" charset="-120"/>
              </a:rPr>
              <a:t>100 €</a:t>
            </a:r>
            <a:endParaRPr lang="en-US" sz="1300" dirty="0"/>
          </a:p>
        </p:txBody>
      </p:sp>
      <p:sp>
        <p:nvSpPr>
          <p:cNvPr id="19" name="Text 17"/>
          <p:cNvSpPr/>
          <p:nvPr/>
        </p:nvSpPr>
        <p:spPr>
          <a:xfrm>
            <a:off x="8065008" y="987552"/>
            <a:ext cx="786384" cy="164592"/>
          </a:xfrm>
          <a:prstGeom prst="rect">
            <a:avLst/>
          </a:prstGeom>
          <a:noFill/>
          <a:ln/>
        </p:spPr>
        <p:txBody>
          <a:bodyPr wrap="square" lIns="0" tIns="0" rIns="0" bIns="0" rtlCol="0" anchor="ctr"/>
          <a:lstStyle/>
          <a:p>
            <a:pPr marL="0" indent="0" algn="ctr">
              <a:lnSpc>
                <a:spcPct val="106000"/>
              </a:lnSpc>
              <a:buNone/>
            </a:pPr>
            <a:r>
              <a:rPr lang="en-US" sz="560" dirty="0">
                <a:solidFill>
                  <a:srgbClr val="4A5769"/>
                </a:solidFill>
                <a:latin typeface="Calibri" pitchFamily="34" charset="0"/>
                <a:ea typeface="Calibri" pitchFamily="34" charset="-122"/>
                <a:cs typeface="Calibri" pitchFamily="34" charset="-120"/>
              </a:rPr>
              <a:t>PAR MOIS</a:t>
            </a:r>
            <a:endParaRPr lang="en-US" sz="560" dirty="0"/>
          </a:p>
        </p:txBody>
      </p:sp>
      <p:sp>
        <p:nvSpPr>
          <p:cNvPr id="20" name="Shape 18"/>
          <p:cNvSpPr/>
          <p:nvPr/>
        </p:nvSpPr>
        <p:spPr>
          <a:xfrm>
            <a:off x="2194560" y="1408176"/>
            <a:ext cx="1109472" cy="219456"/>
          </a:xfrm>
          <a:prstGeom prst="rect">
            <a:avLst/>
          </a:prstGeom>
          <a:solidFill>
            <a:srgbClr val="FFFFFF"/>
          </a:solidFill>
          <a:ln w="7620">
            <a:solidFill>
              <a:srgbClr val="E2E8EE"/>
            </a:solidFill>
            <a:prstDash val="solid"/>
          </a:ln>
        </p:spPr>
        <p:txBody>
          <a:bodyPr/>
          <a:lstStyle/>
          <a:p>
            <a:endParaRPr lang="fr-FR"/>
          </a:p>
        </p:txBody>
      </p:sp>
      <p:sp>
        <p:nvSpPr>
          <p:cNvPr id="21" name="Text 19"/>
          <p:cNvSpPr/>
          <p:nvPr/>
        </p:nvSpPr>
        <p:spPr>
          <a:xfrm>
            <a:off x="2194560" y="1440180"/>
            <a:ext cx="1109472" cy="182880"/>
          </a:xfrm>
          <a:prstGeom prst="rect">
            <a:avLst/>
          </a:prstGeom>
          <a:noFill/>
          <a:ln/>
        </p:spPr>
        <p:txBody>
          <a:bodyPr wrap="square" lIns="0" tIns="0" rIns="0" bIns="0" rtlCol="0" anchor="ctr"/>
          <a:lstStyle/>
          <a:p>
            <a:pPr marL="0" indent="0" algn="ctr">
              <a:lnSpc>
                <a:spcPct val="106000"/>
              </a:lnSpc>
              <a:buNone/>
            </a:pPr>
            <a:r>
              <a:rPr lang="en-US" sz="800" b="1" dirty="0">
                <a:solidFill>
                  <a:srgbClr val="4A5769"/>
                </a:solidFill>
                <a:latin typeface="Calibri" pitchFamily="34" charset="0"/>
                <a:ea typeface="Calibri" pitchFamily="34" charset="-122"/>
                <a:cs typeface="Calibri" pitchFamily="34" charset="-120"/>
              </a:rPr>
              <a:t>janvier</a:t>
            </a:r>
            <a:endParaRPr lang="en-US" sz="800" dirty="0"/>
          </a:p>
        </p:txBody>
      </p:sp>
      <p:sp>
        <p:nvSpPr>
          <p:cNvPr id="22" name="Shape 20"/>
          <p:cNvSpPr/>
          <p:nvPr/>
        </p:nvSpPr>
        <p:spPr>
          <a:xfrm>
            <a:off x="2194560" y="1627632"/>
            <a:ext cx="0" cy="2322576"/>
          </a:xfrm>
          <a:prstGeom prst="line">
            <a:avLst/>
          </a:prstGeom>
          <a:noFill/>
          <a:ln w="9525">
            <a:solidFill>
              <a:srgbClr val="EDF1F5"/>
            </a:solidFill>
            <a:prstDash val="solid"/>
          </a:ln>
        </p:spPr>
        <p:txBody>
          <a:bodyPr/>
          <a:lstStyle/>
          <a:p>
            <a:endParaRPr lang="fr-FR"/>
          </a:p>
        </p:txBody>
      </p:sp>
      <p:sp>
        <p:nvSpPr>
          <p:cNvPr id="23" name="Shape 21"/>
          <p:cNvSpPr/>
          <p:nvPr/>
        </p:nvSpPr>
        <p:spPr>
          <a:xfrm>
            <a:off x="3304032" y="1408176"/>
            <a:ext cx="1109472" cy="219456"/>
          </a:xfrm>
          <a:prstGeom prst="rect">
            <a:avLst/>
          </a:prstGeom>
          <a:solidFill>
            <a:srgbClr val="F4F7FA"/>
          </a:solidFill>
          <a:ln w="7620">
            <a:solidFill>
              <a:srgbClr val="E2E8EE"/>
            </a:solidFill>
            <a:prstDash val="solid"/>
          </a:ln>
        </p:spPr>
        <p:txBody>
          <a:bodyPr/>
          <a:lstStyle/>
          <a:p>
            <a:endParaRPr lang="fr-FR"/>
          </a:p>
        </p:txBody>
      </p:sp>
      <p:sp>
        <p:nvSpPr>
          <p:cNvPr id="24" name="Text 22"/>
          <p:cNvSpPr/>
          <p:nvPr/>
        </p:nvSpPr>
        <p:spPr>
          <a:xfrm>
            <a:off x="3304032" y="1440180"/>
            <a:ext cx="1109472" cy="182880"/>
          </a:xfrm>
          <a:prstGeom prst="rect">
            <a:avLst/>
          </a:prstGeom>
          <a:noFill/>
          <a:ln/>
        </p:spPr>
        <p:txBody>
          <a:bodyPr wrap="square" lIns="0" tIns="0" rIns="0" bIns="0" rtlCol="0" anchor="ctr"/>
          <a:lstStyle/>
          <a:p>
            <a:pPr marL="0" indent="0" algn="ctr">
              <a:lnSpc>
                <a:spcPct val="106000"/>
              </a:lnSpc>
              <a:buNone/>
            </a:pPr>
            <a:r>
              <a:rPr lang="en-US" sz="800" b="1" dirty="0">
                <a:solidFill>
                  <a:srgbClr val="4A5769"/>
                </a:solidFill>
                <a:latin typeface="Calibri" pitchFamily="34" charset="0"/>
                <a:ea typeface="Calibri" pitchFamily="34" charset="-122"/>
                <a:cs typeface="Calibri" pitchFamily="34" charset="-120"/>
              </a:rPr>
              <a:t>février</a:t>
            </a:r>
            <a:endParaRPr lang="en-US" sz="800" dirty="0"/>
          </a:p>
        </p:txBody>
      </p:sp>
      <p:sp>
        <p:nvSpPr>
          <p:cNvPr id="25" name="Shape 23"/>
          <p:cNvSpPr/>
          <p:nvPr/>
        </p:nvSpPr>
        <p:spPr>
          <a:xfrm>
            <a:off x="3304032" y="1627632"/>
            <a:ext cx="0" cy="2322576"/>
          </a:xfrm>
          <a:prstGeom prst="line">
            <a:avLst/>
          </a:prstGeom>
          <a:noFill/>
          <a:ln w="9525">
            <a:solidFill>
              <a:srgbClr val="EDF1F5"/>
            </a:solidFill>
            <a:prstDash val="solid"/>
          </a:ln>
        </p:spPr>
        <p:txBody>
          <a:bodyPr/>
          <a:lstStyle/>
          <a:p>
            <a:endParaRPr lang="fr-FR"/>
          </a:p>
        </p:txBody>
      </p:sp>
      <p:sp>
        <p:nvSpPr>
          <p:cNvPr id="26" name="Shape 24"/>
          <p:cNvSpPr/>
          <p:nvPr/>
        </p:nvSpPr>
        <p:spPr>
          <a:xfrm>
            <a:off x="4413504" y="1408176"/>
            <a:ext cx="1109472" cy="219456"/>
          </a:xfrm>
          <a:prstGeom prst="rect">
            <a:avLst/>
          </a:prstGeom>
          <a:solidFill>
            <a:srgbClr val="FFFFFF"/>
          </a:solidFill>
          <a:ln w="7620">
            <a:solidFill>
              <a:srgbClr val="E2E8EE"/>
            </a:solidFill>
            <a:prstDash val="solid"/>
          </a:ln>
        </p:spPr>
        <p:txBody>
          <a:bodyPr/>
          <a:lstStyle/>
          <a:p>
            <a:endParaRPr lang="fr-FR"/>
          </a:p>
        </p:txBody>
      </p:sp>
      <p:sp>
        <p:nvSpPr>
          <p:cNvPr id="27" name="Text 25"/>
          <p:cNvSpPr/>
          <p:nvPr/>
        </p:nvSpPr>
        <p:spPr>
          <a:xfrm>
            <a:off x="4413504" y="1440180"/>
            <a:ext cx="1109472" cy="182880"/>
          </a:xfrm>
          <a:prstGeom prst="rect">
            <a:avLst/>
          </a:prstGeom>
          <a:noFill/>
          <a:ln/>
        </p:spPr>
        <p:txBody>
          <a:bodyPr wrap="square" lIns="0" tIns="0" rIns="0" bIns="0" rtlCol="0" anchor="ctr"/>
          <a:lstStyle/>
          <a:p>
            <a:pPr marL="0" indent="0" algn="ctr">
              <a:lnSpc>
                <a:spcPct val="106000"/>
              </a:lnSpc>
              <a:buNone/>
            </a:pPr>
            <a:r>
              <a:rPr lang="en-US" sz="800" b="1" dirty="0">
                <a:solidFill>
                  <a:srgbClr val="4A5769"/>
                </a:solidFill>
                <a:latin typeface="Calibri" pitchFamily="34" charset="0"/>
                <a:ea typeface="Calibri" pitchFamily="34" charset="-122"/>
                <a:cs typeface="Calibri" pitchFamily="34" charset="-120"/>
              </a:rPr>
              <a:t>mars</a:t>
            </a:r>
            <a:endParaRPr lang="en-US" sz="800" dirty="0"/>
          </a:p>
        </p:txBody>
      </p:sp>
      <p:sp>
        <p:nvSpPr>
          <p:cNvPr id="28" name="Shape 26"/>
          <p:cNvSpPr/>
          <p:nvPr/>
        </p:nvSpPr>
        <p:spPr>
          <a:xfrm>
            <a:off x="4413504" y="1627632"/>
            <a:ext cx="0" cy="2322576"/>
          </a:xfrm>
          <a:prstGeom prst="line">
            <a:avLst/>
          </a:prstGeom>
          <a:noFill/>
          <a:ln w="9525">
            <a:solidFill>
              <a:srgbClr val="EDF1F5"/>
            </a:solidFill>
            <a:prstDash val="solid"/>
          </a:ln>
        </p:spPr>
        <p:txBody>
          <a:bodyPr/>
          <a:lstStyle/>
          <a:p>
            <a:endParaRPr lang="fr-FR"/>
          </a:p>
        </p:txBody>
      </p:sp>
      <p:sp>
        <p:nvSpPr>
          <p:cNvPr id="29" name="Shape 27"/>
          <p:cNvSpPr/>
          <p:nvPr/>
        </p:nvSpPr>
        <p:spPr>
          <a:xfrm>
            <a:off x="5522976" y="1408176"/>
            <a:ext cx="1109472" cy="219456"/>
          </a:xfrm>
          <a:prstGeom prst="rect">
            <a:avLst/>
          </a:prstGeom>
          <a:solidFill>
            <a:srgbClr val="F4F7FA"/>
          </a:solidFill>
          <a:ln w="7620">
            <a:solidFill>
              <a:srgbClr val="E2E8EE"/>
            </a:solidFill>
            <a:prstDash val="solid"/>
          </a:ln>
        </p:spPr>
        <p:txBody>
          <a:bodyPr/>
          <a:lstStyle/>
          <a:p>
            <a:endParaRPr lang="fr-FR"/>
          </a:p>
        </p:txBody>
      </p:sp>
      <p:sp>
        <p:nvSpPr>
          <p:cNvPr id="30" name="Text 28"/>
          <p:cNvSpPr/>
          <p:nvPr/>
        </p:nvSpPr>
        <p:spPr>
          <a:xfrm>
            <a:off x="5522976" y="1440180"/>
            <a:ext cx="1109472" cy="182880"/>
          </a:xfrm>
          <a:prstGeom prst="rect">
            <a:avLst/>
          </a:prstGeom>
          <a:noFill/>
          <a:ln/>
        </p:spPr>
        <p:txBody>
          <a:bodyPr wrap="square" lIns="0" tIns="0" rIns="0" bIns="0" rtlCol="0" anchor="ctr"/>
          <a:lstStyle/>
          <a:p>
            <a:pPr marL="0" indent="0" algn="ctr">
              <a:lnSpc>
                <a:spcPct val="106000"/>
              </a:lnSpc>
              <a:buNone/>
            </a:pPr>
            <a:r>
              <a:rPr lang="en-US" sz="800" b="1" dirty="0">
                <a:solidFill>
                  <a:srgbClr val="4A5769"/>
                </a:solidFill>
                <a:latin typeface="Calibri" pitchFamily="34" charset="0"/>
                <a:ea typeface="Calibri" pitchFamily="34" charset="-122"/>
                <a:cs typeface="Calibri" pitchFamily="34" charset="-120"/>
              </a:rPr>
              <a:t>avril</a:t>
            </a:r>
            <a:endParaRPr lang="en-US" sz="800" dirty="0"/>
          </a:p>
        </p:txBody>
      </p:sp>
      <p:sp>
        <p:nvSpPr>
          <p:cNvPr id="31" name="Shape 29"/>
          <p:cNvSpPr/>
          <p:nvPr/>
        </p:nvSpPr>
        <p:spPr>
          <a:xfrm>
            <a:off x="5522976" y="1627632"/>
            <a:ext cx="0" cy="2322576"/>
          </a:xfrm>
          <a:prstGeom prst="line">
            <a:avLst/>
          </a:prstGeom>
          <a:noFill/>
          <a:ln w="9525">
            <a:solidFill>
              <a:srgbClr val="EDF1F5"/>
            </a:solidFill>
            <a:prstDash val="solid"/>
          </a:ln>
        </p:spPr>
        <p:txBody>
          <a:bodyPr/>
          <a:lstStyle/>
          <a:p>
            <a:endParaRPr lang="fr-FR"/>
          </a:p>
        </p:txBody>
      </p:sp>
      <p:sp>
        <p:nvSpPr>
          <p:cNvPr id="32" name="Shape 30"/>
          <p:cNvSpPr/>
          <p:nvPr/>
        </p:nvSpPr>
        <p:spPr>
          <a:xfrm>
            <a:off x="6632448" y="1408176"/>
            <a:ext cx="1109472" cy="219456"/>
          </a:xfrm>
          <a:prstGeom prst="rect">
            <a:avLst/>
          </a:prstGeom>
          <a:solidFill>
            <a:srgbClr val="FFFFFF"/>
          </a:solidFill>
          <a:ln w="7620">
            <a:solidFill>
              <a:srgbClr val="E2E8EE"/>
            </a:solidFill>
            <a:prstDash val="solid"/>
          </a:ln>
        </p:spPr>
        <p:txBody>
          <a:bodyPr/>
          <a:lstStyle/>
          <a:p>
            <a:endParaRPr lang="fr-FR"/>
          </a:p>
        </p:txBody>
      </p:sp>
      <p:sp>
        <p:nvSpPr>
          <p:cNvPr id="33" name="Text 31"/>
          <p:cNvSpPr/>
          <p:nvPr/>
        </p:nvSpPr>
        <p:spPr>
          <a:xfrm>
            <a:off x="6632448" y="1440180"/>
            <a:ext cx="1109472" cy="182880"/>
          </a:xfrm>
          <a:prstGeom prst="rect">
            <a:avLst/>
          </a:prstGeom>
          <a:noFill/>
          <a:ln/>
        </p:spPr>
        <p:txBody>
          <a:bodyPr wrap="square" lIns="0" tIns="0" rIns="0" bIns="0" rtlCol="0" anchor="ctr"/>
          <a:lstStyle/>
          <a:p>
            <a:pPr marL="0" indent="0" algn="ctr">
              <a:lnSpc>
                <a:spcPct val="106000"/>
              </a:lnSpc>
              <a:buNone/>
            </a:pPr>
            <a:r>
              <a:rPr lang="en-US" sz="800" b="1" dirty="0">
                <a:solidFill>
                  <a:srgbClr val="4A5769"/>
                </a:solidFill>
                <a:latin typeface="Calibri" pitchFamily="34" charset="0"/>
                <a:ea typeface="Calibri" pitchFamily="34" charset="-122"/>
                <a:cs typeface="Calibri" pitchFamily="34" charset="-120"/>
              </a:rPr>
              <a:t>mai</a:t>
            </a:r>
            <a:endParaRPr lang="en-US" sz="800" dirty="0"/>
          </a:p>
        </p:txBody>
      </p:sp>
      <p:sp>
        <p:nvSpPr>
          <p:cNvPr id="34" name="Shape 32"/>
          <p:cNvSpPr/>
          <p:nvPr/>
        </p:nvSpPr>
        <p:spPr>
          <a:xfrm>
            <a:off x="6632448" y="1627632"/>
            <a:ext cx="0" cy="2322576"/>
          </a:xfrm>
          <a:prstGeom prst="line">
            <a:avLst/>
          </a:prstGeom>
          <a:noFill/>
          <a:ln w="9525">
            <a:solidFill>
              <a:srgbClr val="EDF1F5"/>
            </a:solidFill>
            <a:prstDash val="solid"/>
          </a:ln>
        </p:spPr>
        <p:txBody>
          <a:bodyPr/>
          <a:lstStyle/>
          <a:p>
            <a:endParaRPr lang="fr-FR"/>
          </a:p>
        </p:txBody>
      </p:sp>
      <p:sp>
        <p:nvSpPr>
          <p:cNvPr id="35" name="Shape 33"/>
          <p:cNvSpPr/>
          <p:nvPr/>
        </p:nvSpPr>
        <p:spPr>
          <a:xfrm>
            <a:off x="7741920" y="1408176"/>
            <a:ext cx="1109472" cy="219456"/>
          </a:xfrm>
          <a:prstGeom prst="rect">
            <a:avLst/>
          </a:prstGeom>
          <a:solidFill>
            <a:srgbClr val="F4F7FA"/>
          </a:solidFill>
          <a:ln w="7620">
            <a:solidFill>
              <a:srgbClr val="E2E8EE"/>
            </a:solidFill>
            <a:prstDash val="solid"/>
          </a:ln>
        </p:spPr>
        <p:txBody>
          <a:bodyPr/>
          <a:lstStyle/>
          <a:p>
            <a:endParaRPr lang="fr-FR"/>
          </a:p>
        </p:txBody>
      </p:sp>
      <p:sp>
        <p:nvSpPr>
          <p:cNvPr id="36" name="Text 34"/>
          <p:cNvSpPr/>
          <p:nvPr/>
        </p:nvSpPr>
        <p:spPr>
          <a:xfrm>
            <a:off x="7741920" y="1440180"/>
            <a:ext cx="1109472" cy="182880"/>
          </a:xfrm>
          <a:prstGeom prst="rect">
            <a:avLst/>
          </a:prstGeom>
          <a:noFill/>
          <a:ln/>
        </p:spPr>
        <p:txBody>
          <a:bodyPr wrap="square" lIns="0" tIns="0" rIns="0" bIns="0" rtlCol="0" anchor="ctr"/>
          <a:lstStyle/>
          <a:p>
            <a:pPr marL="0" indent="0" algn="ctr">
              <a:lnSpc>
                <a:spcPct val="106000"/>
              </a:lnSpc>
              <a:buNone/>
            </a:pPr>
            <a:r>
              <a:rPr lang="en-US" sz="800" b="1" dirty="0">
                <a:solidFill>
                  <a:srgbClr val="4A5769"/>
                </a:solidFill>
                <a:latin typeface="Calibri" pitchFamily="34" charset="0"/>
                <a:ea typeface="Calibri" pitchFamily="34" charset="-122"/>
                <a:cs typeface="Calibri" pitchFamily="34" charset="-120"/>
              </a:rPr>
              <a:t>juin</a:t>
            </a:r>
            <a:endParaRPr lang="en-US" sz="800" dirty="0"/>
          </a:p>
        </p:txBody>
      </p:sp>
      <p:sp>
        <p:nvSpPr>
          <p:cNvPr id="37" name="Shape 35"/>
          <p:cNvSpPr/>
          <p:nvPr/>
        </p:nvSpPr>
        <p:spPr>
          <a:xfrm>
            <a:off x="7741920" y="1627632"/>
            <a:ext cx="0" cy="2322576"/>
          </a:xfrm>
          <a:prstGeom prst="line">
            <a:avLst/>
          </a:prstGeom>
          <a:noFill/>
          <a:ln w="9525">
            <a:solidFill>
              <a:srgbClr val="EDF1F5"/>
            </a:solidFill>
            <a:prstDash val="solid"/>
          </a:ln>
        </p:spPr>
        <p:txBody>
          <a:bodyPr/>
          <a:lstStyle/>
          <a:p>
            <a:endParaRPr lang="fr-FR"/>
          </a:p>
        </p:txBody>
      </p:sp>
      <p:sp>
        <p:nvSpPr>
          <p:cNvPr id="38" name="Shape 36"/>
          <p:cNvSpPr/>
          <p:nvPr/>
        </p:nvSpPr>
        <p:spPr>
          <a:xfrm>
            <a:off x="2736190" y="1773936"/>
            <a:ext cx="137160" cy="137160"/>
          </a:xfrm>
          <a:prstGeom prst="diamond">
            <a:avLst/>
          </a:prstGeom>
          <a:solidFill>
            <a:srgbClr val="E08A3C"/>
          </a:solidFill>
          <a:ln/>
        </p:spPr>
        <p:txBody>
          <a:bodyPr/>
          <a:lstStyle/>
          <a:p>
            <a:endParaRPr lang="fr-FR"/>
          </a:p>
        </p:txBody>
      </p:sp>
      <p:sp>
        <p:nvSpPr>
          <p:cNvPr id="39" name="Text 37"/>
          <p:cNvSpPr/>
          <p:nvPr/>
        </p:nvSpPr>
        <p:spPr>
          <a:xfrm>
            <a:off x="2621890" y="1920240"/>
            <a:ext cx="365760" cy="146304"/>
          </a:xfrm>
          <a:prstGeom prst="rect">
            <a:avLst/>
          </a:prstGeom>
          <a:noFill/>
          <a:ln/>
        </p:spPr>
        <p:txBody>
          <a:bodyPr wrap="square" lIns="0" tIns="0" rIns="0" bIns="0" rtlCol="0" anchor="ctr"/>
          <a:lstStyle/>
          <a:p>
            <a:pPr marL="0" indent="0" algn="ctr">
              <a:lnSpc>
                <a:spcPct val="106000"/>
              </a:lnSpc>
              <a:buNone/>
            </a:pPr>
            <a:r>
              <a:rPr lang="en-US" sz="700" b="1" dirty="0">
                <a:solidFill>
                  <a:srgbClr val="E08A3C"/>
                </a:solidFill>
                <a:latin typeface="Calibri" pitchFamily="34" charset="0"/>
                <a:ea typeface="Calibri" pitchFamily="34" charset="-122"/>
                <a:cs typeface="Calibri" pitchFamily="34" charset="-120"/>
              </a:rPr>
              <a:t>J1</a:t>
            </a:r>
            <a:endParaRPr lang="en-US" sz="700" dirty="0"/>
          </a:p>
        </p:txBody>
      </p:sp>
      <p:sp>
        <p:nvSpPr>
          <p:cNvPr id="40" name="Shape 38"/>
          <p:cNvSpPr/>
          <p:nvPr/>
        </p:nvSpPr>
        <p:spPr>
          <a:xfrm>
            <a:off x="5476585" y="1773936"/>
            <a:ext cx="137160" cy="137160"/>
          </a:xfrm>
          <a:prstGeom prst="diamond">
            <a:avLst/>
          </a:prstGeom>
          <a:solidFill>
            <a:srgbClr val="E08A3C"/>
          </a:solidFill>
          <a:ln/>
        </p:spPr>
        <p:txBody>
          <a:bodyPr/>
          <a:lstStyle/>
          <a:p>
            <a:endParaRPr lang="fr-FR"/>
          </a:p>
        </p:txBody>
      </p:sp>
      <p:sp>
        <p:nvSpPr>
          <p:cNvPr id="41" name="Text 39"/>
          <p:cNvSpPr/>
          <p:nvPr/>
        </p:nvSpPr>
        <p:spPr>
          <a:xfrm>
            <a:off x="5362285" y="1920240"/>
            <a:ext cx="365760" cy="146304"/>
          </a:xfrm>
          <a:prstGeom prst="rect">
            <a:avLst/>
          </a:prstGeom>
          <a:noFill/>
          <a:ln/>
        </p:spPr>
        <p:txBody>
          <a:bodyPr wrap="square" lIns="0" tIns="0" rIns="0" bIns="0" rtlCol="0" anchor="ctr"/>
          <a:lstStyle/>
          <a:p>
            <a:pPr marL="0" indent="0" algn="ctr">
              <a:lnSpc>
                <a:spcPct val="106000"/>
              </a:lnSpc>
              <a:buNone/>
            </a:pPr>
            <a:r>
              <a:rPr lang="en-US" sz="700" b="1" dirty="0">
                <a:solidFill>
                  <a:srgbClr val="E08A3C"/>
                </a:solidFill>
                <a:latin typeface="Calibri" pitchFamily="34" charset="0"/>
                <a:ea typeface="Calibri" pitchFamily="34" charset="-122"/>
                <a:cs typeface="Calibri" pitchFamily="34" charset="-120"/>
              </a:rPr>
              <a:t>J3</a:t>
            </a:r>
            <a:endParaRPr lang="en-US" sz="700" dirty="0"/>
          </a:p>
        </p:txBody>
      </p:sp>
      <p:sp>
        <p:nvSpPr>
          <p:cNvPr id="42" name="Shape 40"/>
          <p:cNvSpPr/>
          <p:nvPr/>
        </p:nvSpPr>
        <p:spPr>
          <a:xfrm>
            <a:off x="5809427" y="1773936"/>
            <a:ext cx="137160" cy="137160"/>
          </a:xfrm>
          <a:prstGeom prst="diamond">
            <a:avLst/>
          </a:prstGeom>
          <a:solidFill>
            <a:srgbClr val="E08A3C"/>
          </a:solidFill>
          <a:ln/>
        </p:spPr>
        <p:txBody>
          <a:bodyPr/>
          <a:lstStyle/>
          <a:p>
            <a:endParaRPr lang="fr-FR"/>
          </a:p>
        </p:txBody>
      </p:sp>
      <p:sp>
        <p:nvSpPr>
          <p:cNvPr id="43" name="Text 41"/>
          <p:cNvSpPr/>
          <p:nvPr/>
        </p:nvSpPr>
        <p:spPr>
          <a:xfrm>
            <a:off x="5695127" y="1920240"/>
            <a:ext cx="365760" cy="146304"/>
          </a:xfrm>
          <a:prstGeom prst="rect">
            <a:avLst/>
          </a:prstGeom>
          <a:noFill/>
          <a:ln/>
        </p:spPr>
        <p:txBody>
          <a:bodyPr wrap="square" lIns="0" tIns="0" rIns="0" bIns="0" rtlCol="0" anchor="ctr"/>
          <a:lstStyle/>
          <a:p>
            <a:pPr marL="0" indent="0" algn="ctr">
              <a:lnSpc>
                <a:spcPct val="106000"/>
              </a:lnSpc>
              <a:buNone/>
            </a:pPr>
            <a:r>
              <a:rPr lang="en-US" sz="700" b="1" dirty="0">
                <a:solidFill>
                  <a:srgbClr val="E08A3C"/>
                </a:solidFill>
                <a:latin typeface="Calibri" pitchFamily="34" charset="0"/>
                <a:ea typeface="Calibri" pitchFamily="34" charset="-122"/>
                <a:cs typeface="Calibri" pitchFamily="34" charset="-120"/>
              </a:rPr>
              <a:t>J2</a:t>
            </a:r>
            <a:endParaRPr lang="en-US" sz="700" dirty="0"/>
          </a:p>
        </p:txBody>
      </p:sp>
      <p:sp>
        <p:nvSpPr>
          <p:cNvPr id="44" name="Shape 42"/>
          <p:cNvSpPr/>
          <p:nvPr/>
        </p:nvSpPr>
        <p:spPr>
          <a:xfrm>
            <a:off x="6364163" y="1773936"/>
            <a:ext cx="137160" cy="137160"/>
          </a:xfrm>
          <a:prstGeom prst="diamond">
            <a:avLst/>
          </a:prstGeom>
          <a:solidFill>
            <a:srgbClr val="E08A3C"/>
          </a:solidFill>
          <a:ln/>
        </p:spPr>
        <p:txBody>
          <a:bodyPr/>
          <a:lstStyle/>
          <a:p>
            <a:endParaRPr lang="fr-FR"/>
          </a:p>
        </p:txBody>
      </p:sp>
      <p:sp>
        <p:nvSpPr>
          <p:cNvPr id="45" name="Text 43"/>
          <p:cNvSpPr/>
          <p:nvPr/>
        </p:nvSpPr>
        <p:spPr>
          <a:xfrm>
            <a:off x="6249863" y="1920240"/>
            <a:ext cx="365760" cy="146304"/>
          </a:xfrm>
          <a:prstGeom prst="rect">
            <a:avLst/>
          </a:prstGeom>
          <a:noFill/>
          <a:ln/>
        </p:spPr>
        <p:txBody>
          <a:bodyPr wrap="square" lIns="0" tIns="0" rIns="0" bIns="0" rtlCol="0" anchor="ctr"/>
          <a:lstStyle/>
          <a:p>
            <a:pPr marL="0" indent="0" algn="ctr">
              <a:lnSpc>
                <a:spcPct val="106000"/>
              </a:lnSpc>
              <a:buNone/>
            </a:pPr>
            <a:r>
              <a:rPr lang="en-US" sz="700" b="1" dirty="0">
                <a:solidFill>
                  <a:srgbClr val="E08A3C"/>
                </a:solidFill>
                <a:latin typeface="Calibri" pitchFamily="34" charset="0"/>
                <a:ea typeface="Calibri" pitchFamily="34" charset="-122"/>
                <a:cs typeface="Calibri" pitchFamily="34" charset="-120"/>
              </a:rPr>
              <a:t>J4</a:t>
            </a:r>
            <a:endParaRPr lang="en-US" sz="700" dirty="0"/>
          </a:p>
        </p:txBody>
      </p:sp>
      <p:sp>
        <p:nvSpPr>
          <p:cNvPr id="46" name="Shape 44"/>
          <p:cNvSpPr/>
          <p:nvPr/>
        </p:nvSpPr>
        <p:spPr>
          <a:xfrm>
            <a:off x="6763573" y="1773936"/>
            <a:ext cx="137160" cy="137160"/>
          </a:xfrm>
          <a:prstGeom prst="diamond">
            <a:avLst/>
          </a:prstGeom>
          <a:solidFill>
            <a:srgbClr val="E08A3C"/>
          </a:solidFill>
          <a:ln/>
        </p:spPr>
        <p:txBody>
          <a:bodyPr/>
          <a:lstStyle/>
          <a:p>
            <a:endParaRPr lang="fr-FR"/>
          </a:p>
        </p:txBody>
      </p:sp>
      <p:sp>
        <p:nvSpPr>
          <p:cNvPr id="47" name="Text 45"/>
          <p:cNvSpPr/>
          <p:nvPr/>
        </p:nvSpPr>
        <p:spPr>
          <a:xfrm>
            <a:off x="6649273" y="1920240"/>
            <a:ext cx="365760" cy="146304"/>
          </a:xfrm>
          <a:prstGeom prst="rect">
            <a:avLst/>
          </a:prstGeom>
          <a:noFill/>
          <a:ln/>
        </p:spPr>
        <p:txBody>
          <a:bodyPr wrap="square" lIns="0" tIns="0" rIns="0" bIns="0" rtlCol="0" anchor="ctr"/>
          <a:lstStyle/>
          <a:p>
            <a:pPr marL="0" indent="0" algn="ctr">
              <a:lnSpc>
                <a:spcPct val="106000"/>
              </a:lnSpc>
              <a:buNone/>
            </a:pPr>
            <a:r>
              <a:rPr lang="en-US" sz="700" b="1" dirty="0">
                <a:solidFill>
                  <a:srgbClr val="E08A3C"/>
                </a:solidFill>
                <a:latin typeface="Calibri" pitchFamily="34" charset="0"/>
                <a:ea typeface="Calibri" pitchFamily="34" charset="-122"/>
                <a:cs typeface="Calibri" pitchFamily="34" charset="-120"/>
              </a:rPr>
              <a:t>J5</a:t>
            </a:r>
            <a:endParaRPr lang="en-US" sz="700" dirty="0"/>
          </a:p>
        </p:txBody>
      </p:sp>
      <p:sp>
        <p:nvSpPr>
          <p:cNvPr id="48" name="Shape 46"/>
          <p:cNvSpPr/>
          <p:nvPr/>
        </p:nvSpPr>
        <p:spPr>
          <a:xfrm>
            <a:off x="8228076" y="1773936"/>
            <a:ext cx="137160" cy="137160"/>
          </a:xfrm>
          <a:prstGeom prst="diamond">
            <a:avLst/>
          </a:prstGeom>
          <a:solidFill>
            <a:srgbClr val="E08A3C"/>
          </a:solidFill>
          <a:ln/>
        </p:spPr>
        <p:txBody>
          <a:bodyPr/>
          <a:lstStyle/>
          <a:p>
            <a:endParaRPr lang="fr-FR"/>
          </a:p>
        </p:txBody>
      </p:sp>
      <p:sp>
        <p:nvSpPr>
          <p:cNvPr id="49" name="Text 47"/>
          <p:cNvSpPr/>
          <p:nvPr/>
        </p:nvSpPr>
        <p:spPr>
          <a:xfrm>
            <a:off x="8113776" y="1920240"/>
            <a:ext cx="365760" cy="146304"/>
          </a:xfrm>
          <a:prstGeom prst="rect">
            <a:avLst/>
          </a:prstGeom>
          <a:noFill/>
          <a:ln/>
        </p:spPr>
        <p:txBody>
          <a:bodyPr wrap="square" lIns="0" tIns="0" rIns="0" bIns="0" rtlCol="0" anchor="ctr"/>
          <a:lstStyle/>
          <a:p>
            <a:pPr marL="0" indent="0" algn="ctr">
              <a:lnSpc>
                <a:spcPct val="106000"/>
              </a:lnSpc>
              <a:buNone/>
            </a:pPr>
            <a:r>
              <a:rPr lang="en-US" sz="700" b="1" dirty="0">
                <a:solidFill>
                  <a:srgbClr val="E08A3C"/>
                </a:solidFill>
                <a:latin typeface="Calibri" pitchFamily="34" charset="0"/>
                <a:ea typeface="Calibri" pitchFamily="34" charset="-122"/>
                <a:cs typeface="Calibri" pitchFamily="34" charset="-120"/>
              </a:rPr>
              <a:t>J6</a:t>
            </a:r>
            <a:endParaRPr lang="en-US" sz="700" dirty="0"/>
          </a:p>
        </p:txBody>
      </p:sp>
      <p:sp>
        <p:nvSpPr>
          <p:cNvPr id="50" name="Text 48"/>
          <p:cNvSpPr/>
          <p:nvPr/>
        </p:nvSpPr>
        <p:spPr>
          <a:xfrm>
            <a:off x="292608" y="1792224"/>
            <a:ext cx="1828800" cy="164592"/>
          </a:xfrm>
          <a:prstGeom prst="rect">
            <a:avLst/>
          </a:prstGeom>
          <a:noFill/>
          <a:ln/>
        </p:spPr>
        <p:txBody>
          <a:bodyPr wrap="square" lIns="0" tIns="0" rIns="0" bIns="0" rtlCol="0" anchor="ctr"/>
          <a:lstStyle/>
          <a:p>
            <a:pPr marL="0" indent="0" algn="l">
              <a:lnSpc>
                <a:spcPct val="106000"/>
              </a:lnSpc>
              <a:buNone/>
            </a:pPr>
            <a:r>
              <a:rPr lang="en-US" sz="700" b="1" dirty="0">
                <a:solidFill>
                  <a:srgbClr val="8FA6BC"/>
                </a:solidFill>
                <a:latin typeface="Calibri" pitchFamily="34" charset="0"/>
                <a:ea typeface="Calibri" pitchFamily="34" charset="-122"/>
                <a:cs typeface="Calibri" pitchFamily="34" charset="-120"/>
              </a:rPr>
              <a:t>JALONS</a:t>
            </a:r>
            <a:endParaRPr lang="en-US" sz="700" dirty="0"/>
          </a:p>
        </p:txBody>
      </p:sp>
      <p:sp>
        <p:nvSpPr>
          <p:cNvPr id="51" name="Text 49"/>
          <p:cNvSpPr/>
          <p:nvPr/>
        </p:nvSpPr>
        <p:spPr>
          <a:xfrm>
            <a:off x="292608" y="2167128"/>
            <a:ext cx="1828800" cy="201168"/>
          </a:xfrm>
          <a:prstGeom prst="rect">
            <a:avLst/>
          </a:prstGeom>
          <a:noFill/>
          <a:ln/>
        </p:spPr>
        <p:txBody>
          <a:bodyPr wrap="square" lIns="0" tIns="0" rIns="0" bIns="0" rtlCol="0" anchor="ctr"/>
          <a:lstStyle/>
          <a:p>
            <a:pPr marL="0" indent="0" algn="l">
              <a:lnSpc>
                <a:spcPct val="106000"/>
              </a:lnSpc>
              <a:buNone/>
            </a:pPr>
            <a:r>
              <a:rPr lang="en-US" sz="850" b="1" dirty="0">
                <a:solidFill>
                  <a:srgbClr val="12263F"/>
                </a:solidFill>
                <a:latin typeface="Calibri" pitchFamily="34" charset="0"/>
                <a:ea typeface="Calibri" pitchFamily="34" charset="-122"/>
                <a:cs typeface="Calibri" pitchFamily="34" charset="-120"/>
              </a:rPr>
              <a:t>1 · Cadrage et conception</a:t>
            </a:r>
            <a:endParaRPr lang="en-US" sz="850" dirty="0"/>
          </a:p>
        </p:txBody>
      </p:sp>
      <p:sp>
        <p:nvSpPr>
          <p:cNvPr id="52" name="Shape 50"/>
          <p:cNvSpPr/>
          <p:nvPr/>
        </p:nvSpPr>
        <p:spPr>
          <a:xfrm>
            <a:off x="2194560" y="2157984"/>
            <a:ext cx="865388" cy="192024"/>
          </a:xfrm>
          <a:prstGeom prst="roundRect">
            <a:avLst>
              <a:gd name="adj" fmla="val 14286"/>
            </a:avLst>
          </a:prstGeom>
          <a:solidFill>
            <a:srgbClr val="E08A3C"/>
          </a:solidFill>
          <a:ln w="19050">
            <a:solidFill>
              <a:srgbClr val="B03A48"/>
            </a:solidFill>
            <a:prstDash val="solid"/>
          </a:ln>
        </p:spPr>
        <p:txBody>
          <a:bodyPr/>
          <a:lstStyle/>
          <a:p>
            <a:endParaRPr lang="fr-FR"/>
          </a:p>
        </p:txBody>
      </p:sp>
      <p:sp>
        <p:nvSpPr>
          <p:cNvPr id="53" name="Text 51"/>
          <p:cNvSpPr/>
          <p:nvPr/>
        </p:nvSpPr>
        <p:spPr>
          <a:xfrm>
            <a:off x="292608" y="2432304"/>
            <a:ext cx="1828800" cy="201168"/>
          </a:xfrm>
          <a:prstGeom prst="rect">
            <a:avLst/>
          </a:prstGeom>
          <a:noFill/>
          <a:ln/>
        </p:spPr>
        <p:txBody>
          <a:bodyPr wrap="square" lIns="0" tIns="0" rIns="0" bIns="0" rtlCol="0" anchor="ctr"/>
          <a:lstStyle/>
          <a:p>
            <a:pPr marL="0" indent="0" algn="l">
              <a:lnSpc>
                <a:spcPct val="106000"/>
              </a:lnSpc>
              <a:buNone/>
            </a:pPr>
            <a:r>
              <a:rPr lang="en-US" sz="850" b="1" dirty="0">
                <a:solidFill>
                  <a:srgbClr val="12263F"/>
                </a:solidFill>
                <a:latin typeface="Calibri" pitchFamily="34" charset="0"/>
                <a:ea typeface="Calibri" pitchFamily="34" charset="-122"/>
                <a:cs typeface="Calibri" pitchFamily="34" charset="-120"/>
              </a:rPr>
              <a:t>2 · Application backend</a:t>
            </a:r>
            <a:endParaRPr lang="en-US" sz="850" dirty="0"/>
          </a:p>
        </p:txBody>
      </p:sp>
      <p:sp>
        <p:nvSpPr>
          <p:cNvPr id="54" name="Shape 52"/>
          <p:cNvSpPr/>
          <p:nvPr/>
        </p:nvSpPr>
        <p:spPr>
          <a:xfrm>
            <a:off x="2804770" y="2423160"/>
            <a:ext cx="3051048" cy="192024"/>
          </a:xfrm>
          <a:prstGeom prst="roundRect">
            <a:avLst>
              <a:gd name="adj" fmla="val 14286"/>
            </a:avLst>
          </a:prstGeom>
          <a:solidFill>
            <a:srgbClr val="12855A"/>
          </a:solidFill>
          <a:ln w="19050">
            <a:solidFill>
              <a:srgbClr val="B03A48"/>
            </a:solidFill>
            <a:prstDash val="solid"/>
          </a:ln>
        </p:spPr>
        <p:txBody>
          <a:bodyPr/>
          <a:lstStyle/>
          <a:p>
            <a:endParaRPr lang="fr-FR"/>
          </a:p>
        </p:txBody>
      </p:sp>
      <p:sp>
        <p:nvSpPr>
          <p:cNvPr id="55" name="Text 53"/>
          <p:cNvSpPr/>
          <p:nvPr/>
        </p:nvSpPr>
        <p:spPr>
          <a:xfrm>
            <a:off x="292608" y="2697480"/>
            <a:ext cx="1828800" cy="201168"/>
          </a:xfrm>
          <a:prstGeom prst="rect">
            <a:avLst/>
          </a:prstGeom>
          <a:noFill/>
          <a:ln/>
        </p:spPr>
        <p:txBody>
          <a:bodyPr wrap="square" lIns="0" tIns="0" rIns="0" bIns="0" rtlCol="0" anchor="ctr"/>
          <a:lstStyle/>
          <a:p>
            <a:pPr marL="0" indent="0" algn="l">
              <a:lnSpc>
                <a:spcPct val="106000"/>
              </a:lnSpc>
              <a:buNone/>
            </a:pPr>
            <a:r>
              <a:rPr lang="en-US" sz="850" b="1" dirty="0">
                <a:solidFill>
                  <a:srgbClr val="12263F"/>
                </a:solidFill>
                <a:latin typeface="Calibri" pitchFamily="34" charset="0"/>
                <a:ea typeface="Calibri" pitchFamily="34" charset="-122"/>
                <a:cs typeface="Calibri" pitchFamily="34" charset="-120"/>
              </a:rPr>
              <a:t>3 · Application frontend</a:t>
            </a:r>
            <a:endParaRPr lang="en-US" sz="850" dirty="0"/>
          </a:p>
        </p:txBody>
      </p:sp>
      <p:sp>
        <p:nvSpPr>
          <p:cNvPr id="56" name="Shape 54"/>
          <p:cNvSpPr/>
          <p:nvPr/>
        </p:nvSpPr>
        <p:spPr>
          <a:xfrm>
            <a:off x="3636874" y="2688336"/>
            <a:ext cx="2440838" cy="192024"/>
          </a:xfrm>
          <a:prstGeom prst="roundRect">
            <a:avLst>
              <a:gd name="adj" fmla="val 14286"/>
            </a:avLst>
          </a:prstGeom>
          <a:solidFill>
            <a:srgbClr val="1B6EC2"/>
          </a:solidFill>
          <a:ln w="6350">
            <a:solidFill>
              <a:srgbClr val="1B6EC2"/>
            </a:solidFill>
            <a:prstDash val="solid"/>
          </a:ln>
        </p:spPr>
        <p:txBody>
          <a:bodyPr/>
          <a:lstStyle/>
          <a:p>
            <a:endParaRPr lang="fr-FR"/>
          </a:p>
        </p:txBody>
      </p:sp>
      <p:sp>
        <p:nvSpPr>
          <p:cNvPr id="57" name="Text 55"/>
          <p:cNvSpPr/>
          <p:nvPr/>
        </p:nvSpPr>
        <p:spPr>
          <a:xfrm>
            <a:off x="292608" y="2962656"/>
            <a:ext cx="1828800" cy="201168"/>
          </a:xfrm>
          <a:prstGeom prst="rect">
            <a:avLst/>
          </a:prstGeom>
          <a:noFill/>
          <a:ln/>
        </p:spPr>
        <p:txBody>
          <a:bodyPr wrap="square" lIns="0" tIns="0" rIns="0" bIns="0" rtlCol="0" anchor="ctr"/>
          <a:lstStyle/>
          <a:p>
            <a:pPr marL="0" indent="0" algn="l">
              <a:lnSpc>
                <a:spcPct val="106000"/>
              </a:lnSpc>
              <a:buNone/>
            </a:pPr>
            <a:r>
              <a:rPr lang="en-US" sz="850" b="1" dirty="0">
                <a:solidFill>
                  <a:srgbClr val="12263F"/>
                </a:solidFill>
                <a:latin typeface="Calibri" pitchFamily="34" charset="0"/>
                <a:ea typeface="Calibri" pitchFamily="34" charset="-122"/>
                <a:cs typeface="Calibri" pitchFamily="34" charset="-120"/>
              </a:rPr>
              <a:t>4 · Infrastructure et livraison</a:t>
            </a:r>
            <a:endParaRPr lang="en-US" sz="850" dirty="0"/>
          </a:p>
        </p:txBody>
      </p:sp>
      <p:sp>
        <p:nvSpPr>
          <p:cNvPr id="58" name="Shape 56"/>
          <p:cNvSpPr/>
          <p:nvPr/>
        </p:nvSpPr>
        <p:spPr>
          <a:xfrm>
            <a:off x="3304032" y="2953512"/>
            <a:ext cx="3383890" cy="192024"/>
          </a:xfrm>
          <a:prstGeom prst="roundRect">
            <a:avLst>
              <a:gd name="adj" fmla="val 14286"/>
            </a:avLst>
          </a:prstGeom>
          <a:solidFill>
            <a:srgbClr val="6B3FD4"/>
          </a:solidFill>
          <a:ln w="6350">
            <a:solidFill>
              <a:srgbClr val="6B3FD4"/>
            </a:solidFill>
            <a:prstDash val="solid"/>
          </a:ln>
        </p:spPr>
        <p:txBody>
          <a:bodyPr/>
          <a:lstStyle/>
          <a:p>
            <a:endParaRPr lang="fr-FR"/>
          </a:p>
        </p:txBody>
      </p:sp>
      <p:sp>
        <p:nvSpPr>
          <p:cNvPr id="59" name="Text 57"/>
          <p:cNvSpPr/>
          <p:nvPr/>
        </p:nvSpPr>
        <p:spPr>
          <a:xfrm>
            <a:off x="292608" y="3227832"/>
            <a:ext cx="1828800" cy="201168"/>
          </a:xfrm>
          <a:prstGeom prst="rect">
            <a:avLst/>
          </a:prstGeom>
          <a:noFill/>
          <a:ln/>
        </p:spPr>
        <p:txBody>
          <a:bodyPr wrap="square" lIns="0" tIns="0" rIns="0" bIns="0" rtlCol="0" anchor="ctr"/>
          <a:lstStyle/>
          <a:p>
            <a:pPr marL="0" indent="0" algn="l">
              <a:lnSpc>
                <a:spcPct val="106000"/>
              </a:lnSpc>
              <a:buNone/>
            </a:pPr>
            <a:r>
              <a:rPr lang="en-US" sz="850" b="1" dirty="0">
                <a:solidFill>
                  <a:srgbClr val="12263F"/>
                </a:solidFill>
                <a:latin typeface="Calibri" pitchFamily="34" charset="0"/>
                <a:ea typeface="Calibri" pitchFamily="34" charset="-122"/>
                <a:cs typeface="Calibri" pitchFamily="34" charset="-120"/>
              </a:rPr>
              <a:t>5 · Exploitation et sécurité</a:t>
            </a:r>
            <a:endParaRPr lang="en-US" sz="850" dirty="0"/>
          </a:p>
        </p:txBody>
      </p:sp>
      <p:sp>
        <p:nvSpPr>
          <p:cNvPr id="60" name="Shape 58"/>
          <p:cNvSpPr/>
          <p:nvPr/>
        </p:nvSpPr>
        <p:spPr>
          <a:xfrm>
            <a:off x="5522976" y="3218688"/>
            <a:ext cx="1886102" cy="192024"/>
          </a:xfrm>
          <a:prstGeom prst="roundRect">
            <a:avLst>
              <a:gd name="adj" fmla="val 14286"/>
            </a:avLst>
          </a:prstGeom>
          <a:solidFill>
            <a:srgbClr val="B03A48"/>
          </a:solidFill>
          <a:ln w="19050">
            <a:solidFill>
              <a:srgbClr val="B03A48"/>
            </a:solidFill>
            <a:prstDash val="solid"/>
          </a:ln>
        </p:spPr>
        <p:txBody>
          <a:bodyPr/>
          <a:lstStyle/>
          <a:p>
            <a:endParaRPr lang="fr-FR"/>
          </a:p>
        </p:txBody>
      </p:sp>
      <p:sp>
        <p:nvSpPr>
          <p:cNvPr id="61" name="Text 59"/>
          <p:cNvSpPr/>
          <p:nvPr/>
        </p:nvSpPr>
        <p:spPr>
          <a:xfrm>
            <a:off x="292608" y="3493008"/>
            <a:ext cx="1828800" cy="201168"/>
          </a:xfrm>
          <a:prstGeom prst="rect">
            <a:avLst/>
          </a:prstGeom>
          <a:noFill/>
          <a:ln/>
        </p:spPr>
        <p:txBody>
          <a:bodyPr wrap="square" lIns="0" tIns="0" rIns="0" bIns="0" rtlCol="0" anchor="ctr"/>
          <a:lstStyle/>
          <a:p>
            <a:pPr marL="0" indent="0" algn="l">
              <a:lnSpc>
                <a:spcPct val="106000"/>
              </a:lnSpc>
              <a:buNone/>
            </a:pPr>
            <a:r>
              <a:rPr lang="en-US" sz="850" b="1" dirty="0">
                <a:solidFill>
                  <a:srgbClr val="12263F"/>
                </a:solidFill>
                <a:latin typeface="Calibri" pitchFamily="34" charset="0"/>
                <a:ea typeface="Calibri" pitchFamily="34" charset="-122"/>
                <a:cs typeface="Calibri" pitchFamily="34" charset="-120"/>
              </a:rPr>
              <a:t>6 · Documentation et rendu</a:t>
            </a:r>
            <a:endParaRPr lang="en-US" sz="850" dirty="0"/>
          </a:p>
        </p:txBody>
      </p:sp>
      <p:sp>
        <p:nvSpPr>
          <p:cNvPr id="62" name="Shape 60"/>
          <p:cNvSpPr/>
          <p:nvPr/>
        </p:nvSpPr>
        <p:spPr>
          <a:xfrm>
            <a:off x="6854342" y="3483864"/>
            <a:ext cx="1442314" cy="192024"/>
          </a:xfrm>
          <a:prstGeom prst="roundRect">
            <a:avLst>
              <a:gd name="adj" fmla="val 14286"/>
            </a:avLst>
          </a:prstGeom>
          <a:solidFill>
            <a:srgbClr val="4A5769"/>
          </a:solidFill>
          <a:ln w="19050">
            <a:solidFill>
              <a:srgbClr val="B03A48"/>
            </a:solidFill>
            <a:prstDash val="solid"/>
          </a:ln>
        </p:spPr>
        <p:txBody>
          <a:bodyPr/>
          <a:lstStyle/>
          <a:p>
            <a:endParaRPr lang="fr-FR"/>
          </a:p>
        </p:txBody>
      </p:sp>
      <p:sp>
        <p:nvSpPr>
          <p:cNvPr id="63" name="Text 61"/>
          <p:cNvSpPr/>
          <p:nvPr/>
        </p:nvSpPr>
        <p:spPr>
          <a:xfrm>
            <a:off x="292608" y="3758184"/>
            <a:ext cx="1828800" cy="201168"/>
          </a:xfrm>
          <a:prstGeom prst="rect">
            <a:avLst/>
          </a:prstGeom>
          <a:noFill/>
          <a:ln/>
        </p:spPr>
        <p:txBody>
          <a:bodyPr wrap="square" lIns="0" tIns="0" rIns="0" bIns="0" rtlCol="0" anchor="ctr"/>
          <a:lstStyle/>
          <a:p>
            <a:pPr marL="0" indent="0" algn="l">
              <a:lnSpc>
                <a:spcPct val="106000"/>
              </a:lnSpc>
              <a:buNone/>
            </a:pPr>
            <a:r>
              <a:rPr lang="en-US" sz="850" dirty="0">
                <a:solidFill>
                  <a:srgbClr val="8FA6BC"/>
                </a:solidFill>
                <a:latin typeface="Calibri" pitchFamily="34" charset="0"/>
                <a:ea typeface="Calibri" pitchFamily="34" charset="-122"/>
                <a:cs typeface="Calibri" pitchFamily="34" charset="-120"/>
              </a:rPr>
              <a:t>Marge, aléas et préparation soutenance</a:t>
            </a:r>
            <a:endParaRPr lang="en-US" sz="850" dirty="0"/>
          </a:p>
        </p:txBody>
      </p:sp>
      <p:sp>
        <p:nvSpPr>
          <p:cNvPr id="64" name="Shape 62"/>
          <p:cNvSpPr/>
          <p:nvPr/>
        </p:nvSpPr>
        <p:spPr>
          <a:xfrm>
            <a:off x="8296656" y="3749040"/>
            <a:ext cx="554736" cy="192024"/>
          </a:xfrm>
          <a:prstGeom prst="roundRect">
            <a:avLst>
              <a:gd name="adj" fmla="val 14286"/>
            </a:avLst>
          </a:prstGeom>
          <a:solidFill>
            <a:srgbClr val="EDF1F5"/>
          </a:solidFill>
          <a:ln w="9525">
            <a:solidFill>
              <a:srgbClr val="E2E8EE"/>
            </a:solidFill>
            <a:prstDash val="solid"/>
          </a:ln>
        </p:spPr>
        <p:txBody>
          <a:bodyPr/>
          <a:lstStyle/>
          <a:p>
            <a:endParaRPr lang="fr-FR"/>
          </a:p>
        </p:txBody>
      </p:sp>
      <p:sp>
        <p:nvSpPr>
          <p:cNvPr id="65" name="Text 63"/>
          <p:cNvSpPr/>
          <p:nvPr/>
        </p:nvSpPr>
        <p:spPr>
          <a:xfrm>
            <a:off x="292608" y="4005072"/>
            <a:ext cx="8558784" cy="182880"/>
          </a:xfrm>
          <a:prstGeom prst="rect">
            <a:avLst/>
          </a:prstGeom>
          <a:noFill/>
          <a:ln/>
        </p:spPr>
        <p:txBody>
          <a:bodyPr wrap="square" lIns="0" tIns="0" rIns="0" bIns="0" rtlCol="0" anchor="ctr"/>
          <a:lstStyle/>
          <a:p>
            <a:pPr marL="0" indent="0" algn="l">
              <a:lnSpc>
                <a:spcPct val="106000"/>
              </a:lnSpc>
              <a:buNone/>
            </a:pPr>
            <a:r>
              <a:rPr lang="en-US" sz="750" dirty="0">
                <a:solidFill>
                  <a:srgbClr val="4A5769"/>
                </a:solidFill>
                <a:latin typeface="Calibri" pitchFamily="34" charset="0"/>
                <a:ea typeface="Calibri" pitchFamily="34" charset="-122"/>
                <a:cs typeface="Calibri" pitchFamily="34" charset="-120"/>
              </a:rPr>
              <a:t>Contour rouge : lot sur le chemin critique. Les lots 3 et 4 disposent d'une marge : ils suivent le backend sans le contraindre.</a:t>
            </a:r>
            <a:endParaRPr lang="en-US" sz="750" dirty="0"/>
          </a:p>
        </p:txBody>
      </p:sp>
      <p:sp>
        <p:nvSpPr>
          <p:cNvPr id="66" name="Shape 64"/>
          <p:cNvSpPr/>
          <p:nvPr/>
        </p:nvSpPr>
        <p:spPr>
          <a:xfrm>
            <a:off x="292608" y="4224528"/>
            <a:ext cx="8558784" cy="475488"/>
          </a:xfrm>
          <a:prstGeom prst="rect">
            <a:avLst/>
          </a:prstGeom>
          <a:solidFill>
            <a:srgbClr val="12263F"/>
          </a:solidFill>
          <a:ln/>
        </p:spPr>
        <p:txBody>
          <a:bodyPr/>
          <a:lstStyle/>
          <a:p>
            <a:endParaRPr lang="fr-FR"/>
          </a:p>
        </p:txBody>
      </p:sp>
      <p:sp>
        <p:nvSpPr>
          <p:cNvPr id="67" name="Shape 65"/>
          <p:cNvSpPr/>
          <p:nvPr/>
        </p:nvSpPr>
        <p:spPr>
          <a:xfrm>
            <a:off x="292608" y="4224528"/>
            <a:ext cx="45720" cy="475488"/>
          </a:xfrm>
          <a:prstGeom prst="rect">
            <a:avLst/>
          </a:prstGeom>
          <a:solidFill>
            <a:srgbClr val="E08A3C"/>
          </a:solidFill>
          <a:ln/>
        </p:spPr>
        <p:txBody>
          <a:bodyPr/>
          <a:lstStyle/>
          <a:p>
            <a:endParaRPr lang="fr-FR"/>
          </a:p>
        </p:txBody>
      </p:sp>
      <p:sp>
        <p:nvSpPr>
          <p:cNvPr id="68" name="Text 66"/>
          <p:cNvSpPr/>
          <p:nvPr/>
        </p:nvSpPr>
        <p:spPr>
          <a:xfrm>
            <a:off x="548640" y="4224528"/>
            <a:ext cx="8138160" cy="475488"/>
          </a:xfrm>
          <a:prstGeom prst="rect">
            <a:avLst/>
          </a:prstGeom>
          <a:noFill/>
          <a:ln/>
        </p:spPr>
        <p:txBody>
          <a:bodyPr wrap="square" lIns="0" tIns="0" rIns="0" bIns="0" rtlCol="0" anchor="ctr"/>
          <a:lstStyle/>
          <a:p>
            <a:r>
              <a:rPr lang="fr-FR" sz="1150" b="1" noProof="0" dirty="0">
                <a:solidFill>
                  <a:srgbClr val="FFFFFF"/>
                </a:solidFill>
                <a:latin typeface="Calibri" pitchFamily="34" charset="0"/>
                <a:ea typeface="Calibri" pitchFamily="34" charset="-122"/>
                <a:cs typeface="Calibri" pitchFamily="34" charset="-120"/>
              </a:rPr>
              <a:t>Le budget d'infrastructure est d'environ 100 € par mois. Hetzner divise la facture par dix par rapport aux géants du cloud</a:t>
            </a:r>
            <a:endParaRPr lang="fr-FR" sz="1150" noProof="0" dirty="0"/>
          </a:p>
        </p:txBody>
      </p:sp>
      <p:sp>
        <p:nvSpPr>
          <p:cNvPr id="69" name="Text 67"/>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6.1 - Élaboration du Planning et Gestion des Ressources</a:t>
            </a:r>
            <a:endParaRPr lang="en-US" sz="750" dirty="0"/>
          </a:p>
        </p:txBody>
      </p:sp>
      <p:sp>
        <p:nvSpPr>
          <p:cNvPr id="70" name="Text 68"/>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6. Gestion du projet</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24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6.2 - Suivi de l'Avancement et Gestion des Risques</a:t>
            </a:r>
            <a:endParaRPr lang="en-US" sz="2200" dirty="0"/>
          </a:p>
        </p:txBody>
      </p:sp>
      <p:sp>
        <p:nvSpPr>
          <p:cNvPr id="7" name="Text 5"/>
          <p:cNvSpPr/>
          <p:nvPr/>
        </p:nvSpPr>
        <p:spPr>
          <a:xfrm>
            <a:off x="292608" y="1024128"/>
            <a:ext cx="8558784" cy="201168"/>
          </a:xfrm>
          <a:prstGeom prst="rect">
            <a:avLst/>
          </a:prstGeom>
          <a:noFill/>
          <a:ln/>
        </p:spPr>
        <p:txBody>
          <a:bodyPr wrap="square" lIns="0" tIns="0" rIns="0" bIns="0" rtlCol="0" anchor="ctr"/>
          <a:lstStyle/>
          <a:p>
            <a:pPr marL="0" indent="0">
              <a:buNone/>
            </a:pPr>
            <a:r>
              <a:rPr lang="en-US" sz="1050" dirty="0">
                <a:solidFill>
                  <a:srgbClr val="4A5769"/>
                </a:solidFill>
                <a:latin typeface="Calibri" pitchFamily="34" charset="0"/>
                <a:ea typeface="Calibri" pitchFamily="34" charset="-122"/>
                <a:cs typeface="Calibri" pitchFamily="34" charset="-120"/>
              </a:rPr>
              <a:t>Le pilotage au quotidien, les métriques de sprint, et le registre de risques.</a:t>
            </a:r>
            <a:endParaRPr lang="en-US" sz="1050" dirty="0"/>
          </a:p>
        </p:txBody>
      </p:sp>
      <p:sp>
        <p:nvSpPr>
          <p:cNvPr id="8" name="Shape 6"/>
          <p:cNvSpPr/>
          <p:nvPr/>
        </p:nvSpPr>
        <p:spPr>
          <a:xfrm>
            <a:off x="274320" y="1353312"/>
            <a:ext cx="4197096" cy="2139696"/>
          </a:xfrm>
          <a:prstGeom prst="rect">
            <a:avLst/>
          </a:prstGeom>
          <a:solidFill>
            <a:srgbClr val="FFFFFF"/>
          </a:solidFill>
          <a:ln w="12700">
            <a:solidFill>
              <a:srgbClr val="E2E8EE"/>
            </a:solidFill>
            <a:prstDash val="solid"/>
          </a:ln>
        </p:spPr>
        <p:txBody>
          <a:bodyPr/>
          <a:lstStyle/>
          <a:p>
            <a:endParaRPr lang="fr-FR"/>
          </a:p>
        </p:txBody>
      </p:sp>
      <p:pic>
        <p:nvPicPr>
          <p:cNvPr id="9" name="Image 0" descr="img/trello.png"/>
          <p:cNvPicPr>
            <a:picLocks noChangeAspect="1"/>
          </p:cNvPicPr>
          <p:nvPr/>
        </p:nvPicPr>
        <p:blipFill>
          <a:blip r:embed="rId3"/>
          <a:stretch>
            <a:fillRect/>
          </a:stretch>
        </p:blipFill>
        <p:spPr>
          <a:xfrm>
            <a:off x="292608" y="1371600"/>
            <a:ext cx="4160520" cy="2066544"/>
          </a:xfrm>
          <a:prstGeom prst="rect">
            <a:avLst/>
          </a:prstGeom>
        </p:spPr>
      </p:pic>
      <p:sp>
        <p:nvSpPr>
          <p:cNvPr id="10" name="Text 7"/>
          <p:cNvSpPr/>
          <p:nvPr/>
        </p:nvSpPr>
        <p:spPr>
          <a:xfrm>
            <a:off x="292608" y="3529584"/>
            <a:ext cx="4160520" cy="274320"/>
          </a:xfrm>
          <a:prstGeom prst="rect">
            <a:avLst/>
          </a:prstGeom>
          <a:noFill/>
          <a:ln/>
        </p:spPr>
        <p:txBody>
          <a:bodyPr wrap="square" lIns="0" tIns="0" rIns="0" bIns="0" rtlCol="0" anchor="ctr"/>
          <a:lstStyle/>
          <a:p>
            <a:pPr marL="0" indent="0" algn="l">
              <a:lnSpc>
                <a:spcPct val="106000"/>
              </a:lnSpc>
              <a:buNone/>
            </a:pPr>
            <a:r>
              <a:rPr lang="en-US" sz="620" dirty="0">
                <a:solidFill>
                  <a:srgbClr val="4A5769"/>
                </a:solidFill>
                <a:latin typeface="Calibri" pitchFamily="34" charset="0"/>
                <a:ea typeface="Calibri" pitchFamily="34" charset="-122"/>
                <a:cs typeface="Calibri" pitchFamily="34" charset="-120"/>
              </a:rPr>
              <a:t>Tableau Kanban du projet · 5 colonnes · 59 cartes dont 33 terminées · une étiquette de couleur par lot du WBS</a:t>
            </a:r>
            <a:endParaRPr lang="en-US" sz="620" dirty="0"/>
          </a:p>
        </p:txBody>
      </p:sp>
      <p:sp>
        <p:nvSpPr>
          <p:cNvPr id="11" name="Text 8"/>
          <p:cNvSpPr/>
          <p:nvPr/>
        </p:nvSpPr>
        <p:spPr>
          <a:xfrm>
            <a:off x="292608" y="3803904"/>
            <a:ext cx="4160520" cy="256032"/>
          </a:xfrm>
          <a:prstGeom prst="rect">
            <a:avLst/>
          </a:prstGeom>
          <a:noFill/>
          <a:ln/>
        </p:spPr>
        <p:txBody>
          <a:bodyPr wrap="square" lIns="0" tIns="0" rIns="0" bIns="0" rtlCol="0" anchor="ctr"/>
          <a:lstStyle/>
          <a:p>
            <a:pPr marL="0" indent="0" algn="l">
              <a:lnSpc>
                <a:spcPct val="106000"/>
              </a:lnSpc>
              <a:buNone/>
            </a:pPr>
            <a:r>
              <a:rPr lang="en-US" sz="620" b="1" dirty="0">
                <a:solidFill>
                  <a:srgbClr val="12263F"/>
                </a:solidFill>
                <a:latin typeface="Calibri" pitchFamily="34" charset="0"/>
                <a:ea typeface="Calibri" pitchFamily="34" charset="-122"/>
                <a:cs typeface="Calibri" pitchFamily="34" charset="-120"/>
              </a:rPr>
              <a:t>Le WBS décompose, le PERT ordonnance, le Gantt fixe les échéances. Le Kanban, lui, exécute au jour le jour.</a:t>
            </a:r>
            <a:endParaRPr lang="en-US" sz="620" dirty="0"/>
          </a:p>
        </p:txBody>
      </p:sp>
      <p:sp>
        <p:nvSpPr>
          <p:cNvPr id="12" name="Shape 9"/>
          <p:cNvSpPr/>
          <p:nvPr/>
        </p:nvSpPr>
        <p:spPr>
          <a:xfrm>
            <a:off x="4690872" y="1353312"/>
            <a:ext cx="4160520" cy="859536"/>
          </a:xfrm>
          <a:prstGeom prst="rect">
            <a:avLst/>
          </a:prstGeom>
          <a:solidFill>
            <a:srgbClr val="FFFFFF"/>
          </a:solidFill>
          <a:ln w="9525">
            <a:solidFill>
              <a:srgbClr val="E2E8EE"/>
            </a:solidFill>
            <a:prstDash val="solid"/>
          </a:ln>
        </p:spPr>
        <p:txBody>
          <a:bodyPr/>
          <a:lstStyle/>
          <a:p>
            <a:endParaRPr lang="fr-FR"/>
          </a:p>
        </p:txBody>
      </p:sp>
      <p:sp>
        <p:nvSpPr>
          <p:cNvPr id="13" name="Shape 10"/>
          <p:cNvSpPr/>
          <p:nvPr/>
        </p:nvSpPr>
        <p:spPr>
          <a:xfrm>
            <a:off x="4690872" y="1353312"/>
            <a:ext cx="32004" cy="859536"/>
          </a:xfrm>
          <a:prstGeom prst="rect">
            <a:avLst/>
          </a:prstGeom>
          <a:solidFill>
            <a:srgbClr val="12855A"/>
          </a:solidFill>
          <a:ln/>
        </p:spPr>
        <p:txBody>
          <a:bodyPr/>
          <a:lstStyle/>
          <a:p>
            <a:endParaRPr lang="fr-FR"/>
          </a:p>
        </p:txBody>
      </p:sp>
      <p:sp>
        <p:nvSpPr>
          <p:cNvPr id="14" name="Text 11"/>
          <p:cNvSpPr/>
          <p:nvPr/>
        </p:nvSpPr>
        <p:spPr>
          <a:xfrm>
            <a:off x="4818888" y="1408176"/>
            <a:ext cx="3922776" cy="155448"/>
          </a:xfrm>
          <a:prstGeom prst="rect">
            <a:avLst/>
          </a:prstGeom>
          <a:noFill/>
          <a:ln/>
        </p:spPr>
        <p:txBody>
          <a:bodyPr wrap="square" lIns="0" tIns="0" rIns="0" bIns="0" rtlCol="0" anchor="ctr"/>
          <a:lstStyle/>
          <a:p>
            <a:pPr marL="0" indent="0" algn="l">
              <a:lnSpc>
                <a:spcPct val="106000"/>
              </a:lnSpc>
              <a:buNone/>
            </a:pPr>
            <a:r>
              <a:rPr lang="en-US" sz="700" b="1" dirty="0">
                <a:solidFill>
                  <a:srgbClr val="12263F"/>
                </a:solidFill>
                <a:latin typeface="Calibri" pitchFamily="34" charset="0"/>
                <a:ea typeface="Calibri" pitchFamily="34" charset="-122"/>
                <a:cs typeface="Calibri" pitchFamily="34" charset="-120"/>
              </a:rPr>
              <a:t>INDICATEURS PROJET</a:t>
            </a:r>
            <a:endParaRPr lang="en-US" sz="700" dirty="0"/>
          </a:p>
        </p:txBody>
      </p:sp>
      <p:sp>
        <p:nvSpPr>
          <p:cNvPr id="15" name="Text 12"/>
          <p:cNvSpPr/>
          <p:nvPr/>
        </p:nvSpPr>
        <p:spPr>
          <a:xfrm>
            <a:off x="4855464" y="1591056"/>
            <a:ext cx="3849624" cy="566928"/>
          </a:xfrm>
          <a:prstGeom prst="rect">
            <a:avLst/>
          </a:prstGeom>
          <a:noFill/>
          <a:ln/>
        </p:spPr>
        <p:txBody>
          <a:bodyPr wrap="square" lIns="0" tIns="0" rIns="0" bIns="0" rtlCol="0" anchor="ctr"/>
          <a:lstStyle/>
          <a:p>
            <a:pPr marL="342900" indent="-342900">
              <a:spcAft>
                <a:spcPts val="300"/>
              </a:spcAft>
              <a:buSzPct val="100000"/>
              <a:buChar char="•"/>
            </a:pPr>
            <a:r>
              <a:rPr lang="en-US" sz="660" dirty="0">
                <a:solidFill>
                  <a:srgbClr val="4A5769"/>
                </a:solidFill>
                <a:latin typeface="Calibri" pitchFamily="34" charset="0"/>
                <a:ea typeface="Calibri" pitchFamily="34" charset="-122"/>
                <a:cs typeface="Calibri" pitchFamily="34" charset="-120"/>
              </a:rPr>
              <a:t>Reste-à-faire par lot du WBS, suivi sur le tableau</a:t>
            </a:r>
            <a:endParaRPr lang="en-US" sz="660" dirty="0"/>
          </a:p>
          <a:p>
            <a:pPr marL="342900" indent="-342900">
              <a:spcAft>
                <a:spcPts val="300"/>
              </a:spcAft>
              <a:buSzPct val="100000"/>
              <a:buChar char="•"/>
            </a:pPr>
            <a:r>
              <a:rPr lang="en-US" sz="660" dirty="0">
                <a:solidFill>
                  <a:srgbClr val="4A5769"/>
                </a:solidFill>
                <a:latin typeface="Calibri" pitchFamily="34" charset="0"/>
                <a:ea typeface="Calibri" pitchFamily="34" charset="-122"/>
                <a:cs typeface="Calibri" pitchFamily="34" charset="-120"/>
              </a:rPr>
              <a:t>Franchissement des 6 jalons J1 à J6</a:t>
            </a:r>
            <a:endParaRPr lang="en-US" sz="660" dirty="0"/>
          </a:p>
          <a:p>
            <a:pPr marL="342900" indent="-342900">
              <a:spcAft>
                <a:spcPts val="300"/>
              </a:spcAft>
              <a:buSzPct val="100000"/>
              <a:buChar char="•"/>
            </a:pPr>
            <a:r>
              <a:rPr lang="en-US" sz="660" dirty="0">
                <a:solidFill>
                  <a:srgbClr val="4A5769"/>
                </a:solidFill>
                <a:latin typeface="Calibri" pitchFamily="34" charset="0"/>
                <a:ea typeface="Calibri" pitchFamily="34" charset="-122"/>
                <a:cs typeface="Calibri" pitchFamily="34" charset="-120"/>
              </a:rPr>
              <a:t>Marge consommée sur le chemin critique (63 j)</a:t>
            </a:r>
            <a:endParaRPr lang="en-US" sz="660" dirty="0"/>
          </a:p>
          <a:p>
            <a:pPr marL="342900" indent="-342900">
              <a:spcAft>
                <a:spcPts val="300"/>
              </a:spcAft>
              <a:buSzPct val="100000"/>
              <a:buChar char="•"/>
            </a:pPr>
            <a:r>
              <a:rPr lang="en-US" sz="660" dirty="0">
                <a:solidFill>
                  <a:srgbClr val="4A5769"/>
                </a:solidFill>
                <a:latin typeface="Calibri" pitchFamily="34" charset="0"/>
                <a:ea typeface="Calibri" pitchFamily="34" charset="-122"/>
                <a:cs typeface="Calibri" pitchFamily="34" charset="-120"/>
              </a:rPr>
              <a:t>Coût cloud contre enveloppe, alertes à 50, 80 et 100 %</a:t>
            </a:r>
            <a:endParaRPr lang="en-US" sz="660" dirty="0"/>
          </a:p>
        </p:txBody>
      </p:sp>
      <p:sp>
        <p:nvSpPr>
          <p:cNvPr id="16" name="Shape 13"/>
          <p:cNvSpPr/>
          <p:nvPr/>
        </p:nvSpPr>
        <p:spPr>
          <a:xfrm>
            <a:off x="4690872" y="2286000"/>
            <a:ext cx="4160520" cy="859536"/>
          </a:xfrm>
          <a:prstGeom prst="rect">
            <a:avLst/>
          </a:prstGeom>
          <a:solidFill>
            <a:srgbClr val="FFFFFF"/>
          </a:solidFill>
          <a:ln w="9525">
            <a:solidFill>
              <a:srgbClr val="E2E8EE"/>
            </a:solidFill>
            <a:prstDash val="solid"/>
          </a:ln>
        </p:spPr>
        <p:txBody>
          <a:bodyPr/>
          <a:lstStyle/>
          <a:p>
            <a:endParaRPr lang="fr-FR"/>
          </a:p>
        </p:txBody>
      </p:sp>
      <p:sp>
        <p:nvSpPr>
          <p:cNvPr id="17" name="Shape 14"/>
          <p:cNvSpPr/>
          <p:nvPr/>
        </p:nvSpPr>
        <p:spPr>
          <a:xfrm>
            <a:off x="4690872" y="2286000"/>
            <a:ext cx="32004" cy="859536"/>
          </a:xfrm>
          <a:prstGeom prst="rect">
            <a:avLst/>
          </a:prstGeom>
          <a:solidFill>
            <a:srgbClr val="1B6EC2"/>
          </a:solidFill>
          <a:ln/>
        </p:spPr>
        <p:txBody>
          <a:bodyPr/>
          <a:lstStyle/>
          <a:p>
            <a:endParaRPr lang="fr-FR"/>
          </a:p>
        </p:txBody>
      </p:sp>
      <p:sp>
        <p:nvSpPr>
          <p:cNvPr id="18" name="Text 15"/>
          <p:cNvSpPr/>
          <p:nvPr/>
        </p:nvSpPr>
        <p:spPr>
          <a:xfrm>
            <a:off x="4818888" y="2340864"/>
            <a:ext cx="3922776" cy="155448"/>
          </a:xfrm>
          <a:prstGeom prst="rect">
            <a:avLst/>
          </a:prstGeom>
          <a:noFill/>
          <a:ln/>
        </p:spPr>
        <p:txBody>
          <a:bodyPr wrap="square" lIns="0" tIns="0" rIns="0" bIns="0" rtlCol="0" anchor="ctr"/>
          <a:lstStyle/>
          <a:p>
            <a:pPr marL="0" indent="0" algn="l">
              <a:lnSpc>
                <a:spcPct val="106000"/>
              </a:lnSpc>
              <a:buNone/>
            </a:pPr>
            <a:r>
              <a:rPr lang="en-US" sz="700" b="1" dirty="0">
                <a:solidFill>
                  <a:srgbClr val="12263F"/>
                </a:solidFill>
                <a:latin typeface="Calibri" pitchFamily="34" charset="0"/>
                <a:ea typeface="Calibri" pitchFamily="34" charset="-122"/>
                <a:cs typeface="Calibri" pitchFamily="34" charset="-120"/>
              </a:rPr>
              <a:t>MÉTRIQUES DE SPRINT (cartes user story)</a:t>
            </a:r>
            <a:endParaRPr lang="en-US" sz="700" dirty="0"/>
          </a:p>
        </p:txBody>
      </p:sp>
      <p:sp>
        <p:nvSpPr>
          <p:cNvPr id="19" name="Text 16"/>
          <p:cNvSpPr/>
          <p:nvPr/>
        </p:nvSpPr>
        <p:spPr>
          <a:xfrm>
            <a:off x="4855464" y="2523744"/>
            <a:ext cx="3849624" cy="566928"/>
          </a:xfrm>
          <a:prstGeom prst="rect">
            <a:avLst/>
          </a:prstGeom>
          <a:noFill/>
          <a:ln/>
        </p:spPr>
        <p:txBody>
          <a:bodyPr wrap="square" lIns="0" tIns="0" rIns="0" bIns="0" rtlCol="0" anchor="ctr"/>
          <a:lstStyle/>
          <a:p>
            <a:pPr marL="342900" indent="-342900">
              <a:spcAft>
                <a:spcPts val="300"/>
              </a:spcAft>
              <a:buSzPct val="100000"/>
              <a:buChar char="•"/>
            </a:pPr>
            <a:r>
              <a:rPr lang="en-US" sz="660" dirty="0">
                <a:solidFill>
                  <a:srgbClr val="4A5769"/>
                </a:solidFill>
                <a:latin typeface="Calibri" pitchFamily="34" charset="0"/>
                <a:ea typeface="Calibri" pitchFamily="34" charset="-122"/>
                <a:cs typeface="Calibri" pitchFamily="34" charset="-120"/>
              </a:rPr>
              <a:t>Vélocité : cartes terminées par sprint de 2 semaines</a:t>
            </a:r>
            <a:endParaRPr lang="en-US" sz="660" dirty="0"/>
          </a:p>
          <a:p>
            <a:pPr marL="342900" indent="-342900">
              <a:spcAft>
                <a:spcPts val="300"/>
              </a:spcAft>
              <a:buSzPct val="100000"/>
              <a:buChar char="•"/>
            </a:pPr>
            <a:r>
              <a:rPr lang="en-US" sz="660" dirty="0">
                <a:solidFill>
                  <a:srgbClr val="4A5769"/>
                </a:solidFill>
                <a:latin typeface="Calibri" pitchFamily="34" charset="0"/>
                <a:ea typeface="Calibri" pitchFamily="34" charset="-122"/>
                <a:cs typeface="Calibri" pitchFamily="34" charset="-120"/>
              </a:rPr>
              <a:t>Travail en cours limité à 4 cartes (une seule ressource)</a:t>
            </a:r>
            <a:endParaRPr lang="en-US" sz="660" dirty="0"/>
          </a:p>
          <a:p>
            <a:pPr marL="342900" indent="-342900">
              <a:spcAft>
                <a:spcPts val="300"/>
              </a:spcAft>
              <a:buSzPct val="100000"/>
              <a:buChar char="•"/>
            </a:pPr>
            <a:r>
              <a:rPr lang="en-US" sz="660" dirty="0">
                <a:solidFill>
                  <a:srgbClr val="4A5769"/>
                </a:solidFill>
                <a:latin typeface="Calibri" pitchFamily="34" charset="0"/>
                <a:ea typeface="Calibri" pitchFamily="34" charset="-122"/>
                <a:cs typeface="Calibri" pitchFamily="34" charset="-120"/>
              </a:rPr>
              <a:t>Temps de cycle : de Ready à Done, par carte</a:t>
            </a:r>
            <a:endParaRPr lang="en-US" sz="660" dirty="0"/>
          </a:p>
          <a:p>
            <a:pPr marL="342900" indent="-342900">
              <a:spcAft>
                <a:spcPts val="300"/>
              </a:spcAft>
              <a:buSzPct val="100000"/>
              <a:buChar char="•"/>
            </a:pPr>
            <a:r>
              <a:rPr lang="en-US" sz="660" dirty="0">
                <a:solidFill>
                  <a:srgbClr val="4A5769"/>
                </a:solidFill>
                <a:latin typeface="Calibri" pitchFamily="34" charset="0"/>
                <a:ea typeface="Calibri" pitchFamily="34" charset="-122"/>
                <a:cs typeface="Calibri" pitchFamily="34" charset="-120"/>
              </a:rPr>
              <a:t>Portes de qualité : 218 tests et analyse Trivy bloquants</a:t>
            </a:r>
            <a:endParaRPr lang="en-US" sz="660" dirty="0"/>
          </a:p>
        </p:txBody>
      </p:sp>
      <p:sp>
        <p:nvSpPr>
          <p:cNvPr id="20" name="Shape 17"/>
          <p:cNvSpPr/>
          <p:nvPr/>
        </p:nvSpPr>
        <p:spPr>
          <a:xfrm>
            <a:off x="4690872" y="3218688"/>
            <a:ext cx="4160520" cy="841248"/>
          </a:xfrm>
          <a:prstGeom prst="rect">
            <a:avLst/>
          </a:prstGeom>
          <a:solidFill>
            <a:srgbClr val="FFFFFF"/>
          </a:solidFill>
          <a:ln w="9525">
            <a:solidFill>
              <a:srgbClr val="E2E8EE"/>
            </a:solidFill>
            <a:prstDash val="solid"/>
          </a:ln>
        </p:spPr>
        <p:txBody>
          <a:bodyPr/>
          <a:lstStyle/>
          <a:p>
            <a:endParaRPr lang="fr-FR"/>
          </a:p>
        </p:txBody>
      </p:sp>
      <p:sp>
        <p:nvSpPr>
          <p:cNvPr id="21" name="Shape 18"/>
          <p:cNvSpPr/>
          <p:nvPr/>
        </p:nvSpPr>
        <p:spPr>
          <a:xfrm>
            <a:off x="4690872" y="3218688"/>
            <a:ext cx="32004" cy="841248"/>
          </a:xfrm>
          <a:prstGeom prst="rect">
            <a:avLst/>
          </a:prstGeom>
          <a:solidFill>
            <a:srgbClr val="B03A48"/>
          </a:solidFill>
          <a:ln/>
        </p:spPr>
        <p:txBody>
          <a:bodyPr/>
          <a:lstStyle/>
          <a:p>
            <a:endParaRPr lang="fr-FR"/>
          </a:p>
        </p:txBody>
      </p:sp>
      <p:sp>
        <p:nvSpPr>
          <p:cNvPr id="22" name="Text 19"/>
          <p:cNvSpPr/>
          <p:nvPr/>
        </p:nvSpPr>
        <p:spPr>
          <a:xfrm>
            <a:off x="4818888" y="3273552"/>
            <a:ext cx="3922776" cy="155448"/>
          </a:xfrm>
          <a:prstGeom prst="rect">
            <a:avLst/>
          </a:prstGeom>
          <a:noFill/>
          <a:ln/>
        </p:spPr>
        <p:txBody>
          <a:bodyPr wrap="square" lIns="0" tIns="0" rIns="0" bIns="0" rtlCol="0" anchor="ctr"/>
          <a:lstStyle/>
          <a:p>
            <a:pPr marL="0" indent="0" algn="l">
              <a:lnSpc>
                <a:spcPct val="106000"/>
              </a:lnSpc>
              <a:buNone/>
            </a:pPr>
            <a:r>
              <a:rPr lang="en-US" sz="700" b="1" dirty="0">
                <a:solidFill>
                  <a:srgbClr val="12263F"/>
                </a:solidFill>
                <a:latin typeface="Calibri" pitchFamily="34" charset="0"/>
                <a:ea typeface="Calibri" pitchFamily="34" charset="-122"/>
                <a:cs typeface="Calibri" pitchFamily="34" charset="-120"/>
              </a:rPr>
              <a:t>GESTION DES RISQUES</a:t>
            </a:r>
            <a:endParaRPr lang="en-US" sz="700" dirty="0"/>
          </a:p>
        </p:txBody>
      </p:sp>
      <p:sp>
        <p:nvSpPr>
          <p:cNvPr id="23" name="Text 20"/>
          <p:cNvSpPr/>
          <p:nvPr/>
        </p:nvSpPr>
        <p:spPr>
          <a:xfrm>
            <a:off x="4855464" y="3456432"/>
            <a:ext cx="3849624" cy="548640"/>
          </a:xfrm>
          <a:prstGeom prst="rect">
            <a:avLst/>
          </a:prstGeom>
          <a:noFill/>
          <a:ln/>
        </p:spPr>
        <p:txBody>
          <a:bodyPr wrap="square" lIns="0" tIns="0" rIns="0" bIns="0" rtlCol="0" anchor="ctr"/>
          <a:lstStyle/>
          <a:p>
            <a:pPr marL="342900" indent="-342900">
              <a:spcAft>
                <a:spcPts val="300"/>
              </a:spcAft>
              <a:buSzPct val="100000"/>
              <a:buChar char="•"/>
            </a:pPr>
            <a:r>
              <a:rPr lang="en-US" sz="660" dirty="0">
                <a:solidFill>
                  <a:srgbClr val="4A5769"/>
                </a:solidFill>
                <a:latin typeface="Calibri" pitchFamily="34" charset="0"/>
                <a:ea typeface="Calibri" pitchFamily="34" charset="-122"/>
                <a:cs typeface="Calibri" pitchFamily="34" charset="-120"/>
              </a:rPr>
              <a:t>10 risques cotés, échelle 5x5, revue à chaque sprint</a:t>
            </a:r>
            <a:endParaRPr lang="en-US" sz="660" dirty="0"/>
          </a:p>
          <a:p>
            <a:pPr marL="342900" indent="-342900">
              <a:spcAft>
                <a:spcPts val="300"/>
              </a:spcAft>
              <a:buSzPct val="100000"/>
              <a:buChar char="•"/>
            </a:pPr>
            <a:r>
              <a:rPr lang="en-US" sz="660" dirty="0">
                <a:solidFill>
                  <a:srgbClr val="4A5769"/>
                </a:solidFill>
                <a:latin typeface="Calibri" pitchFamily="34" charset="0"/>
                <a:ea typeface="Calibri" pitchFamily="34" charset="-122"/>
                <a:cs typeface="Calibri" pitchFamily="34" charset="-120"/>
              </a:rPr>
              <a:t>4 stratégies : éviter, réduire, transférer, accepter</a:t>
            </a:r>
            <a:endParaRPr lang="en-US" sz="660" dirty="0"/>
          </a:p>
          <a:p>
            <a:pPr marL="342900" indent="-342900">
              <a:spcAft>
                <a:spcPts val="300"/>
              </a:spcAft>
              <a:buSzPct val="100000"/>
              <a:buChar char="•"/>
            </a:pPr>
            <a:r>
              <a:rPr lang="en-US" sz="660" dirty="0">
                <a:solidFill>
                  <a:srgbClr val="4A5769"/>
                </a:solidFill>
                <a:latin typeface="Calibri" pitchFamily="34" charset="0"/>
                <a:ea typeface="Calibri" pitchFamily="34" charset="-122"/>
                <a:cs typeface="Calibri" pitchFamily="34" charset="-120"/>
              </a:rPr>
              <a:t>Criticité résiduelle maximale après mitigation : 8</a:t>
            </a:r>
            <a:endParaRPr lang="en-US" sz="660" dirty="0"/>
          </a:p>
        </p:txBody>
      </p:sp>
      <p:sp>
        <p:nvSpPr>
          <p:cNvPr id="24" name="Shape 21"/>
          <p:cNvSpPr/>
          <p:nvPr/>
        </p:nvSpPr>
        <p:spPr>
          <a:xfrm>
            <a:off x="292608" y="4224528"/>
            <a:ext cx="8558784" cy="475488"/>
          </a:xfrm>
          <a:prstGeom prst="rect">
            <a:avLst/>
          </a:prstGeom>
          <a:solidFill>
            <a:srgbClr val="12263F"/>
          </a:solidFill>
          <a:ln/>
        </p:spPr>
        <p:txBody>
          <a:bodyPr/>
          <a:lstStyle/>
          <a:p>
            <a:endParaRPr lang="fr-FR"/>
          </a:p>
        </p:txBody>
      </p:sp>
      <p:sp>
        <p:nvSpPr>
          <p:cNvPr id="25" name="Shape 22"/>
          <p:cNvSpPr/>
          <p:nvPr/>
        </p:nvSpPr>
        <p:spPr>
          <a:xfrm>
            <a:off x="292608" y="4224528"/>
            <a:ext cx="45720" cy="475488"/>
          </a:xfrm>
          <a:prstGeom prst="rect">
            <a:avLst/>
          </a:prstGeom>
          <a:solidFill>
            <a:srgbClr val="E08A3C"/>
          </a:solidFill>
          <a:ln/>
        </p:spPr>
        <p:txBody>
          <a:bodyPr/>
          <a:lstStyle/>
          <a:p>
            <a:endParaRPr lang="fr-FR"/>
          </a:p>
        </p:txBody>
      </p:sp>
      <p:sp>
        <p:nvSpPr>
          <p:cNvPr id="26" name="Text 23"/>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Les mesures du système alimentent le pilotage : je décide sur des faits, pas à l'estime.</a:t>
            </a:r>
            <a:endParaRPr lang="en-US" sz="1150" dirty="0"/>
          </a:p>
        </p:txBody>
      </p:sp>
      <p:sp>
        <p:nvSpPr>
          <p:cNvPr id="27" name="Text 24"/>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6.2 - Suivi de l'Avancement et Gestion des Risques</a:t>
            </a:r>
            <a:endParaRPr lang="en-US" sz="750" dirty="0"/>
          </a:p>
        </p:txBody>
      </p:sp>
      <p:sp>
        <p:nvSpPr>
          <p:cNvPr id="28" name="Text 25"/>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6. Gestion du projet</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25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6.3 - Communication et Coordination avec les Parties Prenantes</a:t>
            </a:r>
            <a:endParaRPr lang="en-US" sz="2200" dirty="0"/>
          </a:p>
        </p:txBody>
      </p:sp>
      <p:sp>
        <p:nvSpPr>
          <p:cNvPr id="7" name="Text 5"/>
          <p:cNvSpPr/>
          <p:nvPr/>
        </p:nvSpPr>
        <p:spPr>
          <a:xfrm>
            <a:off x="292608" y="1024128"/>
            <a:ext cx="8558784" cy="201168"/>
          </a:xfrm>
          <a:prstGeom prst="rect">
            <a:avLst/>
          </a:prstGeom>
          <a:noFill/>
          <a:ln/>
        </p:spPr>
        <p:txBody>
          <a:bodyPr wrap="square" lIns="0" tIns="0" rIns="0" bIns="0" rtlCol="0" anchor="ctr"/>
          <a:lstStyle/>
          <a:p>
            <a:pPr marL="0" indent="0">
              <a:buNone/>
            </a:pPr>
            <a:r>
              <a:rPr lang="en-US" sz="1050" dirty="0">
                <a:solidFill>
                  <a:srgbClr val="4A5769"/>
                </a:solidFill>
                <a:latin typeface="Calibri" pitchFamily="34" charset="0"/>
                <a:ea typeface="Calibri" pitchFamily="34" charset="-122"/>
                <a:cs typeface="Calibri" pitchFamily="34" charset="-120"/>
              </a:rPr>
              <a:t>Note de cadrage, rythme de communication, et répartition des responsabilités.</a:t>
            </a:r>
            <a:endParaRPr lang="en-US" sz="10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292608" y="1371600"/>
          <a:ext cx="8558784" cy="2301240"/>
        </p:xfrm>
        <a:graphic>
          <a:graphicData uri="http://schemas.openxmlformats.org/drawingml/2006/table">
            <a:tbl>
              <a:tblPr/>
              <a:tblGrid>
                <a:gridCol w="2249424">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gridCol w="1051560">
                  <a:extLst>
                    <a:ext uri="{9D8B030D-6E8A-4147-A177-3AD203B41FA5}">
                      <a16:colId xmlns:a16="http://schemas.microsoft.com/office/drawing/2014/main" val="20005"/>
                    </a:ext>
                  </a:extLst>
                </a:gridCol>
                <a:gridCol w="1051560">
                  <a:extLst>
                    <a:ext uri="{9D8B030D-6E8A-4147-A177-3AD203B41FA5}">
                      <a16:colId xmlns:a16="http://schemas.microsoft.com/office/drawing/2014/main" val="20006"/>
                    </a:ext>
                  </a:extLst>
                </a:gridCol>
              </a:tblGrid>
              <a:tr h="251460">
                <a:tc>
                  <a:txBody>
                    <a:bodyPr/>
                    <a:lstStyle/>
                    <a:p>
                      <a:pPr marL="0" indent="0">
                        <a:buNone/>
                      </a:pPr>
                      <a:r>
                        <a:rPr lang="en-US" sz="700" b="1" dirty="0">
                          <a:solidFill>
                            <a:srgbClr val="FFFFFF"/>
                          </a:solidFill>
                          <a:latin typeface="Calibri" pitchFamily="34" charset="0"/>
                          <a:ea typeface="Calibri" pitchFamily="34" charset="-122"/>
                          <a:cs typeface="Calibri" pitchFamily="34" charset="-120"/>
                        </a:rPr>
                        <a:t>LOT DE TRAVAIL (WBS)</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12263F"/>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CHEF DE PROJET / DEVOPS</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12263F"/>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DÉVELOPPEURS</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12263F"/>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RÉF. SÉCURITÉ</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12263F"/>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SPONSOR</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12263F"/>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RÉF. PÉDAGOGIQUE</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12263F"/>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RÉF. ENTREPRISE</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12263F"/>
                    </a:solidFill>
                  </a:tcPr>
                </a:tc>
                <a:extLst>
                  <a:ext uri="{0D108BD9-81ED-4DB2-BD59-A6C34878D82A}">
                    <a16:rowId xmlns:a16="http://schemas.microsoft.com/office/drawing/2014/main" val="10000"/>
                  </a:ext>
                </a:extLst>
              </a:tr>
              <a:tr h="251460">
                <a:tc>
                  <a:txBody>
                    <a:bodyPr/>
                    <a:lstStyle/>
                    <a:p>
                      <a:pPr marL="0" indent="0">
                        <a:buNone/>
                      </a:pPr>
                      <a:r>
                        <a:rPr lang="en-US" sz="700" b="1" dirty="0">
                          <a:solidFill>
                            <a:srgbClr val="12263F"/>
                          </a:solidFill>
                          <a:latin typeface="Calibri" pitchFamily="34" charset="0"/>
                          <a:ea typeface="Calibri" pitchFamily="34" charset="-122"/>
                          <a:cs typeface="Calibri" pitchFamily="34" charset="-120"/>
                        </a:rPr>
                        <a:t>Cadrage et conception</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B6EC2"/>
                          </a:solidFill>
                          <a:latin typeface="Calibri" pitchFamily="34" charset="0"/>
                          <a:ea typeface="Calibri" pitchFamily="34" charset="-122"/>
                          <a:cs typeface="Calibri" pitchFamily="34" charset="-120"/>
                        </a:rPr>
                        <a:t>R</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2855A"/>
                          </a:solidFill>
                          <a:latin typeface="Calibri" pitchFamily="34" charset="0"/>
                          <a:ea typeface="Calibri" pitchFamily="34" charset="-122"/>
                          <a:cs typeface="Calibri" pitchFamily="34" charset="-120"/>
                        </a:rPr>
                        <a:t>C</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8FA6BC"/>
                          </a:solidFill>
                          <a:latin typeface="Calibri" pitchFamily="34" charset="0"/>
                          <a:ea typeface="Calibri" pitchFamily="34" charset="-122"/>
                          <a:cs typeface="Calibri" pitchFamily="34" charset="-120"/>
                        </a:rPr>
                        <a:t>I</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B03A48"/>
                          </a:solidFill>
                          <a:latin typeface="Calibri" pitchFamily="34" charset="0"/>
                          <a:ea typeface="Calibri" pitchFamily="34" charset="-122"/>
                          <a:cs typeface="Calibri" pitchFamily="34" charset="-120"/>
                        </a:rPr>
                        <a:t>A</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2855A"/>
                          </a:solidFill>
                          <a:latin typeface="Calibri" pitchFamily="34" charset="0"/>
                          <a:ea typeface="Calibri" pitchFamily="34" charset="-122"/>
                          <a:cs typeface="Calibri" pitchFamily="34" charset="-120"/>
                        </a:rPr>
                        <a:t>C</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2855A"/>
                          </a:solidFill>
                          <a:latin typeface="Calibri" pitchFamily="34" charset="0"/>
                          <a:ea typeface="Calibri" pitchFamily="34" charset="-122"/>
                          <a:cs typeface="Calibri" pitchFamily="34" charset="-120"/>
                        </a:rPr>
                        <a:t>C</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1460">
                <a:tc>
                  <a:txBody>
                    <a:bodyPr/>
                    <a:lstStyle/>
                    <a:p>
                      <a:pPr marL="0" indent="0">
                        <a:buNone/>
                      </a:pPr>
                      <a:r>
                        <a:rPr lang="en-US" sz="700" b="1" dirty="0">
                          <a:solidFill>
                            <a:srgbClr val="12263F"/>
                          </a:solidFill>
                          <a:latin typeface="Calibri" pitchFamily="34" charset="0"/>
                          <a:ea typeface="Calibri" pitchFamily="34" charset="-122"/>
                          <a:cs typeface="Calibri" pitchFamily="34" charset="-120"/>
                        </a:rPr>
                        <a:t>Infrastructure as Code</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tc>
                  <a:txBody>
                    <a:bodyPr/>
                    <a:lstStyle/>
                    <a:p>
                      <a:pPr marL="0" indent="0" algn="ctr">
                        <a:buNone/>
                      </a:pPr>
                      <a:r>
                        <a:rPr lang="en-US" sz="700" b="1" dirty="0">
                          <a:solidFill>
                            <a:srgbClr val="1B6EC2"/>
                          </a:solidFill>
                          <a:latin typeface="Calibri" pitchFamily="34" charset="0"/>
                          <a:ea typeface="Calibri" pitchFamily="34" charset="-122"/>
                          <a:cs typeface="Calibri" pitchFamily="34" charset="-120"/>
                        </a:rPr>
                        <a:t>R</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tc>
                  <a:txBody>
                    <a:bodyPr/>
                    <a:lstStyle/>
                    <a:p>
                      <a:pPr marL="0" indent="0" algn="ctr">
                        <a:buNone/>
                      </a:pPr>
                      <a:r>
                        <a:rPr lang="en-US" sz="700" b="1" dirty="0">
                          <a:solidFill>
                            <a:srgbClr val="12855A"/>
                          </a:solidFill>
                          <a:latin typeface="Calibri" pitchFamily="34" charset="0"/>
                          <a:ea typeface="Calibri" pitchFamily="34" charset="-122"/>
                          <a:cs typeface="Calibri" pitchFamily="34" charset="-120"/>
                        </a:rPr>
                        <a:t>C</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tc>
                  <a:txBody>
                    <a:bodyPr/>
                    <a:lstStyle/>
                    <a:p>
                      <a:pPr marL="0" indent="0" algn="ctr">
                        <a:buNone/>
                      </a:pPr>
                      <a:r>
                        <a:rPr lang="en-US" sz="700" b="1" dirty="0">
                          <a:solidFill>
                            <a:srgbClr val="12855A"/>
                          </a:solidFill>
                          <a:latin typeface="Calibri" pitchFamily="34" charset="0"/>
                          <a:ea typeface="Calibri" pitchFamily="34" charset="-122"/>
                          <a:cs typeface="Calibri" pitchFamily="34" charset="-120"/>
                        </a:rPr>
                        <a:t>C</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tc>
                  <a:txBody>
                    <a:bodyPr/>
                    <a:lstStyle/>
                    <a:p>
                      <a:pPr marL="0" indent="0" algn="ctr">
                        <a:buNone/>
                      </a:pPr>
                      <a:r>
                        <a:rPr lang="en-US" sz="700" b="1" dirty="0">
                          <a:solidFill>
                            <a:srgbClr val="B03A48"/>
                          </a:solidFill>
                          <a:latin typeface="Calibri" pitchFamily="34" charset="0"/>
                          <a:ea typeface="Calibri" pitchFamily="34" charset="-122"/>
                          <a:cs typeface="Calibri" pitchFamily="34" charset="-120"/>
                        </a:rPr>
                        <a:t>A</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tc>
                  <a:txBody>
                    <a:bodyPr/>
                    <a:lstStyle/>
                    <a:p>
                      <a:pPr marL="0" indent="0" algn="ctr">
                        <a:buNone/>
                      </a:pPr>
                      <a:r>
                        <a:rPr lang="en-US" sz="700" b="1" dirty="0">
                          <a:solidFill>
                            <a:srgbClr val="8FA6BC"/>
                          </a:solidFill>
                          <a:latin typeface="Calibri" pitchFamily="34" charset="0"/>
                          <a:ea typeface="Calibri" pitchFamily="34" charset="-122"/>
                          <a:cs typeface="Calibri" pitchFamily="34" charset="-120"/>
                        </a:rPr>
                        <a:t>I</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tc>
                  <a:txBody>
                    <a:bodyPr/>
                    <a:lstStyle/>
                    <a:p>
                      <a:pPr marL="0" indent="0" algn="ctr">
                        <a:buNone/>
                      </a:pPr>
                      <a:r>
                        <a:rPr lang="en-US" sz="700" b="1" dirty="0">
                          <a:solidFill>
                            <a:srgbClr val="8FA6BC"/>
                          </a:solidFill>
                          <a:latin typeface="Calibri" pitchFamily="34" charset="0"/>
                          <a:ea typeface="Calibri" pitchFamily="34" charset="-122"/>
                          <a:cs typeface="Calibri" pitchFamily="34" charset="-120"/>
                        </a:rPr>
                        <a:t>I</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extLst>
                  <a:ext uri="{0D108BD9-81ED-4DB2-BD59-A6C34878D82A}">
                    <a16:rowId xmlns:a16="http://schemas.microsoft.com/office/drawing/2014/main" val="10002"/>
                  </a:ext>
                </a:extLst>
              </a:tr>
              <a:tr h="251460">
                <a:tc>
                  <a:txBody>
                    <a:bodyPr/>
                    <a:lstStyle/>
                    <a:p>
                      <a:pPr marL="0" indent="0">
                        <a:buNone/>
                      </a:pPr>
                      <a:r>
                        <a:rPr lang="en-US" sz="700" b="1" dirty="0">
                          <a:solidFill>
                            <a:srgbClr val="12263F"/>
                          </a:solidFill>
                          <a:latin typeface="Calibri" pitchFamily="34" charset="0"/>
                          <a:ea typeface="Calibri" pitchFamily="34" charset="-122"/>
                          <a:cs typeface="Calibri" pitchFamily="34" charset="-120"/>
                        </a:rPr>
                        <a:t>Backend et API</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B03A48"/>
                          </a:solidFill>
                          <a:latin typeface="Calibri" pitchFamily="34" charset="0"/>
                          <a:ea typeface="Calibri" pitchFamily="34" charset="-122"/>
                          <a:cs typeface="Calibri" pitchFamily="34" charset="-120"/>
                        </a:rPr>
                        <a:t>A</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B6EC2"/>
                          </a:solidFill>
                          <a:latin typeface="Calibri" pitchFamily="34" charset="0"/>
                          <a:ea typeface="Calibri" pitchFamily="34" charset="-122"/>
                          <a:cs typeface="Calibri" pitchFamily="34" charset="-120"/>
                        </a:rPr>
                        <a:t>R</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2855A"/>
                          </a:solidFill>
                          <a:latin typeface="Calibri" pitchFamily="34" charset="0"/>
                          <a:ea typeface="Calibri" pitchFamily="34" charset="-122"/>
                          <a:cs typeface="Calibri" pitchFamily="34" charset="-120"/>
                        </a:rPr>
                        <a:t>C</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8FA6BC"/>
                          </a:solidFill>
                          <a:latin typeface="Calibri" pitchFamily="34" charset="0"/>
                          <a:ea typeface="Calibri" pitchFamily="34" charset="-122"/>
                          <a:cs typeface="Calibri" pitchFamily="34" charset="-120"/>
                        </a:rPr>
                        <a:t>I</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8FA6BC"/>
                          </a:solidFill>
                          <a:latin typeface="Calibri" pitchFamily="34" charset="0"/>
                          <a:ea typeface="Calibri" pitchFamily="34" charset="-122"/>
                          <a:cs typeface="Calibri" pitchFamily="34" charset="-120"/>
                        </a:rPr>
                        <a:t>I</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2855A"/>
                          </a:solidFill>
                          <a:latin typeface="Calibri" pitchFamily="34" charset="0"/>
                          <a:ea typeface="Calibri" pitchFamily="34" charset="-122"/>
                          <a:cs typeface="Calibri" pitchFamily="34" charset="-120"/>
                        </a:rPr>
                        <a:t>C</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1460">
                <a:tc>
                  <a:txBody>
                    <a:bodyPr/>
                    <a:lstStyle/>
                    <a:p>
                      <a:pPr marL="0" indent="0">
                        <a:buNone/>
                      </a:pPr>
                      <a:r>
                        <a:rPr lang="en-US" sz="700" b="1" dirty="0">
                          <a:solidFill>
                            <a:srgbClr val="12263F"/>
                          </a:solidFill>
                          <a:latin typeface="Calibri" pitchFamily="34" charset="0"/>
                          <a:ea typeface="Calibri" pitchFamily="34" charset="-122"/>
                          <a:cs typeface="Calibri" pitchFamily="34" charset="-120"/>
                        </a:rPr>
                        <a:t>Frontend et site vitrine</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tc>
                  <a:txBody>
                    <a:bodyPr/>
                    <a:lstStyle/>
                    <a:p>
                      <a:pPr marL="0" indent="0" algn="ctr">
                        <a:buNone/>
                      </a:pPr>
                      <a:r>
                        <a:rPr lang="en-US" sz="700" b="1" dirty="0">
                          <a:solidFill>
                            <a:srgbClr val="B03A48"/>
                          </a:solidFill>
                          <a:latin typeface="Calibri" pitchFamily="34" charset="0"/>
                          <a:ea typeface="Calibri" pitchFamily="34" charset="-122"/>
                          <a:cs typeface="Calibri" pitchFamily="34" charset="-120"/>
                        </a:rPr>
                        <a:t>A</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tc>
                  <a:txBody>
                    <a:bodyPr/>
                    <a:lstStyle/>
                    <a:p>
                      <a:pPr marL="0" indent="0" algn="ctr">
                        <a:buNone/>
                      </a:pPr>
                      <a:r>
                        <a:rPr lang="en-US" sz="700" b="1" dirty="0">
                          <a:solidFill>
                            <a:srgbClr val="1B6EC2"/>
                          </a:solidFill>
                          <a:latin typeface="Calibri" pitchFamily="34" charset="0"/>
                          <a:ea typeface="Calibri" pitchFamily="34" charset="-122"/>
                          <a:cs typeface="Calibri" pitchFamily="34" charset="-120"/>
                        </a:rPr>
                        <a:t>R</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tc>
                  <a:txBody>
                    <a:bodyPr/>
                    <a:lstStyle/>
                    <a:p>
                      <a:pPr marL="0" indent="0" algn="ctr">
                        <a:buNone/>
                      </a:pPr>
                      <a:r>
                        <a:rPr lang="en-US" sz="700" b="1" dirty="0">
                          <a:solidFill>
                            <a:srgbClr val="8FA6BC"/>
                          </a:solidFill>
                          <a:latin typeface="Calibri" pitchFamily="34" charset="0"/>
                          <a:ea typeface="Calibri" pitchFamily="34" charset="-122"/>
                          <a:cs typeface="Calibri" pitchFamily="34" charset="-120"/>
                        </a:rPr>
                        <a:t>I</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tc>
                  <a:txBody>
                    <a:bodyPr/>
                    <a:lstStyle/>
                    <a:p>
                      <a:pPr marL="0" indent="0" algn="ctr">
                        <a:buNone/>
                      </a:pPr>
                      <a:r>
                        <a:rPr lang="en-US" sz="700" b="1" dirty="0">
                          <a:solidFill>
                            <a:srgbClr val="8FA6BC"/>
                          </a:solidFill>
                          <a:latin typeface="Calibri" pitchFamily="34" charset="0"/>
                          <a:ea typeface="Calibri" pitchFamily="34" charset="-122"/>
                          <a:cs typeface="Calibri" pitchFamily="34" charset="-120"/>
                        </a:rPr>
                        <a:t>I</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tc>
                  <a:txBody>
                    <a:bodyPr/>
                    <a:lstStyle/>
                    <a:p>
                      <a:pPr marL="0" indent="0" algn="ctr">
                        <a:buNone/>
                      </a:pPr>
                      <a:r>
                        <a:rPr lang="en-US" sz="700" b="1" dirty="0">
                          <a:solidFill>
                            <a:srgbClr val="8FA6BC"/>
                          </a:solidFill>
                          <a:latin typeface="Calibri" pitchFamily="34" charset="0"/>
                          <a:ea typeface="Calibri" pitchFamily="34" charset="-122"/>
                          <a:cs typeface="Calibri" pitchFamily="34" charset="-120"/>
                        </a:rPr>
                        <a:t>I</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tc>
                  <a:txBody>
                    <a:bodyPr/>
                    <a:lstStyle/>
                    <a:p>
                      <a:pPr marL="0" indent="0" algn="ctr">
                        <a:buNone/>
                      </a:pPr>
                      <a:r>
                        <a:rPr lang="en-US" sz="700" b="1" dirty="0">
                          <a:solidFill>
                            <a:srgbClr val="12855A"/>
                          </a:solidFill>
                          <a:latin typeface="Calibri" pitchFamily="34" charset="0"/>
                          <a:ea typeface="Calibri" pitchFamily="34" charset="-122"/>
                          <a:cs typeface="Calibri" pitchFamily="34" charset="-120"/>
                        </a:rPr>
                        <a:t>C</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extLst>
                  <a:ext uri="{0D108BD9-81ED-4DB2-BD59-A6C34878D82A}">
                    <a16:rowId xmlns:a16="http://schemas.microsoft.com/office/drawing/2014/main" val="10004"/>
                  </a:ext>
                </a:extLst>
              </a:tr>
              <a:tr h="251460">
                <a:tc>
                  <a:txBody>
                    <a:bodyPr/>
                    <a:lstStyle/>
                    <a:p>
                      <a:pPr marL="0" indent="0">
                        <a:buNone/>
                      </a:pPr>
                      <a:r>
                        <a:rPr lang="en-US" sz="700" b="1" dirty="0">
                          <a:solidFill>
                            <a:srgbClr val="12263F"/>
                          </a:solidFill>
                          <a:latin typeface="Calibri" pitchFamily="34" charset="0"/>
                          <a:ea typeface="Calibri" pitchFamily="34" charset="-122"/>
                          <a:cs typeface="Calibri" pitchFamily="34" charset="-120"/>
                        </a:rPr>
                        <a:t>Chaîne CI/CD</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B03A48"/>
                          </a:solidFill>
                          <a:latin typeface="Calibri" pitchFamily="34" charset="0"/>
                          <a:ea typeface="Calibri" pitchFamily="34" charset="-122"/>
                          <a:cs typeface="Calibri" pitchFamily="34" charset="-120"/>
                        </a:rPr>
                        <a:t>A</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B6EC2"/>
                          </a:solidFill>
                          <a:latin typeface="Calibri" pitchFamily="34" charset="0"/>
                          <a:ea typeface="Calibri" pitchFamily="34" charset="-122"/>
                          <a:cs typeface="Calibri" pitchFamily="34" charset="-120"/>
                        </a:rPr>
                        <a:t>R</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2855A"/>
                          </a:solidFill>
                          <a:latin typeface="Calibri" pitchFamily="34" charset="0"/>
                          <a:ea typeface="Calibri" pitchFamily="34" charset="-122"/>
                          <a:cs typeface="Calibri" pitchFamily="34" charset="-120"/>
                        </a:rPr>
                        <a:t>C</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8FA6BC"/>
                          </a:solidFill>
                          <a:latin typeface="Calibri" pitchFamily="34" charset="0"/>
                          <a:ea typeface="Calibri" pitchFamily="34" charset="-122"/>
                          <a:cs typeface="Calibri" pitchFamily="34" charset="-120"/>
                        </a:rPr>
                        <a:t>I</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8FA6BC"/>
                          </a:solidFill>
                          <a:latin typeface="Calibri" pitchFamily="34" charset="0"/>
                          <a:ea typeface="Calibri" pitchFamily="34" charset="-122"/>
                          <a:cs typeface="Calibri" pitchFamily="34" charset="-120"/>
                        </a:rPr>
                        <a:t>I</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2855A"/>
                          </a:solidFill>
                          <a:latin typeface="Calibri" pitchFamily="34" charset="0"/>
                          <a:ea typeface="Calibri" pitchFamily="34" charset="-122"/>
                          <a:cs typeface="Calibri" pitchFamily="34" charset="-120"/>
                        </a:rPr>
                        <a:t>C</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1460">
                <a:tc>
                  <a:txBody>
                    <a:bodyPr/>
                    <a:lstStyle/>
                    <a:p>
                      <a:pPr marL="0" indent="0">
                        <a:buNone/>
                      </a:pPr>
                      <a:r>
                        <a:rPr lang="en-US" sz="700" b="1" dirty="0">
                          <a:solidFill>
                            <a:srgbClr val="12263F"/>
                          </a:solidFill>
                          <a:latin typeface="Calibri" pitchFamily="34" charset="0"/>
                          <a:ea typeface="Calibri" pitchFamily="34" charset="-122"/>
                          <a:cs typeface="Calibri" pitchFamily="34" charset="-120"/>
                        </a:rPr>
                        <a:t>Observabilité</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tc>
                  <a:txBody>
                    <a:bodyPr/>
                    <a:lstStyle/>
                    <a:p>
                      <a:pPr marL="0" indent="0" algn="ctr">
                        <a:buNone/>
                      </a:pPr>
                      <a:r>
                        <a:rPr lang="en-US" sz="700" b="1" dirty="0">
                          <a:solidFill>
                            <a:srgbClr val="B03A48"/>
                          </a:solidFill>
                          <a:latin typeface="Calibri" pitchFamily="34" charset="0"/>
                          <a:ea typeface="Calibri" pitchFamily="34" charset="-122"/>
                          <a:cs typeface="Calibri" pitchFamily="34" charset="-120"/>
                        </a:rPr>
                        <a:t>A</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tc>
                  <a:txBody>
                    <a:bodyPr/>
                    <a:lstStyle/>
                    <a:p>
                      <a:pPr marL="0" indent="0" algn="ctr">
                        <a:buNone/>
                      </a:pPr>
                      <a:r>
                        <a:rPr lang="en-US" sz="700" b="1" dirty="0">
                          <a:solidFill>
                            <a:srgbClr val="1B6EC2"/>
                          </a:solidFill>
                          <a:latin typeface="Calibri" pitchFamily="34" charset="0"/>
                          <a:ea typeface="Calibri" pitchFamily="34" charset="-122"/>
                          <a:cs typeface="Calibri" pitchFamily="34" charset="-120"/>
                        </a:rPr>
                        <a:t>R</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tc>
                  <a:txBody>
                    <a:bodyPr/>
                    <a:lstStyle/>
                    <a:p>
                      <a:pPr marL="0" indent="0" algn="ctr">
                        <a:buNone/>
                      </a:pPr>
                      <a:r>
                        <a:rPr lang="en-US" sz="700" b="1" dirty="0">
                          <a:solidFill>
                            <a:srgbClr val="12855A"/>
                          </a:solidFill>
                          <a:latin typeface="Calibri" pitchFamily="34" charset="0"/>
                          <a:ea typeface="Calibri" pitchFamily="34" charset="-122"/>
                          <a:cs typeface="Calibri" pitchFamily="34" charset="-120"/>
                        </a:rPr>
                        <a:t>C</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tc>
                  <a:txBody>
                    <a:bodyPr/>
                    <a:lstStyle/>
                    <a:p>
                      <a:pPr marL="0" indent="0" algn="ctr">
                        <a:buNone/>
                      </a:pPr>
                      <a:r>
                        <a:rPr lang="en-US" sz="700" b="1" dirty="0">
                          <a:solidFill>
                            <a:srgbClr val="8FA6BC"/>
                          </a:solidFill>
                          <a:latin typeface="Calibri" pitchFamily="34" charset="0"/>
                          <a:ea typeface="Calibri" pitchFamily="34" charset="-122"/>
                          <a:cs typeface="Calibri" pitchFamily="34" charset="-120"/>
                        </a:rPr>
                        <a:t>I</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tc>
                  <a:txBody>
                    <a:bodyPr/>
                    <a:lstStyle/>
                    <a:p>
                      <a:pPr marL="0" indent="0" algn="ctr">
                        <a:buNone/>
                      </a:pPr>
                      <a:r>
                        <a:rPr lang="en-US" sz="700" b="1" dirty="0">
                          <a:solidFill>
                            <a:srgbClr val="8FA6BC"/>
                          </a:solidFill>
                          <a:latin typeface="Calibri" pitchFamily="34" charset="0"/>
                          <a:ea typeface="Calibri" pitchFamily="34" charset="-122"/>
                          <a:cs typeface="Calibri" pitchFamily="34" charset="-120"/>
                        </a:rPr>
                        <a:t>I</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tc>
                  <a:txBody>
                    <a:bodyPr/>
                    <a:lstStyle/>
                    <a:p>
                      <a:pPr marL="0" indent="0" algn="ctr">
                        <a:buNone/>
                      </a:pPr>
                      <a:r>
                        <a:rPr lang="en-US" sz="700" b="1" dirty="0">
                          <a:solidFill>
                            <a:srgbClr val="8FA6BC"/>
                          </a:solidFill>
                          <a:latin typeface="Calibri" pitchFamily="34" charset="0"/>
                          <a:ea typeface="Calibri" pitchFamily="34" charset="-122"/>
                          <a:cs typeface="Calibri" pitchFamily="34" charset="-120"/>
                        </a:rPr>
                        <a:t>I</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extLst>
                  <a:ext uri="{0D108BD9-81ED-4DB2-BD59-A6C34878D82A}">
                    <a16:rowId xmlns:a16="http://schemas.microsoft.com/office/drawing/2014/main" val="10006"/>
                  </a:ext>
                </a:extLst>
              </a:tr>
              <a:tr h="251460">
                <a:tc>
                  <a:txBody>
                    <a:bodyPr/>
                    <a:lstStyle/>
                    <a:p>
                      <a:pPr marL="0" indent="0">
                        <a:buNone/>
                      </a:pPr>
                      <a:r>
                        <a:rPr lang="en-US" sz="700" b="1" dirty="0">
                          <a:solidFill>
                            <a:srgbClr val="12263F"/>
                          </a:solidFill>
                          <a:latin typeface="Calibri" pitchFamily="34" charset="0"/>
                          <a:ea typeface="Calibri" pitchFamily="34" charset="-122"/>
                          <a:cs typeface="Calibri" pitchFamily="34" charset="-120"/>
                        </a:rPr>
                        <a:t>Sécurité et conformité</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B6EC2"/>
                          </a:solidFill>
                          <a:latin typeface="Calibri" pitchFamily="34" charset="0"/>
                          <a:ea typeface="Calibri" pitchFamily="34" charset="-122"/>
                          <a:cs typeface="Calibri" pitchFamily="34" charset="-120"/>
                        </a:rPr>
                        <a:t>R</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2855A"/>
                          </a:solidFill>
                          <a:latin typeface="Calibri" pitchFamily="34" charset="0"/>
                          <a:ea typeface="Calibri" pitchFamily="34" charset="-122"/>
                          <a:cs typeface="Calibri" pitchFamily="34" charset="-120"/>
                        </a:rPr>
                        <a:t>C</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B03A48"/>
                          </a:solidFill>
                          <a:latin typeface="Calibri" pitchFamily="34" charset="0"/>
                          <a:ea typeface="Calibri" pitchFamily="34" charset="-122"/>
                          <a:cs typeface="Calibri" pitchFamily="34" charset="-120"/>
                        </a:rPr>
                        <a:t>A</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8FA6BC"/>
                          </a:solidFill>
                          <a:latin typeface="Calibri" pitchFamily="34" charset="0"/>
                          <a:ea typeface="Calibri" pitchFamily="34" charset="-122"/>
                          <a:cs typeface="Calibri" pitchFamily="34" charset="-120"/>
                        </a:rPr>
                        <a:t>I</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2855A"/>
                          </a:solidFill>
                          <a:latin typeface="Calibri" pitchFamily="34" charset="0"/>
                          <a:ea typeface="Calibri" pitchFamily="34" charset="-122"/>
                          <a:cs typeface="Calibri" pitchFamily="34" charset="-120"/>
                        </a:rPr>
                        <a:t>C</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2855A"/>
                          </a:solidFill>
                          <a:latin typeface="Calibri" pitchFamily="34" charset="0"/>
                          <a:ea typeface="Calibri" pitchFamily="34" charset="-122"/>
                          <a:cs typeface="Calibri" pitchFamily="34" charset="-120"/>
                        </a:rPr>
                        <a:t>C</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1460">
                <a:tc>
                  <a:txBody>
                    <a:bodyPr/>
                    <a:lstStyle/>
                    <a:p>
                      <a:pPr marL="0" indent="0">
                        <a:buNone/>
                      </a:pPr>
                      <a:r>
                        <a:rPr lang="en-US" sz="700" b="1" dirty="0">
                          <a:solidFill>
                            <a:srgbClr val="12263F"/>
                          </a:solidFill>
                          <a:latin typeface="Calibri" pitchFamily="34" charset="0"/>
                          <a:ea typeface="Calibri" pitchFamily="34" charset="-122"/>
                          <a:cs typeface="Calibri" pitchFamily="34" charset="-120"/>
                        </a:rPr>
                        <a:t>Documentation et soutenance</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tc>
                  <a:txBody>
                    <a:bodyPr/>
                    <a:lstStyle/>
                    <a:p>
                      <a:pPr marL="0" indent="0" algn="ctr">
                        <a:buNone/>
                      </a:pPr>
                      <a:r>
                        <a:rPr lang="en-US" sz="700" b="1" dirty="0">
                          <a:solidFill>
                            <a:srgbClr val="1B6EC2"/>
                          </a:solidFill>
                          <a:latin typeface="Calibri" pitchFamily="34" charset="0"/>
                          <a:ea typeface="Calibri" pitchFamily="34" charset="-122"/>
                          <a:cs typeface="Calibri" pitchFamily="34" charset="-120"/>
                        </a:rPr>
                        <a:t>R</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tc>
                  <a:txBody>
                    <a:bodyPr/>
                    <a:lstStyle/>
                    <a:p>
                      <a:pPr marL="0" indent="0" algn="ctr">
                        <a:buNone/>
                      </a:pPr>
                      <a:r>
                        <a:rPr lang="en-US" sz="700" b="1" dirty="0">
                          <a:solidFill>
                            <a:srgbClr val="12855A"/>
                          </a:solidFill>
                          <a:latin typeface="Calibri" pitchFamily="34" charset="0"/>
                          <a:ea typeface="Calibri" pitchFamily="34" charset="-122"/>
                          <a:cs typeface="Calibri" pitchFamily="34" charset="-120"/>
                        </a:rPr>
                        <a:t>C</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tc>
                  <a:txBody>
                    <a:bodyPr/>
                    <a:lstStyle/>
                    <a:p>
                      <a:pPr marL="0" indent="0" algn="ctr">
                        <a:buNone/>
                      </a:pPr>
                      <a:r>
                        <a:rPr lang="en-US" sz="700" b="1" dirty="0">
                          <a:solidFill>
                            <a:srgbClr val="12855A"/>
                          </a:solidFill>
                          <a:latin typeface="Calibri" pitchFamily="34" charset="0"/>
                          <a:ea typeface="Calibri" pitchFamily="34" charset="-122"/>
                          <a:cs typeface="Calibri" pitchFamily="34" charset="-120"/>
                        </a:rPr>
                        <a:t>C</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tc>
                  <a:txBody>
                    <a:bodyPr/>
                    <a:lstStyle/>
                    <a:p>
                      <a:pPr marL="0" indent="0" algn="ctr">
                        <a:buNone/>
                      </a:pPr>
                      <a:r>
                        <a:rPr lang="en-US" sz="700" b="1" dirty="0">
                          <a:solidFill>
                            <a:srgbClr val="8FA6BC"/>
                          </a:solidFill>
                          <a:latin typeface="Calibri" pitchFamily="34" charset="0"/>
                          <a:ea typeface="Calibri" pitchFamily="34" charset="-122"/>
                          <a:cs typeface="Calibri" pitchFamily="34" charset="-120"/>
                        </a:rPr>
                        <a:t>I</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tc>
                  <a:txBody>
                    <a:bodyPr/>
                    <a:lstStyle/>
                    <a:p>
                      <a:pPr marL="0" indent="0" algn="ctr">
                        <a:buNone/>
                      </a:pPr>
                      <a:r>
                        <a:rPr lang="en-US" sz="700" b="1" dirty="0">
                          <a:solidFill>
                            <a:srgbClr val="B03A48"/>
                          </a:solidFill>
                          <a:latin typeface="Calibri" pitchFamily="34" charset="0"/>
                          <a:ea typeface="Calibri" pitchFamily="34" charset="-122"/>
                          <a:cs typeface="Calibri" pitchFamily="34" charset="-120"/>
                        </a:rPr>
                        <a:t>A</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tc>
                  <a:txBody>
                    <a:bodyPr/>
                    <a:lstStyle/>
                    <a:p>
                      <a:pPr marL="0" indent="0" algn="ctr">
                        <a:buNone/>
                      </a:pPr>
                      <a:r>
                        <a:rPr lang="en-US" sz="700" b="1" dirty="0">
                          <a:solidFill>
                            <a:srgbClr val="12855A"/>
                          </a:solidFill>
                          <a:latin typeface="Calibri" pitchFamily="34" charset="0"/>
                          <a:ea typeface="Calibri" pitchFamily="34" charset="-122"/>
                          <a:cs typeface="Calibri" pitchFamily="34" charset="-120"/>
                        </a:rPr>
                        <a:t>C</a:t>
                      </a:r>
                      <a:endParaRPr lang="en-US" sz="700" dirty="0">
                        <a:latin typeface="Calibri" charset="0"/>
                        <a:ea typeface="Calibri" charset="0"/>
                        <a:cs typeface="Calibri" charset="0"/>
                      </a:endParaRPr>
                    </a:p>
                  </a:txBody>
                  <a:tcPr marL="38100" marR="38100" marT="38100" marB="38100" anchor="ct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F4F7FA"/>
                    </a:solidFill>
                  </a:tcPr>
                </a:tc>
                <a:extLst>
                  <a:ext uri="{0D108BD9-81ED-4DB2-BD59-A6C34878D82A}">
                    <a16:rowId xmlns:a16="http://schemas.microsoft.com/office/drawing/2014/main" val="10008"/>
                  </a:ext>
                </a:extLst>
              </a:tr>
            </a:tbl>
          </a:graphicData>
        </a:graphic>
      </p:graphicFrame>
      <p:sp>
        <p:nvSpPr>
          <p:cNvPr id="9" name="Shape 6"/>
          <p:cNvSpPr/>
          <p:nvPr/>
        </p:nvSpPr>
        <p:spPr>
          <a:xfrm>
            <a:off x="292608" y="3639312"/>
            <a:ext cx="2071116" cy="329184"/>
          </a:xfrm>
          <a:prstGeom prst="rect">
            <a:avLst/>
          </a:prstGeom>
          <a:solidFill>
            <a:srgbClr val="FFFFFF"/>
          </a:solidFill>
          <a:ln w="9525">
            <a:solidFill>
              <a:srgbClr val="E2E8EE"/>
            </a:solidFill>
            <a:prstDash val="solid"/>
          </a:ln>
        </p:spPr>
        <p:txBody>
          <a:bodyPr/>
          <a:lstStyle/>
          <a:p>
            <a:endParaRPr lang="fr-FR"/>
          </a:p>
        </p:txBody>
      </p:sp>
      <p:sp>
        <p:nvSpPr>
          <p:cNvPr id="10" name="Shape 7"/>
          <p:cNvSpPr/>
          <p:nvPr/>
        </p:nvSpPr>
        <p:spPr>
          <a:xfrm>
            <a:off x="292608" y="3639312"/>
            <a:ext cx="32004" cy="329184"/>
          </a:xfrm>
          <a:prstGeom prst="rect">
            <a:avLst/>
          </a:prstGeom>
          <a:solidFill>
            <a:srgbClr val="1B6EC2"/>
          </a:solidFill>
          <a:ln/>
        </p:spPr>
        <p:txBody>
          <a:bodyPr/>
          <a:lstStyle/>
          <a:p>
            <a:endParaRPr lang="fr-FR"/>
          </a:p>
        </p:txBody>
      </p:sp>
      <p:sp>
        <p:nvSpPr>
          <p:cNvPr id="11" name="Text 8"/>
          <p:cNvSpPr/>
          <p:nvPr/>
        </p:nvSpPr>
        <p:spPr>
          <a:xfrm>
            <a:off x="402336" y="3694176"/>
            <a:ext cx="201168" cy="182880"/>
          </a:xfrm>
          <a:prstGeom prst="rect">
            <a:avLst/>
          </a:prstGeom>
          <a:noFill/>
          <a:ln/>
        </p:spPr>
        <p:txBody>
          <a:bodyPr wrap="square" lIns="0" tIns="0" rIns="0" bIns="0" rtlCol="0" anchor="ctr"/>
          <a:lstStyle/>
          <a:p>
            <a:pPr marL="0" indent="0" algn="l">
              <a:lnSpc>
                <a:spcPct val="106000"/>
              </a:lnSpc>
              <a:buNone/>
            </a:pPr>
            <a:r>
              <a:rPr lang="en-US" sz="900" b="1" dirty="0">
                <a:solidFill>
                  <a:srgbClr val="1B6EC2"/>
                </a:solidFill>
                <a:latin typeface="Calibri" pitchFamily="34" charset="0"/>
                <a:ea typeface="Calibri" pitchFamily="34" charset="-122"/>
                <a:cs typeface="Calibri" pitchFamily="34" charset="-120"/>
              </a:rPr>
              <a:t>R</a:t>
            </a:r>
            <a:endParaRPr lang="en-US" sz="900" dirty="0"/>
          </a:p>
        </p:txBody>
      </p:sp>
      <p:sp>
        <p:nvSpPr>
          <p:cNvPr id="12" name="Text 9"/>
          <p:cNvSpPr/>
          <p:nvPr/>
        </p:nvSpPr>
        <p:spPr>
          <a:xfrm>
            <a:off x="621792" y="3712464"/>
            <a:ext cx="1650492" cy="182880"/>
          </a:xfrm>
          <a:prstGeom prst="rect">
            <a:avLst/>
          </a:prstGeom>
          <a:noFill/>
          <a:ln/>
        </p:spPr>
        <p:txBody>
          <a:bodyPr wrap="square" lIns="0" tIns="0" rIns="0" bIns="0" rtlCol="0" anchor="ctr"/>
          <a:lstStyle/>
          <a:p>
            <a:pPr marL="0" indent="0" algn="l">
              <a:lnSpc>
                <a:spcPct val="106000"/>
              </a:lnSpc>
              <a:buNone/>
            </a:pPr>
            <a:r>
              <a:rPr lang="en-US" sz="620" dirty="0">
                <a:solidFill>
                  <a:srgbClr val="4A5769"/>
                </a:solidFill>
                <a:latin typeface="Calibri" pitchFamily="34" charset="0"/>
                <a:ea typeface="Calibri" pitchFamily="34" charset="-122"/>
                <a:cs typeface="Calibri" pitchFamily="34" charset="-120"/>
              </a:rPr>
              <a:t>Responsible : réalise</a:t>
            </a:r>
            <a:endParaRPr lang="en-US" sz="620" dirty="0"/>
          </a:p>
        </p:txBody>
      </p:sp>
      <p:sp>
        <p:nvSpPr>
          <p:cNvPr id="13" name="Shape 10"/>
          <p:cNvSpPr/>
          <p:nvPr/>
        </p:nvSpPr>
        <p:spPr>
          <a:xfrm>
            <a:off x="2455164" y="3639312"/>
            <a:ext cx="2071116" cy="329184"/>
          </a:xfrm>
          <a:prstGeom prst="rect">
            <a:avLst/>
          </a:prstGeom>
          <a:solidFill>
            <a:srgbClr val="FFFFFF"/>
          </a:solidFill>
          <a:ln w="9525">
            <a:solidFill>
              <a:srgbClr val="E2E8EE"/>
            </a:solidFill>
            <a:prstDash val="solid"/>
          </a:ln>
        </p:spPr>
        <p:txBody>
          <a:bodyPr/>
          <a:lstStyle/>
          <a:p>
            <a:endParaRPr lang="fr-FR"/>
          </a:p>
        </p:txBody>
      </p:sp>
      <p:sp>
        <p:nvSpPr>
          <p:cNvPr id="14" name="Shape 11"/>
          <p:cNvSpPr/>
          <p:nvPr/>
        </p:nvSpPr>
        <p:spPr>
          <a:xfrm>
            <a:off x="2455164" y="3639312"/>
            <a:ext cx="32004" cy="329184"/>
          </a:xfrm>
          <a:prstGeom prst="rect">
            <a:avLst/>
          </a:prstGeom>
          <a:solidFill>
            <a:srgbClr val="B03A48"/>
          </a:solidFill>
          <a:ln/>
        </p:spPr>
        <p:txBody>
          <a:bodyPr/>
          <a:lstStyle/>
          <a:p>
            <a:endParaRPr lang="fr-FR"/>
          </a:p>
        </p:txBody>
      </p:sp>
      <p:sp>
        <p:nvSpPr>
          <p:cNvPr id="15" name="Text 12"/>
          <p:cNvSpPr/>
          <p:nvPr/>
        </p:nvSpPr>
        <p:spPr>
          <a:xfrm>
            <a:off x="2564892" y="3694176"/>
            <a:ext cx="201168" cy="182880"/>
          </a:xfrm>
          <a:prstGeom prst="rect">
            <a:avLst/>
          </a:prstGeom>
          <a:noFill/>
          <a:ln/>
        </p:spPr>
        <p:txBody>
          <a:bodyPr wrap="square" lIns="0" tIns="0" rIns="0" bIns="0" rtlCol="0" anchor="ctr"/>
          <a:lstStyle/>
          <a:p>
            <a:pPr marL="0" indent="0" algn="l">
              <a:lnSpc>
                <a:spcPct val="106000"/>
              </a:lnSpc>
              <a:buNone/>
            </a:pPr>
            <a:r>
              <a:rPr lang="en-US" sz="900" b="1" dirty="0">
                <a:solidFill>
                  <a:srgbClr val="B03A48"/>
                </a:solidFill>
                <a:latin typeface="Calibri" pitchFamily="34" charset="0"/>
                <a:ea typeface="Calibri" pitchFamily="34" charset="-122"/>
                <a:cs typeface="Calibri" pitchFamily="34" charset="-120"/>
              </a:rPr>
              <a:t>A</a:t>
            </a:r>
            <a:endParaRPr lang="en-US" sz="900" dirty="0"/>
          </a:p>
        </p:txBody>
      </p:sp>
      <p:sp>
        <p:nvSpPr>
          <p:cNvPr id="16" name="Text 13"/>
          <p:cNvSpPr/>
          <p:nvPr/>
        </p:nvSpPr>
        <p:spPr>
          <a:xfrm>
            <a:off x="2784348" y="3712464"/>
            <a:ext cx="1650492" cy="182880"/>
          </a:xfrm>
          <a:prstGeom prst="rect">
            <a:avLst/>
          </a:prstGeom>
          <a:noFill/>
          <a:ln/>
        </p:spPr>
        <p:txBody>
          <a:bodyPr wrap="square" lIns="0" tIns="0" rIns="0" bIns="0" rtlCol="0" anchor="ctr"/>
          <a:lstStyle/>
          <a:p>
            <a:pPr marL="0" indent="0" algn="l">
              <a:lnSpc>
                <a:spcPct val="106000"/>
              </a:lnSpc>
              <a:buNone/>
            </a:pPr>
            <a:r>
              <a:rPr lang="en-US" sz="620" dirty="0">
                <a:solidFill>
                  <a:srgbClr val="4A5769"/>
                </a:solidFill>
                <a:latin typeface="Calibri" pitchFamily="34" charset="0"/>
                <a:ea typeface="Calibri" pitchFamily="34" charset="-122"/>
                <a:cs typeface="Calibri" pitchFamily="34" charset="-120"/>
              </a:rPr>
              <a:t>Accountable : décide (1 par lot)</a:t>
            </a:r>
            <a:endParaRPr lang="en-US" sz="620" dirty="0"/>
          </a:p>
        </p:txBody>
      </p:sp>
      <p:sp>
        <p:nvSpPr>
          <p:cNvPr id="17" name="Shape 14"/>
          <p:cNvSpPr/>
          <p:nvPr/>
        </p:nvSpPr>
        <p:spPr>
          <a:xfrm>
            <a:off x="4617720" y="3639312"/>
            <a:ext cx="2071116" cy="329184"/>
          </a:xfrm>
          <a:prstGeom prst="rect">
            <a:avLst/>
          </a:prstGeom>
          <a:solidFill>
            <a:srgbClr val="FFFFFF"/>
          </a:solidFill>
          <a:ln w="9525">
            <a:solidFill>
              <a:srgbClr val="E2E8EE"/>
            </a:solidFill>
            <a:prstDash val="solid"/>
          </a:ln>
        </p:spPr>
        <p:txBody>
          <a:bodyPr/>
          <a:lstStyle/>
          <a:p>
            <a:endParaRPr lang="fr-FR"/>
          </a:p>
        </p:txBody>
      </p:sp>
      <p:sp>
        <p:nvSpPr>
          <p:cNvPr id="18" name="Shape 15"/>
          <p:cNvSpPr/>
          <p:nvPr/>
        </p:nvSpPr>
        <p:spPr>
          <a:xfrm>
            <a:off x="4617720" y="3639312"/>
            <a:ext cx="32004" cy="329184"/>
          </a:xfrm>
          <a:prstGeom prst="rect">
            <a:avLst/>
          </a:prstGeom>
          <a:solidFill>
            <a:srgbClr val="12855A"/>
          </a:solidFill>
          <a:ln/>
        </p:spPr>
        <p:txBody>
          <a:bodyPr/>
          <a:lstStyle/>
          <a:p>
            <a:endParaRPr lang="fr-FR"/>
          </a:p>
        </p:txBody>
      </p:sp>
      <p:sp>
        <p:nvSpPr>
          <p:cNvPr id="19" name="Text 16"/>
          <p:cNvSpPr/>
          <p:nvPr/>
        </p:nvSpPr>
        <p:spPr>
          <a:xfrm>
            <a:off x="4727448" y="3694176"/>
            <a:ext cx="201168" cy="182880"/>
          </a:xfrm>
          <a:prstGeom prst="rect">
            <a:avLst/>
          </a:prstGeom>
          <a:noFill/>
          <a:ln/>
        </p:spPr>
        <p:txBody>
          <a:bodyPr wrap="square" lIns="0" tIns="0" rIns="0" bIns="0" rtlCol="0" anchor="ctr"/>
          <a:lstStyle/>
          <a:p>
            <a:pPr marL="0" indent="0" algn="l">
              <a:lnSpc>
                <a:spcPct val="106000"/>
              </a:lnSpc>
              <a:buNone/>
            </a:pPr>
            <a:r>
              <a:rPr lang="en-US" sz="900" b="1" dirty="0">
                <a:solidFill>
                  <a:srgbClr val="12855A"/>
                </a:solidFill>
                <a:latin typeface="Calibri" pitchFamily="34" charset="0"/>
                <a:ea typeface="Calibri" pitchFamily="34" charset="-122"/>
                <a:cs typeface="Calibri" pitchFamily="34" charset="-120"/>
              </a:rPr>
              <a:t>C</a:t>
            </a:r>
            <a:endParaRPr lang="en-US" sz="900" dirty="0"/>
          </a:p>
        </p:txBody>
      </p:sp>
      <p:sp>
        <p:nvSpPr>
          <p:cNvPr id="20" name="Text 17"/>
          <p:cNvSpPr/>
          <p:nvPr/>
        </p:nvSpPr>
        <p:spPr>
          <a:xfrm>
            <a:off x="4946904" y="3712464"/>
            <a:ext cx="1650492" cy="182880"/>
          </a:xfrm>
          <a:prstGeom prst="rect">
            <a:avLst/>
          </a:prstGeom>
          <a:noFill/>
          <a:ln/>
        </p:spPr>
        <p:txBody>
          <a:bodyPr wrap="square" lIns="0" tIns="0" rIns="0" bIns="0" rtlCol="0" anchor="ctr"/>
          <a:lstStyle/>
          <a:p>
            <a:pPr marL="0" indent="0" algn="l">
              <a:lnSpc>
                <a:spcPct val="106000"/>
              </a:lnSpc>
              <a:buNone/>
            </a:pPr>
            <a:r>
              <a:rPr lang="en-US" sz="620" dirty="0">
                <a:solidFill>
                  <a:srgbClr val="4A5769"/>
                </a:solidFill>
                <a:latin typeface="Calibri" pitchFamily="34" charset="0"/>
                <a:ea typeface="Calibri" pitchFamily="34" charset="-122"/>
                <a:cs typeface="Calibri" pitchFamily="34" charset="-120"/>
              </a:rPr>
              <a:t>Consulted : consulté</a:t>
            </a:r>
            <a:endParaRPr lang="en-US" sz="620" dirty="0"/>
          </a:p>
        </p:txBody>
      </p:sp>
      <p:sp>
        <p:nvSpPr>
          <p:cNvPr id="21" name="Shape 18"/>
          <p:cNvSpPr/>
          <p:nvPr/>
        </p:nvSpPr>
        <p:spPr>
          <a:xfrm>
            <a:off x="6780276" y="3639312"/>
            <a:ext cx="2071116" cy="329184"/>
          </a:xfrm>
          <a:prstGeom prst="rect">
            <a:avLst/>
          </a:prstGeom>
          <a:solidFill>
            <a:srgbClr val="FFFFFF"/>
          </a:solidFill>
          <a:ln w="9525">
            <a:solidFill>
              <a:srgbClr val="E2E8EE"/>
            </a:solidFill>
            <a:prstDash val="solid"/>
          </a:ln>
        </p:spPr>
        <p:txBody>
          <a:bodyPr/>
          <a:lstStyle/>
          <a:p>
            <a:endParaRPr lang="fr-FR"/>
          </a:p>
        </p:txBody>
      </p:sp>
      <p:sp>
        <p:nvSpPr>
          <p:cNvPr id="22" name="Shape 19"/>
          <p:cNvSpPr/>
          <p:nvPr/>
        </p:nvSpPr>
        <p:spPr>
          <a:xfrm>
            <a:off x="6780276" y="3639312"/>
            <a:ext cx="32004" cy="329184"/>
          </a:xfrm>
          <a:prstGeom prst="rect">
            <a:avLst/>
          </a:prstGeom>
          <a:solidFill>
            <a:srgbClr val="8FA6BC"/>
          </a:solidFill>
          <a:ln/>
        </p:spPr>
        <p:txBody>
          <a:bodyPr/>
          <a:lstStyle/>
          <a:p>
            <a:endParaRPr lang="fr-FR"/>
          </a:p>
        </p:txBody>
      </p:sp>
      <p:sp>
        <p:nvSpPr>
          <p:cNvPr id="23" name="Text 20"/>
          <p:cNvSpPr/>
          <p:nvPr/>
        </p:nvSpPr>
        <p:spPr>
          <a:xfrm>
            <a:off x="6890004" y="3694176"/>
            <a:ext cx="201168" cy="182880"/>
          </a:xfrm>
          <a:prstGeom prst="rect">
            <a:avLst/>
          </a:prstGeom>
          <a:noFill/>
          <a:ln/>
        </p:spPr>
        <p:txBody>
          <a:bodyPr wrap="square" lIns="0" tIns="0" rIns="0" bIns="0" rtlCol="0" anchor="ctr"/>
          <a:lstStyle/>
          <a:p>
            <a:pPr marL="0" indent="0" algn="l">
              <a:lnSpc>
                <a:spcPct val="106000"/>
              </a:lnSpc>
              <a:buNone/>
            </a:pPr>
            <a:r>
              <a:rPr lang="en-US" sz="900" b="1" dirty="0">
                <a:solidFill>
                  <a:srgbClr val="8FA6BC"/>
                </a:solidFill>
                <a:latin typeface="Calibri" pitchFamily="34" charset="0"/>
                <a:ea typeface="Calibri" pitchFamily="34" charset="-122"/>
                <a:cs typeface="Calibri" pitchFamily="34" charset="-120"/>
              </a:rPr>
              <a:t>I</a:t>
            </a:r>
            <a:endParaRPr lang="en-US" sz="900" dirty="0"/>
          </a:p>
        </p:txBody>
      </p:sp>
      <p:sp>
        <p:nvSpPr>
          <p:cNvPr id="24" name="Text 21"/>
          <p:cNvSpPr/>
          <p:nvPr/>
        </p:nvSpPr>
        <p:spPr>
          <a:xfrm>
            <a:off x="7109460" y="3712464"/>
            <a:ext cx="1650492" cy="182880"/>
          </a:xfrm>
          <a:prstGeom prst="rect">
            <a:avLst/>
          </a:prstGeom>
          <a:noFill/>
          <a:ln/>
        </p:spPr>
        <p:txBody>
          <a:bodyPr wrap="square" lIns="0" tIns="0" rIns="0" bIns="0" rtlCol="0" anchor="ctr"/>
          <a:lstStyle/>
          <a:p>
            <a:pPr marL="0" indent="0" algn="l">
              <a:lnSpc>
                <a:spcPct val="106000"/>
              </a:lnSpc>
              <a:buNone/>
            </a:pPr>
            <a:r>
              <a:rPr lang="en-US" sz="620" dirty="0">
                <a:solidFill>
                  <a:srgbClr val="4A5769"/>
                </a:solidFill>
                <a:latin typeface="Calibri" pitchFamily="34" charset="0"/>
                <a:ea typeface="Calibri" pitchFamily="34" charset="-122"/>
                <a:cs typeface="Calibri" pitchFamily="34" charset="-120"/>
              </a:rPr>
              <a:t>Informed : informé</a:t>
            </a:r>
            <a:endParaRPr lang="en-US" sz="620" dirty="0"/>
          </a:p>
        </p:txBody>
      </p:sp>
      <p:sp>
        <p:nvSpPr>
          <p:cNvPr id="25" name="Shape 22"/>
          <p:cNvSpPr/>
          <p:nvPr/>
        </p:nvSpPr>
        <p:spPr>
          <a:xfrm>
            <a:off x="292608" y="4224528"/>
            <a:ext cx="8558784" cy="475488"/>
          </a:xfrm>
          <a:prstGeom prst="rect">
            <a:avLst/>
          </a:prstGeom>
          <a:solidFill>
            <a:srgbClr val="12263F"/>
          </a:solidFill>
          <a:ln/>
        </p:spPr>
        <p:txBody>
          <a:bodyPr/>
          <a:lstStyle/>
          <a:p>
            <a:endParaRPr lang="fr-FR"/>
          </a:p>
        </p:txBody>
      </p:sp>
      <p:sp>
        <p:nvSpPr>
          <p:cNvPr id="8" name="Shape 23"/>
          <p:cNvSpPr/>
          <p:nvPr/>
        </p:nvSpPr>
        <p:spPr>
          <a:xfrm>
            <a:off x="292608" y="4224528"/>
            <a:ext cx="45720" cy="475488"/>
          </a:xfrm>
          <a:prstGeom prst="rect">
            <a:avLst/>
          </a:prstGeom>
          <a:solidFill>
            <a:srgbClr val="E08A3C"/>
          </a:solidFill>
          <a:ln/>
        </p:spPr>
        <p:txBody>
          <a:bodyPr/>
          <a:lstStyle/>
          <a:p>
            <a:endParaRPr lang="fr-FR"/>
          </a:p>
        </p:txBody>
      </p:sp>
      <p:sp>
        <p:nvSpPr>
          <p:cNvPr id="27" name="Text 24"/>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Un seul décideur par lot. Là où je réalise, je ne décide pas.</a:t>
            </a:r>
            <a:endParaRPr lang="en-US" sz="1150" dirty="0"/>
          </a:p>
        </p:txBody>
      </p:sp>
      <p:sp>
        <p:nvSpPr>
          <p:cNvPr id="28" name="Text 25"/>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6.3 - Communication et Coordination avec les Parties Prenantes</a:t>
            </a:r>
            <a:endParaRPr lang="en-US" sz="750" dirty="0"/>
          </a:p>
        </p:txBody>
      </p:sp>
      <p:sp>
        <p:nvSpPr>
          <p:cNvPr id="29" name="Text 26"/>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7. Analyses et perspectives</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26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7.1 - Analyse des Résultats et des Performances</a:t>
            </a:r>
            <a:endParaRPr lang="en-US" sz="2200" dirty="0"/>
          </a:p>
        </p:txBody>
      </p:sp>
      <p:sp>
        <p:nvSpPr>
          <p:cNvPr id="7" name="Text 5"/>
          <p:cNvSpPr/>
          <p:nvPr/>
        </p:nvSpPr>
        <p:spPr>
          <a:xfrm>
            <a:off x="292608" y="1024128"/>
            <a:ext cx="8558784" cy="201168"/>
          </a:xfrm>
          <a:prstGeom prst="rect">
            <a:avLst/>
          </a:prstGeom>
          <a:noFill/>
          <a:ln/>
        </p:spPr>
        <p:txBody>
          <a:bodyPr wrap="square" lIns="0" tIns="0" rIns="0" bIns="0" rtlCol="0" anchor="ctr"/>
          <a:lstStyle/>
          <a:p>
            <a:pPr marL="0" indent="0">
              <a:buNone/>
            </a:pPr>
            <a:r>
              <a:rPr lang="en-US" sz="1050" dirty="0">
                <a:solidFill>
                  <a:srgbClr val="4A5769"/>
                </a:solidFill>
                <a:latin typeface="Calibri" pitchFamily="34" charset="0"/>
                <a:ea typeface="Calibri" pitchFamily="34" charset="-122"/>
                <a:cs typeface="Calibri" pitchFamily="34" charset="-120"/>
              </a:rPr>
              <a:t>Les cinq objectifs annoncés, confrontés aux critères de succès du cahier des charges.</a:t>
            </a:r>
            <a:endParaRPr lang="en-US" sz="1050" dirty="0"/>
          </a:p>
        </p:txBody>
      </p:sp>
      <p:sp>
        <p:nvSpPr>
          <p:cNvPr id="8" name="Shape 6"/>
          <p:cNvSpPr/>
          <p:nvPr/>
        </p:nvSpPr>
        <p:spPr>
          <a:xfrm>
            <a:off x="292608" y="1362456"/>
            <a:ext cx="274320" cy="274320"/>
          </a:xfrm>
          <a:prstGeom prst="ellipse">
            <a:avLst/>
          </a:prstGeom>
          <a:solidFill>
            <a:srgbClr val="12855A"/>
          </a:solidFill>
          <a:ln w="12700">
            <a:solidFill>
              <a:srgbClr val="12855A"/>
            </a:solidFill>
            <a:prstDash val="solid"/>
          </a:ln>
        </p:spPr>
        <p:txBody>
          <a:bodyPr/>
          <a:lstStyle/>
          <a:p>
            <a:endParaRPr lang="fr-FR"/>
          </a:p>
        </p:txBody>
      </p:sp>
      <p:sp>
        <p:nvSpPr>
          <p:cNvPr id="9" name="Text 7"/>
          <p:cNvSpPr/>
          <p:nvPr/>
        </p:nvSpPr>
        <p:spPr>
          <a:xfrm>
            <a:off x="292608" y="1362456"/>
            <a:ext cx="274320" cy="274320"/>
          </a:xfrm>
          <a:prstGeom prst="rect">
            <a:avLst/>
          </a:prstGeom>
          <a:noFill/>
          <a:ln/>
        </p:spPr>
        <p:txBody>
          <a:bodyPr wrap="square" lIns="0" tIns="0" rIns="0" bIns="0" rtlCol="0" anchor="ctr"/>
          <a:lstStyle/>
          <a:p>
            <a:pPr marL="0" indent="0" algn="ctr">
              <a:lnSpc>
                <a:spcPct val="108000"/>
              </a:lnSpc>
              <a:buNone/>
            </a:pPr>
            <a:r>
              <a:rPr lang="en-US" sz="1200" b="1" dirty="0">
                <a:solidFill>
                  <a:srgbClr val="FFFFFF"/>
                </a:solidFill>
                <a:latin typeface="Calibri" pitchFamily="34" charset="0"/>
                <a:ea typeface="Calibri" pitchFamily="34" charset="-122"/>
                <a:cs typeface="Calibri" pitchFamily="34" charset="-120"/>
              </a:rPr>
              <a:t>v</a:t>
            </a:r>
            <a:endParaRPr lang="en-US" sz="1200" dirty="0"/>
          </a:p>
        </p:txBody>
      </p:sp>
      <p:sp>
        <p:nvSpPr>
          <p:cNvPr id="10" name="Text 8"/>
          <p:cNvSpPr/>
          <p:nvPr/>
        </p:nvSpPr>
        <p:spPr>
          <a:xfrm>
            <a:off x="676656" y="1335024"/>
            <a:ext cx="2834640" cy="329184"/>
          </a:xfrm>
          <a:prstGeom prst="rect">
            <a:avLst/>
          </a:prstGeom>
          <a:noFill/>
          <a:ln/>
        </p:spPr>
        <p:txBody>
          <a:bodyPr wrap="square" lIns="0" tIns="0" rIns="0" bIns="0" rtlCol="0" anchor="ctr"/>
          <a:lstStyle/>
          <a:p>
            <a:pPr marL="0" indent="0" algn="l">
              <a:lnSpc>
                <a:spcPct val="108000"/>
              </a:lnSpc>
              <a:buNone/>
            </a:pPr>
            <a:r>
              <a:rPr lang="en-US" sz="1200" b="1" dirty="0">
                <a:solidFill>
                  <a:srgbClr val="12263F"/>
                </a:solidFill>
                <a:latin typeface="Calibri" pitchFamily="34" charset="0"/>
                <a:ea typeface="Calibri" pitchFamily="34" charset="-122"/>
                <a:cs typeface="Calibri" pitchFamily="34" charset="-120"/>
              </a:rPr>
              <a:t>Tout décrire en code</a:t>
            </a:r>
            <a:endParaRPr lang="en-US" sz="1200" dirty="0"/>
          </a:p>
        </p:txBody>
      </p:sp>
      <p:sp>
        <p:nvSpPr>
          <p:cNvPr id="11" name="Shape 9"/>
          <p:cNvSpPr/>
          <p:nvPr/>
        </p:nvSpPr>
        <p:spPr>
          <a:xfrm>
            <a:off x="3602736" y="1389888"/>
            <a:ext cx="2377440" cy="219456"/>
          </a:xfrm>
          <a:prstGeom prst="roundRect">
            <a:avLst>
              <a:gd name="adj" fmla="val 12500"/>
            </a:avLst>
          </a:prstGeom>
          <a:solidFill>
            <a:srgbClr val="12855A"/>
          </a:solidFill>
          <a:ln w="12700">
            <a:solidFill>
              <a:srgbClr val="12855A"/>
            </a:solidFill>
            <a:prstDash val="solid"/>
          </a:ln>
        </p:spPr>
        <p:txBody>
          <a:bodyPr/>
          <a:lstStyle/>
          <a:p>
            <a:endParaRPr lang="fr-FR"/>
          </a:p>
        </p:txBody>
      </p:sp>
      <p:sp>
        <p:nvSpPr>
          <p:cNvPr id="12" name="Text 10"/>
          <p:cNvSpPr/>
          <p:nvPr/>
        </p:nvSpPr>
        <p:spPr>
          <a:xfrm>
            <a:off x="3602736" y="1389888"/>
            <a:ext cx="2377440" cy="219456"/>
          </a:xfrm>
          <a:prstGeom prst="rect">
            <a:avLst/>
          </a:prstGeom>
          <a:noFill/>
          <a:ln/>
        </p:spPr>
        <p:txBody>
          <a:bodyPr wrap="square" lIns="0" tIns="0" rIns="0" bIns="0" rtlCol="0" anchor="ctr"/>
          <a:lstStyle/>
          <a:p>
            <a:pPr marL="0" indent="0" algn="ctr">
              <a:lnSpc>
                <a:spcPct val="108000"/>
              </a:lnSpc>
              <a:buNone/>
            </a:pPr>
            <a:r>
              <a:rPr lang="en-US" sz="850" b="1" dirty="0">
                <a:solidFill>
                  <a:srgbClr val="FFFFFF"/>
                </a:solidFill>
                <a:latin typeface="Calibri" pitchFamily="34" charset="0"/>
                <a:ea typeface="Calibri" pitchFamily="34" charset="-122"/>
                <a:cs typeface="Calibri" pitchFamily="34" charset="-120"/>
              </a:rPr>
              <a:t>ATTEINT</a:t>
            </a:r>
            <a:endParaRPr lang="en-US" sz="850" dirty="0"/>
          </a:p>
        </p:txBody>
      </p:sp>
      <p:sp>
        <p:nvSpPr>
          <p:cNvPr id="13" name="Text 11"/>
          <p:cNvSpPr/>
          <p:nvPr/>
        </p:nvSpPr>
        <p:spPr>
          <a:xfrm>
            <a:off x="6108192" y="1335024"/>
            <a:ext cx="2743200" cy="329184"/>
          </a:xfrm>
          <a:prstGeom prst="rect">
            <a:avLst/>
          </a:prstGeom>
          <a:noFill/>
          <a:ln/>
        </p:spPr>
        <p:txBody>
          <a:bodyPr wrap="square" lIns="0" tIns="0" rIns="0" bIns="0" rtlCol="0" anchor="ctr"/>
          <a:lstStyle/>
          <a:p>
            <a:pPr marL="0" indent="0" algn="l">
              <a:lnSpc>
                <a:spcPct val="108000"/>
              </a:lnSpc>
              <a:buNone/>
            </a:pPr>
            <a:r>
              <a:rPr lang="en-US" sz="1000" dirty="0">
                <a:solidFill>
                  <a:srgbClr val="4A5769"/>
                </a:solidFill>
                <a:latin typeface="Calibri" pitchFamily="34" charset="0"/>
                <a:ea typeface="Calibri" pitchFamily="34" charset="-122"/>
                <a:cs typeface="Calibri" pitchFamily="34" charset="-120"/>
              </a:rPr>
              <a:t>100 % de l'infrastructure</a:t>
            </a:r>
            <a:endParaRPr lang="en-US" sz="1000" dirty="0"/>
          </a:p>
        </p:txBody>
      </p:sp>
      <p:sp>
        <p:nvSpPr>
          <p:cNvPr id="14" name="Shape 12"/>
          <p:cNvSpPr/>
          <p:nvPr/>
        </p:nvSpPr>
        <p:spPr>
          <a:xfrm>
            <a:off x="292608" y="1764792"/>
            <a:ext cx="274320" cy="274320"/>
          </a:xfrm>
          <a:prstGeom prst="ellipse">
            <a:avLst/>
          </a:prstGeom>
          <a:solidFill>
            <a:srgbClr val="12855A"/>
          </a:solidFill>
          <a:ln w="12700">
            <a:solidFill>
              <a:srgbClr val="12855A"/>
            </a:solidFill>
            <a:prstDash val="solid"/>
          </a:ln>
        </p:spPr>
        <p:txBody>
          <a:bodyPr/>
          <a:lstStyle/>
          <a:p>
            <a:endParaRPr lang="fr-FR"/>
          </a:p>
        </p:txBody>
      </p:sp>
      <p:sp>
        <p:nvSpPr>
          <p:cNvPr id="15" name="Text 13"/>
          <p:cNvSpPr/>
          <p:nvPr/>
        </p:nvSpPr>
        <p:spPr>
          <a:xfrm>
            <a:off x="292608" y="1764792"/>
            <a:ext cx="274320" cy="274320"/>
          </a:xfrm>
          <a:prstGeom prst="rect">
            <a:avLst/>
          </a:prstGeom>
          <a:noFill/>
          <a:ln/>
        </p:spPr>
        <p:txBody>
          <a:bodyPr wrap="square" lIns="0" tIns="0" rIns="0" bIns="0" rtlCol="0" anchor="ctr"/>
          <a:lstStyle/>
          <a:p>
            <a:pPr marL="0" indent="0" algn="ctr">
              <a:lnSpc>
                <a:spcPct val="108000"/>
              </a:lnSpc>
              <a:buNone/>
            </a:pPr>
            <a:r>
              <a:rPr lang="en-US" sz="1200" b="1" dirty="0">
                <a:solidFill>
                  <a:srgbClr val="FFFFFF"/>
                </a:solidFill>
                <a:latin typeface="Calibri" pitchFamily="34" charset="0"/>
                <a:ea typeface="Calibri" pitchFamily="34" charset="-122"/>
                <a:cs typeface="Calibri" pitchFamily="34" charset="-120"/>
              </a:rPr>
              <a:t>v</a:t>
            </a:r>
            <a:endParaRPr lang="en-US" sz="1200" dirty="0"/>
          </a:p>
        </p:txBody>
      </p:sp>
      <p:sp>
        <p:nvSpPr>
          <p:cNvPr id="16" name="Text 14"/>
          <p:cNvSpPr/>
          <p:nvPr/>
        </p:nvSpPr>
        <p:spPr>
          <a:xfrm>
            <a:off x="676656" y="1737360"/>
            <a:ext cx="2834640" cy="329184"/>
          </a:xfrm>
          <a:prstGeom prst="rect">
            <a:avLst/>
          </a:prstGeom>
          <a:noFill/>
          <a:ln/>
        </p:spPr>
        <p:txBody>
          <a:bodyPr wrap="square" lIns="0" tIns="0" rIns="0" bIns="0" rtlCol="0" anchor="ctr"/>
          <a:lstStyle/>
          <a:p>
            <a:pPr marL="0" indent="0" algn="l">
              <a:lnSpc>
                <a:spcPct val="108000"/>
              </a:lnSpc>
              <a:buNone/>
            </a:pPr>
            <a:r>
              <a:rPr lang="en-US" sz="1200" b="1" dirty="0">
                <a:solidFill>
                  <a:srgbClr val="12263F"/>
                </a:solidFill>
                <a:latin typeface="Calibri" pitchFamily="34" charset="0"/>
                <a:ea typeface="Calibri" pitchFamily="34" charset="-122"/>
                <a:cs typeface="Calibri" pitchFamily="34" charset="-120"/>
              </a:rPr>
              <a:t>Livrer automatiquement</a:t>
            </a:r>
            <a:endParaRPr lang="en-US" sz="1200" dirty="0"/>
          </a:p>
        </p:txBody>
      </p:sp>
      <p:sp>
        <p:nvSpPr>
          <p:cNvPr id="17" name="Shape 15"/>
          <p:cNvSpPr/>
          <p:nvPr/>
        </p:nvSpPr>
        <p:spPr>
          <a:xfrm>
            <a:off x="3602736" y="1792224"/>
            <a:ext cx="2377440" cy="219456"/>
          </a:xfrm>
          <a:prstGeom prst="roundRect">
            <a:avLst>
              <a:gd name="adj" fmla="val 12500"/>
            </a:avLst>
          </a:prstGeom>
          <a:solidFill>
            <a:srgbClr val="12855A"/>
          </a:solidFill>
          <a:ln w="12700">
            <a:solidFill>
              <a:srgbClr val="12855A"/>
            </a:solidFill>
            <a:prstDash val="solid"/>
          </a:ln>
        </p:spPr>
        <p:txBody>
          <a:bodyPr/>
          <a:lstStyle/>
          <a:p>
            <a:endParaRPr lang="fr-FR"/>
          </a:p>
        </p:txBody>
      </p:sp>
      <p:sp>
        <p:nvSpPr>
          <p:cNvPr id="18" name="Text 16"/>
          <p:cNvSpPr/>
          <p:nvPr/>
        </p:nvSpPr>
        <p:spPr>
          <a:xfrm>
            <a:off x="3602736" y="1792224"/>
            <a:ext cx="2377440" cy="219456"/>
          </a:xfrm>
          <a:prstGeom prst="rect">
            <a:avLst/>
          </a:prstGeom>
          <a:noFill/>
          <a:ln/>
        </p:spPr>
        <p:txBody>
          <a:bodyPr wrap="square" lIns="0" tIns="0" rIns="0" bIns="0" rtlCol="0" anchor="ctr"/>
          <a:lstStyle/>
          <a:p>
            <a:pPr marL="0" indent="0" algn="ctr">
              <a:lnSpc>
                <a:spcPct val="108000"/>
              </a:lnSpc>
              <a:buNone/>
            </a:pPr>
            <a:r>
              <a:rPr lang="en-US" sz="850" b="1" dirty="0">
                <a:solidFill>
                  <a:srgbClr val="FFFFFF"/>
                </a:solidFill>
                <a:latin typeface="Calibri" pitchFamily="34" charset="0"/>
                <a:ea typeface="Calibri" pitchFamily="34" charset="-122"/>
                <a:cs typeface="Calibri" pitchFamily="34" charset="-120"/>
              </a:rPr>
              <a:t>ATTEINT</a:t>
            </a:r>
            <a:endParaRPr lang="en-US" sz="850" dirty="0"/>
          </a:p>
        </p:txBody>
      </p:sp>
      <p:sp>
        <p:nvSpPr>
          <p:cNvPr id="19" name="Text 17"/>
          <p:cNvSpPr/>
          <p:nvPr/>
        </p:nvSpPr>
        <p:spPr>
          <a:xfrm>
            <a:off x="6108192" y="1737360"/>
            <a:ext cx="2743200" cy="329184"/>
          </a:xfrm>
          <a:prstGeom prst="rect">
            <a:avLst/>
          </a:prstGeom>
          <a:noFill/>
          <a:ln/>
        </p:spPr>
        <p:txBody>
          <a:bodyPr wrap="square" lIns="0" tIns="0" rIns="0" bIns="0" rtlCol="0" anchor="ctr"/>
          <a:lstStyle/>
          <a:p>
            <a:pPr marL="0" indent="0" algn="l">
              <a:lnSpc>
                <a:spcPct val="108000"/>
              </a:lnSpc>
              <a:buNone/>
            </a:pPr>
            <a:r>
              <a:rPr lang="en-US" sz="1000" dirty="0">
                <a:solidFill>
                  <a:srgbClr val="4A5769"/>
                </a:solidFill>
                <a:latin typeface="Calibri" pitchFamily="34" charset="0"/>
                <a:ea typeface="Calibri" pitchFamily="34" charset="-122"/>
                <a:cs typeface="Calibri" pitchFamily="34" charset="-120"/>
              </a:rPr>
              <a:t>7 étapes, dont 2 bloquantes</a:t>
            </a:r>
            <a:endParaRPr lang="en-US" sz="1000" dirty="0"/>
          </a:p>
        </p:txBody>
      </p:sp>
      <p:sp>
        <p:nvSpPr>
          <p:cNvPr id="20" name="Shape 18"/>
          <p:cNvSpPr/>
          <p:nvPr/>
        </p:nvSpPr>
        <p:spPr>
          <a:xfrm>
            <a:off x="292608" y="2167128"/>
            <a:ext cx="274320" cy="274320"/>
          </a:xfrm>
          <a:prstGeom prst="ellipse">
            <a:avLst/>
          </a:prstGeom>
          <a:solidFill>
            <a:srgbClr val="12855A"/>
          </a:solidFill>
          <a:ln w="12700">
            <a:solidFill>
              <a:srgbClr val="12855A"/>
            </a:solidFill>
            <a:prstDash val="solid"/>
          </a:ln>
        </p:spPr>
        <p:txBody>
          <a:bodyPr/>
          <a:lstStyle/>
          <a:p>
            <a:endParaRPr lang="fr-FR"/>
          </a:p>
        </p:txBody>
      </p:sp>
      <p:sp>
        <p:nvSpPr>
          <p:cNvPr id="21" name="Text 19"/>
          <p:cNvSpPr/>
          <p:nvPr/>
        </p:nvSpPr>
        <p:spPr>
          <a:xfrm>
            <a:off x="292608" y="2167128"/>
            <a:ext cx="274320" cy="274320"/>
          </a:xfrm>
          <a:prstGeom prst="rect">
            <a:avLst/>
          </a:prstGeom>
          <a:noFill/>
          <a:ln/>
        </p:spPr>
        <p:txBody>
          <a:bodyPr wrap="square" lIns="0" tIns="0" rIns="0" bIns="0" rtlCol="0" anchor="ctr"/>
          <a:lstStyle/>
          <a:p>
            <a:pPr marL="0" indent="0" algn="ctr">
              <a:lnSpc>
                <a:spcPct val="108000"/>
              </a:lnSpc>
              <a:buNone/>
            </a:pPr>
            <a:r>
              <a:rPr lang="en-US" sz="1200" b="1" dirty="0">
                <a:solidFill>
                  <a:srgbClr val="FFFFFF"/>
                </a:solidFill>
                <a:latin typeface="Calibri" pitchFamily="34" charset="0"/>
                <a:ea typeface="Calibri" pitchFamily="34" charset="-122"/>
                <a:cs typeface="Calibri" pitchFamily="34" charset="-120"/>
              </a:rPr>
              <a:t>v</a:t>
            </a:r>
            <a:endParaRPr lang="en-US" sz="1200" dirty="0"/>
          </a:p>
        </p:txBody>
      </p:sp>
      <p:sp>
        <p:nvSpPr>
          <p:cNvPr id="22" name="Text 20"/>
          <p:cNvSpPr/>
          <p:nvPr/>
        </p:nvSpPr>
        <p:spPr>
          <a:xfrm>
            <a:off x="676656" y="2139696"/>
            <a:ext cx="2834640" cy="329184"/>
          </a:xfrm>
          <a:prstGeom prst="rect">
            <a:avLst/>
          </a:prstGeom>
          <a:noFill/>
          <a:ln/>
        </p:spPr>
        <p:txBody>
          <a:bodyPr wrap="square" lIns="0" tIns="0" rIns="0" bIns="0" rtlCol="0" anchor="ctr"/>
          <a:lstStyle/>
          <a:p>
            <a:pPr marL="0" indent="0" algn="l">
              <a:lnSpc>
                <a:spcPct val="108000"/>
              </a:lnSpc>
              <a:buNone/>
            </a:pPr>
            <a:r>
              <a:rPr lang="en-US" sz="1200" b="1" dirty="0">
                <a:solidFill>
                  <a:srgbClr val="12263F"/>
                </a:solidFill>
                <a:latin typeface="Calibri" pitchFamily="34" charset="0"/>
                <a:ea typeface="Calibri" pitchFamily="34" charset="-122"/>
                <a:cs typeface="Calibri" pitchFamily="34" charset="-120"/>
              </a:rPr>
              <a:t>Orchestrer sans coupure</a:t>
            </a:r>
            <a:endParaRPr lang="en-US" sz="1200" dirty="0"/>
          </a:p>
        </p:txBody>
      </p:sp>
      <p:sp>
        <p:nvSpPr>
          <p:cNvPr id="23" name="Shape 21"/>
          <p:cNvSpPr/>
          <p:nvPr/>
        </p:nvSpPr>
        <p:spPr>
          <a:xfrm>
            <a:off x="3602736" y="2194560"/>
            <a:ext cx="2377440" cy="219456"/>
          </a:xfrm>
          <a:prstGeom prst="roundRect">
            <a:avLst>
              <a:gd name="adj" fmla="val 12500"/>
            </a:avLst>
          </a:prstGeom>
          <a:solidFill>
            <a:srgbClr val="12855A"/>
          </a:solidFill>
          <a:ln w="12700">
            <a:solidFill>
              <a:srgbClr val="12855A"/>
            </a:solidFill>
            <a:prstDash val="solid"/>
          </a:ln>
        </p:spPr>
        <p:txBody>
          <a:bodyPr/>
          <a:lstStyle/>
          <a:p>
            <a:endParaRPr lang="fr-FR"/>
          </a:p>
        </p:txBody>
      </p:sp>
      <p:sp>
        <p:nvSpPr>
          <p:cNvPr id="24" name="Text 22"/>
          <p:cNvSpPr/>
          <p:nvPr/>
        </p:nvSpPr>
        <p:spPr>
          <a:xfrm>
            <a:off x="3602736" y="2194560"/>
            <a:ext cx="2377440" cy="219456"/>
          </a:xfrm>
          <a:prstGeom prst="rect">
            <a:avLst/>
          </a:prstGeom>
          <a:noFill/>
          <a:ln/>
        </p:spPr>
        <p:txBody>
          <a:bodyPr wrap="square" lIns="0" tIns="0" rIns="0" bIns="0" rtlCol="0" anchor="ctr"/>
          <a:lstStyle/>
          <a:p>
            <a:pPr marL="0" indent="0" algn="ctr">
              <a:lnSpc>
                <a:spcPct val="108000"/>
              </a:lnSpc>
              <a:buNone/>
            </a:pPr>
            <a:r>
              <a:rPr lang="en-US" sz="850" b="1" dirty="0">
                <a:solidFill>
                  <a:srgbClr val="FFFFFF"/>
                </a:solidFill>
                <a:latin typeface="Calibri" pitchFamily="34" charset="0"/>
                <a:ea typeface="Calibri" pitchFamily="34" charset="-122"/>
                <a:cs typeface="Calibri" pitchFamily="34" charset="-120"/>
              </a:rPr>
              <a:t>ATTEINT</a:t>
            </a:r>
            <a:endParaRPr lang="en-US" sz="850" dirty="0"/>
          </a:p>
        </p:txBody>
      </p:sp>
      <p:sp>
        <p:nvSpPr>
          <p:cNvPr id="25" name="Text 23"/>
          <p:cNvSpPr/>
          <p:nvPr/>
        </p:nvSpPr>
        <p:spPr>
          <a:xfrm>
            <a:off x="6108192" y="2139696"/>
            <a:ext cx="2743200" cy="329184"/>
          </a:xfrm>
          <a:prstGeom prst="rect">
            <a:avLst/>
          </a:prstGeom>
          <a:noFill/>
          <a:ln/>
        </p:spPr>
        <p:txBody>
          <a:bodyPr wrap="square" lIns="0" tIns="0" rIns="0" bIns="0" rtlCol="0" anchor="ctr"/>
          <a:lstStyle/>
          <a:p>
            <a:pPr marL="0" indent="0" algn="l">
              <a:lnSpc>
                <a:spcPct val="108000"/>
              </a:lnSpc>
              <a:buNone/>
            </a:pPr>
            <a:r>
              <a:rPr lang="en-US" sz="1000" dirty="0">
                <a:solidFill>
                  <a:srgbClr val="4A5769"/>
                </a:solidFill>
                <a:latin typeface="Calibri" pitchFamily="34" charset="0"/>
                <a:ea typeface="Calibri" pitchFamily="34" charset="-122"/>
                <a:cs typeface="Calibri" pitchFamily="34" charset="-120"/>
              </a:rPr>
              <a:t>mise à jour et retour arrière</a:t>
            </a:r>
            <a:endParaRPr lang="en-US" sz="1000" dirty="0"/>
          </a:p>
        </p:txBody>
      </p:sp>
      <p:sp>
        <p:nvSpPr>
          <p:cNvPr id="26" name="Shape 24"/>
          <p:cNvSpPr/>
          <p:nvPr/>
        </p:nvSpPr>
        <p:spPr>
          <a:xfrm>
            <a:off x="292608" y="2569464"/>
            <a:ext cx="274320" cy="274320"/>
          </a:xfrm>
          <a:prstGeom prst="ellipse">
            <a:avLst/>
          </a:prstGeom>
          <a:solidFill>
            <a:srgbClr val="12855A"/>
          </a:solidFill>
          <a:ln w="12700">
            <a:solidFill>
              <a:srgbClr val="12855A"/>
            </a:solidFill>
            <a:prstDash val="solid"/>
          </a:ln>
        </p:spPr>
        <p:txBody>
          <a:bodyPr/>
          <a:lstStyle/>
          <a:p>
            <a:endParaRPr lang="fr-FR"/>
          </a:p>
        </p:txBody>
      </p:sp>
      <p:sp>
        <p:nvSpPr>
          <p:cNvPr id="27" name="Text 25"/>
          <p:cNvSpPr/>
          <p:nvPr/>
        </p:nvSpPr>
        <p:spPr>
          <a:xfrm>
            <a:off x="292608" y="2569464"/>
            <a:ext cx="274320" cy="274320"/>
          </a:xfrm>
          <a:prstGeom prst="rect">
            <a:avLst/>
          </a:prstGeom>
          <a:noFill/>
          <a:ln/>
        </p:spPr>
        <p:txBody>
          <a:bodyPr wrap="square" lIns="0" tIns="0" rIns="0" bIns="0" rtlCol="0" anchor="ctr"/>
          <a:lstStyle/>
          <a:p>
            <a:pPr marL="0" indent="0" algn="ctr">
              <a:lnSpc>
                <a:spcPct val="108000"/>
              </a:lnSpc>
              <a:buNone/>
            </a:pPr>
            <a:r>
              <a:rPr lang="en-US" sz="1200" b="1" dirty="0">
                <a:solidFill>
                  <a:srgbClr val="FFFFFF"/>
                </a:solidFill>
                <a:latin typeface="Calibri" pitchFamily="34" charset="0"/>
                <a:ea typeface="Calibri" pitchFamily="34" charset="-122"/>
                <a:cs typeface="Calibri" pitchFamily="34" charset="-120"/>
              </a:rPr>
              <a:t>v</a:t>
            </a:r>
            <a:endParaRPr lang="en-US" sz="1200" dirty="0"/>
          </a:p>
        </p:txBody>
      </p:sp>
      <p:sp>
        <p:nvSpPr>
          <p:cNvPr id="28" name="Text 26"/>
          <p:cNvSpPr/>
          <p:nvPr/>
        </p:nvSpPr>
        <p:spPr>
          <a:xfrm>
            <a:off x="676656" y="2542032"/>
            <a:ext cx="2834640" cy="329184"/>
          </a:xfrm>
          <a:prstGeom prst="rect">
            <a:avLst/>
          </a:prstGeom>
          <a:noFill/>
          <a:ln/>
        </p:spPr>
        <p:txBody>
          <a:bodyPr wrap="square" lIns="0" tIns="0" rIns="0" bIns="0" rtlCol="0" anchor="ctr"/>
          <a:lstStyle/>
          <a:p>
            <a:pPr marL="0" indent="0" algn="l">
              <a:lnSpc>
                <a:spcPct val="108000"/>
              </a:lnSpc>
              <a:buNone/>
            </a:pPr>
            <a:r>
              <a:rPr lang="en-US" sz="1200" b="1" dirty="0">
                <a:solidFill>
                  <a:srgbClr val="12263F"/>
                </a:solidFill>
                <a:latin typeface="Calibri" pitchFamily="34" charset="0"/>
                <a:ea typeface="Calibri" pitchFamily="34" charset="-122"/>
                <a:cs typeface="Calibri" pitchFamily="34" charset="-120"/>
              </a:rPr>
              <a:t>Observer en continu</a:t>
            </a:r>
            <a:endParaRPr lang="en-US" sz="1200" dirty="0"/>
          </a:p>
        </p:txBody>
      </p:sp>
      <p:sp>
        <p:nvSpPr>
          <p:cNvPr id="29" name="Shape 27"/>
          <p:cNvSpPr/>
          <p:nvPr/>
        </p:nvSpPr>
        <p:spPr>
          <a:xfrm>
            <a:off x="3602736" y="2596896"/>
            <a:ext cx="2377440" cy="219456"/>
          </a:xfrm>
          <a:prstGeom prst="roundRect">
            <a:avLst>
              <a:gd name="adj" fmla="val 12500"/>
            </a:avLst>
          </a:prstGeom>
          <a:solidFill>
            <a:srgbClr val="12855A"/>
          </a:solidFill>
          <a:ln w="12700">
            <a:solidFill>
              <a:srgbClr val="12855A"/>
            </a:solidFill>
            <a:prstDash val="solid"/>
          </a:ln>
        </p:spPr>
        <p:txBody>
          <a:bodyPr/>
          <a:lstStyle/>
          <a:p>
            <a:endParaRPr lang="fr-FR"/>
          </a:p>
        </p:txBody>
      </p:sp>
      <p:sp>
        <p:nvSpPr>
          <p:cNvPr id="30" name="Text 28"/>
          <p:cNvSpPr/>
          <p:nvPr/>
        </p:nvSpPr>
        <p:spPr>
          <a:xfrm>
            <a:off x="3602736" y="2596896"/>
            <a:ext cx="2377440" cy="219456"/>
          </a:xfrm>
          <a:prstGeom prst="rect">
            <a:avLst/>
          </a:prstGeom>
          <a:noFill/>
          <a:ln/>
        </p:spPr>
        <p:txBody>
          <a:bodyPr wrap="square" lIns="0" tIns="0" rIns="0" bIns="0" rtlCol="0" anchor="ctr"/>
          <a:lstStyle/>
          <a:p>
            <a:pPr marL="0" indent="0" algn="ctr">
              <a:lnSpc>
                <a:spcPct val="108000"/>
              </a:lnSpc>
              <a:buNone/>
            </a:pPr>
            <a:r>
              <a:rPr lang="en-US" sz="850" b="1" dirty="0">
                <a:solidFill>
                  <a:srgbClr val="FFFFFF"/>
                </a:solidFill>
                <a:latin typeface="Calibri" pitchFamily="34" charset="0"/>
                <a:ea typeface="Calibri" pitchFamily="34" charset="-122"/>
                <a:cs typeface="Calibri" pitchFamily="34" charset="-120"/>
              </a:rPr>
              <a:t>ATTEINT</a:t>
            </a:r>
            <a:endParaRPr lang="en-US" sz="850" dirty="0"/>
          </a:p>
        </p:txBody>
      </p:sp>
      <p:sp>
        <p:nvSpPr>
          <p:cNvPr id="31" name="Text 29"/>
          <p:cNvSpPr/>
          <p:nvPr/>
        </p:nvSpPr>
        <p:spPr>
          <a:xfrm>
            <a:off x="6108192" y="2542032"/>
            <a:ext cx="2743200" cy="329184"/>
          </a:xfrm>
          <a:prstGeom prst="rect">
            <a:avLst/>
          </a:prstGeom>
          <a:noFill/>
          <a:ln/>
        </p:spPr>
        <p:txBody>
          <a:bodyPr wrap="square" lIns="0" tIns="0" rIns="0" bIns="0" rtlCol="0" anchor="ctr"/>
          <a:lstStyle/>
          <a:p>
            <a:pPr marL="0" indent="0" algn="l">
              <a:lnSpc>
                <a:spcPct val="108000"/>
              </a:lnSpc>
              <a:buNone/>
            </a:pPr>
            <a:r>
              <a:rPr lang="en-US" sz="1000" dirty="0">
                <a:solidFill>
                  <a:srgbClr val="4A5769"/>
                </a:solidFill>
                <a:latin typeface="Calibri" pitchFamily="34" charset="0"/>
                <a:ea typeface="Calibri" pitchFamily="34" charset="-122"/>
                <a:cs typeface="Calibri" pitchFamily="34" charset="-120"/>
              </a:rPr>
              <a:t>3 tableaux de bord, 10 alertes</a:t>
            </a:r>
            <a:endParaRPr lang="en-US" sz="1000" dirty="0"/>
          </a:p>
        </p:txBody>
      </p:sp>
      <p:sp>
        <p:nvSpPr>
          <p:cNvPr id="32" name="Shape 30"/>
          <p:cNvSpPr/>
          <p:nvPr/>
        </p:nvSpPr>
        <p:spPr>
          <a:xfrm>
            <a:off x="292608" y="2971800"/>
            <a:ext cx="274320" cy="274320"/>
          </a:xfrm>
          <a:prstGeom prst="ellipse">
            <a:avLst/>
          </a:prstGeom>
          <a:solidFill>
            <a:srgbClr val="12855A"/>
          </a:solidFill>
          <a:ln w="12700">
            <a:solidFill>
              <a:srgbClr val="12855A"/>
            </a:solidFill>
            <a:prstDash val="solid"/>
          </a:ln>
        </p:spPr>
        <p:txBody>
          <a:bodyPr/>
          <a:lstStyle/>
          <a:p>
            <a:endParaRPr lang="fr-FR"/>
          </a:p>
        </p:txBody>
      </p:sp>
      <p:sp>
        <p:nvSpPr>
          <p:cNvPr id="33" name="Text 31"/>
          <p:cNvSpPr/>
          <p:nvPr/>
        </p:nvSpPr>
        <p:spPr>
          <a:xfrm>
            <a:off x="292608" y="2971800"/>
            <a:ext cx="274320" cy="274320"/>
          </a:xfrm>
          <a:prstGeom prst="rect">
            <a:avLst/>
          </a:prstGeom>
          <a:noFill/>
          <a:ln/>
        </p:spPr>
        <p:txBody>
          <a:bodyPr wrap="square" lIns="0" tIns="0" rIns="0" bIns="0" rtlCol="0" anchor="ctr"/>
          <a:lstStyle/>
          <a:p>
            <a:pPr marL="0" indent="0" algn="ctr">
              <a:lnSpc>
                <a:spcPct val="108000"/>
              </a:lnSpc>
              <a:buNone/>
            </a:pPr>
            <a:r>
              <a:rPr lang="en-US" sz="1200" b="1" dirty="0">
                <a:solidFill>
                  <a:srgbClr val="FFFFFF"/>
                </a:solidFill>
                <a:latin typeface="Calibri" pitchFamily="34" charset="0"/>
                <a:ea typeface="Calibri" pitchFamily="34" charset="-122"/>
                <a:cs typeface="Calibri" pitchFamily="34" charset="-120"/>
              </a:rPr>
              <a:t>v</a:t>
            </a:r>
            <a:endParaRPr lang="en-US" sz="1200" dirty="0"/>
          </a:p>
        </p:txBody>
      </p:sp>
      <p:sp>
        <p:nvSpPr>
          <p:cNvPr id="34" name="Text 32"/>
          <p:cNvSpPr/>
          <p:nvPr/>
        </p:nvSpPr>
        <p:spPr>
          <a:xfrm>
            <a:off x="676656" y="2944368"/>
            <a:ext cx="2834640" cy="329184"/>
          </a:xfrm>
          <a:prstGeom prst="rect">
            <a:avLst/>
          </a:prstGeom>
          <a:noFill/>
          <a:ln/>
        </p:spPr>
        <p:txBody>
          <a:bodyPr wrap="square" lIns="0" tIns="0" rIns="0" bIns="0" rtlCol="0" anchor="ctr"/>
          <a:lstStyle/>
          <a:p>
            <a:pPr marL="0" indent="0" algn="l">
              <a:lnSpc>
                <a:spcPct val="108000"/>
              </a:lnSpc>
              <a:buNone/>
            </a:pPr>
            <a:r>
              <a:rPr lang="en-US" sz="1200" b="1" dirty="0">
                <a:solidFill>
                  <a:srgbClr val="12263F"/>
                </a:solidFill>
                <a:latin typeface="Calibri" pitchFamily="34" charset="0"/>
                <a:ea typeface="Calibri" pitchFamily="34" charset="-122"/>
                <a:cs typeface="Calibri" pitchFamily="34" charset="-120"/>
              </a:rPr>
              <a:t>Sécuriser et rester sobre</a:t>
            </a:r>
            <a:endParaRPr lang="en-US" sz="1200" dirty="0"/>
          </a:p>
        </p:txBody>
      </p:sp>
      <p:sp>
        <p:nvSpPr>
          <p:cNvPr id="35" name="Shape 33"/>
          <p:cNvSpPr/>
          <p:nvPr/>
        </p:nvSpPr>
        <p:spPr>
          <a:xfrm>
            <a:off x="3602736" y="2999232"/>
            <a:ext cx="2377440" cy="219456"/>
          </a:xfrm>
          <a:prstGeom prst="roundRect">
            <a:avLst>
              <a:gd name="adj" fmla="val 12500"/>
            </a:avLst>
          </a:prstGeom>
          <a:solidFill>
            <a:srgbClr val="12855A"/>
          </a:solidFill>
          <a:ln w="12700">
            <a:solidFill>
              <a:srgbClr val="12855A"/>
            </a:solidFill>
            <a:prstDash val="solid"/>
          </a:ln>
        </p:spPr>
        <p:txBody>
          <a:bodyPr/>
          <a:lstStyle/>
          <a:p>
            <a:endParaRPr lang="fr-FR"/>
          </a:p>
        </p:txBody>
      </p:sp>
      <p:sp>
        <p:nvSpPr>
          <p:cNvPr id="36" name="Text 34"/>
          <p:cNvSpPr/>
          <p:nvPr/>
        </p:nvSpPr>
        <p:spPr>
          <a:xfrm>
            <a:off x="3602736" y="2999232"/>
            <a:ext cx="2377440" cy="219456"/>
          </a:xfrm>
          <a:prstGeom prst="rect">
            <a:avLst/>
          </a:prstGeom>
          <a:noFill/>
          <a:ln/>
        </p:spPr>
        <p:txBody>
          <a:bodyPr wrap="square" lIns="0" tIns="0" rIns="0" bIns="0" rtlCol="0" anchor="ctr"/>
          <a:lstStyle/>
          <a:p>
            <a:pPr marL="0" indent="0" algn="ctr">
              <a:lnSpc>
                <a:spcPct val="108000"/>
              </a:lnSpc>
              <a:buNone/>
            </a:pPr>
            <a:r>
              <a:rPr lang="en-US" sz="850" b="1" dirty="0">
                <a:solidFill>
                  <a:srgbClr val="FFFFFF"/>
                </a:solidFill>
                <a:latin typeface="Calibri" pitchFamily="34" charset="0"/>
                <a:ea typeface="Calibri" pitchFamily="34" charset="-122"/>
                <a:cs typeface="Calibri" pitchFamily="34" charset="-120"/>
              </a:rPr>
              <a:t>ATTEINT</a:t>
            </a:r>
            <a:endParaRPr lang="en-US" sz="850" dirty="0"/>
          </a:p>
        </p:txBody>
      </p:sp>
      <p:sp>
        <p:nvSpPr>
          <p:cNvPr id="37" name="Text 35"/>
          <p:cNvSpPr/>
          <p:nvPr/>
        </p:nvSpPr>
        <p:spPr>
          <a:xfrm>
            <a:off x="6108192" y="2944368"/>
            <a:ext cx="2743200" cy="329184"/>
          </a:xfrm>
          <a:prstGeom prst="rect">
            <a:avLst/>
          </a:prstGeom>
          <a:noFill/>
          <a:ln/>
        </p:spPr>
        <p:txBody>
          <a:bodyPr wrap="square" lIns="0" tIns="0" rIns="0" bIns="0" rtlCol="0" anchor="ctr"/>
          <a:lstStyle/>
          <a:p>
            <a:pPr marL="0" indent="0" algn="l">
              <a:lnSpc>
                <a:spcPct val="108000"/>
              </a:lnSpc>
              <a:buNone/>
            </a:pPr>
            <a:r>
              <a:rPr lang="en-US" sz="1000" dirty="0">
                <a:solidFill>
                  <a:srgbClr val="4A5769"/>
                </a:solidFill>
                <a:latin typeface="Calibri" pitchFamily="34" charset="0"/>
                <a:ea typeface="Calibri" pitchFamily="34" charset="-122"/>
                <a:cs typeface="Calibri" pitchFamily="34" charset="-120"/>
              </a:rPr>
              <a:t>27 contrôles, énergie estimée</a:t>
            </a:r>
            <a:endParaRPr lang="en-US" sz="1000" dirty="0"/>
          </a:p>
        </p:txBody>
      </p:sp>
      <p:sp>
        <p:nvSpPr>
          <p:cNvPr id="38" name="Text 36"/>
          <p:cNvSpPr/>
          <p:nvPr/>
        </p:nvSpPr>
        <p:spPr>
          <a:xfrm>
            <a:off x="292608" y="3401568"/>
            <a:ext cx="8558784" cy="164592"/>
          </a:xfrm>
          <a:prstGeom prst="rect">
            <a:avLst/>
          </a:prstGeom>
          <a:noFill/>
          <a:ln/>
        </p:spPr>
        <p:txBody>
          <a:bodyPr wrap="square" lIns="0" tIns="0" rIns="0" bIns="0" rtlCol="0" anchor="t"/>
          <a:lstStyle/>
          <a:p>
            <a:pPr marL="0" indent="0" algn="l">
              <a:lnSpc>
                <a:spcPct val="108000"/>
              </a:lnSpc>
              <a:buNone/>
            </a:pPr>
            <a:r>
              <a:rPr lang="en-US" sz="800" b="1" dirty="0">
                <a:solidFill>
                  <a:srgbClr val="8FA6BC"/>
                </a:solidFill>
                <a:latin typeface="Calibri" pitchFamily="34" charset="0"/>
                <a:ea typeface="Calibri" pitchFamily="34" charset="-122"/>
                <a:cs typeface="Calibri" pitchFamily="34" charset="-120"/>
              </a:rPr>
              <a:t>ET SUR LE RESTE</a:t>
            </a:r>
            <a:endParaRPr lang="en-US" sz="800" dirty="0"/>
          </a:p>
        </p:txBody>
      </p:sp>
      <p:sp>
        <p:nvSpPr>
          <p:cNvPr id="39" name="Shape 37"/>
          <p:cNvSpPr/>
          <p:nvPr/>
        </p:nvSpPr>
        <p:spPr>
          <a:xfrm>
            <a:off x="292608" y="3602736"/>
            <a:ext cx="2029968" cy="530352"/>
          </a:xfrm>
          <a:prstGeom prst="rect">
            <a:avLst/>
          </a:prstGeom>
          <a:solidFill>
            <a:srgbClr val="FFFFFF"/>
          </a:solidFill>
          <a:ln w="12700">
            <a:solidFill>
              <a:srgbClr val="12855A"/>
            </a:solidFill>
            <a:prstDash val="solid"/>
          </a:ln>
        </p:spPr>
        <p:txBody>
          <a:bodyPr/>
          <a:lstStyle/>
          <a:p>
            <a:endParaRPr lang="fr-FR"/>
          </a:p>
        </p:txBody>
      </p:sp>
      <p:sp>
        <p:nvSpPr>
          <p:cNvPr id="40" name="Shape 38"/>
          <p:cNvSpPr/>
          <p:nvPr/>
        </p:nvSpPr>
        <p:spPr>
          <a:xfrm>
            <a:off x="292608" y="3602736"/>
            <a:ext cx="45720" cy="530352"/>
          </a:xfrm>
          <a:prstGeom prst="rect">
            <a:avLst/>
          </a:prstGeom>
          <a:solidFill>
            <a:srgbClr val="12855A"/>
          </a:solidFill>
          <a:ln/>
        </p:spPr>
        <p:txBody>
          <a:bodyPr/>
          <a:lstStyle/>
          <a:p>
            <a:endParaRPr lang="fr-FR"/>
          </a:p>
        </p:txBody>
      </p:sp>
      <p:sp>
        <p:nvSpPr>
          <p:cNvPr id="41" name="Text 39"/>
          <p:cNvSpPr/>
          <p:nvPr/>
        </p:nvSpPr>
        <p:spPr>
          <a:xfrm>
            <a:off x="438912" y="3657600"/>
            <a:ext cx="1773936" cy="182880"/>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Qualité</a:t>
            </a:r>
            <a:endParaRPr lang="en-US" sz="1050" dirty="0"/>
          </a:p>
        </p:txBody>
      </p:sp>
      <p:sp>
        <p:nvSpPr>
          <p:cNvPr id="42" name="Text 40"/>
          <p:cNvSpPr/>
          <p:nvPr/>
        </p:nvSpPr>
        <p:spPr>
          <a:xfrm>
            <a:off x="438912" y="3858768"/>
            <a:ext cx="1773936" cy="219456"/>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aucune régression en production</a:t>
            </a:r>
            <a:endParaRPr lang="en-US" sz="850" dirty="0"/>
          </a:p>
        </p:txBody>
      </p:sp>
      <p:sp>
        <p:nvSpPr>
          <p:cNvPr id="43" name="Shape 41"/>
          <p:cNvSpPr/>
          <p:nvPr/>
        </p:nvSpPr>
        <p:spPr>
          <a:xfrm>
            <a:off x="2468880" y="3602736"/>
            <a:ext cx="2029968" cy="530352"/>
          </a:xfrm>
          <a:prstGeom prst="rect">
            <a:avLst/>
          </a:prstGeom>
          <a:solidFill>
            <a:srgbClr val="FFFFFF"/>
          </a:solidFill>
          <a:ln w="12700">
            <a:solidFill>
              <a:srgbClr val="12855A"/>
            </a:solidFill>
            <a:prstDash val="solid"/>
          </a:ln>
        </p:spPr>
        <p:txBody>
          <a:bodyPr/>
          <a:lstStyle/>
          <a:p>
            <a:endParaRPr lang="fr-FR"/>
          </a:p>
        </p:txBody>
      </p:sp>
      <p:sp>
        <p:nvSpPr>
          <p:cNvPr id="44" name="Shape 42"/>
          <p:cNvSpPr/>
          <p:nvPr/>
        </p:nvSpPr>
        <p:spPr>
          <a:xfrm>
            <a:off x="2468880" y="3602736"/>
            <a:ext cx="45720" cy="530352"/>
          </a:xfrm>
          <a:prstGeom prst="rect">
            <a:avLst/>
          </a:prstGeom>
          <a:solidFill>
            <a:srgbClr val="12855A"/>
          </a:solidFill>
          <a:ln/>
        </p:spPr>
        <p:txBody>
          <a:bodyPr/>
          <a:lstStyle/>
          <a:p>
            <a:endParaRPr lang="fr-FR"/>
          </a:p>
        </p:txBody>
      </p:sp>
      <p:sp>
        <p:nvSpPr>
          <p:cNvPr id="45" name="Text 43"/>
          <p:cNvSpPr/>
          <p:nvPr/>
        </p:nvSpPr>
        <p:spPr>
          <a:xfrm>
            <a:off x="2615184" y="3657600"/>
            <a:ext cx="1773936" cy="182880"/>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Délais</a:t>
            </a:r>
            <a:endParaRPr lang="en-US" sz="1050" dirty="0"/>
          </a:p>
        </p:txBody>
      </p:sp>
      <p:sp>
        <p:nvSpPr>
          <p:cNvPr id="46" name="Text 44"/>
          <p:cNvSpPr/>
          <p:nvPr/>
        </p:nvSpPr>
        <p:spPr>
          <a:xfrm>
            <a:off x="2615184" y="3858768"/>
            <a:ext cx="1773936" cy="219456"/>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6 jalons tenus, 2 semaines de marge</a:t>
            </a:r>
            <a:endParaRPr lang="en-US" sz="850" dirty="0"/>
          </a:p>
        </p:txBody>
      </p:sp>
      <p:sp>
        <p:nvSpPr>
          <p:cNvPr id="47" name="Shape 45"/>
          <p:cNvSpPr/>
          <p:nvPr/>
        </p:nvSpPr>
        <p:spPr>
          <a:xfrm>
            <a:off x="4645152" y="3602736"/>
            <a:ext cx="2029968" cy="530352"/>
          </a:xfrm>
          <a:prstGeom prst="rect">
            <a:avLst/>
          </a:prstGeom>
          <a:solidFill>
            <a:srgbClr val="FFFFFF"/>
          </a:solidFill>
          <a:ln w="12700">
            <a:solidFill>
              <a:srgbClr val="12855A"/>
            </a:solidFill>
            <a:prstDash val="solid"/>
          </a:ln>
        </p:spPr>
        <p:txBody>
          <a:bodyPr/>
          <a:lstStyle/>
          <a:p>
            <a:endParaRPr lang="fr-FR"/>
          </a:p>
        </p:txBody>
      </p:sp>
      <p:sp>
        <p:nvSpPr>
          <p:cNvPr id="48" name="Shape 46"/>
          <p:cNvSpPr/>
          <p:nvPr/>
        </p:nvSpPr>
        <p:spPr>
          <a:xfrm>
            <a:off x="4645152" y="3602736"/>
            <a:ext cx="45720" cy="530352"/>
          </a:xfrm>
          <a:prstGeom prst="rect">
            <a:avLst/>
          </a:prstGeom>
          <a:solidFill>
            <a:srgbClr val="12855A"/>
          </a:solidFill>
          <a:ln/>
        </p:spPr>
        <p:txBody>
          <a:bodyPr/>
          <a:lstStyle/>
          <a:p>
            <a:endParaRPr lang="fr-FR"/>
          </a:p>
        </p:txBody>
      </p:sp>
      <p:sp>
        <p:nvSpPr>
          <p:cNvPr id="49" name="Text 47"/>
          <p:cNvSpPr/>
          <p:nvPr/>
        </p:nvSpPr>
        <p:spPr>
          <a:xfrm>
            <a:off x="4791456" y="3657600"/>
            <a:ext cx="1773936" cy="182880"/>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Budget</a:t>
            </a:r>
            <a:endParaRPr lang="en-US" sz="1050" dirty="0"/>
          </a:p>
        </p:txBody>
      </p:sp>
      <p:sp>
        <p:nvSpPr>
          <p:cNvPr id="50" name="Text 48"/>
          <p:cNvSpPr/>
          <p:nvPr/>
        </p:nvSpPr>
        <p:spPr>
          <a:xfrm>
            <a:off x="4791456" y="3858768"/>
            <a:ext cx="1773936" cy="219456"/>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26 € par mois, conforme</a:t>
            </a:r>
            <a:endParaRPr lang="en-US" sz="850" dirty="0"/>
          </a:p>
        </p:txBody>
      </p:sp>
      <p:sp>
        <p:nvSpPr>
          <p:cNvPr id="51" name="Shape 49"/>
          <p:cNvSpPr/>
          <p:nvPr/>
        </p:nvSpPr>
        <p:spPr>
          <a:xfrm>
            <a:off x="6821424" y="3602736"/>
            <a:ext cx="2029968" cy="530352"/>
          </a:xfrm>
          <a:prstGeom prst="rect">
            <a:avLst/>
          </a:prstGeom>
          <a:solidFill>
            <a:srgbClr val="FFFFFF"/>
          </a:solidFill>
          <a:ln w="12700">
            <a:solidFill>
              <a:srgbClr val="E08A3C"/>
            </a:solidFill>
            <a:prstDash val="solid"/>
          </a:ln>
        </p:spPr>
        <p:txBody>
          <a:bodyPr/>
          <a:lstStyle/>
          <a:p>
            <a:endParaRPr lang="fr-FR"/>
          </a:p>
        </p:txBody>
      </p:sp>
      <p:sp>
        <p:nvSpPr>
          <p:cNvPr id="52" name="Shape 50"/>
          <p:cNvSpPr/>
          <p:nvPr/>
        </p:nvSpPr>
        <p:spPr>
          <a:xfrm>
            <a:off x="6821424" y="3602736"/>
            <a:ext cx="45720" cy="530352"/>
          </a:xfrm>
          <a:prstGeom prst="rect">
            <a:avLst/>
          </a:prstGeom>
          <a:solidFill>
            <a:srgbClr val="E08A3C"/>
          </a:solidFill>
          <a:ln/>
        </p:spPr>
        <p:txBody>
          <a:bodyPr/>
          <a:lstStyle/>
          <a:p>
            <a:endParaRPr lang="fr-FR"/>
          </a:p>
        </p:txBody>
      </p:sp>
      <p:sp>
        <p:nvSpPr>
          <p:cNvPr id="53" name="Text 51"/>
          <p:cNvSpPr/>
          <p:nvPr/>
        </p:nvSpPr>
        <p:spPr>
          <a:xfrm>
            <a:off x="6967728" y="3657600"/>
            <a:ext cx="1773936" cy="182880"/>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À améliorer</a:t>
            </a:r>
            <a:endParaRPr lang="en-US" sz="1050" dirty="0"/>
          </a:p>
        </p:txBody>
      </p:sp>
      <p:sp>
        <p:nvSpPr>
          <p:cNvPr id="54" name="Text 52"/>
          <p:cNvSpPr/>
          <p:nvPr/>
        </p:nvSpPr>
        <p:spPr>
          <a:xfrm>
            <a:off x="6967728" y="3858768"/>
            <a:ext cx="1773936" cy="219456"/>
          </a:xfrm>
          <a:prstGeom prst="rect">
            <a:avLst/>
          </a:prstGeom>
          <a:noFill/>
          <a:ln/>
        </p:spPr>
        <p:txBody>
          <a:bodyPr wrap="square" lIns="0" tIns="0" rIns="0" bIns="0" rtlCol="0" anchor="t"/>
          <a:lstStyle/>
          <a:p>
            <a:pPr marL="0" indent="0" algn="l">
              <a:lnSpc>
                <a:spcPct val="108000"/>
              </a:lnSpc>
              <a:buNone/>
            </a:pPr>
            <a:r>
              <a:rPr lang="en-US" sz="850" dirty="0">
                <a:solidFill>
                  <a:srgbClr val="4A5769"/>
                </a:solidFill>
                <a:latin typeface="Calibri" pitchFamily="34" charset="0"/>
                <a:ea typeface="Calibri" pitchFamily="34" charset="-122"/>
                <a:cs typeface="Calibri" pitchFamily="34" charset="-120"/>
              </a:rPr>
              <a:t>un serveur unique, énergie estimée</a:t>
            </a:r>
            <a:endParaRPr lang="en-US" sz="850" dirty="0"/>
          </a:p>
        </p:txBody>
      </p:sp>
      <p:sp>
        <p:nvSpPr>
          <p:cNvPr id="55" name="Shape 53"/>
          <p:cNvSpPr/>
          <p:nvPr/>
        </p:nvSpPr>
        <p:spPr>
          <a:xfrm>
            <a:off x="292608" y="4224528"/>
            <a:ext cx="8558784" cy="475488"/>
          </a:xfrm>
          <a:prstGeom prst="rect">
            <a:avLst/>
          </a:prstGeom>
          <a:solidFill>
            <a:srgbClr val="12263F"/>
          </a:solidFill>
          <a:ln/>
        </p:spPr>
        <p:txBody>
          <a:bodyPr/>
          <a:lstStyle/>
          <a:p>
            <a:endParaRPr lang="fr-FR"/>
          </a:p>
        </p:txBody>
      </p:sp>
      <p:sp>
        <p:nvSpPr>
          <p:cNvPr id="56" name="Shape 54"/>
          <p:cNvSpPr/>
          <p:nvPr/>
        </p:nvSpPr>
        <p:spPr>
          <a:xfrm>
            <a:off x="292608" y="4224528"/>
            <a:ext cx="45720" cy="475488"/>
          </a:xfrm>
          <a:prstGeom prst="rect">
            <a:avLst/>
          </a:prstGeom>
          <a:solidFill>
            <a:srgbClr val="E08A3C"/>
          </a:solidFill>
          <a:ln/>
        </p:spPr>
        <p:txBody>
          <a:bodyPr/>
          <a:lstStyle/>
          <a:p>
            <a:endParaRPr lang="fr-FR"/>
          </a:p>
        </p:txBody>
      </p:sp>
      <p:sp>
        <p:nvSpPr>
          <p:cNvPr id="57" name="Text 55"/>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Les cinq objectifs sont atteints. Ce qui reste alimente directement la feuille de route.</a:t>
            </a:r>
            <a:endParaRPr lang="en-US" sz="1150" dirty="0"/>
          </a:p>
        </p:txBody>
      </p:sp>
      <p:sp>
        <p:nvSpPr>
          <p:cNvPr id="58" name="Text 56"/>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7.1 - Analyse des Résultats et des Performances</a:t>
            </a:r>
            <a:endParaRPr lang="en-US" sz="750" dirty="0"/>
          </a:p>
        </p:txBody>
      </p:sp>
      <p:sp>
        <p:nvSpPr>
          <p:cNvPr id="59" name="Text 57"/>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7. Analyses et perspectives</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27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7.2 - Retour d'Expérience et Leçons Apprises</a:t>
            </a:r>
            <a:endParaRPr lang="en-US" sz="2200" dirty="0"/>
          </a:p>
        </p:txBody>
      </p:sp>
      <p:sp>
        <p:nvSpPr>
          <p:cNvPr id="7" name="Text 5"/>
          <p:cNvSpPr/>
          <p:nvPr/>
        </p:nvSpPr>
        <p:spPr>
          <a:xfrm>
            <a:off x="292608" y="1024128"/>
            <a:ext cx="8558784" cy="201168"/>
          </a:xfrm>
          <a:prstGeom prst="rect">
            <a:avLst/>
          </a:prstGeom>
          <a:noFill/>
          <a:ln/>
        </p:spPr>
        <p:txBody>
          <a:bodyPr wrap="square" lIns="0" tIns="0" rIns="0" bIns="0" rtlCol="0" anchor="ctr"/>
          <a:lstStyle/>
          <a:p>
            <a:pPr marL="0" indent="0">
              <a:buNone/>
            </a:pPr>
            <a:r>
              <a:rPr lang="en-US" sz="1050" dirty="0">
                <a:solidFill>
                  <a:srgbClr val="4A5769"/>
                </a:solidFill>
                <a:latin typeface="Calibri" pitchFamily="34" charset="0"/>
                <a:ea typeface="Calibri" pitchFamily="34" charset="-122"/>
                <a:cs typeface="Calibri" pitchFamily="34" charset="-120"/>
              </a:rPr>
              <a:t>Ce qui a marché, ce qui a résisté, et l'analyse des causes.</a:t>
            </a:r>
            <a:endParaRPr lang="en-US" sz="1050" dirty="0"/>
          </a:p>
        </p:txBody>
      </p:sp>
      <p:sp>
        <p:nvSpPr>
          <p:cNvPr id="8" name="Shape 6"/>
          <p:cNvSpPr/>
          <p:nvPr/>
        </p:nvSpPr>
        <p:spPr>
          <a:xfrm>
            <a:off x="292608" y="1335024"/>
            <a:ext cx="4206240" cy="274320"/>
          </a:xfrm>
          <a:prstGeom prst="rect">
            <a:avLst/>
          </a:prstGeom>
          <a:solidFill>
            <a:srgbClr val="12855A"/>
          </a:solidFill>
          <a:ln w="12700">
            <a:solidFill>
              <a:srgbClr val="12855A"/>
            </a:solidFill>
            <a:prstDash val="solid"/>
          </a:ln>
        </p:spPr>
        <p:txBody>
          <a:bodyPr/>
          <a:lstStyle/>
          <a:p>
            <a:endParaRPr lang="fr-FR"/>
          </a:p>
        </p:txBody>
      </p:sp>
      <p:sp>
        <p:nvSpPr>
          <p:cNvPr id="9" name="Text 7"/>
          <p:cNvSpPr/>
          <p:nvPr/>
        </p:nvSpPr>
        <p:spPr>
          <a:xfrm>
            <a:off x="438912" y="1335024"/>
            <a:ext cx="3913632" cy="274320"/>
          </a:xfrm>
          <a:prstGeom prst="rect">
            <a:avLst/>
          </a:prstGeom>
          <a:noFill/>
          <a:ln/>
        </p:spPr>
        <p:txBody>
          <a:bodyPr wrap="square" lIns="0" tIns="0" rIns="0" bIns="0" rtlCol="0" anchor="ctr"/>
          <a:lstStyle/>
          <a:p>
            <a:pPr marL="0" indent="0" algn="l">
              <a:lnSpc>
                <a:spcPct val="108000"/>
              </a:lnSpc>
              <a:buNone/>
            </a:pPr>
            <a:r>
              <a:rPr lang="en-US" sz="1000" b="1" dirty="0">
                <a:solidFill>
                  <a:srgbClr val="FFFFFF"/>
                </a:solidFill>
                <a:latin typeface="Calibri" pitchFamily="34" charset="0"/>
                <a:ea typeface="Calibri" pitchFamily="34" charset="-122"/>
                <a:cs typeface="Calibri" pitchFamily="34" charset="-120"/>
              </a:rPr>
              <a:t>CE QUI A MARCHÉ</a:t>
            </a:r>
            <a:endParaRPr lang="en-US" sz="1000" dirty="0"/>
          </a:p>
        </p:txBody>
      </p:sp>
      <p:sp>
        <p:nvSpPr>
          <p:cNvPr id="10" name="Shape 8"/>
          <p:cNvSpPr/>
          <p:nvPr/>
        </p:nvSpPr>
        <p:spPr>
          <a:xfrm>
            <a:off x="292608" y="1700784"/>
            <a:ext cx="4206240" cy="621792"/>
          </a:xfrm>
          <a:prstGeom prst="rect">
            <a:avLst/>
          </a:prstGeom>
          <a:solidFill>
            <a:srgbClr val="FFFFFF"/>
          </a:solidFill>
          <a:ln w="12700">
            <a:solidFill>
              <a:srgbClr val="12855A"/>
            </a:solidFill>
            <a:prstDash val="solid"/>
          </a:ln>
        </p:spPr>
        <p:txBody>
          <a:bodyPr/>
          <a:lstStyle/>
          <a:p>
            <a:endParaRPr lang="fr-FR"/>
          </a:p>
        </p:txBody>
      </p:sp>
      <p:sp>
        <p:nvSpPr>
          <p:cNvPr id="11" name="Text 9"/>
          <p:cNvSpPr/>
          <p:nvPr/>
        </p:nvSpPr>
        <p:spPr>
          <a:xfrm>
            <a:off x="457200" y="1773936"/>
            <a:ext cx="3877056" cy="219456"/>
          </a:xfrm>
          <a:prstGeom prst="rect">
            <a:avLst/>
          </a:prstGeom>
          <a:noFill/>
          <a:ln/>
        </p:spPr>
        <p:txBody>
          <a:bodyPr wrap="square" lIns="0" tIns="0" rIns="0" bIns="0" rtlCol="0" anchor="t"/>
          <a:lstStyle/>
          <a:p>
            <a:pPr marL="0" indent="0" algn="l">
              <a:lnSpc>
                <a:spcPct val="108000"/>
              </a:lnSpc>
              <a:buNone/>
            </a:pPr>
            <a:r>
              <a:rPr lang="en-US" sz="1200" b="1" dirty="0">
                <a:solidFill>
                  <a:srgbClr val="12263F"/>
                </a:solidFill>
                <a:latin typeface="Calibri" pitchFamily="34" charset="0"/>
                <a:ea typeface="Calibri" pitchFamily="34" charset="-122"/>
                <a:cs typeface="Calibri" pitchFamily="34" charset="-120"/>
              </a:rPr>
              <a:t>Cohérence de bout en bout</a:t>
            </a:r>
            <a:endParaRPr lang="en-US" sz="1200" dirty="0"/>
          </a:p>
        </p:txBody>
      </p:sp>
      <p:sp>
        <p:nvSpPr>
          <p:cNvPr id="12" name="Text 10"/>
          <p:cNvSpPr/>
          <p:nvPr/>
        </p:nvSpPr>
        <p:spPr>
          <a:xfrm>
            <a:off x="457200" y="1993392"/>
            <a:ext cx="3877056" cy="256032"/>
          </a:xfrm>
          <a:prstGeom prst="rect">
            <a:avLst/>
          </a:prstGeom>
          <a:noFill/>
          <a:ln/>
        </p:spPr>
        <p:txBody>
          <a:bodyPr wrap="square" lIns="0" tIns="0" rIns="0" bIns="0" rtlCol="0" anchor="t"/>
          <a:lstStyle/>
          <a:p>
            <a:pPr marL="0" indent="0" algn="l">
              <a:lnSpc>
                <a:spcPct val="108000"/>
              </a:lnSpc>
              <a:buNone/>
            </a:pPr>
            <a:r>
              <a:rPr lang="en-US" sz="950" dirty="0">
                <a:solidFill>
                  <a:srgbClr val="4A5769"/>
                </a:solidFill>
                <a:latin typeface="Calibri" pitchFamily="34" charset="0"/>
                <a:ea typeface="Calibri" pitchFamily="34" charset="-122"/>
                <a:cs typeface="Calibri" pitchFamily="34" charset="-120"/>
              </a:rPr>
              <a:t>Cause : l'infrastructure a été écrite avant l'application</a:t>
            </a:r>
            <a:endParaRPr lang="en-US" sz="950" dirty="0"/>
          </a:p>
        </p:txBody>
      </p:sp>
      <p:sp>
        <p:nvSpPr>
          <p:cNvPr id="13" name="Shape 11"/>
          <p:cNvSpPr/>
          <p:nvPr/>
        </p:nvSpPr>
        <p:spPr>
          <a:xfrm>
            <a:off x="292608" y="2414016"/>
            <a:ext cx="4206240" cy="621792"/>
          </a:xfrm>
          <a:prstGeom prst="rect">
            <a:avLst/>
          </a:prstGeom>
          <a:solidFill>
            <a:srgbClr val="FFFFFF"/>
          </a:solidFill>
          <a:ln w="12700">
            <a:solidFill>
              <a:srgbClr val="12855A"/>
            </a:solidFill>
            <a:prstDash val="solid"/>
          </a:ln>
        </p:spPr>
        <p:txBody>
          <a:bodyPr/>
          <a:lstStyle/>
          <a:p>
            <a:endParaRPr lang="fr-FR"/>
          </a:p>
        </p:txBody>
      </p:sp>
      <p:sp>
        <p:nvSpPr>
          <p:cNvPr id="14" name="Text 12"/>
          <p:cNvSpPr/>
          <p:nvPr/>
        </p:nvSpPr>
        <p:spPr>
          <a:xfrm>
            <a:off x="457200" y="2487168"/>
            <a:ext cx="3877056" cy="219456"/>
          </a:xfrm>
          <a:prstGeom prst="rect">
            <a:avLst/>
          </a:prstGeom>
          <a:noFill/>
          <a:ln/>
        </p:spPr>
        <p:txBody>
          <a:bodyPr wrap="square" lIns="0" tIns="0" rIns="0" bIns="0" rtlCol="0" anchor="t"/>
          <a:lstStyle/>
          <a:p>
            <a:pPr marL="0" indent="0" algn="l">
              <a:lnSpc>
                <a:spcPct val="108000"/>
              </a:lnSpc>
              <a:buNone/>
            </a:pPr>
            <a:r>
              <a:rPr lang="en-US" sz="1200" b="1" dirty="0">
                <a:solidFill>
                  <a:srgbClr val="12263F"/>
                </a:solidFill>
                <a:latin typeface="Calibri" pitchFamily="34" charset="0"/>
                <a:ea typeface="Calibri" pitchFamily="34" charset="-122"/>
                <a:cs typeface="Calibri" pitchFamily="34" charset="-120"/>
              </a:rPr>
              <a:t>Sécurité posée tôt</a:t>
            </a:r>
            <a:endParaRPr lang="en-US" sz="1200" dirty="0"/>
          </a:p>
        </p:txBody>
      </p:sp>
      <p:sp>
        <p:nvSpPr>
          <p:cNvPr id="15" name="Text 13"/>
          <p:cNvSpPr/>
          <p:nvPr/>
        </p:nvSpPr>
        <p:spPr>
          <a:xfrm>
            <a:off x="457200" y="2706624"/>
            <a:ext cx="3877056" cy="256032"/>
          </a:xfrm>
          <a:prstGeom prst="rect">
            <a:avLst/>
          </a:prstGeom>
          <a:noFill/>
          <a:ln/>
        </p:spPr>
        <p:txBody>
          <a:bodyPr wrap="square" lIns="0" tIns="0" rIns="0" bIns="0" rtlCol="0" anchor="t"/>
          <a:lstStyle/>
          <a:p>
            <a:pPr marL="0" indent="0" algn="l">
              <a:lnSpc>
                <a:spcPct val="108000"/>
              </a:lnSpc>
              <a:buNone/>
            </a:pPr>
            <a:r>
              <a:rPr lang="en-US" sz="950" dirty="0">
                <a:solidFill>
                  <a:srgbClr val="4A5769"/>
                </a:solidFill>
                <a:latin typeface="Calibri" pitchFamily="34" charset="0"/>
                <a:ea typeface="Calibri" pitchFamily="34" charset="-122"/>
                <a:cs typeface="Calibri" pitchFamily="34" charset="-120"/>
              </a:rPr>
              <a:t>Cause : la reprendre à la fin aurait coûté bien plus cher</a:t>
            </a:r>
            <a:endParaRPr lang="en-US" sz="950" dirty="0"/>
          </a:p>
        </p:txBody>
      </p:sp>
      <p:sp>
        <p:nvSpPr>
          <p:cNvPr id="16" name="Shape 14"/>
          <p:cNvSpPr/>
          <p:nvPr/>
        </p:nvSpPr>
        <p:spPr>
          <a:xfrm>
            <a:off x="4645152" y="1335024"/>
            <a:ext cx="4206240" cy="274320"/>
          </a:xfrm>
          <a:prstGeom prst="rect">
            <a:avLst/>
          </a:prstGeom>
          <a:solidFill>
            <a:srgbClr val="B03A48"/>
          </a:solidFill>
          <a:ln w="12700">
            <a:solidFill>
              <a:srgbClr val="B03A48"/>
            </a:solidFill>
            <a:prstDash val="solid"/>
          </a:ln>
        </p:spPr>
        <p:txBody>
          <a:bodyPr/>
          <a:lstStyle/>
          <a:p>
            <a:endParaRPr lang="fr-FR"/>
          </a:p>
        </p:txBody>
      </p:sp>
      <p:sp>
        <p:nvSpPr>
          <p:cNvPr id="17" name="Text 15"/>
          <p:cNvSpPr/>
          <p:nvPr/>
        </p:nvSpPr>
        <p:spPr>
          <a:xfrm>
            <a:off x="4791456" y="1335024"/>
            <a:ext cx="3913632" cy="274320"/>
          </a:xfrm>
          <a:prstGeom prst="rect">
            <a:avLst/>
          </a:prstGeom>
          <a:noFill/>
          <a:ln/>
        </p:spPr>
        <p:txBody>
          <a:bodyPr wrap="square" lIns="0" tIns="0" rIns="0" bIns="0" rtlCol="0" anchor="ctr"/>
          <a:lstStyle/>
          <a:p>
            <a:pPr marL="0" indent="0" algn="l">
              <a:lnSpc>
                <a:spcPct val="108000"/>
              </a:lnSpc>
              <a:buNone/>
            </a:pPr>
            <a:r>
              <a:rPr lang="en-US" sz="1000" b="1" dirty="0">
                <a:solidFill>
                  <a:srgbClr val="FFFFFF"/>
                </a:solidFill>
                <a:latin typeface="Calibri" pitchFamily="34" charset="0"/>
                <a:ea typeface="Calibri" pitchFamily="34" charset="-122"/>
                <a:cs typeface="Calibri" pitchFamily="34" charset="-120"/>
              </a:rPr>
              <a:t>CE QUI A RÉSISTÉ</a:t>
            </a:r>
            <a:endParaRPr lang="en-US" sz="1000" dirty="0"/>
          </a:p>
        </p:txBody>
      </p:sp>
      <p:sp>
        <p:nvSpPr>
          <p:cNvPr id="18" name="Shape 16"/>
          <p:cNvSpPr/>
          <p:nvPr/>
        </p:nvSpPr>
        <p:spPr>
          <a:xfrm>
            <a:off x="4645152" y="1700784"/>
            <a:ext cx="4206240" cy="621792"/>
          </a:xfrm>
          <a:prstGeom prst="rect">
            <a:avLst/>
          </a:prstGeom>
          <a:solidFill>
            <a:srgbClr val="FFFFFF"/>
          </a:solidFill>
          <a:ln w="12700">
            <a:solidFill>
              <a:srgbClr val="B03A48"/>
            </a:solidFill>
            <a:prstDash val="solid"/>
          </a:ln>
        </p:spPr>
        <p:txBody>
          <a:bodyPr/>
          <a:lstStyle/>
          <a:p>
            <a:endParaRPr lang="fr-FR"/>
          </a:p>
        </p:txBody>
      </p:sp>
      <p:sp>
        <p:nvSpPr>
          <p:cNvPr id="19" name="Text 17"/>
          <p:cNvSpPr/>
          <p:nvPr/>
        </p:nvSpPr>
        <p:spPr>
          <a:xfrm>
            <a:off x="4809744" y="1773936"/>
            <a:ext cx="3877056" cy="219456"/>
          </a:xfrm>
          <a:prstGeom prst="rect">
            <a:avLst/>
          </a:prstGeom>
          <a:noFill/>
          <a:ln/>
        </p:spPr>
        <p:txBody>
          <a:bodyPr wrap="square" lIns="0" tIns="0" rIns="0" bIns="0" rtlCol="0" anchor="t"/>
          <a:lstStyle/>
          <a:p>
            <a:pPr marL="0" indent="0" algn="l">
              <a:lnSpc>
                <a:spcPct val="108000"/>
              </a:lnSpc>
              <a:buNone/>
            </a:pPr>
            <a:r>
              <a:rPr lang="en-US" sz="1200" b="1" dirty="0">
                <a:solidFill>
                  <a:srgbClr val="12263F"/>
                </a:solidFill>
                <a:latin typeface="Calibri" pitchFamily="34" charset="0"/>
                <a:ea typeface="Calibri" pitchFamily="34" charset="-122"/>
                <a:cs typeface="Calibri" pitchFamily="34" charset="-120"/>
              </a:rPr>
              <a:t>Un seul serveur d'entrée</a:t>
            </a:r>
            <a:endParaRPr lang="en-US" sz="1200" dirty="0"/>
          </a:p>
        </p:txBody>
      </p:sp>
      <p:sp>
        <p:nvSpPr>
          <p:cNvPr id="20" name="Text 18"/>
          <p:cNvSpPr/>
          <p:nvPr/>
        </p:nvSpPr>
        <p:spPr>
          <a:xfrm>
            <a:off x="4809744" y="1993392"/>
            <a:ext cx="3877056" cy="256032"/>
          </a:xfrm>
          <a:prstGeom prst="rect">
            <a:avLst/>
          </a:prstGeom>
          <a:noFill/>
          <a:ln/>
        </p:spPr>
        <p:txBody>
          <a:bodyPr wrap="square" lIns="0" tIns="0" rIns="0" bIns="0" rtlCol="0" anchor="t"/>
          <a:lstStyle/>
          <a:p>
            <a:pPr marL="0" indent="0" algn="l">
              <a:lnSpc>
                <a:spcPct val="108000"/>
              </a:lnSpc>
              <a:buNone/>
            </a:pPr>
            <a:r>
              <a:rPr lang="en-US" sz="950" dirty="0">
                <a:solidFill>
                  <a:srgbClr val="4A5769"/>
                </a:solidFill>
                <a:latin typeface="Calibri" pitchFamily="34" charset="0"/>
                <a:ea typeface="Calibri" pitchFamily="34" charset="-122"/>
                <a:cs typeface="Calibri" pitchFamily="34" charset="-120"/>
              </a:rPr>
              <a:t>Cause : contrainte de budget, assumée</a:t>
            </a:r>
            <a:endParaRPr lang="en-US" sz="950" dirty="0"/>
          </a:p>
        </p:txBody>
      </p:sp>
      <p:sp>
        <p:nvSpPr>
          <p:cNvPr id="21" name="Shape 19"/>
          <p:cNvSpPr/>
          <p:nvPr/>
        </p:nvSpPr>
        <p:spPr>
          <a:xfrm>
            <a:off x="4645152" y="2414016"/>
            <a:ext cx="4206240" cy="621792"/>
          </a:xfrm>
          <a:prstGeom prst="rect">
            <a:avLst/>
          </a:prstGeom>
          <a:solidFill>
            <a:srgbClr val="FFFFFF"/>
          </a:solidFill>
          <a:ln w="12700">
            <a:solidFill>
              <a:srgbClr val="B03A48"/>
            </a:solidFill>
            <a:prstDash val="solid"/>
          </a:ln>
        </p:spPr>
        <p:txBody>
          <a:bodyPr/>
          <a:lstStyle/>
          <a:p>
            <a:endParaRPr lang="fr-FR"/>
          </a:p>
        </p:txBody>
      </p:sp>
      <p:sp>
        <p:nvSpPr>
          <p:cNvPr id="22" name="Text 20"/>
          <p:cNvSpPr/>
          <p:nvPr/>
        </p:nvSpPr>
        <p:spPr>
          <a:xfrm>
            <a:off x="4809744" y="2487168"/>
            <a:ext cx="3877056" cy="219456"/>
          </a:xfrm>
          <a:prstGeom prst="rect">
            <a:avLst/>
          </a:prstGeom>
          <a:noFill/>
          <a:ln/>
        </p:spPr>
        <p:txBody>
          <a:bodyPr wrap="square" lIns="0" tIns="0" rIns="0" bIns="0" rtlCol="0" anchor="t"/>
          <a:lstStyle/>
          <a:p>
            <a:pPr marL="0" indent="0" algn="l">
              <a:lnSpc>
                <a:spcPct val="108000"/>
              </a:lnSpc>
              <a:buNone/>
            </a:pPr>
            <a:r>
              <a:rPr lang="en-US" sz="1200" b="1" dirty="0">
                <a:solidFill>
                  <a:srgbClr val="12263F"/>
                </a:solidFill>
                <a:latin typeface="Calibri" pitchFamily="34" charset="0"/>
                <a:ea typeface="Calibri" pitchFamily="34" charset="-122"/>
                <a:cs typeface="Calibri" pitchFamily="34" charset="-120"/>
              </a:rPr>
              <a:t>L'énergie est estimée</a:t>
            </a:r>
            <a:endParaRPr lang="en-US" sz="1200" dirty="0"/>
          </a:p>
        </p:txBody>
      </p:sp>
      <p:sp>
        <p:nvSpPr>
          <p:cNvPr id="23" name="Text 21"/>
          <p:cNvSpPr/>
          <p:nvPr/>
        </p:nvSpPr>
        <p:spPr>
          <a:xfrm>
            <a:off x="4809744" y="2706624"/>
            <a:ext cx="3877056" cy="256032"/>
          </a:xfrm>
          <a:prstGeom prst="rect">
            <a:avLst/>
          </a:prstGeom>
          <a:noFill/>
          <a:ln/>
        </p:spPr>
        <p:txBody>
          <a:bodyPr wrap="square" lIns="0" tIns="0" rIns="0" bIns="0" rtlCol="0" anchor="t"/>
          <a:lstStyle/>
          <a:p>
            <a:pPr marL="0" indent="0" algn="l">
              <a:lnSpc>
                <a:spcPct val="108000"/>
              </a:lnSpc>
              <a:buNone/>
            </a:pPr>
            <a:r>
              <a:rPr lang="en-US" sz="950" dirty="0">
                <a:solidFill>
                  <a:srgbClr val="4A5769"/>
                </a:solidFill>
                <a:latin typeface="Calibri" pitchFamily="34" charset="0"/>
                <a:ea typeface="Calibri" pitchFamily="34" charset="-122"/>
                <a:cs typeface="Calibri" pitchFamily="34" charset="-120"/>
              </a:rPr>
              <a:t>Cause : pas de compteur physique sur du cloud</a:t>
            </a:r>
            <a:endParaRPr lang="en-US" sz="950" dirty="0"/>
          </a:p>
        </p:txBody>
      </p:sp>
      <p:sp>
        <p:nvSpPr>
          <p:cNvPr id="24" name="Text 22"/>
          <p:cNvSpPr/>
          <p:nvPr/>
        </p:nvSpPr>
        <p:spPr>
          <a:xfrm>
            <a:off x="292608" y="3182112"/>
            <a:ext cx="8558784" cy="164592"/>
          </a:xfrm>
          <a:prstGeom prst="rect">
            <a:avLst/>
          </a:prstGeom>
          <a:noFill/>
          <a:ln/>
        </p:spPr>
        <p:txBody>
          <a:bodyPr wrap="square" lIns="0" tIns="0" rIns="0" bIns="0" rtlCol="0" anchor="t"/>
          <a:lstStyle/>
          <a:p>
            <a:pPr marL="0" indent="0" algn="l">
              <a:lnSpc>
                <a:spcPct val="108000"/>
              </a:lnSpc>
              <a:buNone/>
            </a:pPr>
            <a:r>
              <a:rPr lang="en-US" sz="800" b="1" dirty="0">
                <a:solidFill>
                  <a:srgbClr val="8FA6BC"/>
                </a:solidFill>
                <a:latin typeface="Calibri" pitchFamily="34" charset="0"/>
                <a:ea typeface="Calibri" pitchFamily="34" charset="-122"/>
                <a:cs typeface="Calibri" pitchFamily="34" charset="-120"/>
              </a:rPr>
              <a:t>CE QUE J'EN GARDE POUR LA SUITE</a:t>
            </a:r>
            <a:endParaRPr lang="en-US" sz="800" dirty="0"/>
          </a:p>
        </p:txBody>
      </p:sp>
      <p:sp>
        <p:nvSpPr>
          <p:cNvPr id="25" name="Shape 23"/>
          <p:cNvSpPr/>
          <p:nvPr/>
        </p:nvSpPr>
        <p:spPr>
          <a:xfrm>
            <a:off x="292608" y="3401568"/>
            <a:ext cx="2779776" cy="548640"/>
          </a:xfrm>
          <a:prstGeom prst="roundRect">
            <a:avLst>
              <a:gd name="adj" fmla="val 8333"/>
            </a:avLst>
          </a:prstGeom>
          <a:solidFill>
            <a:srgbClr val="FFFFFF"/>
          </a:solidFill>
          <a:ln w="12700">
            <a:solidFill>
              <a:srgbClr val="1B6EC2"/>
            </a:solidFill>
            <a:prstDash val="solid"/>
          </a:ln>
        </p:spPr>
        <p:txBody>
          <a:bodyPr/>
          <a:lstStyle/>
          <a:p>
            <a:endParaRPr lang="fr-FR"/>
          </a:p>
        </p:txBody>
      </p:sp>
      <p:sp>
        <p:nvSpPr>
          <p:cNvPr id="26" name="Text 24"/>
          <p:cNvSpPr/>
          <p:nvPr/>
        </p:nvSpPr>
        <p:spPr>
          <a:xfrm>
            <a:off x="438912" y="3474720"/>
            <a:ext cx="2523744" cy="182880"/>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Documentation dans le dépôt</a:t>
            </a:r>
            <a:endParaRPr lang="en-US" sz="1050" dirty="0"/>
          </a:p>
        </p:txBody>
      </p:sp>
      <p:sp>
        <p:nvSpPr>
          <p:cNvPr id="27" name="Text 25"/>
          <p:cNvSpPr/>
          <p:nvPr/>
        </p:nvSpPr>
        <p:spPr>
          <a:xfrm>
            <a:off x="438912" y="3675888"/>
            <a:ext cx="2523744" cy="201168"/>
          </a:xfrm>
          <a:prstGeom prst="rect">
            <a:avLst/>
          </a:prstGeom>
          <a:noFill/>
          <a:ln/>
        </p:spPr>
        <p:txBody>
          <a:bodyPr wrap="square" lIns="0" tIns="0" rIns="0" bIns="0" rtlCol="0" anchor="t"/>
          <a:lstStyle/>
          <a:p>
            <a:pPr marL="0" indent="0" algn="l">
              <a:lnSpc>
                <a:spcPct val="108000"/>
              </a:lnSpc>
              <a:buNone/>
            </a:pPr>
            <a:r>
              <a:rPr lang="en-US" sz="900" dirty="0">
                <a:solidFill>
                  <a:srgbClr val="4A5769"/>
                </a:solidFill>
                <a:latin typeface="Calibri" pitchFamily="34" charset="0"/>
                <a:ea typeface="Calibri" pitchFamily="34" charset="-122"/>
                <a:cs typeface="Calibri" pitchFamily="34" charset="-120"/>
              </a:rPr>
              <a:t>sinon elle se périme</a:t>
            </a:r>
            <a:endParaRPr lang="en-US" sz="900" dirty="0"/>
          </a:p>
        </p:txBody>
      </p:sp>
      <p:sp>
        <p:nvSpPr>
          <p:cNvPr id="28" name="Shape 26"/>
          <p:cNvSpPr/>
          <p:nvPr/>
        </p:nvSpPr>
        <p:spPr>
          <a:xfrm>
            <a:off x="3182112" y="3401568"/>
            <a:ext cx="2779776" cy="548640"/>
          </a:xfrm>
          <a:prstGeom prst="roundRect">
            <a:avLst>
              <a:gd name="adj" fmla="val 8333"/>
            </a:avLst>
          </a:prstGeom>
          <a:solidFill>
            <a:srgbClr val="FFFFFF"/>
          </a:solidFill>
          <a:ln w="12700">
            <a:solidFill>
              <a:srgbClr val="6B3FD4"/>
            </a:solidFill>
            <a:prstDash val="solid"/>
          </a:ln>
        </p:spPr>
        <p:txBody>
          <a:bodyPr/>
          <a:lstStyle/>
          <a:p>
            <a:endParaRPr lang="fr-FR"/>
          </a:p>
        </p:txBody>
      </p:sp>
      <p:sp>
        <p:nvSpPr>
          <p:cNvPr id="29" name="Text 27"/>
          <p:cNvSpPr/>
          <p:nvPr/>
        </p:nvSpPr>
        <p:spPr>
          <a:xfrm>
            <a:off x="3328416" y="3474720"/>
            <a:ext cx="2523744" cy="182880"/>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Décisions écrites</a:t>
            </a:r>
            <a:endParaRPr lang="en-US" sz="1050" dirty="0"/>
          </a:p>
        </p:txBody>
      </p:sp>
      <p:sp>
        <p:nvSpPr>
          <p:cNvPr id="30" name="Text 28"/>
          <p:cNvSpPr/>
          <p:nvPr/>
        </p:nvSpPr>
        <p:spPr>
          <a:xfrm>
            <a:off x="3328416" y="3675888"/>
            <a:ext cx="2523744" cy="201168"/>
          </a:xfrm>
          <a:prstGeom prst="rect">
            <a:avLst/>
          </a:prstGeom>
          <a:noFill/>
          <a:ln/>
        </p:spPr>
        <p:txBody>
          <a:bodyPr wrap="square" lIns="0" tIns="0" rIns="0" bIns="0" rtlCol="0" anchor="t"/>
          <a:lstStyle/>
          <a:p>
            <a:pPr marL="0" indent="0" algn="l">
              <a:lnSpc>
                <a:spcPct val="108000"/>
              </a:lnSpc>
              <a:buNone/>
            </a:pPr>
            <a:r>
              <a:rPr lang="en-US" sz="900" dirty="0">
                <a:solidFill>
                  <a:srgbClr val="4A5769"/>
                </a:solidFill>
                <a:latin typeface="Calibri" pitchFamily="34" charset="0"/>
                <a:ea typeface="Calibri" pitchFamily="34" charset="-122"/>
                <a:cs typeface="Calibri" pitchFamily="34" charset="-120"/>
              </a:rPr>
              <a:t>pour rejuger sans tout refaire</a:t>
            </a:r>
            <a:endParaRPr lang="en-US" sz="900" dirty="0"/>
          </a:p>
        </p:txBody>
      </p:sp>
      <p:sp>
        <p:nvSpPr>
          <p:cNvPr id="31" name="Shape 29"/>
          <p:cNvSpPr/>
          <p:nvPr/>
        </p:nvSpPr>
        <p:spPr>
          <a:xfrm>
            <a:off x="6071616" y="3401568"/>
            <a:ext cx="2779776" cy="548640"/>
          </a:xfrm>
          <a:prstGeom prst="roundRect">
            <a:avLst>
              <a:gd name="adj" fmla="val 8333"/>
            </a:avLst>
          </a:prstGeom>
          <a:solidFill>
            <a:srgbClr val="FFFFFF"/>
          </a:solidFill>
          <a:ln w="12700">
            <a:solidFill>
              <a:srgbClr val="E08A3C"/>
            </a:solidFill>
            <a:prstDash val="solid"/>
          </a:ln>
        </p:spPr>
        <p:txBody>
          <a:bodyPr/>
          <a:lstStyle/>
          <a:p>
            <a:endParaRPr lang="fr-FR"/>
          </a:p>
        </p:txBody>
      </p:sp>
      <p:sp>
        <p:nvSpPr>
          <p:cNvPr id="32" name="Text 30"/>
          <p:cNvSpPr/>
          <p:nvPr/>
        </p:nvSpPr>
        <p:spPr>
          <a:xfrm>
            <a:off x="6217920" y="3474720"/>
            <a:ext cx="2523744" cy="182880"/>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Procédures de reprise</a:t>
            </a:r>
            <a:endParaRPr lang="en-US" sz="1050" dirty="0"/>
          </a:p>
        </p:txBody>
      </p:sp>
      <p:sp>
        <p:nvSpPr>
          <p:cNvPr id="33" name="Text 31"/>
          <p:cNvSpPr/>
          <p:nvPr/>
        </p:nvSpPr>
        <p:spPr>
          <a:xfrm>
            <a:off x="6217920" y="3675888"/>
            <a:ext cx="2523744" cy="201168"/>
          </a:xfrm>
          <a:prstGeom prst="rect">
            <a:avLst/>
          </a:prstGeom>
          <a:noFill/>
          <a:ln/>
        </p:spPr>
        <p:txBody>
          <a:bodyPr wrap="square" lIns="0" tIns="0" rIns="0" bIns="0" rtlCol="0" anchor="t"/>
          <a:lstStyle/>
          <a:p>
            <a:pPr marL="0" indent="0" algn="l">
              <a:lnSpc>
                <a:spcPct val="108000"/>
              </a:lnSpc>
              <a:buNone/>
            </a:pPr>
            <a:r>
              <a:rPr lang="en-US" sz="900" dirty="0">
                <a:solidFill>
                  <a:srgbClr val="4A5769"/>
                </a:solidFill>
                <a:latin typeface="Calibri" pitchFamily="34" charset="0"/>
                <a:ea typeface="Calibri" pitchFamily="34" charset="-122"/>
                <a:cs typeface="Calibri" pitchFamily="34" charset="-120"/>
              </a:rPr>
              <a:t>écrites pendant, pas après</a:t>
            </a:r>
            <a:endParaRPr lang="en-US" sz="900" dirty="0"/>
          </a:p>
        </p:txBody>
      </p:sp>
      <p:sp>
        <p:nvSpPr>
          <p:cNvPr id="34" name="Shape 32"/>
          <p:cNvSpPr/>
          <p:nvPr/>
        </p:nvSpPr>
        <p:spPr>
          <a:xfrm>
            <a:off x="292608" y="4224528"/>
            <a:ext cx="8558784" cy="475488"/>
          </a:xfrm>
          <a:prstGeom prst="rect">
            <a:avLst/>
          </a:prstGeom>
          <a:solidFill>
            <a:srgbClr val="12263F"/>
          </a:solidFill>
          <a:ln/>
        </p:spPr>
        <p:txBody>
          <a:bodyPr/>
          <a:lstStyle/>
          <a:p>
            <a:endParaRPr lang="fr-FR"/>
          </a:p>
        </p:txBody>
      </p:sp>
      <p:sp>
        <p:nvSpPr>
          <p:cNvPr id="35" name="Shape 33"/>
          <p:cNvSpPr/>
          <p:nvPr/>
        </p:nvSpPr>
        <p:spPr>
          <a:xfrm>
            <a:off x="292608" y="4224528"/>
            <a:ext cx="45720" cy="475488"/>
          </a:xfrm>
          <a:prstGeom prst="rect">
            <a:avLst/>
          </a:prstGeom>
          <a:solidFill>
            <a:srgbClr val="E08A3C"/>
          </a:solidFill>
          <a:ln/>
        </p:spPr>
        <p:txBody>
          <a:bodyPr/>
          <a:lstStyle/>
          <a:p>
            <a:endParaRPr lang="fr-FR"/>
          </a:p>
        </p:txBody>
      </p:sp>
      <p:sp>
        <p:nvSpPr>
          <p:cNvPr id="36" name="Text 34"/>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La mémoire du projet est un livrable à part entière, pas un sous-produit.</a:t>
            </a:r>
            <a:endParaRPr lang="en-US" sz="1150" dirty="0"/>
          </a:p>
        </p:txBody>
      </p:sp>
      <p:sp>
        <p:nvSpPr>
          <p:cNvPr id="37" name="Text 35"/>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7.2 - Retour d'Expérience et Leçons Apprises</a:t>
            </a:r>
            <a:endParaRPr lang="en-US" sz="750" dirty="0"/>
          </a:p>
        </p:txBody>
      </p:sp>
      <p:sp>
        <p:nvSpPr>
          <p:cNvPr id="38" name="Text 36"/>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7. Analyses et perspectives</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28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7.3 - Perspectives et Recommandations</a:t>
            </a:r>
            <a:endParaRPr lang="en-US" sz="2200" dirty="0"/>
          </a:p>
        </p:txBody>
      </p:sp>
      <p:sp>
        <p:nvSpPr>
          <p:cNvPr id="7" name="Text 5"/>
          <p:cNvSpPr/>
          <p:nvPr/>
        </p:nvSpPr>
        <p:spPr>
          <a:xfrm>
            <a:off x="292608" y="1024128"/>
            <a:ext cx="8558784" cy="201168"/>
          </a:xfrm>
          <a:prstGeom prst="rect">
            <a:avLst/>
          </a:prstGeom>
          <a:noFill/>
          <a:ln/>
        </p:spPr>
        <p:txBody>
          <a:bodyPr wrap="square" lIns="0" tIns="0" rIns="0" bIns="0" rtlCol="0" anchor="ctr"/>
          <a:lstStyle/>
          <a:p>
            <a:pPr marL="0" indent="0">
              <a:buNone/>
            </a:pPr>
            <a:r>
              <a:rPr lang="en-US" sz="1050" dirty="0">
                <a:solidFill>
                  <a:srgbClr val="4A5769"/>
                </a:solidFill>
                <a:latin typeface="Calibri" pitchFamily="34" charset="0"/>
                <a:ea typeface="Calibri" pitchFamily="34" charset="-122"/>
                <a:cs typeface="Calibri" pitchFamily="34" charset="-120"/>
              </a:rPr>
              <a:t>Les limites reconnues, et l'ordre dans lequel je les traiterais.</a:t>
            </a:r>
            <a:endParaRPr lang="en-US" sz="1050" dirty="0"/>
          </a:p>
        </p:txBody>
      </p:sp>
      <p:sp>
        <p:nvSpPr>
          <p:cNvPr id="8" name="Shape 6"/>
          <p:cNvSpPr/>
          <p:nvPr/>
        </p:nvSpPr>
        <p:spPr>
          <a:xfrm>
            <a:off x="548640" y="1737360"/>
            <a:ext cx="7863840" cy="0"/>
          </a:xfrm>
          <a:prstGeom prst="line">
            <a:avLst/>
          </a:prstGeom>
          <a:noFill/>
          <a:ln w="31750">
            <a:solidFill>
              <a:srgbClr val="DDE4EA"/>
            </a:solidFill>
            <a:prstDash val="solid"/>
          </a:ln>
        </p:spPr>
        <p:txBody>
          <a:bodyPr/>
          <a:lstStyle/>
          <a:p>
            <a:endParaRPr lang="fr-FR"/>
          </a:p>
        </p:txBody>
      </p:sp>
      <p:sp>
        <p:nvSpPr>
          <p:cNvPr id="9" name="Shape 7"/>
          <p:cNvSpPr/>
          <p:nvPr/>
        </p:nvSpPr>
        <p:spPr>
          <a:xfrm>
            <a:off x="1591056" y="1591056"/>
            <a:ext cx="292608" cy="292608"/>
          </a:xfrm>
          <a:prstGeom prst="ellipse">
            <a:avLst/>
          </a:prstGeom>
          <a:solidFill>
            <a:srgbClr val="12855A"/>
          </a:solidFill>
          <a:ln w="25400">
            <a:solidFill>
              <a:srgbClr val="FFFFFF"/>
            </a:solidFill>
            <a:prstDash val="solid"/>
          </a:ln>
        </p:spPr>
        <p:txBody>
          <a:bodyPr/>
          <a:lstStyle/>
          <a:p>
            <a:endParaRPr lang="fr-FR"/>
          </a:p>
        </p:txBody>
      </p:sp>
      <p:sp>
        <p:nvSpPr>
          <p:cNvPr id="10" name="Text 8"/>
          <p:cNvSpPr/>
          <p:nvPr/>
        </p:nvSpPr>
        <p:spPr>
          <a:xfrm>
            <a:off x="457200" y="1316736"/>
            <a:ext cx="2560320" cy="182880"/>
          </a:xfrm>
          <a:prstGeom prst="rect">
            <a:avLst/>
          </a:prstGeom>
          <a:noFill/>
          <a:ln/>
        </p:spPr>
        <p:txBody>
          <a:bodyPr wrap="square" lIns="0" tIns="0" rIns="0" bIns="0" rtlCol="0" anchor="t"/>
          <a:lstStyle/>
          <a:p>
            <a:pPr marL="0" indent="0" algn="ctr">
              <a:lnSpc>
                <a:spcPct val="108000"/>
              </a:lnSpc>
              <a:buNone/>
            </a:pPr>
            <a:r>
              <a:rPr lang="en-US" sz="900" b="1" dirty="0">
                <a:solidFill>
                  <a:srgbClr val="12855A"/>
                </a:solidFill>
                <a:latin typeface="Calibri" pitchFamily="34" charset="0"/>
                <a:ea typeface="Calibri" pitchFamily="34" charset="-122"/>
                <a:cs typeface="Calibri" pitchFamily="34" charset="-120"/>
              </a:rPr>
              <a:t>COURT TERME</a:t>
            </a:r>
            <a:endParaRPr lang="en-US" sz="900" dirty="0"/>
          </a:p>
        </p:txBody>
      </p:sp>
      <p:sp>
        <p:nvSpPr>
          <p:cNvPr id="11" name="Shape 9"/>
          <p:cNvSpPr/>
          <p:nvPr/>
        </p:nvSpPr>
        <p:spPr>
          <a:xfrm>
            <a:off x="457200" y="2048256"/>
            <a:ext cx="2560320" cy="1188720"/>
          </a:xfrm>
          <a:prstGeom prst="rect">
            <a:avLst/>
          </a:prstGeom>
          <a:solidFill>
            <a:srgbClr val="FFFFFF"/>
          </a:solidFill>
          <a:ln w="12700">
            <a:solidFill>
              <a:srgbClr val="12855A"/>
            </a:solidFill>
            <a:prstDash val="solid"/>
          </a:ln>
        </p:spPr>
        <p:txBody>
          <a:bodyPr/>
          <a:lstStyle/>
          <a:p>
            <a:endParaRPr lang="fr-FR"/>
          </a:p>
        </p:txBody>
      </p:sp>
      <p:sp>
        <p:nvSpPr>
          <p:cNvPr id="12" name="Shape 10"/>
          <p:cNvSpPr/>
          <p:nvPr/>
        </p:nvSpPr>
        <p:spPr>
          <a:xfrm>
            <a:off x="457200" y="2048256"/>
            <a:ext cx="2560320" cy="45720"/>
          </a:xfrm>
          <a:prstGeom prst="rect">
            <a:avLst/>
          </a:prstGeom>
          <a:solidFill>
            <a:srgbClr val="12855A"/>
          </a:solidFill>
          <a:ln/>
        </p:spPr>
        <p:txBody>
          <a:bodyPr/>
          <a:lstStyle/>
          <a:p>
            <a:endParaRPr lang="fr-FR"/>
          </a:p>
        </p:txBody>
      </p:sp>
      <p:sp>
        <p:nvSpPr>
          <p:cNvPr id="13" name="Text 11"/>
          <p:cNvSpPr/>
          <p:nvPr/>
        </p:nvSpPr>
        <p:spPr>
          <a:xfrm>
            <a:off x="603504" y="2212848"/>
            <a:ext cx="2267712" cy="438912"/>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 Trois serveurs d'entrée au lieu d'un</a:t>
            </a:r>
            <a:endParaRPr lang="en-US" sz="1050" dirty="0"/>
          </a:p>
        </p:txBody>
      </p:sp>
      <p:sp>
        <p:nvSpPr>
          <p:cNvPr id="14" name="Text 12"/>
          <p:cNvSpPr/>
          <p:nvPr/>
        </p:nvSpPr>
        <p:spPr>
          <a:xfrm>
            <a:off x="603504" y="2688336"/>
            <a:ext cx="2267712" cy="438912"/>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 Exercice de reprise programmé sur un environnement de test</a:t>
            </a:r>
            <a:endParaRPr lang="en-US" sz="1050" dirty="0"/>
          </a:p>
        </p:txBody>
      </p:sp>
      <p:sp>
        <p:nvSpPr>
          <p:cNvPr id="15" name="Shape 13"/>
          <p:cNvSpPr/>
          <p:nvPr/>
        </p:nvSpPr>
        <p:spPr>
          <a:xfrm>
            <a:off x="4425696" y="1591056"/>
            <a:ext cx="292608" cy="292608"/>
          </a:xfrm>
          <a:prstGeom prst="ellipse">
            <a:avLst/>
          </a:prstGeom>
          <a:solidFill>
            <a:srgbClr val="1B6EC2"/>
          </a:solidFill>
          <a:ln w="25400">
            <a:solidFill>
              <a:srgbClr val="FFFFFF"/>
            </a:solidFill>
            <a:prstDash val="solid"/>
          </a:ln>
        </p:spPr>
        <p:txBody>
          <a:bodyPr/>
          <a:lstStyle/>
          <a:p>
            <a:endParaRPr lang="fr-FR"/>
          </a:p>
        </p:txBody>
      </p:sp>
      <p:sp>
        <p:nvSpPr>
          <p:cNvPr id="16" name="Text 14"/>
          <p:cNvSpPr/>
          <p:nvPr/>
        </p:nvSpPr>
        <p:spPr>
          <a:xfrm>
            <a:off x="3291840" y="1316736"/>
            <a:ext cx="2560320" cy="182880"/>
          </a:xfrm>
          <a:prstGeom prst="rect">
            <a:avLst/>
          </a:prstGeom>
          <a:noFill/>
          <a:ln/>
        </p:spPr>
        <p:txBody>
          <a:bodyPr wrap="square" lIns="0" tIns="0" rIns="0" bIns="0" rtlCol="0" anchor="t"/>
          <a:lstStyle/>
          <a:p>
            <a:pPr marL="0" indent="0" algn="ctr">
              <a:lnSpc>
                <a:spcPct val="108000"/>
              </a:lnSpc>
              <a:buNone/>
            </a:pPr>
            <a:r>
              <a:rPr lang="en-US" sz="900" b="1" dirty="0">
                <a:solidFill>
                  <a:srgbClr val="1B6EC2"/>
                </a:solidFill>
                <a:latin typeface="Calibri" pitchFamily="34" charset="0"/>
                <a:ea typeface="Calibri" pitchFamily="34" charset="-122"/>
                <a:cs typeface="Calibri" pitchFamily="34" charset="-120"/>
              </a:rPr>
              <a:t>MOYEN TERME</a:t>
            </a:r>
            <a:endParaRPr lang="en-US" sz="900" dirty="0"/>
          </a:p>
        </p:txBody>
      </p:sp>
      <p:sp>
        <p:nvSpPr>
          <p:cNvPr id="17" name="Shape 15"/>
          <p:cNvSpPr/>
          <p:nvPr/>
        </p:nvSpPr>
        <p:spPr>
          <a:xfrm>
            <a:off x="3291840" y="2048256"/>
            <a:ext cx="2560320" cy="1188720"/>
          </a:xfrm>
          <a:prstGeom prst="rect">
            <a:avLst/>
          </a:prstGeom>
          <a:solidFill>
            <a:srgbClr val="FFFFFF"/>
          </a:solidFill>
          <a:ln w="12700">
            <a:solidFill>
              <a:srgbClr val="1B6EC2"/>
            </a:solidFill>
            <a:prstDash val="solid"/>
          </a:ln>
        </p:spPr>
        <p:txBody>
          <a:bodyPr/>
          <a:lstStyle/>
          <a:p>
            <a:endParaRPr lang="fr-FR"/>
          </a:p>
        </p:txBody>
      </p:sp>
      <p:sp>
        <p:nvSpPr>
          <p:cNvPr id="18" name="Shape 16"/>
          <p:cNvSpPr/>
          <p:nvPr/>
        </p:nvSpPr>
        <p:spPr>
          <a:xfrm>
            <a:off x="3291840" y="2048256"/>
            <a:ext cx="2560320" cy="45720"/>
          </a:xfrm>
          <a:prstGeom prst="rect">
            <a:avLst/>
          </a:prstGeom>
          <a:solidFill>
            <a:srgbClr val="1B6EC2"/>
          </a:solidFill>
          <a:ln/>
        </p:spPr>
        <p:txBody>
          <a:bodyPr/>
          <a:lstStyle/>
          <a:p>
            <a:endParaRPr lang="fr-FR"/>
          </a:p>
        </p:txBody>
      </p:sp>
      <p:sp>
        <p:nvSpPr>
          <p:cNvPr id="19" name="Text 17"/>
          <p:cNvSpPr/>
          <p:nvPr/>
        </p:nvSpPr>
        <p:spPr>
          <a:xfrm>
            <a:off x="3438144" y="2212848"/>
            <a:ext cx="2267712" cy="438912"/>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 Analyser aussi la logique du code</a:t>
            </a:r>
            <a:endParaRPr lang="en-US" sz="1050" dirty="0"/>
          </a:p>
        </p:txBody>
      </p:sp>
      <p:sp>
        <p:nvSpPr>
          <p:cNvPr id="20" name="Text 18"/>
          <p:cNvSpPr/>
          <p:nvPr/>
        </p:nvSpPr>
        <p:spPr>
          <a:xfrm>
            <a:off x="3438144" y="2688336"/>
            <a:ext cx="2267712" cy="438912"/>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 Accessibilité : audit puis correction</a:t>
            </a:r>
            <a:endParaRPr lang="en-US" sz="1050" dirty="0"/>
          </a:p>
        </p:txBody>
      </p:sp>
      <p:sp>
        <p:nvSpPr>
          <p:cNvPr id="21" name="Shape 19"/>
          <p:cNvSpPr/>
          <p:nvPr/>
        </p:nvSpPr>
        <p:spPr>
          <a:xfrm>
            <a:off x="7260336" y="1591056"/>
            <a:ext cx="292608" cy="292608"/>
          </a:xfrm>
          <a:prstGeom prst="ellipse">
            <a:avLst/>
          </a:prstGeom>
          <a:solidFill>
            <a:srgbClr val="6B3FD4"/>
          </a:solidFill>
          <a:ln w="25400">
            <a:solidFill>
              <a:srgbClr val="FFFFFF"/>
            </a:solidFill>
            <a:prstDash val="solid"/>
          </a:ln>
        </p:spPr>
        <p:txBody>
          <a:bodyPr/>
          <a:lstStyle/>
          <a:p>
            <a:endParaRPr lang="fr-FR"/>
          </a:p>
        </p:txBody>
      </p:sp>
      <p:sp>
        <p:nvSpPr>
          <p:cNvPr id="22" name="Text 20"/>
          <p:cNvSpPr/>
          <p:nvPr/>
        </p:nvSpPr>
        <p:spPr>
          <a:xfrm>
            <a:off x="6126480" y="1316736"/>
            <a:ext cx="2560320" cy="182880"/>
          </a:xfrm>
          <a:prstGeom prst="rect">
            <a:avLst/>
          </a:prstGeom>
          <a:noFill/>
          <a:ln/>
        </p:spPr>
        <p:txBody>
          <a:bodyPr wrap="square" lIns="0" tIns="0" rIns="0" bIns="0" rtlCol="0" anchor="t"/>
          <a:lstStyle/>
          <a:p>
            <a:pPr marL="0" indent="0" algn="ctr">
              <a:lnSpc>
                <a:spcPct val="108000"/>
              </a:lnSpc>
              <a:buNone/>
            </a:pPr>
            <a:r>
              <a:rPr lang="en-US" sz="900" b="1" dirty="0">
                <a:solidFill>
                  <a:srgbClr val="6B3FD4"/>
                </a:solidFill>
                <a:latin typeface="Calibri" pitchFamily="34" charset="0"/>
                <a:ea typeface="Calibri" pitchFamily="34" charset="-122"/>
                <a:cs typeface="Calibri" pitchFamily="34" charset="-120"/>
              </a:rPr>
              <a:t>PLUS TARD</a:t>
            </a:r>
            <a:endParaRPr lang="en-US" sz="900" dirty="0"/>
          </a:p>
        </p:txBody>
      </p:sp>
      <p:sp>
        <p:nvSpPr>
          <p:cNvPr id="23" name="Shape 21"/>
          <p:cNvSpPr/>
          <p:nvPr/>
        </p:nvSpPr>
        <p:spPr>
          <a:xfrm>
            <a:off x="6126480" y="2048256"/>
            <a:ext cx="2560320" cy="1188720"/>
          </a:xfrm>
          <a:prstGeom prst="rect">
            <a:avLst/>
          </a:prstGeom>
          <a:solidFill>
            <a:srgbClr val="FFFFFF"/>
          </a:solidFill>
          <a:ln w="12700">
            <a:solidFill>
              <a:srgbClr val="6B3FD4"/>
            </a:solidFill>
            <a:prstDash val="solid"/>
          </a:ln>
        </p:spPr>
        <p:txBody>
          <a:bodyPr/>
          <a:lstStyle/>
          <a:p>
            <a:endParaRPr lang="fr-FR"/>
          </a:p>
        </p:txBody>
      </p:sp>
      <p:sp>
        <p:nvSpPr>
          <p:cNvPr id="24" name="Shape 22"/>
          <p:cNvSpPr/>
          <p:nvPr/>
        </p:nvSpPr>
        <p:spPr>
          <a:xfrm>
            <a:off x="6126480" y="2048256"/>
            <a:ext cx="2560320" cy="45720"/>
          </a:xfrm>
          <a:prstGeom prst="rect">
            <a:avLst/>
          </a:prstGeom>
          <a:solidFill>
            <a:srgbClr val="6B3FD4"/>
          </a:solidFill>
          <a:ln/>
        </p:spPr>
        <p:txBody>
          <a:bodyPr/>
          <a:lstStyle/>
          <a:p>
            <a:endParaRPr lang="fr-FR"/>
          </a:p>
        </p:txBody>
      </p:sp>
      <p:sp>
        <p:nvSpPr>
          <p:cNvPr id="25" name="Text 23"/>
          <p:cNvSpPr/>
          <p:nvPr/>
        </p:nvSpPr>
        <p:spPr>
          <a:xfrm>
            <a:off x="6272784" y="2212848"/>
            <a:ext cx="2267712" cy="438912"/>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 Livrer par paliers, sur une partie du trafic</a:t>
            </a:r>
            <a:endParaRPr lang="en-US" sz="1050" dirty="0"/>
          </a:p>
        </p:txBody>
      </p:sp>
      <p:sp>
        <p:nvSpPr>
          <p:cNvPr id="26" name="Text 24"/>
          <p:cNvSpPr/>
          <p:nvPr/>
        </p:nvSpPr>
        <p:spPr>
          <a:xfrm>
            <a:off x="6272784" y="2688336"/>
            <a:ext cx="2267712" cy="438912"/>
          </a:xfrm>
          <a:prstGeom prst="rect">
            <a:avLst/>
          </a:prstGeom>
          <a:noFill/>
          <a:ln/>
        </p:spPr>
        <p:txBody>
          <a:bodyPr wrap="square" lIns="0" tIns="0" rIns="0" bIns="0" rtlCol="0" anchor="t"/>
          <a:lstStyle/>
          <a:p>
            <a:pPr marL="0" indent="0" algn="l">
              <a:lnSpc>
                <a:spcPct val="108000"/>
              </a:lnSpc>
              <a:buNone/>
            </a:pPr>
            <a:r>
              <a:rPr lang="en-US" sz="1050" b="1" dirty="0">
                <a:solidFill>
                  <a:srgbClr val="12263F"/>
                </a:solidFill>
                <a:latin typeface="Calibri" pitchFamily="34" charset="0"/>
                <a:ea typeface="Calibri" pitchFamily="34" charset="-122"/>
                <a:cs typeface="Calibri" pitchFamily="34" charset="-120"/>
              </a:rPr>
              <a:t>• Mesurer l'énergie physiquement</a:t>
            </a:r>
            <a:endParaRPr lang="en-US" sz="1050" dirty="0"/>
          </a:p>
        </p:txBody>
      </p:sp>
      <p:sp>
        <p:nvSpPr>
          <p:cNvPr id="27" name="Shape 25"/>
          <p:cNvSpPr/>
          <p:nvPr/>
        </p:nvSpPr>
        <p:spPr>
          <a:xfrm>
            <a:off x="292608" y="3419856"/>
            <a:ext cx="8558784" cy="566928"/>
          </a:xfrm>
          <a:prstGeom prst="rect">
            <a:avLst/>
          </a:prstGeom>
          <a:solidFill>
            <a:srgbClr val="F4F7FA"/>
          </a:solidFill>
          <a:ln w="12700">
            <a:solidFill>
              <a:srgbClr val="E08A3C"/>
            </a:solidFill>
            <a:prstDash val="solid"/>
          </a:ln>
        </p:spPr>
        <p:txBody>
          <a:bodyPr/>
          <a:lstStyle/>
          <a:p>
            <a:endParaRPr lang="fr-FR"/>
          </a:p>
        </p:txBody>
      </p:sp>
      <p:sp>
        <p:nvSpPr>
          <p:cNvPr id="28" name="Text 26"/>
          <p:cNvSpPr/>
          <p:nvPr/>
        </p:nvSpPr>
        <p:spPr>
          <a:xfrm>
            <a:off x="475488" y="3419856"/>
            <a:ext cx="8229600" cy="566928"/>
          </a:xfrm>
          <a:prstGeom prst="rect">
            <a:avLst/>
          </a:prstGeom>
          <a:noFill/>
          <a:ln/>
        </p:spPr>
        <p:txBody>
          <a:bodyPr wrap="square" lIns="0" tIns="0" rIns="0" bIns="0" rtlCol="0" anchor="ctr"/>
          <a:lstStyle/>
          <a:p>
            <a:pPr marL="0" indent="0" algn="l">
              <a:lnSpc>
                <a:spcPct val="108000"/>
              </a:lnSpc>
              <a:buNone/>
            </a:pPr>
            <a:r>
              <a:rPr lang="en-US" sz="1150" b="1" dirty="0">
                <a:solidFill>
                  <a:srgbClr val="12263F"/>
                </a:solidFill>
                <a:latin typeface="Calibri" pitchFamily="34" charset="0"/>
                <a:ea typeface="Calibri" pitchFamily="34" charset="-122"/>
                <a:cs typeface="Calibri" pitchFamily="34" charset="-120"/>
              </a:rPr>
              <a:t>Chaque point suit la même boucle : mesurer, prioriser, réaliser, mesurer à nouveau.</a:t>
            </a:r>
            <a:endParaRPr lang="en-US" sz="1150" dirty="0"/>
          </a:p>
        </p:txBody>
      </p:sp>
      <p:sp>
        <p:nvSpPr>
          <p:cNvPr id="29" name="Shape 27"/>
          <p:cNvSpPr/>
          <p:nvPr/>
        </p:nvSpPr>
        <p:spPr>
          <a:xfrm>
            <a:off x="292608" y="4224528"/>
            <a:ext cx="8558784" cy="475488"/>
          </a:xfrm>
          <a:prstGeom prst="rect">
            <a:avLst/>
          </a:prstGeom>
          <a:solidFill>
            <a:srgbClr val="12263F"/>
          </a:solidFill>
          <a:ln/>
        </p:spPr>
        <p:txBody>
          <a:bodyPr/>
          <a:lstStyle/>
          <a:p>
            <a:endParaRPr lang="fr-FR"/>
          </a:p>
        </p:txBody>
      </p:sp>
      <p:sp>
        <p:nvSpPr>
          <p:cNvPr id="30" name="Shape 28"/>
          <p:cNvSpPr/>
          <p:nvPr/>
        </p:nvSpPr>
        <p:spPr>
          <a:xfrm>
            <a:off x="292608" y="4224528"/>
            <a:ext cx="45720" cy="475488"/>
          </a:xfrm>
          <a:prstGeom prst="rect">
            <a:avLst/>
          </a:prstGeom>
          <a:solidFill>
            <a:srgbClr val="E08A3C"/>
          </a:solidFill>
          <a:ln/>
        </p:spPr>
        <p:txBody>
          <a:bodyPr/>
          <a:lstStyle/>
          <a:p>
            <a:endParaRPr lang="fr-FR"/>
          </a:p>
        </p:txBody>
      </p:sp>
      <p:sp>
        <p:nvSpPr>
          <p:cNvPr id="31" name="Text 29"/>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Chaque point suit la même boucle : mesurer, prioriser, réaliser, mesurer à nouveau.</a:t>
            </a:r>
            <a:endParaRPr lang="en-US" sz="1150" dirty="0"/>
          </a:p>
        </p:txBody>
      </p:sp>
      <p:sp>
        <p:nvSpPr>
          <p:cNvPr id="32" name="Text 30"/>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7.3 - Perspectives et Recommandations</a:t>
            </a:r>
            <a:endParaRPr lang="en-US" sz="750" dirty="0"/>
          </a:p>
        </p:txBody>
      </p:sp>
      <p:sp>
        <p:nvSpPr>
          <p:cNvPr id="33" name="Text 31"/>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8. Conclusion et remerciements</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29 / 30</a:t>
            </a:r>
            <a:endParaRPr lang="en-US" sz="900" dirty="0"/>
          </a:p>
        </p:txBody>
      </p:sp>
      <p:sp>
        <p:nvSpPr>
          <p:cNvPr id="6" name="Text 4"/>
          <p:cNvSpPr/>
          <p:nvPr/>
        </p:nvSpPr>
        <p:spPr>
          <a:xfrm>
            <a:off x="292608" y="603504"/>
            <a:ext cx="8558784" cy="384048"/>
          </a:xfrm>
          <a:prstGeom prst="rect">
            <a:avLst/>
          </a:prstGeom>
          <a:noFill/>
          <a:ln/>
        </p:spPr>
        <p:txBody>
          <a:bodyPr wrap="square" lIns="0" tIns="0" rIns="0" bIns="0" rtlCol="0" anchor="ctr"/>
          <a:lstStyle/>
          <a:p>
            <a:pPr marL="0" indent="0">
              <a:buNone/>
            </a:pPr>
            <a:r>
              <a:rPr lang="en-US" sz="2200" b="1" dirty="0">
                <a:solidFill>
                  <a:srgbClr val="12263F"/>
                </a:solidFill>
                <a:latin typeface="Calibri" pitchFamily="34" charset="0"/>
                <a:ea typeface="Calibri" pitchFamily="34" charset="-122"/>
                <a:cs typeface="Calibri" pitchFamily="34" charset="-120"/>
              </a:rPr>
              <a:t>8.1 - Conclusion</a:t>
            </a:r>
            <a:endParaRPr lang="en-US" sz="2200" dirty="0"/>
          </a:p>
        </p:txBody>
      </p:sp>
      <p:sp>
        <p:nvSpPr>
          <p:cNvPr id="7" name="Shape 5"/>
          <p:cNvSpPr/>
          <p:nvPr/>
        </p:nvSpPr>
        <p:spPr>
          <a:xfrm>
            <a:off x="292608" y="1316736"/>
            <a:ext cx="8558784" cy="566928"/>
          </a:xfrm>
          <a:prstGeom prst="rect">
            <a:avLst/>
          </a:prstGeom>
          <a:solidFill>
            <a:srgbClr val="12263F"/>
          </a:solidFill>
          <a:ln w="12700">
            <a:solidFill>
              <a:srgbClr val="12263F"/>
            </a:solidFill>
            <a:prstDash val="solid"/>
          </a:ln>
        </p:spPr>
        <p:txBody>
          <a:bodyPr/>
          <a:lstStyle/>
          <a:p>
            <a:endParaRPr lang="fr-FR"/>
          </a:p>
        </p:txBody>
      </p:sp>
      <p:sp>
        <p:nvSpPr>
          <p:cNvPr id="8" name="Text 6"/>
          <p:cNvSpPr/>
          <p:nvPr/>
        </p:nvSpPr>
        <p:spPr>
          <a:xfrm>
            <a:off x="475488" y="1316736"/>
            <a:ext cx="8229600" cy="566928"/>
          </a:xfrm>
          <a:prstGeom prst="rect">
            <a:avLst/>
          </a:prstGeom>
          <a:noFill/>
          <a:ln/>
        </p:spPr>
        <p:txBody>
          <a:bodyPr wrap="square" lIns="0" tIns="0" rIns="0" bIns="0" rtlCol="0" anchor="ctr"/>
          <a:lstStyle/>
          <a:p>
            <a:pPr marL="0" indent="0" algn="l">
              <a:lnSpc>
                <a:spcPct val="108000"/>
              </a:lnSpc>
              <a:buNone/>
            </a:pPr>
            <a:r>
              <a:rPr lang="en-US" sz="1300" b="1" dirty="0">
                <a:solidFill>
                  <a:srgbClr val="FFFFFF"/>
                </a:solidFill>
                <a:latin typeface="Calibri" pitchFamily="34" charset="0"/>
                <a:ea typeface="Calibri" pitchFamily="34" charset="-122"/>
                <a:cs typeface="Calibri" pitchFamily="34" charset="-120"/>
              </a:rPr>
              <a:t>Comment tenir ensemble automatisation, sécurité, écologie et maîtrise des coûts ?</a:t>
            </a:r>
            <a:endParaRPr lang="en-US" sz="1300" dirty="0"/>
          </a:p>
        </p:txBody>
      </p:sp>
      <p:sp>
        <p:nvSpPr>
          <p:cNvPr id="9" name="Shape 7"/>
          <p:cNvSpPr/>
          <p:nvPr/>
        </p:nvSpPr>
        <p:spPr>
          <a:xfrm>
            <a:off x="4572000" y="1938528"/>
            <a:ext cx="0" cy="182880"/>
          </a:xfrm>
          <a:prstGeom prst="line">
            <a:avLst/>
          </a:prstGeom>
          <a:noFill/>
          <a:ln w="22225">
            <a:solidFill>
              <a:srgbClr val="8FA6BC"/>
            </a:solidFill>
            <a:prstDash val="solid"/>
            <a:tailEnd type="triangle"/>
          </a:ln>
        </p:spPr>
        <p:txBody>
          <a:bodyPr/>
          <a:lstStyle/>
          <a:p>
            <a:endParaRPr lang="fr-FR"/>
          </a:p>
        </p:txBody>
      </p:sp>
      <p:sp>
        <p:nvSpPr>
          <p:cNvPr id="10" name="Shape 8"/>
          <p:cNvSpPr/>
          <p:nvPr/>
        </p:nvSpPr>
        <p:spPr>
          <a:xfrm>
            <a:off x="292608" y="2212848"/>
            <a:ext cx="2779776" cy="1097280"/>
          </a:xfrm>
          <a:prstGeom prst="rect">
            <a:avLst/>
          </a:prstGeom>
          <a:solidFill>
            <a:srgbClr val="FFFFFF"/>
          </a:solidFill>
          <a:ln w="12700">
            <a:solidFill>
              <a:srgbClr val="12855A"/>
            </a:solidFill>
            <a:prstDash val="solid"/>
          </a:ln>
        </p:spPr>
        <p:txBody>
          <a:bodyPr/>
          <a:lstStyle/>
          <a:p>
            <a:endParaRPr lang="fr-FR"/>
          </a:p>
        </p:txBody>
      </p:sp>
      <p:sp>
        <p:nvSpPr>
          <p:cNvPr id="11" name="Shape 9"/>
          <p:cNvSpPr/>
          <p:nvPr/>
        </p:nvSpPr>
        <p:spPr>
          <a:xfrm>
            <a:off x="292608" y="2212848"/>
            <a:ext cx="2779776" cy="45720"/>
          </a:xfrm>
          <a:prstGeom prst="rect">
            <a:avLst/>
          </a:prstGeom>
          <a:solidFill>
            <a:srgbClr val="12855A"/>
          </a:solidFill>
          <a:ln/>
        </p:spPr>
        <p:txBody>
          <a:bodyPr/>
          <a:lstStyle/>
          <a:p>
            <a:endParaRPr lang="fr-FR"/>
          </a:p>
        </p:txBody>
      </p:sp>
      <p:sp>
        <p:nvSpPr>
          <p:cNvPr id="12" name="Text 10"/>
          <p:cNvSpPr/>
          <p:nvPr/>
        </p:nvSpPr>
        <p:spPr>
          <a:xfrm>
            <a:off x="457200" y="2340864"/>
            <a:ext cx="2450592" cy="237744"/>
          </a:xfrm>
          <a:prstGeom prst="rect">
            <a:avLst/>
          </a:prstGeom>
          <a:noFill/>
          <a:ln/>
        </p:spPr>
        <p:txBody>
          <a:bodyPr wrap="square" lIns="0" tIns="0" rIns="0" bIns="0" rtlCol="0" anchor="t"/>
          <a:lstStyle/>
          <a:p>
            <a:pPr marL="0" indent="0" algn="l">
              <a:lnSpc>
                <a:spcPct val="108000"/>
              </a:lnSpc>
              <a:buNone/>
            </a:pPr>
            <a:r>
              <a:rPr lang="en-US" sz="1400" b="1" dirty="0">
                <a:solidFill>
                  <a:srgbClr val="12855A"/>
                </a:solidFill>
                <a:latin typeface="Calibri" pitchFamily="34" charset="0"/>
                <a:ea typeface="Calibri" pitchFamily="34" charset="-122"/>
                <a:cs typeface="Calibri" pitchFamily="34" charset="-120"/>
              </a:rPr>
              <a:t>C'est fait</a:t>
            </a:r>
            <a:endParaRPr lang="en-US" sz="1400" dirty="0"/>
          </a:p>
        </p:txBody>
      </p:sp>
      <p:sp>
        <p:nvSpPr>
          <p:cNvPr id="13" name="Text 11"/>
          <p:cNvSpPr/>
          <p:nvPr/>
        </p:nvSpPr>
        <p:spPr>
          <a:xfrm>
            <a:off x="457200" y="2615184"/>
            <a:ext cx="2450592" cy="603504"/>
          </a:xfrm>
          <a:prstGeom prst="rect">
            <a:avLst/>
          </a:prstGeom>
          <a:noFill/>
          <a:ln/>
        </p:spPr>
        <p:txBody>
          <a:bodyPr wrap="square" lIns="0" tIns="0" rIns="0" bIns="0" rtlCol="0" anchor="t"/>
          <a:lstStyle/>
          <a:p>
            <a:pPr marL="0" indent="0" algn="l">
              <a:lnSpc>
                <a:spcPct val="108000"/>
              </a:lnSpc>
              <a:buNone/>
            </a:pPr>
            <a:r>
              <a:rPr lang="en-US" sz="1050" dirty="0">
                <a:solidFill>
                  <a:srgbClr val="4A5769"/>
                </a:solidFill>
                <a:latin typeface="Calibri" pitchFamily="34" charset="0"/>
                <a:ea typeface="Calibri" pitchFamily="34" charset="-122"/>
                <a:cs typeface="Calibri" pitchFamily="34" charset="-120"/>
              </a:rPr>
              <a:t>L'infrastructure est automatisée, sécurisée et sobre, et elle livre toute seule</a:t>
            </a:r>
            <a:endParaRPr lang="en-US" sz="1050" dirty="0"/>
          </a:p>
        </p:txBody>
      </p:sp>
      <p:sp>
        <p:nvSpPr>
          <p:cNvPr id="14" name="Shape 12"/>
          <p:cNvSpPr/>
          <p:nvPr/>
        </p:nvSpPr>
        <p:spPr>
          <a:xfrm>
            <a:off x="3182112" y="2212848"/>
            <a:ext cx="2779776" cy="1097280"/>
          </a:xfrm>
          <a:prstGeom prst="rect">
            <a:avLst/>
          </a:prstGeom>
          <a:solidFill>
            <a:srgbClr val="FFFFFF"/>
          </a:solidFill>
          <a:ln w="12700">
            <a:solidFill>
              <a:srgbClr val="1B6EC2"/>
            </a:solidFill>
            <a:prstDash val="solid"/>
          </a:ln>
        </p:spPr>
        <p:txBody>
          <a:bodyPr/>
          <a:lstStyle/>
          <a:p>
            <a:endParaRPr lang="fr-FR"/>
          </a:p>
        </p:txBody>
      </p:sp>
      <p:sp>
        <p:nvSpPr>
          <p:cNvPr id="15" name="Shape 13"/>
          <p:cNvSpPr/>
          <p:nvPr/>
        </p:nvSpPr>
        <p:spPr>
          <a:xfrm>
            <a:off x="3182112" y="2212848"/>
            <a:ext cx="2779776" cy="45720"/>
          </a:xfrm>
          <a:prstGeom prst="rect">
            <a:avLst/>
          </a:prstGeom>
          <a:solidFill>
            <a:srgbClr val="1B6EC2"/>
          </a:solidFill>
          <a:ln/>
        </p:spPr>
        <p:txBody>
          <a:bodyPr/>
          <a:lstStyle/>
          <a:p>
            <a:endParaRPr lang="fr-FR"/>
          </a:p>
        </p:txBody>
      </p:sp>
      <p:sp>
        <p:nvSpPr>
          <p:cNvPr id="16" name="Text 14"/>
          <p:cNvSpPr/>
          <p:nvPr/>
        </p:nvSpPr>
        <p:spPr>
          <a:xfrm>
            <a:off x="3346704" y="2340864"/>
            <a:ext cx="2450592" cy="237744"/>
          </a:xfrm>
          <a:prstGeom prst="rect">
            <a:avLst/>
          </a:prstGeom>
          <a:noFill/>
          <a:ln/>
        </p:spPr>
        <p:txBody>
          <a:bodyPr wrap="square" lIns="0" tIns="0" rIns="0" bIns="0" rtlCol="0" anchor="t"/>
          <a:lstStyle/>
          <a:p>
            <a:pPr marL="0" indent="0" algn="l">
              <a:lnSpc>
                <a:spcPct val="108000"/>
              </a:lnSpc>
              <a:buNone/>
            </a:pPr>
            <a:r>
              <a:rPr lang="en-US" sz="1400" b="1" dirty="0">
                <a:solidFill>
                  <a:srgbClr val="1B6EC2"/>
                </a:solidFill>
                <a:latin typeface="Calibri" pitchFamily="34" charset="0"/>
                <a:ea typeface="Calibri" pitchFamily="34" charset="-122"/>
                <a:cs typeface="Calibri" pitchFamily="34" charset="-120"/>
              </a:rPr>
              <a:t>C'est prouvé</a:t>
            </a:r>
            <a:endParaRPr lang="en-US" sz="1400" dirty="0"/>
          </a:p>
        </p:txBody>
      </p:sp>
      <p:sp>
        <p:nvSpPr>
          <p:cNvPr id="17" name="Text 15"/>
          <p:cNvSpPr/>
          <p:nvPr/>
        </p:nvSpPr>
        <p:spPr>
          <a:xfrm>
            <a:off x="3346704" y="2615184"/>
            <a:ext cx="2450592" cy="603504"/>
          </a:xfrm>
          <a:prstGeom prst="rect">
            <a:avLst/>
          </a:prstGeom>
          <a:noFill/>
          <a:ln/>
        </p:spPr>
        <p:txBody>
          <a:bodyPr wrap="square" lIns="0" tIns="0" rIns="0" bIns="0" rtlCol="0" anchor="t"/>
          <a:lstStyle/>
          <a:p>
            <a:pPr marL="0" indent="0" algn="l">
              <a:lnSpc>
                <a:spcPct val="108000"/>
              </a:lnSpc>
              <a:buNone/>
            </a:pPr>
            <a:r>
              <a:rPr lang="en-US" sz="1050" dirty="0">
                <a:solidFill>
                  <a:srgbClr val="4A5769"/>
                </a:solidFill>
                <a:latin typeface="Calibri" pitchFamily="34" charset="0"/>
                <a:ea typeface="Calibri" pitchFamily="34" charset="-122"/>
                <a:cs typeface="Calibri" pitchFamily="34" charset="-120"/>
              </a:rPr>
              <a:t>27 contrôles rattachés aux normes, vérifiés par 218 tests automatiques</a:t>
            </a:r>
            <a:endParaRPr lang="en-US" sz="1050" dirty="0"/>
          </a:p>
        </p:txBody>
      </p:sp>
      <p:sp>
        <p:nvSpPr>
          <p:cNvPr id="18" name="Shape 16"/>
          <p:cNvSpPr/>
          <p:nvPr/>
        </p:nvSpPr>
        <p:spPr>
          <a:xfrm>
            <a:off x="6071616" y="2212848"/>
            <a:ext cx="2779776" cy="1097280"/>
          </a:xfrm>
          <a:prstGeom prst="rect">
            <a:avLst/>
          </a:prstGeom>
          <a:solidFill>
            <a:srgbClr val="FFFFFF"/>
          </a:solidFill>
          <a:ln w="12700">
            <a:solidFill>
              <a:srgbClr val="6B3FD4"/>
            </a:solidFill>
            <a:prstDash val="solid"/>
          </a:ln>
        </p:spPr>
        <p:txBody>
          <a:bodyPr/>
          <a:lstStyle/>
          <a:p>
            <a:endParaRPr lang="fr-FR"/>
          </a:p>
        </p:txBody>
      </p:sp>
      <p:sp>
        <p:nvSpPr>
          <p:cNvPr id="19" name="Shape 17"/>
          <p:cNvSpPr/>
          <p:nvPr/>
        </p:nvSpPr>
        <p:spPr>
          <a:xfrm>
            <a:off x="6071616" y="2212848"/>
            <a:ext cx="2779776" cy="45720"/>
          </a:xfrm>
          <a:prstGeom prst="rect">
            <a:avLst/>
          </a:prstGeom>
          <a:solidFill>
            <a:srgbClr val="6B3FD4"/>
          </a:solidFill>
          <a:ln/>
        </p:spPr>
        <p:txBody>
          <a:bodyPr/>
          <a:lstStyle/>
          <a:p>
            <a:endParaRPr lang="fr-FR"/>
          </a:p>
        </p:txBody>
      </p:sp>
      <p:sp>
        <p:nvSpPr>
          <p:cNvPr id="20" name="Text 18"/>
          <p:cNvSpPr/>
          <p:nvPr/>
        </p:nvSpPr>
        <p:spPr>
          <a:xfrm>
            <a:off x="6236208" y="2340864"/>
            <a:ext cx="2450592" cy="237744"/>
          </a:xfrm>
          <a:prstGeom prst="rect">
            <a:avLst/>
          </a:prstGeom>
          <a:noFill/>
          <a:ln/>
        </p:spPr>
        <p:txBody>
          <a:bodyPr wrap="square" lIns="0" tIns="0" rIns="0" bIns="0" rtlCol="0" anchor="t"/>
          <a:lstStyle/>
          <a:p>
            <a:pPr marL="0" indent="0" algn="l">
              <a:lnSpc>
                <a:spcPct val="108000"/>
              </a:lnSpc>
              <a:buNone/>
            </a:pPr>
            <a:r>
              <a:rPr lang="en-US" sz="1400" b="1" dirty="0">
                <a:solidFill>
                  <a:srgbClr val="6B3FD4"/>
                </a:solidFill>
                <a:latin typeface="Calibri" pitchFamily="34" charset="0"/>
                <a:ea typeface="Calibri" pitchFamily="34" charset="-122"/>
                <a:cs typeface="Calibri" pitchFamily="34" charset="-120"/>
              </a:rPr>
              <a:t>C'est mesuré</a:t>
            </a:r>
            <a:endParaRPr lang="en-US" sz="1400" dirty="0"/>
          </a:p>
        </p:txBody>
      </p:sp>
      <p:sp>
        <p:nvSpPr>
          <p:cNvPr id="21" name="Text 19"/>
          <p:cNvSpPr/>
          <p:nvPr/>
        </p:nvSpPr>
        <p:spPr>
          <a:xfrm>
            <a:off x="6236208" y="2615184"/>
            <a:ext cx="2450592" cy="603504"/>
          </a:xfrm>
          <a:prstGeom prst="rect">
            <a:avLst/>
          </a:prstGeom>
          <a:noFill/>
          <a:ln/>
        </p:spPr>
        <p:txBody>
          <a:bodyPr wrap="square" lIns="0" tIns="0" rIns="0" bIns="0" rtlCol="0" anchor="t"/>
          <a:lstStyle/>
          <a:p>
            <a:pPr marL="0" indent="0" algn="l">
              <a:lnSpc>
                <a:spcPct val="108000"/>
              </a:lnSpc>
              <a:buNone/>
            </a:pPr>
            <a:r>
              <a:rPr lang="en-US" sz="1050" dirty="0">
                <a:solidFill>
                  <a:srgbClr val="4A5769"/>
                </a:solidFill>
                <a:latin typeface="Calibri" pitchFamily="34" charset="0"/>
                <a:ea typeface="Calibri" pitchFamily="34" charset="-122"/>
                <a:cs typeface="Calibri" pitchFamily="34" charset="-120"/>
              </a:rPr>
              <a:t>3 hypothèses de départ, toutes confirmées par les chiffres</a:t>
            </a:r>
            <a:endParaRPr lang="en-US" sz="1050" dirty="0"/>
          </a:p>
        </p:txBody>
      </p:sp>
      <p:sp>
        <p:nvSpPr>
          <p:cNvPr id="22" name="Shape 20"/>
          <p:cNvSpPr/>
          <p:nvPr/>
        </p:nvSpPr>
        <p:spPr>
          <a:xfrm>
            <a:off x="292608" y="3456432"/>
            <a:ext cx="8558784" cy="566928"/>
          </a:xfrm>
          <a:prstGeom prst="rect">
            <a:avLst/>
          </a:prstGeom>
          <a:solidFill>
            <a:srgbClr val="F4F7FA"/>
          </a:solidFill>
          <a:ln w="12700">
            <a:solidFill>
              <a:srgbClr val="E08A3C"/>
            </a:solidFill>
            <a:prstDash val="solid"/>
          </a:ln>
        </p:spPr>
        <p:txBody>
          <a:bodyPr/>
          <a:lstStyle/>
          <a:p>
            <a:endParaRPr lang="fr-FR"/>
          </a:p>
        </p:txBody>
      </p:sp>
      <p:sp>
        <p:nvSpPr>
          <p:cNvPr id="23" name="Text 21"/>
          <p:cNvSpPr/>
          <p:nvPr/>
        </p:nvSpPr>
        <p:spPr>
          <a:xfrm>
            <a:off x="475488" y="3456432"/>
            <a:ext cx="8229600" cy="566928"/>
          </a:xfrm>
          <a:prstGeom prst="rect">
            <a:avLst/>
          </a:prstGeom>
          <a:noFill/>
          <a:ln/>
        </p:spPr>
        <p:txBody>
          <a:bodyPr wrap="square" lIns="0" tIns="0" rIns="0" bIns="0" rtlCol="0" anchor="ctr"/>
          <a:lstStyle/>
          <a:p>
            <a:pPr marL="0" indent="0" algn="l">
              <a:lnSpc>
                <a:spcPct val="108000"/>
              </a:lnSpc>
              <a:buNone/>
            </a:pPr>
            <a:r>
              <a:rPr lang="en-US" sz="1250" b="1" dirty="0">
                <a:solidFill>
                  <a:srgbClr val="12263F"/>
                </a:solidFill>
                <a:latin typeface="Calibri" pitchFamily="34" charset="0"/>
                <a:ea typeface="Calibri" pitchFamily="34" charset="-122"/>
                <a:cs typeface="Calibri" pitchFamily="34" charset="-120"/>
              </a:rPr>
              <a:t>Produire un logiciel ne suffit pas : il faut maîtriser la chaîne qui le porte jusqu'à l'utilisateur.</a:t>
            </a:r>
            <a:endParaRPr lang="en-US" sz="1250" dirty="0"/>
          </a:p>
        </p:txBody>
      </p:sp>
      <p:sp>
        <p:nvSpPr>
          <p:cNvPr id="24" name="Shape 22"/>
          <p:cNvSpPr/>
          <p:nvPr/>
        </p:nvSpPr>
        <p:spPr>
          <a:xfrm>
            <a:off x="292608" y="4224528"/>
            <a:ext cx="8558784" cy="475488"/>
          </a:xfrm>
          <a:prstGeom prst="rect">
            <a:avLst/>
          </a:prstGeom>
          <a:solidFill>
            <a:srgbClr val="12263F"/>
          </a:solidFill>
          <a:ln/>
        </p:spPr>
        <p:txBody>
          <a:bodyPr/>
          <a:lstStyle/>
          <a:p>
            <a:endParaRPr lang="fr-FR"/>
          </a:p>
        </p:txBody>
      </p:sp>
      <p:sp>
        <p:nvSpPr>
          <p:cNvPr id="25" name="Shape 23"/>
          <p:cNvSpPr/>
          <p:nvPr/>
        </p:nvSpPr>
        <p:spPr>
          <a:xfrm>
            <a:off x="292608" y="4224528"/>
            <a:ext cx="45720" cy="475488"/>
          </a:xfrm>
          <a:prstGeom prst="rect">
            <a:avLst/>
          </a:prstGeom>
          <a:solidFill>
            <a:srgbClr val="E08A3C"/>
          </a:solidFill>
          <a:ln/>
        </p:spPr>
        <p:txBody>
          <a:bodyPr/>
          <a:lstStyle/>
          <a:p>
            <a:endParaRPr lang="fr-FR"/>
          </a:p>
        </p:txBody>
      </p:sp>
      <p:sp>
        <p:nvSpPr>
          <p:cNvPr id="26" name="Text 24"/>
          <p:cNvSpPr/>
          <p:nvPr/>
        </p:nvSpPr>
        <p:spPr>
          <a:xfrm>
            <a:off x="548640" y="4224528"/>
            <a:ext cx="813816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Merci de votre écoute.</a:t>
            </a:r>
            <a:endParaRPr lang="en-US" sz="1150" dirty="0"/>
          </a:p>
        </p:txBody>
      </p:sp>
      <p:sp>
        <p:nvSpPr>
          <p:cNvPr id="27" name="Text 25"/>
          <p:cNvSpPr/>
          <p:nvPr/>
        </p:nvSpPr>
        <p:spPr>
          <a:xfrm>
            <a:off x="292608" y="4846320"/>
            <a:ext cx="5486400" cy="182880"/>
          </a:xfrm>
          <a:prstGeom prst="rect">
            <a:avLst/>
          </a:prstGeom>
          <a:noFill/>
          <a:ln/>
        </p:spPr>
        <p:txBody>
          <a:bodyPr wrap="square" lIns="0" tIns="0" rIns="0" bIns="0" rtlCol="0" anchor="ctr"/>
          <a:lstStyle/>
          <a:p>
            <a:pPr marL="0" indent="0">
              <a:buNone/>
            </a:pPr>
            <a:r>
              <a:rPr lang="en-US" sz="750" dirty="0">
                <a:solidFill>
                  <a:srgbClr val="8FA6BC"/>
                </a:solidFill>
                <a:latin typeface="Calibri" pitchFamily="34" charset="0"/>
                <a:ea typeface="Calibri" pitchFamily="34" charset="-122"/>
                <a:cs typeface="Calibri" pitchFamily="34" charset="-120"/>
              </a:rPr>
              <a:t>8.1 - Conclusion</a:t>
            </a:r>
            <a:endParaRPr lang="en-US" sz="750" dirty="0"/>
          </a:p>
        </p:txBody>
      </p:sp>
      <p:sp>
        <p:nvSpPr>
          <p:cNvPr id="28" name="Text 26"/>
          <p:cNvSpPr/>
          <p:nvPr/>
        </p:nvSpPr>
        <p:spPr>
          <a:xfrm>
            <a:off x="6108192" y="4846320"/>
            <a:ext cx="2743200" cy="182880"/>
          </a:xfrm>
          <a:prstGeom prst="rect">
            <a:avLst/>
          </a:prstGeom>
          <a:noFill/>
          <a:ln/>
        </p:spPr>
        <p:txBody>
          <a:bodyPr wrap="square" lIns="0" tIns="0" rIns="0" bIns="0" rtlCol="0" anchor="ctr"/>
          <a:lstStyle/>
          <a:p>
            <a:pPr marL="0" indent="0" algn="r">
              <a:buNone/>
            </a:pPr>
            <a:r>
              <a:rPr lang="en-US" sz="750" dirty="0">
                <a:solidFill>
                  <a:srgbClr val="8FA6BC"/>
                </a:solidFill>
                <a:latin typeface="Calibri" pitchFamily="34" charset="0"/>
                <a:ea typeface="Calibri" pitchFamily="34" charset="-122"/>
                <a:cs typeface="Calibri" pitchFamily="34" charset="-120"/>
              </a:rPr>
              <a:t>dropicture</a:t>
            </a:r>
            <a:endParaRPr lang="en-US" sz="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72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B1729"/>
          </a:solidFill>
          <a:ln/>
        </p:spPr>
        <p:txBody>
          <a:bodyPr/>
          <a:lstStyle/>
          <a:p>
            <a:endParaRPr lang="fr-FR"/>
          </a:p>
        </p:txBody>
      </p:sp>
      <p:sp>
        <p:nvSpPr>
          <p:cNvPr id="3" name="Shape 1"/>
          <p:cNvSpPr/>
          <p:nvPr/>
        </p:nvSpPr>
        <p:spPr>
          <a:xfrm>
            <a:off x="0" y="0"/>
            <a:ext cx="50292" cy="457200"/>
          </a:xfrm>
          <a:prstGeom prst="rect">
            <a:avLst/>
          </a:prstGeom>
          <a:solidFill>
            <a:srgbClr val="00A896"/>
          </a:solidFill>
          <a:ln/>
        </p:spPr>
        <p:txBody>
          <a:bodyPr/>
          <a:lstStyle/>
          <a:p>
            <a:endParaRPr lang="fr-FR"/>
          </a:p>
        </p:txBody>
      </p:sp>
      <p:sp>
        <p:nvSpPr>
          <p:cNvPr id="4" name="Text 2"/>
          <p:cNvSpPr/>
          <p:nvPr/>
        </p:nvSpPr>
        <p:spPr>
          <a:xfrm>
            <a:off x="219456" y="0"/>
            <a:ext cx="74066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8. Conclusion et remerciements</a:t>
            </a:r>
            <a:endParaRPr lang="en-US" sz="1400" dirty="0"/>
          </a:p>
        </p:txBody>
      </p:sp>
      <p:sp>
        <p:nvSpPr>
          <p:cNvPr id="5" name="Text 3"/>
          <p:cNvSpPr/>
          <p:nvPr/>
        </p:nvSpPr>
        <p:spPr>
          <a:xfrm>
            <a:off x="7772400" y="0"/>
            <a:ext cx="1152144" cy="457200"/>
          </a:xfrm>
          <a:prstGeom prst="rect">
            <a:avLst/>
          </a:prstGeom>
          <a:noFill/>
          <a:ln/>
        </p:spPr>
        <p:txBody>
          <a:bodyPr wrap="square" lIns="0" tIns="0" rIns="0" bIns="0"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30 / 30</a:t>
            </a:r>
            <a:endParaRPr lang="en-US" sz="900" dirty="0"/>
          </a:p>
        </p:txBody>
      </p:sp>
      <p:sp>
        <p:nvSpPr>
          <p:cNvPr id="6" name="Shape 4"/>
          <p:cNvSpPr/>
          <p:nvPr/>
        </p:nvSpPr>
        <p:spPr>
          <a:xfrm>
            <a:off x="0" y="457200"/>
            <a:ext cx="50292" cy="4686300"/>
          </a:xfrm>
          <a:prstGeom prst="rect">
            <a:avLst/>
          </a:prstGeom>
          <a:solidFill>
            <a:srgbClr val="00A896"/>
          </a:solidFill>
          <a:ln/>
        </p:spPr>
        <p:txBody>
          <a:bodyPr/>
          <a:lstStyle/>
          <a:p>
            <a:endParaRPr lang="fr-FR"/>
          </a:p>
        </p:txBody>
      </p:sp>
      <p:sp>
        <p:nvSpPr>
          <p:cNvPr id="7" name="Text 5"/>
          <p:cNvSpPr/>
          <p:nvPr/>
        </p:nvSpPr>
        <p:spPr>
          <a:xfrm>
            <a:off x="640080" y="822960"/>
            <a:ext cx="7863840" cy="310896"/>
          </a:xfrm>
          <a:prstGeom prst="rect">
            <a:avLst/>
          </a:prstGeom>
          <a:noFill/>
          <a:ln/>
        </p:spPr>
        <p:txBody>
          <a:bodyPr wrap="square" lIns="0" tIns="0" rIns="0" bIns="0" rtlCol="0" anchor="ctr"/>
          <a:lstStyle/>
          <a:p>
            <a:pPr marL="0" indent="0">
              <a:buNone/>
            </a:pPr>
            <a:r>
              <a:rPr lang="en-US" sz="1600" b="1" dirty="0">
                <a:solidFill>
                  <a:srgbClr val="00A896"/>
                </a:solidFill>
                <a:latin typeface="Calibri" pitchFamily="34" charset="0"/>
                <a:ea typeface="Calibri" pitchFamily="34" charset="-122"/>
                <a:cs typeface="Calibri" pitchFamily="34" charset="-120"/>
              </a:rPr>
              <a:t>8.2 - Remerciements</a:t>
            </a:r>
            <a:endParaRPr lang="en-US" sz="1600" dirty="0"/>
          </a:p>
        </p:txBody>
      </p:sp>
      <p:sp>
        <p:nvSpPr>
          <p:cNvPr id="8" name="Text 6"/>
          <p:cNvSpPr/>
          <p:nvPr/>
        </p:nvSpPr>
        <p:spPr>
          <a:xfrm>
            <a:off x="640080" y="1280160"/>
            <a:ext cx="7863840" cy="658368"/>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Merci de votre écoute</a:t>
            </a:r>
            <a:endParaRPr lang="en-US" sz="3400" dirty="0"/>
          </a:p>
        </p:txBody>
      </p:sp>
      <p:sp>
        <p:nvSpPr>
          <p:cNvPr id="9" name="Text 7"/>
          <p:cNvSpPr/>
          <p:nvPr/>
        </p:nvSpPr>
        <p:spPr>
          <a:xfrm>
            <a:off x="640080" y="2377440"/>
            <a:ext cx="3840480" cy="640080"/>
          </a:xfrm>
          <a:prstGeom prst="rect">
            <a:avLst/>
          </a:prstGeom>
          <a:noFill/>
          <a:ln/>
        </p:spPr>
        <p:txBody>
          <a:bodyPr wrap="square" lIns="0" tIns="0" rIns="0" bIns="0" rtlCol="0" anchor="ctr"/>
          <a:lstStyle/>
          <a:p>
            <a:pPr marL="0" indent="0">
              <a:lnSpc>
                <a:spcPct val="130000"/>
              </a:lnSpc>
              <a:buNone/>
            </a:pPr>
            <a:r>
              <a:rPr lang="en-US" sz="1300" b="1" dirty="0">
                <a:solidFill>
                  <a:srgbClr val="00A896"/>
                </a:solidFill>
                <a:latin typeface="Calibri" pitchFamily="34" charset="0"/>
                <a:ea typeface="Calibri" pitchFamily="34" charset="-122"/>
                <a:cs typeface="Calibri" pitchFamily="34" charset="-120"/>
              </a:rPr>
              <a:t>École LaPlateforme</a:t>
            </a:r>
            <a:endParaRPr lang="en-US" sz="1300" dirty="0"/>
          </a:p>
          <a:p>
            <a:pPr marL="0" indent="0">
              <a:lnSpc>
                <a:spcPct val="130000"/>
              </a:lnSpc>
              <a:buNone/>
            </a:pPr>
            <a:r>
              <a:rPr lang="en-US" sz="1300" dirty="0">
                <a:solidFill>
                  <a:srgbClr val="8FA6BC"/>
                </a:solidFill>
                <a:latin typeface="Calibri" pitchFamily="34" charset="0"/>
                <a:ea typeface="Calibri" pitchFamily="34" charset="-122"/>
                <a:cs typeface="Calibri" pitchFamily="34" charset="-120"/>
              </a:rPr>
              <a:t>Joris VERGULDEZOONE, référent de formation</a:t>
            </a:r>
            <a:endParaRPr lang="en-US" sz="1300" dirty="0"/>
          </a:p>
        </p:txBody>
      </p:sp>
      <p:sp>
        <p:nvSpPr>
          <p:cNvPr id="10" name="Text 8"/>
          <p:cNvSpPr/>
          <p:nvPr/>
        </p:nvSpPr>
        <p:spPr>
          <a:xfrm>
            <a:off x="4846320" y="2377440"/>
            <a:ext cx="3840480" cy="640080"/>
          </a:xfrm>
          <a:prstGeom prst="rect">
            <a:avLst/>
          </a:prstGeom>
          <a:noFill/>
          <a:ln/>
        </p:spPr>
        <p:txBody>
          <a:bodyPr wrap="square" lIns="0" tIns="0" rIns="0" bIns="0" rtlCol="0" anchor="ctr"/>
          <a:lstStyle/>
          <a:p>
            <a:pPr marL="0" indent="0">
              <a:lnSpc>
                <a:spcPct val="130000"/>
              </a:lnSpc>
              <a:buNone/>
            </a:pPr>
            <a:r>
              <a:rPr lang="en-US" sz="1300" b="1" dirty="0">
                <a:solidFill>
                  <a:srgbClr val="00A896"/>
                </a:solidFill>
                <a:latin typeface="Calibri" pitchFamily="34" charset="0"/>
                <a:ea typeface="Calibri" pitchFamily="34" charset="-122"/>
                <a:cs typeface="Calibri" pitchFamily="34" charset="-120"/>
              </a:rPr>
              <a:t>FDJ United</a:t>
            </a:r>
            <a:endParaRPr lang="en-US" sz="1300" dirty="0"/>
          </a:p>
          <a:p>
            <a:pPr marL="0" indent="0">
              <a:lnSpc>
                <a:spcPct val="130000"/>
              </a:lnSpc>
              <a:buNone/>
            </a:pPr>
            <a:r>
              <a:rPr lang="en-US" sz="1300" dirty="0">
                <a:solidFill>
                  <a:srgbClr val="8FA6BC"/>
                </a:solidFill>
                <a:latin typeface="Calibri" pitchFamily="34" charset="0"/>
                <a:ea typeface="Calibri" pitchFamily="34" charset="-122"/>
                <a:cs typeface="Calibri" pitchFamily="34" charset="-120"/>
              </a:rPr>
              <a:t>Philippe AMERIO, référent en entreprise</a:t>
            </a:r>
            <a:endParaRPr lang="en-US" sz="1300" dirty="0"/>
          </a:p>
        </p:txBody>
      </p:sp>
      <p:sp>
        <p:nvSpPr>
          <p:cNvPr id="11" name="Shape 9"/>
          <p:cNvSpPr/>
          <p:nvPr/>
        </p:nvSpPr>
        <p:spPr>
          <a:xfrm>
            <a:off x="640080" y="3474720"/>
            <a:ext cx="7863840" cy="0"/>
          </a:xfrm>
          <a:prstGeom prst="line">
            <a:avLst/>
          </a:prstGeom>
          <a:noFill/>
          <a:ln w="12700">
            <a:solidFill>
              <a:srgbClr val="4A5769"/>
            </a:solidFill>
            <a:prstDash val="solid"/>
          </a:ln>
        </p:spPr>
        <p:txBody>
          <a:bodyPr/>
          <a:lstStyle/>
          <a:p>
            <a:endParaRPr lang="fr-FR"/>
          </a:p>
        </p:txBody>
      </p:sp>
      <p:sp>
        <p:nvSpPr>
          <p:cNvPr id="12" name="Text 10"/>
          <p:cNvSpPr/>
          <p:nvPr/>
        </p:nvSpPr>
        <p:spPr>
          <a:xfrm>
            <a:off x="640080" y="3703320"/>
            <a:ext cx="7863840" cy="310896"/>
          </a:xfrm>
          <a:prstGeom prst="rect">
            <a:avLst/>
          </a:prstGeom>
          <a:noFill/>
          <a:ln/>
        </p:spPr>
        <p:txBody>
          <a:bodyPr wrap="square" lIns="0" tIns="0" rIns="0" bIns="0"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Je vous propose de passer à la seconde partie de l'examen.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8709</Words>
  <Application>Microsoft Macintosh PowerPoint</Application>
  <PresentationFormat>Affichage à l'écran (16:9)</PresentationFormat>
  <Paragraphs>1141</Paragraphs>
  <Slides>30</Slides>
  <Notes>30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30</vt:i4>
      </vt:variant>
    </vt:vector>
  </HeadingPairs>
  <TitlesOfParts>
    <vt:vector size="34"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Amir REDJEM</cp:lastModifiedBy>
  <cp:revision>2</cp:revision>
  <dcterms:created xsi:type="dcterms:W3CDTF">2026-07-22T11:43:53Z</dcterms:created>
  <dcterms:modified xsi:type="dcterms:W3CDTF">2026-07-22T11:57:08Z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3661bcb-cfa9-4fb2-a5e5-a05e20e0e81b_Enabled">
    <vt:lpwstr>true</vt:lpwstr>
  </property>
  <property fmtid="{D5CDD505-2E9C-101B-9397-08002B2CF9AE}" pid="3" name="MSIP_Label_33661bcb-cfa9-4fb2-a5e5-a05e20e0e81b_SetDate">
    <vt:lpwstr>2026-07-22T11:50:44Z</vt:lpwstr>
  </property>
  <property fmtid="{D5CDD505-2E9C-101B-9397-08002B2CF9AE}" pid="4" name="MSIP_Label_33661bcb-cfa9-4fb2-a5e5-a05e20e0e81b_Method">
    <vt:lpwstr>Privileged</vt:lpwstr>
  </property>
  <property fmtid="{D5CDD505-2E9C-101B-9397-08002B2CF9AE}" pid="5" name="MSIP_Label_33661bcb-cfa9-4fb2-a5e5-a05e20e0e81b_Name">
    <vt:lpwstr>PRIVÉ</vt:lpwstr>
  </property>
  <property fmtid="{D5CDD505-2E9C-101B-9397-08002B2CF9AE}" pid="6" name="MSIP_Label_33661bcb-cfa9-4fb2-a5e5-a05e20e0e81b_SiteId">
    <vt:lpwstr>b1a7639e-6f68-471f-a534-787509510be4</vt:lpwstr>
  </property>
  <property fmtid="{D5CDD505-2E9C-101B-9397-08002B2CF9AE}" pid="7" name="MSIP_Label_33661bcb-cfa9-4fb2-a5e5-a05e20e0e81b_ActionId">
    <vt:lpwstr>29d0b1cc-d487-4816-aa77-20c227455780</vt:lpwstr>
  </property>
  <property fmtid="{D5CDD505-2E9C-101B-9397-08002B2CF9AE}" pid="8" name="MSIP_Label_33661bcb-cfa9-4fb2-a5e5-a05e20e0e81b_ContentBits">
    <vt:lpwstr>0</vt:lpwstr>
  </property>
  <property fmtid="{D5CDD505-2E9C-101B-9397-08002B2CF9AE}" pid="9" name="MSIP_Label_33661bcb-cfa9-4fb2-a5e5-a05e20e0e81b_Tag">
    <vt:lpwstr>50, 0, 1, 1</vt:lpwstr>
  </property>
</Properties>
</file>