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534"/>
    <p:restoredTop sz="94673"/>
  </p:normalViewPr>
  <p:slideViewPr>
    <p:cSldViewPr snapToGrid="0" snapToObjects="1">
      <p:cViewPr varScale="1">
        <p:scale>
          <a:sx n="154" d="100"/>
          <a:sy n="154" d="100"/>
        </p:scale>
        <p:origin x="624" y="19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531193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Saluer le jury, me présenter, annoncer le titre sous forme de question.</a:t>
            </a:r>
          </a:p>
          <a:p>
            <a:r>
              <a:t>Lire la problématique, c’est elle qui tient tout l’oral.</a:t>
            </a:r>
          </a:p>
          <a:p>
            <a:r>
              <a:t>Préciser le cadre, option DevOps, projet réel, tout média privé par défaut.</a:t>
            </a:r>
          </a:p>
          <a:p>
            <a:r>
              <a:t>Durée visée, 40 secondes.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Six parties, dans l’ordre du mémoire.</a:t>
            </a:r>
          </a:p>
          <a:p>
            <a:r>
              <a:t>Ne pas dire qu’un bloc serait plus évalué qu’un autre. Les quatre blocs sont évalués, et l’évaluation se fait compétence par compétence, chacune cochée acquise ou non acquise. Les trente et une compétences, de C1 à C31, sont citées dans le support.</a:t>
            </a:r>
          </a:p>
          <a:p>
            <a:r>
              <a:t>La partie 5 est celle de l’option DevOps, c’est ma spécialité et c’est la plus longue, sept diapositives, parce que c’est le cœur du sujet, pas parce qu’elle serait la seule notée.</a:t>
            </a:r>
          </a:p>
          <a:p>
            <a:r>
              <a:t>Signaler la puce de traçabilité en bas à gauche, elle vous permet de retrouver la preuve écrite sans que l’oral soit structuré par le référentiel.</a:t>
            </a:r>
          </a:p>
          <a:p>
            <a:r>
              <a:t>Durée visée, 40 secondes.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Parcours en une frise. Bac+2 en juin 2022, puis quatre ans sans interruption.</a:t>
            </a:r>
          </a:p>
          <a:p>
            <a:r>
              <a:t>Un an en CDI chez IT Remote, une alternance chez Altares pour la licence, deux ans chez FDJ United comme ingénieur DevOps, c’est celle qui valide ce master.</a:t>
            </a:r>
          </a:p>
          <a:p>
            <a:r>
              <a:t>Dire pourquoi j’ai choisi ce sujet. Développer et exploiter en même temps m’a convaincu que le plus dur n’est pas d’écrire l’application, c’est de construire la chaîne qui l’amène en production sans casse.</a:t>
            </a:r>
          </a:p>
          <a:p>
            <a:r>
              <a:t>Durée visée, 45 secondes.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Je lis la problématique, c’est elle qui tient tout l’oral.</a:t>
            </a:r>
          </a:p>
          <a:p>
            <a:r>
              <a:t>En dessous, ses six termes. Ce sont eux que je dois tenir ensemble, je les reprends un par un à la diapositive 30.</a:t>
            </a:r>
          </a:p>
          <a:p>
            <a:r>
              <a:t>Au milieu, le produit en une phrase et le périmètre du projet.</a:t>
            </a:r>
          </a:p>
          <a:p>
            <a:r>
              <a:t>Puis la vraie difficulté, à dire sans la lire nulle part. Ces six exigences s’opposent deux à deux, observer consomme, contrôler ralentit. Toute la valeur du travail est là.</a:t>
            </a:r>
          </a:p>
          <a:p>
            <a:r>
              <a:t>Préciser si on me le demande, l’analyse s’appuie sur un SWOT et un PESTEL formalisés en étude d’opportunité, et sur huit parties prenantes dont six portent un lot.</a:t>
            </a:r>
          </a:p>
          <a:p>
            <a:r>
              <a:t>Durée visée, 60 secondes.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Cinq objectifs, et pour chacun un critère de réussite écrit à droite.</a:t>
            </a:r>
          </a:p>
          <a:p>
            <a:r>
              <a:t>Ce qui compte, c’est que ces critères sont binaires. Aucune ressource en dehors du code, c’est vrai ou c’est faux. Vous pouvez trancher sans avoir à interpréter.</a:t>
            </a:r>
          </a:p>
          <a:p>
            <a:r>
              <a:t>En bas, mes trois hypothèses de travail. Je les confirme ou je les nuance à la diapositive 29, avec des faits.</a:t>
            </a:r>
          </a:p>
          <a:p>
            <a:r>
              <a:t>Durée visée, 50 secondes.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diapositive se lit de gauche à droite, elle raconte le chemin d'une information jusqu'à une décision.</a:t>
            </a:r>
          </a:p>
          <a:p>
            <a:r>
              <a:t>À gauche, neuf sources qualifiées, réparties en six natures, de la documentation d'éditeur au fil communautaire. La rangée de points donne la note de fiabilité, cinq pour les sources primaires et normatives, deux pour le communautaire, ce qui dit tout de suite ce qui pèse dans une décision.</a:t>
            </a:r>
          </a:p>
          <a:p>
            <a:r>
              <a:t>La parenthèse dit ce que chaque source apporte, personne n'est censé connaître le radar de ThoughtWorks. Si on me demande le détail, les normes couvrent ISO 27001, 25010 et 27005, plus le RGESN, la WCAG 2.2 et le RGAA 4, et chaque source a son rythme, continu pour les vulnérabilités dans le pipeline, hebdomadaire pour les dépôts, mensuel pour les autorités, trimestriel pour la prospective, annuel pour les études.</a:t>
            </a:r>
          </a:p>
          <a:p>
            <a:r>
              <a:t>Au centre, insister sur le fait qu'il y a deux grilles et pas une seule. La première note la source elle-même, de un à cinq, sur son autorité, sa vérifiabilité, sa fraîcheur, sa neutralité et sa conformité. La source est jugée avant son contenu. La seconde note la technologie candidate sur huit critères, et deux d'entre eux viennent directement de la problématique, la sobriété et la sécurité, d'où le bleu.</a:t>
            </a:r>
          </a:p>
          <a:p>
            <a:r>
              <a:t>À droite, la règle de décision, deux sources indépendantes doivent concorder, et la décision part en fiche. Bun et Swarm retenus, OpenTofu et Valkey inscrits en repli quand les licences ont changé, Datadog écarté sur le coût total.</a:t>
            </a:r>
          </a:p>
          <a:p>
            <a:r>
              <a:t>En bas, les trois recommandations issues de la veille, chacune chiffrée et rattachée à un texte. Elles couvrent exactement les trois domaines attendus, l'intelligence artificielle, le cloud et l'informatique verte.</a:t>
            </a:r>
          </a:p>
          <a:p>
            <a:r>
              <a:t>Si on me demande à qui la veille est restituée, cinq destinataires, une note de synthèse au sponsor à chaque jalon, une revue de veille à l'équipe toutes les deux semaines, une revue de conformité mensuelle au référent sécurité, des notes de version en langage clair aux bêta-testeurs, et le dossier de veille au jury.</a:t>
            </a:r>
          </a:p>
          <a:p>
            <a:r>
              <a:t>Si on me demande ce que la réglementation a imposé, le Cloud Act et le calcul en Europe, le RGPD et NIS 2 avec l'effacement en cascade, l'IA Act et la revue humaine.</a:t>
            </a:r>
          </a:p>
          <a:p>
            <a:r>
              <a:t>Durée visée, 60 secondes.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cartographie couvre les quatre niveaux fondamentaux exigés, métier, fonctionnel, applicatif, infrastructure.</a:t>
            </a:r>
          </a:p>
          <a:p>
            <a:r>
              <a:t>Chaque niveau a sa propre planche en annexe A, comme le demande le guide, séparer les schémas plutôt que de les surcharger.</a:t>
            </a:r>
          </a:p>
          <a:p>
            <a:r>
              <a:t>Insister sur l’usage, ce n’est pas décoratif, c’est l’inventaire d’actifs sur lequel l’analyse de risques s’appuie.</a:t>
            </a:r>
          </a:p>
          <a:p>
            <a:r>
              <a:t>Durée visée, 40 secondes.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À gauche le diagnostic, un SWOT pour le système et un PESTEL pour son environnement réglementaire et économique.</a:t>
            </a:r>
          </a:p>
          <a:p>
            <a:r>
              <a:t>À droite le registre coté selon EBIOS Risk Manager et ISO 27005. L’axe horizontal est la gravité, l’axe vertical la vraisemblance, la couleur donne le niveau.</a:t>
            </a:r>
          </a:p>
          <a:p>
            <a:r>
              <a:t>R1 en haut à droite, la perte du nœud de périphérie, coté quinze. C’est le plus critique et c’est assumé, ce nœud concentre le proxy, le cache et la supervision.</a:t>
            </a:r>
          </a:p>
          <a:p>
            <a:r>
              <a:t>Le chiffre à retenir est en bas, quatre-vingt-un avant traitement, trente-sept après.</a:t>
            </a:r>
          </a:p>
          <a:p>
            <a:r>
              <a:t>Durée visée, 60 secondes.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Quatre styles comparés sur cinq critères, le tableau complet est au mémoire.</a:t>
            </a:r>
          </a:p>
          <a:p>
            <a:r>
              <a:t>Le monolithe modulaire l’emporte non pas parce qu’il gagne partout, mais parce qu’il ne perd nulle part et qu’il gagne là où ça compte pour ce service, le coût d’exploitation et l’empreinte.</a:t>
            </a:r>
          </a:p>
          <a:p>
            <a:r>
              <a:t>Les microservices perdent lourdement en coût et en énergie, disproportionné à cette taille. Le serverless est éliminé par une contrainte produit, le téléversement en flux.</a:t>
            </a:r>
          </a:p>
          <a:p>
            <a:r>
              <a:t>L’orienté événements n’est pas écarté, il est en cible pour le post-traitement des médias.</a:t>
            </a:r>
          </a:p>
          <a:p>
            <a:r>
              <a:t>Durée visée, 55 secondes.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Quatre catégories, et pour chacune deux exigences réelles tirées de l’annexe X, avec leur référence et leur estimation. Le jury peut relier chaque chiffre à quelque chose de concret.</a:t>
            </a:r>
          </a:p>
          <a:p>
            <a:r>
              <a:t>Les Must pèsent soixante-dix-huit pour cent des points, ce qui veut dire que le périmètre était déjà réduit à son noyau avant même la priorisation. Le seul amortisseur réel reste les marges du planning.</a:t>
            </a:r>
          </a:p>
          <a:p>
            <a:r>
              <a:t>Montrer du doigt les deux Must. Ne voir que ce qui a été explicitement publié, trois points, c’est la promesse produit écrite sous forme d’exigence vérifiable. Téléverser sans saturer la mémoire, huit points, c’est le processus que je détaille à la diapositive 17.</a:t>
            </a:r>
          </a:p>
          <a:p>
            <a:r>
              <a:t>Les deux écartées sont nommées elles aussi, la reconnaissance de contenu et l’application mobile native, vingt et un points chacune, consignées au plan d’amélioration continue et non oubliées.</a:t>
            </a:r>
          </a:p>
          <a:p>
            <a:r>
              <a:t>Si on me demande pourquoi Must, Should, Could et Won’t restent en anglais, répondre que ce sont les quatre lettres de l’acronyme MoSCoW, au même titre que SWOT ou PESTEL, et que chacune est glosée en français sur la diapositive. Le reste du vocabulaire est celui du mémoire, une exigence et non une story.</a:t>
            </a:r>
          </a:p>
          <a:p>
            <a:r>
              <a:t>En bas, les cinq contraintes structurantes, transformées en exigences techniques vérifiables et non en intentions. Préciser que l’accessibilité des personnes en situation de handicap est traitée comme une exigence, pas comme une option.</a:t>
            </a:r>
          </a:p>
          <a:p>
            <a:r>
              <a:t>Durée visée, 55 secondes.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structure de découpage donne huit lots, chacun valorisé au taux journalier de cinq cents euros.</a:t>
            </a:r>
          </a:p>
          <a:p>
            <a:r>
              <a:t>Deux cent sept jours-homme, cent trois mille cinq cents euros pour construire, soixante et onze euros par mois pour exploiter.</a:t>
            </a:r>
          </a:p>
          <a:p>
            <a:r>
              <a:t>Le chiffrage est fait aux trois niveaux exigés, global, conception et déploiement.</a:t>
            </a:r>
          </a:p>
          <a:p>
            <a:r>
              <a:t>Préciser l’unité si on me le demande, ce sont des jours-homme et non des jours de calendrier. Les huit lots totalisent deux cent sept jours-homme de travail, la durée du projet est une autre grandeur, cent vingt-deux jours ouvrés, que je montre à la diapositive suivante.</a:t>
            </a:r>
          </a:p>
          <a:p>
            <a:r>
              <a:t>Le fait marquant, le non fonctionnel, quarante-six pour cent, pèse plus lourd que le fonctionnel. Sur un projet à dominante DevOps c’est logique, et c’est la décomposition qui le rend visible.</a:t>
            </a:r>
          </a:p>
          <a:p>
            <a:r>
              <a:t>Le garde-fou budgétaire est AWS Budgets, qui alerte à cinquante, quatre-vingts et cent pour cent du seuil.</a:t>
            </a:r>
          </a:p>
          <a:p>
            <a:r>
              <a:t>Si on me demande les ressources, six acteurs portent les lots. En interne le chef de projet et ingénieur DevOps, les développeurs applicatifs et le référent sécurité. En externe le sponsor, le référent pédagogique et les utilisateurs bêta. Le détail est en annexe L bis et en annexe O bis.</a:t>
            </a:r>
          </a:p>
          <a:p>
            <a:r>
              <a:t>Durée visée, 55 secondes.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PERT dit dans quel ordre les lots s’enchaînent et où sont les marges.</a:t>
            </a:r>
          </a:p>
          <a:p>
            <a:r>
              <a:t>Définir le chemin critique si on me le demande, et le définir juste. Ce n’est pas la liste des lots obligatoires, ils le sont tous les huit. C’est la plus longue chaîne de lots qui dépendent les uns des autres, et c’est elle qui fixe la durée minimale du projet. Ses lots n’ont aucune latitude, donc un jour de retard sur l’un d’eux est un jour de retard sur la date de fin.</a:t>
            </a:r>
          </a:p>
          <a:p>
            <a:r>
              <a:t>Ici cadrage, backend, chaîne CI/CD, observabilité, documentation, cent vingt-deux jours ouvrés.</a:t>
            </a:r>
          </a:p>
          <a:p>
            <a:r>
              <a:t>En dessous les trois lots qui ne sont pas sur ce chemin. Bien dire ce que la marge signifie, ce n’est pas du travail en plus, c’est un glissement possible. L’infrastructure demande trente et un jours de travail et peut démarrer entre le jour vingt-quatre et le jour trente, six jours de latitude. Au-delà, elle retarde la chaîne CI/CD, donc la fin du projet.</a:t>
            </a:r>
          </a:p>
          <a:p>
            <a:r>
              <a:t>Le frontend est le cas le plus parlant, vingt et un jours de travail mais vingt-cinq jours de latitude, parce qu’il avance en parallèle du backend et qu’il doit seulement être prêt avant la documentation.</a:t>
            </a:r>
          </a:p>
          <a:p>
            <a:r>
              <a:t>C’est décisif le jour où il faut arbitrer sous tension, on sait exactement où puiser.</a:t>
            </a:r>
          </a:p>
          <a:p>
            <a:r>
              <a:t>En bas le Gantt donne les dates, cinq phases et cinq jalons de janvier à juin 2026.</a:t>
            </a:r>
          </a:p>
          <a:p>
            <a:r>
              <a:t>Anticiper la question du jury sur les deux cent sept jours. Ce ne sont pas des jours de calendrier mais des jours-homme, la somme des charges des huit lots. La durée du projet, elle, est celle du chemin critique, cent vingt-deux jours ouvrés, parce que l’infrastructure, le frontend et la sécurité avancent en parallèle des lots critiques. La fenêtre du premier janvier au trente juin en compte cent vingt-trois, il reste donc un jour de battement.</a:t>
            </a:r>
          </a:p>
          <a:p>
            <a:r>
              <a:t>Si on creuse, ajouter que charge et durée diffèrent aussi lot par lot. Le backend pèse quarante-deux jours-homme pour trente-sept jours de durée parce que deux acteurs y travaillent par moments, la matrice RACI le montre.</a:t>
            </a:r>
          </a:p>
          <a:p>
            <a:r>
              <a:t>Si on me demande la méthode de conduite, elle est hybride et le choix est assumé, mémoire 13.5.2. Un cadrage prédictif structure l’ensemble, parce que la WBS, le PERT et le Gantt fixent le périmètre, les dépendances et les échéances, ce qui est indispensable sur un projet à forte composante infrastructure. L’exécution est en revanche agile, par itérations courtes alignées sur les lots de la WBS.</a:t>
            </a:r>
          </a:p>
          <a:p>
            <a:r>
              <a:t>Et la planification ne contient pas que des dates. Elle porte aussi les ressources affectées à chaque lot et les risques associés, repris du registre de la diapositive 8.</a:t>
            </a:r>
          </a:p>
          <a:p>
            <a:r>
              <a:t>Durée visée, 55 secondes.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matrice RACI, huit lots croisés avec six acteurs. La règle absolue est un seul A par lot, un seul décideur redevable, jamais deux.</a:t>
            </a:r>
          </a:p>
          <a:p>
            <a:r>
              <a:t>Lire une ligne. Lot 7, sécurité, le référent sécurité est A, il décide et répond du résultat, l’ingénieur DevOps est R, il réalise le durcissement.</a:t>
            </a:r>
          </a:p>
          <a:p>
            <a:r>
              <a:t>Lire une colonne. La colonne DevOps porte quatre R, deux A et deux A slash R, c’est la charge la plus lourde du projet. La matrice rend cette concentration visible plutôt que de la masquer.</a:t>
            </a:r>
          </a:p>
          <a:p>
            <a:r>
              <a:t>La bande du bas répond à l’exigence de distribution équilibrée. Huit A pour huit lots, huit R, quinze C et quatorze I sur quarante-huit cases. Les cinq tirets sont assumés, ils disent qu’un acteur n’intervient pas sur ce lot plutôt que de laisser la case vide.</a:t>
            </a:r>
          </a:p>
          <a:p>
            <a:r>
              <a:t>Si on me le demande, huit parties prenantes ont été identifiées, six portent un lot, et la grille pouvoir sur intérêt est en annexe O bis. Les comptes rendus sont écrits systématiquement, aucune information de pilotage n’est transmise uniquement à l’oral.</a:t>
            </a:r>
          </a:p>
          <a:p>
            <a:r>
              <a:t>Si on me demande comment l’équipe communique, c’est l’annexe T. Outils collaboratifs de gestion de projet, calendrier partagé des objectifs et des échéances, comptes rendus écrits systématiques. Le management inclusif tient à une règle, aucune information de pilotage n’est transmise uniquement à l’oral, ce qui la rend accessible à tous.</a:t>
            </a:r>
          </a:p>
          <a:p>
            <a:r>
              <a:t>Toujours en annexe O bis si on creuse l’engagement et la capitalisation, la matrice d’engagement avec les causes des écarts et les actions d’amélioration, les dispositions retenues pour les situations de handicap, la reconnaissance du travail invisible, la célébration des jalons et la procédure de passation des compétences.</a:t>
            </a:r>
          </a:p>
          <a:p>
            <a:r>
              <a:t>Durée visée, 65 secondes.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Cette diapositive répond à la conduite du projet et au management de l’équipe.</a:t>
            </a:r>
          </a:p>
          <a:p>
            <a:r>
              <a:t>La méthode est hybride et le choix est assumé. Un cadrage prédictif structure l’ensemble, la WBS, le PERT et le Gantt fixent le périmètre, les dépendances et les échéances, ce qui est indispensable sur un projet à forte composante infrastructure. L’exécution est agile, par itérations courtes alignées sur les lots.</a:t>
            </a:r>
          </a:p>
          <a:p>
            <a:r>
              <a:t>Le tableau du haut est le tableau Trello Dropicture, tel qu’il tourne. Cinq colonnes d’état, cinquante-neuf cartes, et chaque carte porte la couleur de son lot de la structure de découpage, ce qui relie le suivi quotidien au chiffrage.</a:t>
            </a:r>
          </a:p>
          <a:p>
            <a:r>
              <a:t>Les trois nombres sous les colonnes sont ce que je lis chaque semaine. Dix-huit cartes en attente, huit engagées avec une limite de travail en cours fixée à quatre, trente-trois terminées, soit cinquante-six pour cent d’avancement en nombre de cartes.</a:t>
            </a:r>
          </a:p>
          <a:p>
            <a:r>
              <a:t>Tableau privé, comptes nominatifs, invitation explicite. S’y ajoutent la forge GitHub, les tableaux de bord Grafana, le journal des vingt-quatre décisions d’architecture et le calendrier des cinq jalons, tout est en annexe T.</a:t>
            </a:r>
          </a:p>
          <a:p>
            <a:r>
              <a:t>Les outils portent le management inclusif, et la règle est simple, aucune information de pilotage n’est transmise uniquement à l’oral, ce qui la rend accessible à tous.</a:t>
            </a:r>
          </a:p>
          <a:p>
            <a:r>
              <a:t>L’engagement est suivi dans une matrice qui nomme les causes des écarts et les actions correctives, avec les dispositions retenues pour les situations de handicap, annexe O bis.</a:t>
            </a:r>
          </a:p>
          <a:p>
            <a:r>
              <a:t>La transmission est traitée en trois temps, la reconnaissance du travail invisible, la célébration des jalons, et une procédure écrite de passation en cas de changement de membre.</a:t>
            </a:r>
          </a:p>
          <a:p>
            <a:r>
              <a:t>En bas, le quatrième tableau de bord, le récapitulatif de projet, celui que lit le sponsor. Il donne l’avancement par lot, le reste-à-faire, la consommation budgétaire et l’écart au chemin critique. L’outil d’IA rédige la synthèse à partir des données du tableau de tâches et du planning, mais le commentaire d’écart et l’engagement pris devant le sponsor restent humains. Annexe T.</a:t>
            </a:r>
          </a:p>
          <a:p>
            <a:r>
              <a:t>Durée visée, 55 secondes.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seul écran, mais lisible et annoté. Six vignettes minuscules ne prouvent rien, un écran montre ce que la maquette a réellement figé avant qu’une ligne soit écrite.</a:t>
            </a:r>
          </a:p>
          <a:p>
            <a:r>
              <a:t>Montrer du doigt les trois points numérotés. L’adresse publique est distincte de l’adresse e-mail, et l’e-mail n’est jamais exposé par l’interface publique. La clé d’API se régénère et se révoque, on coupe un accès programmatique sans toucher au compte. Et la suppression de compte annonce son irréversibilité dans l’écran, le droit à l’effacement est visible et non enterré dans des conditions générales.</a:t>
            </a:r>
          </a:p>
          <a:p>
            <a:r>
              <a:t>Le référentiel demande les maquettes et les flux de données par module. Les flux sont en bas à droite, quatre entités externes, sept traitements et neuf magasins, détaillés en annexe F.2, et le registre des données personnelles en annexe F.3 avec les bases légales et les durées de conservation.</a:t>
            </a:r>
          </a:p>
          <a:p>
            <a:r>
              <a:t>Les cinq autres écrans sont en annexe F.1, connexion, inscription, bibliothèque, profil et profil public.</a:t>
            </a:r>
          </a:p>
          <a:p>
            <a:r>
              <a:t>Point de méthode, ces maquettes sont dérivées du code frontend et non l’inverse, elles ne peuvent donc pas diverger de ce qui tourne.</a:t>
            </a:r>
          </a:p>
          <a:p>
            <a:r>
              <a:t>Durée visée, 45 secondes.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schéma se lit en deux voies, et c’est le point important. Il n’y a pas un point d’entrée unique mais trois chemins distincts.</a:t>
            </a:r>
          </a:p>
          <a:p>
            <a:r>
              <a:t>À gauche le SaaS. app.dropicture.com est un enregistrement A proxifié par Cloudflare vers le nœud de périphérie, donc il passe par Traefik, le frontend et le backend.</a:t>
            </a:r>
          </a:p>
          <a:p>
            <a:r>
              <a:t>À droite le site public. dropicture.com est un CNAME non proxifié vers CloudFront, protégé par son propre pare-feu applicatif, et servi depuis un bucket S3 privé. Il ne touche jamais le cluster Hetzner. C’est un export statique, il n’a aucun serveur applicatif.</a:t>
            </a:r>
          </a:p>
          <a:p>
            <a:r>
              <a:t>Le lien entre les deux se fait dans le navigateur du visiteur, qui appelle l’interface publique du backend. C’est cette contrainte qui a imposé une API publique dédiée.</a:t>
            </a:r>
          </a:p>
          <a:p>
            <a:r>
              <a:t>Si on me demande le détail DNS, app et grafana sont des enregistrements A proxifiés vers Hetzner, dropicture.com et cdn sont des CNAME non proxifiés vers CloudFront, chacun avec son propre pare-feu applicatif.</a:t>
            </a:r>
          </a:p>
          <a:p>
            <a:r>
              <a:t>Le point à faire entendre est au milieu. Le mot monolithe ne qualifie que le backend, pas l’ensemble. Le frontend et le site vitrine sont des couches de présentation, les séparer est une architecture en couches, pas des microservices. Ce qui ferait des microservices, ce serait de découper le backend lui-même en un service par domaine, chacun déployé à part avec sa propre base.</a:t>
            </a:r>
          </a:p>
          <a:p>
            <a:r>
              <a:t>Ici les six domaines, auth, library, profile, discover, settings et public, vivent dans une seule application et une seule base. Modulaire parce que chaque domaine a son contrôleur et sa suite de tests, six domaines testables isolément.</a:t>
            </a:r>
          </a:p>
          <a:p>
            <a:r>
              <a:t>Montrer aussi que le frontend ne parle jamais à la base, il consomme l’API. Une seule application accède aux données.</a:t>
            </a:r>
          </a:p>
          <a:p>
            <a:r>
              <a:t>Le dépôt unique versionne ensemble le code, l’infrastructure et les pipelines. Un commit décrit un état complet du système, c’est la condition du GitOps.</a:t>
            </a:r>
          </a:p>
          <a:p>
            <a:r>
              <a:t>Si on m’interroge sur l’usage de l’IA en conception, elle a servi à l’assistance au code et à la génération de tests, toujours sous revue humaine, ce qui maintient la chaîne hors des catégories à haut risque de l’IA Act.</a:t>
            </a:r>
          </a:p>
          <a:p>
            <a:r>
              <a:t>Durée visée, 55 secondes.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référentiel demande trois schémas de processus métier décrits avec justesse, voici le premier en entier.</a:t>
            </a:r>
          </a:p>
          <a:p>
            <a:r>
              <a:t>Suivre les flèches. Le membre choisit un fichier, le frontend appelle l’API en multipart, l’API applique une garde de taille et un quota, puis pousse le flux vers le stockage objet en mémoire bornée, jamais de tampon complet.</a:t>
            </a:r>
          </a:p>
          <a:p>
            <a:r>
              <a:t>Ensuite seulement elle écrit la ligne en base, avec une date de publication nulle. C’est ce dernier point qui matérialise la promesse produit, le média existe et il est privé, la publication est une décision séparée.</a:t>
            </a:r>
          </a:p>
          <a:p>
            <a:r>
              <a:t>Les deux autres processus sont en annexes I.2 et I.3.</a:t>
            </a:r>
          </a:p>
          <a:p>
            <a:r>
              <a:t>Durée visée, 60 secondes.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Cinq tables, volontairement sobre. Le modèle tient sur une diapositive et c’est un choix, la minimisation des données est une exigence RGPD avant d’être une élégance technique.</a:t>
            </a:r>
          </a:p>
          <a:p>
            <a:r>
              <a:t>Le point à faire entendre est en bas. Supprimer un compte efface en cascade les médias, les albums, les placements et les abonnements. Le droit à l’effacement n’est pas une procédure manuelle, il est dans le schéma.</a:t>
            </a:r>
          </a:p>
          <a:p>
            <a:r>
              <a:t>À droite, les index partiels. N’indexer que les lignes publiées réduit la taille de l’index, accélère les lectures et consomme moins.</a:t>
            </a:r>
          </a:p>
          <a:p>
            <a:r>
              <a:t>Le modèle conceptuel et le modèle logique complets sont en annexes D et E.</a:t>
            </a:r>
          </a:p>
          <a:p>
            <a:r>
              <a:t>Sur la gestion des données à fort volume, mémoire 12.2.3, quatre leviers. Le flux borné en mémoire au téléversement, la pagination par curseur plutôt que par décalage, les index partiels, et le cycle de vie du stockage objet vers les paliers froids.</a:t>
            </a:r>
          </a:p>
          <a:p>
            <a:r>
              <a:t>Durée visée, 50 secondes.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chaîne du haut est la seule route vers la production. Quatre portes bloquantes, aucune n’est contournable, c’est le critère de l’objectif deux.</a:t>
            </a:r>
          </a:p>
          <a:p>
            <a:r>
              <a:t>Deux cent dix-huit tests répartis en huit suites, tous au vert, exécutés en environnement hermétique avec Redis et la base doublés.</a:t>
            </a:r>
          </a:p>
          <a:p>
            <a:r>
              <a:t>Le point à souligner, le vol de session est un scénario d’attaque explicitement testé. La sécurité est testée comme une fonctionnalité, pas vérifiée à la main en fin de projet.</a:t>
            </a:r>
          </a:p>
          <a:p>
            <a:r>
              <a:t>En dessous, les mesures de sécurité par construction, alignées OWASP, mises en place dès la conception.</a:t>
            </a:r>
          </a:p>
          <a:p>
            <a:r>
              <a:t>Si on me demande la suite, l’annexe Z contient le plan de tests, le rapport d’exécution avec les anomalies corrigées, et un plan de maintenance daté avec les contrôles de conformité aux normes en prévision des audits.</a:t>
            </a:r>
          </a:p>
          <a:p>
            <a:r>
              <a:t>Durée visée, 60 secondes.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Cette diapositive est le diagnostic, pas le catalogue. À gauche ce que l’analyse de l’existant a fait remonter, à droite ce que j’ai mis en face. Aucune de ces réponses n’a été choisie par mode.</a:t>
            </a:r>
          </a:p>
          <a:p>
            <a:r>
              <a:t>Insister sur la première ligne, des déploiements manuels et non reproductibles, c’est le point de départ de tout le reste. Et sur la deuxième, trois fournisseurs, Hetzner, Cloudflare et AWS, ce qui rendait la dérive de configuration inévitable tant que rien n’était déclaré.</a:t>
            </a:r>
          </a:p>
          <a:p>
            <a:r>
              <a:t>La cinquième ligne est celle qu’on oublie souvent, la chaîne d’approvisionnement logicielle. Des dépendances et des images non contrôlées, donc une analyse de sécurité posée en porte bloquante.</a:t>
            </a:r>
          </a:p>
          <a:p>
            <a:r>
              <a:t>La sixième porte l’éco-responsabilité, un système peu visible et une consommation jamais mesurée, d’où la chaîne de métriques et l’indicateur énergétique.</a:t>
            </a:r>
          </a:p>
          <a:p>
            <a:r>
              <a:t>En bas, le green IT et l’accessibilité ne sont pas deux chapitres ajoutés à la fin, ce sont deux critères qui ont pesé sur les choix.</a:t>
            </a:r>
          </a:p>
          <a:p>
            <a:r>
              <a:t>Durée visée, 60 secondes.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critère du bloc est écrit noir sur blanc, le code d’infrastructure as code doit être correctement versionné sur Git. Cette diapositive montre donc ce qui est dans le dépôt et ce qui en est exclu.</a:t>
            </a:r>
          </a:p>
          <a:p>
            <a:r>
              <a:t>À gauche le dépôt, un seul, qui décrit l’application, ce qui est provisionné, ce qui est configuré et ce qui applique. Cinquante-deux ressources Terraform, cent quatre-vingt-onze tâches Ansible, huit workflows.</a:t>
            </a:r>
          </a:p>
          <a:p>
            <a:r>
              <a:t>À droite ce qui n’y est jamais, et c’est aussi important. L’état Terraform vit dans un bucket S3 chiffré avec verrou d’écriture, jamais dans Git, sinon deux applications simultanées corrompraient l’état. Les secrets sont injectés par le pipeline, soixante et onze références, et aucun fichier de secrets n’est versionné.</a:t>
            </a:r>
          </a:p>
          <a:p>
            <a:r>
              <a:t>Le point à faire entendre pour finir, six des huit workflows appliquent Terraform. L’infrastructure n’est jamais appliquée depuis un poste de travail, donc un commit décrit un état complet du système.</a:t>
            </a:r>
          </a:p>
          <a:p>
            <a:r>
              <a:t>La topologie et les fournisseurs ont été vus à la diapositive 16, je ne les reprends pas ici.</a:t>
            </a:r>
          </a:p>
          <a:p>
            <a:r>
              <a:t>Durée visée, 65 secondes.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Six étapes, deux portes bloquantes. Rien ne part en production si une porte échoue.</a:t>
            </a:r>
          </a:p>
          <a:p>
            <a:r>
              <a:t>Au milieu, ce qui bloque réellement une livraison. Ce ne sont pas des avertissements, ce sont des arrêts.</a:t>
            </a:r>
          </a:p>
          <a:p>
            <a:r>
              <a:t>En dessous, et c’est le point moins évident, ce qui protège la chaîne elle-même. Le garde-fou le plus utile est le ciblage strict, le pipeline du CDN ne peut pas toucher les serveurs même en cas d’erreur humaine.</a:t>
            </a:r>
          </a:p>
          <a:p>
            <a:r>
              <a:t>Les exceptions ne sont pas interdites, elles sont tracées, justifiées et datées. C’est ce qui distingue une chaîne exploitable d’une chaîne qu’on contourne.</a:t>
            </a:r>
          </a:p>
          <a:p>
            <a:r>
              <a:t>Fermer sur le compromis. Ces portes ne ralentissent pas la livraison, elles évitent le retour arrière.</a:t>
            </a:r>
          </a:p>
          <a:p>
            <a:r>
              <a:t>Durée visée, 65 secondes.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Annoncer que la topologie a déjà été vue à la diapositive 16. Ici je réponds aux choix que la compétence demande de documenter, la conteneurisation, l’orchestration et le scaling, et j’ajoute la résilience parce que c’est elle qui rend le reste tenable.</a:t>
            </a:r>
          </a:p>
          <a:p>
            <a:r>
              <a:t>Suivre la chaîne du haut de gauche à droite, les quatre cartes sont numérotées. Chaque carte dit la même chose deux fois, en gros la phrase que tout le monde comprend, en gris dessous la preuve technique.</a:t>
            </a:r>
          </a:p>
          <a:p>
            <a:r>
              <a:t>Première carte, chaque service part avec sa version exacte. Quatorze services, chaque image épinglée, y compris les images tierces. Les deux images de l’application sont étiquetées par le pipeline, donc traçables au commit.</a:t>
            </a:r>
          </a:p>
          <a:p>
            <a:r>
              <a:t>Deuxième carte, un seul fichier décrit l’état voulu et la machine cible. C’est le point à faire entendre, aucun service ne choisit son nœud, c’est le label qui l’impose.</a:t>
            </a:r>
          </a:p>
          <a:p>
            <a:r>
              <a:t>Troisième carte, le nombre de copies se change dans un fichier, jamais à la main sur le serveur, donc pas de dérive entre le déclaré et le réel. Les services à état restent à une seule copie, c’est assumé.</a:t>
            </a:r>
          </a:p>
          <a:p>
            <a:r>
              <a:t>Quatrième carte, les copies sont remplacées une à une, le service ne s’arrête pas pendant la mise à jour.</a:t>
            </a:r>
          </a:p>
          <a:p>
            <a:r>
              <a:t>Et la flèche rouge du dessous est la plus importante. Si le contrôle de santé échoue pendant la mise à jour, Swarm revient tout seul à la version précédente. C’est ce qui rend un déploiement réversible.</a:t>
            </a:r>
          </a:p>
          <a:p>
            <a:r>
              <a:t>En bas, la réponse à l’optimisation des ressources demandée par la compétence. Chaque service porte une réservation garantie et un plafond qu’il ne peut pas dépasser. On voit d’un coup que la base pèse l’essentiel et que les services applicatifs sont volontairement bornés.</a:t>
            </a:r>
          </a:p>
          <a:p>
            <a:r>
              <a:t>Si on me pose la question, le nœud de périphérie est le point de vigilance R1 du registre, sa mise en haute disponibilité est le palier suivant, déjà chiffré.</a:t>
            </a:r>
          </a:p>
          <a:p>
            <a:r>
              <a:t>Durée visée, 65 secondes.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chaîne d’observabilité, entièrement versionnée. Quatre étages, des sources jusqu’à la restitution.</a:t>
            </a:r>
          </a:p>
          <a:p>
            <a:r>
              <a:t>Dix règles d’alerte réparties en quatre familles. Le mot important est anticipation. Le disque alerte sur une projection de saturation, la latence alerte avant l’indisponibilité.</a:t>
            </a:r>
          </a:p>
          <a:p>
            <a:r>
              <a:t>Le routage est réellement configuré, deux canaux, courriel authentifié et webhook Slack, avec les secrets hors du dépôt.</a:t>
            </a:r>
          </a:p>
          <a:p>
            <a:r>
              <a:t>La famille énergie, une règle dédiée, fait le lien avec la diapositive suivante.</a:t>
            </a:r>
          </a:p>
          <a:p>
            <a:r>
              <a:t>Durée visée, 60 secondes.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Commencer par l’honnêteté méthodologique, c’est ce qui rend la réponse crédible. Les compteurs matériels ne sont pas exposés dans une machine virtuelle louée, la mesure directe est impossible.</a:t>
            </a:r>
          </a:p>
          <a:p>
            <a:r>
              <a:t>D’où un modèle d’estimation documenté et assumé, dérivé de l’utilisation processeur. La formule est simple, vérifiable et contestable, c’est ce qu’on attend d’une estimation.</a:t>
            </a:r>
          </a:p>
          <a:p>
            <a:r>
              <a:t>Elle produit trois indicateurs, puissance, énergie et empreinte carbone, plus une alerte dédiée au-delà de deux cents watts pendant quinze minutes.</a:t>
            </a:r>
          </a:p>
          <a:p>
            <a:r>
              <a:t>En bas la boucle se ferme. On mesure, on alerte, un modèle analyse les séries et propose, et l’ingénieur valide avant application.</a:t>
            </a:r>
          </a:p>
          <a:p>
            <a:r>
              <a:t>Durée visée, 65 secondes.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Deux critères du bloc option sont visés ici, la documentation précise et adaptée aux utilisateurs, et la documentation des processus d’automatisation adaptée aux différents profils.</a:t>
            </a:r>
          </a:p>
          <a:p>
            <a:r>
              <a:t>En haut trois niveaux qui ne se recouvrent pas. OpenAPI dit quoi, les commentaires disent comment, les fiches de décision disent pourquoi. C’est le pourquoi qui coûte le plus cher à reconstituer.</a:t>
            </a:r>
          </a:p>
          <a:p>
            <a:r>
              <a:t>Au milieu le wiki, seize pages versionnées dans le dépôt, organisées par profil de lecteur. L’accessibilité est un choix de forme, du texte structuré plutôt que des captures d’écran.</a:t>
            </a:r>
          </a:p>
          <a:p>
            <a:r>
              <a:t>En bas le plan d’amélioration, chiffré à vingt-neuf jours-homme et quatorze mille cinq cents euros.</a:t>
            </a:r>
          </a:p>
          <a:p>
            <a:r>
              <a:t>Durée visée, 60 secondes.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Cette diapositive répond à trois critères de trois blocs différents. Les KPI du projet doivent être définis, les critères de performance, sécurité et conformité doivent être exprimés en indicateurs, et les métriques de qualité doivent être pertinentes.</a:t>
            </a:r>
          </a:p>
          <a:p>
            <a:r>
              <a:t>Quatre domaines, trois indicateurs chacun, avec la cible affichée en gros.</a:t>
            </a:r>
          </a:p>
          <a:p>
            <a:r>
              <a:t>Le point à faire entendre est en dessous, chaque indicateur porte une source de mesure identifiée. Les indicateurs techniques sont relevés en continu par la pile d’observabilité.</a:t>
            </a:r>
          </a:p>
          <a:p>
            <a:r>
              <a:t>En bas, les quatre métriques DORA qui mesurent la performance de la chaîne de livraison elle-même.</a:t>
            </a:r>
          </a:p>
          <a:p>
            <a:r>
              <a:t>Si on me demande comment ces indicateurs sont consolidés, ils vivent dans trois endroits, la forge, le pipeline et Grafana. Un tableau de bord de synthèse, sécurisé et consultable en ligne, les regroupe et produit un résumé en langage naturel assisté par IA, qui signale les dérives et les liens entre incidents et déploiements. Les conclusions restent validées par l’ingénieur avant diffusion. Mémoire 13.2.1 et annexe T.</a:t>
            </a:r>
          </a:p>
          <a:p>
            <a:r>
              <a:t>Durée visée, 60 secondes.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défense en profondeur, quatre couches emboîtées de la périphérie jusqu’à la donnée. Le schéma dit l’essentiel, aucune couche ne suppose que la précédente a tenu.</a:t>
            </a:r>
          </a:p>
          <a:p>
            <a:r>
              <a:t>Si le pare-feu applicatif tombe, le cloisonnement réseau tient. Si le réseau est franchi, les sessions opaques et la limitation de débit tiennent. Si l’application est franchie, les données restent hachées et chiffrées.</a:t>
            </a:r>
          </a:p>
          <a:p>
            <a:r>
              <a:t>À droite la conformité est cartographiée, y compris ses écarts. C’est un choix assumé, un dossier qui prétend tout couvrir n’est pas crédible.</a:t>
            </a:r>
          </a:p>
          <a:p>
            <a:r>
              <a:t>La continuité est éprouvée et non déclarée, le plan de reprise reconstruit par le code.</a:t>
            </a:r>
          </a:p>
          <a:p>
            <a:r>
              <a:t>Durée visée, 55 secondes.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Retour à la grille de la diapositive 5. Les cinq objectifs sont atteints, et chacun est prouvé par un fait vérifiable, pas par une affirmation.</a:t>
            </a:r>
          </a:p>
          <a:p>
            <a:r>
              <a:t>À droite le retour d’expérience. Ce qui reste à faire est nommé et chiffré, pas caché, et tout est au plan d’amélioration continue.</a:t>
            </a:r>
          </a:p>
          <a:p>
            <a:r>
              <a:t>Ce qui a bien fonctionné, si on me le demande, la cohérence de bout en bout, la sécurité intégrée dès le premier commit, et la supervision énergétique qui reste rare à cette échelle.</a:t>
            </a:r>
          </a:p>
          <a:p>
            <a:r>
              <a:t>Dire que les trois hypothèses de la diapositive 5 sont confirmées, puis poser la réserve clairement, ces résultats sont établis en conditions de validation, pas sous charge réelle prolongée.</a:t>
            </a:r>
          </a:p>
          <a:p>
            <a:r>
              <a:t>Durée visée, 65 secondes.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C’est la diapositive qui referme la question. Prendre le temps, ne pas la survoler.</a:t>
            </a:r>
          </a:p>
          <a:p>
            <a:r>
              <a:t>Reprendre les six exigences dans l’ordre exact de la problématique, chacune avec sa preuve et le numéro de la diapositive qui l’a montrée. Le jury voit que rien n’a été laissé de côté.</a:t>
            </a:r>
          </a:p>
          <a:p>
            <a:r>
              <a:t>Puis énoncer lentement les trois conditions, ce sont elles qui seront retenues.</a:t>
            </a:r>
          </a:p>
          <a:p>
            <a:r>
              <a:t>Fermer sur le rôle de l’expert en systèmes d’information. Ce n’est pas de produire un logiciel, c’est de maîtriser la chaîne sûre et sobre qui le porte jusqu’à ses utilisateurs. Puis enchaîner sur les remerciements.</a:t>
            </a:r>
          </a:p>
          <a:p>
            <a:r>
              <a:t>Durée visée, 70 secondes.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Remercier le jury et ouvrir les trente minutes de questions.</a:t>
            </a:r>
          </a:p>
          <a:p>
            <a:r>
              <a:t>Garder sous la main la table de correspondance du référentiel. Chaque diapositive porte déjà sa compétence, son bloc, sa section de mémoire et son annexe.</a:t>
            </a:r>
          </a:p>
          <a:p>
            <a:r>
              <a:t>Être prêt à montrer en direct le dépôt, un pipeline qui tourne, un tableau de bord et la suite de tests au vert.</a:t>
            </a:r>
          </a:p>
          <a:p>
            <a:r>
              <a:t>Sujets probables, pourquoi Swarm et pas Kubernetes, comment est validée l’estimation énergétique, que se passe-t-il si une porte bloque une livraison urgente, comment le RGPD est implémenté en base, pourquoi le non fonctionnel pèse plus lourd que le fonctionnel.</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
          </a:xfrm>
          <a:prstGeom prst="rect">
            <a:avLst/>
          </a:prstGeom>
          <a:solidFill>
            <a:srgbClr val="1717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4334256"/>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338328"/>
            <a:ext cx="694944" cy="402336"/>
          </a:xfrm>
          <a:prstGeom prst="roundRect">
            <a:avLst>
              <a:gd name="adj" fmla="val 14204"/>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384048"/>
            <a:ext cx="694944"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429768" y="489204"/>
            <a:ext cx="749808"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7991856" y="338328"/>
            <a:ext cx="694944" cy="402336"/>
          </a:xfrm>
          <a:prstGeom prst="roundRect">
            <a:avLst>
              <a:gd name="adj" fmla="val 14204"/>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991856" y="384048"/>
            <a:ext cx="694944"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64424" y="489204"/>
            <a:ext cx="749808"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1325880" y="347472"/>
            <a:ext cx="6492240" cy="219456"/>
          </a:xfrm>
          <a:prstGeom prst="rect">
            <a:avLst/>
          </a:prstGeom>
          <a:noFill/>
        </p:spPr>
        <p:txBody>
          <a:bodyPr wrap="square" lIns="54864" tIns="27432" rIns="54864" bIns="27432" anchor="t">
            <a:spAutoFit/>
          </a:bodyPr>
          <a:lstStyle/>
          <a:p>
            <a:pPr algn="ctr">
              <a:lnSpc>
                <a:spcPct val="100000"/>
              </a:lnSpc>
            </a:pPr>
            <a:r>
              <a:rPr sz="850" b="1" i="0">
                <a:solidFill>
                  <a:srgbClr val="2F9E44"/>
                </a:solidFill>
                <a:latin typeface="Arial"/>
              </a:rPr>
              <a:t>RNCP N° 40573   ·   RNCP40573BC06   ·   NIVEAU 7 (BAC+5)</a:t>
            </a:r>
          </a:p>
        </p:txBody>
      </p:sp>
      <p:sp>
        <p:nvSpPr>
          <p:cNvPr id="11" name="TextBox 10"/>
          <p:cNvSpPr txBox="1"/>
          <p:nvPr/>
        </p:nvSpPr>
        <p:spPr>
          <a:xfrm>
            <a:off x="1325880" y="585216"/>
            <a:ext cx="6492240" cy="219456"/>
          </a:xfrm>
          <a:prstGeom prst="rect">
            <a:avLst/>
          </a:prstGeom>
          <a:noFill/>
        </p:spPr>
        <p:txBody>
          <a:bodyPr wrap="square" lIns="54864" tIns="27432" rIns="54864" bIns="27432" anchor="t">
            <a:spAutoFit/>
          </a:bodyPr>
          <a:lstStyle/>
          <a:p>
            <a:pPr algn="ctr">
              <a:lnSpc>
                <a:spcPct val="100000"/>
              </a:lnSpc>
            </a:pPr>
            <a:r>
              <a:rPr sz="850" b="1" i="0">
                <a:solidFill>
                  <a:srgbClr val="8F8F8F"/>
                </a:solidFill>
                <a:latin typeface="Arial"/>
              </a:rPr>
              <a:t>EXPERT EN INFORMATIQUE ET SYSTÈMES D’INFORMATION   ·   OPTION DEVOPS</a:t>
            </a:r>
          </a:p>
        </p:txBody>
      </p:sp>
      <p:sp>
        <p:nvSpPr>
          <p:cNvPr id="12" name="TextBox 11"/>
          <p:cNvSpPr txBox="1"/>
          <p:nvPr/>
        </p:nvSpPr>
        <p:spPr>
          <a:xfrm>
            <a:off x="640080" y="914400"/>
            <a:ext cx="7863840" cy="822960"/>
          </a:xfrm>
          <a:prstGeom prst="rect">
            <a:avLst/>
          </a:prstGeom>
          <a:noFill/>
        </p:spPr>
        <p:txBody>
          <a:bodyPr wrap="square" lIns="54864" tIns="27432" rIns="54864" bIns="27432" anchor="t">
            <a:spAutoFit/>
          </a:bodyPr>
          <a:lstStyle/>
          <a:p>
            <a:pPr algn="ctr">
              <a:lnSpc>
                <a:spcPct val="100000"/>
              </a:lnSpc>
            </a:pPr>
            <a:r>
              <a:rPr sz="4000" b="1" i="0">
                <a:solidFill>
                  <a:srgbClr val="171717"/>
                </a:solidFill>
                <a:latin typeface="Arial"/>
              </a:rPr>
              <a:t>dropicture</a:t>
            </a:r>
          </a:p>
        </p:txBody>
      </p:sp>
      <p:sp>
        <p:nvSpPr>
          <p:cNvPr id="13" name="Rounded Rectangle 12"/>
          <p:cNvSpPr/>
          <p:nvPr/>
        </p:nvSpPr>
        <p:spPr>
          <a:xfrm>
            <a:off x="1298448" y="1874519"/>
            <a:ext cx="6675120" cy="1005840"/>
          </a:xfrm>
          <a:prstGeom prst="roundRect">
            <a:avLst>
              <a:gd name="adj" fmla="val 5681"/>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499616" y="1874519"/>
            <a:ext cx="6309360" cy="1005840"/>
          </a:xfrm>
          <a:prstGeom prst="rect">
            <a:avLst/>
          </a:prstGeom>
          <a:noFill/>
        </p:spPr>
        <p:txBody>
          <a:bodyPr wrap="square" lIns="54864" tIns="27432" rIns="54864" bIns="27432" anchor="ctr">
            <a:spAutoFit/>
          </a:bodyPr>
          <a:lstStyle/>
          <a:p>
            <a:pPr algn="l">
              <a:lnSpc>
                <a:spcPct val="110000"/>
              </a:lnSpc>
              <a:spcAft>
                <a:spcPts val="300"/>
              </a:spcAft>
            </a:pPr>
            <a:r>
              <a:rPr sz="1000" b="1" i="0">
                <a:solidFill>
                  <a:srgbClr val="2F9E44"/>
                </a:solidFill>
                <a:latin typeface="Arial"/>
              </a:rPr>
              <a:t>Problématique</a:t>
            </a:r>
          </a:p>
          <a:p>
            <a:pPr algn="l">
              <a:lnSpc>
                <a:spcPct val="110000"/>
              </a:lnSpc>
              <a:spcAft>
                <a:spcPts val="300"/>
              </a:spcAft>
            </a:pPr>
            <a:r>
              <a:rPr sz="1050" b="0" i="0">
                <a:solidFill>
                  <a:srgbClr val="666666"/>
                </a:solidFill>
                <a:latin typeface="Arial"/>
              </a:rPr>
              <a:t>Comment concevoir et déployer une infrastructure DevOps entièrement automatisée, sécurisée et éco-responsable, permettant la livraison continue d’une plateforme SaaS de partage de médias tout en garantissant la qualité, l’observabilité et la maîtrise des coûts ?</a:t>
            </a:r>
          </a:p>
        </p:txBody>
      </p:sp>
      <p:sp>
        <p:nvSpPr>
          <p:cNvPr id="15" name="TextBox 14"/>
          <p:cNvSpPr txBox="1"/>
          <p:nvPr/>
        </p:nvSpPr>
        <p:spPr>
          <a:xfrm>
            <a:off x="640080" y="3072384"/>
            <a:ext cx="7863840" cy="274320"/>
          </a:xfrm>
          <a:prstGeom prst="rect">
            <a:avLst/>
          </a:prstGeom>
          <a:noFill/>
        </p:spPr>
        <p:txBody>
          <a:bodyPr wrap="square" lIns="54864" tIns="27432" rIns="54864" bIns="27432" anchor="t">
            <a:spAutoFit/>
          </a:bodyPr>
          <a:lstStyle/>
          <a:p>
            <a:pPr algn="ctr">
              <a:lnSpc>
                <a:spcPct val="100000"/>
              </a:lnSpc>
            </a:pPr>
            <a:r>
              <a:rPr sz="1200" b="1" i="0">
                <a:solidFill>
                  <a:srgbClr val="171717"/>
                </a:solidFill>
                <a:latin typeface="Arial"/>
              </a:rPr>
              <a:t>Amir REDJEM     Promotion 2024 / 2026     ·     Option DevOps (BC4C)</a:t>
            </a:r>
          </a:p>
        </p:txBody>
      </p:sp>
      <p:sp>
        <p:nvSpPr>
          <p:cNvPr id="16" name="TextBox 15"/>
          <p:cNvSpPr txBox="1"/>
          <p:nvPr/>
        </p:nvSpPr>
        <p:spPr>
          <a:xfrm>
            <a:off x="457200" y="3584448"/>
            <a:ext cx="4114800" cy="640080"/>
          </a:xfrm>
          <a:prstGeom prst="rect">
            <a:avLst/>
          </a:prstGeom>
          <a:noFill/>
        </p:spPr>
        <p:txBody>
          <a:bodyPr wrap="square" lIns="54864" tIns="27432" rIns="54864" bIns="27432" anchor="t">
            <a:spAutoFit/>
          </a:bodyPr>
          <a:lstStyle/>
          <a:p>
            <a:pPr algn="ctr">
              <a:lnSpc>
                <a:spcPct val="110000"/>
              </a:lnSpc>
            </a:pPr>
            <a:r>
              <a:rPr sz="1000" b="1" i="0">
                <a:solidFill>
                  <a:srgbClr val="171717"/>
                </a:solidFill>
                <a:latin typeface="Arial"/>
              </a:rPr>
              <a:t>École La Plateforme</a:t>
            </a:r>
          </a:p>
          <a:p>
            <a:pPr algn="ctr">
              <a:lnSpc>
                <a:spcPct val="110000"/>
              </a:lnSpc>
            </a:pPr>
            <a:r>
              <a:rPr sz="900" b="0" i="0">
                <a:solidFill>
                  <a:srgbClr val="666666"/>
                </a:solidFill>
                <a:latin typeface="Arial"/>
              </a:rPr>
              <a:t>Marseille</a:t>
            </a:r>
          </a:p>
          <a:p>
            <a:pPr algn="ctr">
              <a:lnSpc>
                <a:spcPct val="110000"/>
              </a:lnSpc>
            </a:pPr>
            <a:r>
              <a:rPr sz="900" b="0" i="0">
                <a:solidFill>
                  <a:srgbClr val="666666"/>
                </a:solidFill>
                <a:latin typeface="Arial"/>
              </a:rPr>
              <a:t>Référent  Joris VERGULDEZOONE</a:t>
            </a:r>
          </a:p>
        </p:txBody>
      </p:sp>
      <p:sp>
        <p:nvSpPr>
          <p:cNvPr id="17" name="TextBox 16"/>
          <p:cNvSpPr txBox="1"/>
          <p:nvPr/>
        </p:nvSpPr>
        <p:spPr>
          <a:xfrm>
            <a:off x="4572000" y="3584448"/>
            <a:ext cx="4114800" cy="640080"/>
          </a:xfrm>
          <a:prstGeom prst="rect">
            <a:avLst/>
          </a:prstGeom>
          <a:noFill/>
        </p:spPr>
        <p:txBody>
          <a:bodyPr wrap="square" lIns="54864" tIns="27432" rIns="54864" bIns="27432" anchor="t">
            <a:spAutoFit/>
          </a:bodyPr>
          <a:lstStyle/>
          <a:p>
            <a:pPr algn="ctr">
              <a:lnSpc>
                <a:spcPct val="110000"/>
              </a:lnSpc>
            </a:pPr>
            <a:r>
              <a:rPr sz="1000" b="1" i="0">
                <a:solidFill>
                  <a:srgbClr val="171717"/>
                </a:solidFill>
                <a:latin typeface="Arial"/>
              </a:rPr>
              <a:t>FDJ United</a:t>
            </a:r>
          </a:p>
          <a:p>
            <a:pPr algn="ctr">
              <a:lnSpc>
                <a:spcPct val="110000"/>
              </a:lnSpc>
            </a:pPr>
            <a:r>
              <a:rPr sz="900" b="0" i="0">
                <a:solidFill>
                  <a:srgbClr val="666666"/>
                </a:solidFill>
                <a:latin typeface="Arial"/>
              </a:rPr>
              <a:t>Vitrolles</a:t>
            </a:r>
          </a:p>
          <a:p>
            <a:pPr algn="ctr">
              <a:lnSpc>
                <a:spcPct val="110000"/>
              </a:lnSpc>
            </a:pPr>
            <a:r>
              <a:rPr sz="900" b="0" i="0">
                <a:solidFill>
                  <a:srgbClr val="666666"/>
                </a:solidFill>
                <a:latin typeface="Arial"/>
              </a:rPr>
              <a:t>Référent  Philippe AMERIO</a:t>
            </a:r>
          </a:p>
        </p:txBody>
      </p:sp>
      <p:sp>
        <p:nvSpPr>
          <p:cNvPr id="18" name="TextBox 17"/>
          <p:cNvSpPr txBox="1"/>
          <p:nvPr/>
        </p:nvSpPr>
        <p:spPr>
          <a:xfrm>
            <a:off x="640080" y="4498848"/>
            <a:ext cx="7863840" cy="237744"/>
          </a:xfrm>
          <a:prstGeom prst="rect">
            <a:avLst/>
          </a:prstGeom>
          <a:noFill/>
        </p:spPr>
        <p:txBody>
          <a:bodyPr wrap="square" lIns="54864" tIns="27432" rIns="54864" bIns="27432" anchor="t">
            <a:spAutoFit/>
          </a:bodyPr>
          <a:lstStyle/>
          <a:p>
            <a:pPr algn="ctr">
              <a:lnSpc>
                <a:spcPct val="100000"/>
              </a:lnSpc>
            </a:pPr>
            <a:r>
              <a:rPr sz="900" b="1" i="0">
                <a:solidFill>
                  <a:srgbClr val="8F8F8F"/>
                </a:solidFill>
                <a:latin typeface="Arial"/>
              </a:rPr>
              <a:t>Soutenance du 03/08/2026</a:t>
            </a:r>
          </a:p>
        </p:txBody>
      </p:sp>
      <p:sp>
        <p:nvSpPr>
          <p:cNvPr id="19" name="TextBox 18"/>
          <p:cNvSpPr txBox="1"/>
          <p:nvPr/>
        </p:nvSpPr>
        <p:spPr>
          <a:xfrm>
            <a:off x="7726679" y="4832604"/>
            <a:ext cx="1143000" cy="237744"/>
          </a:xfrm>
          <a:prstGeom prst="rect">
            <a:avLst/>
          </a:prstGeom>
          <a:noFill/>
        </p:spPr>
        <p:txBody>
          <a:bodyPr wrap="square" lIns="54864" tIns="27432" rIns="54864" bIns="27432" anchor="t">
            <a:spAutoFit/>
          </a:bodyPr>
          <a:lstStyle/>
          <a:p>
            <a:pPr algn="r">
              <a:lnSpc>
                <a:spcPct val="100000"/>
              </a:lnSpc>
            </a:pPr>
            <a:r>
              <a:rPr sz="800" b="0" i="0">
                <a:solidFill>
                  <a:srgbClr val="A1A1A1"/>
                </a:solidFill>
                <a:latin typeface="Arial"/>
              </a:rPr>
              <a:t>01 / 31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524000" cy="41148"/>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269480"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10144"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lIns="54864" tIns="27432" rIns="54864" bIns="27432" anchor="t">
            <a:spAutoFit/>
          </a:bodyPr>
          <a:lstStyle/>
          <a:p>
            <a:pPr algn="l">
              <a:lnSpc>
                <a:spcPct val="100000"/>
              </a:lnSpc>
            </a:pPr>
            <a:r>
              <a:rPr sz="750" b="1" i="0" spc="120">
                <a:solidFill>
                  <a:srgbClr val="2F9E44"/>
                </a:solidFill>
                <a:latin typeface="Arial"/>
              </a:rPr>
              <a:t>1 · INTRODUCTION</a:t>
            </a:r>
          </a:p>
        </p:txBody>
      </p:sp>
      <p:sp>
        <p:nvSpPr>
          <p:cNvPr id="11" name="TextBox 10"/>
          <p:cNvSpPr txBox="1"/>
          <p:nvPr/>
        </p:nvSpPr>
        <p:spPr>
          <a:xfrm>
            <a:off x="457200" y="493776"/>
            <a:ext cx="6720840" cy="566928"/>
          </a:xfrm>
          <a:prstGeom prst="rect">
            <a:avLst/>
          </a:prstGeom>
          <a:noFill/>
        </p:spPr>
        <p:txBody>
          <a:bodyPr wrap="square" lIns="54864" tIns="27432" rIns="54864" bIns="27432" anchor="t">
            <a:spAutoFit/>
          </a:bodyPr>
          <a:lstStyle/>
          <a:p>
            <a:pPr algn="l">
              <a:lnSpc>
                <a:spcPct val="100000"/>
              </a:lnSpc>
            </a:pPr>
            <a:r>
              <a:rPr sz="2400" b="1" i="0" spc="-84">
                <a:solidFill>
                  <a:srgbClr val="171717"/>
                </a:solidFill>
                <a:latin typeface="Arial"/>
              </a:rPr>
              <a:t>Sommaire</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26679" y="4832604"/>
            <a:ext cx="1143000" cy="237744"/>
          </a:xfrm>
          <a:prstGeom prst="rect">
            <a:avLst/>
          </a:prstGeom>
          <a:noFill/>
        </p:spPr>
        <p:txBody>
          <a:bodyPr wrap="square" lIns="54864" tIns="27432" rIns="54864" bIns="27432" anchor="t">
            <a:spAutoFit/>
          </a:bodyPr>
          <a:lstStyle/>
          <a:p>
            <a:pPr algn="r">
              <a:lnSpc>
                <a:spcPct val="100000"/>
              </a:lnSpc>
            </a:pPr>
            <a:r>
              <a:rPr sz="800" b="0" i="0">
                <a:solidFill>
                  <a:srgbClr val="A1A1A1"/>
                </a:solidFill>
                <a:latin typeface="Arial"/>
              </a:rPr>
              <a:t>02 / 31</a:t>
            </a:r>
          </a:p>
        </p:txBody>
      </p:sp>
      <p:sp>
        <p:nvSpPr>
          <p:cNvPr id="14" name="Rounded Rectangle 13"/>
          <p:cNvSpPr/>
          <p:nvPr/>
        </p:nvSpPr>
        <p:spPr>
          <a:xfrm>
            <a:off x="457200" y="1316736"/>
            <a:ext cx="8229600" cy="402336"/>
          </a:xfrm>
          <a:prstGeom prst="roundRect">
            <a:avLst>
              <a:gd name="adj" fmla="val 1420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57200" y="1316736"/>
            <a:ext cx="402336" cy="402336"/>
          </a:xfrm>
          <a:prstGeom prst="roundRect">
            <a:avLst>
              <a:gd name="adj" fmla="val 14204"/>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 y="1316736"/>
            <a:ext cx="402336" cy="402336"/>
          </a:xfrm>
          <a:prstGeom prst="rect">
            <a:avLst/>
          </a:prstGeom>
          <a:noFill/>
        </p:spPr>
        <p:txBody>
          <a:bodyPr wrap="square" lIns="54864" tIns="27432" rIns="54864" bIns="27432" anchor="ctr">
            <a:spAutoFit/>
          </a:bodyPr>
          <a:lstStyle/>
          <a:p>
            <a:pPr algn="ctr">
              <a:lnSpc>
                <a:spcPct val="100000"/>
              </a:lnSpc>
            </a:pPr>
            <a:r>
              <a:rPr sz="1200" b="1" i="0">
                <a:solidFill>
                  <a:srgbClr val="FFFFFF"/>
                </a:solidFill>
                <a:latin typeface="Arial"/>
              </a:rPr>
              <a:t>1</a:t>
            </a:r>
          </a:p>
        </p:txBody>
      </p:sp>
      <p:sp>
        <p:nvSpPr>
          <p:cNvPr id="17" name="TextBox 16"/>
          <p:cNvSpPr txBox="1"/>
          <p:nvPr/>
        </p:nvSpPr>
        <p:spPr>
          <a:xfrm>
            <a:off x="1005840" y="1316736"/>
            <a:ext cx="5120640" cy="402336"/>
          </a:xfrm>
          <a:prstGeom prst="rect">
            <a:avLst/>
          </a:prstGeom>
          <a:noFill/>
        </p:spPr>
        <p:txBody>
          <a:bodyPr wrap="square" lIns="54864" tIns="27432" rIns="54864" bIns="27432" anchor="ctr">
            <a:spAutoFit/>
          </a:bodyPr>
          <a:lstStyle/>
          <a:p>
            <a:pPr algn="l">
              <a:lnSpc>
                <a:spcPct val="100000"/>
              </a:lnSpc>
            </a:pPr>
            <a:r>
              <a:rPr sz="1250" b="1" i="0">
                <a:solidFill>
                  <a:srgbClr val="171717"/>
                </a:solidFill>
                <a:latin typeface="Arial"/>
              </a:rPr>
              <a:t>Introduction</a:t>
            </a:r>
          </a:p>
        </p:txBody>
      </p:sp>
      <p:sp>
        <p:nvSpPr>
          <p:cNvPr id="18" name="TextBox 17"/>
          <p:cNvSpPr txBox="1"/>
          <p:nvPr/>
        </p:nvSpPr>
        <p:spPr>
          <a:xfrm>
            <a:off x="6492240" y="1316736"/>
            <a:ext cx="2011680" cy="402336"/>
          </a:xfrm>
          <a:prstGeom prst="rect">
            <a:avLst/>
          </a:prstGeom>
          <a:noFill/>
        </p:spPr>
        <p:txBody>
          <a:bodyPr wrap="square" lIns="54864" tIns="27432" rIns="54864" bIns="27432" anchor="ctr">
            <a:spAutoFit/>
          </a:bodyPr>
          <a:lstStyle/>
          <a:p>
            <a:pPr algn="r">
              <a:lnSpc>
                <a:spcPct val="100000"/>
              </a:lnSpc>
            </a:pPr>
            <a:r>
              <a:rPr sz="1000" b="1" i="0">
                <a:solidFill>
                  <a:srgbClr val="8F8F8F"/>
                </a:solidFill>
                <a:latin typeface="Arial"/>
              </a:rPr>
              <a:t>diapos 3 à 5</a:t>
            </a:r>
          </a:p>
        </p:txBody>
      </p:sp>
      <p:sp>
        <p:nvSpPr>
          <p:cNvPr id="19" name="Rounded Rectangle 18"/>
          <p:cNvSpPr/>
          <p:nvPr/>
        </p:nvSpPr>
        <p:spPr>
          <a:xfrm>
            <a:off x="457200" y="1801368"/>
            <a:ext cx="8229600" cy="402336"/>
          </a:xfrm>
          <a:prstGeom prst="roundRect">
            <a:avLst>
              <a:gd name="adj" fmla="val 1420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457200" y="1801368"/>
            <a:ext cx="402336" cy="402336"/>
          </a:xfrm>
          <a:prstGeom prst="roundRect">
            <a:avLst>
              <a:gd name="adj" fmla="val 14204"/>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1801368"/>
            <a:ext cx="402336" cy="402336"/>
          </a:xfrm>
          <a:prstGeom prst="rect">
            <a:avLst/>
          </a:prstGeom>
          <a:noFill/>
        </p:spPr>
        <p:txBody>
          <a:bodyPr wrap="square" lIns="54864" tIns="27432" rIns="54864" bIns="27432" anchor="ctr">
            <a:spAutoFit/>
          </a:bodyPr>
          <a:lstStyle/>
          <a:p>
            <a:pPr algn="ctr">
              <a:lnSpc>
                <a:spcPct val="100000"/>
              </a:lnSpc>
            </a:pPr>
            <a:r>
              <a:rPr sz="1200" b="1" i="0">
                <a:solidFill>
                  <a:srgbClr val="FFFFFF"/>
                </a:solidFill>
                <a:latin typeface="Arial"/>
              </a:rPr>
              <a:t>2</a:t>
            </a:r>
          </a:p>
        </p:txBody>
      </p:sp>
      <p:sp>
        <p:nvSpPr>
          <p:cNvPr id="22" name="TextBox 21"/>
          <p:cNvSpPr txBox="1"/>
          <p:nvPr/>
        </p:nvSpPr>
        <p:spPr>
          <a:xfrm>
            <a:off x="1005840" y="1801368"/>
            <a:ext cx="5120640" cy="402336"/>
          </a:xfrm>
          <a:prstGeom prst="rect">
            <a:avLst/>
          </a:prstGeom>
          <a:noFill/>
        </p:spPr>
        <p:txBody>
          <a:bodyPr wrap="square" lIns="54864" tIns="27432" rIns="54864" bIns="27432" anchor="ctr">
            <a:spAutoFit/>
          </a:bodyPr>
          <a:lstStyle/>
          <a:p>
            <a:pPr algn="l">
              <a:lnSpc>
                <a:spcPct val="100000"/>
              </a:lnSpc>
            </a:pPr>
            <a:r>
              <a:rPr sz="1250" b="1" i="0">
                <a:solidFill>
                  <a:srgbClr val="171717"/>
                </a:solidFill>
                <a:latin typeface="Arial"/>
              </a:rPr>
              <a:t>Analyse et stratégie du SI</a:t>
            </a:r>
          </a:p>
        </p:txBody>
      </p:sp>
      <p:sp>
        <p:nvSpPr>
          <p:cNvPr id="23" name="TextBox 22"/>
          <p:cNvSpPr txBox="1"/>
          <p:nvPr/>
        </p:nvSpPr>
        <p:spPr>
          <a:xfrm>
            <a:off x="6492240" y="1801368"/>
            <a:ext cx="2011680" cy="402336"/>
          </a:xfrm>
          <a:prstGeom prst="rect">
            <a:avLst/>
          </a:prstGeom>
          <a:noFill/>
        </p:spPr>
        <p:txBody>
          <a:bodyPr wrap="square" lIns="54864" tIns="27432" rIns="54864" bIns="27432" anchor="ctr">
            <a:spAutoFit/>
          </a:bodyPr>
          <a:lstStyle/>
          <a:p>
            <a:pPr algn="r">
              <a:lnSpc>
                <a:spcPct val="100000"/>
              </a:lnSpc>
            </a:pPr>
            <a:r>
              <a:rPr sz="1000" b="1" i="0">
                <a:solidFill>
                  <a:srgbClr val="8F8F8F"/>
                </a:solidFill>
                <a:latin typeface="Arial"/>
              </a:rPr>
              <a:t>diapos 6 à 9</a:t>
            </a:r>
          </a:p>
        </p:txBody>
      </p:sp>
      <p:sp>
        <p:nvSpPr>
          <p:cNvPr id="24" name="Rounded Rectangle 23"/>
          <p:cNvSpPr/>
          <p:nvPr/>
        </p:nvSpPr>
        <p:spPr>
          <a:xfrm>
            <a:off x="457200" y="2286000"/>
            <a:ext cx="8229600" cy="402336"/>
          </a:xfrm>
          <a:prstGeom prst="roundRect">
            <a:avLst>
              <a:gd name="adj" fmla="val 1420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457200" y="2286000"/>
            <a:ext cx="402336" cy="402336"/>
          </a:xfrm>
          <a:prstGeom prst="roundRect">
            <a:avLst>
              <a:gd name="adj" fmla="val 14204"/>
            </a:avLst>
          </a:prstGeom>
          <a:solidFill>
            <a:srgbClr val="674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57200" y="2286000"/>
            <a:ext cx="402336" cy="402336"/>
          </a:xfrm>
          <a:prstGeom prst="rect">
            <a:avLst/>
          </a:prstGeom>
          <a:noFill/>
        </p:spPr>
        <p:txBody>
          <a:bodyPr wrap="square" lIns="54864" tIns="27432" rIns="54864" bIns="27432" anchor="ctr">
            <a:spAutoFit/>
          </a:bodyPr>
          <a:lstStyle/>
          <a:p>
            <a:pPr algn="ctr">
              <a:lnSpc>
                <a:spcPct val="100000"/>
              </a:lnSpc>
            </a:pPr>
            <a:r>
              <a:rPr sz="1200" b="1" i="0">
                <a:solidFill>
                  <a:srgbClr val="FFFFFF"/>
                </a:solidFill>
                <a:latin typeface="Arial"/>
              </a:rPr>
              <a:t>3</a:t>
            </a:r>
          </a:p>
        </p:txBody>
      </p:sp>
      <p:sp>
        <p:nvSpPr>
          <p:cNvPr id="27" name="TextBox 26"/>
          <p:cNvSpPr txBox="1"/>
          <p:nvPr/>
        </p:nvSpPr>
        <p:spPr>
          <a:xfrm>
            <a:off x="1005840" y="2286000"/>
            <a:ext cx="5120640" cy="402336"/>
          </a:xfrm>
          <a:prstGeom prst="rect">
            <a:avLst/>
          </a:prstGeom>
          <a:noFill/>
        </p:spPr>
        <p:txBody>
          <a:bodyPr wrap="square" lIns="54864" tIns="27432" rIns="54864" bIns="27432" anchor="ctr">
            <a:spAutoFit/>
          </a:bodyPr>
          <a:lstStyle/>
          <a:p>
            <a:pPr algn="l">
              <a:lnSpc>
                <a:spcPct val="100000"/>
              </a:lnSpc>
            </a:pPr>
            <a:r>
              <a:rPr sz="1250" b="1" i="0">
                <a:solidFill>
                  <a:srgbClr val="171717"/>
                </a:solidFill>
                <a:latin typeface="Arial"/>
              </a:rPr>
              <a:t>Gestion de projet</a:t>
            </a:r>
          </a:p>
        </p:txBody>
      </p:sp>
      <p:sp>
        <p:nvSpPr>
          <p:cNvPr id="28" name="TextBox 27"/>
          <p:cNvSpPr txBox="1"/>
          <p:nvPr/>
        </p:nvSpPr>
        <p:spPr>
          <a:xfrm>
            <a:off x="6492240" y="2286000"/>
            <a:ext cx="2011680" cy="402336"/>
          </a:xfrm>
          <a:prstGeom prst="rect">
            <a:avLst/>
          </a:prstGeom>
          <a:noFill/>
        </p:spPr>
        <p:txBody>
          <a:bodyPr wrap="square" lIns="54864" tIns="27432" rIns="54864" bIns="27432" anchor="ctr">
            <a:spAutoFit/>
          </a:bodyPr>
          <a:lstStyle/>
          <a:p>
            <a:pPr algn="r">
              <a:lnSpc>
                <a:spcPct val="100000"/>
              </a:lnSpc>
            </a:pPr>
            <a:r>
              <a:rPr sz="1000" b="1" i="0">
                <a:solidFill>
                  <a:srgbClr val="8F8F8F"/>
                </a:solidFill>
                <a:latin typeface="Arial"/>
              </a:rPr>
              <a:t>diapos 10 à 14</a:t>
            </a:r>
          </a:p>
        </p:txBody>
      </p:sp>
      <p:sp>
        <p:nvSpPr>
          <p:cNvPr id="29" name="Rounded Rectangle 28"/>
          <p:cNvSpPr/>
          <p:nvPr/>
        </p:nvSpPr>
        <p:spPr>
          <a:xfrm>
            <a:off x="457200" y="2770632"/>
            <a:ext cx="8229600" cy="402336"/>
          </a:xfrm>
          <a:prstGeom prst="roundRect">
            <a:avLst>
              <a:gd name="adj" fmla="val 1420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457200" y="2770632"/>
            <a:ext cx="402336" cy="402336"/>
          </a:xfrm>
          <a:prstGeom prst="roundRect">
            <a:avLst>
              <a:gd name="adj" fmla="val 14204"/>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57200" y="2770632"/>
            <a:ext cx="402336" cy="402336"/>
          </a:xfrm>
          <a:prstGeom prst="rect">
            <a:avLst/>
          </a:prstGeom>
          <a:noFill/>
        </p:spPr>
        <p:txBody>
          <a:bodyPr wrap="square" lIns="54864" tIns="27432" rIns="54864" bIns="27432" anchor="ctr">
            <a:spAutoFit/>
          </a:bodyPr>
          <a:lstStyle/>
          <a:p>
            <a:pPr algn="ctr">
              <a:lnSpc>
                <a:spcPct val="100000"/>
              </a:lnSpc>
            </a:pPr>
            <a:r>
              <a:rPr sz="1200" b="1" i="0">
                <a:solidFill>
                  <a:srgbClr val="FFFFFF"/>
                </a:solidFill>
                <a:latin typeface="Arial"/>
              </a:rPr>
              <a:t>4</a:t>
            </a:r>
          </a:p>
        </p:txBody>
      </p:sp>
      <p:sp>
        <p:nvSpPr>
          <p:cNvPr id="32" name="TextBox 31"/>
          <p:cNvSpPr txBox="1"/>
          <p:nvPr/>
        </p:nvSpPr>
        <p:spPr>
          <a:xfrm>
            <a:off x="1005840" y="2770632"/>
            <a:ext cx="5120640" cy="402336"/>
          </a:xfrm>
          <a:prstGeom prst="rect">
            <a:avLst/>
          </a:prstGeom>
          <a:noFill/>
        </p:spPr>
        <p:txBody>
          <a:bodyPr wrap="square" lIns="54864" tIns="27432" rIns="54864" bIns="27432" anchor="ctr">
            <a:spAutoFit/>
          </a:bodyPr>
          <a:lstStyle/>
          <a:p>
            <a:pPr algn="l">
              <a:lnSpc>
                <a:spcPct val="100000"/>
              </a:lnSpc>
            </a:pPr>
            <a:r>
              <a:rPr sz="1250" b="1" i="0">
                <a:solidFill>
                  <a:srgbClr val="171717"/>
                </a:solidFill>
                <a:latin typeface="Arial"/>
              </a:rPr>
              <a:t>Conception et développement</a:t>
            </a:r>
          </a:p>
        </p:txBody>
      </p:sp>
      <p:sp>
        <p:nvSpPr>
          <p:cNvPr id="33" name="TextBox 32"/>
          <p:cNvSpPr txBox="1"/>
          <p:nvPr/>
        </p:nvSpPr>
        <p:spPr>
          <a:xfrm>
            <a:off x="6492240" y="2770632"/>
            <a:ext cx="2011680" cy="402336"/>
          </a:xfrm>
          <a:prstGeom prst="rect">
            <a:avLst/>
          </a:prstGeom>
          <a:noFill/>
        </p:spPr>
        <p:txBody>
          <a:bodyPr wrap="square" lIns="54864" tIns="27432" rIns="54864" bIns="27432" anchor="ctr">
            <a:spAutoFit/>
          </a:bodyPr>
          <a:lstStyle/>
          <a:p>
            <a:pPr algn="r">
              <a:lnSpc>
                <a:spcPct val="100000"/>
              </a:lnSpc>
            </a:pPr>
            <a:r>
              <a:rPr sz="1000" b="1" i="0">
                <a:solidFill>
                  <a:srgbClr val="8F8F8F"/>
                </a:solidFill>
                <a:latin typeface="Arial"/>
              </a:rPr>
              <a:t>diapos 15 à 19</a:t>
            </a:r>
          </a:p>
        </p:txBody>
      </p:sp>
      <p:sp>
        <p:nvSpPr>
          <p:cNvPr id="34" name="Rounded Rectangle 33"/>
          <p:cNvSpPr/>
          <p:nvPr/>
        </p:nvSpPr>
        <p:spPr>
          <a:xfrm>
            <a:off x="457200" y="3255264"/>
            <a:ext cx="8229600" cy="402336"/>
          </a:xfrm>
          <a:prstGeom prst="roundRect">
            <a:avLst>
              <a:gd name="adj" fmla="val 1420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ounded Rectangle 34"/>
          <p:cNvSpPr/>
          <p:nvPr/>
        </p:nvSpPr>
        <p:spPr>
          <a:xfrm>
            <a:off x="457200" y="3255264"/>
            <a:ext cx="402336" cy="402336"/>
          </a:xfrm>
          <a:prstGeom prst="roundRect">
            <a:avLst>
              <a:gd name="adj" fmla="val 14204"/>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57200" y="3255264"/>
            <a:ext cx="402336" cy="402336"/>
          </a:xfrm>
          <a:prstGeom prst="rect">
            <a:avLst/>
          </a:prstGeom>
          <a:noFill/>
        </p:spPr>
        <p:txBody>
          <a:bodyPr wrap="square" lIns="54864" tIns="27432" rIns="54864" bIns="27432" anchor="ctr">
            <a:spAutoFit/>
          </a:bodyPr>
          <a:lstStyle/>
          <a:p>
            <a:pPr algn="ctr">
              <a:lnSpc>
                <a:spcPct val="100000"/>
              </a:lnSpc>
            </a:pPr>
            <a:r>
              <a:rPr sz="1200" b="1" i="0" dirty="0">
                <a:solidFill>
                  <a:srgbClr val="171717"/>
                </a:solidFill>
                <a:latin typeface="Arial"/>
              </a:rPr>
              <a:t>5</a:t>
            </a:r>
          </a:p>
        </p:txBody>
      </p:sp>
      <p:sp>
        <p:nvSpPr>
          <p:cNvPr id="37" name="TextBox 36"/>
          <p:cNvSpPr txBox="1"/>
          <p:nvPr/>
        </p:nvSpPr>
        <p:spPr>
          <a:xfrm>
            <a:off x="1005840" y="3255264"/>
            <a:ext cx="5120640" cy="402336"/>
          </a:xfrm>
          <a:prstGeom prst="rect">
            <a:avLst/>
          </a:prstGeom>
          <a:noFill/>
        </p:spPr>
        <p:txBody>
          <a:bodyPr wrap="square" lIns="54864" tIns="27432" rIns="54864" bIns="27432" anchor="ctr">
            <a:spAutoFit/>
          </a:bodyPr>
          <a:lstStyle/>
          <a:p>
            <a:pPr algn="l">
              <a:lnSpc>
                <a:spcPct val="100000"/>
              </a:lnSpc>
            </a:pPr>
            <a:r>
              <a:rPr sz="1250" b="1" i="0">
                <a:solidFill>
                  <a:srgbClr val="171717"/>
                </a:solidFill>
                <a:latin typeface="Arial"/>
              </a:rPr>
              <a:t>Option DevOps</a:t>
            </a:r>
          </a:p>
        </p:txBody>
      </p:sp>
      <p:sp>
        <p:nvSpPr>
          <p:cNvPr id="38" name="TextBox 37"/>
          <p:cNvSpPr txBox="1"/>
          <p:nvPr/>
        </p:nvSpPr>
        <p:spPr>
          <a:xfrm>
            <a:off x="6492240" y="3255264"/>
            <a:ext cx="2011680" cy="402336"/>
          </a:xfrm>
          <a:prstGeom prst="rect">
            <a:avLst/>
          </a:prstGeom>
          <a:noFill/>
        </p:spPr>
        <p:txBody>
          <a:bodyPr wrap="square" lIns="54864" tIns="27432" rIns="54864" bIns="27432" anchor="ctr">
            <a:spAutoFit/>
          </a:bodyPr>
          <a:lstStyle/>
          <a:p>
            <a:pPr algn="r">
              <a:lnSpc>
                <a:spcPct val="100000"/>
              </a:lnSpc>
            </a:pPr>
            <a:r>
              <a:rPr sz="1000" b="1" i="0">
                <a:solidFill>
                  <a:srgbClr val="8F8F8F"/>
                </a:solidFill>
                <a:latin typeface="Arial"/>
              </a:rPr>
              <a:t>diapos 20 à 26</a:t>
            </a:r>
          </a:p>
        </p:txBody>
      </p:sp>
      <p:sp>
        <p:nvSpPr>
          <p:cNvPr id="39" name="Rounded Rectangle 38"/>
          <p:cNvSpPr/>
          <p:nvPr/>
        </p:nvSpPr>
        <p:spPr>
          <a:xfrm>
            <a:off x="457200" y="3739896"/>
            <a:ext cx="8229600" cy="402336"/>
          </a:xfrm>
          <a:prstGeom prst="roundRect">
            <a:avLst>
              <a:gd name="adj" fmla="val 1420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ounded Rectangle 39"/>
          <p:cNvSpPr/>
          <p:nvPr/>
        </p:nvSpPr>
        <p:spPr>
          <a:xfrm>
            <a:off x="457200" y="3739896"/>
            <a:ext cx="402336" cy="402336"/>
          </a:xfrm>
          <a:prstGeom prst="roundRect">
            <a:avLst>
              <a:gd name="adj" fmla="val 14204"/>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57200" y="3739896"/>
            <a:ext cx="402336" cy="402336"/>
          </a:xfrm>
          <a:prstGeom prst="rect">
            <a:avLst/>
          </a:prstGeom>
          <a:noFill/>
        </p:spPr>
        <p:txBody>
          <a:bodyPr wrap="square" lIns="54864" tIns="27432" rIns="54864" bIns="27432" anchor="ctr">
            <a:spAutoFit/>
          </a:bodyPr>
          <a:lstStyle/>
          <a:p>
            <a:pPr algn="ctr">
              <a:lnSpc>
                <a:spcPct val="100000"/>
              </a:lnSpc>
            </a:pPr>
            <a:r>
              <a:rPr sz="1200" b="1" i="0">
                <a:solidFill>
                  <a:srgbClr val="FFFFFF"/>
                </a:solidFill>
                <a:latin typeface="Arial"/>
              </a:rPr>
              <a:t>6</a:t>
            </a:r>
          </a:p>
        </p:txBody>
      </p:sp>
      <p:sp>
        <p:nvSpPr>
          <p:cNvPr id="42" name="TextBox 41"/>
          <p:cNvSpPr txBox="1"/>
          <p:nvPr/>
        </p:nvSpPr>
        <p:spPr>
          <a:xfrm>
            <a:off x="1005840" y="3739896"/>
            <a:ext cx="5120640" cy="402336"/>
          </a:xfrm>
          <a:prstGeom prst="rect">
            <a:avLst/>
          </a:prstGeom>
          <a:noFill/>
        </p:spPr>
        <p:txBody>
          <a:bodyPr wrap="square" lIns="54864" tIns="27432" rIns="54864" bIns="27432" anchor="ctr">
            <a:spAutoFit/>
          </a:bodyPr>
          <a:lstStyle/>
          <a:p>
            <a:pPr algn="l">
              <a:lnSpc>
                <a:spcPct val="100000"/>
              </a:lnSpc>
            </a:pPr>
            <a:r>
              <a:rPr sz="1250" b="1" i="0">
                <a:solidFill>
                  <a:srgbClr val="171717"/>
                </a:solidFill>
                <a:latin typeface="Arial"/>
              </a:rPr>
              <a:t>Résultats et conclusion</a:t>
            </a:r>
          </a:p>
        </p:txBody>
      </p:sp>
      <p:sp>
        <p:nvSpPr>
          <p:cNvPr id="43" name="TextBox 42"/>
          <p:cNvSpPr txBox="1"/>
          <p:nvPr/>
        </p:nvSpPr>
        <p:spPr>
          <a:xfrm>
            <a:off x="6492240" y="3739896"/>
            <a:ext cx="2011680" cy="402336"/>
          </a:xfrm>
          <a:prstGeom prst="rect">
            <a:avLst/>
          </a:prstGeom>
          <a:noFill/>
        </p:spPr>
        <p:txBody>
          <a:bodyPr wrap="square" lIns="54864" tIns="27432" rIns="54864" bIns="27432" anchor="ctr">
            <a:spAutoFit/>
          </a:bodyPr>
          <a:lstStyle/>
          <a:p>
            <a:pPr algn="r">
              <a:lnSpc>
                <a:spcPct val="100000"/>
              </a:lnSpc>
            </a:pPr>
            <a:r>
              <a:rPr sz="1000" b="1" i="0">
                <a:solidFill>
                  <a:srgbClr val="8F8F8F"/>
                </a:solidFill>
                <a:latin typeface="Arial"/>
              </a:rPr>
              <a:t>diapos 27 à 31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524000" cy="41148"/>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269480"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10144"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lIns="54864" tIns="27432" rIns="54864" bIns="27432" anchor="t">
            <a:spAutoFit/>
          </a:bodyPr>
          <a:lstStyle/>
          <a:p>
            <a:pPr algn="l">
              <a:lnSpc>
                <a:spcPct val="100000"/>
              </a:lnSpc>
            </a:pPr>
            <a:r>
              <a:rPr sz="750" b="1" i="0" spc="120">
                <a:solidFill>
                  <a:srgbClr val="2F9E44"/>
                </a:solidFill>
                <a:latin typeface="Arial"/>
              </a:rPr>
              <a:t>1 · INTRODUCTION</a:t>
            </a:r>
          </a:p>
        </p:txBody>
      </p:sp>
      <p:sp>
        <p:nvSpPr>
          <p:cNvPr id="11" name="TextBox 10"/>
          <p:cNvSpPr txBox="1"/>
          <p:nvPr/>
        </p:nvSpPr>
        <p:spPr>
          <a:xfrm>
            <a:off x="457200" y="493776"/>
            <a:ext cx="6720840" cy="566928"/>
          </a:xfrm>
          <a:prstGeom prst="rect">
            <a:avLst/>
          </a:prstGeom>
          <a:noFill/>
        </p:spPr>
        <p:txBody>
          <a:bodyPr wrap="square" lIns="54864" tIns="27432" rIns="54864" bIns="27432" anchor="t">
            <a:spAutoFit/>
          </a:bodyPr>
          <a:lstStyle/>
          <a:p>
            <a:pPr algn="l">
              <a:lnSpc>
                <a:spcPct val="100000"/>
              </a:lnSpc>
            </a:pPr>
            <a:r>
              <a:rPr sz="2400" b="1" i="0" spc="-84">
                <a:solidFill>
                  <a:srgbClr val="171717"/>
                </a:solidFill>
                <a:latin typeface="Arial"/>
              </a:rPr>
              <a:t>Présentation personnelle</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26679" y="4832604"/>
            <a:ext cx="1143000" cy="237744"/>
          </a:xfrm>
          <a:prstGeom prst="rect">
            <a:avLst/>
          </a:prstGeom>
          <a:noFill/>
        </p:spPr>
        <p:txBody>
          <a:bodyPr wrap="square" lIns="54864" tIns="27432" rIns="54864" bIns="27432" anchor="t">
            <a:spAutoFit/>
          </a:bodyPr>
          <a:lstStyle/>
          <a:p>
            <a:pPr algn="r">
              <a:lnSpc>
                <a:spcPct val="100000"/>
              </a:lnSpc>
            </a:pPr>
            <a:r>
              <a:rPr sz="800" b="0" i="0">
                <a:solidFill>
                  <a:srgbClr val="A1A1A1"/>
                </a:solidFill>
                <a:latin typeface="Arial"/>
              </a:rPr>
              <a:t>03 / 31</a:t>
            </a:r>
          </a:p>
        </p:txBody>
      </p:sp>
      <p:sp>
        <p:nvSpPr>
          <p:cNvPr id="14" name="TextBox 13"/>
          <p:cNvSpPr txBox="1"/>
          <p:nvPr/>
        </p:nvSpPr>
        <p:spPr>
          <a:xfrm>
            <a:off x="457200" y="1225296"/>
            <a:ext cx="8229600" cy="292608"/>
          </a:xfrm>
          <a:prstGeom prst="rect">
            <a:avLst/>
          </a:prstGeom>
          <a:noFill/>
        </p:spPr>
        <p:txBody>
          <a:bodyPr wrap="square" lIns="54864" tIns="27432" rIns="54864" bIns="27432" anchor="t">
            <a:spAutoFit/>
          </a:bodyPr>
          <a:lstStyle/>
          <a:p>
            <a:pPr algn="l">
              <a:lnSpc>
                <a:spcPct val="100000"/>
              </a:lnSpc>
            </a:pPr>
            <a:r>
              <a:rPr sz="1250" b="1" i="0">
                <a:solidFill>
                  <a:srgbClr val="171717"/>
                </a:solidFill>
                <a:latin typeface="Arial"/>
              </a:rPr>
              <a:t>Amir REDJEM   ·   28 ans   ·   Ingénieur DevOps en alternance chez FDJ United   ·   Marseille</a:t>
            </a:r>
          </a:p>
        </p:txBody>
      </p:sp>
      <p:sp>
        <p:nvSpPr>
          <p:cNvPr id="15" name="Rectangle 14"/>
          <p:cNvSpPr/>
          <p:nvPr/>
        </p:nvSpPr>
        <p:spPr>
          <a:xfrm>
            <a:off x="548640" y="2395728"/>
            <a:ext cx="8046720" cy="27432"/>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548640" y="2578608"/>
            <a:ext cx="2560320" cy="786384"/>
          </a:xfrm>
          <a:prstGeom prst="roundRect">
            <a:avLst>
              <a:gd name="adj" fmla="val 7267"/>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13232" y="2633472"/>
            <a:ext cx="2286000" cy="219456"/>
          </a:xfrm>
          <a:prstGeom prst="rect">
            <a:avLst/>
          </a:prstGeom>
          <a:noFill/>
        </p:spPr>
        <p:txBody>
          <a:bodyPr wrap="square" lIns="54864" tIns="27432" rIns="54864" bIns="27432" anchor="t">
            <a:spAutoFit/>
          </a:bodyPr>
          <a:lstStyle/>
          <a:p>
            <a:pPr algn="l">
              <a:lnSpc>
                <a:spcPct val="100000"/>
              </a:lnSpc>
            </a:pPr>
            <a:r>
              <a:rPr sz="1150" b="1" i="0">
                <a:solidFill>
                  <a:srgbClr val="171717"/>
                </a:solidFill>
                <a:latin typeface="Arial"/>
              </a:rPr>
              <a:t>IT Remote</a:t>
            </a:r>
          </a:p>
        </p:txBody>
      </p:sp>
      <p:sp>
        <p:nvSpPr>
          <p:cNvPr id="18" name="TextBox 17"/>
          <p:cNvSpPr txBox="1"/>
          <p:nvPr/>
        </p:nvSpPr>
        <p:spPr>
          <a:xfrm>
            <a:off x="713232" y="2852928"/>
            <a:ext cx="2286000" cy="201168"/>
          </a:xfrm>
          <a:prstGeom prst="rect">
            <a:avLst/>
          </a:prstGeom>
          <a:noFill/>
        </p:spPr>
        <p:txBody>
          <a:bodyPr wrap="square" lIns="54864" tIns="27432" rIns="54864" bIns="27432" anchor="t">
            <a:spAutoFit/>
          </a:bodyPr>
          <a:lstStyle/>
          <a:p>
            <a:pPr algn="l">
              <a:lnSpc>
                <a:spcPct val="100000"/>
              </a:lnSpc>
            </a:pPr>
            <a:r>
              <a:rPr sz="900" b="1" i="0">
                <a:solidFill>
                  <a:srgbClr val="2F9E44"/>
                </a:solidFill>
                <a:latin typeface="Arial"/>
              </a:rPr>
              <a:t>CDI · 1 an</a:t>
            </a:r>
          </a:p>
        </p:txBody>
      </p:sp>
      <p:sp>
        <p:nvSpPr>
          <p:cNvPr id="19" name="TextBox 18"/>
          <p:cNvSpPr txBox="1"/>
          <p:nvPr/>
        </p:nvSpPr>
        <p:spPr>
          <a:xfrm>
            <a:off x="713232" y="3054096"/>
            <a:ext cx="2286000" cy="219456"/>
          </a:xfrm>
          <a:prstGeom prst="rect">
            <a:avLst/>
          </a:prstGeom>
          <a:noFill/>
        </p:spPr>
        <p:txBody>
          <a:bodyPr wrap="square" lIns="54864" tIns="27432" rIns="54864" bIns="27432" anchor="t">
            <a:spAutoFit/>
          </a:bodyPr>
          <a:lstStyle/>
          <a:p>
            <a:pPr algn="l">
              <a:lnSpc>
                <a:spcPct val="100000"/>
              </a:lnSpc>
            </a:pPr>
            <a:r>
              <a:rPr sz="950" b="0" i="0">
                <a:solidFill>
                  <a:srgbClr val="666666"/>
                </a:solidFill>
                <a:latin typeface="Arial"/>
              </a:rPr>
              <a:t>Développeur full stack</a:t>
            </a:r>
          </a:p>
        </p:txBody>
      </p:sp>
      <p:sp>
        <p:nvSpPr>
          <p:cNvPr id="20" name="Oval 19"/>
          <p:cNvSpPr/>
          <p:nvPr/>
        </p:nvSpPr>
        <p:spPr>
          <a:xfrm>
            <a:off x="640080" y="2327148"/>
            <a:ext cx="146304" cy="146304"/>
          </a:xfrm>
          <a:prstGeom prst="ellipse">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3291840" y="2578608"/>
            <a:ext cx="2560320" cy="786384"/>
          </a:xfrm>
          <a:prstGeom prst="roundRect">
            <a:avLst>
              <a:gd name="adj" fmla="val 7267"/>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456432" y="2633472"/>
            <a:ext cx="2286000" cy="219456"/>
          </a:xfrm>
          <a:prstGeom prst="rect">
            <a:avLst/>
          </a:prstGeom>
          <a:noFill/>
        </p:spPr>
        <p:txBody>
          <a:bodyPr wrap="square" lIns="54864" tIns="27432" rIns="54864" bIns="27432" anchor="t">
            <a:spAutoFit/>
          </a:bodyPr>
          <a:lstStyle/>
          <a:p>
            <a:pPr algn="l">
              <a:lnSpc>
                <a:spcPct val="100000"/>
              </a:lnSpc>
            </a:pPr>
            <a:r>
              <a:rPr sz="1150" b="1" i="0">
                <a:solidFill>
                  <a:srgbClr val="171717"/>
                </a:solidFill>
                <a:latin typeface="Arial"/>
              </a:rPr>
              <a:t>Altares D&amp;B</a:t>
            </a:r>
          </a:p>
        </p:txBody>
      </p:sp>
      <p:sp>
        <p:nvSpPr>
          <p:cNvPr id="23" name="TextBox 22"/>
          <p:cNvSpPr txBox="1"/>
          <p:nvPr/>
        </p:nvSpPr>
        <p:spPr>
          <a:xfrm>
            <a:off x="3456432" y="2852928"/>
            <a:ext cx="2286000" cy="201168"/>
          </a:xfrm>
          <a:prstGeom prst="rect">
            <a:avLst/>
          </a:prstGeom>
          <a:noFill/>
        </p:spPr>
        <p:txBody>
          <a:bodyPr wrap="square" lIns="54864" tIns="27432" rIns="54864" bIns="27432" anchor="t">
            <a:spAutoFit/>
          </a:bodyPr>
          <a:lstStyle/>
          <a:p>
            <a:pPr algn="l">
              <a:lnSpc>
                <a:spcPct val="100000"/>
              </a:lnSpc>
            </a:pPr>
            <a:r>
              <a:rPr sz="900" b="1" i="0">
                <a:solidFill>
                  <a:srgbClr val="2F9E44"/>
                </a:solidFill>
                <a:latin typeface="Arial"/>
              </a:rPr>
              <a:t>alternance · 1 an</a:t>
            </a:r>
          </a:p>
        </p:txBody>
      </p:sp>
      <p:sp>
        <p:nvSpPr>
          <p:cNvPr id="24" name="TextBox 23"/>
          <p:cNvSpPr txBox="1"/>
          <p:nvPr/>
        </p:nvSpPr>
        <p:spPr>
          <a:xfrm>
            <a:off x="3456432" y="3054096"/>
            <a:ext cx="2286000" cy="219456"/>
          </a:xfrm>
          <a:prstGeom prst="rect">
            <a:avLst/>
          </a:prstGeom>
          <a:noFill/>
        </p:spPr>
        <p:txBody>
          <a:bodyPr wrap="square" lIns="54864" tIns="27432" rIns="54864" bIns="27432" anchor="t">
            <a:spAutoFit/>
          </a:bodyPr>
          <a:lstStyle/>
          <a:p>
            <a:pPr algn="l">
              <a:lnSpc>
                <a:spcPct val="100000"/>
              </a:lnSpc>
            </a:pPr>
            <a:r>
              <a:rPr sz="950" b="0" i="0">
                <a:solidFill>
                  <a:srgbClr val="666666"/>
                </a:solidFill>
                <a:latin typeface="Arial"/>
              </a:rPr>
              <a:t>Développeur full stack</a:t>
            </a:r>
          </a:p>
        </p:txBody>
      </p:sp>
      <p:sp>
        <p:nvSpPr>
          <p:cNvPr id="25" name="Oval 24"/>
          <p:cNvSpPr/>
          <p:nvPr/>
        </p:nvSpPr>
        <p:spPr>
          <a:xfrm>
            <a:off x="3383280" y="2327148"/>
            <a:ext cx="146304" cy="146304"/>
          </a:xfrm>
          <a:prstGeom prst="ellipse">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6035040" y="2578608"/>
            <a:ext cx="2560320" cy="786384"/>
          </a:xfrm>
          <a:prstGeom prst="roundRect">
            <a:avLst>
              <a:gd name="adj" fmla="val 7267"/>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199631" y="2633472"/>
            <a:ext cx="2286000" cy="219456"/>
          </a:xfrm>
          <a:prstGeom prst="rect">
            <a:avLst/>
          </a:prstGeom>
          <a:noFill/>
        </p:spPr>
        <p:txBody>
          <a:bodyPr wrap="square" lIns="54864" tIns="27432" rIns="54864" bIns="27432" anchor="t">
            <a:spAutoFit/>
          </a:bodyPr>
          <a:lstStyle/>
          <a:p>
            <a:pPr algn="l">
              <a:lnSpc>
                <a:spcPct val="100000"/>
              </a:lnSpc>
            </a:pPr>
            <a:r>
              <a:rPr sz="1150" b="1" i="0">
                <a:solidFill>
                  <a:srgbClr val="171717"/>
                </a:solidFill>
                <a:latin typeface="Arial"/>
              </a:rPr>
              <a:t>FDJ United</a:t>
            </a:r>
          </a:p>
        </p:txBody>
      </p:sp>
      <p:sp>
        <p:nvSpPr>
          <p:cNvPr id="28" name="TextBox 27"/>
          <p:cNvSpPr txBox="1"/>
          <p:nvPr/>
        </p:nvSpPr>
        <p:spPr>
          <a:xfrm>
            <a:off x="6199631" y="2852928"/>
            <a:ext cx="2286000" cy="201168"/>
          </a:xfrm>
          <a:prstGeom prst="rect">
            <a:avLst/>
          </a:prstGeom>
          <a:noFill/>
        </p:spPr>
        <p:txBody>
          <a:bodyPr wrap="square" lIns="54864" tIns="27432" rIns="54864" bIns="27432" anchor="t">
            <a:spAutoFit/>
          </a:bodyPr>
          <a:lstStyle/>
          <a:p>
            <a:pPr algn="l">
              <a:lnSpc>
                <a:spcPct val="100000"/>
              </a:lnSpc>
            </a:pPr>
            <a:r>
              <a:rPr sz="900" b="1" i="0">
                <a:solidFill>
                  <a:srgbClr val="2F9E44"/>
                </a:solidFill>
                <a:latin typeface="Arial"/>
              </a:rPr>
              <a:t>alternance · 2 ans</a:t>
            </a:r>
          </a:p>
        </p:txBody>
      </p:sp>
      <p:sp>
        <p:nvSpPr>
          <p:cNvPr id="29" name="TextBox 28"/>
          <p:cNvSpPr txBox="1"/>
          <p:nvPr/>
        </p:nvSpPr>
        <p:spPr>
          <a:xfrm>
            <a:off x="6199631" y="3054096"/>
            <a:ext cx="2286000" cy="219456"/>
          </a:xfrm>
          <a:prstGeom prst="rect">
            <a:avLst/>
          </a:prstGeom>
          <a:noFill/>
        </p:spPr>
        <p:txBody>
          <a:bodyPr wrap="square" lIns="54864" tIns="27432" rIns="54864" bIns="27432" anchor="t">
            <a:spAutoFit/>
          </a:bodyPr>
          <a:lstStyle/>
          <a:p>
            <a:pPr algn="l">
              <a:lnSpc>
                <a:spcPct val="100000"/>
              </a:lnSpc>
            </a:pPr>
            <a:r>
              <a:rPr sz="950" b="0" i="0">
                <a:solidFill>
                  <a:srgbClr val="666666"/>
                </a:solidFill>
                <a:latin typeface="Arial"/>
              </a:rPr>
              <a:t>Ingénieur DevOps</a:t>
            </a:r>
          </a:p>
        </p:txBody>
      </p:sp>
      <p:sp>
        <p:nvSpPr>
          <p:cNvPr id="30" name="Oval 29"/>
          <p:cNvSpPr/>
          <p:nvPr/>
        </p:nvSpPr>
        <p:spPr>
          <a:xfrm>
            <a:off x="6126479" y="2327148"/>
            <a:ext cx="146304" cy="146304"/>
          </a:xfrm>
          <a:prstGeom prst="ellipse">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548640" y="1700784"/>
            <a:ext cx="2560320" cy="566928"/>
          </a:xfrm>
          <a:prstGeom prst="roundRect">
            <a:avLst>
              <a:gd name="adj" fmla="val 100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13232" y="1755648"/>
            <a:ext cx="2286000" cy="219456"/>
          </a:xfrm>
          <a:prstGeom prst="rect">
            <a:avLst/>
          </a:prstGeom>
          <a:noFill/>
        </p:spPr>
        <p:txBody>
          <a:bodyPr wrap="square" lIns="54864" tIns="27432" rIns="54864" bIns="27432" anchor="t">
            <a:spAutoFit/>
          </a:bodyPr>
          <a:lstStyle/>
          <a:p>
            <a:pPr algn="l">
              <a:lnSpc>
                <a:spcPct val="100000"/>
              </a:lnSpc>
            </a:pPr>
            <a:r>
              <a:rPr sz="1050" b="1" i="0">
                <a:solidFill>
                  <a:srgbClr val="171717"/>
                </a:solidFill>
                <a:latin typeface="Arial"/>
              </a:rPr>
              <a:t>Bac+2</a:t>
            </a:r>
          </a:p>
        </p:txBody>
      </p:sp>
      <p:sp>
        <p:nvSpPr>
          <p:cNvPr id="33" name="TextBox 32"/>
          <p:cNvSpPr txBox="1"/>
          <p:nvPr/>
        </p:nvSpPr>
        <p:spPr>
          <a:xfrm>
            <a:off x="713232" y="1956816"/>
            <a:ext cx="2286000" cy="219456"/>
          </a:xfrm>
          <a:prstGeom prst="rect">
            <a:avLst/>
          </a:prstGeom>
          <a:noFill/>
        </p:spPr>
        <p:txBody>
          <a:bodyPr wrap="square" lIns="54864" tIns="27432" rIns="54864" bIns="27432" anchor="t">
            <a:spAutoFit/>
          </a:bodyPr>
          <a:lstStyle/>
          <a:p>
            <a:pPr algn="l">
              <a:lnSpc>
                <a:spcPct val="100000"/>
              </a:lnSpc>
            </a:pPr>
            <a:r>
              <a:rPr sz="900" b="0" i="0">
                <a:solidFill>
                  <a:srgbClr val="8F8F8F"/>
                </a:solidFill>
                <a:latin typeface="Arial"/>
              </a:rPr>
              <a:t>AMU · juin 2022</a:t>
            </a:r>
          </a:p>
        </p:txBody>
      </p:sp>
      <p:sp>
        <p:nvSpPr>
          <p:cNvPr id="34" name="Rounded Rectangle 33"/>
          <p:cNvSpPr/>
          <p:nvPr/>
        </p:nvSpPr>
        <p:spPr>
          <a:xfrm>
            <a:off x="3291840" y="1700784"/>
            <a:ext cx="2560320" cy="566928"/>
          </a:xfrm>
          <a:prstGeom prst="roundRect">
            <a:avLst>
              <a:gd name="adj" fmla="val 100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3456432" y="1755648"/>
            <a:ext cx="2286000" cy="219456"/>
          </a:xfrm>
          <a:prstGeom prst="rect">
            <a:avLst/>
          </a:prstGeom>
          <a:noFill/>
        </p:spPr>
        <p:txBody>
          <a:bodyPr wrap="square" lIns="54864" tIns="27432" rIns="54864" bIns="27432" anchor="t">
            <a:spAutoFit/>
          </a:bodyPr>
          <a:lstStyle/>
          <a:p>
            <a:pPr algn="l">
              <a:lnSpc>
                <a:spcPct val="100000"/>
              </a:lnSpc>
            </a:pPr>
            <a:r>
              <a:rPr sz="1050" b="1" i="0">
                <a:solidFill>
                  <a:srgbClr val="171717"/>
                </a:solidFill>
                <a:latin typeface="Arial"/>
              </a:rPr>
              <a:t>Licence · Bac+3</a:t>
            </a:r>
          </a:p>
        </p:txBody>
      </p:sp>
      <p:sp>
        <p:nvSpPr>
          <p:cNvPr id="36" name="TextBox 35"/>
          <p:cNvSpPr txBox="1"/>
          <p:nvPr/>
        </p:nvSpPr>
        <p:spPr>
          <a:xfrm>
            <a:off x="3456432" y="1956816"/>
            <a:ext cx="2286000" cy="219456"/>
          </a:xfrm>
          <a:prstGeom prst="rect">
            <a:avLst/>
          </a:prstGeom>
          <a:noFill/>
        </p:spPr>
        <p:txBody>
          <a:bodyPr wrap="square" lIns="54864" tIns="27432" rIns="54864" bIns="27432" anchor="t">
            <a:spAutoFit/>
          </a:bodyPr>
          <a:lstStyle/>
          <a:p>
            <a:pPr algn="l">
              <a:lnSpc>
                <a:spcPct val="100000"/>
              </a:lnSpc>
            </a:pPr>
            <a:r>
              <a:rPr sz="900" b="0" i="0">
                <a:solidFill>
                  <a:srgbClr val="8F8F8F"/>
                </a:solidFill>
                <a:latin typeface="Arial"/>
              </a:rPr>
              <a:t>Aix-Marseille · 2023</a:t>
            </a:r>
          </a:p>
        </p:txBody>
      </p:sp>
      <p:sp>
        <p:nvSpPr>
          <p:cNvPr id="37" name="Rounded Rectangle 36"/>
          <p:cNvSpPr/>
          <p:nvPr/>
        </p:nvSpPr>
        <p:spPr>
          <a:xfrm>
            <a:off x="6035040" y="1700784"/>
            <a:ext cx="2560320" cy="566928"/>
          </a:xfrm>
          <a:prstGeom prst="roundRect">
            <a:avLst>
              <a:gd name="adj" fmla="val 100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199631" y="1755648"/>
            <a:ext cx="2286000" cy="219456"/>
          </a:xfrm>
          <a:prstGeom prst="rect">
            <a:avLst/>
          </a:prstGeom>
          <a:noFill/>
        </p:spPr>
        <p:txBody>
          <a:bodyPr wrap="square" lIns="54864" tIns="27432" rIns="54864" bIns="27432" anchor="t">
            <a:spAutoFit/>
          </a:bodyPr>
          <a:lstStyle/>
          <a:p>
            <a:pPr algn="l">
              <a:lnSpc>
                <a:spcPct val="100000"/>
              </a:lnSpc>
            </a:pPr>
            <a:r>
              <a:rPr sz="1050" b="1" i="0">
                <a:solidFill>
                  <a:srgbClr val="171717"/>
                </a:solidFill>
                <a:latin typeface="Arial"/>
              </a:rPr>
              <a:t>Master · Bac+5</a:t>
            </a:r>
          </a:p>
        </p:txBody>
      </p:sp>
      <p:sp>
        <p:nvSpPr>
          <p:cNvPr id="39" name="TextBox 38"/>
          <p:cNvSpPr txBox="1"/>
          <p:nvPr/>
        </p:nvSpPr>
        <p:spPr>
          <a:xfrm>
            <a:off x="6199631" y="1956816"/>
            <a:ext cx="2286000" cy="219456"/>
          </a:xfrm>
          <a:prstGeom prst="rect">
            <a:avLst/>
          </a:prstGeom>
          <a:noFill/>
        </p:spPr>
        <p:txBody>
          <a:bodyPr wrap="square" lIns="54864" tIns="27432" rIns="54864" bIns="27432" anchor="t">
            <a:spAutoFit/>
          </a:bodyPr>
          <a:lstStyle/>
          <a:p>
            <a:pPr algn="l">
              <a:lnSpc>
                <a:spcPct val="100000"/>
              </a:lnSpc>
            </a:pPr>
            <a:r>
              <a:rPr sz="900" b="0" i="0">
                <a:solidFill>
                  <a:srgbClr val="8F8F8F"/>
                </a:solidFill>
                <a:latin typeface="Arial"/>
              </a:rPr>
              <a:t>La Plateforme · 2026</a:t>
            </a:r>
          </a:p>
        </p:txBody>
      </p:sp>
      <p:sp>
        <p:nvSpPr>
          <p:cNvPr id="40" name="TextBox 39"/>
          <p:cNvSpPr txBox="1"/>
          <p:nvPr/>
        </p:nvSpPr>
        <p:spPr>
          <a:xfrm>
            <a:off x="457200" y="1609344"/>
            <a:ext cx="822960" cy="201168"/>
          </a:xfrm>
          <a:prstGeom prst="rect">
            <a:avLst/>
          </a:prstGeom>
          <a:noFill/>
        </p:spPr>
        <p:txBody>
          <a:bodyPr wrap="square" lIns="54864" tIns="27432" rIns="54864" bIns="27432" anchor="t">
            <a:spAutoFit/>
          </a:bodyPr>
          <a:lstStyle/>
          <a:p>
            <a:pPr algn="l">
              <a:lnSpc>
                <a:spcPct val="100000"/>
              </a:lnSpc>
            </a:pPr>
            <a:r>
              <a:rPr sz="800" b="1" i="0">
                <a:solidFill>
                  <a:srgbClr val="8F8F8F"/>
                </a:solidFill>
                <a:latin typeface="Arial"/>
              </a:rPr>
              <a:t>DIPLÔMES</a:t>
            </a:r>
          </a:p>
        </p:txBody>
      </p:sp>
      <p:sp>
        <p:nvSpPr>
          <p:cNvPr id="41" name="TextBox 40"/>
          <p:cNvSpPr txBox="1"/>
          <p:nvPr/>
        </p:nvSpPr>
        <p:spPr>
          <a:xfrm>
            <a:off x="457200" y="3602736"/>
            <a:ext cx="8229600" cy="201168"/>
          </a:xfrm>
          <a:prstGeom prst="rect">
            <a:avLst/>
          </a:prstGeom>
          <a:noFill/>
        </p:spPr>
        <p:txBody>
          <a:bodyPr wrap="square" lIns="54864" tIns="27432" rIns="54864" bIns="27432" anchor="t">
            <a:spAutoFit/>
          </a:bodyPr>
          <a:lstStyle/>
          <a:p>
            <a:pPr algn="l">
              <a:lnSpc>
                <a:spcPct val="100000"/>
              </a:lnSpc>
            </a:pPr>
            <a:r>
              <a:rPr sz="850" b="1" i="0">
                <a:solidFill>
                  <a:srgbClr val="8F8F8F"/>
                </a:solidFill>
                <a:latin typeface="Arial"/>
              </a:rPr>
              <a:t>QUATRE ANS SANS INTERRUPTION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524000" cy="41148"/>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269480"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10144"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lIns="54864" tIns="27432" rIns="54864" bIns="27432" anchor="t">
            <a:spAutoFit/>
          </a:bodyPr>
          <a:lstStyle/>
          <a:p>
            <a:pPr algn="l">
              <a:lnSpc>
                <a:spcPct val="100000"/>
              </a:lnSpc>
            </a:pPr>
            <a:r>
              <a:rPr sz="750" b="1" i="0" spc="120">
                <a:solidFill>
                  <a:srgbClr val="2F9E44"/>
                </a:solidFill>
                <a:latin typeface="Arial"/>
              </a:rPr>
              <a:t>1 · INTRODUCTION</a:t>
            </a:r>
          </a:p>
        </p:txBody>
      </p:sp>
      <p:sp>
        <p:nvSpPr>
          <p:cNvPr id="11" name="TextBox 10"/>
          <p:cNvSpPr txBox="1"/>
          <p:nvPr/>
        </p:nvSpPr>
        <p:spPr>
          <a:xfrm>
            <a:off x="457200" y="493776"/>
            <a:ext cx="6720840" cy="566928"/>
          </a:xfrm>
          <a:prstGeom prst="rect">
            <a:avLst/>
          </a:prstGeom>
          <a:noFill/>
        </p:spPr>
        <p:txBody>
          <a:bodyPr wrap="square" lIns="54864" tIns="27432" rIns="54864" bIns="27432" anchor="t">
            <a:spAutoFit/>
          </a:bodyPr>
          <a:lstStyle/>
          <a:p>
            <a:pPr algn="l">
              <a:lnSpc>
                <a:spcPct val="100000"/>
              </a:lnSpc>
            </a:pPr>
            <a:r>
              <a:rPr sz="2400" b="1" i="0" spc="-84">
                <a:solidFill>
                  <a:srgbClr val="171717"/>
                </a:solidFill>
                <a:latin typeface="Arial"/>
              </a:rPr>
              <a:t>Contexte et problématique</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26679" y="4832604"/>
            <a:ext cx="1143000" cy="237744"/>
          </a:xfrm>
          <a:prstGeom prst="rect">
            <a:avLst/>
          </a:prstGeom>
          <a:noFill/>
        </p:spPr>
        <p:txBody>
          <a:bodyPr wrap="square" lIns="54864" tIns="27432" rIns="54864" bIns="27432" anchor="t">
            <a:spAutoFit/>
          </a:bodyPr>
          <a:lstStyle/>
          <a:p>
            <a:pPr algn="r">
              <a:lnSpc>
                <a:spcPct val="100000"/>
              </a:lnSpc>
            </a:pPr>
            <a:r>
              <a:rPr sz="800" b="0" i="0">
                <a:solidFill>
                  <a:srgbClr val="A1A1A1"/>
                </a:solidFill>
                <a:latin typeface="Arial"/>
              </a:rPr>
              <a:t>04 / 31</a:t>
            </a:r>
          </a:p>
        </p:txBody>
      </p:sp>
      <p:sp>
        <p:nvSpPr>
          <p:cNvPr id="14" name="Rounded Rectangle 13"/>
          <p:cNvSpPr/>
          <p:nvPr/>
        </p:nvSpPr>
        <p:spPr>
          <a:xfrm>
            <a:off x="457200" y="4818888"/>
            <a:ext cx="733348" cy="228600"/>
          </a:xfrm>
          <a:prstGeom prst="roundRect">
            <a:avLst>
              <a:gd name="adj" fmla="val 25000"/>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4818888"/>
            <a:ext cx="733348" cy="228600"/>
          </a:xfrm>
          <a:prstGeom prst="rect">
            <a:avLst/>
          </a:prstGeom>
          <a:noFill/>
        </p:spPr>
        <p:txBody>
          <a:bodyPr wrap="square" lIns="54864" tIns="27432" rIns="54864" bIns="27432" anchor="ctr">
            <a:spAutoFit/>
          </a:bodyPr>
          <a:lstStyle/>
          <a:p>
            <a:pPr algn="ctr">
              <a:lnSpc>
                <a:spcPct val="100000"/>
              </a:lnSpc>
            </a:pPr>
            <a:r>
              <a:rPr sz="750" b="1" i="0">
                <a:solidFill>
                  <a:srgbClr val="FFFFFF"/>
                </a:solidFill>
                <a:latin typeface="Arial"/>
              </a:rPr>
              <a:t>Réf.  C10</a:t>
            </a:r>
          </a:p>
        </p:txBody>
      </p:sp>
      <p:sp>
        <p:nvSpPr>
          <p:cNvPr id="16" name="TextBox 15"/>
          <p:cNvSpPr txBox="1"/>
          <p:nvPr/>
        </p:nvSpPr>
        <p:spPr>
          <a:xfrm>
            <a:off x="1281988" y="4818888"/>
            <a:ext cx="5486400" cy="228600"/>
          </a:xfrm>
          <a:prstGeom prst="rect">
            <a:avLst/>
          </a:prstGeom>
          <a:noFill/>
        </p:spPr>
        <p:txBody>
          <a:bodyPr wrap="square" lIns="54864" tIns="27432" rIns="54864" bIns="27432" anchor="ctr">
            <a:spAutoFit/>
          </a:bodyPr>
          <a:lstStyle/>
          <a:p>
            <a:pPr algn="l">
              <a:lnSpc>
                <a:spcPct val="100000"/>
              </a:lnSpc>
            </a:pPr>
            <a:r>
              <a:rPr sz="750" b="0" i="0">
                <a:solidFill>
                  <a:srgbClr val="A1A1A1"/>
                </a:solidFill>
                <a:latin typeface="Arial"/>
              </a:rPr>
              <a:t>BC2 · mémoire 10.1, 10.2, 10.4</a:t>
            </a:r>
          </a:p>
        </p:txBody>
      </p:sp>
      <p:sp>
        <p:nvSpPr>
          <p:cNvPr id="17" name="Rounded Rectangle 16"/>
          <p:cNvSpPr/>
          <p:nvPr/>
        </p:nvSpPr>
        <p:spPr>
          <a:xfrm>
            <a:off x="457200" y="1225296"/>
            <a:ext cx="8229600" cy="841248"/>
          </a:xfrm>
          <a:prstGeom prst="roundRect">
            <a:avLst>
              <a:gd name="adj" fmla="val 6793"/>
            </a:avLst>
          </a:prstGeom>
          <a:solidFill>
            <a:srgbClr val="FAFAFA"/>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76656" y="1225296"/>
            <a:ext cx="7863840" cy="841248"/>
          </a:xfrm>
          <a:prstGeom prst="rect">
            <a:avLst/>
          </a:prstGeom>
          <a:noFill/>
        </p:spPr>
        <p:txBody>
          <a:bodyPr wrap="square" lIns="54864" tIns="27432" rIns="54864" bIns="27432" anchor="ctr">
            <a:spAutoFit/>
          </a:bodyPr>
          <a:lstStyle/>
          <a:p>
            <a:pPr algn="l">
              <a:lnSpc>
                <a:spcPct val="110000"/>
              </a:lnSpc>
              <a:spcAft>
                <a:spcPts val="300"/>
              </a:spcAft>
            </a:pPr>
            <a:r>
              <a:rPr sz="950" b="1" i="0">
                <a:solidFill>
                  <a:srgbClr val="2F9E44"/>
                </a:solidFill>
                <a:latin typeface="Arial"/>
              </a:rPr>
              <a:t>Problématique</a:t>
            </a:r>
          </a:p>
          <a:p>
            <a:pPr algn="l">
              <a:lnSpc>
                <a:spcPct val="110000"/>
              </a:lnSpc>
              <a:spcAft>
                <a:spcPts val="300"/>
              </a:spcAft>
            </a:pPr>
            <a:r>
              <a:rPr sz="1100" b="0" i="0">
                <a:solidFill>
                  <a:srgbClr val="171717"/>
                </a:solidFill>
                <a:latin typeface="Arial"/>
              </a:rPr>
              <a:t>Comment concevoir et déployer une infrastructure DevOps entièrement automatisée, sécurisée et éco-responsable, permettant la livraison continue d’une plateforme SaaS de partage de médias tout en garantissant la qualité, l’observabilité et la maîtrise des coûts ?</a:t>
            </a:r>
          </a:p>
        </p:txBody>
      </p:sp>
      <p:sp>
        <p:nvSpPr>
          <p:cNvPr id="19" name="TextBox 18"/>
          <p:cNvSpPr txBox="1"/>
          <p:nvPr/>
        </p:nvSpPr>
        <p:spPr>
          <a:xfrm>
            <a:off x="457200" y="2194560"/>
            <a:ext cx="8229600" cy="201168"/>
          </a:xfrm>
          <a:prstGeom prst="rect">
            <a:avLst/>
          </a:prstGeom>
          <a:noFill/>
        </p:spPr>
        <p:txBody>
          <a:bodyPr wrap="square" lIns="54864" tIns="27432" rIns="54864" bIns="27432" anchor="t">
            <a:spAutoFit/>
          </a:bodyPr>
          <a:lstStyle/>
          <a:p>
            <a:pPr algn="l">
              <a:lnSpc>
                <a:spcPct val="100000"/>
              </a:lnSpc>
            </a:pPr>
            <a:r>
              <a:rPr sz="850" b="1" i="0">
                <a:solidFill>
                  <a:srgbClr val="8F8F8F"/>
                </a:solidFill>
                <a:latin typeface="Arial"/>
              </a:rPr>
              <a:t>LES SIX EXIGENCES À TENIR ENSEMBLE</a:t>
            </a:r>
          </a:p>
        </p:txBody>
      </p:sp>
      <p:sp>
        <p:nvSpPr>
          <p:cNvPr id="20" name="Rounded Rectangle 19"/>
          <p:cNvSpPr/>
          <p:nvPr/>
        </p:nvSpPr>
        <p:spPr>
          <a:xfrm>
            <a:off x="457200" y="2432304"/>
            <a:ext cx="1295400" cy="475488"/>
          </a:xfrm>
          <a:prstGeom prst="roundRect">
            <a:avLst>
              <a:gd name="adj" fmla="val 12019"/>
            </a:avLst>
          </a:prstGeom>
          <a:solidFill>
            <a:srgbClr val="EBFBEE"/>
          </a:solidFill>
          <a:ln w="9525">
            <a:solidFill>
              <a:srgbClr val="D3F9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2432304"/>
            <a:ext cx="1295400" cy="475488"/>
          </a:xfrm>
          <a:prstGeom prst="rect">
            <a:avLst/>
          </a:prstGeom>
          <a:noFill/>
        </p:spPr>
        <p:txBody>
          <a:bodyPr wrap="square" lIns="54864" tIns="27432" rIns="54864" bIns="27432" anchor="ctr">
            <a:spAutoFit/>
          </a:bodyPr>
          <a:lstStyle/>
          <a:p>
            <a:pPr algn="ctr">
              <a:lnSpc>
                <a:spcPct val="105000"/>
              </a:lnSpc>
            </a:pPr>
            <a:r>
              <a:rPr sz="950" b="1" i="0">
                <a:solidFill>
                  <a:srgbClr val="171717"/>
                </a:solidFill>
                <a:latin typeface="Arial"/>
              </a:rPr>
              <a:t>Automatisation</a:t>
            </a:r>
          </a:p>
        </p:txBody>
      </p:sp>
      <p:sp>
        <p:nvSpPr>
          <p:cNvPr id="22" name="Rounded Rectangle 21"/>
          <p:cNvSpPr/>
          <p:nvPr/>
        </p:nvSpPr>
        <p:spPr>
          <a:xfrm>
            <a:off x="1844040" y="2432304"/>
            <a:ext cx="1295400" cy="475488"/>
          </a:xfrm>
          <a:prstGeom prst="roundRect">
            <a:avLst>
              <a:gd name="adj" fmla="val 12019"/>
            </a:avLst>
          </a:prstGeom>
          <a:solidFill>
            <a:srgbClr val="EBFBEE"/>
          </a:solidFill>
          <a:ln w="9525">
            <a:solidFill>
              <a:srgbClr val="D3F9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844040" y="2432304"/>
            <a:ext cx="1295400" cy="475488"/>
          </a:xfrm>
          <a:prstGeom prst="rect">
            <a:avLst/>
          </a:prstGeom>
          <a:noFill/>
        </p:spPr>
        <p:txBody>
          <a:bodyPr wrap="square" lIns="54864" tIns="27432" rIns="54864" bIns="27432" anchor="ctr">
            <a:spAutoFit/>
          </a:bodyPr>
          <a:lstStyle/>
          <a:p>
            <a:pPr algn="ctr">
              <a:lnSpc>
                <a:spcPct val="105000"/>
              </a:lnSpc>
            </a:pPr>
            <a:r>
              <a:rPr sz="950" b="1" i="0">
                <a:solidFill>
                  <a:srgbClr val="171717"/>
                </a:solidFill>
                <a:latin typeface="Arial"/>
              </a:rPr>
              <a:t>Sécurité</a:t>
            </a:r>
          </a:p>
        </p:txBody>
      </p:sp>
      <p:sp>
        <p:nvSpPr>
          <p:cNvPr id="24" name="Rounded Rectangle 23"/>
          <p:cNvSpPr/>
          <p:nvPr/>
        </p:nvSpPr>
        <p:spPr>
          <a:xfrm>
            <a:off x="3230880" y="2432304"/>
            <a:ext cx="1295400" cy="475488"/>
          </a:xfrm>
          <a:prstGeom prst="roundRect">
            <a:avLst>
              <a:gd name="adj" fmla="val 12019"/>
            </a:avLst>
          </a:prstGeom>
          <a:solidFill>
            <a:srgbClr val="EBFBEE"/>
          </a:solidFill>
          <a:ln w="9525">
            <a:solidFill>
              <a:srgbClr val="D3F9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230880" y="2432304"/>
            <a:ext cx="1295400" cy="475488"/>
          </a:xfrm>
          <a:prstGeom prst="rect">
            <a:avLst/>
          </a:prstGeom>
          <a:noFill/>
        </p:spPr>
        <p:txBody>
          <a:bodyPr wrap="square" lIns="54864" tIns="27432" rIns="54864" bIns="27432" anchor="ctr">
            <a:spAutoFit/>
          </a:bodyPr>
          <a:lstStyle/>
          <a:p>
            <a:pPr algn="ctr">
              <a:lnSpc>
                <a:spcPct val="105000"/>
              </a:lnSpc>
            </a:pPr>
            <a:r>
              <a:rPr sz="950" b="1" i="0">
                <a:solidFill>
                  <a:srgbClr val="171717"/>
                </a:solidFill>
                <a:latin typeface="Arial"/>
              </a:rPr>
              <a:t>Éco-responsabilité</a:t>
            </a:r>
          </a:p>
        </p:txBody>
      </p:sp>
      <p:sp>
        <p:nvSpPr>
          <p:cNvPr id="26" name="Rounded Rectangle 25"/>
          <p:cNvSpPr/>
          <p:nvPr/>
        </p:nvSpPr>
        <p:spPr>
          <a:xfrm>
            <a:off x="4617720" y="2432304"/>
            <a:ext cx="1295400" cy="475488"/>
          </a:xfrm>
          <a:prstGeom prst="roundRect">
            <a:avLst>
              <a:gd name="adj" fmla="val 12019"/>
            </a:avLst>
          </a:prstGeom>
          <a:solidFill>
            <a:srgbClr val="EBFBEE"/>
          </a:solidFill>
          <a:ln w="9525">
            <a:solidFill>
              <a:srgbClr val="D3F9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617720" y="2432304"/>
            <a:ext cx="1295400" cy="475488"/>
          </a:xfrm>
          <a:prstGeom prst="rect">
            <a:avLst/>
          </a:prstGeom>
          <a:noFill/>
        </p:spPr>
        <p:txBody>
          <a:bodyPr wrap="square" lIns="54864" tIns="27432" rIns="54864" bIns="27432" anchor="ctr">
            <a:spAutoFit/>
          </a:bodyPr>
          <a:lstStyle/>
          <a:p>
            <a:pPr algn="ctr">
              <a:lnSpc>
                <a:spcPct val="105000"/>
              </a:lnSpc>
            </a:pPr>
            <a:r>
              <a:rPr sz="950" b="1" i="0">
                <a:solidFill>
                  <a:srgbClr val="171717"/>
                </a:solidFill>
                <a:latin typeface="Arial"/>
              </a:rPr>
              <a:t>Qualité</a:t>
            </a:r>
          </a:p>
        </p:txBody>
      </p:sp>
      <p:sp>
        <p:nvSpPr>
          <p:cNvPr id="28" name="Rounded Rectangle 27"/>
          <p:cNvSpPr/>
          <p:nvPr/>
        </p:nvSpPr>
        <p:spPr>
          <a:xfrm>
            <a:off x="6004560" y="2432304"/>
            <a:ext cx="1295400" cy="475488"/>
          </a:xfrm>
          <a:prstGeom prst="roundRect">
            <a:avLst>
              <a:gd name="adj" fmla="val 12019"/>
            </a:avLst>
          </a:prstGeom>
          <a:solidFill>
            <a:srgbClr val="EBFBEE"/>
          </a:solidFill>
          <a:ln w="9525">
            <a:solidFill>
              <a:srgbClr val="D3F9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004560" y="2432304"/>
            <a:ext cx="1295400" cy="475488"/>
          </a:xfrm>
          <a:prstGeom prst="rect">
            <a:avLst/>
          </a:prstGeom>
          <a:noFill/>
        </p:spPr>
        <p:txBody>
          <a:bodyPr wrap="square" lIns="54864" tIns="27432" rIns="54864" bIns="27432" anchor="ctr">
            <a:spAutoFit/>
          </a:bodyPr>
          <a:lstStyle/>
          <a:p>
            <a:pPr algn="ctr">
              <a:lnSpc>
                <a:spcPct val="105000"/>
              </a:lnSpc>
            </a:pPr>
            <a:r>
              <a:rPr sz="950" b="1" i="0">
                <a:solidFill>
                  <a:srgbClr val="171717"/>
                </a:solidFill>
                <a:latin typeface="Arial"/>
              </a:rPr>
              <a:t>Observabilité</a:t>
            </a:r>
          </a:p>
        </p:txBody>
      </p:sp>
      <p:sp>
        <p:nvSpPr>
          <p:cNvPr id="30" name="Rounded Rectangle 29"/>
          <p:cNvSpPr/>
          <p:nvPr/>
        </p:nvSpPr>
        <p:spPr>
          <a:xfrm>
            <a:off x="7391400" y="2432304"/>
            <a:ext cx="1295400" cy="475488"/>
          </a:xfrm>
          <a:prstGeom prst="roundRect">
            <a:avLst>
              <a:gd name="adj" fmla="val 12019"/>
            </a:avLst>
          </a:prstGeom>
          <a:solidFill>
            <a:srgbClr val="EBFBEE"/>
          </a:solidFill>
          <a:ln w="9525">
            <a:solidFill>
              <a:srgbClr val="D3F9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391400" y="2432304"/>
            <a:ext cx="1295400" cy="475488"/>
          </a:xfrm>
          <a:prstGeom prst="rect">
            <a:avLst/>
          </a:prstGeom>
          <a:noFill/>
        </p:spPr>
        <p:txBody>
          <a:bodyPr wrap="square" lIns="54864" tIns="27432" rIns="54864" bIns="27432" anchor="ctr">
            <a:spAutoFit/>
          </a:bodyPr>
          <a:lstStyle/>
          <a:p>
            <a:pPr algn="ctr">
              <a:lnSpc>
                <a:spcPct val="105000"/>
              </a:lnSpc>
            </a:pPr>
            <a:r>
              <a:rPr sz="950" b="1" i="0">
                <a:solidFill>
                  <a:srgbClr val="171717"/>
                </a:solidFill>
                <a:latin typeface="Arial"/>
              </a:rPr>
              <a:t>Maîtrise des coûts</a:t>
            </a:r>
          </a:p>
        </p:txBody>
      </p:sp>
      <p:sp>
        <p:nvSpPr>
          <p:cNvPr id="32" name="Rounded Rectangle 31"/>
          <p:cNvSpPr/>
          <p:nvPr/>
        </p:nvSpPr>
        <p:spPr>
          <a:xfrm>
            <a:off x="457200" y="3090672"/>
            <a:ext cx="4023360" cy="786384"/>
          </a:xfrm>
          <a:prstGeom prst="roundRect">
            <a:avLst>
              <a:gd name="adj" fmla="val 7267"/>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40080" y="3163824"/>
            <a:ext cx="3657600" cy="219456"/>
          </a:xfrm>
          <a:prstGeom prst="rect">
            <a:avLst/>
          </a:prstGeom>
          <a:noFill/>
        </p:spPr>
        <p:txBody>
          <a:bodyPr wrap="square" lIns="54864" tIns="27432" rIns="54864" bIns="27432" anchor="t">
            <a:spAutoFit/>
          </a:bodyPr>
          <a:lstStyle/>
          <a:p>
            <a:pPr algn="l">
              <a:lnSpc>
                <a:spcPct val="100000"/>
              </a:lnSpc>
            </a:pPr>
            <a:r>
              <a:rPr sz="1050" b="1" i="0">
                <a:solidFill>
                  <a:srgbClr val="171717"/>
                </a:solidFill>
                <a:latin typeface="Arial"/>
              </a:rPr>
              <a:t>Le produit</a:t>
            </a:r>
          </a:p>
        </p:txBody>
      </p:sp>
      <p:sp>
        <p:nvSpPr>
          <p:cNvPr id="34" name="TextBox 33"/>
          <p:cNvSpPr txBox="1"/>
          <p:nvPr/>
        </p:nvSpPr>
        <p:spPr>
          <a:xfrm>
            <a:off x="640080" y="3383280"/>
            <a:ext cx="3657600" cy="438912"/>
          </a:xfrm>
          <a:prstGeom prst="rect">
            <a:avLst/>
          </a:prstGeom>
          <a:noFill/>
        </p:spPr>
        <p:txBody>
          <a:bodyPr wrap="square" lIns="54864" tIns="27432" rIns="54864" bIns="27432" anchor="t">
            <a:spAutoFit/>
          </a:bodyPr>
          <a:lstStyle/>
          <a:p>
            <a:pPr algn="l">
              <a:lnSpc>
                <a:spcPct val="105000"/>
              </a:lnSpc>
            </a:pPr>
            <a:r>
              <a:rPr sz="950" b="0" i="0">
                <a:solidFill>
                  <a:srgbClr val="666666"/>
                </a:solidFill>
                <a:latin typeface="Arial"/>
              </a:rPr>
              <a:t>tout média reste privé tant que l’auteur n’a pas publié.</a:t>
            </a:r>
          </a:p>
        </p:txBody>
      </p:sp>
      <p:sp>
        <p:nvSpPr>
          <p:cNvPr id="35" name="Rounded Rectangle 34"/>
          <p:cNvSpPr/>
          <p:nvPr/>
        </p:nvSpPr>
        <p:spPr>
          <a:xfrm>
            <a:off x="4663440" y="3090672"/>
            <a:ext cx="4023360" cy="786384"/>
          </a:xfrm>
          <a:prstGeom prst="roundRect">
            <a:avLst>
              <a:gd name="adj" fmla="val 7267"/>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846320" y="3163824"/>
            <a:ext cx="3657600" cy="219456"/>
          </a:xfrm>
          <a:prstGeom prst="rect">
            <a:avLst/>
          </a:prstGeom>
          <a:noFill/>
        </p:spPr>
        <p:txBody>
          <a:bodyPr wrap="square" lIns="54864" tIns="27432" rIns="54864" bIns="27432" anchor="t">
            <a:spAutoFit/>
          </a:bodyPr>
          <a:lstStyle/>
          <a:p>
            <a:pPr algn="l">
              <a:lnSpc>
                <a:spcPct val="100000"/>
              </a:lnSpc>
            </a:pPr>
            <a:r>
              <a:rPr sz="1050" b="1" i="0">
                <a:solidFill>
                  <a:srgbClr val="171717"/>
                </a:solidFill>
                <a:latin typeface="Arial"/>
              </a:rPr>
              <a:t>Le périmètre</a:t>
            </a:r>
          </a:p>
        </p:txBody>
      </p:sp>
      <p:sp>
        <p:nvSpPr>
          <p:cNvPr id="37" name="TextBox 36"/>
          <p:cNvSpPr txBox="1"/>
          <p:nvPr/>
        </p:nvSpPr>
        <p:spPr>
          <a:xfrm>
            <a:off x="4846320" y="3383280"/>
            <a:ext cx="3657600" cy="438912"/>
          </a:xfrm>
          <a:prstGeom prst="rect">
            <a:avLst/>
          </a:prstGeom>
          <a:noFill/>
        </p:spPr>
        <p:txBody>
          <a:bodyPr wrap="square" lIns="54864" tIns="27432" rIns="54864" bIns="27432" anchor="t">
            <a:spAutoFit/>
          </a:bodyPr>
          <a:lstStyle/>
          <a:p>
            <a:pPr algn="l">
              <a:lnSpc>
                <a:spcPct val="105000"/>
              </a:lnSpc>
            </a:pPr>
            <a:r>
              <a:rPr sz="950" b="0" i="0">
                <a:solidFill>
                  <a:srgbClr val="666666"/>
                </a:solidFill>
                <a:latin typeface="Arial"/>
              </a:rPr>
              <a:t>l’infrastructure, la chaîne de livraison, l’application.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524000" cy="41148"/>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269480"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10144"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lIns="54864" tIns="27432" rIns="54864" bIns="27432" anchor="t">
            <a:spAutoFit/>
          </a:bodyPr>
          <a:lstStyle/>
          <a:p>
            <a:pPr algn="l">
              <a:lnSpc>
                <a:spcPct val="100000"/>
              </a:lnSpc>
            </a:pPr>
            <a:r>
              <a:rPr sz="750" b="1" i="0" spc="120">
                <a:solidFill>
                  <a:srgbClr val="2F9E44"/>
                </a:solidFill>
                <a:latin typeface="Arial"/>
              </a:rPr>
              <a:t>1 · INTRODUCTION</a:t>
            </a:r>
          </a:p>
        </p:txBody>
      </p:sp>
      <p:sp>
        <p:nvSpPr>
          <p:cNvPr id="11" name="TextBox 10"/>
          <p:cNvSpPr txBox="1"/>
          <p:nvPr/>
        </p:nvSpPr>
        <p:spPr>
          <a:xfrm>
            <a:off x="457200" y="493776"/>
            <a:ext cx="6720840" cy="566928"/>
          </a:xfrm>
          <a:prstGeom prst="rect">
            <a:avLst/>
          </a:prstGeom>
          <a:noFill/>
        </p:spPr>
        <p:txBody>
          <a:bodyPr wrap="square" lIns="54864" tIns="27432" rIns="54864" bIns="27432" anchor="t">
            <a:spAutoFit/>
          </a:bodyPr>
          <a:lstStyle/>
          <a:p>
            <a:pPr algn="l">
              <a:lnSpc>
                <a:spcPct val="100000"/>
              </a:lnSpc>
            </a:pPr>
            <a:r>
              <a:rPr sz="2400" b="1" i="0" spc="-84">
                <a:solidFill>
                  <a:srgbClr val="171717"/>
                </a:solidFill>
                <a:latin typeface="Arial"/>
              </a:rPr>
              <a:t>Objectifs et hypothèses</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26679" y="4832604"/>
            <a:ext cx="1143000" cy="237744"/>
          </a:xfrm>
          <a:prstGeom prst="rect">
            <a:avLst/>
          </a:prstGeom>
          <a:noFill/>
        </p:spPr>
        <p:txBody>
          <a:bodyPr wrap="square" lIns="54864" tIns="27432" rIns="54864" bIns="27432" anchor="t">
            <a:spAutoFit/>
          </a:bodyPr>
          <a:lstStyle/>
          <a:p>
            <a:pPr algn="r">
              <a:lnSpc>
                <a:spcPct val="100000"/>
              </a:lnSpc>
            </a:pPr>
            <a:r>
              <a:rPr sz="800" b="0" i="0">
                <a:solidFill>
                  <a:srgbClr val="A1A1A1"/>
                </a:solidFill>
                <a:latin typeface="Arial"/>
              </a:rPr>
              <a:t>05 / 31</a:t>
            </a:r>
          </a:p>
        </p:txBody>
      </p:sp>
      <p:sp>
        <p:nvSpPr>
          <p:cNvPr id="14" name="Rounded Rectangle 13"/>
          <p:cNvSpPr/>
          <p:nvPr/>
        </p:nvSpPr>
        <p:spPr>
          <a:xfrm>
            <a:off x="457200" y="4818888"/>
            <a:ext cx="1051560" cy="228600"/>
          </a:xfrm>
          <a:prstGeom prst="roundRect">
            <a:avLst>
              <a:gd name="adj" fmla="val 25000"/>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4818888"/>
            <a:ext cx="1051560" cy="228600"/>
          </a:xfrm>
          <a:prstGeom prst="rect">
            <a:avLst/>
          </a:prstGeom>
          <a:noFill/>
        </p:spPr>
        <p:txBody>
          <a:bodyPr wrap="square" lIns="54864" tIns="27432" rIns="54864" bIns="27432" anchor="ctr">
            <a:spAutoFit/>
          </a:bodyPr>
          <a:lstStyle/>
          <a:p>
            <a:pPr algn="ctr">
              <a:lnSpc>
                <a:spcPct val="100000"/>
              </a:lnSpc>
            </a:pPr>
            <a:r>
              <a:rPr sz="750" b="1" i="0">
                <a:solidFill>
                  <a:srgbClr val="FFFFFF"/>
                </a:solidFill>
                <a:latin typeface="Arial"/>
              </a:rPr>
              <a:t>Réf.  C10 · C11</a:t>
            </a:r>
          </a:p>
        </p:txBody>
      </p:sp>
      <p:sp>
        <p:nvSpPr>
          <p:cNvPr id="16" name="TextBox 15"/>
          <p:cNvSpPr txBox="1"/>
          <p:nvPr/>
        </p:nvSpPr>
        <p:spPr>
          <a:xfrm>
            <a:off x="1600200" y="4818888"/>
            <a:ext cx="5486400" cy="228600"/>
          </a:xfrm>
          <a:prstGeom prst="rect">
            <a:avLst/>
          </a:prstGeom>
          <a:noFill/>
        </p:spPr>
        <p:txBody>
          <a:bodyPr wrap="square" lIns="54864" tIns="27432" rIns="54864" bIns="27432" anchor="ctr">
            <a:spAutoFit/>
          </a:bodyPr>
          <a:lstStyle/>
          <a:p>
            <a:pPr algn="l">
              <a:lnSpc>
                <a:spcPct val="100000"/>
              </a:lnSpc>
            </a:pPr>
            <a:r>
              <a:rPr sz="750" b="0" i="0">
                <a:solidFill>
                  <a:srgbClr val="A1A1A1"/>
                </a:solidFill>
                <a:latin typeface="Arial"/>
              </a:rPr>
              <a:t>BC2 · mémoire 10.3, 10.5</a:t>
            </a:r>
          </a:p>
        </p:txBody>
      </p:sp>
      <p:sp>
        <p:nvSpPr>
          <p:cNvPr id="17" name="TextBox 16"/>
          <p:cNvSpPr txBox="1"/>
          <p:nvPr/>
        </p:nvSpPr>
        <p:spPr>
          <a:xfrm>
            <a:off x="457200" y="1225296"/>
            <a:ext cx="8229600" cy="201168"/>
          </a:xfrm>
          <a:prstGeom prst="rect">
            <a:avLst/>
          </a:prstGeom>
          <a:noFill/>
        </p:spPr>
        <p:txBody>
          <a:bodyPr wrap="square" lIns="54864" tIns="27432" rIns="54864" bIns="27432" anchor="t">
            <a:spAutoFit/>
          </a:bodyPr>
          <a:lstStyle/>
          <a:p>
            <a:pPr algn="l">
              <a:lnSpc>
                <a:spcPct val="100000"/>
              </a:lnSpc>
            </a:pPr>
            <a:r>
              <a:rPr sz="850" b="1" i="0">
                <a:solidFill>
                  <a:srgbClr val="8F8F8F"/>
                </a:solidFill>
                <a:latin typeface="Arial"/>
              </a:rPr>
              <a:t>CINQ OBJECTIFS, UN CRITÈRE VRAI OU FAUX CHACUN</a:t>
            </a:r>
          </a:p>
        </p:txBody>
      </p:sp>
      <p:sp>
        <p:nvSpPr>
          <p:cNvPr id="18" name="Rounded Rectangle 17"/>
          <p:cNvSpPr/>
          <p:nvPr/>
        </p:nvSpPr>
        <p:spPr>
          <a:xfrm>
            <a:off x="457200" y="1481328"/>
            <a:ext cx="8229600" cy="475488"/>
          </a:xfrm>
          <a:prstGeom prst="roundRect">
            <a:avLst>
              <a:gd name="adj" fmla="val 12019"/>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30352" y="1554480"/>
            <a:ext cx="310896" cy="329184"/>
          </a:xfrm>
          <a:prstGeom prst="roundRect">
            <a:avLst>
              <a:gd name="adj" fmla="val 18382"/>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30352" y="1554480"/>
            <a:ext cx="310896" cy="329184"/>
          </a:xfrm>
          <a:prstGeom prst="rect">
            <a:avLst/>
          </a:prstGeom>
          <a:noFill/>
        </p:spPr>
        <p:txBody>
          <a:bodyPr wrap="square" lIns="54864" tIns="27432" rIns="54864" bIns="27432" anchor="ctr">
            <a:spAutoFit/>
          </a:bodyPr>
          <a:lstStyle/>
          <a:p>
            <a:pPr algn="ctr">
              <a:lnSpc>
                <a:spcPct val="100000"/>
              </a:lnSpc>
            </a:pPr>
            <a:r>
              <a:rPr sz="850" b="1" i="0">
                <a:solidFill>
                  <a:srgbClr val="FFFFFF"/>
                </a:solidFill>
                <a:latin typeface="Arial"/>
              </a:rPr>
              <a:t>O1</a:t>
            </a:r>
          </a:p>
        </p:txBody>
      </p:sp>
      <p:sp>
        <p:nvSpPr>
          <p:cNvPr id="21" name="TextBox 20"/>
          <p:cNvSpPr txBox="1"/>
          <p:nvPr/>
        </p:nvSpPr>
        <p:spPr>
          <a:xfrm>
            <a:off x="1042416" y="1481328"/>
            <a:ext cx="7516368" cy="475488"/>
          </a:xfrm>
          <a:prstGeom prst="rect">
            <a:avLst/>
          </a:prstGeom>
          <a:noFill/>
        </p:spPr>
        <p:txBody>
          <a:bodyPr wrap="square" lIns="54864" tIns="27432" rIns="54864" bIns="27432" anchor="ctr">
            <a:spAutoFit/>
          </a:bodyPr>
          <a:lstStyle/>
          <a:p>
            <a:pPr algn="l">
              <a:lnSpc>
                <a:spcPct val="100000"/>
              </a:lnSpc>
            </a:pPr>
            <a:r>
              <a:rPr sz="950" b="1" i="0">
                <a:solidFill>
                  <a:srgbClr val="171717"/>
                </a:solidFill>
                <a:latin typeface="Arial"/>
              </a:rPr>
              <a:t>Tout décrire en code</a:t>
            </a:r>
          </a:p>
        </p:txBody>
      </p:sp>
      <p:sp>
        <p:nvSpPr>
          <p:cNvPr id="22" name="TextBox 21"/>
          <p:cNvSpPr txBox="1"/>
          <p:nvPr/>
        </p:nvSpPr>
        <p:spPr>
          <a:xfrm>
            <a:off x="4078224" y="1481328"/>
            <a:ext cx="4480560" cy="475488"/>
          </a:xfrm>
          <a:prstGeom prst="rect">
            <a:avLst/>
          </a:prstGeom>
          <a:noFill/>
        </p:spPr>
        <p:txBody>
          <a:bodyPr wrap="square" lIns="54864" tIns="27432" rIns="54864" bIns="27432" anchor="ctr">
            <a:spAutoFit/>
          </a:bodyPr>
          <a:lstStyle/>
          <a:p>
            <a:pPr algn="l">
              <a:lnSpc>
                <a:spcPct val="100000"/>
              </a:lnSpc>
            </a:pPr>
            <a:r>
              <a:rPr sz="900" b="0" i="0">
                <a:solidFill>
                  <a:srgbClr val="666666"/>
                </a:solidFill>
                <a:latin typeface="Arial"/>
              </a:rPr>
              <a:t>aucune ressource en dehors du code</a:t>
            </a:r>
          </a:p>
        </p:txBody>
      </p:sp>
      <p:sp>
        <p:nvSpPr>
          <p:cNvPr id="23" name="Rounded Rectangle 22"/>
          <p:cNvSpPr/>
          <p:nvPr/>
        </p:nvSpPr>
        <p:spPr>
          <a:xfrm>
            <a:off x="457200" y="2029968"/>
            <a:ext cx="8229600" cy="475488"/>
          </a:xfrm>
          <a:prstGeom prst="roundRect">
            <a:avLst>
              <a:gd name="adj" fmla="val 12019"/>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530352" y="2103120"/>
            <a:ext cx="310896" cy="329184"/>
          </a:xfrm>
          <a:prstGeom prst="roundRect">
            <a:avLst>
              <a:gd name="adj" fmla="val 18382"/>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30352" y="2103120"/>
            <a:ext cx="310896" cy="329184"/>
          </a:xfrm>
          <a:prstGeom prst="rect">
            <a:avLst/>
          </a:prstGeom>
          <a:noFill/>
        </p:spPr>
        <p:txBody>
          <a:bodyPr wrap="square" lIns="54864" tIns="27432" rIns="54864" bIns="27432" anchor="ctr">
            <a:spAutoFit/>
          </a:bodyPr>
          <a:lstStyle/>
          <a:p>
            <a:pPr algn="ctr">
              <a:lnSpc>
                <a:spcPct val="100000"/>
              </a:lnSpc>
            </a:pPr>
            <a:r>
              <a:rPr sz="850" b="1" i="0">
                <a:solidFill>
                  <a:srgbClr val="FFFFFF"/>
                </a:solidFill>
                <a:latin typeface="Arial"/>
              </a:rPr>
              <a:t>O2</a:t>
            </a:r>
          </a:p>
        </p:txBody>
      </p:sp>
      <p:sp>
        <p:nvSpPr>
          <p:cNvPr id="26" name="TextBox 25"/>
          <p:cNvSpPr txBox="1"/>
          <p:nvPr/>
        </p:nvSpPr>
        <p:spPr>
          <a:xfrm>
            <a:off x="1042416" y="2029968"/>
            <a:ext cx="7516368" cy="475488"/>
          </a:xfrm>
          <a:prstGeom prst="rect">
            <a:avLst/>
          </a:prstGeom>
          <a:noFill/>
        </p:spPr>
        <p:txBody>
          <a:bodyPr wrap="square" lIns="54864" tIns="27432" rIns="54864" bIns="27432" anchor="ctr">
            <a:spAutoFit/>
          </a:bodyPr>
          <a:lstStyle/>
          <a:p>
            <a:pPr algn="l">
              <a:lnSpc>
                <a:spcPct val="100000"/>
              </a:lnSpc>
            </a:pPr>
            <a:r>
              <a:rPr sz="950" b="1" i="0">
                <a:solidFill>
                  <a:srgbClr val="171717"/>
                </a:solidFill>
                <a:latin typeface="Arial"/>
              </a:rPr>
              <a:t>Livrer en continu sous contrôle</a:t>
            </a:r>
          </a:p>
        </p:txBody>
      </p:sp>
      <p:sp>
        <p:nvSpPr>
          <p:cNvPr id="27" name="TextBox 26"/>
          <p:cNvSpPr txBox="1"/>
          <p:nvPr/>
        </p:nvSpPr>
        <p:spPr>
          <a:xfrm>
            <a:off x="4078224" y="2029968"/>
            <a:ext cx="4480560" cy="475488"/>
          </a:xfrm>
          <a:prstGeom prst="rect">
            <a:avLst/>
          </a:prstGeom>
          <a:noFill/>
        </p:spPr>
        <p:txBody>
          <a:bodyPr wrap="square" lIns="54864" tIns="27432" rIns="54864" bIns="27432" anchor="ctr">
            <a:spAutoFit/>
          </a:bodyPr>
          <a:lstStyle/>
          <a:p>
            <a:pPr algn="l">
              <a:lnSpc>
                <a:spcPct val="100000"/>
              </a:lnSpc>
            </a:pPr>
            <a:r>
              <a:rPr sz="900" b="0" i="0">
                <a:solidFill>
                  <a:srgbClr val="666666"/>
                </a:solidFill>
                <a:latin typeface="Arial"/>
              </a:rPr>
              <a:t>aucun déploiement si une porte échoue</a:t>
            </a:r>
          </a:p>
        </p:txBody>
      </p:sp>
      <p:sp>
        <p:nvSpPr>
          <p:cNvPr id="28" name="Rounded Rectangle 27"/>
          <p:cNvSpPr/>
          <p:nvPr/>
        </p:nvSpPr>
        <p:spPr>
          <a:xfrm>
            <a:off x="457200" y="2578608"/>
            <a:ext cx="8229600" cy="475488"/>
          </a:xfrm>
          <a:prstGeom prst="roundRect">
            <a:avLst>
              <a:gd name="adj" fmla="val 12019"/>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530352" y="2651760"/>
            <a:ext cx="310896" cy="329184"/>
          </a:xfrm>
          <a:prstGeom prst="roundRect">
            <a:avLst>
              <a:gd name="adj" fmla="val 18382"/>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30352" y="2651760"/>
            <a:ext cx="310896" cy="329184"/>
          </a:xfrm>
          <a:prstGeom prst="rect">
            <a:avLst/>
          </a:prstGeom>
          <a:noFill/>
        </p:spPr>
        <p:txBody>
          <a:bodyPr wrap="square" lIns="54864" tIns="27432" rIns="54864" bIns="27432" anchor="ctr">
            <a:spAutoFit/>
          </a:bodyPr>
          <a:lstStyle/>
          <a:p>
            <a:pPr algn="ctr">
              <a:lnSpc>
                <a:spcPct val="100000"/>
              </a:lnSpc>
            </a:pPr>
            <a:r>
              <a:rPr sz="850" b="1" i="0">
                <a:solidFill>
                  <a:srgbClr val="FFFFFF"/>
                </a:solidFill>
                <a:latin typeface="Arial"/>
              </a:rPr>
              <a:t>O3</a:t>
            </a:r>
          </a:p>
        </p:txBody>
      </p:sp>
      <p:sp>
        <p:nvSpPr>
          <p:cNvPr id="31" name="TextBox 30"/>
          <p:cNvSpPr txBox="1"/>
          <p:nvPr/>
        </p:nvSpPr>
        <p:spPr>
          <a:xfrm>
            <a:off x="1042416" y="2578608"/>
            <a:ext cx="7516368" cy="475488"/>
          </a:xfrm>
          <a:prstGeom prst="rect">
            <a:avLst/>
          </a:prstGeom>
          <a:noFill/>
        </p:spPr>
        <p:txBody>
          <a:bodyPr wrap="square" lIns="54864" tIns="27432" rIns="54864" bIns="27432" anchor="ctr">
            <a:spAutoFit/>
          </a:bodyPr>
          <a:lstStyle/>
          <a:p>
            <a:pPr algn="l">
              <a:lnSpc>
                <a:spcPct val="100000"/>
              </a:lnSpc>
            </a:pPr>
            <a:r>
              <a:rPr sz="950" b="1" i="0">
                <a:solidFill>
                  <a:srgbClr val="171717"/>
                </a:solidFill>
                <a:latin typeface="Arial"/>
              </a:rPr>
              <a:t>Orchestrer les conteneurs</a:t>
            </a:r>
          </a:p>
        </p:txBody>
      </p:sp>
      <p:sp>
        <p:nvSpPr>
          <p:cNvPr id="32" name="TextBox 31"/>
          <p:cNvSpPr txBox="1"/>
          <p:nvPr/>
        </p:nvSpPr>
        <p:spPr>
          <a:xfrm>
            <a:off x="4078224" y="2578608"/>
            <a:ext cx="4480560" cy="475488"/>
          </a:xfrm>
          <a:prstGeom prst="rect">
            <a:avLst/>
          </a:prstGeom>
          <a:noFill/>
        </p:spPr>
        <p:txBody>
          <a:bodyPr wrap="square" lIns="54864" tIns="27432" rIns="54864" bIns="27432" anchor="ctr">
            <a:spAutoFit/>
          </a:bodyPr>
          <a:lstStyle/>
          <a:p>
            <a:pPr algn="l">
              <a:lnSpc>
                <a:spcPct val="100000"/>
              </a:lnSpc>
            </a:pPr>
            <a:r>
              <a:rPr sz="900" b="0" i="0">
                <a:solidFill>
                  <a:srgbClr val="666666"/>
                </a:solidFill>
                <a:latin typeface="Arial"/>
              </a:rPr>
              <a:t>aucune interruption perceptible</a:t>
            </a:r>
          </a:p>
        </p:txBody>
      </p:sp>
      <p:sp>
        <p:nvSpPr>
          <p:cNvPr id="33" name="Rounded Rectangle 32"/>
          <p:cNvSpPr/>
          <p:nvPr/>
        </p:nvSpPr>
        <p:spPr>
          <a:xfrm>
            <a:off x="457200" y="3127248"/>
            <a:ext cx="8229600" cy="475488"/>
          </a:xfrm>
          <a:prstGeom prst="roundRect">
            <a:avLst>
              <a:gd name="adj" fmla="val 12019"/>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530352" y="3200400"/>
            <a:ext cx="310896" cy="329184"/>
          </a:xfrm>
          <a:prstGeom prst="roundRect">
            <a:avLst>
              <a:gd name="adj" fmla="val 18382"/>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30352" y="3200400"/>
            <a:ext cx="310896" cy="329184"/>
          </a:xfrm>
          <a:prstGeom prst="rect">
            <a:avLst/>
          </a:prstGeom>
          <a:noFill/>
        </p:spPr>
        <p:txBody>
          <a:bodyPr wrap="square" lIns="54864" tIns="27432" rIns="54864" bIns="27432" anchor="ctr">
            <a:spAutoFit/>
          </a:bodyPr>
          <a:lstStyle/>
          <a:p>
            <a:pPr algn="ctr">
              <a:lnSpc>
                <a:spcPct val="100000"/>
              </a:lnSpc>
            </a:pPr>
            <a:r>
              <a:rPr sz="850" b="1" i="0">
                <a:solidFill>
                  <a:srgbClr val="FFFFFF"/>
                </a:solidFill>
                <a:latin typeface="Arial"/>
              </a:rPr>
              <a:t>O4</a:t>
            </a:r>
          </a:p>
        </p:txBody>
      </p:sp>
      <p:sp>
        <p:nvSpPr>
          <p:cNvPr id="36" name="TextBox 35"/>
          <p:cNvSpPr txBox="1"/>
          <p:nvPr/>
        </p:nvSpPr>
        <p:spPr>
          <a:xfrm>
            <a:off x="1042416" y="3127248"/>
            <a:ext cx="7516368" cy="475488"/>
          </a:xfrm>
          <a:prstGeom prst="rect">
            <a:avLst/>
          </a:prstGeom>
          <a:noFill/>
        </p:spPr>
        <p:txBody>
          <a:bodyPr wrap="square" lIns="54864" tIns="27432" rIns="54864" bIns="27432" anchor="ctr">
            <a:spAutoFit/>
          </a:bodyPr>
          <a:lstStyle/>
          <a:p>
            <a:pPr algn="l">
              <a:lnSpc>
                <a:spcPct val="100000"/>
              </a:lnSpc>
            </a:pPr>
            <a:r>
              <a:rPr sz="950" b="1" i="0">
                <a:solidFill>
                  <a:srgbClr val="171717"/>
                </a:solidFill>
                <a:latin typeface="Arial"/>
              </a:rPr>
              <a:t>Rendre le système observable</a:t>
            </a:r>
          </a:p>
        </p:txBody>
      </p:sp>
      <p:sp>
        <p:nvSpPr>
          <p:cNvPr id="37" name="TextBox 36"/>
          <p:cNvSpPr txBox="1"/>
          <p:nvPr/>
        </p:nvSpPr>
        <p:spPr>
          <a:xfrm>
            <a:off x="4078224" y="3127248"/>
            <a:ext cx="4480560" cy="475488"/>
          </a:xfrm>
          <a:prstGeom prst="rect">
            <a:avLst/>
          </a:prstGeom>
          <a:noFill/>
        </p:spPr>
        <p:txBody>
          <a:bodyPr wrap="square" lIns="54864" tIns="27432" rIns="54864" bIns="27432" anchor="ctr">
            <a:spAutoFit/>
          </a:bodyPr>
          <a:lstStyle/>
          <a:p>
            <a:pPr algn="l">
              <a:lnSpc>
                <a:spcPct val="100000"/>
              </a:lnSpc>
            </a:pPr>
            <a:r>
              <a:rPr sz="900" b="0" i="0">
                <a:solidFill>
                  <a:srgbClr val="666666"/>
                </a:solidFill>
                <a:latin typeface="Arial"/>
              </a:rPr>
              <a:t>toute dérive vue avant l’utilisateur</a:t>
            </a:r>
          </a:p>
        </p:txBody>
      </p:sp>
      <p:sp>
        <p:nvSpPr>
          <p:cNvPr id="38" name="Rounded Rectangle 37"/>
          <p:cNvSpPr/>
          <p:nvPr/>
        </p:nvSpPr>
        <p:spPr>
          <a:xfrm>
            <a:off x="457200" y="3675887"/>
            <a:ext cx="8229600" cy="475488"/>
          </a:xfrm>
          <a:prstGeom prst="roundRect">
            <a:avLst>
              <a:gd name="adj" fmla="val 12019"/>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ounded Rectangle 38"/>
          <p:cNvSpPr/>
          <p:nvPr/>
        </p:nvSpPr>
        <p:spPr>
          <a:xfrm>
            <a:off x="530352" y="3749039"/>
            <a:ext cx="310896" cy="329184"/>
          </a:xfrm>
          <a:prstGeom prst="roundRect">
            <a:avLst>
              <a:gd name="adj" fmla="val 18382"/>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530352" y="3749039"/>
            <a:ext cx="310896" cy="329184"/>
          </a:xfrm>
          <a:prstGeom prst="rect">
            <a:avLst/>
          </a:prstGeom>
          <a:noFill/>
        </p:spPr>
        <p:txBody>
          <a:bodyPr wrap="square" lIns="54864" tIns="27432" rIns="54864" bIns="27432" anchor="ctr">
            <a:spAutoFit/>
          </a:bodyPr>
          <a:lstStyle/>
          <a:p>
            <a:pPr algn="ctr">
              <a:lnSpc>
                <a:spcPct val="100000"/>
              </a:lnSpc>
            </a:pPr>
            <a:r>
              <a:rPr sz="850" b="1" i="0">
                <a:solidFill>
                  <a:srgbClr val="FFFFFF"/>
                </a:solidFill>
                <a:latin typeface="Arial"/>
              </a:rPr>
              <a:t>O5</a:t>
            </a:r>
          </a:p>
        </p:txBody>
      </p:sp>
      <p:sp>
        <p:nvSpPr>
          <p:cNvPr id="41" name="TextBox 40"/>
          <p:cNvSpPr txBox="1"/>
          <p:nvPr/>
        </p:nvSpPr>
        <p:spPr>
          <a:xfrm>
            <a:off x="1042416" y="3675887"/>
            <a:ext cx="7516368" cy="475488"/>
          </a:xfrm>
          <a:prstGeom prst="rect">
            <a:avLst/>
          </a:prstGeom>
          <a:noFill/>
        </p:spPr>
        <p:txBody>
          <a:bodyPr wrap="square" lIns="54864" tIns="27432" rIns="54864" bIns="27432" anchor="ctr">
            <a:spAutoFit/>
          </a:bodyPr>
          <a:lstStyle/>
          <a:p>
            <a:pPr algn="l">
              <a:lnSpc>
                <a:spcPct val="100000"/>
              </a:lnSpc>
            </a:pPr>
            <a:r>
              <a:rPr sz="950" b="1" i="0">
                <a:solidFill>
                  <a:srgbClr val="171717"/>
                </a:solidFill>
                <a:latin typeface="Arial"/>
              </a:rPr>
              <a:t>Sécurité, conformité, sobriété</a:t>
            </a:r>
          </a:p>
        </p:txBody>
      </p:sp>
      <p:sp>
        <p:nvSpPr>
          <p:cNvPr id="42" name="TextBox 41"/>
          <p:cNvSpPr txBox="1"/>
          <p:nvPr/>
        </p:nvSpPr>
        <p:spPr>
          <a:xfrm>
            <a:off x="4078224" y="3675887"/>
            <a:ext cx="4480560" cy="475488"/>
          </a:xfrm>
          <a:prstGeom prst="rect">
            <a:avLst/>
          </a:prstGeom>
          <a:noFill/>
        </p:spPr>
        <p:txBody>
          <a:bodyPr wrap="square" lIns="54864" tIns="27432" rIns="54864" bIns="27432" anchor="ctr">
            <a:spAutoFit/>
          </a:bodyPr>
          <a:lstStyle/>
          <a:p>
            <a:pPr algn="l">
              <a:lnSpc>
                <a:spcPct val="100000"/>
              </a:lnSpc>
            </a:pPr>
            <a:r>
              <a:rPr sz="900" b="0" i="0">
                <a:solidFill>
                  <a:srgbClr val="666666"/>
                </a:solidFill>
                <a:latin typeface="Arial"/>
              </a:rPr>
              <a:t>chaque exigence porte son indicateur</a:t>
            </a:r>
          </a:p>
        </p:txBody>
      </p:sp>
      <p:sp>
        <p:nvSpPr>
          <p:cNvPr id="43" name="Rectangle 42"/>
          <p:cNvSpPr/>
          <p:nvPr/>
        </p:nvSpPr>
        <p:spPr>
          <a:xfrm>
            <a:off x="457200" y="422452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457200" y="4224528"/>
            <a:ext cx="548640" cy="9144"/>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57200" y="4297680"/>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2F9E44"/>
                </a:solidFill>
                <a:latin typeface="Arial"/>
              </a:rPr>
              <a:t>TROIS HYPOTHÈSES, VÉRIFIÉES À LA DIAPOSITIVE 29</a:t>
            </a:r>
          </a:p>
        </p:txBody>
      </p:sp>
      <p:sp>
        <p:nvSpPr>
          <p:cNvPr id="46" name="TextBox 45"/>
          <p:cNvSpPr txBox="1"/>
          <p:nvPr/>
        </p:nvSpPr>
        <p:spPr>
          <a:xfrm>
            <a:off x="457200" y="4498848"/>
            <a:ext cx="8229600" cy="274320"/>
          </a:xfrm>
          <a:prstGeom prst="rect">
            <a:avLst/>
          </a:prstGeom>
          <a:noFill/>
        </p:spPr>
        <p:txBody>
          <a:bodyPr wrap="square" lIns="54864" tIns="27432" rIns="54864" bIns="27432" anchor="t">
            <a:spAutoFit/>
          </a:bodyPr>
          <a:lstStyle/>
          <a:p>
            <a:pPr algn="l">
              <a:lnSpc>
                <a:spcPct val="105000"/>
              </a:lnSpc>
            </a:pPr>
            <a:r>
              <a:rPr sz="950" b="0" i="0">
                <a:solidFill>
                  <a:srgbClr val="666666"/>
                </a:solidFill>
                <a:latin typeface="Arial"/>
              </a:rPr>
              <a:t>le code fiabilise et accélère   ·   un orchestrateur proportionné suffit   ·   l’énergie estimée suffit à piloter la sobriété</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524000" y="0"/>
            <a:ext cx="1524000" cy="41148"/>
          </a:xfrm>
          <a:prstGeom prst="rect">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269480"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10144"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lIns="54864" tIns="27432" rIns="54864" bIns="27432" anchor="t">
            <a:spAutoFit/>
          </a:bodyPr>
          <a:lstStyle/>
          <a:p>
            <a:pPr algn="l">
              <a:lnSpc>
                <a:spcPct val="100000"/>
              </a:lnSpc>
            </a:pPr>
            <a:r>
              <a:rPr sz="750" b="1" i="0" spc="120">
                <a:solidFill>
                  <a:srgbClr val="1C7ED6"/>
                </a:solidFill>
                <a:latin typeface="Arial"/>
              </a:rPr>
              <a:t>2 · ANALYSE ET STRATÉGIE DU SI</a:t>
            </a:r>
          </a:p>
        </p:txBody>
      </p:sp>
      <p:sp>
        <p:nvSpPr>
          <p:cNvPr id="11" name="TextBox 10"/>
          <p:cNvSpPr txBox="1"/>
          <p:nvPr/>
        </p:nvSpPr>
        <p:spPr>
          <a:xfrm>
            <a:off x="457200" y="493776"/>
            <a:ext cx="6720840" cy="566928"/>
          </a:xfrm>
          <a:prstGeom prst="rect">
            <a:avLst/>
          </a:prstGeom>
          <a:noFill/>
        </p:spPr>
        <p:txBody>
          <a:bodyPr wrap="square" lIns="54864" tIns="27432" rIns="54864" bIns="27432" anchor="t">
            <a:spAutoFit/>
          </a:bodyPr>
          <a:lstStyle/>
          <a:p>
            <a:pPr algn="l">
              <a:lnSpc>
                <a:spcPct val="100000"/>
              </a:lnSpc>
            </a:pPr>
            <a:r>
              <a:rPr sz="2300" b="1" i="0" spc="-80">
                <a:solidFill>
                  <a:srgbClr val="171717"/>
                </a:solidFill>
                <a:latin typeface="Arial"/>
              </a:rPr>
              <a:t>Veille technologique et réglementaire</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26679" y="4832604"/>
            <a:ext cx="1143000" cy="237744"/>
          </a:xfrm>
          <a:prstGeom prst="rect">
            <a:avLst/>
          </a:prstGeom>
          <a:noFill/>
        </p:spPr>
        <p:txBody>
          <a:bodyPr wrap="square" lIns="54864" tIns="27432" rIns="54864" bIns="27432" anchor="t">
            <a:spAutoFit/>
          </a:bodyPr>
          <a:lstStyle/>
          <a:p>
            <a:pPr algn="r">
              <a:lnSpc>
                <a:spcPct val="100000"/>
              </a:lnSpc>
            </a:pPr>
            <a:r>
              <a:rPr sz="800" b="0" i="0">
                <a:solidFill>
                  <a:srgbClr val="A1A1A1"/>
                </a:solidFill>
                <a:latin typeface="Arial"/>
              </a:rPr>
              <a:t>06 / 31</a:t>
            </a:r>
          </a:p>
        </p:txBody>
      </p:sp>
      <p:sp>
        <p:nvSpPr>
          <p:cNvPr id="14" name="Rounded Rectangle 13"/>
          <p:cNvSpPr/>
          <p:nvPr/>
        </p:nvSpPr>
        <p:spPr>
          <a:xfrm>
            <a:off x="457200" y="4818888"/>
            <a:ext cx="1210665" cy="228600"/>
          </a:xfrm>
          <a:prstGeom prst="roundRect">
            <a:avLst>
              <a:gd name="adj" fmla="val 25000"/>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4818888"/>
            <a:ext cx="1210665" cy="228600"/>
          </a:xfrm>
          <a:prstGeom prst="rect">
            <a:avLst/>
          </a:prstGeom>
          <a:noFill/>
        </p:spPr>
        <p:txBody>
          <a:bodyPr wrap="square" lIns="54864" tIns="27432" rIns="54864" bIns="27432" anchor="ctr">
            <a:spAutoFit/>
          </a:bodyPr>
          <a:lstStyle/>
          <a:p>
            <a:pPr algn="ctr">
              <a:lnSpc>
                <a:spcPct val="100000"/>
              </a:lnSpc>
            </a:pPr>
            <a:r>
              <a:rPr sz="750" b="1" i="0">
                <a:solidFill>
                  <a:srgbClr val="FFFFFF"/>
                </a:solidFill>
                <a:latin typeface="Arial"/>
              </a:rPr>
              <a:t>Réf.  C1 · C2 · C3</a:t>
            </a:r>
          </a:p>
        </p:txBody>
      </p:sp>
      <p:sp>
        <p:nvSpPr>
          <p:cNvPr id="16" name="TextBox 15"/>
          <p:cNvSpPr txBox="1"/>
          <p:nvPr/>
        </p:nvSpPr>
        <p:spPr>
          <a:xfrm>
            <a:off x="1759305" y="4818888"/>
            <a:ext cx="5486400" cy="228600"/>
          </a:xfrm>
          <a:prstGeom prst="rect">
            <a:avLst/>
          </a:prstGeom>
          <a:noFill/>
        </p:spPr>
        <p:txBody>
          <a:bodyPr wrap="square" lIns="54864" tIns="27432" rIns="54864" bIns="27432" anchor="ctr">
            <a:spAutoFit/>
          </a:bodyPr>
          <a:lstStyle/>
          <a:p>
            <a:pPr algn="l">
              <a:lnSpc>
                <a:spcPct val="100000"/>
              </a:lnSpc>
            </a:pPr>
            <a:r>
              <a:rPr sz="750" b="0" i="0">
                <a:solidFill>
                  <a:srgbClr val="A1A1A1"/>
                </a:solidFill>
                <a:latin typeface="Arial"/>
              </a:rPr>
              <a:t>BC1 · mémoire 11.1 · annexe V</a:t>
            </a:r>
          </a:p>
        </p:txBody>
      </p:sp>
      <p:sp>
        <p:nvSpPr>
          <p:cNvPr id="17" name="TextBox 16"/>
          <p:cNvSpPr txBox="1"/>
          <p:nvPr/>
        </p:nvSpPr>
        <p:spPr>
          <a:xfrm>
            <a:off x="457200" y="1207008"/>
            <a:ext cx="8229600" cy="201168"/>
          </a:xfrm>
          <a:prstGeom prst="rect">
            <a:avLst/>
          </a:prstGeom>
          <a:noFill/>
        </p:spPr>
        <p:txBody>
          <a:bodyPr wrap="square" lIns="54864" rIns="54864" tIns="27432" bIns="27432" anchor="t">
            <a:noAutofit/>
          </a:bodyPr>
          <a:lstStyle/>
          <a:p>
            <a:pPr algn="l">
              <a:lnSpc>
                <a:spcPct val="100000"/>
              </a:lnSpc>
            </a:pPr>
            <a:r>
              <a:rPr sz="750" b="1" spc="120">
                <a:solidFill>
                  <a:srgbClr val="8F8F8F"/>
                </a:solidFill>
                <a:latin typeface="Arial"/>
              </a:rPr>
              <a:t>DE LA SOURCE À LA DÉCISION</a:t>
            </a:r>
          </a:p>
        </p:txBody>
      </p:sp>
      <p:sp>
        <p:nvSpPr>
          <p:cNvPr id="18" name="Rounded Rectangle 17"/>
          <p:cNvSpPr/>
          <p:nvPr/>
        </p:nvSpPr>
        <p:spPr>
          <a:xfrm>
            <a:off x="457200" y="1426464"/>
            <a:ext cx="3291840" cy="2359151"/>
          </a:xfrm>
          <a:prstGeom prst="roundRect">
            <a:avLst>
              <a:gd name="adj" fmla="val 2422"/>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21207" y="1481328"/>
            <a:ext cx="1909267" cy="219456"/>
          </a:xfrm>
          <a:prstGeom prst="rect">
            <a:avLst/>
          </a:prstGeom>
          <a:noFill/>
        </p:spPr>
        <p:txBody>
          <a:bodyPr wrap="square" lIns="54864" rIns="54864" tIns="27432" bIns="27432" anchor="t">
            <a:noAutofit/>
          </a:bodyPr>
          <a:lstStyle/>
          <a:p>
            <a:pPr algn="l">
              <a:lnSpc>
                <a:spcPct val="100000"/>
              </a:lnSpc>
            </a:pPr>
            <a:r>
              <a:rPr sz="1050" b="1">
                <a:solidFill>
                  <a:srgbClr val="171717"/>
                </a:solidFill>
                <a:latin typeface="Arial"/>
              </a:rPr>
              <a:t>9 sources qualifiées</a:t>
            </a:r>
          </a:p>
        </p:txBody>
      </p:sp>
      <p:sp>
        <p:nvSpPr>
          <p:cNvPr id="20" name="TextBox 19"/>
          <p:cNvSpPr txBox="1"/>
          <p:nvPr/>
        </p:nvSpPr>
        <p:spPr>
          <a:xfrm>
            <a:off x="2103120" y="1517904"/>
            <a:ext cx="1536192" cy="164592"/>
          </a:xfrm>
          <a:prstGeom prst="rect">
            <a:avLst/>
          </a:prstGeom>
          <a:noFill/>
        </p:spPr>
        <p:txBody>
          <a:bodyPr wrap="square" lIns="54864" rIns="54864" tIns="27432" bIns="27432" anchor="t">
            <a:noAutofit/>
          </a:bodyPr>
          <a:lstStyle/>
          <a:p>
            <a:pPr algn="r">
              <a:lnSpc>
                <a:spcPct val="100000"/>
              </a:lnSpc>
            </a:pPr>
            <a:r>
              <a:rPr sz="650" b="1" spc="120">
                <a:solidFill>
                  <a:srgbClr val="8F8F8F"/>
                </a:solidFill>
                <a:latin typeface="Arial"/>
              </a:rPr>
              <a:t>FIABILITÉ SUR 5</a:t>
            </a:r>
          </a:p>
        </p:txBody>
      </p:sp>
      <p:sp>
        <p:nvSpPr>
          <p:cNvPr id="21" name="Rectangle 20"/>
          <p:cNvSpPr/>
          <p:nvPr/>
        </p:nvSpPr>
        <p:spPr>
          <a:xfrm>
            <a:off x="566928" y="1737360"/>
            <a:ext cx="3072384" cy="6400"/>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1207" y="1810512"/>
            <a:ext cx="2569464" cy="164592"/>
          </a:xfrm>
          <a:prstGeom prst="rect">
            <a:avLst/>
          </a:prstGeom>
          <a:noFill/>
        </p:spPr>
        <p:txBody>
          <a:bodyPr wrap="square" lIns="54864" rIns="54864" tIns="27432" bIns="27432" anchor="t">
            <a:noAutofit/>
          </a:bodyPr>
          <a:lstStyle/>
          <a:p>
            <a:pPr algn="l">
              <a:lnSpc>
                <a:spcPct val="100000"/>
              </a:lnSpc>
            </a:pPr>
            <a:r>
              <a:rPr sz="800" b="1">
                <a:solidFill>
                  <a:srgbClr val="171717"/>
                </a:solidFill>
                <a:latin typeface="Arial"/>
              </a:rPr>
              <a:t>Primaire</a:t>
            </a:r>
            <a:r>
              <a:rPr sz="700" b="0">
                <a:solidFill>
                  <a:srgbClr val="A1A1A1"/>
                </a:solidFill>
                <a:latin typeface="Arial"/>
              </a:rPr>
              <a:t>   S1 à S3</a:t>
            </a:r>
          </a:p>
        </p:txBody>
      </p:sp>
      <p:sp>
        <p:nvSpPr>
          <p:cNvPr id="23" name="Rounded Rectangle 22"/>
          <p:cNvSpPr/>
          <p:nvPr/>
        </p:nvSpPr>
        <p:spPr>
          <a:xfrm>
            <a:off x="3203143" y="1851660"/>
            <a:ext cx="59436" cy="59436"/>
          </a:xfrm>
          <a:prstGeom prst="roundRect">
            <a:avLst>
              <a:gd name="adj" fmla="val 46153"/>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3297326" y="1851660"/>
            <a:ext cx="59436" cy="59436"/>
          </a:xfrm>
          <a:prstGeom prst="roundRect">
            <a:avLst>
              <a:gd name="adj" fmla="val 46153"/>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3391509" y="1851660"/>
            <a:ext cx="59436" cy="59436"/>
          </a:xfrm>
          <a:prstGeom prst="roundRect">
            <a:avLst>
              <a:gd name="adj" fmla="val 46153"/>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3485692" y="1851660"/>
            <a:ext cx="59436" cy="59436"/>
          </a:xfrm>
          <a:prstGeom prst="roundRect">
            <a:avLst>
              <a:gd name="adj" fmla="val 46153"/>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3579875" y="1851660"/>
            <a:ext cx="59436" cy="59436"/>
          </a:xfrm>
          <a:prstGeom prst="roundRect">
            <a:avLst>
              <a:gd name="adj" fmla="val 46153"/>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21207" y="1961388"/>
            <a:ext cx="3072384" cy="146304"/>
          </a:xfrm>
          <a:prstGeom prst="rect">
            <a:avLst/>
          </a:prstGeom>
          <a:noFill/>
        </p:spPr>
        <p:txBody>
          <a:bodyPr wrap="square" lIns="54864" rIns="54864" tIns="27432" bIns="27432" anchor="t">
            <a:noAutofit/>
          </a:bodyPr>
          <a:lstStyle/>
          <a:p>
            <a:pPr algn="l">
              <a:lnSpc>
                <a:spcPct val="100000"/>
              </a:lnSpc>
            </a:pPr>
            <a:r>
              <a:rPr sz="700" b="0">
                <a:solidFill>
                  <a:srgbClr val="666666"/>
                </a:solidFill>
                <a:latin typeface="Arial"/>
              </a:rPr>
              <a:t>docs, GitHub, CVE et NVD</a:t>
            </a:r>
            <a:r>
              <a:rPr sz="700" b="0">
                <a:solidFill>
                  <a:srgbClr val="8F8F8F"/>
                </a:solidFill>
                <a:latin typeface="Arial"/>
              </a:rPr>
              <a:t>  (compatibilité, vitalité, failles)</a:t>
            </a:r>
          </a:p>
        </p:txBody>
      </p:sp>
      <p:sp>
        <p:nvSpPr>
          <p:cNvPr id="29" name="Rectangle 28"/>
          <p:cNvSpPr/>
          <p:nvPr/>
        </p:nvSpPr>
        <p:spPr>
          <a:xfrm>
            <a:off x="566928" y="2116836"/>
            <a:ext cx="3072384" cy="6400"/>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1207" y="2139696"/>
            <a:ext cx="2569464" cy="164592"/>
          </a:xfrm>
          <a:prstGeom prst="rect">
            <a:avLst/>
          </a:prstGeom>
          <a:noFill/>
        </p:spPr>
        <p:txBody>
          <a:bodyPr wrap="square" lIns="54864" rIns="54864" tIns="27432" bIns="27432" anchor="t">
            <a:noAutofit/>
          </a:bodyPr>
          <a:lstStyle/>
          <a:p>
            <a:pPr algn="l">
              <a:lnSpc>
                <a:spcPct val="100000"/>
              </a:lnSpc>
            </a:pPr>
            <a:r>
              <a:rPr sz="800" b="1">
                <a:solidFill>
                  <a:srgbClr val="171717"/>
                </a:solidFill>
                <a:latin typeface="Arial"/>
              </a:rPr>
              <a:t>Normatif</a:t>
            </a:r>
            <a:r>
              <a:rPr sz="700" b="0">
                <a:solidFill>
                  <a:srgbClr val="A1A1A1"/>
                </a:solidFill>
                <a:latin typeface="Arial"/>
              </a:rPr>
              <a:t>   S4 · S5</a:t>
            </a:r>
          </a:p>
        </p:txBody>
      </p:sp>
      <p:sp>
        <p:nvSpPr>
          <p:cNvPr id="31" name="Rounded Rectangle 30"/>
          <p:cNvSpPr/>
          <p:nvPr/>
        </p:nvSpPr>
        <p:spPr>
          <a:xfrm>
            <a:off x="3203143" y="2180844"/>
            <a:ext cx="59436" cy="59436"/>
          </a:xfrm>
          <a:prstGeom prst="roundRect">
            <a:avLst>
              <a:gd name="adj" fmla="val 46153"/>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3297326" y="2180844"/>
            <a:ext cx="59436" cy="59436"/>
          </a:xfrm>
          <a:prstGeom prst="roundRect">
            <a:avLst>
              <a:gd name="adj" fmla="val 46153"/>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3391509" y="2180844"/>
            <a:ext cx="59436" cy="59436"/>
          </a:xfrm>
          <a:prstGeom prst="roundRect">
            <a:avLst>
              <a:gd name="adj" fmla="val 46153"/>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3485692" y="2180844"/>
            <a:ext cx="59436" cy="59436"/>
          </a:xfrm>
          <a:prstGeom prst="roundRect">
            <a:avLst>
              <a:gd name="adj" fmla="val 46153"/>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3579875" y="2180844"/>
            <a:ext cx="59436" cy="59436"/>
          </a:xfrm>
          <a:prstGeom prst="roundRect">
            <a:avLst>
              <a:gd name="adj" fmla="val 46153"/>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21207" y="2290572"/>
            <a:ext cx="3072384" cy="146304"/>
          </a:xfrm>
          <a:prstGeom prst="rect">
            <a:avLst/>
          </a:prstGeom>
          <a:noFill/>
        </p:spPr>
        <p:txBody>
          <a:bodyPr wrap="square" lIns="54864" rIns="54864" tIns="27432" bIns="27432" anchor="t">
            <a:noAutofit/>
          </a:bodyPr>
          <a:lstStyle/>
          <a:p>
            <a:pPr algn="l">
              <a:lnSpc>
                <a:spcPct val="100000"/>
              </a:lnSpc>
            </a:pPr>
            <a:r>
              <a:rPr sz="700" b="0">
                <a:solidFill>
                  <a:srgbClr val="666666"/>
                </a:solidFill>
                <a:latin typeface="Arial"/>
              </a:rPr>
              <a:t>ANSSI, CNIL, OWASP, ISO 27001</a:t>
            </a:r>
            <a:r>
              <a:rPr sz="700" b="0">
                <a:solidFill>
                  <a:srgbClr val="8F8F8F"/>
                </a:solidFill>
                <a:latin typeface="Arial"/>
              </a:rPr>
              <a:t>  (ce qui est opposable)</a:t>
            </a:r>
          </a:p>
        </p:txBody>
      </p:sp>
      <p:sp>
        <p:nvSpPr>
          <p:cNvPr id="37" name="Rectangle 36"/>
          <p:cNvSpPr/>
          <p:nvPr/>
        </p:nvSpPr>
        <p:spPr>
          <a:xfrm>
            <a:off x="566928" y="2446020"/>
            <a:ext cx="3072384" cy="6400"/>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1207" y="2468879"/>
            <a:ext cx="2569464" cy="164592"/>
          </a:xfrm>
          <a:prstGeom prst="rect">
            <a:avLst/>
          </a:prstGeom>
          <a:noFill/>
        </p:spPr>
        <p:txBody>
          <a:bodyPr wrap="square" lIns="54864" rIns="54864" tIns="27432" bIns="27432" anchor="t">
            <a:noAutofit/>
          </a:bodyPr>
          <a:lstStyle/>
          <a:p>
            <a:pPr algn="l">
              <a:lnSpc>
                <a:spcPct val="100000"/>
              </a:lnSpc>
            </a:pPr>
            <a:r>
              <a:rPr sz="800" b="1">
                <a:solidFill>
                  <a:srgbClr val="171717"/>
                </a:solidFill>
                <a:latin typeface="Arial"/>
              </a:rPr>
              <a:t>Prospective</a:t>
            </a:r>
            <a:r>
              <a:rPr sz="700" b="0">
                <a:solidFill>
                  <a:srgbClr val="A1A1A1"/>
                </a:solidFill>
                <a:latin typeface="Arial"/>
              </a:rPr>
              <a:t>   S6</a:t>
            </a:r>
          </a:p>
        </p:txBody>
      </p:sp>
      <p:sp>
        <p:nvSpPr>
          <p:cNvPr id="39" name="Rounded Rectangle 38"/>
          <p:cNvSpPr/>
          <p:nvPr/>
        </p:nvSpPr>
        <p:spPr>
          <a:xfrm>
            <a:off x="3203143" y="2510027"/>
            <a:ext cx="59436" cy="59436"/>
          </a:xfrm>
          <a:prstGeom prst="roundRect">
            <a:avLst>
              <a:gd name="adj" fmla="val 46153"/>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3297326" y="2510027"/>
            <a:ext cx="59436" cy="59436"/>
          </a:xfrm>
          <a:prstGeom prst="roundRect">
            <a:avLst>
              <a:gd name="adj" fmla="val 46153"/>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ounded Rectangle 40"/>
          <p:cNvSpPr/>
          <p:nvPr/>
        </p:nvSpPr>
        <p:spPr>
          <a:xfrm>
            <a:off x="3391509" y="2510027"/>
            <a:ext cx="59436" cy="59436"/>
          </a:xfrm>
          <a:prstGeom prst="roundRect">
            <a:avLst>
              <a:gd name="adj" fmla="val 46153"/>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ounded Rectangle 41"/>
          <p:cNvSpPr/>
          <p:nvPr/>
        </p:nvSpPr>
        <p:spPr>
          <a:xfrm>
            <a:off x="3485692" y="2510027"/>
            <a:ext cx="59436" cy="59436"/>
          </a:xfrm>
          <a:prstGeom prst="roundRect">
            <a:avLst>
              <a:gd name="adj" fmla="val 46153"/>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ounded Rectangle 42"/>
          <p:cNvSpPr/>
          <p:nvPr/>
        </p:nvSpPr>
        <p:spPr>
          <a:xfrm>
            <a:off x="3579875" y="2510027"/>
            <a:ext cx="59436" cy="59436"/>
          </a:xfrm>
          <a:prstGeom prst="roundRect">
            <a:avLst>
              <a:gd name="adj" fmla="val 46153"/>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21207" y="2619756"/>
            <a:ext cx="3072384" cy="146304"/>
          </a:xfrm>
          <a:prstGeom prst="rect">
            <a:avLst/>
          </a:prstGeom>
          <a:noFill/>
        </p:spPr>
        <p:txBody>
          <a:bodyPr wrap="square" lIns="54864" rIns="54864" tIns="27432" bIns="27432" anchor="t">
            <a:noAutofit/>
          </a:bodyPr>
          <a:lstStyle/>
          <a:p>
            <a:pPr algn="l">
              <a:lnSpc>
                <a:spcPct val="100000"/>
              </a:lnSpc>
            </a:pPr>
            <a:r>
              <a:rPr sz="700" b="0">
                <a:solidFill>
                  <a:srgbClr val="666666"/>
                </a:solidFill>
                <a:latin typeface="Arial"/>
              </a:rPr>
              <a:t>ThoughtWorks Radar, CNCF</a:t>
            </a:r>
            <a:r>
              <a:rPr sz="700" b="0">
                <a:solidFill>
                  <a:srgbClr val="8F8F8F"/>
                </a:solidFill>
                <a:latin typeface="Arial"/>
              </a:rPr>
              <a:t>  (maturité réelle des technologies)</a:t>
            </a:r>
          </a:p>
        </p:txBody>
      </p:sp>
      <p:sp>
        <p:nvSpPr>
          <p:cNvPr id="45" name="Rectangle 44"/>
          <p:cNvSpPr/>
          <p:nvPr/>
        </p:nvSpPr>
        <p:spPr>
          <a:xfrm>
            <a:off x="566928" y="2775203"/>
            <a:ext cx="3072384" cy="6400"/>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21207" y="2798063"/>
            <a:ext cx="2569464" cy="164592"/>
          </a:xfrm>
          <a:prstGeom prst="rect">
            <a:avLst/>
          </a:prstGeom>
          <a:noFill/>
        </p:spPr>
        <p:txBody>
          <a:bodyPr wrap="square" lIns="54864" rIns="54864" tIns="27432" bIns="27432" anchor="t">
            <a:noAutofit/>
          </a:bodyPr>
          <a:lstStyle/>
          <a:p>
            <a:pPr algn="l">
              <a:lnSpc>
                <a:spcPct val="100000"/>
              </a:lnSpc>
            </a:pPr>
            <a:r>
              <a:rPr sz="800" b="1">
                <a:solidFill>
                  <a:srgbClr val="171717"/>
                </a:solidFill>
                <a:latin typeface="Arial"/>
              </a:rPr>
              <a:t>Étude</a:t>
            </a:r>
            <a:r>
              <a:rPr sz="700" b="0">
                <a:solidFill>
                  <a:srgbClr val="A1A1A1"/>
                </a:solidFill>
                <a:latin typeface="Arial"/>
              </a:rPr>
              <a:t>   S7</a:t>
            </a:r>
          </a:p>
        </p:txBody>
      </p:sp>
      <p:sp>
        <p:nvSpPr>
          <p:cNvPr id="47" name="Rounded Rectangle 46"/>
          <p:cNvSpPr/>
          <p:nvPr/>
        </p:nvSpPr>
        <p:spPr>
          <a:xfrm>
            <a:off x="3203143" y="2839211"/>
            <a:ext cx="59436" cy="59436"/>
          </a:xfrm>
          <a:prstGeom prst="roundRect">
            <a:avLst>
              <a:gd name="adj" fmla="val 46153"/>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ounded Rectangle 47"/>
          <p:cNvSpPr/>
          <p:nvPr/>
        </p:nvSpPr>
        <p:spPr>
          <a:xfrm>
            <a:off x="3297326" y="2839211"/>
            <a:ext cx="59436" cy="59436"/>
          </a:xfrm>
          <a:prstGeom prst="roundRect">
            <a:avLst>
              <a:gd name="adj" fmla="val 46153"/>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Rounded Rectangle 48"/>
          <p:cNvSpPr/>
          <p:nvPr/>
        </p:nvSpPr>
        <p:spPr>
          <a:xfrm>
            <a:off x="3391509" y="2839211"/>
            <a:ext cx="59436" cy="59436"/>
          </a:xfrm>
          <a:prstGeom prst="roundRect">
            <a:avLst>
              <a:gd name="adj" fmla="val 46153"/>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Rounded Rectangle 49"/>
          <p:cNvSpPr/>
          <p:nvPr/>
        </p:nvSpPr>
        <p:spPr>
          <a:xfrm>
            <a:off x="3485692" y="2839211"/>
            <a:ext cx="59436" cy="59436"/>
          </a:xfrm>
          <a:prstGeom prst="roundRect">
            <a:avLst>
              <a:gd name="adj" fmla="val 46153"/>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Rounded Rectangle 50"/>
          <p:cNvSpPr/>
          <p:nvPr/>
        </p:nvSpPr>
        <p:spPr>
          <a:xfrm>
            <a:off x="3579875" y="2839211"/>
            <a:ext cx="59436" cy="59436"/>
          </a:xfrm>
          <a:prstGeom prst="roundRect">
            <a:avLst>
              <a:gd name="adj" fmla="val 46153"/>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521207" y="2948939"/>
            <a:ext cx="3072384" cy="146304"/>
          </a:xfrm>
          <a:prstGeom prst="rect">
            <a:avLst/>
          </a:prstGeom>
          <a:noFill/>
        </p:spPr>
        <p:txBody>
          <a:bodyPr wrap="square" lIns="54864" rIns="54864" tIns="27432" bIns="27432" anchor="t">
            <a:noAutofit/>
          </a:bodyPr>
          <a:lstStyle/>
          <a:p>
            <a:pPr algn="l">
              <a:lnSpc>
                <a:spcPct val="100000"/>
              </a:lnSpc>
            </a:pPr>
            <a:r>
              <a:rPr sz="700" b="0">
                <a:solidFill>
                  <a:srgbClr val="666666"/>
                </a:solidFill>
                <a:latin typeface="Arial"/>
              </a:rPr>
              <a:t>DORA, Stack Overflow</a:t>
            </a:r>
            <a:r>
              <a:rPr sz="700" b="0">
                <a:solidFill>
                  <a:srgbClr val="8F8F8F"/>
                </a:solidFill>
                <a:latin typeface="Arial"/>
              </a:rPr>
              <a:t>  (adoption mesurée dans les équipes)</a:t>
            </a:r>
          </a:p>
        </p:txBody>
      </p:sp>
      <p:sp>
        <p:nvSpPr>
          <p:cNvPr id="53" name="Rectangle 52"/>
          <p:cNvSpPr/>
          <p:nvPr/>
        </p:nvSpPr>
        <p:spPr>
          <a:xfrm>
            <a:off x="566928" y="3104387"/>
            <a:ext cx="3072384" cy="6400"/>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21207" y="3127247"/>
            <a:ext cx="2569464" cy="164592"/>
          </a:xfrm>
          <a:prstGeom prst="rect">
            <a:avLst/>
          </a:prstGeom>
          <a:noFill/>
        </p:spPr>
        <p:txBody>
          <a:bodyPr wrap="square" lIns="54864" rIns="54864" tIns="27432" bIns="27432" anchor="t">
            <a:noAutofit/>
          </a:bodyPr>
          <a:lstStyle/>
          <a:p>
            <a:pPr algn="l">
              <a:lnSpc>
                <a:spcPct val="100000"/>
              </a:lnSpc>
            </a:pPr>
            <a:r>
              <a:rPr sz="800" b="1">
                <a:solidFill>
                  <a:srgbClr val="171717"/>
                </a:solidFill>
                <a:latin typeface="Arial"/>
              </a:rPr>
              <a:t>Fournisseur</a:t>
            </a:r>
            <a:r>
              <a:rPr sz="700" b="0">
                <a:solidFill>
                  <a:srgbClr val="A1A1A1"/>
                </a:solidFill>
                <a:latin typeface="Arial"/>
              </a:rPr>
              <a:t>   S8</a:t>
            </a:r>
          </a:p>
        </p:txBody>
      </p:sp>
      <p:sp>
        <p:nvSpPr>
          <p:cNvPr id="55" name="Rounded Rectangle 54"/>
          <p:cNvSpPr/>
          <p:nvPr/>
        </p:nvSpPr>
        <p:spPr>
          <a:xfrm>
            <a:off x="3203143" y="3168395"/>
            <a:ext cx="59436" cy="59436"/>
          </a:xfrm>
          <a:prstGeom prst="roundRect">
            <a:avLst>
              <a:gd name="adj" fmla="val 46153"/>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ounded Rectangle 55"/>
          <p:cNvSpPr/>
          <p:nvPr/>
        </p:nvSpPr>
        <p:spPr>
          <a:xfrm>
            <a:off x="3297326" y="3168395"/>
            <a:ext cx="59436" cy="59436"/>
          </a:xfrm>
          <a:prstGeom prst="roundRect">
            <a:avLst>
              <a:gd name="adj" fmla="val 46153"/>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Rounded Rectangle 56"/>
          <p:cNvSpPr/>
          <p:nvPr/>
        </p:nvSpPr>
        <p:spPr>
          <a:xfrm>
            <a:off x="3391509" y="3168395"/>
            <a:ext cx="59436" cy="59436"/>
          </a:xfrm>
          <a:prstGeom prst="roundRect">
            <a:avLst>
              <a:gd name="adj" fmla="val 46153"/>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ounded Rectangle 57"/>
          <p:cNvSpPr/>
          <p:nvPr/>
        </p:nvSpPr>
        <p:spPr>
          <a:xfrm>
            <a:off x="3485692" y="3168395"/>
            <a:ext cx="59436" cy="59436"/>
          </a:xfrm>
          <a:prstGeom prst="roundRect">
            <a:avLst>
              <a:gd name="adj" fmla="val 46153"/>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Rounded Rectangle 58"/>
          <p:cNvSpPr/>
          <p:nvPr/>
        </p:nvSpPr>
        <p:spPr>
          <a:xfrm>
            <a:off x="3579875" y="3168395"/>
            <a:ext cx="59436" cy="59436"/>
          </a:xfrm>
          <a:prstGeom prst="roundRect">
            <a:avLst>
              <a:gd name="adj" fmla="val 46153"/>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521207" y="3278123"/>
            <a:ext cx="3072384" cy="146304"/>
          </a:xfrm>
          <a:prstGeom prst="rect">
            <a:avLst/>
          </a:prstGeom>
          <a:noFill/>
        </p:spPr>
        <p:txBody>
          <a:bodyPr wrap="square" lIns="54864" rIns="54864" tIns="27432" bIns="27432" anchor="t">
            <a:noAutofit/>
          </a:bodyPr>
          <a:lstStyle/>
          <a:p>
            <a:pPr algn="l">
              <a:lnSpc>
                <a:spcPct val="100000"/>
              </a:lnSpc>
            </a:pPr>
            <a:r>
              <a:rPr sz="700" b="0">
                <a:solidFill>
                  <a:srgbClr val="666666"/>
                </a:solidFill>
                <a:latin typeface="Arial"/>
              </a:rPr>
              <a:t>Hetzner, Cloudflare, AWS</a:t>
            </a:r>
            <a:r>
              <a:rPr sz="700" b="0">
                <a:solidFill>
                  <a:srgbClr val="8F8F8F"/>
                </a:solidFill>
                <a:latin typeface="Arial"/>
              </a:rPr>
              <a:t>  (tarifs et incidents déclarés)</a:t>
            </a:r>
          </a:p>
        </p:txBody>
      </p:sp>
      <p:sp>
        <p:nvSpPr>
          <p:cNvPr id="61" name="Rectangle 60"/>
          <p:cNvSpPr/>
          <p:nvPr/>
        </p:nvSpPr>
        <p:spPr>
          <a:xfrm>
            <a:off x="566928" y="3433571"/>
            <a:ext cx="3072384" cy="6400"/>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21207" y="3456431"/>
            <a:ext cx="2569464" cy="164592"/>
          </a:xfrm>
          <a:prstGeom prst="rect">
            <a:avLst/>
          </a:prstGeom>
          <a:noFill/>
        </p:spPr>
        <p:txBody>
          <a:bodyPr wrap="square" lIns="54864" rIns="54864" tIns="27432" bIns="27432" anchor="t">
            <a:noAutofit/>
          </a:bodyPr>
          <a:lstStyle/>
          <a:p>
            <a:pPr algn="l">
              <a:lnSpc>
                <a:spcPct val="100000"/>
              </a:lnSpc>
            </a:pPr>
            <a:r>
              <a:rPr sz="800" b="1">
                <a:solidFill>
                  <a:srgbClr val="171717"/>
                </a:solidFill>
                <a:latin typeface="Arial"/>
              </a:rPr>
              <a:t>Communautaire</a:t>
            </a:r>
            <a:r>
              <a:rPr sz="700" b="0">
                <a:solidFill>
                  <a:srgbClr val="A1A1A1"/>
                </a:solidFill>
                <a:latin typeface="Arial"/>
              </a:rPr>
              <a:t>   S9</a:t>
            </a:r>
          </a:p>
        </p:txBody>
      </p:sp>
      <p:sp>
        <p:nvSpPr>
          <p:cNvPr id="63" name="Rounded Rectangle 62"/>
          <p:cNvSpPr/>
          <p:nvPr/>
        </p:nvSpPr>
        <p:spPr>
          <a:xfrm>
            <a:off x="3203143" y="3497579"/>
            <a:ext cx="59436" cy="59436"/>
          </a:xfrm>
          <a:prstGeom prst="roundRect">
            <a:avLst>
              <a:gd name="adj" fmla="val 46153"/>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Rounded Rectangle 63"/>
          <p:cNvSpPr/>
          <p:nvPr/>
        </p:nvSpPr>
        <p:spPr>
          <a:xfrm>
            <a:off x="3297326" y="3497579"/>
            <a:ext cx="59436" cy="59436"/>
          </a:xfrm>
          <a:prstGeom prst="roundRect">
            <a:avLst>
              <a:gd name="adj" fmla="val 46153"/>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Rounded Rectangle 64"/>
          <p:cNvSpPr/>
          <p:nvPr/>
        </p:nvSpPr>
        <p:spPr>
          <a:xfrm>
            <a:off x="3391509" y="3497579"/>
            <a:ext cx="59436" cy="59436"/>
          </a:xfrm>
          <a:prstGeom prst="roundRect">
            <a:avLst>
              <a:gd name="adj" fmla="val 46153"/>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Rounded Rectangle 65"/>
          <p:cNvSpPr/>
          <p:nvPr/>
        </p:nvSpPr>
        <p:spPr>
          <a:xfrm>
            <a:off x="3485692" y="3497579"/>
            <a:ext cx="59436" cy="59436"/>
          </a:xfrm>
          <a:prstGeom prst="roundRect">
            <a:avLst>
              <a:gd name="adj" fmla="val 46153"/>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Rounded Rectangle 66"/>
          <p:cNvSpPr/>
          <p:nvPr/>
        </p:nvSpPr>
        <p:spPr>
          <a:xfrm>
            <a:off x="3579875" y="3497579"/>
            <a:ext cx="59436" cy="59436"/>
          </a:xfrm>
          <a:prstGeom prst="roundRect">
            <a:avLst>
              <a:gd name="adj" fmla="val 46153"/>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521207" y="3607307"/>
            <a:ext cx="3072384" cy="146304"/>
          </a:xfrm>
          <a:prstGeom prst="rect">
            <a:avLst/>
          </a:prstGeom>
          <a:noFill/>
        </p:spPr>
        <p:txBody>
          <a:bodyPr wrap="square" lIns="54864" rIns="54864" tIns="27432" bIns="27432" anchor="t">
            <a:noAutofit/>
          </a:bodyPr>
          <a:lstStyle/>
          <a:p>
            <a:pPr algn="l">
              <a:lnSpc>
                <a:spcPct val="100000"/>
              </a:lnSpc>
            </a:pPr>
            <a:r>
              <a:rPr sz="700" b="0">
                <a:solidFill>
                  <a:srgbClr val="666666"/>
                </a:solidFill>
                <a:latin typeface="Arial"/>
              </a:rPr>
              <a:t>Hacker News, Reddit, Lobsters</a:t>
            </a:r>
            <a:r>
              <a:rPr sz="700" b="0">
                <a:solidFill>
                  <a:srgbClr val="8F8F8F"/>
                </a:solidFill>
                <a:latin typeface="Arial"/>
              </a:rPr>
              <a:t>  (signaux faibles)</a:t>
            </a:r>
          </a:p>
        </p:txBody>
      </p:sp>
      <p:sp>
        <p:nvSpPr>
          <p:cNvPr id="69" name="Rounded Rectangle 68"/>
          <p:cNvSpPr/>
          <p:nvPr/>
        </p:nvSpPr>
        <p:spPr>
          <a:xfrm>
            <a:off x="3931920" y="1426464"/>
            <a:ext cx="2286000" cy="2359151"/>
          </a:xfrm>
          <a:prstGeom prst="roundRect">
            <a:avLst>
              <a:gd name="adj" fmla="val 250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TextBox 69"/>
          <p:cNvSpPr txBox="1"/>
          <p:nvPr/>
        </p:nvSpPr>
        <p:spPr>
          <a:xfrm>
            <a:off x="3995928" y="1481328"/>
            <a:ext cx="2066543" cy="219456"/>
          </a:xfrm>
          <a:prstGeom prst="rect">
            <a:avLst/>
          </a:prstGeom>
          <a:noFill/>
        </p:spPr>
        <p:txBody>
          <a:bodyPr wrap="square" lIns="54864" rIns="54864" tIns="27432" bIns="27432" anchor="t">
            <a:noAutofit/>
          </a:bodyPr>
          <a:lstStyle/>
          <a:p>
            <a:pPr algn="l">
              <a:lnSpc>
                <a:spcPct val="100000"/>
              </a:lnSpc>
            </a:pPr>
            <a:r>
              <a:rPr sz="1050" b="1">
                <a:solidFill>
                  <a:srgbClr val="171717"/>
                </a:solidFill>
                <a:latin typeface="Arial"/>
              </a:rPr>
              <a:t>2 grilles de notation</a:t>
            </a:r>
          </a:p>
        </p:txBody>
      </p:sp>
      <p:sp>
        <p:nvSpPr>
          <p:cNvPr id="71" name="Rectangle 70"/>
          <p:cNvSpPr/>
          <p:nvPr/>
        </p:nvSpPr>
        <p:spPr>
          <a:xfrm>
            <a:off x="4041648" y="1737360"/>
            <a:ext cx="2066543" cy="6400"/>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995928" y="1828800"/>
            <a:ext cx="2066543" cy="164592"/>
          </a:xfrm>
          <a:prstGeom prst="rect">
            <a:avLst/>
          </a:prstGeom>
          <a:noFill/>
        </p:spPr>
        <p:txBody>
          <a:bodyPr wrap="square" lIns="54864" rIns="54864" tIns="27432" bIns="27432" anchor="t">
            <a:noAutofit/>
          </a:bodyPr>
          <a:lstStyle/>
          <a:p>
            <a:pPr algn="l">
              <a:lnSpc>
                <a:spcPct val="100000"/>
              </a:lnSpc>
            </a:pPr>
            <a:r>
              <a:rPr sz="650" b="1" spc="120">
                <a:solidFill>
                  <a:srgbClr val="171717"/>
                </a:solidFill>
                <a:latin typeface="Arial"/>
              </a:rPr>
              <a:t>LA SOURCE, 5 CRITÈRES</a:t>
            </a:r>
          </a:p>
        </p:txBody>
      </p:sp>
      <p:sp>
        <p:nvSpPr>
          <p:cNvPr id="73" name="Rounded Rectangle 72"/>
          <p:cNvSpPr/>
          <p:nvPr/>
        </p:nvSpPr>
        <p:spPr>
          <a:xfrm>
            <a:off x="4041648" y="2011680"/>
            <a:ext cx="442785" cy="192024"/>
          </a:xfrm>
          <a:prstGeom prst="roundRect">
            <a:avLst>
              <a:gd name="adj" fmla="val 26190"/>
            </a:avLst>
          </a:prstGeom>
          <a:solidFill>
            <a:srgbClr val="F4F4F5"/>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TextBox 73"/>
          <p:cNvSpPr txBox="1"/>
          <p:nvPr/>
        </p:nvSpPr>
        <p:spPr>
          <a:xfrm>
            <a:off x="4041648" y="2011680"/>
            <a:ext cx="442785" cy="192024"/>
          </a:xfrm>
          <a:prstGeom prst="rect">
            <a:avLst/>
          </a:prstGeom>
          <a:noFill/>
        </p:spPr>
        <p:txBody>
          <a:bodyPr wrap="square" lIns="54864" rIns="54864" tIns="27432" bIns="27432" anchor="ctr">
            <a:noAutofit/>
          </a:bodyPr>
          <a:lstStyle/>
          <a:p>
            <a:pPr algn="ctr">
              <a:lnSpc>
                <a:spcPct val="100000"/>
              </a:lnSpc>
            </a:pPr>
            <a:r>
              <a:rPr sz="700" b="0">
                <a:solidFill>
                  <a:srgbClr val="383838"/>
                </a:solidFill>
                <a:latin typeface="Arial"/>
              </a:rPr>
              <a:t>autorité</a:t>
            </a:r>
          </a:p>
        </p:txBody>
      </p:sp>
      <p:sp>
        <p:nvSpPr>
          <p:cNvPr id="75" name="Rounded Rectangle 74"/>
          <p:cNvSpPr/>
          <p:nvPr/>
        </p:nvSpPr>
        <p:spPr>
          <a:xfrm>
            <a:off x="4539297" y="2011680"/>
            <a:ext cx="566178" cy="192024"/>
          </a:xfrm>
          <a:prstGeom prst="roundRect">
            <a:avLst>
              <a:gd name="adj" fmla="val 26190"/>
            </a:avLst>
          </a:prstGeom>
          <a:solidFill>
            <a:srgbClr val="F4F4F5"/>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6" name="TextBox 75"/>
          <p:cNvSpPr txBox="1"/>
          <p:nvPr/>
        </p:nvSpPr>
        <p:spPr>
          <a:xfrm>
            <a:off x="4539297" y="2011680"/>
            <a:ext cx="566178" cy="192024"/>
          </a:xfrm>
          <a:prstGeom prst="rect">
            <a:avLst/>
          </a:prstGeom>
          <a:noFill/>
        </p:spPr>
        <p:txBody>
          <a:bodyPr wrap="square" lIns="54864" rIns="54864" tIns="27432" bIns="27432" anchor="ctr">
            <a:noAutofit/>
          </a:bodyPr>
          <a:lstStyle/>
          <a:p>
            <a:pPr algn="ctr">
              <a:lnSpc>
                <a:spcPct val="100000"/>
              </a:lnSpc>
            </a:pPr>
            <a:r>
              <a:rPr sz="700" b="0">
                <a:solidFill>
                  <a:srgbClr val="383838"/>
                </a:solidFill>
                <a:latin typeface="Arial"/>
              </a:rPr>
              <a:t>vérifiabilité</a:t>
            </a:r>
          </a:p>
        </p:txBody>
      </p:sp>
      <p:sp>
        <p:nvSpPr>
          <p:cNvPr id="77" name="Rounded Rectangle 76"/>
          <p:cNvSpPr/>
          <p:nvPr/>
        </p:nvSpPr>
        <p:spPr>
          <a:xfrm>
            <a:off x="5160340" y="2011680"/>
            <a:ext cx="492125" cy="192024"/>
          </a:xfrm>
          <a:prstGeom prst="roundRect">
            <a:avLst>
              <a:gd name="adj" fmla="val 26190"/>
            </a:avLst>
          </a:prstGeom>
          <a:solidFill>
            <a:srgbClr val="F4F4F5"/>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8" name="TextBox 77"/>
          <p:cNvSpPr txBox="1"/>
          <p:nvPr/>
        </p:nvSpPr>
        <p:spPr>
          <a:xfrm>
            <a:off x="5160340" y="2011680"/>
            <a:ext cx="492125" cy="192024"/>
          </a:xfrm>
          <a:prstGeom prst="rect">
            <a:avLst/>
          </a:prstGeom>
          <a:noFill/>
        </p:spPr>
        <p:txBody>
          <a:bodyPr wrap="square" lIns="54864" rIns="54864" tIns="27432" bIns="27432" anchor="ctr">
            <a:noAutofit/>
          </a:bodyPr>
          <a:lstStyle/>
          <a:p>
            <a:pPr algn="ctr">
              <a:lnSpc>
                <a:spcPct val="100000"/>
              </a:lnSpc>
            </a:pPr>
            <a:r>
              <a:rPr sz="700" b="0">
                <a:solidFill>
                  <a:srgbClr val="383838"/>
                </a:solidFill>
                <a:latin typeface="Arial"/>
              </a:rPr>
              <a:t>fraîcheur</a:t>
            </a:r>
          </a:p>
        </p:txBody>
      </p:sp>
      <p:sp>
        <p:nvSpPr>
          <p:cNvPr id="79" name="Rounded Rectangle 78"/>
          <p:cNvSpPr/>
          <p:nvPr/>
        </p:nvSpPr>
        <p:spPr>
          <a:xfrm>
            <a:off x="4041648" y="2249424"/>
            <a:ext cx="511949" cy="192024"/>
          </a:xfrm>
          <a:prstGeom prst="roundRect">
            <a:avLst>
              <a:gd name="adj" fmla="val 26190"/>
            </a:avLst>
          </a:prstGeom>
          <a:solidFill>
            <a:srgbClr val="F4F4F5"/>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0" name="TextBox 79"/>
          <p:cNvSpPr txBox="1"/>
          <p:nvPr/>
        </p:nvSpPr>
        <p:spPr>
          <a:xfrm>
            <a:off x="4041648" y="2249424"/>
            <a:ext cx="511949" cy="192024"/>
          </a:xfrm>
          <a:prstGeom prst="rect">
            <a:avLst/>
          </a:prstGeom>
          <a:noFill/>
        </p:spPr>
        <p:txBody>
          <a:bodyPr wrap="square" lIns="54864" rIns="54864" tIns="27432" bIns="27432" anchor="ctr">
            <a:noAutofit/>
          </a:bodyPr>
          <a:lstStyle/>
          <a:p>
            <a:pPr algn="ctr">
              <a:lnSpc>
                <a:spcPct val="100000"/>
              </a:lnSpc>
            </a:pPr>
            <a:r>
              <a:rPr sz="700" b="0">
                <a:solidFill>
                  <a:srgbClr val="383838"/>
                </a:solidFill>
                <a:latin typeface="Arial"/>
              </a:rPr>
              <a:t>neutralité</a:t>
            </a:r>
          </a:p>
        </p:txBody>
      </p:sp>
      <p:sp>
        <p:nvSpPr>
          <p:cNvPr id="81" name="Rounded Rectangle 80"/>
          <p:cNvSpPr/>
          <p:nvPr/>
        </p:nvSpPr>
        <p:spPr>
          <a:xfrm>
            <a:off x="4608461" y="2249424"/>
            <a:ext cx="561289" cy="192024"/>
          </a:xfrm>
          <a:prstGeom prst="roundRect">
            <a:avLst>
              <a:gd name="adj" fmla="val 26190"/>
            </a:avLst>
          </a:prstGeom>
          <a:solidFill>
            <a:srgbClr val="F4F4F5"/>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2" name="TextBox 81"/>
          <p:cNvSpPr txBox="1"/>
          <p:nvPr/>
        </p:nvSpPr>
        <p:spPr>
          <a:xfrm>
            <a:off x="4608461" y="2249424"/>
            <a:ext cx="561289" cy="192024"/>
          </a:xfrm>
          <a:prstGeom prst="rect">
            <a:avLst/>
          </a:prstGeom>
          <a:noFill/>
        </p:spPr>
        <p:txBody>
          <a:bodyPr wrap="square" lIns="54864" rIns="54864" tIns="27432" bIns="27432" anchor="ctr">
            <a:noAutofit/>
          </a:bodyPr>
          <a:lstStyle/>
          <a:p>
            <a:pPr algn="ctr">
              <a:lnSpc>
                <a:spcPct val="100000"/>
              </a:lnSpc>
            </a:pPr>
            <a:r>
              <a:rPr sz="700" b="0">
                <a:solidFill>
                  <a:srgbClr val="383838"/>
                </a:solidFill>
                <a:latin typeface="Arial"/>
              </a:rPr>
              <a:t>conformité</a:t>
            </a:r>
          </a:p>
        </p:txBody>
      </p:sp>
      <p:sp>
        <p:nvSpPr>
          <p:cNvPr id="83" name="TextBox 82"/>
          <p:cNvSpPr txBox="1"/>
          <p:nvPr/>
        </p:nvSpPr>
        <p:spPr>
          <a:xfrm>
            <a:off x="3995928" y="2542032"/>
            <a:ext cx="2066543" cy="164592"/>
          </a:xfrm>
          <a:prstGeom prst="rect">
            <a:avLst/>
          </a:prstGeom>
          <a:noFill/>
        </p:spPr>
        <p:txBody>
          <a:bodyPr wrap="square" lIns="54864" rIns="54864" tIns="27432" bIns="27432" anchor="t">
            <a:noAutofit/>
          </a:bodyPr>
          <a:lstStyle/>
          <a:p>
            <a:pPr algn="l">
              <a:lnSpc>
                <a:spcPct val="100000"/>
              </a:lnSpc>
            </a:pPr>
            <a:r>
              <a:rPr sz="650" b="1" spc="120">
                <a:solidFill>
                  <a:srgbClr val="171717"/>
                </a:solidFill>
                <a:latin typeface="Arial"/>
              </a:rPr>
              <a:t>LA TECHNOLOGIE, 8 CRITÈRES</a:t>
            </a:r>
          </a:p>
        </p:txBody>
      </p:sp>
      <p:sp>
        <p:nvSpPr>
          <p:cNvPr id="84" name="Rounded Rectangle 83"/>
          <p:cNvSpPr/>
          <p:nvPr/>
        </p:nvSpPr>
        <p:spPr>
          <a:xfrm>
            <a:off x="4041648" y="2724911"/>
            <a:ext cx="516928" cy="192024"/>
          </a:xfrm>
          <a:prstGeom prst="roundRect">
            <a:avLst>
              <a:gd name="adj" fmla="val 26190"/>
            </a:avLst>
          </a:prstGeom>
          <a:solidFill>
            <a:srgbClr val="F4F4F5"/>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TextBox 84"/>
          <p:cNvSpPr txBox="1"/>
          <p:nvPr/>
        </p:nvSpPr>
        <p:spPr>
          <a:xfrm>
            <a:off x="4041648" y="2724911"/>
            <a:ext cx="516928" cy="192024"/>
          </a:xfrm>
          <a:prstGeom prst="rect">
            <a:avLst/>
          </a:prstGeom>
          <a:noFill/>
        </p:spPr>
        <p:txBody>
          <a:bodyPr wrap="square" lIns="54864" rIns="54864" tIns="27432" bIns="27432" anchor="ctr">
            <a:noAutofit/>
          </a:bodyPr>
          <a:lstStyle/>
          <a:p>
            <a:pPr algn="ctr">
              <a:lnSpc>
                <a:spcPct val="100000"/>
              </a:lnSpc>
            </a:pPr>
            <a:r>
              <a:rPr sz="700" b="0">
                <a:solidFill>
                  <a:srgbClr val="383838"/>
                </a:solidFill>
                <a:latin typeface="Arial"/>
              </a:rPr>
              <a:t>pérennité</a:t>
            </a:r>
          </a:p>
        </p:txBody>
      </p:sp>
      <p:sp>
        <p:nvSpPr>
          <p:cNvPr id="86" name="Rounded Rectangle 85"/>
          <p:cNvSpPr/>
          <p:nvPr/>
        </p:nvSpPr>
        <p:spPr>
          <a:xfrm>
            <a:off x="4613440" y="2724911"/>
            <a:ext cx="586181" cy="192024"/>
          </a:xfrm>
          <a:prstGeom prst="roundRect">
            <a:avLst>
              <a:gd name="adj" fmla="val 26190"/>
            </a:avLst>
          </a:prstGeom>
          <a:solidFill>
            <a:srgbClr val="F4F4F5"/>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TextBox 86"/>
          <p:cNvSpPr txBox="1"/>
          <p:nvPr/>
        </p:nvSpPr>
        <p:spPr>
          <a:xfrm>
            <a:off x="4613440" y="2724911"/>
            <a:ext cx="586181" cy="192024"/>
          </a:xfrm>
          <a:prstGeom prst="rect">
            <a:avLst/>
          </a:prstGeom>
          <a:noFill/>
        </p:spPr>
        <p:txBody>
          <a:bodyPr wrap="square" lIns="54864" rIns="54864" tIns="27432" bIns="27432" anchor="ctr">
            <a:noAutofit/>
          </a:bodyPr>
          <a:lstStyle/>
          <a:p>
            <a:pPr algn="ctr">
              <a:lnSpc>
                <a:spcPct val="100000"/>
              </a:lnSpc>
            </a:pPr>
            <a:r>
              <a:rPr sz="700" b="0">
                <a:solidFill>
                  <a:srgbClr val="383838"/>
                </a:solidFill>
                <a:latin typeface="Arial"/>
              </a:rPr>
              <a:t>adéquation</a:t>
            </a:r>
          </a:p>
        </p:txBody>
      </p:sp>
      <p:sp>
        <p:nvSpPr>
          <p:cNvPr id="88" name="Rounded Rectangle 87"/>
          <p:cNvSpPr/>
          <p:nvPr/>
        </p:nvSpPr>
        <p:spPr>
          <a:xfrm>
            <a:off x="5254485" y="2724911"/>
            <a:ext cx="507060" cy="192024"/>
          </a:xfrm>
          <a:prstGeom prst="roundRect">
            <a:avLst>
              <a:gd name="adj" fmla="val 26190"/>
            </a:avLst>
          </a:prstGeom>
          <a:solidFill>
            <a:srgbClr val="F4F4F5"/>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9" name="TextBox 88"/>
          <p:cNvSpPr txBox="1"/>
          <p:nvPr/>
        </p:nvSpPr>
        <p:spPr>
          <a:xfrm>
            <a:off x="5254485" y="2724911"/>
            <a:ext cx="507060" cy="192024"/>
          </a:xfrm>
          <a:prstGeom prst="rect">
            <a:avLst/>
          </a:prstGeom>
          <a:noFill/>
        </p:spPr>
        <p:txBody>
          <a:bodyPr wrap="square" lIns="54864" rIns="54864" tIns="27432" bIns="27432" anchor="ctr">
            <a:noAutofit/>
          </a:bodyPr>
          <a:lstStyle/>
          <a:p>
            <a:pPr algn="ctr">
              <a:lnSpc>
                <a:spcPct val="100000"/>
              </a:lnSpc>
            </a:pPr>
            <a:r>
              <a:rPr sz="700" b="0">
                <a:solidFill>
                  <a:srgbClr val="383838"/>
                </a:solidFill>
                <a:latin typeface="Arial"/>
              </a:rPr>
              <a:t>coût total</a:t>
            </a:r>
          </a:p>
        </p:txBody>
      </p:sp>
      <p:sp>
        <p:nvSpPr>
          <p:cNvPr id="90" name="Rounded Rectangle 89"/>
          <p:cNvSpPr/>
          <p:nvPr/>
        </p:nvSpPr>
        <p:spPr>
          <a:xfrm>
            <a:off x="4041648" y="2962655"/>
            <a:ext cx="476217" cy="192024"/>
          </a:xfrm>
          <a:prstGeom prst="roundRect">
            <a:avLst>
              <a:gd name="adj" fmla="val 26190"/>
            </a:avLst>
          </a:prstGeom>
          <a:solidFill>
            <a:srgbClr val="E7F5FF"/>
          </a:solidFill>
          <a:ln w="9525">
            <a:solidFill>
              <a:srgbClr val="D0E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1" name="TextBox 90"/>
          <p:cNvSpPr txBox="1"/>
          <p:nvPr/>
        </p:nvSpPr>
        <p:spPr>
          <a:xfrm>
            <a:off x="4041648" y="2962655"/>
            <a:ext cx="476217" cy="192024"/>
          </a:xfrm>
          <a:prstGeom prst="rect">
            <a:avLst/>
          </a:prstGeom>
          <a:noFill/>
        </p:spPr>
        <p:txBody>
          <a:bodyPr wrap="square" lIns="54864" rIns="54864" tIns="27432" bIns="27432" anchor="ctr">
            <a:noAutofit/>
          </a:bodyPr>
          <a:lstStyle/>
          <a:p>
            <a:pPr algn="ctr">
              <a:lnSpc>
                <a:spcPct val="100000"/>
              </a:lnSpc>
            </a:pPr>
            <a:r>
              <a:rPr sz="700" b="1">
                <a:solidFill>
                  <a:srgbClr val="1C7ED6"/>
                </a:solidFill>
                <a:latin typeface="Arial"/>
              </a:rPr>
              <a:t>sécurité</a:t>
            </a:r>
          </a:p>
        </p:txBody>
      </p:sp>
      <p:sp>
        <p:nvSpPr>
          <p:cNvPr id="92" name="Rounded Rectangle 91"/>
          <p:cNvSpPr/>
          <p:nvPr/>
        </p:nvSpPr>
        <p:spPr>
          <a:xfrm>
            <a:off x="4554054" y="2962655"/>
            <a:ext cx="481494" cy="192024"/>
          </a:xfrm>
          <a:prstGeom prst="roundRect">
            <a:avLst>
              <a:gd name="adj" fmla="val 26190"/>
            </a:avLst>
          </a:prstGeom>
          <a:solidFill>
            <a:srgbClr val="E7F5FF"/>
          </a:solidFill>
          <a:ln w="9525">
            <a:solidFill>
              <a:srgbClr val="D0E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3" name="TextBox 92"/>
          <p:cNvSpPr txBox="1"/>
          <p:nvPr/>
        </p:nvSpPr>
        <p:spPr>
          <a:xfrm>
            <a:off x="4554054" y="2962655"/>
            <a:ext cx="481494" cy="192024"/>
          </a:xfrm>
          <a:prstGeom prst="rect">
            <a:avLst/>
          </a:prstGeom>
          <a:noFill/>
        </p:spPr>
        <p:txBody>
          <a:bodyPr wrap="square" lIns="54864" rIns="54864" tIns="27432" bIns="27432" anchor="ctr">
            <a:noAutofit/>
          </a:bodyPr>
          <a:lstStyle/>
          <a:p>
            <a:pPr algn="ctr">
              <a:lnSpc>
                <a:spcPct val="100000"/>
              </a:lnSpc>
            </a:pPr>
            <a:r>
              <a:rPr sz="700" b="1">
                <a:solidFill>
                  <a:srgbClr val="1C7ED6"/>
                </a:solidFill>
                <a:latin typeface="Arial"/>
              </a:rPr>
              <a:t>sobriété</a:t>
            </a:r>
          </a:p>
        </p:txBody>
      </p:sp>
      <p:sp>
        <p:nvSpPr>
          <p:cNvPr id="94" name="Rounded Rectangle 93"/>
          <p:cNvSpPr/>
          <p:nvPr/>
        </p:nvSpPr>
        <p:spPr>
          <a:xfrm>
            <a:off x="5071440" y="2962655"/>
            <a:ext cx="625475" cy="192024"/>
          </a:xfrm>
          <a:prstGeom prst="roundRect">
            <a:avLst>
              <a:gd name="adj" fmla="val 26190"/>
            </a:avLst>
          </a:prstGeom>
          <a:solidFill>
            <a:srgbClr val="F4F4F5"/>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5" name="TextBox 94"/>
          <p:cNvSpPr txBox="1"/>
          <p:nvPr/>
        </p:nvSpPr>
        <p:spPr>
          <a:xfrm>
            <a:off x="5071440" y="2962655"/>
            <a:ext cx="625475" cy="192024"/>
          </a:xfrm>
          <a:prstGeom prst="rect">
            <a:avLst/>
          </a:prstGeom>
          <a:noFill/>
        </p:spPr>
        <p:txBody>
          <a:bodyPr wrap="square" lIns="54864" rIns="54864" tIns="27432" bIns="27432" anchor="ctr">
            <a:noAutofit/>
          </a:bodyPr>
          <a:lstStyle/>
          <a:p>
            <a:pPr algn="ctr">
              <a:lnSpc>
                <a:spcPct val="100000"/>
              </a:lnSpc>
            </a:pPr>
            <a:r>
              <a:rPr sz="700" b="0">
                <a:solidFill>
                  <a:srgbClr val="383838"/>
                </a:solidFill>
                <a:latin typeface="Arial"/>
              </a:rPr>
              <a:t>accessibilité</a:t>
            </a:r>
          </a:p>
        </p:txBody>
      </p:sp>
      <p:sp>
        <p:nvSpPr>
          <p:cNvPr id="96" name="Rounded Rectangle 95"/>
          <p:cNvSpPr/>
          <p:nvPr/>
        </p:nvSpPr>
        <p:spPr>
          <a:xfrm>
            <a:off x="4041648" y="3200399"/>
            <a:ext cx="704684" cy="192024"/>
          </a:xfrm>
          <a:prstGeom prst="roundRect">
            <a:avLst>
              <a:gd name="adj" fmla="val 26190"/>
            </a:avLst>
          </a:prstGeom>
          <a:solidFill>
            <a:srgbClr val="F4F4F5"/>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7" name="TextBox 96"/>
          <p:cNvSpPr txBox="1"/>
          <p:nvPr/>
        </p:nvSpPr>
        <p:spPr>
          <a:xfrm>
            <a:off x="4041648" y="3200399"/>
            <a:ext cx="704684" cy="192024"/>
          </a:xfrm>
          <a:prstGeom prst="rect">
            <a:avLst/>
          </a:prstGeom>
          <a:noFill/>
        </p:spPr>
        <p:txBody>
          <a:bodyPr wrap="square" lIns="54864" rIns="54864" tIns="27432" bIns="27432" anchor="ctr">
            <a:noAutofit/>
          </a:bodyPr>
          <a:lstStyle/>
          <a:p>
            <a:pPr algn="ctr">
              <a:lnSpc>
                <a:spcPct val="100000"/>
              </a:lnSpc>
            </a:pPr>
            <a:r>
              <a:rPr sz="700" b="0">
                <a:solidFill>
                  <a:srgbClr val="383838"/>
                </a:solidFill>
                <a:latin typeface="Arial"/>
              </a:rPr>
              <a:t>apprentissage</a:t>
            </a:r>
          </a:p>
        </p:txBody>
      </p:sp>
      <p:sp>
        <p:nvSpPr>
          <p:cNvPr id="98" name="Rounded Rectangle 97"/>
          <p:cNvSpPr/>
          <p:nvPr/>
        </p:nvSpPr>
        <p:spPr>
          <a:xfrm>
            <a:off x="4801196" y="3200399"/>
            <a:ext cx="595782" cy="192024"/>
          </a:xfrm>
          <a:prstGeom prst="roundRect">
            <a:avLst>
              <a:gd name="adj" fmla="val 26190"/>
            </a:avLst>
          </a:prstGeom>
          <a:solidFill>
            <a:srgbClr val="F4F4F5"/>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9" name="TextBox 98"/>
          <p:cNvSpPr txBox="1"/>
          <p:nvPr/>
        </p:nvSpPr>
        <p:spPr>
          <a:xfrm>
            <a:off x="4801196" y="3200399"/>
            <a:ext cx="595782" cy="192024"/>
          </a:xfrm>
          <a:prstGeom prst="rect">
            <a:avLst/>
          </a:prstGeom>
          <a:noFill/>
        </p:spPr>
        <p:txBody>
          <a:bodyPr wrap="square" lIns="54864" rIns="54864" tIns="27432" bIns="27432" anchor="ctr">
            <a:noAutofit/>
          </a:bodyPr>
          <a:lstStyle/>
          <a:p>
            <a:pPr algn="ctr">
              <a:lnSpc>
                <a:spcPct val="100000"/>
              </a:lnSpc>
            </a:pPr>
            <a:r>
              <a:rPr sz="700" b="0">
                <a:solidFill>
                  <a:srgbClr val="383838"/>
                </a:solidFill>
                <a:latin typeface="Arial"/>
              </a:rPr>
              <a:t>réversibilité</a:t>
            </a:r>
          </a:p>
        </p:txBody>
      </p:sp>
      <p:sp>
        <p:nvSpPr>
          <p:cNvPr id="100" name="TextBox 99"/>
          <p:cNvSpPr txBox="1"/>
          <p:nvPr/>
        </p:nvSpPr>
        <p:spPr>
          <a:xfrm>
            <a:off x="3995928" y="3511296"/>
            <a:ext cx="2066543" cy="201168"/>
          </a:xfrm>
          <a:prstGeom prst="rect">
            <a:avLst/>
          </a:prstGeom>
          <a:noFill/>
        </p:spPr>
        <p:txBody>
          <a:bodyPr wrap="square" lIns="54864" rIns="54864" tIns="27432" bIns="27432" anchor="t">
            <a:noAutofit/>
          </a:bodyPr>
          <a:lstStyle/>
          <a:p>
            <a:pPr algn="l">
              <a:lnSpc>
                <a:spcPct val="100000"/>
              </a:lnSpc>
            </a:pPr>
            <a:r>
              <a:rPr sz="700" b="0">
                <a:solidFill>
                  <a:srgbClr val="8F8F8F"/>
                </a:solidFill>
                <a:latin typeface="Arial"/>
              </a:rPr>
              <a:t>notées de 1 à 5, en bleu les critères de la problématique</a:t>
            </a:r>
          </a:p>
        </p:txBody>
      </p:sp>
      <p:sp>
        <p:nvSpPr>
          <p:cNvPr id="101" name="Rounded Rectangle 100"/>
          <p:cNvSpPr/>
          <p:nvPr/>
        </p:nvSpPr>
        <p:spPr>
          <a:xfrm>
            <a:off x="6400800" y="1426464"/>
            <a:ext cx="2286000" cy="2359151"/>
          </a:xfrm>
          <a:prstGeom prst="roundRect">
            <a:avLst>
              <a:gd name="adj" fmla="val 250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2" name="TextBox 101"/>
          <p:cNvSpPr txBox="1"/>
          <p:nvPr/>
        </p:nvSpPr>
        <p:spPr>
          <a:xfrm>
            <a:off x="6464808" y="1481328"/>
            <a:ext cx="2066543" cy="219456"/>
          </a:xfrm>
          <a:prstGeom prst="rect">
            <a:avLst/>
          </a:prstGeom>
          <a:noFill/>
        </p:spPr>
        <p:txBody>
          <a:bodyPr wrap="square" lIns="54864" rIns="54864" tIns="27432" bIns="27432" anchor="t">
            <a:noAutofit/>
          </a:bodyPr>
          <a:lstStyle/>
          <a:p>
            <a:pPr algn="l">
              <a:lnSpc>
                <a:spcPct val="100000"/>
              </a:lnSpc>
            </a:pPr>
            <a:r>
              <a:rPr sz="1050" b="1">
                <a:solidFill>
                  <a:srgbClr val="171717"/>
                </a:solidFill>
                <a:latin typeface="Arial"/>
              </a:rPr>
              <a:t>Décision tracée</a:t>
            </a:r>
          </a:p>
        </p:txBody>
      </p:sp>
      <p:sp>
        <p:nvSpPr>
          <p:cNvPr id="103" name="Rectangle 102"/>
          <p:cNvSpPr/>
          <p:nvPr/>
        </p:nvSpPr>
        <p:spPr>
          <a:xfrm>
            <a:off x="6510528" y="1737360"/>
            <a:ext cx="2066543" cy="6400"/>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ounded Rectangle 103"/>
          <p:cNvSpPr/>
          <p:nvPr/>
        </p:nvSpPr>
        <p:spPr>
          <a:xfrm>
            <a:off x="6510528" y="1810512"/>
            <a:ext cx="2066543" cy="384048"/>
          </a:xfrm>
          <a:prstGeom prst="roundRect">
            <a:avLst>
              <a:gd name="adj" fmla="val 14880"/>
            </a:avLst>
          </a:prstGeom>
          <a:solidFill>
            <a:srgbClr val="E7F5FF"/>
          </a:solidFill>
          <a:ln w="9525">
            <a:solidFill>
              <a:srgbClr val="D0E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TextBox 104"/>
          <p:cNvSpPr txBox="1"/>
          <p:nvPr/>
        </p:nvSpPr>
        <p:spPr>
          <a:xfrm>
            <a:off x="6510528" y="1810512"/>
            <a:ext cx="2066543" cy="384048"/>
          </a:xfrm>
          <a:prstGeom prst="rect">
            <a:avLst/>
          </a:prstGeom>
          <a:noFill/>
        </p:spPr>
        <p:txBody>
          <a:bodyPr wrap="square" lIns="54864" rIns="54864" tIns="27432" bIns="27432" anchor="ctr">
            <a:noAutofit/>
          </a:bodyPr>
          <a:lstStyle/>
          <a:p>
            <a:pPr algn="ctr">
              <a:lnSpc>
                <a:spcPct val="110000"/>
              </a:lnSpc>
            </a:pPr>
            <a:r>
              <a:rPr sz="750" b="1">
                <a:solidFill>
                  <a:srgbClr val="1C7ED6"/>
                </a:solidFill>
                <a:latin typeface="Arial"/>
              </a:rPr>
              <a:t>2 sources indépendantes, puis une fiche de décision, 24 au total</a:t>
            </a:r>
          </a:p>
        </p:txBody>
      </p:sp>
      <p:sp>
        <p:nvSpPr>
          <p:cNvPr id="106" name="TextBox 105"/>
          <p:cNvSpPr txBox="1"/>
          <p:nvPr/>
        </p:nvSpPr>
        <p:spPr>
          <a:xfrm>
            <a:off x="6464808" y="2322576"/>
            <a:ext cx="1152143" cy="265176"/>
          </a:xfrm>
          <a:prstGeom prst="rect">
            <a:avLst/>
          </a:prstGeom>
          <a:noFill/>
        </p:spPr>
        <p:txBody>
          <a:bodyPr wrap="square" lIns="54864" rIns="54864" tIns="27432" bIns="27432" anchor="ctr">
            <a:noAutofit/>
          </a:bodyPr>
          <a:lstStyle/>
          <a:p>
            <a:pPr algn="l">
              <a:lnSpc>
                <a:spcPct val="100000"/>
              </a:lnSpc>
            </a:pPr>
            <a:r>
              <a:rPr sz="850" b="1">
                <a:solidFill>
                  <a:srgbClr val="171717"/>
                </a:solidFill>
                <a:latin typeface="Arial"/>
              </a:rPr>
              <a:t>Bun</a:t>
            </a:r>
          </a:p>
        </p:txBody>
      </p:sp>
      <p:sp>
        <p:nvSpPr>
          <p:cNvPr id="107" name="Rounded Rectangle 106"/>
          <p:cNvSpPr/>
          <p:nvPr/>
        </p:nvSpPr>
        <p:spPr>
          <a:xfrm>
            <a:off x="8145326" y="2363724"/>
            <a:ext cx="431745" cy="192024"/>
          </a:xfrm>
          <a:prstGeom prst="roundRect">
            <a:avLst>
              <a:gd name="adj" fmla="val 26190"/>
            </a:avLst>
          </a:prstGeom>
          <a:solidFill>
            <a:srgbClr val="EBFB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8" name="TextBox 107"/>
          <p:cNvSpPr txBox="1"/>
          <p:nvPr/>
        </p:nvSpPr>
        <p:spPr>
          <a:xfrm>
            <a:off x="8145326" y="2363724"/>
            <a:ext cx="431745" cy="192024"/>
          </a:xfrm>
          <a:prstGeom prst="rect">
            <a:avLst/>
          </a:prstGeom>
          <a:noFill/>
        </p:spPr>
        <p:txBody>
          <a:bodyPr wrap="square" lIns="54864" rIns="54864" tIns="27432" bIns="27432" anchor="ctr">
            <a:noAutofit/>
          </a:bodyPr>
          <a:lstStyle/>
          <a:p>
            <a:pPr algn="ctr">
              <a:lnSpc>
                <a:spcPct val="100000"/>
              </a:lnSpc>
            </a:pPr>
            <a:r>
              <a:rPr sz="700" b="1">
                <a:solidFill>
                  <a:srgbClr val="2F9E44"/>
                </a:solidFill>
                <a:latin typeface="Arial"/>
              </a:rPr>
              <a:t>retenu</a:t>
            </a:r>
          </a:p>
        </p:txBody>
      </p:sp>
      <p:sp>
        <p:nvSpPr>
          <p:cNvPr id="109" name="Rectangle 108"/>
          <p:cNvSpPr/>
          <p:nvPr/>
        </p:nvSpPr>
        <p:spPr>
          <a:xfrm>
            <a:off x="6510528" y="2583180"/>
            <a:ext cx="2066543" cy="6400"/>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6464808" y="2619756"/>
            <a:ext cx="1152143" cy="265176"/>
          </a:xfrm>
          <a:prstGeom prst="rect">
            <a:avLst/>
          </a:prstGeom>
          <a:noFill/>
        </p:spPr>
        <p:txBody>
          <a:bodyPr wrap="square" lIns="54864" rIns="54864" tIns="27432" bIns="27432" anchor="ctr">
            <a:noAutofit/>
          </a:bodyPr>
          <a:lstStyle/>
          <a:p>
            <a:pPr algn="l">
              <a:lnSpc>
                <a:spcPct val="100000"/>
              </a:lnSpc>
            </a:pPr>
            <a:r>
              <a:rPr sz="850" b="1">
                <a:solidFill>
                  <a:srgbClr val="171717"/>
                </a:solidFill>
                <a:latin typeface="Arial"/>
              </a:rPr>
              <a:t>Docker Swarm</a:t>
            </a:r>
          </a:p>
        </p:txBody>
      </p:sp>
      <p:sp>
        <p:nvSpPr>
          <p:cNvPr id="111" name="Rounded Rectangle 110"/>
          <p:cNvSpPr/>
          <p:nvPr/>
        </p:nvSpPr>
        <p:spPr>
          <a:xfrm>
            <a:off x="8145326" y="2660904"/>
            <a:ext cx="431745" cy="192024"/>
          </a:xfrm>
          <a:prstGeom prst="roundRect">
            <a:avLst>
              <a:gd name="adj" fmla="val 26190"/>
            </a:avLst>
          </a:prstGeom>
          <a:solidFill>
            <a:srgbClr val="EBFB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2" name="TextBox 111"/>
          <p:cNvSpPr txBox="1"/>
          <p:nvPr/>
        </p:nvSpPr>
        <p:spPr>
          <a:xfrm>
            <a:off x="8145326" y="2660904"/>
            <a:ext cx="431745" cy="192024"/>
          </a:xfrm>
          <a:prstGeom prst="rect">
            <a:avLst/>
          </a:prstGeom>
          <a:noFill/>
        </p:spPr>
        <p:txBody>
          <a:bodyPr wrap="square" lIns="54864" rIns="54864" tIns="27432" bIns="27432" anchor="ctr">
            <a:noAutofit/>
          </a:bodyPr>
          <a:lstStyle/>
          <a:p>
            <a:pPr algn="ctr">
              <a:lnSpc>
                <a:spcPct val="100000"/>
              </a:lnSpc>
            </a:pPr>
            <a:r>
              <a:rPr sz="700" b="1">
                <a:solidFill>
                  <a:srgbClr val="2F9E44"/>
                </a:solidFill>
                <a:latin typeface="Arial"/>
              </a:rPr>
              <a:t>retenu</a:t>
            </a:r>
          </a:p>
        </p:txBody>
      </p:sp>
      <p:sp>
        <p:nvSpPr>
          <p:cNvPr id="113" name="Rectangle 112"/>
          <p:cNvSpPr/>
          <p:nvPr/>
        </p:nvSpPr>
        <p:spPr>
          <a:xfrm>
            <a:off x="6510528" y="2880360"/>
            <a:ext cx="2066543" cy="6400"/>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464808" y="2916936"/>
            <a:ext cx="1152143" cy="265176"/>
          </a:xfrm>
          <a:prstGeom prst="rect">
            <a:avLst/>
          </a:prstGeom>
          <a:noFill/>
        </p:spPr>
        <p:txBody>
          <a:bodyPr wrap="square" lIns="54864" rIns="54864" tIns="27432" bIns="27432" anchor="ctr">
            <a:noAutofit/>
          </a:bodyPr>
          <a:lstStyle/>
          <a:p>
            <a:pPr algn="l">
              <a:lnSpc>
                <a:spcPct val="100000"/>
              </a:lnSpc>
            </a:pPr>
            <a:r>
              <a:rPr sz="850" b="1">
                <a:solidFill>
                  <a:srgbClr val="171717"/>
                </a:solidFill>
                <a:latin typeface="Arial"/>
              </a:rPr>
              <a:t>Terraform</a:t>
            </a:r>
          </a:p>
        </p:txBody>
      </p:sp>
      <p:sp>
        <p:nvSpPr>
          <p:cNvPr id="115" name="Rounded Rectangle 114"/>
          <p:cNvSpPr/>
          <p:nvPr/>
        </p:nvSpPr>
        <p:spPr>
          <a:xfrm>
            <a:off x="7789216" y="2958084"/>
            <a:ext cx="787855" cy="192024"/>
          </a:xfrm>
          <a:prstGeom prst="roundRect">
            <a:avLst>
              <a:gd name="adj" fmla="val 26190"/>
            </a:avLst>
          </a:prstGeom>
          <a:solidFill>
            <a:srgbClr val="FFF9D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6" name="TextBox 115"/>
          <p:cNvSpPr txBox="1"/>
          <p:nvPr/>
        </p:nvSpPr>
        <p:spPr>
          <a:xfrm>
            <a:off x="7789216" y="2958084"/>
            <a:ext cx="787855" cy="192024"/>
          </a:xfrm>
          <a:prstGeom prst="rect">
            <a:avLst/>
          </a:prstGeom>
          <a:noFill/>
        </p:spPr>
        <p:txBody>
          <a:bodyPr wrap="square" lIns="54864" rIns="54864" tIns="27432" bIns="27432" anchor="ctr">
            <a:noAutofit/>
          </a:bodyPr>
          <a:lstStyle/>
          <a:p>
            <a:pPr algn="ctr">
              <a:lnSpc>
                <a:spcPct val="100000"/>
              </a:lnSpc>
            </a:pPr>
            <a:r>
              <a:rPr sz="700" b="1">
                <a:solidFill>
                  <a:srgbClr val="E67700"/>
                </a:solidFill>
                <a:latin typeface="Arial"/>
              </a:rPr>
              <a:t>repli OpenTofu</a:t>
            </a:r>
          </a:p>
        </p:txBody>
      </p:sp>
      <p:sp>
        <p:nvSpPr>
          <p:cNvPr id="117" name="Rectangle 116"/>
          <p:cNvSpPr/>
          <p:nvPr/>
        </p:nvSpPr>
        <p:spPr>
          <a:xfrm>
            <a:off x="6510528" y="3177540"/>
            <a:ext cx="2066543" cy="6400"/>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6464808" y="3214116"/>
            <a:ext cx="1152143" cy="265176"/>
          </a:xfrm>
          <a:prstGeom prst="rect">
            <a:avLst/>
          </a:prstGeom>
          <a:noFill/>
        </p:spPr>
        <p:txBody>
          <a:bodyPr wrap="square" lIns="54864" rIns="54864" tIns="27432" bIns="27432" anchor="ctr">
            <a:noAutofit/>
          </a:bodyPr>
          <a:lstStyle/>
          <a:p>
            <a:pPr algn="l">
              <a:lnSpc>
                <a:spcPct val="100000"/>
              </a:lnSpc>
            </a:pPr>
            <a:r>
              <a:rPr sz="850" b="1">
                <a:solidFill>
                  <a:srgbClr val="171717"/>
                </a:solidFill>
                <a:latin typeface="Arial"/>
              </a:rPr>
              <a:t>Redis</a:t>
            </a:r>
          </a:p>
        </p:txBody>
      </p:sp>
      <p:sp>
        <p:nvSpPr>
          <p:cNvPr id="119" name="Rounded Rectangle 118"/>
          <p:cNvSpPr/>
          <p:nvPr/>
        </p:nvSpPr>
        <p:spPr>
          <a:xfrm>
            <a:off x="7925478" y="3255264"/>
            <a:ext cx="651593" cy="192024"/>
          </a:xfrm>
          <a:prstGeom prst="roundRect">
            <a:avLst>
              <a:gd name="adj" fmla="val 26190"/>
            </a:avLst>
          </a:prstGeom>
          <a:solidFill>
            <a:srgbClr val="FFF9D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0" name="TextBox 119"/>
          <p:cNvSpPr txBox="1"/>
          <p:nvPr/>
        </p:nvSpPr>
        <p:spPr>
          <a:xfrm>
            <a:off x="7925478" y="3255264"/>
            <a:ext cx="651593" cy="192024"/>
          </a:xfrm>
          <a:prstGeom prst="rect">
            <a:avLst/>
          </a:prstGeom>
          <a:noFill/>
        </p:spPr>
        <p:txBody>
          <a:bodyPr wrap="square" lIns="54864" rIns="54864" tIns="27432" bIns="27432" anchor="ctr">
            <a:noAutofit/>
          </a:bodyPr>
          <a:lstStyle/>
          <a:p>
            <a:pPr algn="ctr">
              <a:lnSpc>
                <a:spcPct val="100000"/>
              </a:lnSpc>
            </a:pPr>
            <a:r>
              <a:rPr sz="700" b="1">
                <a:solidFill>
                  <a:srgbClr val="E67700"/>
                </a:solidFill>
                <a:latin typeface="Arial"/>
              </a:rPr>
              <a:t>repli Valkey</a:t>
            </a:r>
          </a:p>
        </p:txBody>
      </p:sp>
      <p:sp>
        <p:nvSpPr>
          <p:cNvPr id="121" name="Rectangle 120"/>
          <p:cNvSpPr/>
          <p:nvPr/>
        </p:nvSpPr>
        <p:spPr>
          <a:xfrm>
            <a:off x="6510528" y="3474720"/>
            <a:ext cx="2066543" cy="6400"/>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6464808" y="3511296"/>
            <a:ext cx="1152143" cy="265176"/>
          </a:xfrm>
          <a:prstGeom prst="rect">
            <a:avLst/>
          </a:prstGeom>
          <a:noFill/>
        </p:spPr>
        <p:txBody>
          <a:bodyPr wrap="square" lIns="54864" rIns="54864" tIns="27432" bIns="27432" anchor="ctr">
            <a:noAutofit/>
          </a:bodyPr>
          <a:lstStyle/>
          <a:p>
            <a:pPr algn="l">
              <a:lnSpc>
                <a:spcPct val="100000"/>
              </a:lnSpc>
            </a:pPr>
            <a:r>
              <a:rPr sz="850" b="1">
                <a:solidFill>
                  <a:srgbClr val="171717"/>
                </a:solidFill>
                <a:latin typeface="Arial"/>
              </a:rPr>
              <a:t>Datadog</a:t>
            </a:r>
          </a:p>
        </p:txBody>
      </p:sp>
      <p:sp>
        <p:nvSpPr>
          <p:cNvPr id="123" name="Rounded Rectangle 122"/>
          <p:cNvSpPr/>
          <p:nvPr/>
        </p:nvSpPr>
        <p:spPr>
          <a:xfrm>
            <a:off x="8150603" y="3552444"/>
            <a:ext cx="426468" cy="192024"/>
          </a:xfrm>
          <a:prstGeom prst="roundRect">
            <a:avLst>
              <a:gd name="adj" fmla="val 26190"/>
            </a:avLst>
          </a:prstGeom>
          <a:solidFill>
            <a:srgbClr val="F4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4" name="TextBox 123"/>
          <p:cNvSpPr txBox="1"/>
          <p:nvPr/>
        </p:nvSpPr>
        <p:spPr>
          <a:xfrm>
            <a:off x="8150603" y="3552444"/>
            <a:ext cx="426468" cy="192024"/>
          </a:xfrm>
          <a:prstGeom prst="rect">
            <a:avLst/>
          </a:prstGeom>
          <a:noFill/>
        </p:spPr>
        <p:txBody>
          <a:bodyPr wrap="square" lIns="54864" rIns="54864" tIns="27432" bIns="27432" anchor="ctr">
            <a:noAutofit/>
          </a:bodyPr>
          <a:lstStyle/>
          <a:p>
            <a:pPr algn="ctr">
              <a:lnSpc>
                <a:spcPct val="100000"/>
              </a:lnSpc>
            </a:pPr>
            <a:r>
              <a:rPr sz="700" b="1">
                <a:solidFill>
                  <a:srgbClr val="8F8F8F"/>
                </a:solidFill>
                <a:latin typeface="Arial"/>
              </a:rPr>
              <a:t>écarté</a:t>
            </a:r>
          </a:p>
        </p:txBody>
      </p:sp>
      <p:sp>
        <p:nvSpPr>
          <p:cNvPr id="125" name="Right Arrow 124"/>
          <p:cNvSpPr/>
          <p:nvPr/>
        </p:nvSpPr>
        <p:spPr>
          <a:xfrm>
            <a:off x="3767327" y="2546603"/>
            <a:ext cx="146304" cy="118872"/>
          </a:xfrm>
          <a:prstGeom prst="righ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ight Arrow 125"/>
          <p:cNvSpPr/>
          <p:nvPr/>
        </p:nvSpPr>
        <p:spPr>
          <a:xfrm>
            <a:off x="6236207" y="2546603"/>
            <a:ext cx="146304" cy="118872"/>
          </a:xfrm>
          <a:prstGeom prst="righ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457200" y="3931920"/>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457200" y="3931920"/>
            <a:ext cx="548640" cy="9144"/>
          </a:xfrm>
          <a:prstGeom prst="rect">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457200" y="4005072"/>
            <a:ext cx="8229600" cy="201168"/>
          </a:xfrm>
          <a:prstGeom prst="rect">
            <a:avLst/>
          </a:prstGeom>
          <a:noFill/>
        </p:spPr>
        <p:txBody>
          <a:bodyPr wrap="square" lIns="54864" rIns="54864" tIns="27432" bIns="27432" anchor="t">
            <a:noAutofit/>
          </a:bodyPr>
          <a:lstStyle/>
          <a:p>
            <a:pPr algn="l">
              <a:lnSpc>
                <a:spcPct val="100000"/>
              </a:lnSpc>
            </a:pPr>
            <a:r>
              <a:rPr sz="750" b="1" spc="120">
                <a:solidFill>
                  <a:srgbClr val="1C7ED6"/>
                </a:solidFill>
                <a:latin typeface="Arial"/>
              </a:rPr>
              <a:t>TROIS RECOMMANDATIONS CHIFFRÉES</a:t>
            </a:r>
          </a:p>
        </p:txBody>
      </p:sp>
      <p:sp>
        <p:nvSpPr>
          <p:cNvPr id="130" name="Rounded Rectangle 129"/>
          <p:cNvSpPr/>
          <p:nvPr/>
        </p:nvSpPr>
        <p:spPr>
          <a:xfrm>
            <a:off x="457200" y="4224528"/>
            <a:ext cx="3291840" cy="420624"/>
          </a:xfrm>
          <a:prstGeom prst="roundRect">
            <a:avLst>
              <a:gd name="adj" fmla="val 13586"/>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1" name="Rounded Rectangle 130"/>
          <p:cNvSpPr/>
          <p:nvPr/>
        </p:nvSpPr>
        <p:spPr>
          <a:xfrm>
            <a:off x="3241591" y="4334256"/>
            <a:ext cx="397720" cy="192024"/>
          </a:xfrm>
          <a:prstGeom prst="roundRect">
            <a:avLst>
              <a:gd name="adj" fmla="val 26190"/>
            </a:avLst>
          </a:prstGeom>
          <a:solidFill>
            <a:srgbClr val="F4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2" name="TextBox 131"/>
          <p:cNvSpPr txBox="1"/>
          <p:nvPr/>
        </p:nvSpPr>
        <p:spPr>
          <a:xfrm>
            <a:off x="3241591" y="4334256"/>
            <a:ext cx="397720" cy="192024"/>
          </a:xfrm>
          <a:prstGeom prst="rect">
            <a:avLst/>
          </a:prstGeom>
          <a:noFill/>
        </p:spPr>
        <p:txBody>
          <a:bodyPr wrap="square" lIns="54864" rIns="54864" tIns="27432" bIns="27432" anchor="ctr">
            <a:noAutofit/>
          </a:bodyPr>
          <a:lstStyle/>
          <a:p>
            <a:pPr algn="ctr">
              <a:lnSpc>
                <a:spcPct val="100000"/>
              </a:lnSpc>
            </a:pPr>
            <a:r>
              <a:rPr sz="700" b="1">
                <a:solidFill>
                  <a:srgbClr val="666666"/>
                </a:solidFill>
                <a:latin typeface="Arial"/>
              </a:rPr>
              <a:t>IA Act</a:t>
            </a:r>
          </a:p>
        </p:txBody>
      </p:sp>
      <p:sp>
        <p:nvSpPr>
          <p:cNvPr id="133" name="Rounded Rectangle 132"/>
          <p:cNvSpPr/>
          <p:nvPr/>
        </p:nvSpPr>
        <p:spPr>
          <a:xfrm>
            <a:off x="2857138" y="4334256"/>
            <a:ext cx="329589" cy="192024"/>
          </a:xfrm>
          <a:prstGeom prst="roundRect">
            <a:avLst>
              <a:gd name="adj" fmla="val 26190"/>
            </a:avLst>
          </a:prstGeom>
          <a:solidFill>
            <a:srgbClr val="E7F5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4" name="TextBox 133"/>
          <p:cNvSpPr txBox="1"/>
          <p:nvPr/>
        </p:nvSpPr>
        <p:spPr>
          <a:xfrm>
            <a:off x="2857138" y="4334256"/>
            <a:ext cx="329589" cy="192024"/>
          </a:xfrm>
          <a:prstGeom prst="rect">
            <a:avLst/>
          </a:prstGeom>
          <a:noFill/>
        </p:spPr>
        <p:txBody>
          <a:bodyPr wrap="square" lIns="54864" rIns="54864" tIns="27432" bIns="27432" anchor="ctr">
            <a:noAutofit/>
          </a:bodyPr>
          <a:lstStyle/>
          <a:p>
            <a:pPr algn="ctr">
              <a:lnSpc>
                <a:spcPct val="100000"/>
              </a:lnSpc>
            </a:pPr>
            <a:r>
              <a:rPr sz="700" b="1">
                <a:solidFill>
                  <a:srgbClr val="171717"/>
                </a:solidFill>
                <a:latin typeface="Arial"/>
              </a:rPr>
              <a:t>5 j-h</a:t>
            </a:r>
          </a:p>
        </p:txBody>
      </p:sp>
      <p:sp>
        <p:nvSpPr>
          <p:cNvPr id="135" name="TextBox 134"/>
          <p:cNvSpPr txBox="1"/>
          <p:nvPr/>
        </p:nvSpPr>
        <p:spPr>
          <a:xfrm>
            <a:off x="521207" y="4224528"/>
            <a:ext cx="2326786" cy="420624"/>
          </a:xfrm>
          <a:prstGeom prst="rect">
            <a:avLst/>
          </a:prstGeom>
          <a:noFill/>
        </p:spPr>
        <p:txBody>
          <a:bodyPr wrap="square" lIns="54864" rIns="54864" tIns="27432" bIns="27432" anchor="ctr">
            <a:noAutofit/>
          </a:bodyPr>
          <a:lstStyle/>
          <a:p>
            <a:pPr algn="l">
              <a:lnSpc>
                <a:spcPct val="100000"/>
              </a:lnSpc>
            </a:pPr>
            <a:r>
              <a:rPr sz="850" b="1">
                <a:solidFill>
                  <a:srgbClr val="1C7ED6"/>
                </a:solidFill>
                <a:latin typeface="Arial"/>
              </a:rPr>
              <a:t>Intelligence artificielle</a:t>
            </a:r>
          </a:p>
        </p:txBody>
      </p:sp>
      <p:sp>
        <p:nvSpPr>
          <p:cNvPr id="136" name="Rounded Rectangle 135"/>
          <p:cNvSpPr/>
          <p:nvPr/>
        </p:nvSpPr>
        <p:spPr>
          <a:xfrm>
            <a:off x="3931920" y="4224528"/>
            <a:ext cx="2286000" cy="420624"/>
          </a:xfrm>
          <a:prstGeom prst="roundRect">
            <a:avLst>
              <a:gd name="adj" fmla="val 13586"/>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7" name="Rounded Rectangle 136"/>
          <p:cNvSpPr/>
          <p:nvPr/>
        </p:nvSpPr>
        <p:spPr>
          <a:xfrm>
            <a:off x="5726208" y="4334256"/>
            <a:ext cx="381983" cy="192024"/>
          </a:xfrm>
          <a:prstGeom prst="roundRect">
            <a:avLst>
              <a:gd name="adj" fmla="val 26190"/>
            </a:avLst>
          </a:prstGeom>
          <a:solidFill>
            <a:srgbClr val="F4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8" name="TextBox 137"/>
          <p:cNvSpPr txBox="1"/>
          <p:nvPr/>
        </p:nvSpPr>
        <p:spPr>
          <a:xfrm>
            <a:off x="5726208" y="4334256"/>
            <a:ext cx="381983" cy="192024"/>
          </a:xfrm>
          <a:prstGeom prst="rect">
            <a:avLst/>
          </a:prstGeom>
          <a:noFill/>
        </p:spPr>
        <p:txBody>
          <a:bodyPr wrap="square" lIns="54864" rIns="54864" tIns="27432" bIns="27432" anchor="ctr">
            <a:noAutofit/>
          </a:bodyPr>
          <a:lstStyle/>
          <a:p>
            <a:pPr algn="ctr">
              <a:lnSpc>
                <a:spcPct val="100000"/>
              </a:lnSpc>
            </a:pPr>
            <a:r>
              <a:rPr sz="700" b="1">
                <a:solidFill>
                  <a:srgbClr val="666666"/>
                </a:solidFill>
                <a:latin typeface="Arial"/>
              </a:rPr>
              <a:t>NIS 2</a:t>
            </a:r>
          </a:p>
        </p:txBody>
      </p:sp>
      <p:sp>
        <p:nvSpPr>
          <p:cNvPr id="139" name="Rounded Rectangle 138"/>
          <p:cNvSpPr/>
          <p:nvPr/>
        </p:nvSpPr>
        <p:spPr>
          <a:xfrm>
            <a:off x="5341755" y="4334256"/>
            <a:ext cx="329589" cy="192024"/>
          </a:xfrm>
          <a:prstGeom prst="roundRect">
            <a:avLst>
              <a:gd name="adj" fmla="val 26190"/>
            </a:avLst>
          </a:prstGeom>
          <a:solidFill>
            <a:srgbClr val="E7F5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0" name="TextBox 139"/>
          <p:cNvSpPr txBox="1"/>
          <p:nvPr/>
        </p:nvSpPr>
        <p:spPr>
          <a:xfrm>
            <a:off x="5341755" y="4334256"/>
            <a:ext cx="329589" cy="192024"/>
          </a:xfrm>
          <a:prstGeom prst="rect">
            <a:avLst/>
          </a:prstGeom>
          <a:noFill/>
        </p:spPr>
        <p:txBody>
          <a:bodyPr wrap="square" lIns="54864" rIns="54864" tIns="27432" bIns="27432" anchor="ctr">
            <a:noAutofit/>
          </a:bodyPr>
          <a:lstStyle/>
          <a:p>
            <a:pPr algn="ctr">
              <a:lnSpc>
                <a:spcPct val="100000"/>
              </a:lnSpc>
            </a:pPr>
            <a:r>
              <a:rPr sz="700" b="1">
                <a:solidFill>
                  <a:srgbClr val="171717"/>
                </a:solidFill>
                <a:latin typeface="Arial"/>
              </a:rPr>
              <a:t>8 j-h</a:t>
            </a:r>
          </a:p>
        </p:txBody>
      </p:sp>
      <p:sp>
        <p:nvSpPr>
          <p:cNvPr id="141" name="TextBox 140"/>
          <p:cNvSpPr txBox="1"/>
          <p:nvPr/>
        </p:nvSpPr>
        <p:spPr>
          <a:xfrm>
            <a:off x="3995928" y="4224528"/>
            <a:ext cx="1336683" cy="420624"/>
          </a:xfrm>
          <a:prstGeom prst="rect">
            <a:avLst/>
          </a:prstGeom>
          <a:noFill/>
        </p:spPr>
        <p:txBody>
          <a:bodyPr wrap="square" lIns="54864" rIns="54864" tIns="27432" bIns="27432" anchor="ctr">
            <a:noAutofit/>
          </a:bodyPr>
          <a:lstStyle/>
          <a:p>
            <a:pPr algn="l">
              <a:lnSpc>
                <a:spcPct val="100000"/>
              </a:lnSpc>
            </a:pPr>
            <a:r>
              <a:rPr sz="850" b="1">
                <a:solidFill>
                  <a:srgbClr val="1C7ED6"/>
                </a:solidFill>
                <a:latin typeface="Arial"/>
              </a:rPr>
              <a:t>Cloud et résilience</a:t>
            </a:r>
          </a:p>
        </p:txBody>
      </p:sp>
      <p:sp>
        <p:nvSpPr>
          <p:cNvPr id="142" name="Rounded Rectangle 141"/>
          <p:cNvSpPr/>
          <p:nvPr/>
        </p:nvSpPr>
        <p:spPr>
          <a:xfrm>
            <a:off x="6400800" y="4224528"/>
            <a:ext cx="2286000" cy="420624"/>
          </a:xfrm>
          <a:prstGeom prst="roundRect">
            <a:avLst>
              <a:gd name="adj" fmla="val 13586"/>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3" name="Rounded Rectangle 142"/>
          <p:cNvSpPr/>
          <p:nvPr/>
        </p:nvSpPr>
        <p:spPr>
          <a:xfrm>
            <a:off x="8095671" y="4334256"/>
            <a:ext cx="481400" cy="192024"/>
          </a:xfrm>
          <a:prstGeom prst="roundRect">
            <a:avLst>
              <a:gd name="adj" fmla="val 26190"/>
            </a:avLst>
          </a:prstGeom>
          <a:solidFill>
            <a:srgbClr val="F4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4" name="TextBox 143"/>
          <p:cNvSpPr txBox="1"/>
          <p:nvPr/>
        </p:nvSpPr>
        <p:spPr>
          <a:xfrm>
            <a:off x="8095671" y="4334256"/>
            <a:ext cx="481400" cy="192024"/>
          </a:xfrm>
          <a:prstGeom prst="rect">
            <a:avLst/>
          </a:prstGeom>
          <a:noFill/>
        </p:spPr>
        <p:txBody>
          <a:bodyPr wrap="square" lIns="54864" rIns="54864" tIns="27432" bIns="27432" anchor="ctr">
            <a:noAutofit/>
          </a:bodyPr>
          <a:lstStyle/>
          <a:p>
            <a:pPr algn="ctr">
              <a:lnSpc>
                <a:spcPct val="100000"/>
              </a:lnSpc>
            </a:pPr>
            <a:r>
              <a:rPr sz="700" b="1">
                <a:solidFill>
                  <a:srgbClr val="666666"/>
                </a:solidFill>
                <a:latin typeface="Arial"/>
              </a:rPr>
              <a:t>RGESN</a:t>
            </a:r>
          </a:p>
        </p:txBody>
      </p:sp>
      <p:sp>
        <p:nvSpPr>
          <p:cNvPr id="145" name="Rounded Rectangle 144"/>
          <p:cNvSpPr/>
          <p:nvPr/>
        </p:nvSpPr>
        <p:spPr>
          <a:xfrm>
            <a:off x="7658824" y="4334256"/>
            <a:ext cx="381983" cy="192024"/>
          </a:xfrm>
          <a:prstGeom prst="roundRect">
            <a:avLst>
              <a:gd name="adj" fmla="val 26190"/>
            </a:avLst>
          </a:prstGeom>
          <a:solidFill>
            <a:srgbClr val="E7F5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6" name="TextBox 145"/>
          <p:cNvSpPr txBox="1"/>
          <p:nvPr/>
        </p:nvSpPr>
        <p:spPr>
          <a:xfrm>
            <a:off x="7658824" y="4334256"/>
            <a:ext cx="381983" cy="192024"/>
          </a:xfrm>
          <a:prstGeom prst="rect">
            <a:avLst/>
          </a:prstGeom>
          <a:noFill/>
        </p:spPr>
        <p:txBody>
          <a:bodyPr wrap="square" lIns="54864" rIns="54864" tIns="27432" bIns="27432" anchor="ctr">
            <a:noAutofit/>
          </a:bodyPr>
          <a:lstStyle/>
          <a:p>
            <a:pPr algn="ctr">
              <a:lnSpc>
                <a:spcPct val="100000"/>
              </a:lnSpc>
            </a:pPr>
            <a:r>
              <a:rPr sz="700" b="1">
                <a:solidFill>
                  <a:srgbClr val="171717"/>
                </a:solidFill>
                <a:latin typeface="Arial"/>
              </a:rPr>
              <a:t>10 j-h</a:t>
            </a:r>
          </a:p>
        </p:txBody>
      </p:sp>
      <p:sp>
        <p:nvSpPr>
          <p:cNvPr id="147" name="TextBox 146"/>
          <p:cNvSpPr txBox="1"/>
          <p:nvPr/>
        </p:nvSpPr>
        <p:spPr>
          <a:xfrm>
            <a:off x="6464808" y="4224528"/>
            <a:ext cx="1184872" cy="420624"/>
          </a:xfrm>
          <a:prstGeom prst="rect">
            <a:avLst/>
          </a:prstGeom>
          <a:noFill/>
        </p:spPr>
        <p:txBody>
          <a:bodyPr wrap="square" lIns="54864" rIns="54864" tIns="27432" bIns="27432" anchor="ctr">
            <a:noAutofit/>
          </a:bodyPr>
          <a:lstStyle/>
          <a:p>
            <a:pPr algn="l">
              <a:lnSpc>
                <a:spcPct val="100000"/>
              </a:lnSpc>
            </a:pPr>
            <a:r>
              <a:rPr sz="850" b="1">
                <a:solidFill>
                  <a:srgbClr val="1C7ED6"/>
                </a:solidFill>
                <a:latin typeface="Arial"/>
              </a:rPr>
              <a:t>Informatique verte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524000" y="0"/>
            <a:ext cx="1524000" cy="41148"/>
          </a:xfrm>
          <a:prstGeom prst="rect">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269480"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10144"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lIns="54864" tIns="27432" rIns="54864" bIns="27432" anchor="t">
            <a:spAutoFit/>
          </a:bodyPr>
          <a:lstStyle/>
          <a:p>
            <a:pPr algn="l">
              <a:lnSpc>
                <a:spcPct val="100000"/>
              </a:lnSpc>
            </a:pPr>
            <a:r>
              <a:rPr sz="750" b="1" i="0" spc="120">
                <a:solidFill>
                  <a:srgbClr val="1C7ED6"/>
                </a:solidFill>
                <a:latin typeface="Arial"/>
              </a:rPr>
              <a:t>2 · ANALYSE ET STRATÉGIE DU SI</a:t>
            </a:r>
          </a:p>
        </p:txBody>
      </p:sp>
      <p:sp>
        <p:nvSpPr>
          <p:cNvPr id="11" name="TextBox 10"/>
          <p:cNvSpPr txBox="1"/>
          <p:nvPr/>
        </p:nvSpPr>
        <p:spPr>
          <a:xfrm>
            <a:off x="457200" y="493776"/>
            <a:ext cx="6720840" cy="566928"/>
          </a:xfrm>
          <a:prstGeom prst="rect">
            <a:avLst/>
          </a:prstGeom>
          <a:noFill/>
        </p:spPr>
        <p:txBody>
          <a:bodyPr wrap="square" lIns="54864" tIns="27432" rIns="54864" bIns="27432" anchor="t">
            <a:spAutoFit/>
          </a:bodyPr>
          <a:lstStyle/>
          <a:p>
            <a:pPr algn="l">
              <a:lnSpc>
                <a:spcPct val="100000"/>
              </a:lnSpc>
            </a:pPr>
            <a:r>
              <a:rPr sz="2300" b="1" i="0" spc="-80">
                <a:solidFill>
                  <a:srgbClr val="171717"/>
                </a:solidFill>
                <a:latin typeface="Arial"/>
              </a:rPr>
              <a:t>Cartographie du système d’information</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26679" y="4832604"/>
            <a:ext cx="1143000" cy="237744"/>
          </a:xfrm>
          <a:prstGeom prst="rect">
            <a:avLst/>
          </a:prstGeom>
          <a:noFill/>
        </p:spPr>
        <p:txBody>
          <a:bodyPr wrap="square" lIns="54864" tIns="27432" rIns="54864" bIns="27432" anchor="t">
            <a:spAutoFit/>
          </a:bodyPr>
          <a:lstStyle/>
          <a:p>
            <a:pPr algn="r">
              <a:lnSpc>
                <a:spcPct val="100000"/>
              </a:lnSpc>
            </a:pPr>
            <a:r>
              <a:rPr sz="800" b="0" i="0">
                <a:solidFill>
                  <a:srgbClr val="A1A1A1"/>
                </a:solidFill>
                <a:latin typeface="Arial"/>
              </a:rPr>
              <a:t>07 / 31</a:t>
            </a:r>
          </a:p>
        </p:txBody>
      </p:sp>
      <p:sp>
        <p:nvSpPr>
          <p:cNvPr id="14" name="Rounded Rectangle 13"/>
          <p:cNvSpPr/>
          <p:nvPr/>
        </p:nvSpPr>
        <p:spPr>
          <a:xfrm>
            <a:off x="457200" y="4818888"/>
            <a:ext cx="680313" cy="228600"/>
          </a:xfrm>
          <a:prstGeom prst="roundRect">
            <a:avLst>
              <a:gd name="adj" fmla="val 25000"/>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4818888"/>
            <a:ext cx="680313" cy="228600"/>
          </a:xfrm>
          <a:prstGeom prst="rect">
            <a:avLst/>
          </a:prstGeom>
          <a:noFill/>
        </p:spPr>
        <p:txBody>
          <a:bodyPr wrap="square" lIns="54864" tIns="27432" rIns="54864" bIns="27432" anchor="ctr">
            <a:spAutoFit/>
          </a:bodyPr>
          <a:lstStyle/>
          <a:p>
            <a:pPr algn="ctr">
              <a:lnSpc>
                <a:spcPct val="100000"/>
              </a:lnSpc>
            </a:pPr>
            <a:r>
              <a:rPr sz="750" b="1" i="0">
                <a:solidFill>
                  <a:srgbClr val="FFFFFF"/>
                </a:solidFill>
                <a:latin typeface="Arial"/>
              </a:rPr>
              <a:t>Réf.  C4</a:t>
            </a:r>
          </a:p>
        </p:txBody>
      </p:sp>
      <p:sp>
        <p:nvSpPr>
          <p:cNvPr id="16" name="TextBox 15"/>
          <p:cNvSpPr txBox="1"/>
          <p:nvPr/>
        </p:nvSpPr>
        <p:spPr>
          <a:xfrm>
            <a:off x="1228953" y="4818888"/>
            <a:ext cx="5486400" cy="228600"/>
          </a:xfrm>
          <a:prstGeom prst="rect">
            <a:avLst/>
          </a:prstGeom>
          <a:noFill/>
        </p:spPr>
        <p:txBody>
          <a:bodyPr wrap="square" lIns="54864" tIns="27432" rIns="54864" bIns="27432" anchor="ctr">
            <a:spAutoFit/>
          </a:bodyPr>
          <a:lstStyle/>
          <a:p>
            <a:pPr algn="l">
              <a:lnSpc>
                <a:spcPct val="100000"/>
              </a:lnSpc>
            </a:pPr>
            <a:r>
              <a:rPr sz="750" b="0" i="0">
                <a:solidFill>
                  <a:srgbClr val="A1A1A1"/>
                </a:solidFill>
                <a:latin typeface="Arial"/>
              </a:rPr>
              <a:t>BC1 · mémoire 11.3.2 · annexe A, 4 planches</a:t>
            </a:r>
          </a:p>
        </p:txBody>
      </p:sp>
      <p:sp>
        <p:nvSpPr>
          <p:cNvPr id="17" name="TextBox 16"/>
          <p:cNvSpPr txBox="1"/>
          <p:nvPr/>
        </p:nvSpPr>
        <p:spPr>
          <a:xfrm>
            <a:off x="457200" y="1225296"/>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QUATRE NIVEAUX, UNE PLANCHE CHACUN EN ANNEXE A</a:t>
            </a:r>
          </a:p>
        </p:txBody>
      </p:sp>
      <p:sp>
        <p:nvSpPr>
          <p:cNvPr id="18" name="Rounded Rectangle 17"/>
          <p:cNvSpPr/>
          <p:nvPr/>
        </p:nvSpPr>
        <p:spPr>
          <a:xfrm>
            <a:off x="457200" y="1481328"/>
            <a:ext cx="8229600" cy="566928"/>
          </a:xfrm>
          <a:prstGeom prst="roundRect">
            <a:avLst>
              <a:gd name="adj" fmla="val 100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30352" y="1554480"/>
            <a:ext cx="1956816" cy="420624"/>
          </a:xfrm>
          <a:prstGeom prst="roundRect">
            <a:avLst>
              <a:gd name="adj" fmla="val 13586"/>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30352" y="1554480"/>
            <a:ext cx="1956816" cy="420624"/>
          </a:xfrm>
          <a:prstGeom prst="rect">
            <a:avLst/>
          </a:prstGeom>
          <a:noFill/>
        </p:spPr>
        <p:txBody>
          <a:bodyPr wrap="square" lIns="54864" tIns="27432" rIns="54864" bIns="27432" anchor="ctr">
            <a:spAutoFit/>
          </a:bodyPr>
          <a:lstStyle/>
          <a:p>
            <a:pPr algn="ctr">
              <a:lnSpc>
                <a:spcPct val="100000"/>
              </a:lnSpc>
            </a:pPr>
            <a:r>
              <a:rPr sz="900" b="1" i="0" spc="144">
                <a:solidFill>
                  <a:srgbClr val="171717"/>
                </a:solidFill>
                <a:latin typeface="Arial"/>
              </a:rPr>
              <a:t>MÉTIER</a:t>
            </a:r>
          </a:p>
        </p:txBody>
      </p:sp>
      <p:sp>
        <p:nvSpPr>
          <p:cNvPr id="21" name="TextBox 20"/>
          <p:cNvSpPr txBox="1"/>
          <p:nvPr/>
        </p:nvSpPr>
        <p:spPr>
          <a:xfrm>
            <a:off x="2743200" y="1481328"/>
            <a:ext cx="5760720" cy="566928"/>
          </a:xfrm>
          <a:prstGeom prst="rect">
            <a:avLst/>
          </a:prstGeom>
          <a:noFill/>
        </p:spPr>
        <p:txBody>
          <a:bodyPr wrap="square" lIns="54864" tIns="27432" rIns="54864" bIns="27432" anchor="ctr">
            <a:spAutoFit/>
          </a:bodyPr>
          <a:lstStyle/>
          <a:p>
            <a:pPr algn="l">
              <a:lnSpc>
                <a:spcPct val="100000"/>
              </a:lnSpc>
            </a:pPr>
            <a:r>
              <a:rPr sz="1000" b="0" i="0">
                <a:solidFill>
                  <a:srgbClr val="666666"/>
                </a:solidFill>
                <a:latin typeface="Arial"/>
              </a:rPr>
              <a:t>identité   ·   bibliothèque privée   ·   publication   ·   réseau social léger</a:t>
            </a:r>
          </a:p>
        </p:txBody>
      </p:sp>
      <p:sp>
        <p:nvSpPr>
          <p:cNvPr id="22" name="Rounded Rectangle 21"/>
          <p:cNvSpPr/>
          <p:nvPr/>
        </p:nvSpPr>
        <p:spPr>
          <a:xfrm>
            <a:off x="457200" y="2139696"/>
            <a:ext cx="8229600" cy="566928"/>
          </a:xfrm>
          <a:prstGeom prst="roundRect">
            <a:avLst>
              <a:gd name="adj" fmla="val 100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530352" y="2212848"/>
            <a:ext cx="1956816" cy="420624"/>
          </a:xfrm>
          <a:prstGeom prst="roundRect">
            <a:avLst>
              <a:gd name="adj" fmla="val 13586"/>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30352" y="2212848"/>
            <a:ext cx="1956816" cy="420624"/>
          </a:xfrm>
          <a:prstGeom prst="rect">
            <a:avLst/>
          </a:prstGeom>
          <a:noFill/>
        </p:spPr>
        <p:txBody>
          <a:bodyPr wrap="square" lIns="54864" tIns="27432" rIns="54864" bIns="27432" anchor="ctr">
            <a:spAutoFit/>
          </a:bodyPr>
          <a:lstStyle/>
          <a:p>
            <a:pPr algn="ctr">
              <a:lnSpc>
                <a:spcPct val="100000"/>
              </a:lnSpc>
            </a:pPr>
            <a:r>
              <a:rPr sz="900" b="1" i="0" spc="144">
                <a:solidFill>
                  <a:srgbClr val="171717"/>
                </a:solidFill>
                <a:latin typeface="Arial"/>
              </a:rPr>
              <a:t>FONCTIONNEL</a:t>
            </a:r>
          </a:p>
        </p:txBody>
      </p:sp>
      <p:sp>
        <p:nvSpPr>
          <p:cNvPr id="25" name="TextBox 24"/>
          <p:cNvSpPr txBox="1"/>
          <p:nvPr/>
        </p:nvSpPr>
        <p:spPr>
          <a:xfrm>
            <a:off x="2743200" y="2139696"/>
            <a:ext cx="5760720" cy="566928"/>
          </a:xfrm>
          <a:prstGeom prst="rect">
            <a:avLst/>
          </a:prstGeom>
          <a:noFill/>
        </p:spPr>
        <p:txBody>
          <a:bodyPr wrap="square" lIns="54864" tIns="27432" rIns="54864" bIns="27432" anchor="ctr">
            <a:spAutoFit/>
          </a:bodyPr>
          <a:lstStyle/>
          <a:p>
            <a:pPr algn="l">
              <a:lnSpc>
                <a:spcPct val="100000"/>
              </a:lnSpc>
            </a:pPr>
            <a:r>
              <a:rPr sz="1000" b="0" i="0">
                <a:solidFill>
                  <a:srgbClr val="666666"/>
                </a:solidFill>
                <a:latin typeface="Arial"/>
              </a:rPr>
              <a:t>authentification et sessions   ·   médias et albums   ·   profil public   ·   découverte</a:t>
            </a:r>
          </a:p>
        </p:txBody>
      </p:sp>
      <p:sp>
        <p:nvSpPr>
          <p:cNvPr id="26" name="Rounded Rectangle 25"/>
          <p:cNvSpPr/>
          <p:nvPr/>
        </p:nvSpPr>
        <p:spPr>
          <a:xfrm>
            <a:off x="457200" y="2798064"/>
            <a:ext cx="8229600" cy="566928"/>
          </a:xfrm>
          <a:prstGeom prst="roundRect">
            <a:avLst>
              <a:gd name="adj" fmla="val 100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530352" y="2871216"/>
            <a:ext cx="1956816" cy="420624"/>
          </a:xfrm>
          <a:prstGeom prst="roundRect">
            <a:avLst>
              <a:gd name="adj" fmla="val 13586"/>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30352" y="2871216"/>
            <a:ext cx="1956816" cy="420624"/>
          </a:xfrm>
          <a:prstGeom prst="rect">
            <a:avLst/>
          </a:prstGeom>
          <a:noFill/>
        </p:spPr>
        <p:txBody>
          <a:bodyPr wrap="square" lIns="54864" tIns="27432" rIns="54864" bIns="27432" anchor="ctr">
            <a:spAutoFit/>
          </a:bodyPr>
          <a:lstStyle/>
          <a:p>
            <a:pPr algn="ctr">
              <a:lnSpc>
                <a:spcPct val="100000"/>
              </a:lnSpc>
            </a:pPr>
            <a:r>
              <a:rPr sz="900" b="1" i="0" spc="144">
                <a:solidFill>
                  <a:srgbClr val="171717"/>
                </a:solidFill>
                <a:latin typeface="Arial"/>
              </a:rPr>
              <a:t>APPLICATIF</a:t>
            </a:r>
          </a:p>
        </p:txBody>
      </p:sp>
      <p:sp>
        <p:nvSpPr>
          <p:cNvPr id="29" name="TextBox 28"/>
          <p:cNvSpPr txBox="1"/>
          <p:nvPr/>
        </p:nvSpPr>
        <p:spPr>
          <a:xfrm>
            <a:off x="2743200" y="2798064"/>
            <a:ext cx="5760720" cy="566928"/>
          </a:xfrm>
          <a:prstGeom prst="rect">
            <a:avLst/>
          </a:prstGeom>
          <a:noFill/>
        </p:spPr>
        <p:txBody>
          <a:bodyPr wrap="square" lIns="54864" tIns="27432" rIns="54864" bIns="27432" anchor="ctr">
            <a:spAutoFit/>
          </a:bodyPr>
          <a:lstStyle/>
          <a:p>
            <a:pPr algn="l">
              <a:lnSpc>
                <a:spcPct val="100000"/>
              </a:lnSpc>
            </a:pPr>
            <a:r>
              <a:rPr sz="1000" b="0" i="0">
                <a:solidFill>
                  <a:srgbClr val="666666"/>
                </a:solidFill>
                <a:latin typeface="Arial"/>
              </a:rPr>
              <a:t>NestJS sur Bun   ·   Next.js   ·   API REST documentée   ·   6 domaines</a:t>
            </a:r>
          </a:p>
        </p:txBody>
      </p:sp>
      <p:sp>
        <p:nvSpPr>
          <p:cNvPr id="30" name="Rounded Rectangle 29"/>
          <p:cNvSpPr/>
          <p:nvPr/>
        </p:nvSpPr>
        <p:spPr>
          <a:xfrm>
            <a:off x="457200" y="3456432"/>
            <a:ext cx="8229600" cy="566928"/>
          </a:xfrm>
          <a:prstGeom prst="roundRect">
            <a:avLst>
              <a:gd name="adj" fmla="val 100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530352" y="3529584"/>
            <a:ext cx="1956816" cy="420624"/>
          </a:xfrm>
          <a:prstGeom prst="roundRect">
            <a:avLst>
              <a:gd name="adj" fmla="val 13586"/>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30352" y="3529584"/>
            <a:ext cx="1956816" cy="420624"/>
          </a:xfrm>
          <a:prstGeom prst="rect">
            <a:avLst/>
          </a:prstGeom>
          <a:noFill/>
        </p:spPr>
        <p:txBody>
          <a:bodyPr wrap="square" lIns="54864" tIns="27432" rIns="54864" bIns="27432" anchor="ctr">
            <a:spAutoFit/>
          </a:bodyPr>
          <a:lstStyle/>
          <a:p>
            <a:pPr algn="ctr">
              <a:lnSpc>
                <a:spcPct val="100000"/>
              </a:lnSpc>
            </a:pPr>
            <a:r>
              <a:rPr sz="900" b="1" i="0" spc="144">
                <a:solidFill>
                  <a:srgbClr val="171717"/>
                </a:solidFill>
                <a:latin typeface="Arial"/>
              </a:rPr>
              <a:t>INFRASTRUCTURE</a:t>
            </a:r>
          </a:p>
        </p:txBody>
      </p:sp>
      <p:sp>
        <p:nvSpPr>
          <p:cNvPr id="33" name="TextBox 32"/>
          <p:cNvSpPr txBox="1"/>
          <p:nvPr/>
        </p:nvSpPr>
        <p:spPr>
          <a:xfrm>
            <a:off x="2743200" y="3456432"/>
            <a:ext cx="5760720" cy="566928"/>
          </a:xfrm>
          <a:prstGeom prst="rect">
            <a:avLst/>
          </a:prstGeom>
          <a:noFill/>
        </p:spPr>
        <p:txBody>
          <a:bodyPr wrap="square" lIns="54864" tIns="27432" rIns="54864" bIns="27432" anchor="ctr">
            <a:spAutoFit/>
          </a:bodyPr>
          <a:lstStyle/>
          <a:p>
            <a:pPr algn="l">
              <a:lnSpc>
                <a:spcPct val="100000"/>
              </a:lnSpc>
            </a:pPr>
            <a:r>
              <a:rPr sz="1000" b="0" i="0">
                <a:solidFill>
                  <a:srgbClr val="666666"/>
                </a:solidFill>
                <a:latin typeface="Arial"/>
              </a:rPr>
              <a:t>Swarm   ·   Traefik   ·   PostgreSQL   ·   Redis   ·   Hetzner   ·   AWS   ·   Cloudflare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524000" y="0"/>
            <a:ext cx="1524000" cy="41148"/>
          </a:xfrm>
          <a:prstGeom prst="rect">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269480"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10144"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lIns="54864" tIns="27432" rIns="54864" bIns="27432" anchor="t">
            <a:spAutoFit/>
          </a:bodyPr>
          <a:lstStyle/>
          <a:p>
            <a:pPr algn="l">
              <a:lnSpc>
                <a:spcPct val="100000"/>
              </a:lnSpc>
            </a:pPr>
            <a:r>
              <a:rPr sz="750" b="1" i="0" spc="120">
                <a:solidFill>
                  <a:srgbClr val="1C7ED6"/>
                </a:solidFill>
                <a:latin typeface="Arial"/>
              </a:rPr>
              <a:t>2 · ANALYSE ET STRATÉGIE DU SI</a:t>
            </a:r>
          </a:p>
        </p:txBody>
      </p:sp>
      <p:sp>
        <p:nvSpPr>
          <p:cNvPr id="11" name="TextBox 10"/>
          <p:cNvSpPr txBox="1"/>
          <p:nvPr/>
        </p:nvSpPr>
        <p:spPr>
          <a:xfrm>
            <a:off x="457200" y="493776"/>
            <a:ext cx="6720840" cy="566928"/>
          </a:xfrm>
          <a:prstGeom prst="rect">
            <a:avLst/>
          </a:prstGeom>
          <a:noFill/>
        </p:spPr>
        <p:txBody>
          <a:bodyPr wrap="square" lIns="54864" tIns="27432" rIns="54864" bIns="27432" anchor="t">
            <a:spAutoFit/>
          </a:bodyPr>
          <a:lstStyle/>
          <a:p>
            <a:pPr algn="l">
              <a:lnSpc>
                <a:spcPct val="100000"/>
              </a:lnSpc>
            </a:pPr>
            <a:r>
              <a:rPr sz="2300" b="1" i="0" spc="-80">
                <a:solidFill>
                  <a:srgbClr val="171717"/>
                </a:solidFill>
                <a:latin typeface="Arial"/>
              </a:rPr>
              <a:t>Diagnostic et analyse des risques</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26679" y="4832604"/>
            <a:ext cx="1143000" cy="237744"/>
          </a:xfrm>
          <a:prstGeom prst="rect">
            <a:avLst/>
          </a:prstGeom>
          <a:noFill/>
        </p:spPr>
        <p:txBody>
          <a:bodyPr wrap="square" lIns="54864" tIns="27432" rIns="54864" bIns="27432" anchor="t">
            <a:spAutoFit/>
          </a:bodyPr>
          <a:lstStyle/>
          <a:p>
            <a:pPr algn="r">
              <a:lnSpc>
                <a:spcPct val="100000"/>
              </a:lnSpc>
            </a:pPr>
            <a:r>
              <a:rPr sz="800" b="0" i="0">
                <a:solidFill>
                  <a:srgbClr val="A1A1A1"/>
                </a:solidFill>
                <a:latin typeface="Arial"/>
              </a:rPr>
              <a:t>08 / 31</a:t>
            </a:r>
          </a:p>
        </p:txBody>
      </p:sp>
      <p:sp>
        <p:nvSpPr>
          <p:cNvPr id="14" name="Rounded Rectangle 13"/>
          <p:cNvSpPr/>
          <p:nvPr/>
        </p:nvSpPr>
        <p:spPr>
          <a:xfrm>
            <a:off x="457200" y="4818888"/>
            <a:ext cx="998524" cy="228600"/>
          </a:xfrm>
          <a:prstGeom prst="roundRect">
            <a:avLst>
              <a:gd name="adj" fmla="val 25000"/>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4818888"/>
            <a:ext cx="998524" cy="228600"/>
          </a:xfrm>
          <a:prstGeom prst="rect">
            <a:avLst/>
          </a:prstGeom>
          <a:noFill/>
        </p:spPr>
        <p:txBody>
          <a:bodyPr wrap="square" lIns="54864" tIns="27432" rIns="54864" bIns="27432" anchor="ctr">
            <a:spAutoFit/>
          </a:bodyPr>
          <a:lstStyle/>
          <a:p>
            <a:pPr algn="ctr">
              <a:lnSpc>
                <a:spcPct val="100000"/>
              </a:lnSpc>
            </a:pPr>
            <a:r>
              <a:rPr sz="750" b="1" i="0">
                <a:solidFill>
                  <a:srgbClr val="FFFFFF"/>
                </a:solidFill>
                <a:latin typeface="Arial"/>
              </a:rPr>
              <a:t>Réf.  C4 · C17</a:t>
            </a:r>
          </a:p>
        </p:txBody>
      </p:sp>
      <p:sp>
        <p:nvSpPr>
          <p:cNvPr id="16" name="TextBox 15"/>
          <p:cNvSpPr txBox="1"/>
          <p:nvPr/>
        </p:nvSpPr>
        <p:spPr>
          <a:xfrm>
            <a:off x="1547164" y="4818888"/>
            <a:ext cx="5486400" cy="228600"/>
          </a:xfrm>
          <a:prstGeom prst="rect">
            <a:avLst/>
          </a:prstGeom>
          <a:noFill/>
        </p:spPr>
        <p:txBody>
          <a:bodyPr wrap="square" lIns="54864" tIns="27432" rIns="54864" bIns="27432" anchor="ctr">
            <a:spAutoFit/>
          </a:bodyPr>
          <a:lstStyle/>
          <a:p>
            <a:pPr algn="l">
              <a:lnSpc>
                <a:spcPct val="100000"/>
              </a:lnSpc>
            </a:pPr>
            <a:r>
              <a:rPr sz="750" b="0" i="0">
                <a:solidFill>
                  <a:srgbClr val="A1A1A1"/>
                </a:solidFill>
                <a:latin typeface="Arial"/>
              </a:rPr>
              <a:t>BC1, BC2 · mémoire 11.3.2, 11.3.3 · annexe O</a:t>
            </a:r>
          </a:p>
        </p:txBody>
      </p:sp>
      <p:sp>
        <p:nvSpPr>
          <p:cNvPr id="17" name="TextBox 16"/>
          <p:cNvSpPr txBox="1"/>
          <p:nvPr/>
        </p:nvSpPr>
        <p:spPr>
          <a:xfrm>
            <a:off x="457200" y="1225296"/>
            <a:ext cx="3749039"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DIAGNOSTIC SWOT ET PESTEL</a:t>
            </a:r>
          </a:p>
        </p:txBody>
      </p:sp>
      <p:sp>
        <p:nvSpPr>
          <p:cNvPr id="18" name="Rounded Rectangle 17"/>
          <p:cNvSpPr/>
          <p:nvPr/>
        </p:nvSpPr>
        <p:spPr>
          <a:xfrm>
            <a:off x="457200" y="1463040"/>
            <a:ext cx="1828800" cy="749808"/>
          </a:xfrm>
          <a:prstGeom prst="roundRect">
            <a:avLst>
              <a:gd name="adj" fmla="val 7621"/>
            </a:avLst>
          </a:prstGeom>
          <a:solidFill>
            <a:srgbClr val="EBFB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85216" y="1536192"/>
            <a:ext cx="1572768" cy="219456"/>
          </a:xfrm>
          <a:prstGeom prst="rect">
            <a:avLst/>
          </a:prstGeom>
          <a:noFill/>
        </p:spPr>
        <p:txBody>
          <a:bodyPr wrap="square" lIns="54864" tIns="27432" rIns="54864" bIns="27432" anchor="t">
            <a:spAutoFit/>
          </a:bodyPr>
          <a:lstStyle/>
          <a:p>
            <a:pPr algn="l">
              <a:lnSpc>
                <a:spcPct val="100000"/>
              </a:lnSpc>
            </a:pPr>
            <a:r>
              <a:rPr sz="900" b="1" i="0">
                <a:solidFill>
                  <a:srgbClr val="2F9E44"/>
                </a:solidFill>
                <a:latin typeface="Arial"/>
              </a:rPr>
              <a:t>FORCES</a:t>
            </a:r>
          </a:p>
        </p:txBody>
      </p:sp>
      <p:sp>
        <p:nvSpPr>
          <p:cNvPr id="20" name="TextBox 19"/>
          <p:cNvSpPr txBox="1"/>
          <p:nvPr/>
        </p:nvSpPr>
        <p:spPr>
          <a:xfrm>
            <a:off x="585216" y="1755648"/>
            <a:ext cx="1572768" cy="420624"/>
          </a:xfrm>
          <a:prstGeom prst="rect">
            <a:avLst/>
          </a:prstGeom>
          <a:noFill/>
        </p:spPr>
        <p:txBody>
          <a:bodyPr wrap="square" lIns="54864" tIns="27432" rIns="54864" bIns="27432" anchor="t">
            <a:spAutoFit/>
          </a:bodyPr>
          <a:lstStyle/>
          <a:p>
            <a:pPr algn="l">
              <a:lnSpc>
                <a:spcPct val="100000"/>
              </a:lnSpc>
            </a:pPr>
            <a:r>
              <a:rPr sz="850" b="0" i="0">
                <a:solidFill>
                  <a:srgbClr val="666666"/>
                </a:solidFill>
                <a:latin typeface="Arial"/>
              </a:rPr>
              <a:t>tout en code, sécurité en profondeur</a:t>
            </a:r>
          </a:p>
        </p:txBody>
      </p:sp>
      <p:sp>
        <p:nvSpPr>
          <p:cNvPr id="21" name="Rounded Rectangle 20"/>
          <p:cNvSpPr/>
          <p:nvPr/>
        </p:nvSpPr>
        <p:spPr>
          <a:xfrm>
            <a:off x="2377440" y="1463040"/>
            <a:ext cx="1828800" cy="749808"/>
          </a:xfrm>
          <a:prstGeom prst="roundRect">
            <a:avLst>
              <a:gd name="adj" fmla="val 7621"/>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505456" y="1536192"/>
            <a:ext cx="1572768" cy="219456"/>
          </a:xfrm>
          <a:prstGeom prst="rect">
            <a:avLst/>
          </a:prstGeom>
          <a:noFill/>
        </p:spPr>
        <p:txBody>
          <a:bodyPr wrap="square" lIns="54864" tIns="27432" rIns="54864" bIns="27432" anchor="t">
            <a:spAutoFit/>
          </a:bodyPr>
          <a:lstStyle/>
          <a:p>
            <a:pPr algn="l">
              <a:lnSpc>
                <a:spcPct val="100000"/>
              </a:lnSpc>
            </a:pPr>
            <a:r>
              <a:rPr sz="900" b="1" i="0">
                <a:solidFill>
                  <a:srgbClr val="D9480F"/>
                </a:solidFill>
                <a:latin typeface="Arial"/>
              </a:rPr>
              <a:t>FAIBLESSES</a:t>
            </a:r>
          </a:p>
        </p:txBody>
      </p:sp>
      <p:sp>
        <p:nvSpPr>
          <p:cNvPr id="23" name="TextBox 22"/>
          <p:cNvSpPr txBox="1"/>
          <p:nvPr/>
        </p:nvSpPr>
        <p:spPr>
          <a:xfrm>
            <a:off x="2505456" y="1755648"/>
            <a:ext cx="1572768" cy="420624"/>
          </a:xfrm>
          <a:prstGeom prst="rect">
            <a:avLst/>
          </a:prstGeom>
          <a:noFill/>
        </p:spPr>
        <p:txBody>
          <a:bodyPr wrap="square" lIns="54864" tIns="27432" rIns="54864" bIns="27432" anchor="t">
            <a:spAutoFit/>
          </a:bodyPr>
          <a:lstStyle/>
          <a:p>
            <a:pPr algn="l">
              <a:lnSpc>
                <a:spcPct val="100000"/>
              </a:lnSpc>
            </a:pPr>
            <a:r>
              <a:rPr sz="850" b="0" i="0">
                <a:solidFill>
                  <a:srgbClr val="666666"/>
                </a:solidFill>
                <a:latin typeface="Arial"/>
              </a:rPr>
              <a:t>un seul nœud de périphérie</a:t>
            </a:r>
          </a:p>
        </p:txBody>
      </p:sp>
      <p:sp>
        <p:nvSpPr>
          <p:cNvPr id="24" name="Rounded Rectangle 23"/>
          <p:cNvSpPr/>
          <p:nvPr/>
        </p:nvSpPr>
        <p:spPr>
          <a:xfrm>
            <a:off x="457200" y="2304288"/>
            <a:ext cx="1828800" cy="749808"/>
          </a:xfrm>
          <a:prstGeom prst="roundRect">
            <a:avLst>
              <a:gd name="adj" fmla="val 7621"/>
            </a:avLst>
          </a:prstGeom>
          <a:solidFill>
            <a:srgbClr val="E7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85216" y="2377440"/>
            <a:ext cx="1572768" cy="219456"/>
          </a:xfrm>
          <a:prstGeom prst="rect">
            <a:avLst/>
          </a:prstGeom>
          <a:noFill/>
        </p:spPr>
        <p:txBody>
          <a:bodyPr wrap="square" lIns="54864" tIns="27432" rIns="54864" bIns="27432" anchor="t">
            <a:spAutoFit/>
          </a:bodyPr>
          <a:lstStyle/>
          <a:p>
            <a:pPr algn="l">
              <a:lnSpc>
                <a:spcPct val="100000"/>
              </a:lnSpc>
            </a:pPr>
            <a:r>
              <a:rPr sz="900" b="1" i="0">
                <a:solidFill>
                  <a:srgbClr val="1C7ED6"/>
                </a:solidFill>
                <a:latin typeface="Arial"/>
              </a:rPr>
              <a:t>OPPORTUNITÉS</a:t>
            </a:r>
          </a:p>
        </p:txBody>
      </p:sp>
      <p:sp>
        <p:nvSpPr>
          <p:cNvPr id="26" name="TextBox 25"/>
          <p:cNvSpPr txBox="1"/>
          <p:nvPr/>
        </p:nvSpPr>
        <p:spPr>
          <a:xfrm>
            <a:off x="585216" y="2596896"/>
            <a:ext cx="1572768" cy="420624"/>
          </a:xfrm>
          <a:prstGeom prst="rect">
            <a:avLst/>
          </a:prstGeom>
          <a:noFill/>
        </p:spPr>
        <p:txBody>
          <a:bodyPr wrap="square" lIns="54864" tIns="27432" rIns="54864" bIns="27432" anchor="t">
            <a:spAutoFit/>
          </a:bodyPr>
          <a:lstStyle/>
          <a:p>
            <a:pPr algn="l">
              <a:lnSpc>
                <a:spcPct val="100000"/>
              </a:lnSpc>
            </a:pPr>
            <a:r>
              <a:rPr sz="850" b="0" i="0">
                <a:solidFill>
                  <a:srgbClr val="666666"/>
                </a:solidFill>
                <a:latin typeface="Arial"/>
              </a:rPr>
              <a:t>mesure fine de l’énergie, IA d’exploitation</a:t>
            </a:r>
          </a:p>
        </p:txBody>
      </p:sp>
      <p:sp>
        <p:nvSpPr>
          <p:cNvPr id="27" name="Rounded Rectangle 26"/>
          <p:cNvSpPr/>
          <p:nvPr/>
        </p:nvSpPr>
        <p:spPr>
          <a:xfrm>
            <a:off x="2377440" y="2304288"/>
            <a:ext cx="1828800" cy="749808"/>
          </a:xfrm>
          <a:prstGeom prst="roundRect">
            <a:avLst>
              <a:gd name="adj" fmla="val 7621"/>
            </a:avLst>
          </a:prstGeom>
          <a:solidFill>
            <a:srgbClr val="FF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505456" y="2377440"/>
            <a:ext cx="1572768" cy="219456"/>
          </a:xfrm>
          <a:prstGeom prst="rect">
            <a:avLst/>
          </a:prstGeom>
          <a:noFill/>
        </p:spPr>
        <p:txBody>
          <a:bodyPr wrap="square" lIns="54864" tIns="27432" rIns="54864" bIns="27432" anchor="t">
            <a:spAutoFit/>
          </a:bodyPr>
          <a:lstStyle/>
          <a:p>
            <a:pPr algn="l">
              <a:lnSpc>
                <a:spcPct val="100000"/>
              </a:lnSpc>
            </a:pPr>
            <a:r>
              <a:rPr sz="900" b="1" i="0">
                <a:solidFill>
                  <a:srgbClr val="E03131"/>
                </a:solidFill>
                <a:latin typeface="Arial"/>
              </a:rPr>
              <a:t>MENACES</a:t>
            </a:r>
          </a:p>
        </p:txBody>
      </p:sp>
      <p:sp>
        <p:nvSpPr>
          <p:cNvPr id="29" name="TextBox 28"/>
          <p:cNvSpPr txBox="1"/>
          <p:nvPr/>
        </p:nvSpPr>
        <p:spPr>
          <a:xfrm>
            <a:off x="2505456" y="2596896"/>
            <a:ext cx="1572768" cy="420624"/>
          </a:xfrm>
          <a:prstGeom prst="rect">
            <a:avLst/>
          </a:prstGeom>
          <a:noFill/>
        </p:spPr>
        <p:txBody>
          <a:bodyPr wrap="square" lIns="54864" tIns="27432" rIns="54864" bIns="27432" anchor="t">
            <a:spAutoFit/>
          </a:bodyPr>
          <a:lstStyle/>
          <a:p>
            <a:pPr algn="l">
              <a:lnSpc>
                <a:spcPct val="100000"/>
              </a:lnSpc>
            </a:pPr>
            <a:r>
              <a:rPr sz="850" b="0" i="0">
                <a:solidFill>
                  <a:srgbClr val="666666"/>
                </a:solidFill>
                <a:latin typeface="Arial"/>
              </a:rPr>
              <a:t>licences, RGPD, NIS 2, IA Act</a:t>
            </a:r>
          </a:p>
        </p:txBody>
      </p:sp>
      <p:sp>
        <p:nvSpPr>
          <p:cNvPr id="30" name="TextBox 29"/>
          <p:cNvSpPr txBox="1"/>
          <p:nvPr/>
        </p:nvSpPr>
        <p:spPr>
          <a:xfrm>
            <a:off x="457200" y="3200400"/>
            <a:ext cx="3749039" cy="365760"/>
          </a:xfrm>
          <a:prstGeom prst="rect">
            <a:avLst/>
          </a:prstGeom>
          <a:noFill/>
        </p:spPr>
        <p:txBody>
          <a:bodyPr wrap="square" lIns="54864" tIns="27432" rIns="54864" bIns="27432" anchor="t">
            <a:spAutoFit/>
          </a:bodyPr>
          <a:lstStyle/>
          <a:p>
            <a:pPr algn="l">
              <a:lnSpc>
                <a:spcPct val="105000"/>
              </a:lnSpc>
            </a:pPr>
            <a:r>
              <a:rPr sz="900" b="0" i="0">
                <a:solidFill>
                  <a:srgbClr val="8F8F8F"/>
                </a:solidFill>
                <a:latin typeface="Arial"/>
              </a:rPr>
              <a:t>Le SWOT regarde le système, le PESTEL son environnement.</a:t>
            </a:r>
          </a:p>
        </p:txBody>
      </p:sp>
      <p:sp>
        <p:nvSpPr>
          <p:cNvPr id="31" name="TextBox 30"/>
          <p:cNvSpPr txBox="1"/>
          <p:nvPr/>
        </p:nvSpPr>
        <p:spPr>
          <a:xfrm>
            <a:off x="4572000" y="1225296"/>
            <a:ext cx="411480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8 RISQUES COTÉS, EBIOS RISK MANAGER ET ISO 27005</a:t>
            </a:r>
          </a:p>
        </p:txBody>
      </p:sp>
      <p:sp>
        <p:nvSpPr>
          <p:cNvPr id="32" name="TextBox 31"/>
          <p:cNvSpPr txBox="1"/>
          <p:nvPr/>
        </p:nvSpPr>
        <p:spPr>
          <a:xfrm>
            <a:off x="4517136" y="2212848"/>
            <a:ext cx="877824" cy="548640"/>
          </a:xfrm>
          <a:prstGeom prst="rect">
            <a:avLst/>
          </a:prstGeom>
          <a:noFill/>
        </p:spPr>
        <p:txBody>
          <a:bodyPr wrap="square" lIns="54864" tIns="27432" rIns="54864" bIns="27432" anchor="t">
            <a:spAutoFit/>
          </a:bodyPr>
          <a:lstStyle/>
          <a:p>
            <a:pPr algn="ctr">
              <a:lnSpc>
                <a:spcPct val="100000"/>
              </a:lnSpc>
            </a:pPr>
            <a:r>
              <a:rPr sz="650" b="1" i="0">
                <a:solidFill>
                  <a:srgbClr val="8F8F8F"/>
                </a:solidFill>
                <a:latin typeface="Arial"/>
              </a:rPr>
              <a:t>vraisemblance</a:t>
            </a:r>
          </a:p>
          <a:p>
            <a:pPr algn="ctr">
              <a:lnSpc>
                <a:spcPct val="100000"/>
              </a:lnSpc>
            </a:pPr>
            <a:r>
              <a:rPr sz="650" b="1" i="0">
                <a:solidFill>
                  <a:srgbClr val="8F8F8F"/>
                </a:solidFill>
                <a:latin typeface="Arial"/>
              </a:rPr>
              <a:t>croissante</a:t>
            </a:r>
          </a:p>
        </p:txBody>
      </p:sp>
      <p:sp>
        <p:nvSpPr>
          <p:cNvPr id="33" name="Rectangle 32"/>
          <p:cNvSpPr/>
          <p:nvPr/>
        </p:nvSpPr>
        <p:spPr>
          <a:xfrm>
            <a:off x="5413248" y="3054096"/>
            <a:ext cx="512063" cy="365759"/>
          </a:xfrm>
          <a:prstGeom prst="rect">
            <a:avLst/>
          </a:prstGeom>
          <a:solidFill>
            <a:srgbClr val="EBFBEE"/>
          </a:solidFill>
          <a:ln w="6350">
            <a:solidFill>
              <a:srgbClr val="C5E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5943600" y="3054096"/>
            <a:ext cx="512063" cy="365759"/>
          </a:xfrm>
          <a:prstGeom prst="rect">
            <a:avLst/>
          </a:prstGeom>
          <a:solidFill>
            <a:srgbClr val="EBFBEE"/>
          </a:solidFill>
          <a:ln w="6350">
            <a:solidFill>
              <a:srgbClr val="C5E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6473952" y="3054096"/>
            <a:ext cx="512063" cy="365759"/>
          </a:xfrm>
          <a:prstGeom prst="rect">
            <a:avLst/>
          </a:prstGeom>
          <a:solidFill>
            <a:srgbClr val="EBFBEE"/>
          </a:solidFill>
          <a:ln w="6350">
            <a:solidFill>
              <a:srgbClr val="C5E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7004304" y="3054096"/>
            <a:ext cx="512063" cy="365759"/>
          </a:xfrm>
          <a:prstGeom prst="rect">
            <a:avLst/>
          </a:prstGeom>
          <a:solidFill>
            <a:srgbClr val="EBFBEE"/>
          </a:solidFill>
          <a:ln w="6350">
            <a:solidFill>
              <a:srgbClr val="C5E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7534656" y="3054096"/>
            <a:ext cx="512063" cy="365759"/>
          </a:xfrm>
          <a:prstGeom prst="rect">
            <a:avLst/>
          </a:prstGeom>
          <a:solidFill>
            <a:srgbClr val="FFF9DB"/>
          </a:solidFill>
          <a:ln w="6350">
            <a:solidFill>
              <a:srgbClr val="FCE4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5413248" y="2670048"/>
            <a:ext cx="512063" cy="365759"/>
          </a:xfrm>
          <a:prstGeom prst="rect">
            <a:avLst/>
          </a:prstGeom>
          <a:solidFill>
            <a:srgbClr val="EBFBEE"/>
          </a:solidFill>
          <a:ln w="6350">
            <a:solidFill>
              <a:srgbClr val="C5E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5943600" y="2670048"/>
            <a:ext cx="512063" cy="365759"/>
          </a:xfrm>
          <a:prstGeom prst="rect">
            <a:avLst/>
          </a:prstGeom>
          <a:solidFill>
            <a:srgbClr val="EBFBEE"/>
          </a:solidFill>
          <a:ln w="6350">
            <a:solidFill>
              <a:srgbClr val="C5E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6473952" y="2670048"/>
            <a:ext cx="512063" cy="365759"/>
          </a:xfrm>
          <a:prstGeom prst="rect">
            <a:avLst/>
          </a:prstGeom>
          <a:solidFill>
            <a:srgbClr val="FFF9DB"/>
          </a:solidFill>
          <a:ln w="6350">
            <a:solidFill>
              <a:srgbClr val="FCE4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7004304" y="2670048"/>
            <a:ext cx="512063" cy="365759"/>
          </a:xfrm>
          <a:prstGeom prst="rect">
            <a:avLst/>
          </a:prstGeom>
          <a:solidFill>
            <a:srgbClr val="FFF9DB"/>
          </a:solidFill>
          <a:ln w="6350">
            <a:solidFill>
              <a:srgbClr val="FCE4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7534656" y="2670048"/>
            <a:ext cx="512063" cy="365759"/>
          </a:xfrm>
          <a:prstGeom prst="rect">
            <a:avLst/>
          </a:prstGeom>
          <a:solidFill>
            <a:srgbClr val="FFE8CC"/>
          </a:solidFill>
          <a:ln w="6350">
            <a:solidFill>
              <a:srgbClr val="FDD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5413248" y="2286000"/>
            <a:ext cx="512063" cy="365759"/>
          </a:xfrm>
          <a:prstGeom prst="rect">
            <a:avLst/>
          </a:prstGeom>
          <a:solidFill>
            <a:srgbClr val="EBFBEE"/>
          </a:solidFill>
          <a:ln w="6350">
            <a:solidFill>
              <a:srgbClr val="C5E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5943600" y="2286000"/>
            <a:ext cx="512063" cy="365759"/>
          </a:xfrm>
          <a:prstGeom prst="rect">
            <a:avLst/>
          </a:prstGeom>
          <a:solidFill>
            <a:srgbClr val="FFF9DB"/>
          </a:solidFill>
          <a:ln w="6350">
            <a:solidFill>
              <a:srgbClr val="FCE4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6473952" y="2286000"/>
            <a:ext cx="512063" cy="365759"/>
          </a:xfrm>
          <a:prstGeom prst="rect">
            <a:avLst/>
          </a:prstGeom>
          <a:solidFill>
            <a:srgbClr val="FFF9DB"/>
          </a:solidFill>
          <a:ln w="6350">
            <a:solidFill>
              <a:srgbClr val="FCE4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7004304" y="2286000"/>
            <a:ext cx="512063" cy="365759"/>
          </a:xfrm>
          <a:prstGeom prst="rect">
            <a:avLst/>
          </a:prstGeom>
          <a:solidFill>
            <a:srgbClr val="FFE8CC"/>
          </a:solidFill>
          <a:ln w="6350">
            <a:solidFill>
              <a:srgbClr val="FDD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7534656" y="2286000"/>
            <a:ext cx="512063" cy="365759"/>
          </a:xfrm>
          <a:prstGeom prst="rect">
            <a:avLst/>
          </a:prstGeom>
          <a:solidFill>
            <a:srgbClr val="FFE3E3"/>
          </a:solidFill>
          <a:ln w="6350">
            <a:solidFill>
              <a:srgbClr val="F6C5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5413248" y="1901952"/>
            <a:ext cx="512063" cy="365759"/>
          </a:xfrm>
          <a:prstGeom prst="rect">
            <a:avLst/>
          </a:prstGeom>
          <a:solidFill>
            <a:srgbClr val="EBFBEE"/>
          </a:solidFill>
          <a:ln w="6350">
            <a:solidFill>
              <a:srgbClr val="C5E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5943600" y="1901952"/>
            <a:ext cx="512063" cy="365759"/>
          </a:xfrm>
          <a:prstGeom prst="rect">
            <a:avLst/>
          </a:prstGeom>
          <a:solidFill>
            <a:srgbClr val="FFF9DB"/>
          </a:solidFill>
          <a:ln w="6350">
            <a:solidFill>
              <a:srgbClr val="FCE4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6473952" y="1901952"/>
            <a:ext cx="512063" cy="365759"/>
          </a:xfrm>
          <a:prstGeom prst="rect">
            <a:avLst/>
          </a:prstGeom>
          <a:solidFill>
            <a:srgbClr val="FFE8CC"/>
          </a:solidFill>
          <a:ln w="6350">
            <a:solidFill>
              <a:srgbClr val="FDD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7004304" y="1901952"/>
            <a:ext cx="512063" cy="365759"/>
          </a:xfrm>
          <a:prstGeom prst="rect">
            <a:avLst/>
          </a:prstGeom>
          <a:solidFill>
            <a:srgbClr val="FFE3E3"/>
          </a:solidFill>
          <a:ln w="6350">
            <a:solidFill>
              <a:srgbClr val="F6C5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7534656" y="1901952"/>
            <a:ext cx="512063" cy="365759"/>
          </a:xfrm>
          <a:prstGeom prst="rect">
            <a:avLst/>
          </a:prstGeom>
          <a:solidFill>
            <a:srgbClr val="FFE3E3"/>
          </a:solidFill>
          <a:ln w="6350">
            <a:solidFill>
              <a:srgbClr val="F6C5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ectangle 52"/>
          <p:cNvSpPr/>
          <p:nvPr/>
        </p:nvSpPr>
        <p:spPr>
          <a:xfrm>
            <a:off x="5413248" y="1517904"/>
            <a:ext cx="512063" cy="365759"/>
          </a:xfrm>
          <a:prstGeom prst="rect">
            <a:avLst/>
          </a:prstGeom>
          <a:solidFill>
            <a:srgbClr val="FFF9DB"/>
          </a:solidFill>
          <a:ln w="6350">
            <a:solidFill>
              <a:srgbClr val="FCE4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53"/>
          <p:cNvSpPr/>
          <p:nvPr/>
        </p:nvSpPr>
        <p:spPr>
          <a:xfrm>
            <a:off x="5943600" y="1517904"/>
            <a:ext cx="512063" cy="365759"/>
          </a:xfrm>
          <a:prstGeom prst="rect">
            <a:avLst/>
          </a:prstGeom>
          <a:solidFill>
            <a:srgbClr val="FFE8CC"/>
          </a:solidFill>
          <a:ln w="6350">
            <a:solidFill>
              <a:srgbClr val="FDD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54"/>
          <p:cNvSpPr/>
          <p:nvPr/>
        </p:nvSpPr>
        <p:spPr>
          <a:xfrm>
            <a:off x="6473952" y="1517904"/>
            <a:ext cx="512063" cy="365759"/>
          </a:xfrm>
          <a:prstGeom prst="rect">
            <a:avLst/>
          </a:prstGeom>
          <a:solidFill>
            <a:srgbClr val="FFE3E3"/>
          </a:solidFill>
          <a:ln w="6350">
            <a:solidFill>
              <a:srgbClr val="F6C5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7004304" y="1517904"/>
            <a:ext cx="512063" cy="365759"/>
          </a:xfrm>
          <a:prstGeom prst="rect">
            <a:avLst/>
          </a:prstGeom>
          <a:solidFill>
            <a:srgbClr val="FFE3E3"/>
          </a:solidFill>
          <a:ln w="6350">
            <a:solidFill>
              <a:srgbClr val="F6C5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ectangle 56"/>
          <p:cNvSpPr/>
          <p:nvPr/>
        </p:nvSpPr>
        <p:spPr>
          <a:xfrm>
            <a:off x="7534656" y="1517904"/>
            <a:ext cx="512063" cy="365759"/>
          </a:xfrm>
          <a:prstGeom prst="rect">
            <a:avLst/>
          </a:prstGeom>
          <a:solidFill>
            <a:srgbClr val="FFE3E3"/>
          </a:solidFill>
          <a:ln w="6350">
            <a:solidFill>
              <a:srgbClr val="F6C5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ounded Rectangle 57"/>
          <p:cNvSpPr/>
          <p:nvPr/>
        </p:nvSpPr>
        <p:spPr>
          <a:xfrm>
            <a:off x="7662671" y="2359152"/>
            <a:ext cx="274320" cy="237744"/>
          </a:xfrm>
          <a:prstGeom prst="roundRect">
            <a:avLst>
              <a:gd name="adj" fmla="val 50000"/>
            </a:avLst>
          </a:prstGeom>
          <a:solidFill>
            <a:srgbClr val="FFFFFF"/>
          </a:solidFill>
          <a:ln w="9525">
            <a:solidFill>
              <a:srgbClr val="E0313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7662671" y="2359152"/>
            <a:ext cx="274320" cy="237744"/>
          </a:xfrm>
          <a:prstGeom prst="rect">
            <a:avLst/>
          </a:prstGeom>
          <a:noFill/>
        </p:spPr>
        <p:txBody>
          <a:bodyPr wrap="square" lIns="54864" tIns="27432" rIns="54864" bIns="27432" anchor="ctr">
            <a:spAutoFit/>
          </a:bodyPr>
          <a:lstStyle/>
          <a:p>
            <a:pPr algn="ctr">
              <a:lnSpc>
                <a:spcPct val="100000"/>
              </a:lnSpc>
            </a:pPr>
            <a:r>
              <a:rPr sz="700" b="1" i="0">
                <a:solidFill>
                  <a:srgbClr val="E03131"/>
                </a:solidFill>
                <a:latin typeface="Arial"/>
              </a:rPr>
              <a:t>R1</a:t>
            </a:r>
          </a:p>
        </p:txBody>
      </p:sp>
      <p:sp>
        <p:nvSpPr>
          <p:cNvPr id="60" name="Rounded Rectangle 59"/>
          <p:cNvSpPr/>
          <p:nvPr/>
        </p:nvSpPr>
        <p:spPr>
          <a:xfrm>
            <a:off x="7132320" y="2359152"/>
            <a:ext cx="274320" cy="237744"/>
          </a:xfrm>
          <a:prstGeom prst="roundRect">
            <a:avLst>
              <a:gd name="adj" fmla="val 50000"/>
            </a:avLst>
          </a:prstGeom>
          <a:solidFill>
            <a:srgbClr val="FFFFFF"/>
          </a:solidFill>
          <a:ln w="9525">
            <a:solidFill>
              <a:srgbClr val="F767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7132320" y="2359152"/>
            <a:ext cx="274320" cy="237744"/>
          </a:xfrm>
          <a:prstGeom prst="rect">
            <a:avLst/>
          </a:prstGeom>
          <a:noFill/>
        </p:spPr>
        <p:txBody>
          <a:bodyPr wrap="square" lIns="54864" tIns="27432" rIns="54864" bIns="27432" anchor="ctr">
            <a:spAutoFit/>
          </a:bodyPr>
          <a:lstStyle/>
          <a:p>
            <a:pPr algn="ctr">
              <a:lnSpc>
                <a:spcPct val="100000"/>
              </a:lnSpc>
            </a:pPr>
            <a:r>
              <a:rPr sz="700" b="1" i="0">
                <a:solidFill>
                  <a:srgbClr val="F76707"/>
                </a:solidFill>
                <a:latin typeface="Arial"/>
              </a:rPr>
              <a:t>R3</a:t>
            </a:r>
          </a:p>
        </p:txBody>
      </p:sp>
      <p:sp>
        <p:nvSpPr>
          <p:cNvPr id="62" name="Rounded Rectangle 61"/>
          <p:cNvSpPr/>
          <p:nvPr/>
        </p:nvSpPr>
        <p:spPr>
          <a:xfrm>
            <a:off x="6537960" y="2359152"/>
            <a:ext cx="402336" cy="237744"/>
          </a:xfrm>
          <a:prstGeom prst="roundRect">
            <a:avLst>
              <a:gd name="adj" fmla="val 50000"/>
            </a:avLst>
          </a:prstGeom>
          <a:solidFill>
            <a:srgbClr val="FFFFFF"/>
          </a:solidFill>
          <a:ln w="9525">
            <a:solidFill>
              <a:srgbClr val="F59F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6537960" y="2359152"/>
            <a:ext cx="402336" cy="237744"/>
          </a:xfrm>
          <a:prstGeom prst="rect">
            <a:avLst/>
          </a:prstGeom>
          <a:noFill/>
        </p:spPr>
        <p:txBody>
          <a:bodyPr wrap="square" lIns="54864" tIns="27432" rIns="54864" bIns="27432" anchor="ctr">
            <a:spAutoFit/>
          </a:bodyPr>
          <a:lstStyle/>
          <a:p>
            <a:pPr algn="ctr">
              <a:lnSpc>
                <a:spcPct val="100000"/>
              </a:lnSpc>
            </a:pPr>
            <a:r>
              <a:rPr sz="700" b="1" i="0">
                <a:solidFill>
                  <a:srgbClr val="F59F00"/>
                </a:solidFill>
                <a:latin typeface="Arial"/>
              </a:rPr>
              <a:t>R4·R7</a:t>
            </a:r>
          </a:p>
        </p:txBody>
      </p:sp>
      <p:sp>
        <p:nvSpPr>
          <p:cNvPr id="64" name="Rounded Rectangle 63"/>
          <p:cNvSpPr/>
          <p:nvPr/>
        </p:nvSpPr>
        <p:spPr>
          <a:xfrm>
            <a:off x="7598663" y="2743200"/>
            <a:ext cx="402336" cy="237744"/>
          </a:xfrm>
          <a:prstGeom prst="roundRect">
            <a:avLst>
              <a:gd name="adj" fmla="val 50000"/>
            </a:avLst>
          </a:prstGeom>
          <a:solidFill>
            <a:srgbClr val="FFFFFF"/>
          </a:solidFill>
          <a:ln w="9525">
            <a:solidFill>
              <a:srgbClr val="F767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7598663" y="2743200"/>
            <a:ext cx="402336" cy="237744"/>
          </a:xfrm>
          <a:prstGeom prst="rect">
            <a:avLst/>
          </a:prstGeom>
          <a:noFill/>
        </p:spPr>
        <p:txBody>
          <a:bodyPr wrap="square" lIns="54864" tIns="27432" rIns="54864" bIns="27432" anchor="ctr">
            <a:spAutoFit/>
          </a:bodyPr>
          <a:lstStyle/>
          <a:p>
            <a:pPr algn="ctr">
              <a:lnSpc>
                <a:spcPct val="100000"/>
              </a:lnSpc>
            </a:pPr>
            <a:r>
              <a:rPr sz="700" b="1" i="0">
                <a:solidFill>
                  <a:srgbClr val="F76707"/>
                </a:solidFill>
                <a:latin typeface="Arial"/>
              </a:rPr>
              <a:t>R2·R5</a:t>
            </a:r>
          </a:p>
        </p:txBody>
      </p:sp>
      <p:sp>
        <p:nvSpPr>
          <p:cNvPr id="66" name="Rounded Rectangle 65"/>
          <p:cNvSpPr/>
          <p:nvPr/>
        </p:nvSpPr>
        <p:spPr>
          <a:xfrm>
            <a:off x="7068312" y="2743200"/>
            <a:ext cx="402336" cy="237744"/>
          </a:xfrm>
          <a:prstGeom prst="roundRect">
            <a:avLst>
              <a:gd name="adj" fmla="val 50000"/>
            </a:avLst>
          </a:prstGeom>
          <a:solidFill>
            <a:srgbClr val="FFFFFF"/>
          </a:solidFill>
          <a:ln w="9525">
            <a:solidFill>
              <a:srgbClr val="F59F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7068312" y="2743200"/>
            <a:ext cx="402336" cy="237744"/>
          </a:xfrm>
          <a:prstGeom prst="rect">
            <a:avLst/>
          </a:prstGeom>
          <a:noFill/>
        </p:spPr>
        <p:txBody>
          <a:bodyPr wrap="square" lIns="54864" tIns="27432" rIns="54864" bIns="27432" anchor="ctr">
            <a:spAutoFit/>
          </a:bodyPr>
          <a:lstStyle/>
          <a:p>
            <a:pPr algn="ctr">
              <a:lnSpc>
                <a:spcPct val="100000"/>
              </a:lnSpc>
            </a:pPr>
            <a:r>
              <a:rPr sz="700" b="1" i="0">
                <a:solidFill>
                  <a:srgbClr val="F59F00"/>
                </a:solidFill>
                <a:latin typeface="Arial"/>
              </a:rPr>
              <a:t>R6·R8</a:t>
            </a:r>
          </a:p>
        </p:txBody>
      </p:sp>
      <p:sp>
        <p:nvSpPr>
          <p:cNvPr id="68" name="TextBox 67"/>
          <p:cNvSpPr txBox="1"/>
          <p:nvPr/>
        </p:nvSpPr>
        <p:spPr>
          <a:xfrm>
            <a:off x="5413248" y="3456432"/>
            <a:ext cx="2651760" cy="219456"/>
          </a:xfrm>
          <a:prstGeom prst="rect">
            <a:avLst/>
          </a:prstGeom>
          <a:noFill/>
        </p:spPr>
        <p:txBody>
          <a:bodyPr wrap="square" lIns="54864" tIns="27432" rIns="54864" bIns="27432" anchor="t">
            <a:spAutoFit/>
          </a:bodyPr>
          <a:lstStyle/>
          <a:p>
            <a:pPr algn="l">
              <a:lnSpc>
                <a:spcPct val="100000"/>
              </a:lnSpc>
            </a:pPr>
            <a:r>
              <a:rPr sz="750" b="1" i="0">
                <a:solidFill>
                  <a:srgbClr val="8F8F8F"/>
                </a:solidFill>
                <a:latin typeface="Arial"/>
              </a:rPr>
              <a:t>gravité croissante</a:t>
            </a:r>
          </a:p>
        </p:txBody>
      </p:sp>
      <p:sp>
        <p:nvSpPr>
          <p:cNvPr id="69" name="Rounded Rectangle 68"/>
          <p:cNvSpPr/>
          <p:nvPr/>
        </p:nvSpPr>
        <p:spPr>
          <a:xfrm>
            <a:off x="4572000" y="3675887"/>
            <a:ext cx="960120" cy="219456"/>
          </a:xfrm>
          <a:prstGeom prst="roundRect">
            <a:avLst>
              <a:gd name="adj" fmla="val 15625"/>
            </a:avLst>
          </a:prstGeom>
          <a:solidFill>
            <a:srgbClr val="EBFBEE"/>
          </a:solidFill>
          <a:ln w="9525">
            <a:solidFill>
              <a:srgbClr val="A1D3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4572000" y="3675887"/>
            <a:ext cx="960120" cy="219456"/>
          </a:xfrm>
          <a:prstGeom prst="rect">
            <a:avLst/>
          </a:prstGeom>
          <a:noFill/>
        </p:spPr>
        <p:txBody>
          <a:bodyPr wrap="square" lIns="54864" tIns="27432" rIns="54864" bIns="27432" anchor="ctr">
            <a:spAutoFit/>
          </a:bodyPr>
          <a:lstStyle/>
          <a:p>
            <a:pPr algn="ctr">
              <a:lnSpc>
                <a:spcPct val="100000"/>
              </a:lnSpc>
            </a:pPr>
            <a:r>
              <a:rPr sz="700" b="1" i="0">
                <a:solidFill>
                  <a:srgbClr val="2F9E44"/>
                </a:solidFill>
                <a:latin typeface="Arial"/>
              </a:rPr>
              <a:t>Faible  1 à 4</a:t>
            </a:r>
          </a:p>
        </p:txBody>
      </p:sp>
      <p:sp>
        <p:nvSpPr>
          <p:cNvPr id="71" name="Rounded Rectangle 70"/>
          <p:cNvSpPr/>
          <p:nvPr/>
        </p:nvSpPr>
        <p:spPr>
          <a:xfrm>
            <a:off x="5623560" y="3675887"/>
            <a:ext cx="960120" cy="219456"/>
          </a:xfrm>
          <a:prstGeom prst="roundRect">
            <a:avLst>
              <a:gd name="adj" fmla="val 15625"/>
            </a:avLst>
          </a:prstGeom>
          <a:solidFill>
            <a:srgbClr val="FFF9DB"/>
          </a:solidFill>
          <a:ln w="9525">
            <a:solidFill>
              <a:srgbClr val="FAD4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5623560" y="3675887"/>
            <a:ext cx="960120" cy="219456"/>
          </a:xfrm>
          <a:prstGeom prst="rect">
            <a:avLst/>
          </a:prstGeom>
          <a:noFill/>
        </p:spPr>
        <p:txBody>
          <a:bodyPr wrap="square" lIns="54864" tIns="27432" rIns="54864" bIns="27432" anchor="ctr">
            <a:spAutoFit/>
          </a:bodyPr>
          <a:lstStyle/>
          <a:p>
            <a:pPr algn="ctr">
              <a:lnSpc>
                <a:spcPct val="100000"/>
              </a:lnSpc>
            </a:pPr>
            <a:r>
              <a:rPr sz="700" b="1" i="0">
                <a:solidFill>
                  <a:srgbClr val="F59F00"/>
                </a:solidFill>
                <a:latin typeface="Arial"/>
              </a:rPr>
              <a:t>Modéré  5 à 9</a:t>
            </a:r>
          </a:p>
        </p:txBody>
      </p:sp>
      <p:sp>
        <p:nvSpPr>
          <p:cNvPr id="73" name="Rounded Rectangle 72"/>
          <p:cNvSpPr/>
          <p:nvPr/>
        </p:nvSpPr>
        <p:spPr>
          <a:xfrm>
            <a:off x="6675120" y="3675887"/>
            <a:ext cx="960120" cy="219456"/>
          </a:xfrm>
          <a:prstGeom prst="roundRect">
            <a:avLst>
              <a:gd name="adj" fmla="val 15625"/>
            </a:avLst>
          </a:prstGeom>
          <a:solidFill>
            <a:srgbClr val="FFE8CC"/>
          </a:solidFill>
          <a:ln w="9525">
            <a:solidFill>
              <a:srgbClr val="FBBB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6675120" y="3675887"/>
            <a:ext cx="960120" cy="219456"/>
          </a:xfrm>
          <a:prstGeom prst="rect">
            <a:avLst/>
          </a:prstGeom>
          <a:noFill/>
        </p:spPr>
        <p:txBody>
          <a:bodyPr wrap="square" lIns="54864" tIns="27432" rIns="54864" bIns="27432" anchor="ctr">
            <a:spAutoFit/>
          </a:bodyPr>
          <a:lstStyle/>
          <a:p>
            <a:pPr algn="ctr">
              <a:lnSpc>
                <a:spcPct val="100000"/>
              </a:lnSpc>
            </a:pPr>
            <a:r>
              <a:rPr sz="700" b="1" i="0">
                <a:solidFill>
                  <a:srgbClr val="F76707"/>
                </a:solidFill>
                <a:latin typeface="Arial"/>
              </a:rPr>
              <a:t>Élevé  10 à 14</a:t>
            </a:r>
          </a:p>
        </p:txBody>
      </p:sp>
      <p:sp>
        <p:nvSpPr>
          <p:cNvPr id="75" name="Rounded Rectangle 74"/>
          <p:cNvSpPr/>
          <p:nvPr/>
        </p:nvSpPr>
        <p:spPr>
          <a:xfrm>
            <a:off x="7726679" y="3675887"/>
            <a:ext cx="960120" cy="219456"/>
          </a:xfrm>
          <a:prstGeom prst="roundRect">
            <a:avLst>
              <a:gd name="adj" fmla="val 15625"/>
            </a:avLst>
          </a:prstGeom>
          <a:solidFill>
            <a:srgbClr val="FFE3E3"/>
          </a:solidFill>
          <a:ln w="9525">
            <a:solidFill>
              <a:srgbClr val="F1A2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7726679" y="3675887"/>
            <a:ext cx="960120" cy="219456"/>
          </a:xfrm>
          <a:prstGeom prst="rect">
            <a:avLst/>
          </a:prstGeom>
          <a:noFill/>
        </p:spPr>
        <p:txBody>
          <a:bodyPr wrap="square" lIns="54864" tIns="27432" rIns="54864" bIns="27432" anchor="ctr">
            <a:spAutoFit/>
          </a:bodyPr>
          <a:lstStyle/>
          <a:p>
            <a:pPr algn="ctr">
              <a:lnSpc>
                <a:spcPct val="100000"/>
              </a:lnSpc>
            </a:pPr>
            <a:r>
              <a:rPr sz="700" b="1" i="0">
                <a:solidFill>
                  <a:srgbClr val="E03131"/>
                </a:solidFill>
                <a:latin typeface="Arial"/>
              </a:rPr>
              <a:t>Critique  15 à 25</a:t>
            </a:r>
          </a:p>
        </p:txBody>
      </p:sp>
      <p:sp>
        <p:nvSpPr>
          <p:cNvPr id="77" name="Rectangle 76"/>
          <p:cNvSpPr/>
          <p:nvPr/>
        </p:nvSpPr>
        <p:spPr>
          <a:xfrm>
            <a:off x="457200" y="4059936"/>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Rectangle 77"/>
          <p:cNvSpPr/>
          <p:nvPr/>
        </p:nvSpPr>
        <p:spPr>
          <a:xfrm>
            <a:off x="457200" y="4059936"/>
            <a:ext cx="548640" cy="9144"/>
          </a:xfrm>
          <a:prstGeom prst="rect">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457200" y="4133088"/>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1C7ED6"/>
                </a:solidFill>
                <a:latin typeface="Arial"/>
              </a:rPr>
              <a:t>CRITICITÉ TOTALE DU REGISTRE</a:t>
            </a:r>
          </a:p>
        </p:txBody>
      </p:sp>
      <p:sp>
        <p:nvSpPr>
          <p:cNvPr id="80" name="TextBox 79"/>
          <p:cNvSpPr txBox="1"/>
          <p:nvPr/>
        </p:nvSpPr>
        <p:spPr>
          <a:xfrm>
            <a:off x="457200" y="4334256"/>
            <a:ext cx="8229600" cy="274320"/>
          </a:xfrm>
          <a:prstGeom prst="rect">
            <a:avLst/>
          </a:prstGeom>
          <a:noFill/>
        </p:spPr>
        <p:txBody>
          <a:bodyPr wrap="square" lIns="54864" tIns="27432" rIns="54864" bIns="27432" anchor="t">
            <a:spAutoFit/>
          </a:bodyPr>
          <a:lstStyle/>
          <a:p>
            <a:pPr algn="l">
              <a:lnSpc>
                <a:spcPct val="105000"/>
              </a:lnSpc>
            </a:pPr>
            <a:r>
              <a:rPr sz="950" b="0" i="0">
                <a:solidFill>
                  <a:srgbClr val="666666"/>
                </a:solidFill>
                <a:latin typeface="Arial"/>
              </a:rPr>
              <a:t>R1, perte du nœud de périphérie, coté 15   ·   81 avant traitement, 37 après, plus aucun risque en zone critique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524000" y="0"/>
            <a:ext cx="1524000" cy="41148"/>
          </a:xfrm>
          <a:prstGeom prst="rect">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269480"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10144"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lIns="54864" tIns="27432" rIns="54864" bIns="27432" anchor="t">
            <a:spAutoFit/>
          </a:bodyPr>
          <a:lstStyle/>
          <a:p>
            <a:pPr algn="l">
              <a:lnSpc>
                <a:spcPct val="100000"/>
              </a:lnSpc>
            </a:pPr>
            <a:r>
              <a:rPr sz="750" b="1" i="0" spc="120">
                <a:solidFill>
                  <a:srgbClr val="1C7ED6"/>
                </a:solidFill>
                <a:latin typeface="Arial"/>
              </a:rPr>
              <a:t>2 · ANALYSE ET STRATÉGIE DU SI</a:t>
            </a:r>
          </a:p>
        </p:txBody>
      </p:sp>
      <p:sp>
        <p:nvSpPr>
          <p:cNvPr id="11" name="TextBox 10"/>
          <p:cNvSpPr txBox="1"/>
          <p:nvPr/>
        </p:nvSpPr>
        <p:spPr>
          <a:xfrm>
            <a:off x="457200" y="493776"/>
            <a:ext cx="6720840" cy="566928"/>
          </a:xfrm>
          <a:prstGeom prst="rect">
            <a:avLst/>
          </a:prstGeom>
          <a:noFill/>
        </p:spPr>
        <p:txBody>
          <a:bodyPr wrap="square" lIns="54864" tIns="27432" rIns="54864" bIns="27432" anchor="t">
            <a:spAutoFit/>
          </a:bodyPr>
          <a:lstStyle/>
          <a:p>
            <a:pPr algn="l">
              <a:lnSpc>
                <a:spcPct val="100000"/>
              </a:lnSpc>
            </a:pPr>
            <a:r>
              <a:rPr sz="2300" b="1" i="0" spc="-80">
                <a:solidFill>
                  <a:srgbClr val="171717"/>
                </a:solidFill>
                <a:latin typeface="Arial"/>
              </a:rPr>
              <a:t>Choix de l’architecture</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26679" y="4832604"/>
            <a:ext cx="1143000" cy="237744"/>
          </a:xfrm>
          <a:prstGeom prst="rect">
            <a:avLst/>
          </a:prstGeom>
          <a:noFill/>
        </p:spPr>
        <p:txBody>
          <a:bodyPr wrap="square" lIns="54864" tIns="27432" rIns="54864" bIns="27432" anchor="t">
            <a:spAutoFit/>
          </a:bodyPr>
          <a:lstStyle/>
          <a:p>
            <a:pPr algn="r">
              <a:lnSpc>
                <a:spcPct val="100000"/>
              </a:lnSpc>
            </a:pPr>
            <a:r>
              <a:rPr sz="800" b="0" i="0">
                <a:solidFill>
                  <a:srgbClr val="A1A1A1"/>
                </a:solidFill>
                <a:latin typeface="Arial"/>
              </a:rPr>
              <a:t>09 / 31</a:t>
            </a:r>
          </a:p>
        </p:txBody>
      </p:sp>
      <p:sp>
        <p:nvSpPr>
          <p:cNvPr id="14" name="Rounded Rectangle 13"/>
          <p:cNvSpPr/>
          <p:nvPr/>
        </p:nvSpPr>
        <p:spPr>
          <a:xfrm>
            <a:off x="457200" y="4818888"/>
            <a:ext cx="945489" cy="228600"/>
          </a:xfrm>
          <a:prstGeom prst="roundRect">
            <a:avLst>
              <a:gd name="adj" fmla="val 25000"/>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4818888"/>
            <a:ext cx="945489" cy="228600"/>
          </a:xfrm>
          <a:prstGeom prst="rect">
            <a:avLst/>
          </a:prstGeom>
          <a:noFill/>
        </p:spPr>
        <p:txBody>
          <a:bodyPr wrap="square" lIns="54864" tIns="27432" rIns="54864" bIns="27432" anchor="ctr">
            <a:spAutoFit/>
          </a:bodyPr>
          <a:lstStyle/>
          <a:p>
            <a:pPr algn="ctr">
              <a:lnSpc>
                <a:spcPct val="100000"/>
              </a:lnSpc>
            </a:pPr>
            <a:r>
              <a:rPr sz="750" b="1" i="0">
                <a:solidFill>
                  <a:srgbClr val="FFFFFF"/>
                </a:solidFill>
                <a:latin typeface="Arial"/>
              </a:rPr>
              <a:t>Réf.  C5 à C9</a:t>
            </a:r>
          </a:p>
        </p:txBody>
      </p:sp>
      <p:sp>
        <p:nvSpPr>
          <p:cNvPr id="16" name="TextBox 15"/>
          <p:cNvSpPr txBox="1"/>
          <p:nvPr/>
        </p:nvSpPr>
        <p:spPr>
          <a:xfrm>
            <a:off x="1494129" y="4818888"/>
            <a:ext cx="5486400" cy="228600"/>
          </a:xfrm>
          <a:prstGeom prst="rect">
            <a:avLst/>
          </a:prstGeom>
          <a:noFill/>
        </p:spPr>
        <p:txBody>
          <a:bodyPr wrap="square" lIns="54864" tIns="27432" rIns="54864" bIns="27432" anchor="ctr">
            <a:spAutoFit/>
          </a:bodyPr>
          <a:lstStyle/>
          <a:p>
            <a:pPr algn="l">
              <a:lnSpc>
                <a:spcPct val="100000"/>
              </a:lnSpc>
            </a:pPr>
            <a:r>
              <a:rPr sz="750" b="0" i="0">
                <a:solidFill>
                  <a:srgbClr val="A1A1A1"/>
                </a:solidFill>
                <a:latin typeface="Arial"/>
              </a:rPr>
              <a:t>BC1 · mémoire 11.3.4, 11.3.5 · annexes J, W</a:t>
            </a:r>
          </a:p>
        </p:txBody>
      </p:sp>
      <p:sp>
        <p:nvSpPr>
          <p:cNvPr id="17" name="TextBox 16"/>
          <p:cNvSpPr txBox="1"/>
          <p:nvPr/>
        </p:nvSpPr>
        <p:spPr>
          <a:xfrm>
            <a:off x="457200" y="1225296"/>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QUATRE STYLES COMPARÉS SUR CINQ CRITÈRES</a:t>
            </a:r>
          </a:p>
        </p:txBody>
      </p:sp>
      <p:sp>
        <p:nvSpPr>
          <p:cNvPr id="18" name="Rounded Rectangle 17"/>
          <p:cNvSpPr/>
          <p:nvPr/>
        </p:nvSpPr>
        <p:spPr>
          <a:xfrm>
            <a:off x="457200" y="1499616"/>
            <a:ext cx="8229600" cy="566928"/>
          </a:xfrm>
          <a:prstGeom prst="roundRect">
            <a:avLst>
              <a:gd name="adj" fmla="val 10080"/>
            </a:avLst>
          </a:prstGeom>
          <a:solidFill>
            <a:srgbClr val="EBFBEE"/>
          </a:solidFill>
          <a:ln w="9525">
            <a:solidFill>
              <a:srgbClr val="D3F9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58368" y="1499616"/>
            <a:ext cx="2377440" cy="566928"/>
          </a:xfrm>
          <a:prstGeom prst="rect">
            <a:avLst/>
          </a:prstGeom>
          <a:noFill/>
        </p:spPr>
        <p:txBody>
          <a:bodyPr wrap="square" lIns="54864" tIns="27432" rIns="54864" bIns="27432" anchor="ctr">
            <a:spAutoFit/>
          </a:bodyPr>
          <a:lstStyle/>
          <a:p>
            <a:pPr algn="l">
              <a:lnSpc>
                <a:spcPct val="100000"/>
              </a:lnSpc>
            </a:pPr>
            <a:r>
              <a:rPr sz="1100" b="1" i="0">
                <a:solidFill>
                  <a:srgbClr val="171717"/>
                </a:solidFill>
                <a:latin typeface="Arial"/>
              </a:rPr>
              <a:t>Monolithe modulaire</a:t>
            </a:r>
          </a:p>
        </p:txBody>
      </p:sp>
      <p:sp>
        <p:nvSpPr>
          <p:cNvPr id="20" name="TextBox 19"/>
          <p:cNvSpPr txBox="1"/>
          <p:nvPr/>
        </p:nvSpPr>
        <p:spPr>
          <a:xfrm>
            <a:off x="3108960" y="1499616"/>
            <a:ext cx="3931920" cy="566928"/>
          </a:xfrm>
          <a:prstGeom prst="rect">
            <a:avLst/>
          </a:prstGeom>
          <a:noFill/>
        </p:spPr>
        <p:txBody>
          <a:bodyPr wrap="square" lIns="54864" tIns="27432" rIns="54864" bIns="27432" anchor="ctr">
            <a:spAutoFit/>
          </a:bodyPr>
          <a:lstStyle/>
          <a:p>
            <a:pPr algn="l">
              <a:lnSpc>
                <a:spcPct val="102000"/>
              </a:lnSpc>
            </a:pPr>
            <a:r>
              <a:rPr sz="950" b="0" i="0">
                <a:solidFill>
                  <a:srgbClr val="666666"/>
                </a:solidFill>
                <a:latin typeface="Arial"/>
              </a:rPr>
              <a:t>modularité par domaine sans le coût du distribué</a:t>
            </a:r>
          </a:p>
        </p:txBody>
      </p:sp>
      <p:sp>
        <p:nvSpPr>
          <p:cNvPr id="21" name="Rounded Rectangle 20"/>
          <p:cNvSpPr/>
          <p:nvPr/>
        </p:nvSpPr>
        <p:spPr>
          <a:xfrm>
            <a:off x="7223760" y="1618488"/>
            <a:ext cx="1280160" cy="329184"/>
          </a:xfrm>
          <a:prstGeom prst="roundRect">
            <a:avLst>
              <a:gd name="adj" fmla="val 50000"/>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223760" y="1618488"/>
            <a:ext cx="1280160" cy="329184"/>
          </a:xfrm>
          <a:prstGeom prst="rect">
            <a:avLst/>
          </a:prstGeom>
          <a:noFill/>
        </p:spPr>
        <p:txBody>
          <a:bodyPr wrap="square" lIns="54864" tIns="27432" rIns="54864" bIns="27432" anchor="ctr">
            <a:spAutoFit/>
          </a:bodyPr>
          <a:lstStyle/>
          <a:p>
            <a:pPr algn="ctr">
              <a:lnSpc>
                <a:spcPct val="100000"/>
              </a:lnSpc>
            </a:pPr>
            <a:r>
              <a:rPr sz="900" b="1" i="0">
                <a:solidFill>
                  <a:srgbClr val="FFFFFF"/>
                </a:solidFill>
                <a:latin typeface="Arial"/>
              </a:rPr>
              <a:t>RETENU</a:t>
            </a:r>
          </a:p>
        </p:txBody>
      </p:sp>
      <p:sp>
        <p:nvSpPr>
          <p:cNvPr id="23" name="Rounded Rectangle 22"/>
          <p:cNvSpPr/>
          <p:nvPr/>
        </p:nvSpPr>
        <p:spPr>
          <a:xfrm>
            <a:off x="457200" y="2139696"/>
            <a:ext cx="8229600" cy="566928"/>
          </a:xfrm>
          <a:prstGeom prst="roundRect">
            <a:avLst>
              <a:gd name="adj" fmla="val 100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58368" y="2139696"/>
            <a:ext cx="2377440" cy="566928"/>
          </a:xfrm>
          <a:prstGeom prst="rect">
            <a:avLst/>
          </a:prstGeom>
          <a:noFill/>
        </p:spPr>
        <p:txBody>
          <a:bodyPr wrap="square" lIns="54864" tIns="27432" rIns="54864" bIns="27432" anchor="ctr">
            <a:spAutoFit/>
          </a:bodyPr>
          <a:lstStyle/>
          <a:p>
            <a:pPr algn="l">
              <a:lnSpc>
                <a:spcPct val="100000"/>
              </a:lnSpc>
            </a:pPr>
            <a:r>
              <a:rPr sz="1100" b="1" i="0">
                <a:solidFill>
                  <a:srgbClr val="171717"/>
                </a:solidFill>
                <a:latin typeface="Arial"/>
              </a:rPr>
              <a:t>Microservices</a:t>
            </a:r>
          </a:p>
        </p:txBody>
      </p:sp>
      <p:sp>
        <p:nvSpPr>
          <p:cNvPr id="25" name="TextBox 24"/>
          <p:cNvSpPr txBox="1"/>
          <p:nvPr/>
        </p:nvSpPr>
        <p:spPr>
          <a:xfrm>
            <a:off x="3108960" y="2139696"/>
            <a:ext cx="3931920" cy="566928"/>
          </a:xfrm>
          <a:prstGeom prst="rect">
            <a:avLst/>
          </a:prstGeom>
          <a:noFill/>
        </p:spPr>
        <p:txBody>
          <a:bodyPr wrap="square" lIns="54864" tIns="27432" rIns="54864" bIns="27432" anchor="ctr">
            <a:spAutoFit/>
          </a:bodyPr>
          <a:lstStyle/>
          <a:p>
            <a:pPr algn="l">
              <a:lnSpc>
                <a:spcPct val="102000"/>
              </a:lnSpc>
            </a:pPr>
            <a:r>
              <a:rPr sz="950" b="0" i="0">
                <a:solidFill>
                  <a:srgbClr val="666666"/>
                </a:solidFill>
                <a:latin typeface="Arial"/>
              </a:rPr>
              <a:t>surcoût opérationnel et énergétique disproportionné</a:t>
            </a:r>
          </a:p>
        </p:txBody>
      </p:sp>
      <p:sp>
        <p:nvSpPr>
          <p:cNvPr id="26" name="Rounded Rectangle 25"/>
          <p:cNvSpPr/>
          <p:nvPr/>
        </p:nvSpPr>
        <p:spPr>
          <a:xfrm>
            <a:off x="7223760" y="2258568"/>
            <a:ext cx="1280160" cy="329184"/>
          </a:xfrm>
          <a:prstGeom prst="roundRect">
            <a:avLst>
              <a:gd name="adj" fmla="val 50000"/>
            </a:avLst>
          </a:prstGeom>
          <a:solidFill>
            <a:srgbClr val="F4F4F5"/>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223760" y="2258568"/>
            <a:ext cx="1280160" cy="329184"/>
          </a:xfrm>
          <a:prstGeom prst="rect">
            <a:avLst/>
          </a:prstGeom>
          <a:noFill/>
        </p:spPr>
        <p:txBody>
          <a:bodyPr wrap="square" lIns="54864" tIns="27432" rIns="54864" bIns="27432" anchor="ctr">
            <a:spAutoFit/>
          </a:bodyPr>
          <a:lstStyle/>
          <a:p>
            <a:pPr algn="ctr">
              <a:lnSpc>
                <a:spcPct val="100000"/>
              </a:lnSpc>
            </a:pPr>
            <a:r>
              <a:rPr sz="900" b="1" i="0">
                <a:solidFill>
                  <a:srgbClr val="8F8F8F"/>
                </a:solidFill>
                <a:latin typeface="Arial"/>
              </a:rPr>
              <a:t>écarté</a:t>
            </a:r>
          </a:p>
        </p:txBody>
      </p:sp>
      <p:sp>
        <p:nvSpPr>
          <p:cNvPr id="28" name="Rounded Rectangle 27"/>
          <p:cNvSpPr/>
          <p:nvPr/>
        </p:nvSpPr>
        <p:spPr>
          <a:xfrm>
            <a:off x="457200" y="2779776"/>
            <a:ext cx="8229600" cy="566928"/>
          </a:xfrm>
          <a:prstGeom prst="roundRect">
            <a:avLst>
              <a:gd name="adj" fmla="val 100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58368" y="2779776"/>
            <a:ext cx="2377440" cy="566928"/>
          </a:xfrm>
          <a:prstGeom prst="rect">
            <a:avLst/>
          </a:prstGeom>
          <a:noFill/>
        </p:spPr>
        <p:txBody>
          <a:bodyPr wrap="square" lIns="54864" tIns="27432" rIns="54864" bIns="27432" anchor="ctr">
            <a:spAutoFit/>
          </a:bodyPr>
          <a:lstStyle/>
          <a:p>
            <a:pPr algn="l">
              <a:lnSpc>
                <a:spcPct val="100000"/>
              </a:lnSpc>
            </a:pPr>
            <a:r>
              <a:rPr sz="1100" b="1" i="0">
                <a:solidFill>
                  <a:srgbClr val="171717"/>
                </a:solidFill>
                <a:latin typeface="Arial"/>
              </a:rPr>
              <a:t>Serverless</a:t>
            </a:r>
          </a:p>
        </p:txBody>
      </p:sp>
      <p:sp>
        <p:nvSpPr>
          <p:cNvPr id="30" name="TextBox 29"/>
          <p:cNvSpPr txBox="1"/>
          <p:nvPr/>
        </p:nvSpPr>
        <p:spPr>
          <a:xfrm>
            <a:off x="3108960" y="2779776"/>
            <a:ext cx="3931920" cy="566928"/>
          </a:xfrm>
          <a:prstGeom prst="rect">
            <a:avLst/>
          </a:prstGeom>
          <a:noFill/>
        </p:spPr>
        <p:txBody>
          <a:bodyPr wrap="square" lIns="54864" tIns="27432" rIns="54864" bIns="27432" anchor="ctr">
            <a:spAutoFit/>
          </a:bodyPr>
          <a:lstStyle/>
          <a:p>
            <a:pPr algn="l">
              <a:lnSpc>
                <a:spcPct val="102000"/>
              </a:lnSpc>
            </a:pPr>
            <a:r>
              <a:rPr sz="950" b="0" i="0">
                <a:solidFill>
                  <a:srgbClr val="666666"/>
                </a:solidFill>
                <a:latin typeface="Arial"/>
              </a:rPr>
              <a:t>incompatible avec le téléversement en flux</a:t>
            </a:r>
          </a:p>
        </p:txBody>
      </p:sp>
      <p:sp>
        <p:nvSpPr>
          <p:cNvPr id="31" name="Rounded Rectangle 30"/>
          <p:cNvSpPr/>
          <p:nvPr/>
        </p:nvSpPr>
        <p:spPr>
          <a:xfrm>
            <a:off x="7223760" y="2898648"/>
            <a:ext cx="1280160" cy="329184"/>
          </a:xfrm>
          <a:prstGeom prst="roundRect">
            <a:avLst>
              <a:gd name="adj" fmla="val 50000"/>
            </a:avLst>
          </a:prstGeom>
          <a:solidFill>
            <a:srgbClr val="F4F4F5"/>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223760" y="2898648"/>
            <a:ext cx="1280160" cy="329184"/>
          </a:xfrm>
          <a:prstGeom prst="rect">
            <a:avLst/>
          </a:prstGeom>
          <a:noFill/>
        </p:spPr>
        <p:txBody>
          <a:bodyPr wrap="square" lIns="54864" tIns="27432" rIns="54864" bIns="27432" anchor="ctr">
            <a:spAutoFit/>
          </a:bodyPr>
          <a:lstStyle/>
          <a:p>
            <a:pPr algn="ctr">
              <a:lnSpc>
                <a:spcPct val="100000"/>
              </a:lnSpc>
            </a:pPr>
            <a:r>
              <a:rPr sz="900" b="1" i="0">
                <a:solidFill>
                  <a:srgbClr val="8F8F8F"/>
                </a:solidFill>
                <a:latin typeface="Arial"/>
              </a:rPr>
              <a:t>écarté</a:t>
            </a:r>
          </a:p>
        </p:txBody>
      </p:sp>
      <p:sp>
        <p:nvSpPr>
          <p:cNvPr id="33" name="Rounded Rectangle 32"/>
          <p:cNvSpPr/>
          <p:nvPr/>
        </p:nvSpPr>
        <p:spPr>
          <a:xfrm>
            <a:off x="457200" y="3419855"/>
            <a:ext cx="8229600" cy="566928"/>
          </a:xfrm>
          <a:prstGeom prst="roundRect">
            <a:avLst>
              <a:gd name="adj" fmla="val 100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58368" y="3419855"/>
            <a:ext cx="2377440" cy="566928"/>
          </a:xfrm>
          <a:prstGeom prst="rect">
            <a:avLst/>
          </a:prstGeom>
          <a:noFill/>
        </p:spPr>
        <p:txBody>
          <a:bodyPr wrap="square" lIns="54864" tIns="27432" rIns="54864" bIns="27432" anchor="ctr">
            <a:spAutoFit/>
          </a:bodyPr>
          <a:lstStyle/>
          <a:p>
            <a:pPr algn="l">
              <a:lnSpc>
                <a:spcPct val="100000"/>
              </a:lnSpc>
            </a:pPr>
            <a:r>
              <a:rPr sz="1100" b="1" i="0">
                <a:solidFill>
                  <a:srgbClr val="171717"/>
                </a:solidFill>
                <a:latin typeface="Arial"/>
              </a:rPr>
              <a:t>Orienté événements</a:t>
            </a:r>
          </a:p>
        </p:txBody>
      </p:sp>
      <p:sp>
        <p:nvSpPr>
          <p:cNvPr id="35" name="TextBox 34"/>
          <p:cNvSpPr txBox="1"/>
          <p:nvPr/>
        </p:nvSpPr>
        <p:spPr>
          <a:xfrm>
            <a:off x="3108960" y="3419855"/>
            <a:ext cx="3931920" cy="566928"/>
          </a:xfrm>
          <a:prstGeom prst="rect">
            <a:avLst/>
          </a:prstGeom>
          <a:noFill/>
        </p:spPr>
        <p:txBody>
          <a:bodyPr wrap="square" lIns="54864" tIns="27432" rIns="54864" bIns="27432" anchor="ctr">
            <a:spAutoFit/>
          </a:bodyPr>
          <a:lstStyle/>
          <a:p>
            <a:pPr algn="l">
              <a:lnSpc>
                <a:spcPct val="102000"/>
              </a:lnSpc>
            </a:pPr>
            <a:r>
              <a:rPr sz="950" b="0" i="0">
                <a:solidFill>
                  <a:srgbClr val="666666"/>
                </a:solidFill>
                <a:latin typeface="Arial"/>
              </a:rPr>
              <a:t>pour le post-traitement des médias, étape suivante</a:t>
            </a:r>
          </a:p>
        </p:txBody>
      </p:sp>
      <p:sp>
        <p:nvSpPr>
          <p:cNvPr id="36" name="Rounded Rectangle 35"/>
          <p:cNvSpPr/>
          <p:nvPr/>
        </p:nvSpPr>
        <p:spPr>
          <a:xfrm>
            <a:off x="7223760" y="3538727"/>
            <a:ext cx="1280160" cy="329184"/>
          </a:xfrm>
          <a:prstGeom prst="roundRect">
            <a:avLst>
              <a:gd name="adj" fmla="val 50000"/>
            </a:avLst>
          </a:prstGeom>
          <a:solidFill>
            <a:srgbClr val="FFFFFF"/>
          </a:solidFill>
          <a:ln w="9525">
            <a:solidFill>
              <a:srgbClr val="D0E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7223760" y="3538727"/>
            <a:ext cx="1280160" cy="329184"/>
          </a:xfrm>
          <a:prstGeom prst="rect">
            <a:avLst/>
          </a:prstGeom>
          <a:noFill/>
        </p:spPr>
        <p:txBody>
          <a:bodyPr wrap="square" lIns="54864" tIns="27432" rIns="54864" bIns="27432" anchor="ctr">
            <a:spAutoFit/>
          </a:bodyPr>
          <a:lstStyle/>
          <a:p>
            <a:pPr algn="ctr">
              <a:lnSpc>
                <a:spcPct val="100000"/>
              </a:lnSpc>
            </a:pPr>
            <a:r>
              <a:rPr sz="900" b="1" i="0">
                <a:solidFill>
                  <a:srgbClr val="1C7ED6"/>
                </a:solidFill>
                <a:latin typeface="Arial"/>
              </a:rPr>
              <a:t>en cible</a:t>
            </a:r>
          </a:p>
        </p:txBody>
      </p:sp>
      <p:sp>
        <p:nvSpPr>
          <p:cNvPr id="38" name="Rectangle 37"/>
          <p:cNvSpPr/>
          <p:nvPr/>
        </p:nvSpPr>
        <p:spPr>
          <a:xfrm>
            <a:off x="457200" y="4133087"/>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457200" y="4133087"/>
            <a:ext cx="548640" cy="9144"/>
          </a:xfrm>
          <a:prstGeom prst="rect">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457200" y="4206240"/>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1C7ED6"/>
                </a:solidFill>
                <a:latin typeface="Arial"/>
              </a:rPr>
              <a:t>TRAÇABILITÉ DES ARBITRAGES</a:t>
            </a:r>
          </a:p>
        </p:txBody>
      </p:sp>
      <p:sp>
        <p:nvSpPr>
          <p:cNvPr id="41" name="TextBox 40"/>
          <p:cNvSpPr txBox="1"/>
          <p:nvPr/>
        </p:nvSpPr>
        <p:spPr>
          <a:xfrm>
            <a:off x="457200" y="4407407"/>
            <a:ext cx="8229600" cy="274320"/>
          </a:xfrm>
          <a:prstGeom prst="rect">
            <a:avLst/>
          </a:prstGeom>
          <a:noFill/>
        </p:spPr>
        <p:txBody>
          <a:bodyPr wrap="square" lIns="54864" tIns="27432" rIns="54864" bIns="27432" anchor="t">
            <a:spAutoFit/>
          </a:bodyPr>
          <a:lstStyle/>
          <a:p>
            <a:pPr algn="l">
              <a:lnSpc>
                <a:spcPct val="105000"/>
              </a:lnSpc>
            </a:pPr>
            <a:r>
              <a:rPr sz="950" b="0" i="0">
                <a:solidFill>
                  <a:srgbClr val="666666"/>
                </a:solidFill>
                <a:latin typeface="Arial"/>
              </a:rPr>
              <a:t>24 fiches de décision, contexte, alternatives, conséquences assumées   ·   7 préconisations chiffrées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3048000" y="0"/>
            <a:ext cx="1524000" cy="41148"/>
          </a:xfrm>
          <a:prstGeom prst="rect">
            <a:avLst/>
          </a:prstGeom>
          <a:solidFill>
            <a:srgbClr val="674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269480"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10144"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lIns="54864" tIns="27432" rIns="54864" bIns="27432" anchor="t">
            <a:spAutoFit/>
          </a:bodyPr>
          <a:lstStyle/>
          <a:p>
            <a:pPr algn="l">
              <a:lnSpc>
                <a:spcPct val="100000"/>
              </a:lnSpc>
            </a:pPr>
            <a:r>
              <a:rPr sz="750" b="1" i="0" spc="120">
                <a:solidFill>
                  <a:srgbClr val="6741D9"/>
                </a:solidFill>
                <a:latin typeface="Arial"/>
              </a:rPr>
              <a:t>3 · GESTION DE PROJET</a:t>
            </a:r>
          </a:p>
        </p:txBody>
      </p:sp>
      <p:sp>
        <p:nvSpPr>
          <p:cNvPr id="11" name="TextBox 10"/>
          <p:cNvSpPr txBox="1"/>
          <p:nvPr/>
        </p:nvSpPr>
        <p:spPr>
          <a:xfrm>
            <a:off x="457200" y="493776"/>
            <a:ext cx="6720840" cy="566928"/>
          </a:xfrm>
          <a:prstGeom prst="rect">
            <a:avLst/>
          </a:prstGeom>
          <a:noFill/>
        </p:spPr>
        <p:txBody>
          <a:bodyPr wrap="square" lIns="54864" tIns="27432" rIns="54864" bIns="27432" anchor="t">
            <a:spAutoFit/>
          </a:bodyPr>
          <a:lstStyle/>
          <a:p>
            <a:pPr algn="l">
              <a:lnSpc>
                <a:spcPct val="100000"/>
              </a:lnSpc>
            </a:pPr>
            <a:r>
              <a:rPr sz="2400" b="1" i="0" spc="-84">
                <a:solidFill>
                  <a:srgbClr val="171717"/>
                </a:solidFill>
                <a:latin typeface="Arial"/>
              </a:rPr>
              <a:t>Besoins et priorisation</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26679" y="4832604"/>
            <a:ext cx="1143000" cy="237744"/>
          </a:xfrm>
          <a:prstGeom prst="rect">
            <a:avLst/>
          </a:prstGeom>
          <a:noFill/>
        </p:spPr>
        <p:txBody>
          <a:bodyPr wrap="square" lIns="54864" tIns="27432" rIns="54864" bIns="27432" anchor="t">
            <a:spAutoFit/>
          </a:bodyPr>
          <a:lstStyle/>
          <a:p>
            <a:pPr algn="r">
              <a:lnSpc>
                <a:spcPct val="100000"/>
              </a:lnSpc>
            </a:pPr>
            <a:r>
              <a:rPr sz="800" b="0" i="0">
                <a:solidFill>
                  <a:srgbClr val="A1A1A1"/>
                </a:solidFill>
                <a:latin typeface="Arial"/>
              </a:rPr>
              <a:t>10 / 31</a:t>
            </a:r>
          </a:p>
        </p:txBody>
      </p:sp>
      <p:sp>
        <p:nvSpPr>
          <p:cNvPr id="14" name="Rounded Rectangle 13"/>
          <p:cNvSpPr/>
          <p:nvPr/>
        </p:nvSpPr>
        <p:spPr>
          <a:xfrm>
            <a:off x="457200" y="4818888"/>
            <a:ext cx="1051560" cy="228600"/>
          </a:xfrm>
          <a:prstGeom prst="roundRect">
            <a:avLst>
              <a:gd name="adj" fmla="val 25000"/>
            </a:avLst>
          </a:prstGeom>
          <a:solidFill>
            <a:srgbClr val="674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4818888"/>
            <a:ext cx="1051560" cy="228600"/>
          </a:xfrm>
          <a:prstGeom prst="rect">
            <a:avLst/>
          </a:prstGeom>
          <a:noFill/>
        </p:spPr>
        <p:txBody>
          <a:bodyPr wrap="square" lIns="54864" tIns="27432" rIns="54864" bIns="27432" anchor="ctr">
            <a:spAutoFit/>
          </a:bodyPr>
          <a:lstStyle/>
          <a:p>
            <a:pPr algn="ctr">
              <a:lnSpc>
                <a:spcPct val="100000"/>
              </a:lnSpc>
            </a:pPr>
            <a:r>
              <a:rPr sz="750" b="1" i="0">
                <a:solidFill>
                  <a:srgbClr val="FFFFFF"/>
                </a:solidFill>
                <a:latin typeface="Arial"/>
              </a:rPr>
              <a:t>Réf.  C10 à C13</a:t>
            </a:r>
          </a:p>
        </p:txBody>
      </p:sp>
      <p:sp>
        <p:nvSpPr>
          <p:cNvPr id="16" name="TextBox 15"/>
          <p:cNvSpPr txBox="1"/>
          <p:nvPr/>
        </p:nvSpPr>
        <p:spPr>
          <a:xfrm>
            <a:off x="1600200" y="4818888"/>
            <a:ext cx="5486400" cy="228600"/>
          </a:xfrm>
          <a:prstGeom prst="rect">
            <a:avLst/>
          </a:prstGeom>
          <a:noFill/>
        </p:spPr>
        <p:txBody>
          <a:bodyPr wrap="square" lIns="54864" tIns="27432" rIns="54864" bIns="27432" anchor="ctr">
            <a:spAutoFit/>
          </a:bodyPr>
          <a:lstStyle/>
          <a:p>
            <a:pPr algn="l">
              <a:lnSpc>
                <a:spcPct val="100000"/>
              </a:lnSpc>
            </a:pPr>
            <a:r>
              <a:rPr sz="750" b="0" i="0">
                <a:solidFill>
                  <a:srgbClr val="A1A1A1"/>
                </a:solidFill>
                <a:latin typeface="Arial"/>
              </a:rPr>
              <a:t>BC2 · mémoire 11.2 · annexes W, X, G</a:t>
            </a:r>
          </a:p>
        </p:txBody>
      </p:sp>
      <p:sp>
        <p:nvSpPr>
          <p:cNvPr id="17" name="TextBox 16"/>
          <p:cNvSpPr txBox="1"/>
          <p:nvPr/>
        </p:nvSpPr>
        <p:spPr>
          <a:xfrm>
            <a:off x="457200" y="1225296"/>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PRIORISATION MoSCoW  ·  24 EXIGENCES LIVRABLES, 121 POINTS  ·  DEUX EXEMPLES RÉELS PAR CATÉGORIE</a:t>
            </a:r>
          </a:p>
        </p:txBody>
      </p:sp>
      <p:sp>
        <p:nvSpPr>
          <p:cNvPr id="18" name="Rounded Rectangle 17"/>
          <p:cNvSpPr/>
          <p:nvPr/>
        </p:nvSpPr>
        <p:spPr>
          <a:xfrm>
            <a:off x="457200" y="1481328"/>
            <a:ext cx="868680" cy="548640"/>
          </a:xfrm>
          <a:prstGeom prst="roundRect">
            <a:avLst>
              <a:gd name="adj" fmla="val 10416"/>
            </a:avLst>
          </a:prstGeom>
          <a:solidFill>
            <a:srgbClr val="D3F9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200" y="1481328"/>
            <a:ext cx="868680" cy="548640"/>
          </a:xfrm>
          <a:prstGeom prst="rect">
            <a:avLst/>
          </a:prstGeom>
          <a:noFill/>
        </p:spPr>
        <p:txBody>
          <a:bodyPr wrap="square" lIns="54864" tIns="27432" rIns="54864" bIns="27432" anchor="ctr">
            <a:spAutoFit/>
          </a:bodyPr>
          <a:lstStyle/>
          <a:p>
            <a:pPr algn="ctr">
              <a:lnSpc>
                <a:spcPct val="100000"/>
              </a:lnSpc>
            </a:pPr>
            <a:r>
              <a:rPr sz="1050" b="1" i="0">
                <a:solidFill>
                  <a:srgbClr val="171717"/>
                </a:solidFill>
                <a:latin typeface="Arial"/>
              </a:rPr>
              <a:t>Must</a:t>
            </a:r>
          </a:p>
        </p:txBody>
      </p:sp>
      <p:sp>
        <p:nvSpPr>
          <p:cNvPr id="20" name="TextBox 19"/>
          <p:cNvSpPr txBox="1"/>
          <p:nvPr/>
        </p:nvSpPr>
        <p:spPr>
          <a:xfrm>
            <a:off x="1444752" y="1536192"/>
            <a:ext cx="1737360" cy="219456"/>
          </a:xfrm>
          <a:prstGeom prst="rect">
            <a:avLst/>
          </a:prstGeom>
          <a:noFill/>
        </p:spPr>
        <p:txBody>
          <a:bodyPr wrap="square" lIns="54864" tIns="27432" rIns="54864" bIns="27432" anchor="t">
            <a:spAutoFit/>
          </a:bodyPr>
          <a:lstStyle/>
          <a:p>
            <a:pPr algn="l">
              <a:lnSpc>
                <a:spcPct val="100000"/>
              </a:lnSpc>
            </a:pPr>
            <a:r>
              <a:rPr sz="850" b="1" i="0">
                <a:solidFill>
                  <a:srgbClr val="171717"/>
                </a:solidFill>
                <a:latin typeface="Arial"/>
              </a:rPr>
              <a:t>indispensable</a:t>
            </a:r>
          </a:p>
        </p:txBody>
      </p:sp>
      <p:sp>
        <p:nvSpPr>
          <p:cNvPr id="21" name="TextBox 20"/>
          <p:cNvSpPr txBox="1"/>
          <p:nvPr/>
        </p:nvSpPr>
        <p:spPr>
          <a:xfrm>
            <a:off x="1444752" y="1755648"/>
            <a:ext cx="1737360" cy="219456"/>
          </a:xfrm>
          <a:prstGeom prst="rect">
            <a:avLst/>
          </a:prstGeom>
          <a:noFill/>
        </p:spPr>
        <p:txBody>
          <a:bodyPr wrap="square" lIns="54864" tIns="27432" rIns="54864" bIns="27432" anchor="t">
            <a:spAutoFit/>
          </a:bodyPr>
          <a:lstStyle/>
          <a:p>
            <a:pPr algn="l">
              <a:lnSpc>
                <a:spcPct val="100000"/>
              </a:lnSpc>
            </a:pPr>
            <a:r>
              <a:rPr sz="750" b="0" i="0">
                <a:solidFill>
                  <a:srgbClr val="8F8F8F"/>
                </a:solidFill>
                <a:latin typeface="Arial"/>
              </a:rPr>
              <a:t>17 exigences · 94 points · 78 %</a:t>
            </a:r>
          </a:p>
        </p:txBody>
      </p:sp>
      <p:sp>
        <p:nvSpPr>
          <p:cNvPr id="22" name="Rounded Rectangle 21"/>
          <p:cNvSpPr/>
          <p:nvPr/>
        </p:nvSpPr>
        <p:spPr>
          <a:xfrm>
            <a:off x="3246120" y="1527048"/>
            <a:ext cx="566928" cy="219456"/>
          </a:xfrm>
          <a:prstGeom prst="roundRect">
            <a:avLst>
              <a:gd name="adj" fmla="val 15625"/>
            </a:avLst>
          </a:prstGeom>
          <a:solidFill>
            <a:srgbClr val="D3F9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246120" y="1527048"/>
            <a:ext cx="566928" cy="219456"/>
          </a:xfrm>
          <a:prstGeom prst="rect">
            <a:avLst/>
          </a:prstGeom>
          <a:noFill/>
        </p:spPr>
        <p:txBody>
          <a:bodyPr wrap="square" lIns="54864" tIns="27432" rIns="54864" bIns="27432" anchor="ctr">
            <a:spAutoFit/>
          </a:bodyPr>
          <a:lstStyle/>
          <a:p>
            <a:pPr algn="ctr">
              <a:lnSpc>
                <a:spcPct val="100000"/>
              </a:lnSpc>
            </a:pPr>
            <a:r>
              <a:rPr sz="700" b="1" i="0">
                <a:solidFill>
                  <a:srgbClr val="171717"/>
                </a:solidFill>
                <a:latin typeface="Arial"/>
              </a:rPr>
              <a:t>US-16</a:t>
            </a:r>
          </a:p>
        </p:txBody>
      </p:sp>
      <p:sp>
        <p:nvSpPr>
          <p:cNvPr id="24" name="TextBox 23"/>
          <p:cNvSpPr txBox="1"/>
          <p:nvPr/>
        </p:nvSpPr>
        <p:spPr>
          <a:xfrm>
            <a:off x="3913632" y="1527048"/>
            <a:ext cx="4206240" cy="219456"/>
          </a:xfrm>
          <a:prstGeom prst="rect">
            <a:avLst/>
          </a:prstGeom>
          <a:noFill/>
        </p:spPr>
        <p:txBody>
          <a:bodyPr wrap="square" lIns="54864" tIns="27432" rIns="54864" bIns="27432" anchor="ctr">
            <a:spAutoFit/>
          </a:bodyPr>
          <a:lstStyle/>
          <a:p>
            <a:pPr algn="l">
              <a:lnSpc>
                <a:spcPct val="100000"/>
              </a:lnSpc>
            </a:pPr>
            <a:r>
              <a:rPr sz="850" b="0" i="0">
                <a:solidFill>
                  <a:srgbClr val="171717"/>
                </a:solidFill>
                <a:latin typeface="Arial"/>
              </a:rPr>
              <a:t>Ne voir que ce qui a été explicitement publié</a:t>
            </a:r>
          </a:p>
        </p:txBody>
      </p:sp>
      <p:sp>
        <p:nvSpPr>
          <p:cNvPr id="25" name="TextBox 24"/>
          <p:cNvSpPr txBox="1"/>
          <p:nvPr/>
        </p:nvSpPr>
        <p:spPr>
          <a:xfrm>
            <a:off x="8138160" y="1527048"/>
            <a:ext cx="548640" cy="219456"/>
          </a:xfrm>
          <a:prstGeom prst="rect">
            <a:avLst/>
          </a:prstGeom>
          <a:noFill/>
        </p:spPr>
        <p:txBody>
          <a:bodyPr wrap="square" lIns="54864" tIns="27432" rIns="54864" bIns="27432" anchor="ctr">
            <a:spAutoFit/>
          </a:bodyPr>
          <a:lstStyle/>
          <a:p>
            <a:pPr algn="r">
              <a:lnSpc>
                <a:spcPct val="100000"/>
              </a:lnSpc>
            </a:pPr>
            <a:r>
              <a:rPr sz="750" b="1" i="0">
                <a:solidFill>
                  <a:srgbClr val="8F8F8F"/>
                </a:solidFill>
                <a:latin typeface="Arial"/>
              </a:rPr>
              <a:t>3 pts</a:t>
            </a:r>
          </a:p>
        </p:txBody>
      </p:sp>
      <p:sp>
        <p:nvSpPr>
          <p:cNvPr id="26" name="Rounded Rectangle 25"/>
          <p:cNvSpPr/>
          <p:nvPr/>
        </p:nvSpPr>
        <p:spPr>
          <a:xfrm>
            <a:off x="3246120" y="1773936"/>
            <a:ext cx="566928" cy="219456"/>
          </a:xfrm>
          <a:prstGeom prst="roundRect">
            <a:avLst>
              <a:gd name="adj" fmla="val 15625"/>
            </a:avLst>
          </a:prstGeom>
          <a:solidFill>
            <a:srgbClr val="D3F9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246120" y="1773936"/>
            <a:ext cx="566928" cy="219456"/>
          </a:xfrm>
          <a:prstGeom prst="rect">
            <a:avLst/>
          </a:prstGeom>
          <a:noFill/>
        </p:spPr>
        <p:txBody>
          <a:bodyPr wrap="square" lIns="54864" tIns="27432" rIns="54864" bIns="27432" anchor="ctr">
            <a:spAutoFit/>
          </a:bodyPr>
          <a:lstStyle/>
          <a:p>
            <a:pPr algn="ctr">
              <a:lnSpc>
                <a:spcPct val="100000"/>
              </a:lnSpc>
            </a:pPr>
            <a:r>
              <a:rPr sz="700" b="1" i="0">
                <a:solidFill>
                  <a:srgbClr val="171717"/>
                </a:solidFill>
                <a:latin typeface="Arial"/>
              </a:rPr>
              <a:t>US-04</a:t>
            </a:r>
          </a:p>
        </p:txBody>
      </p:sp>
      <p:sp>
        <p:nvSpPr>
          <p:cNvPr id="28" name="TextBox 27"/>
          <p:cNvSpPr txBox="1"/>
          <p:nvPr/>
        </p:nvSpPr>
        <p:spPr>
          <a:xfrm>
            <a:off x="3913632" y="1773936"/>
            <a:ext cx="4206240" cy="219456"/>
          </a:xfrm>
          <a:prstGeom prst="rect">
            <a:avLst/>
          </a:prstGeom>
          <a:noFill/>
        </p:spPr>
        <p:txBody>
          <a:bodyPr wrap="square" lIns="54864" tIns="27432" rIns="54864" bIns="27432" anchor="ctr">
            <a:spAutoFit/>
          </a:bodyPr>
          <a:lstStyle/>
          <a:p>
            <a:pPr algn="l">
              <a:lnSpc>
                <a:spcPct val="100000"/>
              </a:lnSpc>
            </a:pPr>
            <a:r>
              <a:rPr sz="850" b="0" i="0">
                <a:solidFill>
                  <a:srgbClr val="171717"/>
                </a:solidFill>
                <a:latin typeface="Arial"/>
              </a:rPr>
              <a:t>Téléverser sans saturer la mémoire du serveur</a:t>
            </a:r>
          </a:p>
        </p:txBody>
      </p:sp>
      <p:sp>
        <p:nvSpPr>
          <p:cNvPr id="29" name="TextBox 28"/>
          <p:cNvSpPr txBox="1"/>
          <p:nvPr/>
        </p:nvSpPr>
        <p:spPr>
          <a:xfrm>
            <a:off x="8138160" y="1773936"/>
            <a:ext cx="548640" cy="219456"/>
          </a:xfrm>
          <a:prstGeom prst="rect">
            <a:avLst/>
          </a:prstGeom>
          <a:noFill/>
        </p:spPr>
        <p:txBody>
          <a:bodyPr wrap="square" lIns="54864" tIns="27432" rIns="54864" bIns="27432" anchor="ctr">
            <a:spAutoFit/>
          </a:bodyPr>
          <a:lstStyle/>
          <a:p>
            <a:pPr algn="r">
              <a:lnSpc>
                <a:spcPct val="100000"/>
              </a:lnSpc>
            </a:pPr>
            <a:r>
              <a:rPr sz="750" b="1" i="0">
                <a:solidFill>
                  <a:srgbClr val="8F8F8F"/>
                </a:solidFill>
                <a:latin typeface="Arial"/>
              </a:rPr>
              <a:t>8 pts</a:t>
            </a:r>
          </a:p>
        </p:txBody>
      </p:sp>
      <p:sp>
        <p:nvSpPr>
          <p:cNvPr id="30" name="Rounded Rectangle 29"/>
          <p:cNvSpPr/>
          <p:nvPr/>
        </p:nvSpPr>
        <p:spPr>
          <a:xfrm>
            <a:off x="457200" y="2103120"/>
            <a:ext cx="868680" cy="548640"/>
          </a:xfrm>
          <a:prstGeom prst="roundRect">
            <a:avLst>
              <a:gd name="adj" fmla="val 10416"/>
            </a:avLst>
          </a:prstGeom>
          <a:solidFill>
            <a:srgbClr val="D0E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57200" y="2103120"/>
            <a:ext cx="868680" cy="548640"/>
          </a:xfrm>
          <a:prstGeom prst="rect">
            <a:avLst/>
          </a:prstGeom>
          <a:noFill/>
        </p:spPr>
        <p:txBody>
          <a:bodyPr wrap="square" lIns="54864" tIns="27432" rIns="54864" bIns="27432" anchor="ctr">
            <a:spAutoFit/>
          </a:bodyPr>
          <a:lstStyle/>
          <a:p>
            <a:pPr algn="ctr">
              <a:lnSpc>
                <a:spcPct val="100000"/>
              </a:lnSpc>
            </a:pPr>
            <a:r>
              <a:rPr sz="1050" b="1" i="0">
                <a:solidFill>
                  <a:srgbClr val="171717"/>
                </a:solidFill>
                <a:latin typeface="Arial"/>
              </a:rPr>
              <a:t>Should</a:t>
            </a:r>
          </a:p>
        </p:txBody>
      </p:sp>
      <p:sp>
        <p:nvSpPr>
          <p:cNvPr id="32" name="TextBox 31"/>
          <p:cNvSpPr txBox="1"/>
          <p:nvPr/>
        </p:nvSpPr>
        <p:spPr>
          <a:xfrm>
            <a:off x="1444752" y="2157984"/>
            <a:ext cx="1737360" cy="219456"/>
          </a:xfrm>
          <a:prstGeom prst="rect">
            <a:avLst/>
          </a:prstGeom>
          <a:noFill/>
        </p:spPr>
        <p:txBody>
          <a:bodyPr wrap="square" lIns="54864" tIns="27432" rIns="54864" bIns="27432" anchor="t">
            <a:spAutoFit/>
          </a:bodyPr>
          <a:lstStyle/>
          <a:p>
            <a:pPr algn="l">
              <a:lnSpc>
                <a:spcPct val="100000"/>
              </a:lnSpc>
            </a:pPr>
            <a:r>
              <a:rPr sz="850" b="1" i="0">
                <a:solidFill>
                  <a:srgbClr val="171717"/>
                </a:solidFill>
                <a:latin typeface="Arial"/>
              </a:rPr>
              <a:t>attendue, reportée si tension</a:t>
            </a:r>
          </a:p>
        </p:txBody>
      </p:sp>
      <p:sp>
        <p:nvSpPr>
          <p:cNvPr id="33" name="TextBox 32"/>
          <p:cNvSpPr txBox="1"/>
          <p:nvPr/>
        </p:nvSpPr>
        <p:spPr>
          <a:xfrm>
            <a:off x="1444752" y="2377440"/>
            <a:ext cx="1737360" cy="219456"/>
          </a:xfrm>
          <a:prstGeom prst="rect">
            <a:avLst/>
          </a:prstGeom>
          <a:noFill/>
        </p:spPr>
        <p:txBody>
          <a:bodyPr wrap="square" lIns="54864" tIns="27432" rIns="54864" bIns="27432" anchor="t">
            <a:spAutoFit/>
          </a:bodyPr>
          <a:lstStyle/>
          <a:p>
            <a:pPr algn="l">
              <a:lnSpc>
                <a:spcPct val="100000"/>
              </a:lnSpc>
            </a:pPr>
            <a:r>
              <a:rPr sz="750" b="0" i="0">
                <a:solidFill>
                  <a:srgbClr val="8F8F8F"/>
                </a:solidFill>
                <a:latin typeface="Arial"/>
              </a:rPr>
              <a:t>4 exigences · 16 points · 13 %</a:t>
            </a:r>
          </a:p>
        </p:txBody>
      </p:sp>
      <p:sp>
        <p:nvSpPr>
          <p:cNvPr id="34" name="Rounded Rectangle 33"/>
          <p:cNvSpPr/>
          <p:nvPr/>
        </p:nvSpPr>
        <p:spPr>
          <a:xfrm>
            <a:off x="3246120" y="2148840"/>
            <a:ext cx="566928" cy="219456"/>
          </a:xfrm>
          <a:prstGeom prst="roundRect">
            <a:avLst>
              <a:gd name="adj" fmla="val 15625"/>
            </a:avLst>
          </a:prstGeom>
          <a:solidFill>
            <a:srgbClr val="D0E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3246120" y="2148840"/>
            <a:ext cx="566928" cy="219456"/>
          </a:xfrm>
          <a:prstGeom prst="rect">
            <a:avLst/>
          </a:prstGeom>
          <a:noFill/>
        </p:spPr>
        <p:txBody>
          <a:bodyPr wrap="square" lIns="54864" tIns="27432" rIns="54864" bIns="27432" anchor="ctr">
            <a:spAutoFit/>
          </a:bodyPr>
          <a:lstStyle/>
          <a:p>
            <a:pPr algn="ctr">
              <a:lnSpc>
                <a:spcPct val="100000"/>
              </a:lnSpc>
            </a:pPr>
            <a:r>
              <a:rPr sz="700" b="1" i="0">
                <a:solidFill>
                  <a:srgbClr val="171717"/>
                </a:solidFill>
                <a:latin typeface="Arial"/>
              </a:rPr>
              <a:t>US-07</a:t>
            </a:r>
          </a:p>
        </p:txBody>
      </p:sp>
      <p:sp>
        <p:nvSpPr>
          <p:cNvPr id="36" name="TextBox 35"/>
          <p:cNvSpPr txBox="1"/>
          <p:nvPr/>
        </p:nvSpPr>
        <p:spPr>
          <a:xfrm>
            <a:off x="3913632" y="2148840"/>
            <a:ext cx="4206240" cy="219456"/>
          </a:xfrm>
          <a:prstGeom prst="rect">
            <a:avLst/>
          </a:prstGeom>
          <a:noFill/>
        </p:spPr>
        <p:txBody>
          <a:bodyPr wrap="square" lIns="54864" tIns="27432" rIns="54864" bIns="27432" anchor="ctr">
            <a:spAutoFit/>
          </a:bodyPr>
          <a:lstStyle/>
          <a:p>
            <a:pPr algn="l">
              <a:lnSpc>
                <a:spcPct val="100000"/>
              </a:lnSpc>
            </a:pPr>
            <a:r>
              <a:rPr sz="850" b="0" i="0">
                <a:solidFill>
                  <a:srgbClr val="171717"/>
                </a:solidFill>
                <a:latin typeface="Arial"/>
              </a:rPr>
              <a:t>Constituer un album et définir sa couverture</a:t>
            </a:r>
          </a:p>
        </p:txBody>
      </p:sp>
      <p:sp>
        <p:nvSpPr>
          <p:cNvPr id="37" name="TextBox 36"/>
          <p:cNvSpPr txBox="1"/>
          <p:nvPr/>
        </p:nvSpPr>
        <p:spPr>
          <a:xfrm>
            <a:off x="8138160" y="2148840"/>
            <a:ext cx="548640" cy="219456"/>
          </a:xfrm>
          <a:prstGeom prst="rect">
            <a:avLst/>
          </a:prstGeom>
          <a:noFill/>
        </p:spPr>
        <p:txBody>
          <a:bodyPr wrap="square" lIns="54864" tIns="27432" rIns="54864" bIns="27432" anchor="ctr">
            <a:spAutoFit/>
          </a:bodyPr>
          <a:lstStyle/>
          <a:p>
            <a:pPr algn="r">
              <a:lnSpc>
                <a:spcPct val="100000"/>
              </a:lnSpc>
            </a:pPr>
            <a:r>
              <a:rPr sz="750" b="1" i="0">
                <a:solidFill>
                  <a:srgbClr val="8F8F8F"/>
                </a:solidFill>
                <a:latin typeface="Arial"/>
              </a:rPr>
              <a:t>5 pts</a:t>
            </a:r>
          </a:p>
        </p:txBody>
      </p:sp>
      <p:sp>
        <p:nvSpPr>
          <p:cNvPr id="38" name="Rounded Rectangle 37"/>
          <p:cNvSpPr/>
          <p:nvPr/>
        </p:nvSpPr>
        <p:spPr>
          <a:xfrm>
            <a:off x="3246120" y="2395728"/>
            <a:ext cx="566928" cy="219456"/>
          </a:xfrm>
          <a:prstGeom prst="roundRect">
            <a:avLst>
              <a:gd name="adj" fmla="val 15625"/>
            </a:avLst>
          </a:prstGeom>
          <a:solidFill>
            <a:srgbClr val="D0E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3246120" y="2395728"/>
            <a:ext cx="566928" cy="219456"/>
          </a:xfrm>
          <a:prstGeom prst="rect">
            <a:avLst/>
          </a:prstGeom>
          <a:noFill/>
        </p:spPr>
        <p:txBody>
          <a:bodyPr wrap="square" lIns="54864" tIns="27432" rIns="54864" bIns="27432" anchor="ctr">
            <a:spAutoFit/>
          </a:bodyPr>
          <a:lstStyle/>
          <a:p>
            <a:pPr algn="ctr">
              <a:lnSpc>
                <a:spcPct val="100000"/>
              </a:lnSpc>
            </a:pPr>
            <a:r>
              <a:rPr sz="700" b="1" i="0">
                <a:solidFill>
                  <a:srgbClr val="171717"/>
                </a:solidFill>
                <a:latin typeface="Arial"/>
              </a:rPr>
              <a:t>US-19</a:t>
            </a:r>
          </a:p>
        </p:txBody>
      </p:sp>
      <p:sp>
        <p:nvSpPr>
          <p:cNvPr id="40" name="TextBox 39"/>
          <p:cNvSpPr txBox="1"/>
          <p:nvPr/>
        </p:nvSpPr>
        <p:spPr>
          <a:xfrm>
            <a:off x="3913632" y="2395728"/>
            <a:ext cx="4206240" cy="219456"/>
          </a:xfrm>
          <a:prstGeom prst="rect">
            <a:avLst/>
          </a:prstGeom>
          <a:noFill/>
        </p:spPr>
        <p:txBody>
          <a:bodyPr wrap="square" lIns="54864" tIns="27432" rIns="54864" bIns="27432" anchor="ctr">
            <a:spAutoFit/>
          </a:bodyPr>
          <a:lstStyle/>
          <a:p>
            <a:pPr algn="l">
              <a:lnSpc>
                <a:spcPct val="100000"/>
              </a:lnSpc>
            </a:pPr>
            <a:r>
              <a:rPr sz="850" b="0" i="0">
                <a:solidFill>
                  <a:srgbClr val="171717"/>
                </a:solidFill>
                <a:latin typeface="Arial"/>
              </a:rPr>
              <a:t>Obtenir et faire tourner une clé d’API personnelle</a:t>
            </a:r>
          </a:p>
        </p:txBody>
      </p:sp>
      <p:sp>
        <p:nvSpPr>
          <p:cNvPr id="41" name="TextBox 40"/>
          <p:cNvSpPr txBox="1"/>
          <p:nvPr/>
        </p:nvSpPr>
        <p:spPr>
          <a:xfrm>
            <a:off x="8138160" y="2395728"/>
            <a:ext cx="548640" cy="219456"/>
          </a:xfrm>
          <a:prstGeom prst="rect">
            <a:avLst/>
          </a:prstGeom>
          <a:noFill/>
        </p:spPr>
        <p:txBody>
          <a:bodyPr wrap="square" lIns="54864" tIns="27432" rIns="54864" bIns="27432" anchor="ctr">
            <a:spAutoFit/>
          </a:bodyPr>
          <a:lstStyle/>
          <a:p>
            <a:pPr algn="r">
              <a:lnSpc>
                <a:spcPct val="100000"/>
              </a:lnSpc>
            </a:pPr>
            <a:r>
              <a:rPr sz="750" b="1" i="0">
                <a:solidFill>
                  <a:srgbClr val="8F8F8F"/>
                </a:solidFill>
                <a:latin typeface="Arial"/>
              </a:rPr>
              <a:t>5 pts</a:t>
            </a:r>
          </a:p>
        </p:txBody>
      </p:sp>
      <p:sp>
        <p:nvSpPr>
          <p:cNvPr id="42" name="Rounded Rectangle 41"/>
          <p:cNvSpPr/>
          <p:nvPr/>
        </p:nvSpPr>
        <p:spPr>
          <a:xfrm>
            <a:off x="457200" y="2724912"/>
            <a:ext cx="868680" cy="548640"/>
          </a:xfrm>
          <a:prstGeom prst="roundRect">
            <a:avLst>
              <a:gd name="adj" fmla="val 10416"/>
            </a:avLst>
          </a:prstGeom>
          <a:solidFill>
            <a:srgbClr val="FFF3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57200" y="2724912"/>
            <a:ext cx="868680" cy="548640"/>
          </a:xfrm>
          <a:prstGeom prst="rect">
            <a:avLst/>
          </a:prstGeom>
          <a:noFill/>
        </p:spPr>
        <p:txBody>
          <a:bodyPr wrap="square" lIns="54864" tIns="27432" rIns="54864" bIns="27432" anchor="ctr">
            <a:spAutoFit/>
          </a:bodyPr>
          <a:lstStyle/>
          <a:p>
            <a:pPr algn="ctr">
              <a:lnSpc>
                <a:spcPct val="100000"/>
              </a:lnSpc>
            </a:pPr>
            <a:r>
              <a:rPr sz="1050" b="1" i="0">
                <a:solidFill>
                  <a:srgbClr val="171717"/>
                </a:solidFill>
                <a:latin typeface="Arial"/>
              </a:rPr>
              <a:t>Could</a:t>
            </a:r>
          </a:p>
        </p:txBody>
      </p:sp>
      <p:sp>
        <p:nvSpPr>
          <p:cNvPr id="44" name="TextBox 43"/>
          <p:cNvSpPr txBox="1"/>
          <p:nvPr/>
        </p:nvSpPr>
        <p:spPr>
          <a:xfrm>
            <a:off x="1444752" y="2779776"/>
            <a:ext cx="1737360" cy="219456"/>
          </a:xfrm>
          <a:prstGeom prst="rect">
            <a:avLst/>
          </a:prstGeom>
          <a:noFill/>
        </p:spPr>
        <p:txBody>
          <a:bodyPr wrap="square" lIns="54864" tIns="27432" rIns="54864" bIns="27432" anchor="t">
            <a:spAutoFit/>
          </a:bodyPr>
          <a:lstStyle/>
          <a:p>
            <a:pPr algn="l">
              <a:lnSpc>
                <a:spcPct val="100000"/>
              </a:lnSpc>
            </a:pPr>
            <a:r>
              <a:rPr sz="850" b="1" i="0">
                <a:solidFill>
                  <a:srgbClr val="171717"/>
                </a:solidFill>
                <a:latin typeface="Arial"/>
              </a:rPr>
              <a:t>confort, livrée si la capacité le permet</a:t>
            </a:r>
          </a:p>
        </p:txBody>
      </p:sp>
      <p:sp>
        <p:nvSpPr>
          <p:cNvPr id="45" name="TextBox 44"/>
          <p:cNvSpPr txBox="1"/>
          <p:nvPr/>
        </p:nvSpPr>
        <p:spPr>
          <a:xfrm>
            <a:off x="1444752" y="2999232"/>
            <a:ext cx="1737360" cy="219456"/>
          </a:xfrm>
          <a:prstGeom prst="rect">
            <a:avLst/>
          </a:prstGeom>
          <a:noFill/>
        </p:spPr>
        <p:txBody>
          <a:bodyPr wrap="square" lIns="54864" tIns="27432" rIns="54864" bIns="27432" anchor="t">
            <a:spAutoFit/>
          </a:bodyPr>
          <a:lstStyle/>
          <a:p>
            <a:pPr algn="l">
              <a:lnSpc>
                <a:spcPct val="100000"/>
              </a:lnSpc>
            </a:pPr>
            <a:r>
              <a:rPr sz="750" b="0" i="0">
                <a:solidFill>
                  <a:srgbClr val="8F8F8F"/>
                </a:solidFill>
                <a:latin typeface="Arial"/>
              </a:rPr>
              <a:t>3 exigences · 11 points · 9 %</a:t>
            </a:r>
          </a:p>
        </p:txBody>
      </p:sp>
      <p:sp>
        <p:nvSpPr>
          <p:cNvPr id="46" name="Rounded Rectangle 45"/>
          <p:cNvSpPr/>
          <p:nvPr/>
        </p:nvSpPr>
        <p:spPr>
          <a:xfrm>
            <a:off x="3246120" y="2770632"/>
            <a:ext cx="566928" cy="219456"/>
          </a:xfrm>
          <a:prstGeom prst="roundRect">
            <a:avLst>
              <a:gd name="adj" fmla="val 15625"/>
            </a:avLst>
          </a:prstGeom>
          <a:solidFill>
            <a:srgbClr val="FFF3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3246120" y="2770632"/>
            <a:ext cx="566928" cy="219456"/>
          </a:xfrm>
          <a:prstGeom prst="rect">
            <a:avLst/>
          </a:prstGeom>
          <a:noFill/>
        </p:spPr>
        <p:txBody>
          <a:bodyPr wrap="square" lIns="54864" tIns="27432" rIns="54864" bIns="27432" anchor="ctr">
            <a:spAutoFit/>
          </a:bodyPr>
          <a:lstStyle/>
          <a:p>
            <a:pPr algn="ctr">
              <a:lnSpc>
                <a:spcPct val="100000"/>
              </a:lnSpc>
            </a:pPr>
            <a:r>
              <a:rPr sz="700" b="1" i="0">
                <a:solidFill>
                  <a:srgbClr val="171717"/>
                </a:solidFill>
                <a:latin typeface="Arial"/>
              </a:rPr>
              <a:t>US-17</a:t>
            </a:r>
          </a:p>
        </p:txBody>
      </p:sp>
      <p:sp>
        <p:nvSpPr>
          <p:cNvPr id="48" name="TextBox 47"/>
          <p:cNvSpPr txBox="1"/>
          <p:nvPr/>
        </p:nvSpPr>
        <p:spPr>
          <a:xfrm>
            <a:off x="3913632" y="2770632"/>
            <a:ext cx="4206240" cy="219456"/>
          </a:xfrm>
          <a:prstGeom prst="rect">
            <a:avLst/>
          </a:prstGeom>
          <a:noFill/>
        </p:spPr>
        <p:txBody>
          <a:bodyPr wrap="square" lIns="54864" tIns="27432" rIns="54864" bIns="27432" anchor="ctr">
            <a:spAutoFit/>
          </a:bodyPr>
          <a:lstStyle/>
          <a:p>
            <a:pPr algn="l">
              <a:lnSpc>
                <a:spcPct val="100000"/>
              </a:lnSpc>
            </a:pPr>
            <a:r>
              <a:rPr sz="850" b="0" i="0">
                <a:solidFill>
                  <a:srgbClr val="171717"/>
                </a:solidFill>
                <a:latin typeface="Arial"/>
              </a:rPr>
              <a:t>Rechercher un profil par son pseudonyme</a:t>
            </a:r>
          </a:p>
        </p:txBody>
      </p:sp>
      <p:sp>
        <p:nvSpPr>
          <p:cNvPr id="49" name="TextBox 48"/>
          <p:cNvSpPr txBox="1"/>
          <p:nvPr/>
        </p:nvSpPr>
        <p:spPr>
          <a:xfrm>
            <a:off x="8138160" y="2770632"/>
            <a:ext cx="548640" cy="219456"/>
          </a:xfrm>
          <a:prstGeom prst="rect">
            <a:avLst/>
          </a:prstGeom>
          <a:noFill/>
        </p:spPr>
        <p:txBody>
          <a:bodyPr wrap="square" lIns="54864" tIns="27432" rIns="54864" bIns="27432" anchor="ctr">
            <a:spAutoFit/>
          </a:bodyPr>
          <a:lstStyle/>
          <a:p>
            <a:pPr algn="r">
              <a:lnSpc>
                <a:spcPct val="100000"/>
              </a:lnSpc>
            </a:pPr>
            <a:r>
              <a:rPr sz="750" b="1" i="0">
                <a:solidFill>
                  <a:srgbClr val="8F8F8F"/>
                </a:solidFill>
                <a:latin typeface="Arial"/>
              </a:rPr>
              <a:t>3 pts</a:t>
            </a:r>
          </a:p>
        </p:txBody>
      </p:sp>
      <p:sp>
        <p:nvSpPr>
          <p:cNvPr id="50" name="Rounded Rectangle 49"/>
          <p:cNvSpPr/>
          <p:nvPr/>
        </p:nvSpPr>
        <p:spPr>
          <a:xfrm>
            <a:off x="3246120" y="3017520"/>
            <a:ext cx="566928" cy="219456"/>
          </a:xfrm>
          <a:prstGeom prst="roundRect">
            <a:avLst>
              <a:gd name="adj" fmla="val 15625"/>
            </a:avLst>
          </a:prstGeom>
          <a:solidFill>
            <a:srgbClr val="FFF3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3246120" y="3017520"/>
            <a:ext cx="566928" cy="219456"/>
          </a:xfrm>
          <a:prstGeom prst="rect">
            <a:avLst/>
          </a:prstGeom>
          <a:noFill/>
        </p:spPr>
        <p:txBody>
          <a:bodyPr wrap="square" lIns="54864" tIns="27432" rIns="54864" bIns="27432" anchor="ctr">
            <a:spAutoFit/>
          </a:bodyPr>
          <a:lstStyle/>
          <a:p>
            <a:pPr algn="ctr">
              <a:lnSpc>
                <a:spcPct val="100000"/>
              </a:lnSpc>
            </a:pPr>
            <a:r>
              <a:rPr sz="700" b="1" i="0">
                <a:solidFill>
                  <a:srgbClr val="171717"/>
                </a:solidFill>
                <a:latin typeface="Arial"/>
              </a:rPr>
              <a:t>US-18</a:t>
            </a:r>
          </a:p>
        </p:txBody>
      </p:sp>
      <p:sp>
        <p:nvSpPr>
          <p:cNvPr id="52" name="TextBox 51"/>
          <p:cNvSpPr txBox="1"/>
          <p:nvPr/>
        </p:nvSpPr>
        <p:spPr>
          <a:xfrm>
            <a:off x="3913632" y="3017520"/>
            <a:ext cx="4206240" cy="219456"/>
          </a:xfrm>
          <a:prstGeom prst="rect">
            <a:avLst/>
          </a:prstGeom>
          <a:noFill/>
        </p:spPr>
        <p:txBody>
          <a:bodyPr wrap="square" lIns="54864" tIns="27432" rIns="54864" bIns="27432" anchor="ctr">
            <a:spAutoFit/>
          </a:bodyPr>
          <a:lstStyle/>
          <a:p>
            <a:pPr algn="l">
              <a:lnSpc>
                <a:spcPct val="100000"/>
              </a:lnSpc>
            </a:pPr>
            <a:r>
              <a:rPr sz="850" b="0" i="0">
                <a:solidFill>
                  <a:srgbClr val="171717"/>
                </a:solidFill>
                <a:latin typeface="Arial"/>
              </a:rPr>
              <a:t>Afficher rapidement une galerie chargée</a:t>
            </a:r>
          </a:p>
        </p:txBody>
      </p:sp>
      <p:sp>
        <p:nvSpPr>
          <p:cNvPr id="53" name="TextBox 52"/>
          <p:cNvSpPr txBox="1"/>
          <p:nvPr/>
        </p:nvSpPr>
        <p:spPr>
          <a:xfrm>
            <a:off x="8138160" y="3017520"/>
            <a:ext cx="548640" cy="219456"/>
          </a:xfrm>
          <a:prstGeom prst="rect">
            <a:avLst/>
          </a:prstGeom>
          <a:noFill/>
        </p:spPr>
        <p:txBody>
          <a:bodyPr wrap="square" lIns="54864" tIns="27432" rIns="54864" bIns="27432" anchor="ctr">
            <a:spAutoFit/>
          </a:bodyPr>
          <a:lstStyle/>
          <a:p>
            <a:pPr algn="r">
              <a:lnSpc>
                <a:spcPct val="100000"/>
              </a:lnSpc>
            </a:pPr>
            <a:r>
              <a:rPr sz="750" b="1" i="0">
                <a:solidFill>
                  <a:srgbClr val="8F8F8F"/>
                </a:solidFill>
                <a:latin typeface="Arial"/>
              </a:rPr>
              <a:t>5 pts</a:t>
            </a:r>
          </a:p>
        </p:txBody>
      </p:sp>
      <p:sp>
        <p:nvSpPr>
          <p:cNvPr id="54" name="Rounded Rectangle 53"/>
          <p:cNvSpPr/>
          <p:nvPr/>
        </p:nvSpPr>
        <p:spPr>
          <a:xfrm>
            <a:off x="457200" y="3346704"/>
            <a:ext cx="868680" cy="548640"/>
          </a:xfrm>
          <a:prstGeom prst="roundRect">
            <a:avLst>
              <a:gd name="adj" fmla="val 10416"/>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457200" y="3346704"/>
            <a:ext cx="868680" cy="548640"/>
          </a:xfrm>
          <a:prstGeom prst="rect">
            <a:avLst/>
          </a:prstGeom>
          <a:noFill/>
        </p:spPr>
        <p:txBody>
          <a:bodyPr wrap="square" lIns="54864" tIns="27432" rIns="54864" bIns="27432" anchor="ctr">
            <a:spAutoFit/>
          </a:bodyPr>
          <a:lstStyle/>
          <a:p>
            <a:pPr algn="ctr">
              <a:lnSpc>
                <a:spcPct val="100000"/>
              </a:lnSpc>
            </a:pPr>
            <a:r>
              <a:rPr sz="1050" b="1" i="0">
                <a:solidFill>
                  <a:srgbClr val="171717"/>
                </a:solidFill>
                <a:latin typeface="Arial"/>
              </a:rPr>
              <a:t>Won’t</a:t>
            </a:r>
          </a:p>
        </p:txBody>
      </p:sp>
      <p:sp>
        <p:nvSpPr>
          <p:cNvPr id="56" name="TextBox 55"/>
          <p:cNvSpPr txBox="1"/>
          <p:nvPr/>
        </p:nvSpPr>
        <p:spPr>
          <a:xfrm>
            <a:off x="1444752" y="3401568"/>
            <a:ext cx="1737360" cy="219456"/>
          </a:xfrm>
          <a:prstGeom prst="rect">
            <a:avLst/>
          </a:prstGeom>
          <a:noFill/>
        </p:spPr>
        <p:txBody>
          <a:bodyPr wrap="square" lIns="54864" tIns="27432" rIns="54864" bIns="27432" anchor="t">
            <a:spAutoFit/>
          </a:bodyPr>
          <a:lstStyle/>
          <a:p>
            <a:pPr algn="l">
              <a:lnSpc>
                <a:spcPct val="100000"/>
              </a:lnSpc>
            </a:pPr>
            <a:r>
              <a:rPr sz="850" b="1" i="0">
                <a:solidFill>
                  <a:srgbClr val="171717"/>
                </a:solidFill>
                <a:latin typeface="Arial"/>
              </a:rPr>
              <a:t>hors périmètre assumé</a:t>
            </a:r>
          </a:p>
        </p:txBody>
      </p:sp>
      <p:sp>
        <p:nvSpPr>
          <p:cNvPr id="57" name="TextBox 56"/>
          <p:cNvSpPr txBox="1"/>
          <p:nvPr/>
        </p:nvSpPr>
        <p:spPr>
          <a:xfrm>
            <a:off x="1444752" y="3621024"/>
            <a:ext cx="1737360" cy="219456"/>
          </a:xfrm>
          <a:prstGeom prst="rect">
            <a:avLst/>
          </a:prstGeom>
          <a:noFill/>
        </p:spPr>
        <p:txBody>
          <a:bodyPr wrap="square" lIns="54864" tIns="27432" rIns="54864" bIns="27432" anchor="t">
            <a:spAutoFit/>
          </a:bodyPr>
          <a:lstStyle/>
          <a:p>
            <a:pPr algn="l">
              <a:lnSpc>
                <a:spcPct val="100000"/>
              </a:lnSpc>
            </a:pPr>
            <a:r>
              <a:rPr sz="750" b="0" i="0">
                <a:solidFill>
                  <a:srgbClr val="8F8F8F"/>
                </a:solidFill>
                <a:latin typeface="Arial"/>
              </a:rPr>
              <a:t>2 exigences écartées, au plan d’amélioration</a:t>
            </a:r>
          </a:p>
        </p:txBody>
      </p:sp>
      <p:sp>
        <p:nvSpPr>
          <p:cNvPr id="58" name="Rounded Rectangle 57"/>
          <p:cNvSpPr/>
          <p:nvPr/>
        </p:nvSpPr>
        <p:spPr>
          <a:xfrm>
            <a:off x="3246120" y="3392424"/>
            <a:ext cx="566928" cy="219456"/>
          </a:xfrm>
          <a:prstGeom prst="roundRect">
            <a:avLst>
              <a:gd name="adj" fmla="val 15625"/>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3246120" y="3392424"/>
            <a:ext cx="566928" cy="219456"/>
          </a:xfrm>
          <a:prstGeom prst="rect">
            <a:avLst/>
          </a:prstGeom>
          <a:noFill/>
        </p:spPr>
        <p:txBody>
          <a:bodyPr wrap="square" lIns="54864" tIns="27432" rIns="54864" bIns="27432" anchor="ctr">
            <a:spAutoFit/>
          </a:bodyPr>
          <a:lstStyle/>
          <a:p>
            <a:pPr algn="ctr">
              <a:lnSpc>
                <a:spcPct val="100000"/>
              </a:lnSpc>
            </a:pPr>
            <a:r>
              <a:rPr sz="700" b="1" i="0">
                <a:solidFill>
                  <a:srgbClr val="171717"/>
                </a:solidFill>
                <a:latin typeface="Arial"/>
              </a:rPr>
              <a:t>US-25</a:t>
            </a:r>
          </a:p>
        </p:txBody>
      </p:sp>
      <p:sp>
        <p:nvSpPr>
          <p:cNvPr id="60" name="TextBox 59"/>
          <p:cNvSpPr txBox="1"/>
          <p:nvPr/>
        </p:nvSpPr>
        <p:spPr>
          <a:xfrm>
            <a:off x="3913632" y="3392424"/>
            <a:ext cx="4206240" cy="219456"/>
          </a:xfrm>
          <a:prstGeom prst="rect">
            <a:avLst/>
          </a:prstGeom>
          <a:noFill/>
        </p:spPr>
        <p:txBody>
          <a:bodyPr wrap="square" lIns="54864" tIns="27432" rIns="54864" bIns="27432" anchor="ctr">
            <a:spAutoFit/>
          </a:bodyPr>
          <a:lstStyle/>
          <a:p>
            <a:pPr algn="l">
              <a:lnSpc>
                <a:spcPct val="100000"/>
              </a:lnSpc>
            </a:pPr>
            <a:r>
              <a:rPr sz="850" b="0" i="0">
                <a:solidFill>
                  <a:srgbClr val="171717"/>
                </a:solidFill>
                <a:latin typeface="Arial"/>
              </a:rPr>
              <a:t>Retrouver ses médias par reconnaissance de contenu</a:t>
            </a:r>
          </a:p>
        </p:txBody>
      </p:sp>
      <p:sp>
        <p:nvSpPr>
          <p:cNvPr id="61" name="TextBox 60"/>
          <p:cNvSpPr txBox="1"/>
          <p:nvPr/>
        </p:nvSpPr>
        <p:spPr>
          <a:xfrm>
            <a:off x="8138160" y="3392424"/>
            <a:ext cx="548640" cy="219456"/>
          </a:xfrm>
          <a:prstGeom prst="rect">
            <a:avLst/>
          </a:prstGeom>
          <a:noFill/>
        </p:spPr>
        <p:txBody>
          <a:bodyPr wrap="square" lIns="54864" tIns="27432" rIns="54864" bIns="27432" anchor="ctr">
            <a:spAutoFit/>
          </a:bodyPr>
          <a:lstStyle/>
          <a:p>
            <a:pPr algn="r">
              <a:lnSpc>
                <a:spcPct val="100000"/>
              </a:lnSpc>
            </a:pPr>
            <a:r>
              <a:rPr sz="750" b="1" i="0">
                <a:solidFill>
                  <a:srgbClr val="8F8F8F"/>
                </a:solidFill>
                <a:latin typeface="Arial"/>
              </a:rPr>
              <a:t>21 pts</a:t>
            </a:r>
          </a:p>
        </p:txBody>
      </p:sp>
      <p:sp>
        <p:nvSpPr>
          <p:cNvPr id="62" name="Rounded Rectangle 61"/>
          <p:cNvSpPr/>
          <p:nvPr/>
        </p:nvSpPr>
        <p:spPr>
          <a:xfrm>
            <a:off x="3246120" y="3639312"/>
            <a:ext cx="566928" cy="219456"/>
          </a:xfrm>
          <a:prstGeom prst="roundRect">
            <a:avLst>
              <a:gd name="adj" fmla="val 15625"/>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3246120" y="3639312"/>
            <a:ext cx="566928" cy="219456"/>
          </a:xfrm>
          <a:prstGeom prst="rect">
            <a:avLst/>
          </a:prstGeom>
          <a:noFill/>
        </p:spPr>
        <p:txBody>
          <a:bodyPr wrap="square" lIns="54864" tIns="27432" rIns="54864" bIns="27432" anchor="ctr">
            <a:spAutoFit/>
          </a:bodyPr>
          <a:lstStyle/>
          <a:p>
            <a:pPr algn="ctr">
              <a:lnSpc>
                <a:spcPct val="100000"/>
              </a:lnSpc>
            </a:pPr>
            <a:r>
              <a:rPr sz="700" b="1" i="0">
                <a:solidFill>
                  <a:srgbClr val="171717"/>
                </a:solidFill>
                <a:latin typeface="Arial"/>
              </a:rPr>
              <a:t>US-26</a:t>
            </a:r>
          </a:p>
        </p:txBody>
      </p:sp>
      <p:sp>
        <p:nvSpPr>
          <p:cNvPr id="64" name="TextBox 63"/>
          <p:cNvSpPr txBox="1"/>
          <p:nvPr/>
        </p:nvSpPr>
        <p:spPr>
          <a:xfrm>
            <a:off x="3913632" y="3639312"/>
            <a:ext cx="4206240" cy="219456"/>
          </a:xfrm>
          <a:prstGeom prst="rect">
            <a:avLst/>
          </a:prstGeom>
          <a:noFill/>
        </p:spPr>
        <p:txBody>
          <a:bodyPr wrap="square" lIns="54864" tIns="27432" rIns="54864" bIns="27432" anchor="ctr">
            <a:spAutoFit/>
          </a:bodyPr>
          <a:lstStyle/>
          <a:p>
            <a:pPr algn="l">
              <a:lnSpc>
                <a:spcPct val="100000"/>
              </a:lnSpc>
            </a:pPr>
            <a:r>
              <a:rPr sz="850" b="0" i="0">
                <a:solidFill>
                  <a:srgbClr val="171717"/>
                </a:solidFill>
                <a:latin typeface="Arial"/>
              </a:rPr>
              <a:t>Déposer depuis une application mobile native</a:t>
            </a:r>
          </a:p>
        </p:txBody>
      </p:sp>
      <p:sp>
        <p:nvSpPr>
          <p:cNvPr id="65" name="TextBox 64"/>
          <p:cNvSpPr txBox="1"/>
          <p:nvPr/>
        </p:nvSpPr>
        <p:spPr>
          <a:xfrm>
            <a:off x="8138160" y="3639312"/>
            <a:ext cx="548640" cy="219456"/>
          </a:xfrm>
          <a:prstGeom prst="rect">
            <a:avLst/>
          </a:prstGeom>
          <a:noFill/>
        </p:spPr>
        <p:txBody>
          <a:bodyPr wrap="square" lIns="54864" tIns="27432" rIns="54864" bIns="27432" anchor="ctr">
            <a:spAutoFit/>
          </a:bodyPr>
          <a:lstStyle/>
          <a:p>
            <a:pPr algn="r">
              <a:lnSpc>
                <a:spcPct val="100000"/>
              </a:lnSpc>
            </a:pPr>
            <a:r>
              <a:rPr sz="750" b="1" i="0">
                <a:solidFill>
                  <a:srgbClr val="8F8F8F"/>
                </a:solidFill>
                <a:latin typeface="Arial"/>
              </a:rPr>
              <a:t>21 pts</a:t>
            </a:r>
          </a:p>
        </p:txBody>
      </p:sp>
      <p:sp>
        <p:nvSpPr>
          <p:cNvPr id="66" name="Rectangle 65"/>
          <p:cNvSpPr/>
          <p:nvPr/>
        </p:nvSpPr>
        <p:spPr>
          <a:xfrm>
            <a:off x="457200" y="404164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66"/>
          <p:cNvSpPr/>
          <p:nvPr/>
        </p:nvSpPr>
        <p:spPr>
          <a:xfrm>
            <a:off x="457200" y="4041648"/>
            <a:ext cx="548640" cy="9144"/>
          </a:xfrm>
          <a:prstGeom prst="rect">
            <a:avLst/>
          </a:prstGeom>
          <a:solidFill>
            <a:srgbClr val="674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457200" y="4114800"/>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6741D9"/>
                </a:solidFill>
                <a:latin typeface="Arial"/>
              </a:rPr>
              <a:t>CINQ CONTRAINTES DEVENUES VÉRIFIABLES</a:t>
            </a:r>
          </a:p>
        </p:txBody>
      </p:sp>
      <p:sp>
        <p:nvSpPr>
          <p:cNvPr id="69" name="TextBox 68"/>
          <p:cNvSpPr txBox="1"/>
          <p:nvPr/>
        </p:nvSpPr>
        <p:spPr>
          <a:xfrm>
            <a:off x="457200" y="4315968"/>
            <a:ext cx="8229600" cy="274320"/>
          </a:xfrm>
          <a:prstGeom prst="rect">
            <a:avLst/>
          </a:prstGeom>
          <a:noFill/>
        </p:spPr>
        <p:txBody>
          <a:bodyPr wrap="square" lIns="54864" tIns="27432" rIns="54864" bIns="27432" anchor="t">
            <a:spAutoFit/>
          </a:bodyPr>
          <a:lstStyle/>
          <a:p>
            <a:pPr algn="l">
              <a:lnSpc>
                <a:spcPct val="105000"/>
              </a:lnSpc>
            </a:pPr>
            <a:r>
              <a:rPr sz="950" b="0" i="0">
                <a:solidFill>
                  <a:srgbClr val="666666"/>
                </a:solidFill>
                <a:latin typeface="Arial"/>
              </a:rPr>
              <a:t>privé par défaut   ·   RGPD   ·   ISO 27001   ·   accessibilité WCAG 2.2 et RGAA 4   ·   éco-responsabilité mesurable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3048000" y="0"/>
            <a:ext cx="1524000" cy="41148"/>
          </a:xfrm>
          <a:prstGeom prst="rect">
            <a:avLst/>
          </a:prstGeom>
          <a:solidFill>
            <a:srgbClr val="674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269480"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10144"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lIns="54864" tIns="27432" rIns="54864" bIns="27432" anchor="t">
            <a:spAutoFit/>
          </a:bodyPr>
          <a:lstStyle/>
          <a:p>
            <a:pPr algn="l">
              <a:lnSpc>
                <a:spcPct val="100000"/>
              </a:lnSpc>
            </a:pPr>
            <a:r>
              <a:rPr sz="750" b="1" i="0" spc="120">
                <a:solidFill>
                  <a:srgbClr val="6741D9"/>
                </a:solidFill>
                <a:latin typeface="Arial"/>
              </a:rPr>
              <a:t>3 · GESTION DE PROJET</a:t>
            </a:r>
          </a:p>
        </p:txBody>
      </p:sp>
      <p:sp>
        <p:nvSpPr>
          <p:cNvPr id="11" name="TextBox 10"/>
          <p:cNvSpPr txBox="1"/>
          <p:nvPr/>
        </p:nvSpPr>
        <p:spPr>
          <a:xfrm>
            <a:off x="457200" y="493776"/>
            <a:ext cx="6720840" cy="566928"/>
          </a:xfrm>
          <a:prstGeom prst="rect">
            <a:avLst/>
          </a:prstGeom>
          <a:noFill/>
        </p:spPr>
        <p:txBody>
          <a:bodyPr wrap="square" lIns="54864" tIns="27432" rIns="54864" bIns="27432" anchor="t">
            <a:spAutoFit/>
          </a:bodyPr>
          <a:lstStyle/>
          <a:p>
            <a:pPr algn="l">
              <a:lnSpc>
                <a:spcPct val="100000"/>
              </a:lnSpc>
            </a:pPr>
            <a:r>
              <a:rPr sz="2400" b="1" i="0" spc="-84">
                <a:solidFill>
                  <a:srgbClr val="171717"/>
                </a:solidFill>
                <a:latin typeface="Arial"/>
              </a:rPr>
              <a:t>Découpage du projet et budget</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26679" y="4832604"/>
            <a:ext cx="1143000" cy="237744"/>
          </a:xfrm>
          <a:prstGeom prst="rect">
            <a:avLst/>
          </a:prstGeom>
          <a:noFill/>
        </p:spPr>
        <p:txBody>
          <a:bodyPr wrap="square" lIns="54864" tIns="27432" rIns="54864" bIns="27432" anchor="t">
            <a:spAutoFit/>
          </a:bodyPr>
          <a:lstStyle/>
          <a:p>
            <a:pPr algn="r">
              <a:lnSpc>
                <a:spcPct val="100000"/>
              </a:lnSpc>
            </a:pPr>
            <a:r>
              <a:rPr sz="800" b="0" i="0">
                <a:solidFill>
                  <a:srgbClr val="A1A1A1"/>
                </a:solidFill>
                <a:latin typeface="Arial"/>
              </a:rPr>
              <a:t>11 / 31</a:t>
            </a:r>
          </a:p>
        </p:txBody>
      </p:sp>
      <p:sp>
        <p:nvSpPr>
          <p:cNvPr id="14" name="Rounded Rectangle 13"/>
          <p:cNvSpPr/>
          <p:nvPr/>
        </p:nvSpPr>
        <p:spPr>
          <a:xfrm>
            <a:off x="457200" y="4818888"/>
            <a:ext cx="1051560" cy="228600"/>
          </a:xfrm>
          <a:prstGeom prst="roundRect">
            <a:avLst>
              <a:gd name="adj" fmla="val 25000"/>
            </a:avLst>
          </a:prstGeom>
          <a:solidFill>
            <a:srgbClr val="674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4818888"/>
            <a:ext cx="1051560" cy="228600"/>
          </a:xfrm>
          <a:prstGeom prst="rect">
            <a:avLst/>
          </a:prstGeom>
          <a:noFill/>
        </p:spPr>
        <p:txBody>
          <a:bodyPr wrap="square" lIns="54864" tIns="27432" rIns="54864" bIns="27432" anchor="ctr">
            <a:spAutoFit/>
          </a:bodyPr>
          <a:lstStyle/>
          <a:p>
            <a:pPr algn="ctr">
              <a:lnSpc>
                <a:spcPct val="100000"/>
              </a:lnSpc>
            </a:pPr>
            <a:r>
              <a:rPr sz="750" b="1" i="0">
                <a:solidFill>
                  <a:srgbClr val="FFFFFF"/>
                </a:solidFill>
                <a:latin typeface="Arial"/>
              </a:rPr>
              <a:t>Réf.  C14 · C15</a:t>
            </a:r>
          </a:p>
        </p:txBody>
      </p:sp>
      <p:sp>
        <p:nvSpPr>
          <p:cNvPr id="16" name="TextBox 15"/>
          <p:cNvSpPr txBox="1"/>
          <p:nvPr/>
        </p:nvSpPr>
        <p:spPr>
          <a:xfrm>
            <a:off x="1600200" y="4818888"/>
            <a:ext cx="5486400" cy="228600"/>
          </a:xfrm>
          <a:prstGeom prst="rect">
            <a:avLst/>
          </a:prstGeom>
          <a:noFill/>
        </p:spPr>
        <p:txBody>
          <a:bodyPr wrap="square" lIns="54864" tIns="27432" rIns="54864" bIns="27432" anchor="ctr">
            <a:spAutoFit/>
          </a:bodyPr>
          <a:lstStyle/>
          <a:p>
            <a:pPr algn="l">
              <a:lnSpc>
                <a:spcPct val="100000"/>
              </a:lnSpc>
            </a:pPr>
            <a:r>
              <a:rPr sz="750" b="0" i="0">
                <a:solidFill>
                  <a:srgbClr val="A1A1A1"/>
                </a:solidFill>
                <a:latin typeface="Arial"/>
              </a:rPr>
              <a:t>BC2 · mémoire 13.1, 13.5.5 · annexes L, Y</a:t>
            </a:r>
          </a:p>
        </p:txBody>
      </p:sp>
      <p:sp>
        <p:nvSpPr>
          <p:cNvPr id="17" name="TextBox 16"/>
          <p:cNvSpPr txBox="1"/>
          <p:nvPr/>
        </p:nvSpPr>
        <p:spPr>
          <a:xfrm>
            <a:off x="457200" y="1225296"/>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8 LOTS VALORISÉS AU TAUX DE 500 € PAR JOUR</a:t>
            </a:r>
          </a:p>
        </p:txBody>
      </p:sp>
      <p:sp>
        <p:nvSpPr>
          <p:cNvPr id="18" name="Rounded Rectangle 17"/>
          <p:cNvSpPr/>
          <p:nvPr/>
        </p:nvSpPr>
        <p:spPr>
          <a:xfrm>
            <a:off x="2651760" y="1463040"/>
            <a:ext cx="3840480" cy="402336"/>
          </a:xfrm>
          <a:prstGeom prst="roundRect">
            <a:avLst>
              <a:gd name="adj" fmla="val 14204"/>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651760" y="1463040"/>
            <a:ext cx="3840480" cy="402336"/>
          </a:xfrm>
          <a:prstGeom prst="rect">
            <a:avLst/>
          </a:prstGeom>
          <a:noFill/>
        </p:spPr>
        <p:txBody>
          <a:bodyPr wrap="square" lIns="54864" tIns="27432" rIns="54864" bIns="27432" anchor="ctr">
            <a:spAutoFit/>
          </a:bodyPr>
          <a:lstStyle/>
          <a:p>
            <a:pPr algn="ctr">
              <a:lnSpc>
                <a:spcPct val="100000"/>
              </a:lnSpc>
            </a:pPr>
            <a:r>
              <a:rPr sz="1050" b="1" i="0">
                <a:solidFill>
                  <a:srgbClr val="171717"/>
                </a:solidFill>
                <a:latin typeface="Arial"/>
              </a:rPr>
              <a:t>dropicture · infrastructure DevOps automatisée</a:t>
            </a:r>
          </a:p>
        </p:txBody>
      </p:sp>
      <p:cxnSp>
        <p:nvCxnSpPr>
          <p:cNvPr id="20" name="Connector 19"/>
          <p:cNvCxnSpPr/>
          <p:nvPr/>
        </p:nvCxnSpPr>
        <p:spPr>
          <a:xfrm>
            <a:off x="4572000" y="1865376"/>
            <a:ext cx="0" cy="182880"/>
          </a:xfrm>
          <a:prstGeom prst="line">
            <a:avLst/>
          </a:prstGeom>
          <a:ln w="19050">
            <a:solidFill>
              <a:srgbClr val="D4D4D4"/>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57200" y="2048256"/>
            <a:ext cx="948690" cy="640080"/>
          </a:xfrm>
          <a:prstGeom prst="roundRect">
            <a:avLst>
              <a:gd name="adj" fmla="val 8928"/>
            </a:avLst>
          </a:prstGeom>
          <a:solidFill>
            <a:srgbClr val="DBE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200" y="2103120"/>
            <a:ext cx="948690" cy="219456"/>
          </a:xfrm>
          <a:prstGeom prst="rect">
            <a:avLst/>
          </a:prstGeom>
          <a:noFill/>
        </p:spPr>
        <p:txBody>
          <a:bodyPr wrap="square" lIns="54864" tIns="27432" rIns="54864" bIns="27432" anchor="t">
            <a:spAutoFit/>
          </a:bodyPr>
          <a:lstStyle/>
          <a:p>
            <a:pPr algn="ctr">
              <a:lnSpc>
                <a:spcPct val="100000"/>
              </a:lnSpc>
            </a:pPr>
            <a:r>
              <a:rPr sz="850" b="1" i="0">
                <a:solidFill>
                  <a:srgbClr val="171717"/>
                </a:solidFill>
                <a:latin typeface="Arial"/>
              </a:rPr>
              <a:t>1 Cadrage</a:t>
            </a:r>
          </a:p>
        </p:txBody>
      </p:sp>
      <p:sp>
        <p:nvSpPr>
          <p:cNvPr id="23" name="TextBox 22"/>
          <p:cNvSpPr txBox="1"/>
          <p:nvPr/>
        </p:nvSpPr>
        <p:spPr>
          <a:xfrm>
            <a:off x="457200" y="2340864"/>
            <a:ext cx="948690" cy="219456"/>
          </a:xfrm>
          <a:prstGeom prst="rect">
            <a:avLst/>
          </a:prstGeom>
          <a:noFill/>
        </p:spPr>
        <p:txBody>
          <a:bodyPr wrap="square" lIns="54864" tIns="27432" rIns="54864" bIns="27432" anchor="t">
            <a:spAutoFit/>
          </a:bodyPr>
          <a:lstStyle/>
          <a:p>
            <a:pPr algn="ctr">
              <a:lnSpc>
                <a:spcPct val="100000"/>
              </a:lnSpc>
            </a:pPr>
            <a:r>
              <a:rPr sz="950" b="1" i="0">
                <a:solidFill>
                  <a:srgbClr val="171717"/>
                </a:solidFill>
                <a:latin typeface="Arial"/>
              </a:rPr>
              <a:t>24 j-h</a:t>
            </a:r>
          </a:p>
        </p:txBody>
      </p:sp>
      <p:sp>
        <p:nvSpPr>
          <p:cNvPr id="24" name="Rounded Rectangle 23"/>
          <p:cNvSpPr/>
          <p:nvPr/>
        </p:nvSpPr>
        <p:spPr>
          <a:xfrm>
            <a:off x="1497330" y="2048256"/>
            <a:ext cx="948690" cy="640080"/>
          </a:xfrm>
          <a:prstGeom prst="roundRect">
            <a:avLst>
              <a:gd name="adj" fmla="val 8928"/>
            </a:avLst>
          </a:prstGeom>
          <a:solidFill>
            <a:srgbClr val="D0E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497330" y="2103120"/>
            <a:ext cx="948690" cy="219456"/>
          </a:xfrm>
          <a:prstGeom prst="rect">
            <a:avLst/>
          </a:prstGeom>
          <a:noFill/>
        </p:spPr>
        <p:txBody>
          <a:bodyPr wrap="square" lIns="54864" tIns="27432" rIns="54864" bIns="27432" anchor="t">
            <a:spAutoFit/>
          </a:bodyPr>
          <a:lstStyle/>
          <a:p>
            <a:pPr algn="ctr">
              <a:lnSpc>
                <a:spcPct val="100000"/>
              </a:lnSpc>
            </a:pPr>
            <a:r>
              <a:rPr sz="850" b="1" i="0">
                <a:solidFill>
                  <a:srgbClr val="171717"/>
                </a:solidFill>
                <a:latin typeface="Arial"/>
              </a:rPr>
              <a:t>2 Infra IaC</a:t>
            </a:r>
          </a:p>
        </p:txBody>
      </p:sp>
      <p:sp>
        <p:nvSpPr>
          <p:cNvPr id="26" name="TextBox 25"/>
          <p:cNvSpPr txBox="1"/>
          <p:nvPr/>
        </p:nvSpPr>
        <p:spPr>
          <a:xfrm>
            <a:off x="1497330" y="2340864"/>
            <a:ext cx="948690" cy="219456"/>
          </a:xfrm>
          <a:prstGeom prst="rect">
            <a:avLst/>
          </a:prstGeom>
          <a:noFill/>
        </p:spPr>
        <p:txBody>
          <a:bodyPr wrap="square" lIns="54864" tIns="27432" rIns="54864" bIns="27432" anchor="t">
            <a:spAutoFit/>
          </a:bodyPr>
          <a:lstStyle/>
          <a:p>
            <a:pPr algn="ctr">
              <a:lnSpc>
                <a:spcPct val="100000"/>
              </a:lnSpc>
            </a:pPr>
            <a:r>
              <a:rPr sz="950" b="1" i="0">
                <a:solidFill>
                  <a:srgbClr val="171717"/>
                </a:solidFill>
                <a:latin typeface="Arial"/>
              </a:rPr>
              <a:t>30 j-h</a:t>
            </a:r>
          </a:p>
        </p:txBody>
      </p:sp>
      <p:sp>
        <p:nvSpPr>
          <p:cNvPr id="27" name="Rounded Rectangle 26"/>
          <p:cNvSpPr/>
          <p:nvPr/>
        </p:nvSpPr>
        <p:spPr>
          <a:xfrm>
            <a:off x="2537460" y="2048256"/>
            <a:ext cx="948690" cy="640080"/>
          </a:xfrm>
          <a:prstGeom prst="roundRect">
            <a:avLst>
              <a:gd name="adj" fmla="val 8928"/>
            </a:avLst>
          </a:prstGeom>
          <a:solidFill>
            <a:srgbClr val="E5D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537460" y="2103120"/>
            <a:ext cx="948690" cy="219456"/>
          </a:xfrm>
          <a:prstGeom prst="rect">
            <a:avLst/>
          </a:prstGeom>
          <a:noFill/>
        </p:spPr>
        <p:txBody>
          <a:bodyPr wrap="square" lIns="54864" tIns="27432" rIns="54864" bIns="27432" anchor="t">
            <a:spAutoFit/>
          </a:bodyPr>
          <a:lstStyle/>
          <a:p>
            <a:pPr algn="ctr">
              <a:lnSpc>
                <a:spcPct val="100000"/>
              </a:lnSpc>
            </a:pPr>
            <a:r>
              <a:rPr sz="850" b="1" i="0">
                <a:solidFill>
                  <a:srgbClr val="171717"/>
                </a:solidFill>
                <a:latin typeface="Arial"/>
              </a:rPr>
              <a:t>3 Backend</a:t>
            </a:r>
          </a:p>
        </p:txBody>
      </p:sp>
      <p:sp>
        <p:nvSpPr>
          <p:cNvPr id="29" name="TextBox 28"/>
          <p:cNvSpPr txBox="1"/>
          <p:nvPr/>
        </p:nvSpPr>
        <p:spPr>
          <a:xfrm>
            <a:off x="2537460" y="2340864"/>
            <a:ext cx="948690" cy="219456"/>
          </a:xfrm>
          <a:prstGeom prst="rect">
            <a:avLst/>
          </a:prstGeom>
          <a:noFill/>
        </p:spPr>
        <p:txBody>
          <a:bodyPr wrap="square" lIns="54864" tIns="27432" rIns="54864" bIns="27432" anchor="t">
            <a:spAutoFit/>
          </a:bodyPr>
          <a:lstStyle/>
          <a:p>
            <a:pPr algn="ctr">
              <a:lnSpc>
                <a:spcPct val="100000"/>
              </a:lnSpc>
            </a:pPr>
            <a:r>
              <a:rPr sz="950" b="1" i="0">
                <a:solidFill>
                  <a:srgbClr val="171717"/>
                </a:solidFill>
                <a:latin typeface="Arial"/>
              </a:rPr>
              <a:t>42 j-h</a:t>
            </a:r>
          </a:p>
        </p:txBody>
      </p:sp>
      <p:sp>
        <p:nvSpPr>
          <p:cNvPr id="30" name="Rounded Rectangle 29"/>
          <p:cNvSpPr/>
          <p:nvPr/>
        </p:nvSpPr>
        <p:spPr>
          <a:xfrm>
            <a:off x="3577590" y="2048256"/>
            <a:ext cx="948690" cy="640080"/>
          </a:xfrm>
          <a:prstGeom prst="roundRect">
            <a:avLst>
              <a:gd name="adj" fmla="val 8928"/>
            </a:avLst>
          </a:prstGeom>
          <a:solidFill>
            <a:srgbClr val="C5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3577590" y="2103120"/>
            <a:ext cx="948690" cy="219456"/>
          </a:xfrm>
          <a:prstGeom prst="rect">
            <a:avLst/>
          </a:prstGeom>
          <a:noFill/>
        </p:spPr>
        <p:txBody>
          <a:bodyPr wrap="square" lIns="54864" tIns="27432" rIns="54864" bIns="27432" anchor="t">
            <a:spAutoFit/>
          </a:bodyPr>
          <a:lstStyle/>
          <a:p>
            <a:pPr algn="ctr">
              <a:lnSpc>
                <a:spcPct val="100000"/>
              </a:lnSpc>
            </a:pPr>
            <a:r>
              <a:rPr sz="850" b="1" i="0">
                <a:solidFill>
                  <a:srgbClr val="171717"/>
                </a:solidFill>
                <a:latin typeface="Arial"/>
              </a:rPr>
              <a:t>4 Frontend</a:t>
            </a:r>
          </a:p>
        </p:txBody>
      </p:sp>
      <p:sp>
        <p:nvSpPr>
          <p:cNvPr id="32" name="TextBox 31"/>
          <p:cNvSpPr txBox="1"/>
          <p:nvPr/>
        </p:nvSpPr>
        <p:spPr>
          <a:xfrm>
            <a:off x="3577590" y="2340864"/>
            <a:ext cx="948690" cy="219456"/>
          </a:xfrm>
          <a:prstGeom prst="rect">
            <a:avLst/>
          </a:prstGeom>
          <a:noFill/>
        </p:spPr>
        <p:txBody>
          <a:bodyPr wrap="square" lIns="54864" tIns="27432" rIns="54864" bIns="27432" anchor="t">
            <a:spAutoFit/>
          </a:bodyPr>
          <a:lstStyle/>
          <a:p>
            <a:pPr algn="ctr">
              <a:lnSpc>
                <a:spcPct val="100000"/>
              </a:lnSpc>
            </a:pPr>
            <a:r>
              <a:rPr sz="950" b="1" i="0">
                <a:solidFill>
                  <a:srgbClr val="171717"/>
                </a:solidFill>
                <a:latin typeface="Arial"/>
              </a:rPr>
              <a:t>27 j-h</a:t>
            </a:r>
          </a:p>
        </p:txBody>
      </p:sp>
      <p:sp>
        <p:nvSpPr>
          <p:cNvPr id="33" name="Rounded Rectangle 32"/>
          <p:cNvSpPr/>
          <p:nvPr/>
        </p:nvSpPr>
        <p:spPr>
          <a:xfrm>
            <a:off x="4617720" y="2048256"/>
            <a:ext cx="948690" cy="640080"/>
          </a:xfrm>
          <a:prstGeom prst="roundRect">
            <a:avLst>
              <a:gd name="adj" fmla="val 8928"/>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4617720" y="2103120"/>
            <a:ext cx="948690" cy="219456"/>
          </a:xfrm>
          <a:prstGeom prst="rect">
            <a:avLst/>
          </a:prstGeom>
          <a:noFill/>
        </p:spPr>
        <p:txBody>
          <a:bodyPr wrap="square" lIns="54864" tIns="27432" rIns="54864" bIns="27432" anchor="t">
            <a:spAutoFit/>
          </a:bodyPr>
          <a:lstStyle/>
          <a:p>
            <a:pPr algn="ctr">
              <a:lnSpc>
                <a:spcPct val="100000"/>
              </a:lnSpc>
            </a:pPr>
            <a:r>
              <a:rPr sz="850" b="1" i="0">
                <a:solidFill>
                  <a:srgbClr val="171717"/>
                </a:solidFill>
                <a:latin typeface="Arial"/>
              </a:rPr>
              <a:t>5 CI/CD</a:t>
            </a:r>
          </a:p>
        </p:txBody>
      </p:sp>
      <p:sp>
        <p:nvSpPr>
          <p:cNvPr id="35" name="TextBox 34"/>
          <p:cNvSpPr txBox="1"/>
          <p:nvPr/>
        </p:nvSpPr>
        <p:spPr>
          <a:xfrm>
            <a:off x="4617720" y="2340864"/>
            <a:ext cx="948690" cy="219456"/>
          </a:xfrm>
          <a:prstGeom prst="rect">
            <a:avLst/>
          </a:prstGeom>
          <a:noFill/>
        </p:spPr>
        <p:txBody>
          <a:bodyPr wrap="square" lIns="54864" tIns="27432" rIns="54864" bIns="27432" anchor="t">
            <a:spAutoFit/>
          </a:bodyPr>
          <a:lstStyle/>
          <a:p>
            <a:pPr algn="ctr">
              <a:lnSpc>
                <a:spcPct val="100000"/>
              </a:lnSpc>
            </a:pPr>
            <a:r>
              <a:rPr sz="950" b="1" i="0">
                <a:solidFill>
                  <a:srgbClr val="171717"/>
                </a:solidFill>
                <a:latin typeface="Arial"/>
              </a:rPr>
              <a:t>24 j-h</a:t>
            </a:r>
          </a:p>
        </p:txBody>
      </p:sp>
      <p:sp>
        <p:nvSpPr>
          <p:cNvPr id="36" name="Rounded Rectangle 35"/>
          <p:cNvSpPr/>
          <p:nvPr/>
        </p:nvSpPr>
        <p:spPr>
          <a:xfrm>
            <a:off x="5657850" y="2048256"/>
            <a:ext cx="948690" cy="640080"/>
          </a:xfrm>
          <a:prstGeom prst="roundRect">
            <a:avLst>
              <a:gd name="adj" fmla="val 8928"/>
            </a:avLst>
          </a:prstGeom>
          <a:solidFill>
            <a:srgbClr val="F3D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657850" y="2103120"/>
            <a:ext cx="948690" cy="219456"/>
          </a:xfrm>
          <a:prstGeom prst="rect">
            <a:avLst/>
          </a:prstGeom>
          <a:noFill/>
        </p:spPr>
        <p:txBody>
          <a:bodyPr wrap="square" lIns="54864" tIns="27432" rIns="54864" bIns="27432" anchor="t">
            <a:spAutoFit/>
          </a:bodyPr>
          <a:lstStyle/>
          <a:p>
            <a:pPr algn="ctr">
              <a:lnSpc>
                <a:spcPct val="100000"/>
              </a:lnSpc>
            </a:pPr>
            <a:r>
              <a:rPr sz="850" b="1" i="0">
                <a:solidFill>
                  <a:srgbClr val="171717"/>
                </a:solidFill>
                <a:latin typeface="Arial"/>
              </a:rPr>
              <a:t>6 Observab.</a:t>
            </a:r>
          </a:p>
        </p:txBody>
      </p:sp>
      <p:sp>
        <p:nvSpPr>
          <p:cNvPr id="38" name="TextBox 37"/>
          <p:cNvSpPr txBox="1"/>
          <p:nvPr/>
        </p:nvSpPr>
        <p:spPr>
          <a:xfrm>
            <a:off x="5657850" y="2340864"/>
            <a:ext cx="948690" cy="219456"/>
          </a:xfrm>
          <a:prstGeom prst="rect">
            <a:avLst/>
          </a:prstGeom>
          <a:noFill/>
        </p:spPr>
        <p:txBody>
          <a:bodyPr wrap="square" lIns="54864" tIns="27432" rIns="54864" bIns="27432" anchor="t">
            <a:spAutoFit/>
          </a:bodyPr>
          <a:lstStyle/>
          <a:p>
            <a:pPr algn="ctr">
              <a:lnSpc>
                <a:spcPct val="100000"/>
              </a:lnSpc>
            </a:pPr>
            <a:r>
              <a:rPr sz="950" b="1" i="0">
                <a:solidFill>
                  <a:srgbClr val="171717"/>
                </a:solidFill>
                <a:latin typeface="Arial"/>
              </a:rPr>
              <a:t>21 j-h</a:t>
            </a:r>
          </a:p>
        </p:txBody>
      </p:sp>
      <p:sp>
        <p:nvSpPr>
          <p:cNvPr id="39" name="Rounded Rectangle 38"/>
          <p:cNvSpPr/>
          <p:nvPr/>
        </p:nvSpPr>
        <p:spPr>
          <a:xfrm>
            <a:off x="6697980" y="2048256"/>
            <a:ext cx="948690" cy="640080"/>
          </a:xfrm>
          <a:prstGeom prst="roundRect">
            <a:avLst>
              <a:gd name="adj" fmla="val 8928"/>
            </a:avLst>
          </a:prstGeom>
          <a:solidFill>
            <a:srgbClr val="FF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697980" y="2103120"/>
            <a:ext cx="948690" cy="219456"/>
          </a:xfrm>
          <a:prstGeom prst="rect">
            <a:avLst/>
          </a:prstGeom>
          <a:noFill/>
        </p:spPr>
        <p:txBody>
          <a:bodyPr wrap="square" lIns="54864" tIns="27432" rIns="54864" bIns="27432" anchor="t">
            <a:spAutoFit/>
          </a:bodyPr>
          <a:lstStyle/>
          <a:p>
            <a:pPr algn="ctr">
              <a:lnSpc>
                <a:spcPct val="100000"/>
              </a:lnSpc>
            </a:pPr>
            <a:r>
              <a:rPr sz="850" b="1" i="0">
                <a:solidFill>
                  <a:srgbClr val="171717"/>
                </a:solidFill>
                <a:latin typeface="Arial"/>
              </a:rPr>
              <a:t>7 Sécurité</a:t>
            </a:r>
          </a:p>
        </p:txBody>
      </p:sp>
      <p:sp>
        <p:nvSpPr>
          <p:cNvPr id="41" name="TextBox 40"/>
          <p:cNvSpPr txBox="1"/>
          <p:nvPr/>
        </p:nvSpPr>
        <p:spPr>
          <a:xfrm>
            <a:off x="6697980" y="2340864"/>
            <a:ext cx="948690" cy="219456"/>
          </a:xfrm>
          <a:prstGeom prst="rect">
            <a:avLst/>
          </a:prstGeom>
          <a:noFill/>
        </p:spPr>
        <p:txBody>
          <a:bodyPr wrap="square" lIns="54864" tIns="27432" rIns="54864" bIns="27432" anchor="t">
            <a:spAutoFit/>
          </a:bodyPr>
          <a:lstStyle/>
          <a:p>
            <a:pPr algn="ctr">
              <a:lnSpc>
                <a:spcPct val="100000"/>
              </a:lnSpc>
            </a:pPr>
            <a:r>
              <a:rPr sz="950" b="1" i="0">
                <a:solidFill>
                  <a:srgbClr val="171717"/>
                </a:solidFill>
                <a:latin typeface="Arial"/>
              </a:rPr>
              <a:t>21 j-h</a:t>
            </a:r>
          </a:p>
        </p:txBody>
      </p:sp>
      <p:sp>
        <p:nvSpPr>
          <p:cNvPr id="42" name="Rounded Rectangle 41"/>
          <p:cNvSpPr/>
          <p:nvPr/>
        </p:nvSpPr>
        <p:spPr>
          <a:xfrm>
            <a:off x="7738110" y="2048256"/>
            <a:ext cx="948690" cy="640080"/>
          </a:xfrm>
          <a:prstGeom prst="roundRect">
            <a:avLst>
              <a:gd name="adj" fmla="val 8928"/>
            </a:avLst>
          </a:prstGeom>
          <a:solidFill>
            <a:srgbClr val="C3F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7738110" y="2103120"/>
            <a:ext cx="948690" cy="219456"/>
          </a:xfrm>
          <a:prstGeom prst="rect">
            <a:avLst/>
          </a:prstGeom>
          <a:noFill/>
        </p:spPr>
        <p:txBody>
          <a:bodyPr wrap="square" lIns="54864" tIns="27432" rIns="54864" bIns="27432" anchor="t">
            <a:spAutoFit/>
          </a:bodyPr>
          <a:lstStyle/>
          <a:p>
            <a:pPr algn="ctr">
              <a:lnSpc>
                <a:spcPct val="100000"/>
              </a:lnSpc>
            </a:pPr>
            <a:r>
              <a:rPr sz="850" b="1" i="0">
                <a:solidFill>
                  <a:srgbClr val="171717"/>
                </a:solidFill>
                <a:latin typeface="Arial"/>
              </a:rPr>
              <a:t>8 Doc &amp; REX</a:t>
            </a:r>
          </a:p>
        </p:txBody>
      </p:sp>
      <p:sp>
        <p:nvSpPr>
          <p:cNvPr id="44" name="TextBox 43"/>
          <p:cNvSpPr txBox="1"/>
          <p:nvPr/>
        </p:nvSpPr>
        <p:spPr>
          <a:xfrm>
            <a:off x="7738110" y="2340864"/>
            <a:ext cx="948690" cy="219456"/>
          </a:xfrm>
          <a:prstGeom prst="rect">
            <a:avLst/>
          </a:prstGeom>
          <a:noFill/>
        </p:spPr>
        <p:txBody>
          <a:bodyPr wrap="square" lIns="54864" tIns="27432" rIns="54864" bIns="27432" anchor="t">
            <a:spAutoFit/>
          </a:bodyPr>
          <a:lstStyle/>
          <a:p>
            <a:pPr algn="ctr">
              <a:lnSpc>
                <a:spcPct val="100000"/>
              </a:lnSpc>
            </a:pPr>
            <a:r>
              <a:rPr sz="950" b="1" i="0">
                <a:solidFill>
                  <a:srgbClr val="171717"/>
                </a:solidFill>
                <a:latin typeface="Arial"/>
              </a:rPr>
              <a:t>18 j-h</a:t>
            </a:r>
          </a:p>
        </p:txBody>
      </p:sp>
      <p:cxnSp>
        <p:nvCxnSpPr>
          <p:cNvPr id="45" name="Connector 44"/>
          <p:cNvCxnSpPr/>
          <p:nvPr/>
        </p:nvCxnSpPr>
        <p:spPr>
          <a:xfrm>
            <a:off x="931545" y="1956816"/>
            <a:ext cx="7280910" cy="0"/>
          </a:xfrm>
          <a:prstGeom prst="line">
            <a:avLst/>
          </a:prstGeom>
          <a:ln w="12700">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931545" y="1956816"/>
            <a:ext cx="0" cy="91440"/>
          </a:xfrm>
          <a:prstGeom prst="line">
            <a:avLst/>
          </a:prstGeom>
          <a:ln w="12700">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971675" y="1956816"/>
            <a:ext cx="0" cy="91440"/>
          </a:xfrm>
          <a:prstGeom prst="line">
            <a:avLst/>
          </a:prstGeom>
          <a:ln w="12700">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011805" y="1956816"/>
            <a:ext cx="0" cy="91440"/>
          </a:xfrm>
          <a:prstGeom prst="line">
            <a:avLst/>
          </a:prstGeom>
          <a:ln w="12700">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4051935" y="1956816"/>
            <a:ext cx="0" cy="91440"/>
          </a:xfrm>
          <a:prstGeom prst="line">
            <a:avLst/>
          </a:prstGeom>
          <a:ln w="12700">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092065" y="1956816"/>
            <a:ext cx="0" cy="91440"/>
          </a:xfrm>
          <a:prstGeom prst="line">
            <a:avLst/>
          </a:prstGeom>
          <a:ln w="12700">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6132195" y="1956816"/>
            <a:ext cx="0" cy="91440"/>
          </a:xfrm>
          <a:prstGeom prst="line">
            <a:avLst/>
          </a:prstGeom>
          <a:ln w="12700">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172325" y="1956816"/>
            <a:ext cx="0" cy="91440"/>
          </a:xfrm>
          <a:prstGeom prst="line">
            <a:avLst/>
          </a:prstGeom>
          <a:ln w="12700">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212455" y="1956816"/>
            <a:ext cx="0" cy="91440"/>
          </a:xfrm>
          <a:prstGeom prst="line">
            <a:avLst/>
          </a:prstGeom>
          <a:ln w="12700">
            <a:solidFill>
              <a:srgbClr val="D4D4D4"/>
            </a:solidFill>
          </a:ln>
        </p:spPr>
        <p:style>
          <a:lnRef idx="2">
            <a:schemeClr val="accent1"/>
          </a:lnRef>
          <a:fillRef idx="0">
            <a:schemeClr val="accent1"/>
          </a:fillRef>
          <a:effectRef idx="1">
            <a:schemeClr val="accent1"/>
          </a:effectRef>
          <a:fontRef idx="minor">
            <a:schemeClr val="tx1"/>
          </a:fontRef>
        </p:style>
      </p:cxnSp>
      <p:sp>
        <p:nvSpPr>
          <p:cNvPr id="54" name="Rounded Rectangle 53"/>
          <p:cNvSpPr/>
          <p:nvPr/>
        </p:nvSpPr>
        <p:spPr>
          <a:xfrm>
            <a:off x="457200" y="2962656"/>
            <a:ext cx="2560320" cy="932688"/>
          </a:xfrm>
          <a:prstGeom prst="roundRect">
            <a:avLst>
              <a:gd name="adj" fmla="val 6127"/>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457200" y="3044952"/>
            <a:ext cx="2560320" cy="365760"/>
          </a:xfrm>
          <a:prstGeom prst="rect">
            <a:avLst/>
          </a:prstGeom>
          <a:noFill/>
        </p:spPr>
        <p:txBody>
          <a:bodyPr wrap="square" lIns="54864" tIns="27432" rIns="54864" bIns="27432" anchor="t">
            <a:spAutoFit/>
          </a:bodyPr>
          <a:lstStyle/>
          <a:p>
            <a:pPr algn="ctr">
              <a:lnSpc>
                <a:spcPct val="100000"/>
              </a:lnSpc>
            </a:pPr>
            <a:r>
              <a:rPr sz="1800" b="1" i="0" spc="-63">
                <a:solidFill>
                  <a:srgbClr val="171717"/>
                </a:solidFill>
                <a:latin typeface="Arial"/>
              </a:rPr>
              <a:t>207 j-h</a:t>
            </a:r>
          </a:p>
        </p:txBody>
      </p:sp>
      <p:sp>
        <p:nvSpPr>
          <p:cNvPr id="56" name="TextBox 55"/>
          <p:cNvSpPr txBox="1"/>
          <p:nvPr/>
        </p:nvSpPr>
        <p:spPr>
          <a:xfrm>
            <a:off x="457200" y="3319272"/>
            <a:ext cx="2560320" cy="365760"/>
          </a:xfrm>
          <a:prstGeom prst="rect">
            <a:avLst/>
          </a:prstGeom>
          <a:noFill/>
        </p:spPr>
        <p:txBody>
          <a:bodyPr wrap="square" lIns="54864" tIns="27432" rIns="54864" bIns="27432" anchor="t">
            <a:spAutoFit/>
          </a:bodyPr>
          <a:lstStyle/>
          <a:p>
            <a:pPr algn="ctr">
              <a:lnSpc>
                <a:spcPct val="100000"/>
              </a:lnSpc>
            </a:pPr>
            <a:r>
              <a:rPr sz="700" b="1" i="0" spc="112">
                <a:solidFill>
                  <a:srgbClr val="6741D9"/>
                </a:solidFill>
                <a:latin typeface="Arial"/>
              </a:rPr>
              <a:t>CHARGE, PAS DURÉE</a:t>
            </a:r>
          </a:p>
        </p:txBody>
      </p:sp>
      <p:sp>
        <p:nvSpPr>
          <p:cNvPr id="57" name="TextBox 56"/>
          <p:cNvSpPr txBox="1"/>
          <p:nvPr/>
        </p:nvSpPr>
        <p:spPr>
          <a:xfrm>
            <a:off x="457200" y="3621024"/>
            <a:ext cx="2560320" cy="201168"/>
          </a:xfrm>
          <a:prstGeom prst="rect">
            <a:avLst/>
          </a:prstGeom>
          <a:noFill/>
        </p:spPr>
        <p:txBody>
          <a:bodyPr wrap="square" lIns="54864" tIns="27432" rIns="54864" bIns="27432" anchor="t">
            <a:spAutoFit/>
          </a:bodyPr>
          <a:lstStyle/>
          <a:p>
            <a:pPr algn="ctr">
              <a:lnSpc>
                <a:spcPct val="100000"/>
              </a:lnSpc>
            </a:pPr>
            <a:r>
              <a:rPr sz="800" b="0" i="0">
                <a:solidFill>
                  <a:srgbClr val="666666"/>
                </a:solidFill>
                <a:latin typeface="Arial"/>
              </a:rPr>
              <a:t>8 lots · 4 parties prenantes internes, 4 externes</a:t>
            </a:r>
          </a:p>
        </p:txBody>
      </p:sp>
      <p:sp>
        <p:nvSpPr>
          <p:cNvPr id="58" name="Rounded Rectangle 57"/>
          <p:cNvSpPr/>
          <p:nvPr/>
        </p:nvSpPr>
        <p:spPr>
          <a:xfrm>
            <a:off x="3291840" y="2962656"/>
            <a:ext cx="2560320" cy="932688"/>
          </a:xfrm>
          <a:prstGeom prst="roundRect">
            <a:avLst>
              <a:gd name="adj" fmla="val 6127"/>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3291840" y="3044952"/>
            <a:ext cx="2560320" cy="365760"/>
          </a:xfrm>
          <a:prstGeom prst="rect">
            <a:avLst/>
          </a:prstGeom>
          <a:noFill/>
        </p:spPr>
        <p:txBody>
          <a:bodyPr wrap="square" lIns="54864" tIns="27432" rIns="54864" bIns="27432" anchor="t">
            <a:spAutoFit/>
          </a:bodyPr>
          <a:lstStyle/>
          <a:p>
            <a:pPr algn="ctr">
              <a:lnSpc>
                <a:spcPct val="100000"/>
              </a:lnSpc>
            </a:pPr>
            <a:r>
              <a:rPr sz="1800" b="1" i="0" spc="-63">
                <a:solidFill>
                  <a:srgbClr val="171717"/>
                </a:solidFill>
                <a:latin typeface="Arial"/>
              </a:rPr>
              <a:t>103 500 €</a:t>
            </a:r>
          </a:p>
        </p:txBody>
      </p:sp>
      <p:sp>
        <p:nvSpPr>
          <p:cNvPr id="60" name="TextBox 59"/>
          <p:cNvSpPr txBox="1"/>
          <p:nvPr/>
        </p:nvSpPr>
        <p:spPr>
          <a:xfrm>
            <a:off x="3291840" y="3319272"/>
            <a:ext cx="2560320" cy="365760"/>
          </a:xfrm>
          <a:prstGeom prst="rect">
            <a:avLst/>
          </a:prstGeom>
          <a:noFill/>
        </p:spPr>
        <p:txBody>
          <a:bodyPr wrap="square" lIns="54864" tIns="27432" rIns="54864" bIns="27432" anchor="t">
            <a:spAutoFit/>
          </a:bodyPr>
          <a:lstStyle/>
          <a:p>
            <a:pPr algn="ctr">
              <a:lnSpc>
                <a:spcPct val="100000"/>
              </a:lnSpc>
            </a:pPr>
            <a:r>
              <a:rPr sz="700" b="1" i="0" spc="112">
                <a:solidFill>
                  <a:srgbClr val="6741D9"/>
                </a:solidFill>
                <a:latin typeface="Arial"/>
              </a:rPr>
              <a:t>COÛT DE CONSTRUCTION</a:t>
            </a:r>
          </a:p>
        </p:txBody>
      </p:sp>
      <p:sp>
        <p:nvSpPr>
          <p:cNvPr id="61" name="TextBox 60"/>
          <p:cNvSpPr txBox="1"/>
          <p:nvPr/>
        </p:nvSpPr>
        <p:spPr>
          <a:xfrm>
            <a:off x="3291840" y="3621024"/>
            <a:ext cx="2560320" cy="201168"/>
          </a:xfrm>
          <a:prstGeom prst="rect">
            <a:avLst/>
          </a:prstGeom>
          <a:noFill/>
        </p:spPr>
        <p:txBody>
          <a:bodyPr wrap="square" lIns="54864" tIns="27432" rIns="54864" bIns="27432" anchor="t">
            <a:spAutoFit/>
          </a:bodyPr>
          <a:lstStyle/>
          <a:p>
            <a:pPr algn="ctr">
              <a:lnSpc>
                <a:spcPct val="100000"/>
              </a:lnSpc>
            </a:pPr>
            <a:r>
              <a:rPr sz="800" b="0" i="0">
                <a:solidFill>
                  <a:srgbClr val="666666"/>
                </a:solidFill>
                <a:latin typeface="Arial"/>
              </a:rPr>
              <a:t>33 000 € conception · 70 500 € déploiement</a:t>
            </a:r>
          </a:p>
        </p:txBody>
      </p:sp>
      <p:sp>
        <p:nvSpPr>
          <p:cNvPr id="62" name="Rounded Rectangle 61"/>
          <p:cNvSpPr/>
          <p:nvPr/>
        </p:nvSpPr>
        <p:spPr>
          <a:xfrm>
            <a:off x="6126480" y="2962656"/>
            <a:ext cx="2560320" cy="932688"/>
          </a:xfrm>
          <a:prstGeom prst="roundRect">
            <a:avLst>
              <a:gd name="adj" fmla="val 6127"/>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6126480" y="3044952"/>
            <a:ext cx="2560320" cy="365760"/>
          </a:xfrm>
          <a:prstGeom prst="rect">
            <a:avLst/>
          </a:prstGeom>
          <a:noFill/>
        </p:spPr>
        <p:txBody>
          <a:bodyPr wrap="square" lIns="54864" tIns="27432" rIns="54864" bIns="27432" anchor="t">
            <a:spAutoFit/>
          </a:bodyPr>
          <a:lstStyle/>
          <a:p>
            <a:pPr algn="ctr">
              <a:lnSpc>
                <a:spcPct val="100000"/>
              </a:lnSpc>
            </a:pPr>
            <a:r>
              <a:rPr sz="1800" b="1" i="0" spc="-63">
                <a:solidFill>
                  <a:srgbClr val="171717"/>
                </a:solidFill>
                <a:latin typeface="Arial"/>
              </a:rPr>
              <a:t>71 € / mois</a:t>
            </a:r>
          </a:p>
        </p:txBody>
      </p:sp>
      <p:sp>
        <p:nvSpPr>
          <p:cNvPr id="64" name="TextBox 63"/>
          <p:cNvSpPr txBox="1"/>
          <p:nvPr/>
        </p:nvSpPr>
        <p:spPr>
          <a:xfrm>
            <a:off x="6126480" y="3319272"/>
            <a:ext cx="2560320" cy="365760"/>
          </a:xfrm>
          <a:prstGeom prst="rect">
            <a:avLst/>
          </a:prstGeom>
          <a:noFill/>
        </p:spPr>
        <p:txBody>
          <a:bodyPr wrap="square" lIns="54864" tIns="27432" rIns="54864" bIns="27432" anchor="t">
            <a:spAutoFit/>
          </a:bodyPr>
          <a:lstStyle/>
          <a:p>
            <a:pPr algn="ctr">
              <a:lnSpc>
                <a:spcPct val="100000"/>
              </a:lnSpc>
            </a:pPr>
            <a:r>
              <a:rPr sz="700" b="1" i="0" spc="112">
                <a:solidFill>
                  <a:srgbClr val="6741D9"/>
                </a:solidFill>
                <a:latin typeface="Arial"/>
              </a:rPr>
              <a:t>COÛT D’EXPLOITATION</a:t>
            </a:r>
          </a:p>
        </p:txBody>
      </p:sp>
      <p:sp>
        <p:nvSpPr>
          <p:cNvPr id="65" name="TextBox 64"/>
          <p:cNvSpPr txBox="1"/>
          <p:nvPr/>
        </p:nvSpPr>
        <p:spPr>
          <a:xfrm>
            <a:off x="6126480" y="3621024"/>
            <a:ext cx="2560320" cy="201168"/>
          </a:xfrm>
          <a:prstGeom prst="rect">
            <a:avLst/>
          </a:prstGeom>
          <a:noFill/>
        </p:spPr>
        <p:txBody>
          <a:bodyPr wrap="square" lIns="54864" tIns="27432" rIns="54864" bIns="27432" anchor="t">
            <a:spAutoFit/>
          </a:bodyPr>
          <a:lstStyle/>
          <a:p>
            <a:pPr algn="ctr">
              <a:lnSpc>
                <a:spcPct val="100000"/>
              </a:lnSpc>
            </a:pPr>
            <a:r>
              <a:rPr sz="800" b="0" i="0">
                <a:solidFill>
                  <a:srgbClr val="666666"/>
                </a:solidFill>
                <a:latin typeface="Arial"/>
              </a:rPr>
              <a:t>852 € par an, alerté avant dépassement</a:t>
            </a:r>
          </a:p>
        </p:txBody>
      </p:sp>
      <p:sp>
        <p:nvSpPr>
          <p:cNvPr id="66" name="Rectangle 65"/>
          <p:cNvSpPr/>
          <p:nvPr/>
        </p:nvSpPr>
        <p:spPr>
          <a:xfrm>
            <a:off x="457200" y="404164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66"/>
          <p:cNvSpPr/>
          <p:nvPr/>
        </p:nvSpPr>
        <p:spPr>
          <a:xfrm>
            <a:off x="457200" y="4041648"/>
            <a:ext cx="548640" cy="9144"/>
          </a:xfrm>
          <a:prstGeom prst="rect">
            <a:avLst/>
          </a:prstGeom>
          <a:solidFill>
            <a:srgbClr val="674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457200" y="4114800"/>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6741D9"/>
                </a:solidFill>
                <a:latin typeface="Arial"/>
              </a:rPr>
              <a:t>RÉPARTITION DE LA CHARGE, SOMME DES 8 LOTS</a:t>
            </a:r>
          </a:p>
        </p:txBody>
      </p:sp>
      <p:sp>
        <p:nvSpPr>
          <p:cNvPr id="69" name="TextBox 68"/>
          <p:cNvSpPr txBox="1"/>
          <p:nvPr/>
        </p:nvSpPr>
        <p:spPr>
          <a:xfrm>
            <a:off x="457200" y="4315968"/>
            <a:ext cx="8229600" cy="274320"/>
          </a:xfrm>
          <a:prstGeom prst="rect">
            <a:avLst/>
          </a:prstGeom>
          <a:noFill/>
        </p:spPr>
        <p:txBody>
          <a:bodyPr wrap="square" lIns="54864" tIns="27432" rIns="54864" bIns="27432" anchor="t">
            <a:spAutoFit/>
          </a:bodyPr>
          <a:lstStyle/>
          <a:p>
            <a:pPr algn="l">
              <a:lnSpc>
                <a:spcPct val="105000"/>
              </a:lnSpc>
            </a:pPr>
            <a:r>
              <a:rPr sz="950" b="0" i="0">
                <a:solidFill>
                  <a:srgbClr val="666666"/>
                </a:solidFill>
                <a:latin typeface="Arial"/>
              </a:rPr>
              <a:t>fonctionnel 93 j-h, 45 %   ·   non fonctionnel 96 j-h, 46 %   ·   support 18 j-h, 9 %   ·   total 207 j-h</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3048000" y="0"/>
            <a:ext cx="1524000" cy="41148"/>
          </a:xfrm>
          <a:prstGeom prst="rect">
            <a:avLst/>
          </a:prstGeom>
          <a:solidFill>
            <a:srgbClr val="674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269480"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10144"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lIns="54864" tIns="27432" rIns="54864" bIns="27432" anchor="t">
            <a:spAutoFit/>
          </a:bodyPr>
          <a:lstStyle/>
          <a:p>
            <a:pPr algn="l">
              <a:lnSpc>
                <a:spcPct val="100000"/>
              </a:lnSpc>
            </a:pPr>
            <a:r>
              <a:rPr sz="750" b="1" i="0" spc="120">
                <a:solidFill>
                  <a:srgbClr val="6741D9"/>
                </a:solidFill>
                <a:latin typeface="Arial"/>
              </a:rPr>
              <a:t>3 · GESTION DE PROJET</a:t>
            </a:r>
          </a:p>
        </p:txBody>
      </p:sp>
      <p:sp>
        <p:nvSpPr>
          <p:cNvPr id="11" name="TextBox 10"/>
          <p:cNvSpPr txBox="1"/>
          <p:nvPr/>
        </p:nvSpPr>
        <p:spPr>
          <a:xfrm>
            <a:off x="457200" y="493776"/>
            <a:ext cx="6720840" cy="566928"/>
          </a:xfrm>
          <a:prstGeom prst="rect">
            <a:avLst/>
          </a:prstGeom>
          <a:noFill/>
        </p:spPr>
        <p:txBody>
          <a:bodyPr wrap="square" lIns="54864" tIns="27432" rIns="54864" bIns="27432" anchor="t">
            <a:spAutoFit/>
          </a:bodyPr>
          <a:lstStyle/>
          <a:p>
            <a:pPr algn="l">
              <a:lnSpc>
                <a:spcPct val="100000"/>
              </a:lnSpc>
            </a:pPr>
            <a:r>
              <a:rPr sz="2400" b="1" i="0" spc="-84">
                <a:solidFill>
                  <a:srgbClr val="171717"/>
                </a:solidFill>
                <a:latin typeface="Arial"/>
              </a:rPr>
              <a:t>Planification, PERT et Gantt</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26679" y="4832604"/>
            <a:ext cx="1143000" cy="237744"/>
          </a:xfrm>
          <a:prstGeom prst="rect">
            <a:avLst/>
          </a:prstGeom>
          <a:noFill/>
        </p:spPr>
        <p:txBody>
          <a:bodyPr wrap="square" lIns="54864" tIns="27432" rIns="54864" bIns="27432" anchor="t">
            <a:spAutoFit/>
          </a:bodyPr>
          <a:lstStyle/>
          <a:p>
            <a:pPr algn="r">
              <a:lnSpc>
                <a:spcPct val="100000"/>
              </a:lnSpc>
            </a:pPr>
            <a:r>
              <a:rPr sz="800" b="0" i="0">
                <a:solidFill>
                  <a:srgbClr val="A1A1A1"/>
                </a:solidFill>
                <a:latin typeface="Arial"/>
              </a:rPr>
              <a:t>12 / 31</a:t>
            </a:r>
          </a:p>
        </p:txBody>
      </p:sp>
      <p:sp>
        <p:nvSpPr>
          <p:cNvPr id="14" name="Rounded Rectangle 13"/>
          <p:cNvSpPr/>
          <p:nvPr/>
        </p:nvSpPr>
        <p:spPr>
          <a:xfrm>
            <a:off x="457200" y="4818888"/>
            <a:ext cx="1051560" cy="228600"/>
          </a:xfrm>
          <a:prstGeom prst="roundRect">
            <a:avLst>
              <a:gd name="adj" fmla="val 25000"/>
            </a:avLst>
          </a:prstGeom>
          <a:solidFill>
            <a:srgbClr val="674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4818888"/>
            <a:ext cx="1051560" cy="228600"/>
          </a:xfrm>
          <a:prstGeom prst="rect">
            <a:avLst/>
          </a:prstGeom>
          <a:noFill/>
        </p:spPr>
        <p:txBody>
          <a:bodyPr wrap="square" lIns="54864" tIns="27432" rIns="54864" bIns="27432" anchor="ctr">
            <a:spAutoFit/>
          </a:bodyPr>
          <a:lstStyle/>
          <a:p>
            <a:pPr algn="ctr">
              <a:lnSpc>
                <a:spcPct val="100000"/>
              </a:lnSpc>
            </a:pPr>
            <a:r>
              <a:rPr sz="750" b="1" i="0">
                <a:solidFill>
                  <a:srgbClr val="FFFFFF"/>
                </a:solidFill>
                <a:latin typeface="Arial"/>
              </a:rPr>
              <a:t>Réf.  C15 · C16</a:t>
            </a:r>
          </a:p>
        </p:txBody>
      </p:sp>
      <p:sp>
        <p:nvSpPr>
          <p:cNvPr id="16" name="TextBox 15"/>
          <p:cNvSpPr txBox="1"/>
          <p:nvPr/>
        </p:nvSpPr>
        <p:spPr>
          <a:xfrm>
            <a:off x="1600200" y="4818888"/>
            <a:ext cx="5486400" cy="228600"/>
          </a:xfrm>
          <a:prstGeom prst="rect">
            <a:avLst/>
          </a:prstGeom>
          <a:noFill/>
        </p:spPr>
        <p:txBody>
          <a:bodyPr wrap="square" lIns="54864" tIns="27432" rIns="54864" bIns="27432" anchor="ctr">
            <a:spAutoFit/>
          </a:bodyPr>
          <a:lstStyle/>
          <a:p>
            <a:pPr algn="l">
              <a:lnSpc>
                <a:spcPct val="100000"/>
              </a:lnSpc>
            </a:pPr>
            <a:r>
              <a:rPr sz="750" b="0" i="0">
                <a:solidFill>
                  <a:srgbClr val="A1A1A1"/>
                </a:solidFill>
                <a:latin typeface="Arial"/>
              </a:rPr>
              <a:t>BC2 · mémoire 13.1.1 · annexes M, N</a:t>
            </a:r>
          </a:p>
        </p:txBody>
      </p:sp>
      <p:sp>
        <p:nvSpPr>
          <p:cNvPr id="17" name="TextBox 16"/>
          <p:cNvSpPr txBox="1"/>
          <p:nvPr/>
        </p:nvSpPr>
        <p:spPr>
          <a:xfrm>
            <a:off x="457200" y="1225296"/>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CHEMIN CRITIQUE, 122 JOURS OUVRÉS, AUCUNE LATITUDE</a:t>
            </a:r>
          </a:p>
        </p:txBody>
      </p:sp>
      <p:sp>
        <p:nvSpPr>
          <p:cNvPr id="18" name="Rounded Rectangle 17"/>
          <p:cNvSpPr/>
          <p:nvPr/>
        </p:nvSpPr>
        <p:spPr>
          <a:xfrm>
            <a:off x="457200" y="1444752"/>
            <a:ext cx="1426464" cy="566928"/>
          </a:xfrm>
          <a:prstGeom prst="roundRect">
            <a:avLst>
              <a:gd name="adj" fmla="val 10080"/>
            </a:avLst>
          </a:prstGeom>
          <a:solidFill>
            <a:srgbClr val="FFE3E3"/>
          </a:solidFill>
          <a:ln w="9525">
            <a:solidFill>
              <a:srgbClr val="F1A2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200" y="1481328"/>
            <a:ext cx="1426464" cy="219456"/>
          </a:xfrm>
          <a:prstGeom prst="rect">
            <a:avLst/>
          </a:prstGeom>
          <a:noFill/>
        </p:spPr>
        <p:txBody>
          <a:bodyPr wrap="square" lIns="54864" tIns="27432" rIns="54864" bIns="27432" anchor="t">
            <a:spAutoFit/>
          </a:bodyPr>
          <a:lstStyle/>
          <a:p>
            <a:pPr algn="ctr">
              <a:lnSpc>
                <a:spcPct val="100000"/>
              </a:lnSpc>
            </a:pPr>
            <a:r>
              <a:rPr sz="1000" b="1" i="0">
                <a:solidFill>
                  <a:srgbClr val="171717"/>
                </a:solidFill>
                <a:latin typeface="Arial"/>
              </a:rPr>
              <a:t>A  Cadrage</a:t>
            </a:r>
          </a:p>
        </p:txBody>
      </p:sp>
      <p:sp>
        <p:nvSpPr>
          <p:cNvPr id="20" name="TextBox 19"/>
          <p:cNvSpPr txBox="1"/>
          <p:nvPr/>
        </p:nvSpPr>
        <p:spPr>
          <a:xfrm>
            <a:off x="457200" y="1700784"/>
            <a:ext cx="1426464" cy="219456"/>
          </a:xfrm>
          <a:prstGeom prst="rect">
            <a:avLst/>
          </a:prstGeom>
          <a:noFill/>
        </p:spPr>
        <p:txBody>
          <a:bodyPr wrap="square" lIns="54864" tIns="27432" rIns="54864" bIns="27432" anchor="t">
            <a:spAutoFit/>
          </a:bodyPr>
          <a:lstStyle/>
          <a:p>
            <a:pPr algn="ctr">
              <a:lnSpc>
                <a:spcPct val="100000"/>
              </a:lnSpc>
            </a:pPr>
            <a:r>
              <a:rPr sz="1050" b="1" i="0">
                <a:solidFill>
                  <a:srgbClr val="E03131"/>
                </a:solidFill>
                <a:latin typeface="Arial"/>
              </a:rPr>
              <a:t>24 j</a:t>
            </a:r>
          </a:p>
        </p:txBody>
      </p:sp>
      <p:sp>
        <p:nvSpPr>
          <p:cNvPr id="21" name="Right Arrow 20"/>
          <p:cNvSpPr/>
          <p:nvPr/>
        </p:nvSpPr>
        <p:spPr>
          <a:xfrm>
            <a:off x="1920240" y="1664208"/>
            <a:ext cx="201168" cy="201168"/>
          </a:xfrm>
          <a:prstGeom prst="rightArrow">
            <a:avLst/>
          </a:prstGeom>
          <a:solidFill>
            <a:srgbClr val="E0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2157984" y="1444752"/>
            <a:ext cx="1426464" cy="566928"/>
          </a:xfrm>
          <a:prstGeom prst="roundRect">
            <a:avLst>
              <a:gd name="adj" fmla="val 10080"/>
            </a:avLst>
          </a:prstGeom>
          <a:solidFill>
            <a:srgbClr val="FFE3E3"/>
          </a:solidFill>
          <a:ln w="9525">
            <a:solidFill>
              <a:srgbClr val="F1A2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157984" y="1481328"/>
            <a:ext cx="1426464" cy="219456"/>
          </a:xfrm>
          <a:prstGeom prst="rect">
            <a:avLst/>
          </a:prstGeom>
          <a:noFill/>
        </p:spPr>
        <p:txBody>
          <a:bodyPr wrap="square" lIns="54864" tIns="27432" rIns="54864" bIns="27432" anchor="t">
            <a:spAutoFit/>
          </a:bodyPr>
          <a:lstStyle/>
          <a:p>
            <a:pPr algn="ctr">
              <a:lnSpc>
                <a:spcPct val="100000"/>
              </a:lnSpc>
            </a:pPr>
            <a:r>
              <a:rPr sz="1000" b="1" i="0">
                <a:solidFill>
                  <a:srgbClr val="171717"/>
                </a:solidFill>
                <a:latin typeface="Arial"/>
              </a:rPr>
              <a:t>C  Backend API</a:t>
            </a:r>
          </a:p>
        </p:txBody>
      </p:sp>
      <p:sp>
        <p:nvSpPr>
          <p:cNvPr id="24" name="TextBox 23"/>
          <p:cNvSpPr txBox="1"/>
          <p:nvPr/>
        </p:nvSpPr>
        <p:spPr>
          <a:xfrm>
            <a:off x="2157984" y="1700784"/>
            <a:ext cx="1426464" cy="219456"/>
          </a:xfrm>
          <a:prstGeom prst="rect">
            <a:avLst/>
          </a:prstGeom>
          <a:noFill/>
        </p:spPr>
        <p:txBody>
          <a:bodyPr wrap="square" lIns="54864" tIns="27432" rIns="54864" bIns="27432" anchor="t">
            <a:spAutoFit/>
          </a:bodyPr>
          <a:lstStyle/>
          <a:p>
            <a:pPr algn="ctr">
              <a:lnSpc>
                <a:spcPct val="100000"/>
              </a:lnSpc>
            </a:pPr>
            <a:r>
              <a:rPr sz="1050" b="1" i="0">
                <a:solidFill>
                  <a:srgbClr val="E03131"/>
                </a:solidFill>
                <a:latin typeface="Arial"/>
              </a:rPr>
              <a:t>37 j</a:t>
            </a:r>
          </a:p>
        </p:txBody>
      </p:sp>
      <p:sp>
        <p:nvSpPr>
          <p:cNvPr id="25" name="Right Arrow 24"/>
          <p:cNvSpPr/>
          <p:nvPr/>
        </p:nvSpPr>
        <p:spPr>
          <a:xfrm>
            <a:off x="3621024" y="1664208"/>
            <a:ext cx="201168" cy="201168"/>
          </a:xfrm>
          <a:prstGeom prst="rightArrow">
            <a:avLst/>
          </a:prstGeom>
          <a:solidFill>
            <a:srgbClr val="E0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3858768" y="1444752"/>
            <a:ext cx="1426464" cy="566928"/>
          </a:xfrm>
          <a:prstGeom prst="roundRect">
            <a:avLst>
              <a:gd name="adj" fmla="val 10080"/>
            </a:avLst>
          </a:prstGeom>
          <a:solidFill>
            <a:srgbClr val="FFE3E3"/>
          </a:solidFill>
          <a:ln w="9525">
            <a:solidFill>
              <a:srgbClr val="F1A2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858768" y="1481328"/>
            <a:ext cx="1426464" cy="219456"/>
          </a:xfrm>
          <a:prstGeom prst="rect">
            <a:avLst/>
          </a:prstGeom>
          <a:noFill/>
        </p:spPr>
        <p:txBody>
          <a:bodyPr wrap="square" lIns="54864" tIns="27432" rIns="54864" bIns="27432" anchor="t">
            <a:spAutoFit/>
          </a:bodyPr>
          <a:lstStyle/>
          <a:p>
            <a:pPr algn="ctr">
              <a:lnSpc>
                <a:spcPct val="100000"/>
              </a:lnSpc>
            </a:pPr>
            <a:r>
              <a:rPr sz="1000" b="1" i="0">
                <a:solidFill>
                  <a:srgbClr val="171717"/>
                </a:solidFill>
                <a:latin typeface="Arial"/>
              </a:rPr>
              <a:t>D  Chaîne CI/CD</a:t>
            </a:r>
          </a:p>
        </p:txBody>
      </p:sp>
      <p:sp>
        <p:nvSpPr>
          <p:cNvPr id="28" name="TextBox 27"/>
          <p:cNvSpPr txBox="1"/>
          <p:nvPr/>
        </p:nvSpPr>
        <p:spPr>
          <a:xfrm>
            <a:off x="3858768" y="1700784"/>
            <a:ext cx="1426464" cy="219456"/>
          </a:xfrm>
          <a:prstGeom prst="rect">
            <a:avLst/>
          </a:prstGeom>
          <a:noFill/>
        </p:spPr>
        <p:txBody>
          <a:bodyPr wrap="square" lIns="54864" tIns="27432" rIns="54864" bIns="27432" anchor="t">
            <a:spAutoFit/>
          </a:bodyPr>
          <a:lstStyle/>
          <a:p>
            <a:pPr algn="ctr">
              <a:lnSpc>
                <a:spcPct val="100000"/>
              </a:lnSpc>
            </a:pPr>
            <a:r>
              <a:rPr sz="1050" b="1" i="0">
                <a:solidFill>
                  <a:srgbClr val="E03131"/>
                </a:solidFill>
                <a:latin typeface="Arial"/>
              </a:rPr>
              <a:t>25 j</a:t>
            </a:r>
          </a:p>
        </p:txBody>
      </p:sp>
      <p:sp>
        <p:nvSpPr>
          <p:cNvPr id="29" name="Right Arrow 28"/>
          <p:cNvSpPr/>
          <p:nvPr/>
        </p:nvSpPr>
        <p:spPr>
          <a:xfrm>
            <a:off x="5321808" y="1664208"/>
            <a:ext cx="201168" cy="201168"/>
          </a:xfrm>
          <a:prstGeom prst="rightArrow">
            <a:avLst/>
          </a:prstGeom>
          <a:solidFill>
            <a:srgbClr val="E0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5559552" y="1444752"/>
            <a:ext cx="1426464" cy="566928"/>
          </a:xfrm>
          <a:prstGeom prst="roundRect">
            <a:avLst>
              <a:gd name="adj" fmla="val 10080"/>
            </a:avLst>
          </a:prstGeom>
          <a:solidFill>
            <a:srgbClr val="FFE3E3"/>
          </a:solidFill>
          <a:ln w="9525">
            <a:solidFill>
              <a:srgbClr val="F1A2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559552" y="1481328"/>
            <a:ext cx="1426464" cy="219456"/>
          </a:xfrm>
          <a:prstGeom prst="rect">
            <a:avLst/>
          </a:prstGeom>
          <a:noFill/>
        </p:spPr>
        <p:txBody>
          <a:bodyPr wrap="square" lIns="54864" tIns="27432" rIns="54864" bIns="27432" anchor="t">
            <a:spAutoFit/>
          </a:bodyPr>
          <a:lstStyle/>
          <a:p>
            <a:pPr algn="ctr">
              <a:lnSpc>
                <a:spcPct val="100000"/>
              </a:lnSpc>
            </a:pPr>
            <a:r>
              <a:rPr sz="1000" b="1" i="0">
                <a:solidFill>
                  <a:srgbClr val="171717"/>
                </a:solidFill>
                <a:latin typeface="Arial"/>
              </a:rPr>
              <a:t>F  Observabilité</a:t>
            </a:r>
          </a:p>
        </p:txBody>
      </p:sp>
      <p:sp>
        <p:nvSpPr>
          <p:cNvPr id="32" name="TextBox 31"/>
          <p:cNvSpPr txBox="1"/>
          <p:nvPr/>
        </p:nvSpPr>
        <p:spPr>
          <a:xfrm>
            <a:off x="5559552" y="1700784"/>
            <a:ext cx="1426464" cy="219456"/>
          </a:xfrm>
          <a:prstGeom prst="rect">
            <a:avLst/>
          </a:prstGeom>
          <a:noFill/>
        </p:spPr>
        <p:txBody>
          <a:bodyPr wrap="square" lIns="54864" tIns="27432" rIns="54864" bIns="27432" anchor="t">
            <a:spAutoFit/>
          </a:bodyPr>
          <a:lstStyle/>
          <a:p>
            <a:pPr algn="ctr">
              <a:lnSpc>
                <a:spcPct val="100000"/>
              </a:lnSpc>
            </a:pPr>
            <a:r>
              <a:rPr sz="1050" b="1" i="0">
                <a:solidFill>
                  <a:srgbClr val="E03131"/>
                </a:solidFill>
                <a:latin typeface="Arial"/>
              </a:rPr>
              <a:t>21 j</a:t>
            </a:r>
          </a:p>
        </p:txBody>
      </p:sp>
      <p:sp>
        <p:nvSpPr>
          <p:cNvPr id="33" name="Right Arrow 32"/>
          <p:cNvSpPr/>
          <p:nvPr/>
        </p:nvSpPr>
        <p:spPr>
          <a:xfrm>
            <a:off x="7022592" y="1664208"/>
            <a:ext cx="201168" cy="201168"/>
          </a:xfrm>
          <a:prstGeom prst="rightArrow">
            <a:avLst/>
          </a:prstGeom>
          <a:solidFill>
            <a:srgbClr val="E0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7260336" y="1444752"/>
            <a:ext cx="1426464" cy="566928"/>
          </a:xfrm>
          <a:prstGeom prst="roundRect">
            <a:avLst>
              <a:gd name="adj" fmla="val 10080"/>
            </a:avLst>
          </a:prstGeom>
          <a:solidFill>
            <a:srgbClr val="FFE3E3"/>
          </a:solidFill>
          <a:ln w="9525">
            <a:solidFill>
              <a:srgbClr val="F1A2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260336" y="1481328"/>
            <a:ext cx="1426464" cy="219456"/>
          </a:xfrm>
          <a:prstGeom prst="rect">
            <a:avLst/>
          </a:prstGeom>
          <a:noFill/>
        </p:spPr>
        <p:txBody>
          <a:bodyPr wrap="square" lIns="54864" tIns="27432" rIns="54864" bIns="27432" anchor="t">
            <a:spAutoFit/>
          </a:bodyPr>
          <a:lstStyle/>
          <a:p>
            <a:pPr algn="ctr">
              <a:lnSpc>
                <a:spcPct val="100000"/>
              </a:lnSpc>
            </a:pPr>
            <a:r>
              <a:rPr sz="1000" b="1" i="0">
                <a:solidFill>
                  <a:srgbClr val="171717"/>
                </a:solidFill>
                <a:latin typeface="Arial"/>
              </a:rPr>
              <a:t>H  Doc &amp; REX</a:t>
            </a:r>
          </a:p>
        </p:txBody>
      </p:sp>
      <p:sp>
        <p:nvSpPr>
          <p:cNvPr id="36" name="TextBox 35"/>
          <p:cNvSpPr txBox="1"/>
          <p:nvPr/>
        </p:nvSpPr>
        <p:spPr>
          <a:xfrm>
            <a:off x="7260336" y="1700784"/>
            <a:ext cx="1426464" cy="219456"/>
          </a:xfrm>
          <a:prstGeom prst="rect">
            <a:avLst/>
          </a:prstGeom>
          <a:noFill/>
        </p:spPr>
        <p:txBody>
          <a:bodyPr wrap="square" lIns="54864" tIns="27432" rIns="54864" bIns="27432" anchor="t">
            <a:spAutoFit/>
          </a:bodyPr>
          <a:lstStyle/>
          <a:p>
            <a:pPr algn="ctr">
              <a:lnSpc>
                <a:spcPct val="100000"/>
              </a:lnSpc>
            </a:pPr>
            <a:r>
              <a:rPr sz="1050" b="1" i="0">
                <a:solidFill>
                  <a:srgbClr val="E03131"/>
                </a:solidFill>
                <a:latin typeface="Arial"/>
              </a:rPr>
              <a:t>15 j</a:t>
            </a:r>
          </a:p>
        </p:txBody>
      </p:sp>
      <p:sp>
        <p:nvSpPr>
          <p:cNvPr id="37" name="TextBox 36"/>
          <p:cNvSpPr txBox="1"/>
          <p:nvPr/>
        </p:nvSpPr>
        <p:spPr>
          <a:xfrm>
            <a:off x="457200" y="2194560"/>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LES TROIS AUTRES LOTS ONT DU JEU</a:t>
            </a:r>
          </a:p>
        </p:txBody>
      </p:sp>
      <p:sp>
        <p:nvSpPr>
          <p:cNvPr id="38" name="Rectangle 37"/>
          <p:cNvSpPr/>
          <p:nvPr/>
        </p:nvSpPr>
        <p:spPr>
          <a:xfrm>
            <a:off x="2286000" y="2395728"/>
            <a:ext cx="5669280" cy="7315"/>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2231136" y="2395728"/>
            <a:ext cx="365760" cy="164592"/>
          </a:xfrm>
          <a:prstGeom prst="rect">
            <a:avLst/>
          </a:prstGeom>
          <a:noFill/>
        </p:spPr>
        <p:txBody>
          <a:bodyPr wrap="square" lIns="54864" tIns="27432" rIns="54864" bIns="27432" anchor="t">
            <a:spAutoFit/>
          </a:bodyPr>
          <a:lstStyle/>
          <a:p>
            <a:pPr algn="ctr">
              <a:lnSpc>
                <a:spcPct val="100000"/>
              </a:lnSpc>
            </a:pPr>
            <a:r>
              <a:rPr sz="650" b="0" i="0">
                <a:solidFill>
                  <a:srgbClr val="A1A1A1"/>
                </a:solidFill>
                <a:latin typeface="Arial"/>
              </a:rPr>
              <a:t>j0</a:t>
            </a:r>
          </a:p>
        </p:txBody>
      </p:sp>
      <p:sp>
        <p:nvSpPr>
          <p:cNvPr id="40" name="TextBox 39"/>
          <p:cNvSpPr txBox="1"/>
          <p:nvPr/>
        </p:nvSpPr>
        <p:spPr>
          <a:xfrm>
            <a:off x="7772400" y="2395728"/>
            <a:ext cx="365760" cy="164592"/>
          </a:xfrm>
          <a:prstGeom prst="rect">
            <a:avLst/>
          </a:prstGeom>
          <a:noFill/>
        </p:spPr>
        <p:txBody>
          <a:bodyPr wrap="square" lIns="54864" tIns="27432" rIns="54864" bIns="27432" anchor="t">
            <a:spAutoFit/>
          </a:bodyPr>
          <a:lstStyle/>
          <a:p>
            <a:pPr algn="ctr">
              <a:lnSpc>
                <a:spcPct val="100000"/>
              </a:lnSpc>
            </a:pPr>
            <a:r>
              <a:rPr sz="650" b="0" i="0">
                <a:solidFill>
                  <a:srgbClr val="A1A1A1"/>
                </a:solidFill>
                <a:latin typeface="Arial"/>
              </a:rPr>
              <a:t>j122</a:t>
            </a:r>
          </a:p>
        </p:txBody>
      </p:sp>
      <p:sp>
        <p:nvSpPr>
          <p:cNvPr id="41" name="TextBox 40"/>
          <p:cNvSpPr txBox="1"/>
          <p:nvPr/>
        </p:nvSpPr>
        <p:spPr>
          <a:xfrm>
            <a:off x="457200" y="2542032"/>
            <a:ext cx="1737360" cy="219456"/>
          </a:xfrm>
          <a:prstGeom prst="rect">
            <a:avLst/>
          </a:prstGeom>
          <a:noFill/>
        </p:spPr>
        <p:txBody>
          <a:bodyPr wrap="square" lIns="54864" tIns="27432" rIns="54864" bIns="27432" anchor="ctr">
            <a:spAutoFit/>
          </a:bodyPr>
          <a:lstStyle/>
          <a:p>
            <a:pPr algn="l">
              <a:lnSpc>
                <a:spcPct val="100000"/>
              </a:lnSpc>
            </a:pPr>
            <a:r>
              <a:rPr sz="850" b="1" i="0">
                <a:solidFill>
                  <a:srgbClr val="171717"/>
                </a:solidFill>
                <a:latin typeface="Arial"/>
              </a:rPr>
              <a:t>B  Infrastructure IaC</a:t>
            </a:r>
          </a:p>
        </p:txBody>
      </p:sp>
      <p:sp>
        <p:nvSpPr>
          <p:cNvPr id="42" name="Rounded Rectangle 41"/>
          <p:cNvSpPr/>
          <p:nvPr/>
        </p:nvSpPr>
        <p:spPr>
          <a:xfrm>
            <a:off x="3401268" y="2578608"/>
            <a:ext cx="1440554" cy="182880"/>
          </a:xfrm>
          <a:prstGeom prst="roundRect">
            <a:avLst>
              <a:gd name="adj" fmla="val 15625"/>
            </a:avLst>
          </a:prstGeom>
          <a:solidFill>
            <a:srgbClr val="D0EBFF"/>
          </a:solidFill>
          <a:ln w="9525">
            <a:solidFill>
              <a:srgbClr val="A4CB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3401268" y="2578608"/>
            <a:ext cx="1440554" cy="182880"/>
          </a:xfrm>
          <a:prstGeom prst="rect">
            <a:avLst/>
          </a:prstGeom>
          <a:noFill/>
        </p:spPr>
        <p:txBody>
          <a:bodyPr wrap="square" lIns="54864" tIns="27432" rIns="54864" bIns="27432" anchor="ctr">
            <a:spAutoFit/>
          </a:bodyPr>
          <a:lstStyle/>
          <a:p>
            <a:pPr algn="ctr">
              <a:lnSpc>
                <a:spcPct val="100000"/>
              </a:lnSpc>
            </a:pPr>
            <a:r>
              <a:rPr sz="650" b="1" i="0">
                <a:solidFill>
                  <a:srgbClr val="171717"/>
                </a:solidFill>
                <a:latin typeface="Arial"/>
              </a:rPr>
              <a:t>31 j de travail</a:t>
            </a:r>
          </a:p>
        </p:txBody>
      </p:sp>
      <p:sp>
        <p:nvSpPr>
          <p:cNvPr id="44" name="Rounded Rectangle 43"/>
          <p:cNvSpPr/>
          <p:nvPr/>
        </p:nvSpPr>
        <p:spPr>
          <a:xfrm>
            <a:off x="4841822" y="2606039"/>
            <a:ext cx="278817" cy="128016"/>
          </a:xfrm>
          <a:prstGeom prst="roundRect">
            <a:avLst>
              <a:gd name="adj" fmla="val 17857"/>
            </a:avLst>
          </a:prstGeom>
          <a:solidFill>
            <a:srgbClr val="E9F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8010144" y="2542032"/>
            <a:ext cx="676656" cy="219456"/>
          </a:xfrm>
          <a:prstGeom prst="rect">
            <a:avLst/>
          </a:prstGeom>
          <a:noFill/>
        </p:spPr>
        <p:txBody>
          <a:bodyPr wrap="square" lIns="54864" tIns="27432" rIns="54864" bIns="27432" anchor="ctr">
            <a:spAutoFit/>
          </a:bodyPr>
          <a:lstStyle/>
          <a:p>
            <a:pPr algn="r">
              <a:lnSpc>
                <a:spcPct val="100000"/>
              </a:lnSpc>
            </a:pPr>
            <a:r>
              <a:rPr sz="700" b="1" i="0">
                <a:solidFill>
                  <a:srgbClr val="8F8F8F"/>
                </a:solidFill>
                <a:latin typeface="Arial"/>
              </a:rPr>
              <a:t>glisse 6 j</a:t>
            </a:r>
          </a:p>
        </p:txBody>
      </p:sp>
      <p:sp>
        <p:nvSpPr>
          <p:cNvPr id="46" name="TextBox 45"/>
          <p:cNvSpPr txBox="1"/>
          <p:nvPr/>
        </p:nvSpPr>
        <p:spPr>
          <a:xfrm>
            <a:off x="457200" y="2816351"/>
            <a:ext cx="1737360" cy="219456"/>
          </a:xfrm>
          <a:prstGeom prst="rect">
            <a:avLst/>
          </a:prstGeom>
          <a:noFill/>
        </p:spPr>
        <p:txBody>
          <a:bodyPr wrap="square" lIns="54864" tIns="27432" rIns="54864" bIns="27432" anchor="ctr">
            <a:spAutoFit/>
          </a:bodyPr>
          <a:lstStyle/>
          <a:p>
            <a:pPr algn="l">
              <a:lnSpc>
                <a:spcPct val="100000"/>
              </a:lnSpc>
            </a:pPr>
            <a:r>
              <a:rPr sz="850" b="1" i="0">
                <a:solidFill>
                  <a:srgbClr val="171717"/>
                </a:solidFill>
                <a:latin typeface="Arial"/>
              </a:rPr>
              <a:t>E  Frontend et site</a:t>
            </a:r>
          </a:p>
        </p:txBody>
      </p:sp>
      <p:sp>
        <p:nvSpPr>
          <p:cNvPr id="47" name="Rounded Rectangle 46"/>
          <p:cNvSpPr/>
          <p:nvPr/>
        </p:nvSpPr>
        <p:spPr>
          <a:xfrm>
            <a:off x="5120640" y="2852927"/>
            <a:ext cx="975859" cy="182880"/>
          </a:xfrm>
          <a:prstGeom prst="roundRect">
            <a:avLst>
              <a:gd name="adj" fmla="val 15625"/>
            </a:avLst>
          </a:prstGeom>
          <a:solidFill>
            <a:srgbClr val="D0EBFF"/>
          </a:solidFill>
          <a:ln w="9525">
            <a:solidFill>
              <a:srgbClr val="A4CB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5120640" y="2852927"/>
            <a:ext cx="975859" cy="182880"/>
          </a:xfrm>
          <a:prstGeom prst="rect">
            <a:avLst/>
          </a:prstGeom>
          <a:noFill/>
        </p:spPr>
        <p:txBody>
          <a:bodyPr wrap="square" lIns="54864" tIns="27432" rIns="54864" bIns="27432" anchor="ctr">
            <a:spAutoFit/>
          </a:bodyPr>
          <a:lstStyle/>
          <a:p>
            <a:pPr algn="ctr">
              <a:lnSpc>
                <a:spcPct val="100000"/>
              </a:lnSpc>
            </a:pPr>
            <a:r>
              <a:rPr sz="650" b="1" i="0">
                <a:solidFill>
                  <a:srgbClr val="171717"/>
                </a:solidFill>
                <a:latin typeface="Arial"/>
              </a:rPr>
              <a:t>21 j de travail</a:t>
            </a:r>
          </a:p>
        </p:txBody>
      </p:sp>
      <p:sp>
        <p:nvSpPr>
          <p:cNvPr id="49" name="Rounded Rectangle 48"/>
          <p:cNvSpPr/>
          <p:nvPr/>
        </p:nvSpPr>
        <p:spPr>
          <a:xfrm>
            <a:off x="6096499" y="2880359"/>
            <a:ext cx="1161737" cy="128016"/>
          </a:xfrm>
          <a:prstGeom prst="roundRect">
            <a:avLst>
              <a:gd name="adj" fmla="val 17857"/>
            </a:avLst>
          </a:prstGeom>
          <a:solidFill>
            <a:srgbClr val="E9F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8010144" y="2816351"/>
            <a:ext cx="676656" cy="219456"/>
          </a:xfrm>
          <a:prstGeom prst="rect">
            <a:avLst/>
          </a:prstGeom>
          <a:noFill/>
        </p:spPr>
        <p:txBody>
          <a:bodyPr wrap="square" lIns="54864" tIns="27432" rIns="54864" bIns="27432" anchor="ctr">
            <a:spAutoFit/>
          </a:bodyPr>
          <a:lstStyle/>
          <a:p>
            <a:pPr algn="r">
              <a:lnSpc>
                <a:spcPct val="100000"/>
              </a:lnSpc>
            </a:pPr>
            <a:r>
              <a:rPr sz="700" b="1" i="0">
                <a:solidFill>
                  <a:srgbClr val="8F8F8F"/>
                </a:solidFill>
                <a:latin typeface="Arial"/>
              </a:rPr>
              <a:t>glisse 25 j</a:t>
            </a:r>
          </a:p>
        </p:txBody>
      </p:sp>
      <p:sp>
        <p:nvSpPr>
          <p:cNvPr id="51" name="TextBox 50"/>
          <p:cNvSpPr txBox="1"/>
          <p:nvPr/>
        </p:nvSpPr>
        <p:spPr>
          <a:xfrm>
            <a:off x="457200" y="3090672"/>
            <a:ext cx="1737360" cy="219456"/>
          </a:xfrm>
          <a:prstGeom prst="rect">
            <a:avLst/>
          </a:prstGeom>
          <a:noFill/>
        </p:spPr>
        <p:txBody>
          <a:bodyPr wrap="square" lIns="54864" tIns="27432" rIns="54864" bIns="27432" anchor="ctr">
            <a:spAutoFit/>
          </a:bodyPr>
          <a:lstStyle/>
          <a:p>
            <a:pPr algn="l">
              <a:lnSpc>
                <a:spcPct val="100000"/>
              </a:lnSpc>
            </a:pPr>
            <a:r>
              <a:rPr sz="850" b="1" i="0">
                <a:solidFill>
                  <a:srgbClr val="171717"/>
                </a:solidFill>
                <a:latin typeface="Arial"/>
              </a:rPr>
              <a:t>G  Sécurité</a:t>
            </a:r>
          </a:p>
        </p:txBody>
      </p:sp>
      <p:sp>
        <p:nvSpPr>
          <p:cNvPr id="52" name="Rounded Rectangle 51"/>
          <p:cNvSpPr/>
          <p:nvPr/>
        </p:nvSpPr>
        <p:spPr>
          <a:xfrm>
            <a:off x="4841822" y="3127248"/>
            <a:ext cx="836451" cy="182880"/>
          </a:xfrm>
          <a:prstGeom prst="roundRect">
            <a:avLst>
              <a:gd name="adj" fmla="val 15625"/>
            </a:avLst>
          </a:prstGeom>
          <a:solidFill>
            <a:srgbClr val="D0EBFF"/>
          </a:solidFill>
          <a:ln w="9525">
            <a:solidFill>
              <a:srgbClr val="A4CB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4841822" y="3127248"/>
            <a:ext cx="836451" cy="182880"/>
          </a:xfrm>
          <a:prstGeom prst="rect">
            <a:avLst/>
          </a:prstGeom>
          <a:noFill/>
        </p:spPr>
        <p:txBody>
          <a:bodyPr wrap="square" lIns="54864" tIns="27432" rIns="54864" bIns="27432" anchor="ctr">
            <a:spAutoFit/>
          </a:bodyPr>
          <a:lstStyle/>
          <a:p>
            <a:pPr algn="ctr">
              <a:lnSpc>
                <a:spcPct val="100000"/>
              </a:lnSpc>
            </a:pPr>
            <a:r>
              <a:rPr sz="650" b="1" i="0">
                <a:solidFill>
                  <a:srgbClr val="171717"/>
                </a:solidFill>
                <a:latin typeface="Arial"/>
              </a:rPr>
              <a:t>18 j de travail</a:t>
            </a:r>
          </a:p>
        </p:txBody>
      </p:sp>
      <p:sp>
        <p:nvSpPr>
          <p:cNvPr id="54" name="Rounded Rectangle 53"/>
          <p:cNvSpPr/>
          <p:nvPr/>
        </p:nvSpPr>
        <p:spPr>
          <a:xfrm>
            <a:off x="5678274" y="3154679"/>
            <a:ext cx="1579963" cy="128016"/>
          </a:xfrm>
          <a:prstGeom prst="roundRect">
            <a:avLst>
              <a:gd name="adj" fmla="val 17857"/>
            </a:avLst>
          </a:prstGeom>
          <a:solidFill>
            <a:srgbClr val="E9F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8010144" y="3090672"/>
            <a:ext cx="676656" cy="219456"/>
          </a:xfrm>
          <a:prstGeom prst="rect">
            <a:avLst/>
          </a:prstGeom>
          <a:noFill/>
        </p:spPr>
        <p:txBody>
          <a:bodyPr wrap="square" lIns="54864" tIns="27432" rIns="54864" bIns="27432" anchor="ctr">
            <a:spAutoFit/>
          </a:bodyPr>
          <a:lstStyle/>
          <a:p>
            <a:pPr algn="r">
              <a:lnSpc>
                <a:spcPct val="100000"/>
              </a:lnSpc>
            </a:pPr>
            <a:r>
              <a:rPr sz="700" b="1" i="0">
                <a:solidFill>
                  <a:srgbClr val="8F8F8F"/>
                </a:solidFill>
                <a:latin typeface="Arial"/>
              </a:rPr>
              <a:t>glisse 34 j</a:t>
            </a:r>
          </a:p>
        </p:txBody>
      </p:sp>
      <p:sp>
        <p:nvSpPr>
          <p:cNvPr id="56" name="TextBox 55"/>
          <p:cNvSpPr txBox="1"/>
          <p:nvPr/>
        </p:nvSpPr>
        <p:spPr>
          <a:xfrm>
            <a:off x="457200" y="3438144"/>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GANTT  ·  DU 1ER JANVIER AU 30 JUIN 2026</a:t>
            </a:r>
          </a:p>
        </p:txBody>
      </p:sp>
      <p:sp>
        <p:nvSpPr>
          <p:cNvPr id="57" name="TextBox 56"/>
          <p:cNvSpPr txBox="1"/>
          <p:nvPr/>
        </p:nvSpPr>
        <p:spPr>
          <a:xfrm>
            <a:off x="457200" y="3639312"/>
            <a:ext cx="1371600" cy="201168"/>
          </a:xfrm>
          <a:prstGeom prst="rect">
            <a:avLst/>
          </a:prstGeom>
          <a:noFill/>
        </p:spPr>
        <p:txBody>
          <a:bodyPr wrap="square" lIns="54864" tIns="27432" rIns="54864" bIns="27432" anchor="t">
            <a:spAutoFit/>
          </a:bodyPr>
          <a:lstStyle/>
          <a:p>
            <a:pPr algn="ctr">
              <a:lnSpc>
                <a:spcPct val="100000"/>
              </a:lnSpc>
            </a:pPr>
            <a:r>
              <a:rPr sz="750" b="1" i="0">
                <a:solidFill>
                  <a:srgbClr val="8F8F8F"/>
                </a:solidFill>
                <a:latin typeface="Arial"/>
              </a:rPr>
              <a:t>JANV.</a:t>
            </a:r>
          </a:p>
        </p:txBody>
      </p:sp>
      <p:sp>
        <p:nvSpPr>
          <p:cNvPr id="58" name="TextBox 57"/>
          <p:cNvSpPr txBox="1"/>
          <p:nvPr/>
        </p:nvSpPr>
        <p:spPr>
          <a:xfrm>
            <a:off x="1828800" y="3639312"/>
            <a:ext cx="1371600" cy="201168"/>
          </a:xfrm>
          <a:prstGeom prst="rect">
            <a:avLst/>
          </a:prstGeom>
          <a:noFill/>
        </p:spPr>
        <p:txBody>
          <a:bodyPr wrap="square" lIns="54864" tIns="27432" rIns="54864" bIns="27432" anchor="t">
            <a:spAutoFit/>
          </a:bodyPr>
          <a:lstStyle/>
          <a:p>
            <a:pPr algn="ctr">
              <a:lnSpc>
                <a:spcPct val="100000"/>
              </a:lnSpc>
            </a:pPr>
            <a:r>
              <a:rPr sz="750" b="1" i="0">
                <a:solidFill>
                  <a:srgbClr val="8F8F8F"/>
                </a:solidFill>
                <a:latin typeface="Arial"/>
              </a:rPr>
              <a:t>FÉVR.</a:t>
            </a:r>
          </a:p>
        </p:txBody>
      </p:sp>
      <p:sp>
        <p:nvSpPr>
          <p:cNvPr id="59" name="TextBox 58"/>
          <p:cNvSpPr txBox="1"/>
          <p:nvPr/>
        </p:nvSpPr>
        <p:spPr>
          <a:xfrm>
            <a:off x="3200400" y="3639312"/>
            <a:ext cx="1371600" cy="201168"/>
          </a:xfrm>
          <a:prstGeom prst="rect">
            <a:avLst/>
          </a:prstGeom>
          <a:noFill/>
        </p:spPr>
        <p:txBody>
          <a:bodyPr wrap="square" lIns="54864" tIns="27432" rIns="54864" bIns="27432" anchor="t">
            <a:spAutoFit/>
          </a:bodyPr>
          <a:lstStyle/>
          <a:p>
            <a:pPr algn="ctr">
              <a:lnSpc>
                <a:spcPct val="100000"/>
              </a:lnSpc>
            </a:pPr>
            <a:r>
              <a:rPr sz="750" b="1" i="0">
                <a:solidFill>
                  <a:srgbClr val="8F8F8F"/>
                </a:solidFill>
                <a:latin typeface="Arial"/>
              </a:rPr>
              <a:t>MARS</a:t>
            </a:r>
          </a:p>
        </p:txBody>
      </p:sp>
      <p:sp>
        <p:nvSpPr>
          <p:cNvPr id="60" name="TextBox 59"/>
          <p:cNvSpPr txBox="1"/>
          <p:nvPr/>
        </p:nvSpPr>
        <p:spPr>
          <a:xfrm>
            <a:off x="4572000" y="3639312"/>
            <a:ext cx="1371600" cy="201168"/>
          </a:xfrm>
          <a:prstGeom prst="rect">
            <a:avLst/>
          </a:prstGeom>
          <a:noFill/>
        </p:spPr>
        <p:txBody>
          <a:bodyPr wrap="square" lIns="54864" tIns="27432" rIns="54864" bIns="27432" anchor="t">
            <a:spAutoFit/>
          </a:bodyPr>
          <a:lstStyle/>
          <a:p>
            <a:pPr algn="ctr">
              <a:lnSpc>
                <a:spcPct val="100000"/>
              </a:lnSpc>
            </a:pPr>
            <a:r>
              <a:rPr sz="750" b="1" i="0">
                <a:solidFill>
                  <a:srgbClr val="8F8F8F"/>
                </a:solidFill>
                <a:latin typeface="Arial"/>
              </a:rPr>
              <a:t>AVRIL</a:t>
            </a:r>
          </a:p>
        </p:txBody>
      </p:sp>
      <p:sp>
        <p:nvSpPr>
          <p:cNvPr id="61" name="TextBox 60"/>
          <p:cNvSpPr txBox="1"/>
          <p:nvPr/>
        </p:nvSpPr>
        <p:spPr>
          <a:xfrm>
            <a:off x="5943600" y="3639312"/>
            <a:ext cx="1371600" cy="201168"/>
          </a:xfrm>
          <a:prstGeom prst="rect">
            <a:avLst/>
          </a:prstGeom>
          <a:noFill/>
        </p:spPr>
        <p:txBody>
          <a:bodyPr wrap="square" lIns="54864" tIns="27432" rIns="54864" bIns="27432" anchor="t">
            <a:spAutoFit/>
          </a:bodyPr>
          <a:lstStyle/>
          <a:p>
            <a:pPr algn="ctr">
              <a:lnSpc>
                <a:spcPct val="100000"/>
              </a:lnSpc>
            </a:pPr>
            <a:r>
              <a:rPr sz="750" b="1" i="0">
                <a:solidFill>
                  <a:srgbClr val="8F8F8F"/>
                </a:solidFill>
                <a:latin typeface="Arial"/>
              </a:rPr>
              <a:t>MAI</a:t>
            </a:r>
          </a:p>
        </p:txBody>
      </p:sp>
      <p:sp>
        <p:nvSpPr>
          <p:cNvPr id="62" name="TextBox 61"/>
          <p:cNvSpPr txBox="1"/>
          <p:nvPr/>
        </p:nvSpPr>
        <p:spPr>
          <a:xfrm>
            <a:off x="7315200" y="3639312"/>
            <a:ext cx="1371600" cy="201168"/>
          </a:xfrm>
          <a:prstGeom prst="rect">
            <a:avLst/>
          </a:prstGeom>
          <a:noFill/>
        </p:spPr>
        <p:txBody>
          <a:bodyPr wrap="square" lIns="54864" tIns="27432" rIns="54864" bIns="27432" anchor="t">
            <a:spAutoFit/>
          </a:bodyPr>
          <a:lstStyle/>
          <a:p>
            <a:pPr algn="ctr">
              <a:lnSpc>
                <a:spcPct val="100000"/>
              </a:lnSpc>
            </a:pPr>
            <a:r>
              <a:rPr sz="750" b="1" i="0">
                <a:solidFill>
                  <a:srgbClr val="8F8F8F"/>
                </a:solidFill>
                <a:latin typeface="Arial"/>
              </a:rPr>
              <a:t>JUIN</a:t>
            </a:r>
          </a:p>
        </p:txBody>
      </p:sp>
      <p:sp>
        <p:nvSpPr>
          <p:cNvPr id="63" name="Rectangle 62"/>
          <p:cNvSpPr/>
          <p:nvPr/>
        </p:nvSpPr>
        <p:spPr>
          <a:xfrm>
            <a:off x="457200" y="3840480"/>
            <a:ext cx="2295144" cy="274320"/>
          </a:xfrm>
          <a:prstGeom prst="rect">
            <a:avLst/>
          </a:prstGeom>
          <a:solidFill>
            <a:srgbClr val="DBE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457200" y="3840480"/>
            <a:ext cx="2295144" cy="274320"/>
          </a:xfrm>
          <a:prstGeom prst="rect">
            <a:avLst/>
          </a:prstGeom>
          <a:noFill/>
        </p:spPr>
        <p:txBody>
          <a:bodyPr wrap="square" lIns="54864" tIns="27432" rIns="54864" bIns="27432" anchor="ctr">
            <a:spAutoFit/>
          </a:bodyPr>
          <a:lstStyle/>
          <a:p>
            <a:pPr algn="ctr">
              <a:lnSpc>
                <a:spcPct val="100000"/>
              </a:lnSpc>
            </a:pPr>
            <a:r>
              <a:rPr sz="850" b="1" i="0">
                <a:solidFill>
                  <a:srgbClr val="171717"/>
                </a:solidFill>
                <a:latin typeface="Arial"/>
              </a:rPr>
              <a:t>Conception</a:t>
            </a:r>
          </a:p>
        </p:txBody>
      </p:sp>
      <p:sp>
        <p:nvSpPr>
          <p:cNvPr id="65" name="Rounded Rectangle 64"/>
          <p:cNvSpPr/>
          <p:nvPr/>
        </p:nvSpPr>
        <p:spPr>
          <a:xfrm>
            <a:off x="2496312" y="4133087"/>
            <a:ext cx="256032" cy="164592"/>
          </a:xfrm>
          <a:prstGeom prst="roundRect">
            <a:avLst>
              <a:gd name="adj" fmla="val 50000"/>
            </a:avLst>
          </a:prstGeom>
          <a:solidFill>
            <a:srgbClr val="42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2496312" y="4133087"/>
            <a:ext cx="256032" cy="164592"/>
          </a:xfrm>
          <a:prstGeom prst="rect">
            <a:avLst/>
          </a:prstGeom>
          <a:noFill/>
        </p:spPr>
        <p:txBody>
          <a:bodyPr wrap="square" lIns="54864" tIns="27432" rIns="54864" bIns="27432" anchor="ctr">
            <a:spAutoFit/>
          </a:bodyPr>
          <a:lstStyle/>
          <a:p>
            <a:pPr algn="ctr">
              <a:lnSpc>
                <a:spcPct val="100000"/>
              </a:lnSpc>
            </a:pPr>
            <a:r>
              <a:rPr sz="650" b="1" i="0">
                <a:solidFill>
                  <a:srgbClr val="FFFFFF"/>
                </a:solidFill>
                <a:latin typeface="Arial"/>
              </a:rPr>
              <a:t>M1</a:t>
            </a:r>
          </a:p>
        </p:txBody>
      </p:sp>
      <p:sp>
        <p:nvSpPr>
          <p:cNvPr id="67" name="Rectangle 66"/>
          <p:cNvSpPr/>
          <p:nvPr/>
        </p:nvSpPr>
        <p:spPr>
          <a:xfrm>
            <a:off x="2788920" y="3840480"/>
            <a:ext cx="2295144" cy="274320"/>
          </a:xfrm>
          <a:prstGeom prst="rect">
            <a:avLst/>
          </a:prstGeom>
          <a:solidFill>
            <a:srgbClr val="C3F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788920" y="3840480"/>
            <a:ext cx="2295144" cy="274320"/>
          </a:xfrm>
          <a:prstGeom prst="rect">
            <a:avLst/>
          </a:prstGeom>
          <a:noFill/>
        </p:spPr>
        <p:txBody>
          <a:bodyPr wrap="square" lIns="54864" tIns="27432" rIns="54864" bIns="27432" anchor="ctr">
            <a:spAutoFit/>
          </a:bodyPr>
          <a:lstStyle/>
          <a:p>
            <a:pPr algn="ctr">
              <a:lnSpc>
                <a:spcPct val="100000"/>
              </a:lnSpc>
            </a:pPr>
            <a:r>
              <a:rPr sz="850" b="1" i="0">
                <a:solidFill>
                  <a:srgbClr val="171717"/>
                </a:solidFill>
                <a:latin typeface="Arial"/>
              </a:rPr>
              <a:t>Réalisation</a:t>
            </a:r>
          </a:p>
        </p:txBody>
      </p:sp>
      <p:sp>
        <p:nvSpPr>
          <p:cNvPr id="69" name="Rounded Rectangle 68"/>
          <p:cNvSpPr/>
          <p:nvPr/>
        </p:nvSpPr>
        <p:spPr>
          <a:xfrm>
            <a:off x="4828031" y="4133087"/>
            <a:ext cx="256032" cy="164592"/>
          </a:xfrm>
          <a:prstGeom prst="roundRect">
            <a:avLst>
              <a:gd name="adj" fmla="val 50000"/>
            </a:avLst>
          </a:prstGeom>
          <a:solidFill>
            <a:srgbClr val="099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4828031" y="4133087"/>
            <a:ext cx="256032" cy="164592"/>
          </a:xfrm>
          <a:prstGeom prst="rect">
            <a:avLst/>
          </a:prstGeom>
          <a:noFill/>
        </p:spPr>
        <p:txBody>
          <a:bodyPr wrap="square" lIns="54864" tIns="27432" rIns="54864" bIns="27432" anchor="ctr">
            <a:spAutoFit/>
          </a:bodyPr>
          <a:lstStyle/>
          <a:p>
            <a:pPr algn="ctr">
              <a:lnSpc>
                <a:spcPct val="100000"/>
              </a:lnSpc>
            </a:pPr>
            <a:r>
              <a:rPr sz="650" b="1" i="0">
                <a:solidFill>
                  <a:srgbClr val="FFFFFF"/>
                </a:solidFill>
                <a:latin typeface="Arial"/>
              </a:rPr>
              <a:t>M2</a:t>
            </a:r>
          </a:p>
        </p:txBody>
      </p:sp>
      <p:sp>
        <p:nvSpPr>
          <p:cNvPr id="71" name="Rectangle 70"/>
          <p:cNvSpPr/>
          <p:nvPr/>
        </p:nvSpPr>
        <p:spPr>
          <a:xfrm>
            <a:off x="5120640" y="3840480"/>
            <a:ext cx="1472184" cy="274320"/>
          </a:xfrm>
          <a:prstGeom prst="rect">
            <a:avLst/>
          </a:prstGeom>
          <a:solidFill>
            <a:srgbClr val="E5D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5120640" y="3840480"/>
            <a:ext cx="1472184" cy="274320"/>
          </a:xfrm>
          <a:prstGeom prst="rect">
            <a:avLst/>
          </a:prstGeom>
          <a:noFill/>
        </p:spPr>
        <p:txBody>
          <a:bodyPr wrap="square" lIns="54864" tIns="27432" rIns="54864" bIns="27432" anchor="ctr">
            <a:spAutoFit/>
          </a:bodyPr>
          <a:lstStyle/>
          <a:p>
            <a:pPr algn="ctr">
              <a:lnSpc>
                <a:spcPct val="100000"/>
              </a:lnSpc>
            </a:pPr>
            <a:r>
              <a:rPr sz="850" b="1" i="0">
                <a:solidFill>
                  <a:srgbClr val="171717"/>
                </a:solidFill>
                <a:latin typeface="Arial"/>
              </a:rPr>
              <a:t>Industrialisation</a:t>
            </a:r>
          </a:p>
        </p:txBody>
      </p:sp>
      <p:sp>
        <p:nvSpPr>
          <p:cNvPr id="73" name="Rounded Rectangle 72"/>
          <p:cNvSpPr/>
          <p:nvPr/>
        </p:nvSpPr>
        <p:spPr>
          <a:xfrm>
            <a:off x="6336792" y="4133087"/>
            <a:ext cx="256032" cy="164592"/>
          </a:xfrm>
          <a:prstGeom prst="roundRect">
            <a:avLst>
              <a:gd name="adj" fmla="val 50000"/>
            </a:avLst>
          </a:prstGeom>
          <a:solidFill>
            <a:srgbClr val="704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6336792" y="4133087"/>
            <a:ext cx="256032" cy="164592"/>
          </a:xfrm>
          <a:prstGeom prst="rect">
            <a:avLst/>
          </a:prstGeom>
          <a:noFill/>
        </p:spPr>
        <p:txBody>
          <a:bodyPr wrap="square" lIns="54864" tIns="27432" rIns="54864" bIns="27432" anchor="ctr">
            <a:spAutoFit/>
          </a:bodyPr>
          <a:lstStyle/>
          <a:p>
            <a:pPr algn="ctr">
              <a:lnSpc>
                <a:spcPct val="100000"/>
              </a:lnSpc>
            </a:pPr>
            <a:r>
              <a:rPr sz="650" b="1" i="0">
                <a:solidFill>
                  <a:srgbClr val="FFFFFF"/>
                </a:solidFill>
                <a:latin typeface="Arial"/>
              </a:rPr>
              <a:t>M3</a:t>
            </a:r>
          </a:p>
        </p:txBody>
      </p:sp>
      <p:sp>
        <p:nvSpPr>
          <p:cNvPr id="75" name="Rectangle 74"/>
          <p:cNvSpPr/>
          <p:nvPr/>
        </p:nvSpPr>
        <p:spPr>
          <a:xfrm>
            <a:off x="6629400" y="3840480"/>
            <a:ext cx="1197864" cy="274320"/>
          </a:xfrm>
          <a:prstGeom prst="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6629400" y="3840480"/>
            <a:ext cx="1197864" cy="274320"/>
          </a:xfrm>
          <a:prstGeom prst="rect">
            <a:avLst/>
          </a:prstGeom>
          <a:noFill/>
        </p:spPr>
        <p:txBody>
          <a:bodyPr wrap="square" lIns="54864" tIns="27432" rIns="54864" bIns="27432" anchor="ctr">
            <a:spAutoFit/>
          </a:bodyPr>
          <a:lstStyle/>
          <a:p>
            <a:pPr algn="ctr">
              <a:lnSpc>
                <a:spcPct val="100000"/>
              </a:lnSpc>
            </a:pPr>
            <a:r>
              <a:rPr sz="850" b="1" i="0">
                <a:solidFill>
                  <a:srgbClr val="171717"/>
                </a:solidFill>
                <a:latin typeface="Arial"/>
              </a:rPr>
              <a:t>Fiabilisation</a:t>
            </a:r>
          </a:p>
        </p:txBody>
      </p:sp>
      <p:sp>
        <p:nvSpPr>
          <p:cNvPr id="77" name="Rounded Rectangle 76"/>
          <p:cNvSpPr/>
          <p:nvPr/>
        </p:nvSpPr>
        <p:spPr>
          <a:xfrm>
            <a:off x="7571231" y="4133087"/>
            <a:ext cx="256032" cy="164592"/>
          </a:xfrm>
          <a:prstGeom prst="roundRect">
            <a:avLst>
              <a:gd name="adj" fmla="val 50000"/>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7571231" y="4133087"/>
            <a:ext cx="256032" cy="164592"/>
          </a:xfrm>
          <a:prstGeom prst="rect">
            <a:avLst/>
          </a:prstGeom>
          <a:noFill/>
        </p:spPr>
        <p:txBody>
          <a:bodyPr wrap="square" lIns="54864" tIns="27432" rIns="54864" bIns="27432" anchor="ctr">
            <a:spAutoFit/>
          </a:bodyPr>
          <a:lstStyle/>
          <a:p>
            <a:pPr algn="ctr">
              <a:lnSpc>
                <a:spcPct val="100000"/>
              </a:lnSpc>
            </a:pPr>
            <a:r>
              <a:rPr sz="650" b="1" i="0">
                <a:solidFill>
                  <a:srgbClr val="FFFFFF"/>
                </a:solidFill>
                <a:latin typeface="Arial"/>
              </a:rPr>
              <a:t>M4</a:t>
            </a:r>
          </a:p>
        </p:txBody>
      </p:sp>
      <p:sp>
        <p:nvSpPr>
          <p:cNvPr id="79" name="Rectangle 78"/>
          <p:cNvSpPr/>
          <p:nvPr/>
        </p:nvSpPr>
        <p:spPr>
          <a:xfrm>
            <a:off x="7863840" y="3840480"/>
            <a:ext cx="786384" cy="274320"/>
          </a:xfrm>
          <a:prstGeom prst="rect">
            <a:avLst/>
          </a:prstGeom>
          <a:solidFill>
            <a:srgbClr val="D3F9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7863840" y="3840480"/>
            <a:ext cx="786384" cy="274320"/>
          </a:xfrm>
          <a:prstGeom prst="rect">
            <a:avLst/>
          </a:prstGeom>
          <a:noFill/>
        </p:spPr>
        <p:txBody>
          <a:bodyPr wrap="square" lIns="54864" tIns="27432" rIns="54864" bIns="27432" anchor="ctr">
            <a:spAutoFit/>
          </a:bodyPr>
          <a:lstStyle/>
          <a:p>
            <a:pPr algn="ctr">
              <a:lnSpc>
                <a:spcPct val="100000"/>
              </a:lnSpc>
            </a:pPr>
            <a:r>
              <a:rPr sz="850" b="1" i="0">
                <a:solidFill>
                  <a:srgbClr val="171717"/>
                </a:solidFill>
                <a:latin typeface="Arial"/>
              </a:rPr>
              <a:t>Clôture</a:t>
            </a:r>
          </a:p>
        </p:txBody>
      </p:sp>
      <p:sp>
        <p:nvSpPr>
          <p:cNvPr id="81" name="Rounded Rectangle 80"/>
          <p:cNvSpPr/>
          <p:nvPr/>
        </p:nvSpPr>
        <p:spPr>
          <a:xfrm>
            <a:off x="8394192" y="4133087"/>
            <a:ext cx="256032" cy="164592"/>
          </a:xfrm>
          <a:prstGeom prst="roundRect">
            <a:avLst>
              <a:gd name="adj" fmla="val 50000"/>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8394192" y="4133087"/>
            <a:ext cx="256032" cy="164592"/>
          </a:xfrm>
          <a:prstGeom prst="rect">
            <a:avLst/>
          </a:prstGeom>
          <a:noFill/>
        </p:spPr>
        <p:txBody>
          <a:bodyPr wrap="square" lIns="54864" tIns="27432" rIns="54864" bIns="27432" anchor="ctr">
            <a:spAutoFit/>
          </a:bodyPr>
          <a:lstStyle/>
          <a:p>
            <a:pPr algn="ctr">
              <a:lnSpc>
                <a:spcPct val="100000"/>
              </a:lnSpc>
            </a:pPr>
            <a:r>
              <a:rPr sz="650" b="1" i="0">
                <a:solidFill>
                  <a:srgbClr val="FFFFFF"/>
                </a:solidFill>
                <a:latin typeface="Arial"/>
              </a:rPr>
              <a:t>M5</a:t>
            </a:r>
          </a:p>
        </p:txBody>
      </p:sp>
      <p:sp>
        <p:nvSpPr>
          <p:cNvPr id="83" name="Rectangle 82"/>
          <p:cNvSpPr/>
          <p:nvPr/>
        </p:nvSpPr>
        <p:spPr>
          <a:xfrm>
            <a:off x="457200" y="4352544"/>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Rectangle 83"/>
          <p:cNvSpPr/>
          <p:nvPr/>
        </p:nvSpPr>
        <p:spPr>
          <a:xfrm>
            <a:off x="457200" y="4352544"/>
            <a:ext cx="548640" cy="9144"/>
          </a:xfrm>
          <a:prstGeom prst="rect">
            <a:avLst/>
          </a:prstGeom>
          <a:solidFill>
            <a:srgbClr val="674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457200" y="4425696"/>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6741D9"/>
                </a:solidFill>
                <a:latin typeface="Arial"/>
              </a:rPr>
              <a:t>CHARGE ET DURÉE NE SE CONFONDENT PAS</a:t>
            </a:r>
          </a:p>
        </p:txBody>
      </p:sp>
      <p:sp>
        <p:nvSpPr>
          <p:cNvPr id="86" name="TextBox 85"/>
          <p:cNvSpPr txBox="1"/>
          <p:nvPr/>
        </p:nvSpPr>
        <p:spPr>
          <a:xfrm>
            <a:off x="457200" y="4626864"/>
            <a:ext cx="8229600" cy="274320"/>
          </a:xfrm>
          <a:prstGeom prst="rect">
            <a:avLst/>
          </a:prstGeom>
          <a:noFill/>
        </p:spPr>
        <p:txBody>
          <a:bodyPr wrap="square" lIns="54864" tIns="27432" rIns="54864" bIns="27432" anchor="t">
            <a:spAutoFit/>
          </a:bodyPr>
          <a:lstStyle/>
          <a:p>
            <a:pPr algn="l">
              <a:lnSpc>
                <a:spcPct val="105000"/>
              </a:lnSpc>
            </a:pPr>
            <a:r>
              <a:rPr sz="900" b="0" i="0">
                <a:solidFill>
                  <a:srgbClr val="666666"/>
                </a:solidFill>
                <a:latin typeface="Arial"/>
              </a:rPr>
              <a:t>207 jours-homme de travail cumulé sur 8 lots   ·   122 jours ouvrés de durée, car B, E et G avancent en parallèle   ·   123 jours ouvrés disponibles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3048000" y="0"/>
            <a:ext cx="1524000" cy="41148"/>
          </a:xfrm>
          <a:prstGeom prst="rect">
            <a:avLst/>
          </a:prstGeom>
          <a:solidFill>
            <a:srgbClr val="674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269480"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10144"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lIns="54864" tIns="27432" rIns="54864" bIns="27432" anchor="t">
            <a:spAutoFit/>
          </a:bodyPr>
          <a:lstStyle/>
          <a:p>
            <a:pPr algn="l">
              <a:lnSpc>
                <a:spcPct val="100000"/>
              </a:lnSpc>
            </a:pPr>
            <a:r>
              <a:rPr sz="750" b="1" i="0" spc="120">
                <a:solidFill>
                  <a:srgbClr val="6741D9"/>
                </a:solidFill>
                <a:latin typeface="Arial"/>
              </a:rPr>
              <a:t>3 · GESTION DE PROJET</a:t>
            </a:r>
          </a:p>
        </p:txBody>
      </p:sp>
      <p:sp>
        <p:nvSpPr>
          <p:cNvPr id="11" name="TextBox 10"/>
          <p:cNvSpPr txBox="1"/>
          <p:nvPr/>
        </p:nvSpPr>
        <p:spPr>
          <a:xfrm>
            <a:off x="457200" y="493776"/>
            <a:ext cx="6720840" cy="566928"/>
          </a:xfrm>
          <a:prstGeom prst="rect">
            <a:avLst/>
          </a:prstGeom>
          <a:noFill/>
        </p:spPr>
        <p:txBody>
          <a:bodyPr wrap="square" lIns="54864" tIns="27432" rIns="54864" bIns="27432" anchor="t">
            <a:spAutoFit/>
          </a:bodyPr>
          <a:lstStyle/>
          <a:p>
            <a:pPr algn="l">
              <a:lnSpc>
                <a:spcPct val="100000"/>
              </a:lnSpc>
            </a:pPr>
            <a:r>
              <a:rPr sz="2400" b="1" i="0" spc="-84">
                <a:solidFill>
                  <a:srgbClr val="171717"/>
                </a:solidFill>
                <a:latin typeface="Arial"/>
              </a:rPr>
              <a:t>Matrice RACI et parties prenantes</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26679" y="4832604"/>
            <a:ext cx="1143000" cy="237744"/>
          </a:xfrm>
          <a:prstGeom prst="rect">
            <a:avLst/>
          </a:prstGeom>
          <a:noFill/>
        </p:spPr>
        <p:txBody>
          <a:bodyPr wrap="square" lIns="54864" tIns="27432" rIns="54864" bIns="27432" anchor="t">
            <a:spAutoFit/>
          </a:bodyPr>
          <a:lstStyle/>
          <a:p>
            <a:pPr algn="r">
              <a:lnSpc>
                <a:spcPct val="100000"/>
              </a:lnSpc>
            </a:pPr>
            <a:r>
              <a:rPr sz="800" b="0" i="0">
                <a:solidFill>
                  <a:srgbClr val="A1A1A1"/>
                </a:solidFill>
                <a:latin typeface="Arial"/>
              </a:rPr>
              <a:t>13 / 31</a:t>
            </a:r>
          </a:p>
        </p:txBody>
      </p:sp>
      <p:sp>
        <p:nvSpPr>
          <p:cNvPr id="14" name="Rounded Rectangle 13"/>
          <p:cNvSpPr/>
          <p:nvPr/>
        </p:nvSpPr>
        <p:spPr>
          <a:xfrm>
            <a:off x="457200" y="4818888"/>
            <a:ext cx="1051560" cy="228600"/>
          </a:xfrm>
          <a:prstGeom prst="roundRect">
            <a:avLst>
              <a:gd name="adj" fmla="val 25000"/>
            </a:avLst>
          </a:prstGeom>
          <a:solidFill>
            <a:srgbClr val="674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4818888"/>
            <a:ext cx="1051560" cy="228600"/>
          </a:xfrm>
          <a:prstGeom prst="rect">
            <a:avLst/>
          </a:prstGeom>
          <a:noFill/>
        </p:spPr>
        <p:txBody>
          <a:bodyPr wrap="square" lIns="54864" tIns="27432" rIns="54864" bIns="27432" anchor="ctr">
            <a:spAutoFit/>
          </a:bodyPr>
          <a:lstStyle/>
          <a:p>
            <a:pPr algn="ctr">
              <a:lnSpc>
                <a:spcPct val="100000"/>
              </a:lnSpc>
            </a:pPr>
            <a:r>
              <a:rPr sz="750" b="1" i="0">
                <a:solidFill>
                  <a:srgbClr val="FFFFFF"/>
                </a:solidFill>
                <a:latin typeface="Arial"/>
              </a:rPr>
              <a:t>Réf.  C18 à C20</a:t>
            </a:r>
          </a:p>
        </p:txBody>
      </p:sp>
      <p:sp>
        <p:nvSpPr>
          <p:cNvPr id="16" name="TextBox 15"/>
          <p:cNvSpPr txBox="1"/>
          <p:nvPr/>
        </p:nvSpPr>
        <p:spPr>
          <a:xfrm>
            <a:off x="1600200" y="4818888"/>
            <a:ext cx="5486400" cy="228600"/>
          </a:xfrm>
          <a:prstGeom prst="rect">
            <a:avLst/>
          </a:prstGeom>
          <a:noFill/>
        </p:spPr>
        <p:txBody>
          <a:bodyPr wrap="square" lIns="54864" tIns="27432" rIns="54864" bIns="27432" anchor="ctr">
            <a:spAutoFit/>
          </a:bodyPr>
          <a:lstStyle/>
          <a:p>
            <a:pPr algn="l">
              <a:lnSpc>
                <a:spcPct val="100000"/>
              </a:lnSpc>
            </a:pPr>
            <a:r>
              <a:rPr sz="750" b="0" i="0">
                <a:solidFill>
                  <a:srgbClr val="A1A1A1"/>
                </a:solidFill>
                <a:latin typeface="Arial"/>
              </a:rPr>
              <a:t>BC2 · mémoire 13.2 à 13.4 · annexes L bis, O bis</a:t>
            </a:r>
          </a:p>
        </p:txBody>
      </p:sp>
      <p:sp>
        <p:nvSpPr>
          <p:cNvPr id="17" name="TextBox 16"/>
          <p:cNvSpPr txBox="1"/>
          <p:nvPr/>
        </p:nvSpPr>
        <p:spPr>
          <a:xfrm>
            <a:off x="457200" y="1225296"/>
            <a:ext cx="420624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HUIT LOTS CROISÉS AVEC SIX ACTEURS</a:t>
            </a:r>
          </a:p>
        </p:txBody>
      </p:sp>
      <p:sp>
        <p:nvSpPr>
          <p:cNvPr id="18" name="Rounded Rectangle 17"/>
          <p:cNvSpPr/>
          <p:nvPr/>
        </p:nvSpPr>
        <p:spPr>
          <a:xfrm>
            <a:off x="3840480" y="1188720"/>
            <a:ext cx="219456" cy="201168"/>
          </a:xfrm>
          <a:prstGeom prst="roundRect">
            <a:avLst>
              <a:gd name="adj" fmla="val 17045"/>
            </a:avLst>
          </a:prstGeom>
          <a:solidFill>
            <a:srgbClr val="E5DBFF"/>
          </a:solidFill>
          <a:ln w="9525">
            <a:solidFill>
              <a:srgbClr val="B197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840480" y="1188720"/>
            <a:ext cx="219456" cy="201168"/>
          </a:xfrm>
          <a:prstGeom prst="rect">
            <a:avLst/>
          </a:prstGeom>
          <a:noFill/>
        </p:spPr>
        <p:txBody>
          <a:bodyPr wrap="square" lIns="54864" tIns="27432" rIns="54864" bIns="27432" anchor="ctr">
            <a:spAutoFit/>
          </a:bodyPr>
          <a:lstStyle/>
          <a:p>
            <a:pPr algn="ctr">
              <a:lnSpc>
                <a:spcPct val="100000"/>
              </a:lnSpc>
            </a:pPr>
            <a:r>
              <a:rPr sz="750" b="1" i="0">
                <a:solidFill>
                  <a:srgbClr val="171717"/>
                </a:solidFill>
                <a:latin typeface="Arial"/>
              </a:rPr>
              <a:t>A</a:t>
            </a:r>
          </a:p>
        </p:txBody>
      </p:sp>
      <p:sp>
        <p:nvSpPr>
          <p:cNvPr id="20" name="TextBox 19"/>
          <p:cNvSpPr txBox="1"/>
          <p:nvPr/>
        </p:nvSpPr>
        <p:spPr>
          <a:xfrm>
            <a:off x="4087368" y="1188720"/>
            <a:ext cx="932688" cy="201168"/>
          </a:xfrm>
          <a:prstGeom prst="rect">
            <a:avLst/>
          </a:prstGeom>
          <a:noFill/>
        </p:spPr>
        <p:txBody>
          <a:bodyPr wrap="square" lIns="54864" tIns="27432" rIns="54864" bIns="27432" anchor="ctr">
            <a:spAutoFit/>
          </a:bodyPr>
          <a:lstStyle/>
          <a:p>
            <a:pPr algn="l">
              <a:lnSpc>
                <a:spcPct val="100000"/>
              </a:lnSpc>
            </a:pPr>
            <a:r>
              <a:rPr sz="750" b="0" i="0">
                <a:solidFill>
                  <a:srgbClr val="8F8F8F"/>
                </a:solidFill>
                <a:latin typeface="Arial"/>
              </a:rPr>
              <a:t>décide et répond</a:t>
            </a:r>
          </a:p>
        </p:txBody>
      </p:sp>
      <p:sp>
        <p:nvSpPr>
          <p:cNvPr id="21" name="Rounded Rectangle 20"/>
          <p:cNvSpPr/>
          <p:nvPr/>
        </p:nvSpPr>
        <p:spPr>
          <a:xfrm>
            <a:off x="5184648" y="1188720"/>
            <a:ext cx="219456" cy="201168"/>
          </a:xfrm>
          <a:prstGeom prst="roundRect">
            <a:avLst>
              <a:gd name="adj" fmla="val 17045"/>
            </a:avLst>
          </a:prstGeom>
          <a:solidFill>
            <a:srgbClr val="D0EBFF"/>
          </a:solidFill>
          <a:ln w="9525">
            <a:solidFill>
              <a:srgbClr val="74C0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184648" y="1188720"/>
            <a:ext cx="219456" cy="201168"/>
          </a:xfrm>
          <a:prstGeom prst="rect">
            <a:avLst/>
          </a:prstGeom>
          <a:noFill/>
        </p:spPr>
        <p:txBody>
          <a:bodyPr wrap="square" lIns="54864" tIns="27432" rIns="54864" bIns="27432" anchor="ctr">
            <a:spAutoFit/>
          </a:bodyPr>
          <a:lstStyle/>
          <a:p>
            <a:pPr algn="ctr">
              <a:lnSpc>
                <a:spcPct val="100000"/>
              </a:lnSpc>
            </a:pPr>
            <a:r>
              <a:rPr sz="750" b="1" i="0">
                <a:solidFill>
                  <a:srgbClr val="171717"/>
                </a:solidFill>
                <a:latin typeface="Arial"/>
              </a:rPr>
              <a:t>R</a:t>
            </a:r>
          </a:p>
        </p:txBody>
      </p:sp>
      <p:sp>
        <p:nvSpPr>
          <p:cNvPr id="23" name="TextBox 22"/>
          <p:cNvSpPr txBox="1"/>
          <p:nvPr/>
        </p:nvSpPr>
        <p:spPr>
          <a:xfrm>
            <a:off x="5431536" y="1188720"/>
            <a:ext cx="480060" cy="201168"/>
          </a:xfrm>
          <a:prstGeom prst="rect">
            <a:avLst/>
          </a:prstGeom>
          <a:noFill/>
        </p:spPr>
        <p:txBody>
          <a:bodyPr wrap="square" lIns="54864" tIns="27432" rIns="54864" bIns="27432" anchor="ctr">
            <a:spAutoFit/>
          </a:bodyPr>
          <a:lstStyle/>
          <a:p>
            <a:pPr algn="l">
              <a:lnSpc>
                <a:spcPct val="100000"/>
              </a:lnSpc>
            </a:pPr>
            <a:r>
              <a:rPr sz="750" b="0" i="0">
                <a:solidFill>
                  <a:srgbClr val="8F8F8F"/>
                </a:solidFill>
                <a:latin typeface="Arial"/>
              </a:rPr>
              <a:t>réalise</a:t>
            </a:r>
          </a:p>
        </p:txBody>
      </p:sp>
      <p:sp>
        <p:nvSpPr>
          <p:cNvPr id="24" name="Rounded Rectangle 23"/>
          <p:cNvSpPr/>
          <p:nvPr/>
        </p:nvSpPr>
        <p:spPr>
          <a:xfrm>
            <a:off x="6076188" y="1188720"/>
            <a:ext cx="219456" cy="201168"/>
          </a:xfrm>
          <a:prstGeom prst="roundRect">
            <a:avLst>
              <a:gd name="adj" fmla="val 17045"/>
            </a:avLst>
          </a:prstGeom>
          <a:solidFill>
            <a:srgbClr val="FFF3BF"/>
          </a:solidFill>
          <a:ln w="9525">
            <a:solidFill>
              <a:srgbClr val="FFD4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076188" y="1188720"/>
            <a:ext cx="219456" cy="201168"/>
          </a:xfrm>
          <a:prstGeom prst="rect">
            <a:avLst/>
          </a:prstGeom>
          <a:noFill/>
        </p:spPr>
        <p:txBody>
          <a:bodyPr wrap="square" lIns="54864" tIns="27432" rIns="54864" bIns="27432" anchor="ctr">
            <a:spAutoFit/>
          </a:bodyPr>
          <a:lstStyle/>
          <a:p>
            <a:pPr algn="ctr">
              <a:lnSpc>
                <a:spcPct val="100000"/>
              </a:lnSpc>
            </a:pPr>
            <a:r>
              <a:rPr sz="750" b="1" i="0">
                <a:solidFill>
                  <a:srgbClr val="171717"/>
                </a:solidFill>
                <a:latin typeface="Arial"/>
              </a:rPr>
              <a:t>C</a:t>
            </a:r>
          </a:p>
        </p:txBody>
      </p:sp>
      <p:sp>
        <p:nvSpPr>
          <p:cNvPr id="26" name="TextBox 25"/>
          <p:cNvSpPr txBox="1"/>
          <p:nvPr/>
        </p:nvSpPr>
        <p:spPr>
          <a:xfrm>
            <a:off x="6323075" y="1188720"/>
            <a:ext cx="832104" cy="201168"/>
          </a:xfrm>
          <a:prstGeom prst="rect">
            <a:avLst/>
          </a:prstGeom>
          <a:noFill/>
        </p:spPr>
        <p:txBody>
          <a:bodyPr wrap="square" lIns="54864" tIns="27432" rIns="54864" bIns="27432" anchor="ctr">
            <a:spAutoFit/>
          </a:bodyPr>
          <a:lstStyle/>
          <a:p>
            <a:pPr algn="l">
              <a:lnSpc>
                <a:spcPct val="100000"/>
              </a:lnSpc>
            </a:pPr>
            <a:r>
              <a:rPr sz="750" b="0" i="0">
                <a:solidFill>
                  <a:srgbClr val="8F8F8F"/>
                </a:solidFill>
                <a:latin typeface="Arial"/>
              </a:rPr>
              <a:t>consulté avant</a:t>
            </a:r>
          </a:p>
        </p:txBody>
      </p:sp>
      <p:sp>
        <p:nvSpPr>
          <p:cNvPr id="27" name="Rounded Rectangle 26"/>
          <p:cNvSpPr/>
          <p:nvPr/>
        </p:nvSpPr>
        <p:spPr>
          <a:xfrm>
            <a:off x="7319771" y="1188720"/>
            <a:ext cx="219456" cy="201168"/>
          </a:xfrm>
          <a:prstGeom prst="roundRect">
            <a:avLst>
              <a:gd name="adj" fmla="val 17045"/>
            </a:avLst>
          </a:prstGeom>
          <a:solidFill>
            <a:srgbClr val="F1F3F5"/>
          </a:solidFill>
          <a:ln w="9525">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319771" y="1188720"/>
            <a:ext cx="219456" cy="201168"/>
          </a:xfrm>
          <a:prstGeom prst="rect">
            <a:avLst/>
          </a:prstGeom>
          <a:noFill/>
        </p:spPr>
        <p:txBody>
          <a:bodyPr wrap="square" lIns="54864" tIns="27432" rIns="54864" bIns="27432" anchor="ctr">
            <a:spAutoFit/>
          </a:bodyPr>
          <a:lstStyle/>
          <a:p>
            <a:pPr algn="ctr">
              <a:lnSpc>
                <a:spcPct val="100000"/>
              </a:lnSpc>
            </a:pPr>
            <a:r>
              <a:rPr sz="750" b="1" i="0">
                <a:solidFill>
                  <a:srgbClr val="666666"/>
                </a:solidFill>
                <a:latin typeface="Arial"/>
              </a:rPr>
              <a:t>I</a:t>
            </a:r>
          </a:p>
        </p:txBody>
      </p:sp>
      <p:sp>
        <p:nvSpPr>
          <p:cNvPr id="29" name="TextBox 28"/>
          <p:cNvSpPr txBox="1"/>
          <p:nvPr/>
        </p:nvSpPr>
        <p:spPr>
          <a:xfrm>
            <a:off x="7566659" y="1188720"/>
            <a:ext cx="781812" cy="201168"/>
          </a:xfrm>
          <a:prstGeom prst="rect">
            <a:avLst/>
          </a:prstGeom>
          <a:noFill/>
        </p:spPr>
        <p:txBody>
          <a:bodyPr wrap="square" lIns="54864" tIns="27432" rIns="54864" bIns="27432" anchor="ctr">
            <a:spAutoFit/>
          </a:bodyPr>
          <a:lstStyle/>
          <a:p>
            <a:pPr algn="l">
              <a:lnSpc>
                <a:spcPct val="100000"/>
              </a:lnSpc>
            </a:pPr>
            <a:r>
              <a:rPr sz="750" b="0" i="0">
                <a:solidFill>
                  <a:srgbClr val="8F8F8F"/>
                </a:solidFill>
                <a:latin typeface="Arial"/>
              </a:rPr>
              <a:t>informé après</a:t>
            </a:r>
          </a:p>
        </p:txBody>
      </p:sp>
      <p:sp>
        <p:nvSpPr>
          <p:cNvPr id="30" name="TextBox 29"/>
          <p:cNvSpPr txBox="1"/>
          <p:nvPr/>
        </p:nvSpPr>
        <p:spPr>
          <a:xfrm>
            <a:off x="2331720" y="1444752"/>
            <a:ext cx="1042415" cy="246888"/>
          </a:xfrm>
          <a:prstGeom prst="rect">
            <a:avLst/>
          </a:prstGeom>
          <a:noFill/>
        </p:spPr>
        <p:txBody>
          <a:bodyPr wrap="square" lIns="54864" tIns="27432" rIns="54864" bIns="27432" anchor="b">
            <a:spAutoFit/>
          </a:bodyPr>
          <a:lstStyle/>
          <a:p>
            <a:pPr algn="ctr">
              <a:lnSpc>
                <a:spcPct val="92000"/>
              </a:lnSpc>
            </a:pPr>
            <a:r>
              <a:rPr sz="750" b="1" i="0">
                <a:solidFill>
                  <a:srgbClr val="8F8F8F"/>
                </a:solidFill>
                <a:latin typeface="Arial"/>
              </a:rPr>
              <a:t>Sponsor</a:t>
            </a:r>
          </a:p>
        </p:txBody>
      </p:sp>
      <p:sp>
        <p:nvSpPr>
          <p:cNvPr id="31" name="TextBox 30"/>
          <p:cNvSpPr txBox="1"/>
          <p:nvPr/>
        </p:nvSpPr>
        <p:spPr>
          <a:xfrm>
            <a:off x="3374135" y="1444752"/>
            <a:ext cx="1042415" cy="246888"/>
          </a:xfrm>
          <a:prstGeom prst="rect">
            <a:avLst/>
          </a:prstGeom>
          <a:noFill/>
        </p:spPr>
        <p:txBody>
          <a:bodyPr wrap="square" lIns="54864" tIns="27432" rIns="54864" bIns="27432" anchor="b">
            <a:spAutoFit/>
          </a:bodyPr>
          <a:lstStyle/>
          <a:p>
            <a:pPr algn="ctr">
              <a:lnSpc>
                <a:spcPct val="92000"/>
              </a:lnSpc>
            </a:pPr>
            <a:r>
              <a:rPr sz="750" b="1" i="0">
                <a:solidFill>
                  <a:srgbClr val="8F8F8F"/>
                </a:solidFill>
                <a:latin typeface="Arial"/>
              </a:rPr>
              <a:t>DevOps</a:t>
            </a:r>
          </a:p>
        </p:txBody>
      </p:sp>
      <p:sp>
        <p:nvSpPr>
          <p:cNvPr id="32" name="TextBox 31"/>
          <p:cNvSpPr txBox="1"/>
          <p:nvPr/>
        </p:nvSpPr>
        <p:spPr>
          <a:xfrm>
            <a:off x="4416552" y="1444752"/>
            <a:ext cx="1042415" cy="246888"/>
          </a:xfrm>
          <a:prstGeom prst="rect">
            <a:avLst/>
          </a:prstGeom>
          <a:noFill/>
        </p:spPr>
        <p:txBody>
          <a:bodyPr wrap="square" lIns="54864" tIns="27432" rIns="54864" bIns="27432" anchor="b">
            <a:spAutoFit/>
          </a:bodyPr>
          <a:lstStyle/>
          <a:p>
            <a:pPr algn="ctr">
              <a:lnSpc>
                <a:spcPct val="92000"/>
              </a:lnSpc>
            </a:pPr>
            <a:r>
              <a:rPr sz="750" b="1" i="0">
                <a:solidFill>
                  <a:srgbClr val="8F8F8F"/>
                </a:solidFill>
                <a:latin typeface="Arial"/>
              </a:rPr>
              <a:t>Dévelop.</a:t>
            </a:r>
          </a:p>
        </p:txBody>
      </p:sp>
      <p:sp>
        <p:nvSpPr>
          <p:cNvPr id="33" name="TextBox 32"/>
          <p:cNvSpPr txBox="1"/>
          <p:nvPr/>
        </p:nvSpPr>
        <p:spPr>
          <a:xfrm>
            <a:off x="5458968" y="1444752"/>
            <a:ext cx="1042415" cy="246888"/>
          </a:xfrm>
          <a:prstGeom prst="rect">
            <a:avLst/>
          </a:prstGeom>
          <a:noFill/>
        </p:spPr>
        <p:txBody>
          <a:bodyPr wrap="square" lIns="54864" tIns="27432" rIns="54864" bIns="27432" anchor="b">
            <a:spAutoFit/>
          </a:bodyPr>
          <a:lstStyle/>
          <a:p>
            <a:pPr algn="ctr">
              <a:lnSpc>
                <a:spcPct val="92000"/>
              </a:lnSpc>
            </a:pPr>
            <a:r>
              <a:rPr sz="750" b="1" i="0">
                <a:solidFill>
                  <a:srgbClr val="8F8F8F"/>
                </a:solidFill>
                <a:latin typeface="Arial"/>
              </a:rPr>
              <a:t>Sécurité</a:t>
            </a:r>
          </a:p>
        </p:txBody>
      </p:sp>
      <p:sp>
        <p:nvSpPr>
          <p:cNvPr id="34" name="TextBox 33"/>
          <p:cNvSpPr txBox="1"/>
          <p:nvPr/>
        </p:nvSpPr>
        <p:spPr>
          <a:xfrm>
            <a:off x="6501383" y="1444752"/>
            <a:ext cx="1042415" cy="246888"/>
          </a:xfrm>
          <a:prstGeom prst="rect">
            <a:avLst/>
          </a:prstGeom>
          <a:noFill/>
        </p:spPr>
        <p:txBody>
          <a:bodyPr wrap="square" lIns="54864" tIns="27432" rIns="54864" bIns="27432" anchor="b">
            <a:spAutoFit/>
          </a:bodyPr>
          <a:lstStyle/>
          <a:p>
            <a:pPr algn="ctr">
              <a:lnSpc>
                <a:spcPct val="92000"/>
              </a:lnSpc>
            </a:pPr>
            <a:r>
              <a:rPr sz="750" b="1" i="0">
                <a:solidFill>
                  <a:srgbClr val="8F8F8F"/>
                </a:solidFill>
                <a:latin typeface="Arial"/>
              </a:rPr>
              <a:t>Pédagogie</a:t>
            </a:r>
          </a:p>
        </p:txBody>
      </p:sp>
      <p:sp>
        <p:nvSpPr>
          <p:cNvPr id="35" name="TextBox 34"/>
          <p:cNvSpPr txBox="1"/>
          <p:nvPr/>
        </p:nvSpPr>
        <p:spPr>
          <a:xfrm>
            <a:off x="7543800" y="1444752"/>
            <a:ext cx="1042415" cy="246888"/>
          </a:xfrm>
          <a:prstGeom prst="rect">
            <a:avLst/>
          </a:prstGeom>
          <a:noFill/>
        </p:spPr>
        <p:txBody>
          <a:bodyPr wrap="square" lIns="54864" tIns="27432" rIns="54864" bIns="27432" anchor="b">
            <a:spAutoFit/>
          </a:bodyPr>
          <a:lstStyle/>
          <a:p>
            <a:pPr algn="ctr">
              <a:lnSpc>
                <a:spcPct val="92000"/>
              </a:lnSpc>
            </a:pPr>
            <a:r>
              <a:rPr sz="750" b="1" i="0">
                <a:solidFill>
                  <a:srgbClr val="8F8F8F"/>
                </a:solidFill>
                <a:latin typeface="Arial"/>
              </a:rPr>
              <a:t>Bêta</a:t>
            </a:r>
          </a:p>
        </p:txBody>
      </p:sp>
      <p:sp>
        <p:nvSpPr>
          <p:cNvPr id="36" name="Rectangle 35"/>
          <p:cNvSpPr/>
          <p:nvPr/>
        </p:nvSpPr>
        <p:spPr>
          <a:xfrm>
            <a:off x="548640" y="1972360"/>
            <a:ext cx="8037575" cy="7315"/>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03503" y="1705356"/>
            <a:ext cx="1691639" cy="274320"/>
          </a:xfrm>
          <a:prstGeom prst="rect">
            <a:avLst/>
          </a:prstGeom>
          <a:noFill/>
        </p:spPr>
        <p:txBody>
          <a:bodyPr wrap="square" lIns="54864" tIns="27432" rIns="54864" bIns="27432" anchor="ctr">
            <a:spAutoFit/>
          </a:bodyPr>
          <a:lstStyle/>
          <a:p>
            <a:pPr algn="l">
              <a:lnSpc>
                <a:spcPct val="100000"/>
              </a:lnSpc>
            </a:pPr>
            <a:r>
              <a:rPr sz="850" b="0" i="0">
                <a:solidFill>
                  <a:srgbClr val="171717"/>
                </a:solidFill>
                <a:latin typeface="Arial"/>
              </a:rPr>
              <a:t>1  Cadrage</a:t>
            </a:r>
          </a:p>
        </p:txBody>
      </p:sp>
      <p:sp>
        <p:nvSpPr>
          <p:cNvPr id="38" name="Rounded Rectangle 37"/>
          <p:cNvSpPr/>
          <p:nvPr/>
        </p:nvSpPr>
        <p:spPr>
          <a:xfrm>
            <a:off x="2377439" y="1737360"/>
            <a:ext cx="950975" cy="210311"/>
          </a:xfrm>
          <a:prstGeom prst="roundRect">
            <a:avLst>
              <a:gd name="adj" fmla="val 27173"/>
            </a:avLst>
          </a:prstGeom>
          <a:solidFill>
            <a:srgbClr val="E5DBFF"/>
          </a:solidFill>
          <a:ln w="9525">
            <a:solidFill>
              <a:srgbClr val="B197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2331720" y="1705356"/>
            <a:ext cx="1042415" cy="274320"/>
          </a:xfrm>
          <a:prstGeom prst="rect">
            <a:avLst/>
          </a:prstGeom>
          <a:noFill/>
        </p:spPr>
        <p:txBody>
          <a:bodyPr wrap="square" lIns="54864" tIns="27432" rIns="54864" bIns="27432" anchor="ctr">
            <a:spAutoFit/>
          </a:bodyPr>
          <a:lstStyle/>
          <a:p>
            <a:pPr algn="ctr">
              <a:lnSpc>
                <a:spcPct val="100000"/>
              </a:lnSpc>
            </a:pPr>
            <a:r>
              <a:rPr sz="850" b="1" i="0">
                <a:solidFill>
                  <a:srgbClr val="171717"/>
                </a:solidFill>
                <a:latin typeface="Arial"/>
              </a:rPr>
              <a:t>A</a:t>
            </a:r>
          </a:p>
        </p:txBody>
      </p:sp>
      <p:sp>
        <p:nvSpPr>
          <p:cNvPr id="40" name="Rounded Rectangle 39"/>
          <p:cNvSpPr/>
          <p:nvPr/>
        </p:nvSpPr>
        <p:spPr>
          <a:xfrm>
            <a:off x="3419855" y="1737360"/>
            <a:ext cx="950975" cy="210311"/>
          </a:xfrm>
          <a:prstGeom prst="roundRect">
            <a:avLst>
              <a:gd name="adj" fmla="val 27173"/>
            </a:avLst>
          </a:prstGeom>
          <a:solidFill>
            <a:srgbClr val="D0EBFF"/>
          </a:solidFill>
          <a:ln w="9525">
            <a:solidFill>
              <a:srgbClr val="74C0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3374135" y="170535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171717"/>
                </a:solidFill>
                <a:latin typeface="Arial"/>
              </a:rPr>
              <a:t>R</a:t>
            </a:r>
          </a:p>
        </p:txBody>
      </p:sp>
      <p:sp>
        <p:nvSpPr>
          <p:cNvPr id="42" name="Rounded Rectangle 41"/>
          <p:cNvSpPr/>
          <p:nvPr/>
        </p:nvSpPr>
        <p:spPr>
          <a:xfrm>
            <a:off x="4462272" y="1737360"/>
            <a:ext cx="950975" cy="210311"/>
          </a:xfrm>
          <a:prstGeom prst="roundRect">
            <a:avLst>
              <a:gd name="adj" fmla="val 27173"/>
            </a:avLst>
          </a:prstGeom>
          <a:solidFill>
            <a:srgbClr val="F1F3F5"/>
          </a:solidFill>
          <a:ln w="9525">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416552" y="170535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666666"/>
                </a:solidFill>
                <a:latin typeface="Arial"/>
              </a:rPr>
              <a:t>I</a:t>
            </a:r>
          </a:p>
        </p:txBody>
      </p:sp>
      <p:sp>
        <p:nvSpPr>
          <p:cNvPr id="44" name="Rounded Rectangle 43"/>
          <p:cNvSpPr/>
          <p:nvPr/>
        </p:nvSpPr>
        <p:spPr>
          <a:xfrm>
            <a:off x="5504688" y="1737360"/>
            <a:ext cx="950975" cy="210311"/>
          </a:xfrm>
          <a:prstGeom prst="roundRect">
            <a:avLst>
              <a:gd name="adj" fmla="val 27173"/>
            </a:avLst>
          </a:prstGeom>
          <a:solidFill>
            <a:srgbClr val="FFF3BF"/>
          </a:solidFill>
          <a:ln w="9525">
            <a:solidFill>
              <a:srgbClr val="FFD4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458968" y="170535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171717"/>
                </a:solidFill>
                <a:latin typeface="Arial"/>
              </a:rPr>
              <a:t>C</a:t>
            </a:r>
          </a:p>
        </p:txBody>
      </p:sp>
      <p:sp>
        <p:nvSpPr>
          <p:cNvPr id="46" name="Rounded Rectangle 45"/>
          <p:cNvSpPr/>
          <p:nvPr/>
        </p:nvSpPr>
        <p:spPr>
          <a:xfrm>
            <a:off x="6547103" y="1737360"/>
            <a:ext cx="950975" cy="210311"/>
          </a:xfrm>
          <a:prstGeom prst="roundRect">
            <a:avLst>
              <a:gd name="adj" fmla="val 27173"/>
            </a:avLst>
          </a:prstGeom>
          <a:solidFill>
            <a:srgbClr val="FFF3BF"/>
          </a:solidFill>
          <a:ln w="9525">
            <a:solidFill>
              <a:srgbClr val="FFD4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6501383" y="170535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171717"/>
                </a:solidFill>
                <a:latin typeface="Arial"/>
              </a:rPr>
              <a:t>C</a:t>
            </a:r>
          </a:p>
        </p:txBody>
      </p:sp>
      <p:sp>
        <p:nvSpPr>
          <p:cNvPr id="48" name="Rounded Rectangle 47"/>
          <p:cNvSpPr/>
          <p:nvPr/>
        </p:nvSpPr>
        <p:spPr>
          <a:xfrm>
            <a:off x="7589520" y="1737360"/>
            <a:ext cx="950975" cy="210311"/>
          </a:xfrm>
          <a:prstGeom prst="roundRect">
            <a:avLst>
              <a:gd name="adj" fmla="val 27173"/>
            </a:avLst>
          </a:prstGeom>
          <a:solidFill>
            <a:srgbClr val="FFF3BF"/>
          </a:solidFill>
          <a:ln w="9525">
            <a:solidFill>
              <a:srgbClr val="FFD4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543800" y="170535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171717"/>
                </a:solidFill>
                <a:latin typeface="Arial"/>
              </a:rPr>
              <a:t>C</a:t>
            </a:r>
          </a:p>
        </p:txBody>
      </p:sp>
      <p:sp>
        <p:nvSpPr>
          <p:cNvPr id="50" name="Rectangle 49"/>
          <p:cNvSpPr/>
          <p:nvPr/>
        </p:nvSpPr>
        <p:spPr>
          <a:xfrm>
            <a:off x="548640" y="2246680"/>
            <a:ext cx="8037575" cy="7315"/>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603503" y="1979676"/>
            <a:ext cx="1691639" cy="274320"/>
          </a:xfrm>
          <a:prstGeom prst="rect">
            <a:avLst/>
          </a:prstGeom>
          <a:noFill/>
        </p:spPr>
        <p:txBody>
          <a:bodyPr wrap="square" lIns="54864" tIns="27432" rIns="54864" bIns="27432" anchor="ctr">
            <a:spAutoFit/>
          </a:bodyPr>
          <a:lstStyle/>
          <a:p>
            <a:pPr algn="l">
              <a:lnSpc>
                <a:spcPct val="100000"/>
              </a:lnSpc>
            </a:pPr>
            <a:r>
              <a:rPr sz="850" b="0" i="0">
                <a:solidFill>
                  <a:srgbClr val="171717"/>
                </a:solidFill>
                <a:latin typeface="Arial"/>
              </a:rPr>
              <a:t>2  Infrastructure IaC</a:t>
            </a:r>
          </a:p>
        </p:txBody>
      </p:sp>
      <p:sp>
        <p:nvSpPr>
          <p:cNvPr id="52" name="Rounded Rectangle 51"/>
          <p:cNvSpPr/>
          <p:nvPr/>
        </p:nvSpPr>
        <p:spPr>
          <a:xfrm>
            <a:off x="2377439" y="2011680"/>
            <a:ext cx="950975" cy="210311"/>
          </a:xfrm>
          <a:prstGeom prst="roundRect">
            <a:avLst>
              <a:gd name="adj" fmla="val 27173"/>
            </a:avLst>
          </a:prstGeom>
          <a:solidFill>
            <a:srgbClr val="E5DBFF"/>
          </a:solidFill>
          <a:ln w="9525">
            <a:solidFill>
              <a:srgbClr val="B197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2331720" y="1979676"/>
            <a:ext cx="1042415" cy="274320"/>
          </a:xfrm>
          <a:prstGeom prst="rect">
            <a:avLst/>
          </a:prstGeom>
          <a:noFill/>
        </p:spPr>
        <p:txBody>
          <a:bodyPr wrap="square" lIns="54864" tIns="27432" rIns="54864" bIns="27432" anchor="ctr">
            <a:spAutoFit/>
          </a:bodyPr>
          <a:lstStyle/>
          <a:p>
            <a:pPr algn="ctr">
              <a:lnSpc>
                <a:spcPct val="100000"/>
              </a:lnSpc>
            </a:pPr>
            <a:r>
              <a:rPr sz="850" b="1" i="0">
                <a:solidFill>
                  <a:srgbClr val="171717"/>
                </a:solidFill>
                <a:latin typeface="Arial"/>
              </a:rPr>
              <a:t>A</a:t>
            </a:r>
          </a:p>
        </p:txBody>
      </p:sp>
      <p:sp>
        <p:nvSpPr>
          <p:cNvPr id="54" name="Rounded Rectangle 53"/>
          <p:cNvSpPr/>
          <p:nvPr/>
        </p:nvSpPr>
        <p:spPr>
          <a:xfrm>
            <a:off x="3419855" y="2011680"/>
            <a:ext cx="950975" cy="210311"/>
          </a:xfrm>
          <a:prstGeom prst="roundRect">
            <a:avLst>
              <a:gd name="adj" fmla="val 27173"/>
            </a:avLst>
          </a:prstGeom>
          <a:solidFill>
            <a:srgbClr val="D0EBFF"/>
          </a:solidFill>
          <a:ln w="9525">
            <a:solidFill>
              <a:srgbClr val="74C0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3374135" y="197967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171717"/>
                </a:solidFill>
                <a:latin typeface="Arial"/>
              </a:rPr>
              <a:t>R</a:t>
            </a:r>
          </a:p>
        </p:txBody>
      </p:sp>
      <p:sp>
        <p:nvSpPr>
          <p:cNvPr id="56" name="Rounded Rectangle 55"/>
          <p:cNvSpPr/>
          <p:nvPr/>
        </p:nvSpPr>
        <p:spPr>
          <a:xfrm>
            <a:off x="4462272" y="2011680"/>
            <a:ext cx="950975" cy="210311"/>
          </a:xfrm>
          <a:prstGeom prst="roundRect">
            <a:avLst>
              <a:gd name="adj" fmla="val 27173"/>
            </a:avLst>
          </a:prstGeom>
          <a:solidFill>
            <a:srgbClr val="F1F3F5"/>
          </a:solidFill>
          <a:ln w="9525">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4416552" y="197967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666666"/>
                </a:solidFill>
                <a:latin typeface="Arial"/>
              </a:rPr>
              <a:t>I</a:t>
            </a:r>
          </a:p>
        </p:txBody>
      </p:sp>
      <p:sp>
        <p:nvSpPr>
          <p:cNvPr id="58" name="Rounded Rectangle 57"/>
          <p:cNvSpPr/>
          <p:nvPr/>
        </p:nvSpPr>
        <p:spPr>
          <a:xfrm>
            <a:off x="5504688" y="2011680"/>
            <a:ext cx="950975" cy="210311"/>
          </a:xfrm>
          <a:prstGeom prst="roundRect">
            <a:avLst>
              <a:gd name="adj" fmla="val 27173"/>
            </a:avLst>
          </a:prstGeom>
          <a:solidFill>
            <a:srgbClr val="FFF3BF"/>
          </a:solidFill>
          <a:ln w="9525">
            <a:solidFill>
              <a:srgbClr val="FFD4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5458968" y="197967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171717"/>
                </a:solidFill>
                <a:latin typeface="Arial"/>
              </a:rPr>
              <a:t>C</a:t>
            </a:r>
          </a:p>
        </p:txBody>
      </p:sp>
      <p:sp>
        <p:nvSpPr>
          <p:cNvPr id="60" name="Rounded Rectangle 59"/>
          <p:cNvSpPr/>
          <p:nvPr/>
        </p:nvSpPr>
        <p:spPr>
          <a:xfrm>
            <a:off x="6547103" y="2011680"/>
            <a:ext cx="950975" cy="210311"/>
          </a:xfrm>
          <a:prstGeom prst="roundRect">
            <a:avLst>
              <a:gd name="adj" fmla="val 27173"/>
            </a:avLst>
          </a:prstGeom>
          <a:solidFill>
            <a:srgbClr val="F1F3F5"/>
          </a:solidFill>
          <a:ln w="9525">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6501383" y="197967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666666"/>
                </a:solidFill>
                <a:latin typeface="Arial"/>
              </a:rPr>
              <a:t>I</a:t>
            </a:r>
          </a:p>
        </p:txBody>
      </p:sp>
      <p:sp>
        <p:nvSpPr>
          <p:cNvPr id="62" name="TextBox 61"/>
          <p:cNvSpPr txBox="1"/>
          <p:nvPr/>
        </p:nvSpPr>
        <p:spPr>
          <a:xfrm>
            <a:off x="7543800" y="197967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D4D4D4"/>
                </a:solidFill>
                <a:latin typeface="Arial"/>
              </a:rPr>
              <a:t>–</a:t>
            </a:r>
          </a:p>
        </p:txBody>
      </p:sp>
      <p:sp>
        <p:nvSpPr>
          <p:cNvPr id="63" name="Rectangle 62"/>
          <p:cNvSpPr/>
          <p:nvPr/>
        </p:nvSpPr>
        <p:spPr>
          <a:xfrm>
            <a:off x="548640" y="2521000"/>
            <a:ext cx="8037575" cy="7315"/>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603503" y="2253996"/>
            <a:ext cx="1691639" cy="274320"/>
          </a:xfrm>
          <a:prstGeom prst="rect">
            <a:avLst/>
          </a:prstGeom>
          <a:noFill/>
        </p:spPr>
        <p:txBody>
          <a:bodyPr wrap="square" lIns="54864" tIns="27432" rIns="54864" bIns="27432" anchor="ctr">
            <a:spAutoFit/>
          </a:bodyPr>
          <a:lstStyle/>
          <a:p>
            <a:pPr algn="l">
              <a:lnSpc>
                <a:spcPct val="100000"/>
              </a:lnSpc>
            </a:pPr>
            <a:r>
              <a:rPr sz="850" b="0" i="0">
                <a:solidFill>
                  <a:srgbClr val="171717"/>
                </a:solidFill>
                <a:latin typeface="Arial"/>
              </a:rPr>
              <a:t>3  Backend API</a:t>
            </a:r>
          </a:p>
        </p:txBody>
      </p:sp>
      <p:sp>
        <p:nvSpPr>
          <p:cNvPr id="65" name="Rounded Rectangle 64"/>
          <p:cNvSpPr/>
          <p:nvPr/>
        </p:nvSpPr>
        <p:spPr>
          <a:xfrm>
            <a:off x="2377439" y="2286000"/>
            <a:ext cx="950975" cy="210311"/>
          </a:xfrm>
          <a:prstGeom prst="roundRect">
            <a:avLst>
              <a:gd name="adj" fmla="val 27173"/>
            </a:avLst>
          </a:prstGeom>
          <a:solidFill>
            <a:srgbClr val="FFF3BF"/>
          </a:solidFill>
          <a:ln w="9525">
            <a:solidFill>
              <a:srgbClr val="FFD4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2331720" y="225399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171717"/>
                </a:solidFill>
                <a:latin typeface="Arial"/>
              </a:rPr>
              <a:t>C</a:t>
            </a:r>
          </a:p>
        </p:txBody>
      </p:sp>
      <p:sp>
        <p:nvSpPr>
          <p:cNvPr id="67" name="Rounded Rectangle 66"/>
          <p:cNvSpPr/>
          <p:nvPr/>
        </p:nvSpPr>
        <p:spPr>
          <a:xfrm>
            <a:off x="3419855" y="2286000"/>
            <a:ext cx="950975" cy="210311"/>
          </a:xfrm>
          <a:prstGeom prst="roundRect">
            <a:avLst>
              <a:gd name="adj" fmla="val 27173"/>
            </a:avLst>
          </a:prstGeom>
          <a:solidFill>
            <a:srgbClr val="E5DBFF"/>
          </a:solidFill>
          <a:ln w="9525">
            <a:solidFill>
              <a:srgbClr val="B197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3374135" y="2253996"/>
            <a:ext cx="1042415" cy="274320"/>
          </a:xfrm>
          <a:prstGeom prst="rect">
            <a:avLst/>
          </a:prstGeom>
          <a:noFill/>
        </p:spPr>
        <p:txBody>
          <a:bodyPr wrap="square" lIns="54864" tIns="27432" rIns="54864" bIns="27432" anchor="ctr">
            <a:spAutoFit/>
          </a:bodyPr>
          <a:lstStyle/>
          <a:p>
            <a:pPr algn="ctr">
              <a:lnSpc>
                <a:spcPct val="100000"/>
              </a:lnSpc>
            </a:pPr>
            <a:r>
              <a:rPr sz="850" b="1" i="0">
                <a:solidFill>
                  <a:srgbClr val="171717"/>
                </a:solidFill>
                <a:latin typeface="Arial"/>
              </a:rPr>
              <a:t>A</a:t>
            </a:r>
          </a:p>
        </p:txBody>
      </p:sp>
      <p:sp>
        <p:nvSpPr>
          <p:cNvPr id="69" name="Rounded Rectangle 68"/>
          <p:cNvSpPr/>
          <p:nvPr/>
        </p:nvSpPr>
        <p:spPr>
          <a:xfrm>
            <a:off x="4462272" y="2286000"/>
            <a:ext cx="950975" cy="210311"/>
          </a:xfrm>
          <a:prstGeom prst="roundRect">
            <a:avLst>
              <a:gd name="adj" fmla="val 27173"/>
            </a:avLst>
          </a:prstGeom>
          <a:solidFill>
            <a:srgbClr val="D0EBFF"/>
          </a:solidFill>
          <a:ln w="9525">
            <a:solidFill>
              <a:srgbClr val="74C0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4416552" y="225399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171717"/>
                </a:solidFill>
                <a:latin typeface="Arial"/>
              </a:rPr>
              <a:t>R</a:t>
            </a:r>
          </a:p>
        </p:txBody>
      </p:sp>
      <p:sp>
        <p:nvSpPr>
          <p:cNvPr id="71" name="Rounded Rectangle 70"/>
          <p:cNvSpPr/>
          <p:nvPr/>
        </p:nvSpPr>
        <p:spPr>
          <a:xfrm>
            <a:off x="5504688" y="2286000"/>
            <a:ext cx="950975" cy="210311"/>
          </a:xfrm>
          <a:prstGeom prst="roundRect">
            <a:avLst>
              <a:gd name="adj" fmla="val 27173"/>
            </a:avLst>
          </a:prstGeom>
          <a:solidFill>
            <a:srgbClr val="FFF3BF"/>
          </a:solidFill>
          <a:ln w="9525">
            <a:solidFill>
              <a:srgbClr val="FFD4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5458968" y="225399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171717"/>
                </a:solidFill>
                <a:latin typeface="Arial"/>
              </a:rPr>
              <a:t>C</a:t>
            </a:r>
          </a:p>
        </p:txBody>
      </p:sp>
      <p:sp>
        <p:nvSpPr>
          <p:cNvPr id="73" name="Rounded Rectangle 72"/>
          <p:cNvSpPr/>
          <p:nvPr/>
        </p:nvSpPr>
        <p:spPr>
          <a:xfrm>
            <a:off x="6547103" y="2286000"/>
            <a:ext cx="950975" cy="210311"/>
          </a:xfrm>
          <a:prstGeom prst="roundRect">
            <a:avLst>
              <a:gd name="adj" fmla="val 27173"/>
            </a:avLst>
          </a:prstGeom>
          <a:solidFill>
            <a:srgbClr val="F1F3F5"/>
          </a:solidFill>
          <a:ln w="9525">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6501383" y="225399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666666"/>
                </a:solidFill>
                <a:latin typeface="Arial"/>
              </a:rPr>
              <a:t>I</a:t>
            </a:r>
          </a:p>
        </p:txBody>
      </p:sp>
      <p:sp>
        <p:nvSpPr>
          <p:cNvPr id="75" name="Rounded Rectangle 74"/>
          <p:cNvSpPr/>
          <p:nvPr/>
        </p:nvSpPr>
        <p:spPr>
          <a:xfrm>
            <a:off x="7589520" y="2286000"/>
            <a:ext cx="950975" cy="210311"/>
          </a:xfrm>
          <a:prstGeom prst="roundRect">
            <a:avLst>
              <a:gd name="adj" fmla="val 27173"/>
            </a:avLst>
          </a:prstGeom>
          <a:solidFill>
            <a:srgbClr val="F1F3F5"/>
          </a:solidFill>
          <a:ln w="9525">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7543800" y="225399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666666"/>
                </a:solidFill>
                <a:latin typeface="Arial"/>
              </a:rPr>
              <a:t>I</a:t>
            </a:r>
          </a:p>
        </p:txBody>
      </p:sp>
      <p:sp>
        <p:nvSpPr>
          <p:cNvPr id="77" name="Rectangle 76"/>
          <p:cNvSpPr/>
          <p:nvPr/>
        </p:nvSpPr>
        <p:spPr>
          <a:xfrm>
            <a:off x="548640" y="2795320"/>
            <a:ext cx="8037575" cy="7315"/>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603503" y="2528315"/>
            <a:ext cx="1691639" cy="274320"/>
          </a:xfrm>
          <a:prstGeom prst="rect">
            <a:avLst/>
          </a:prstGeom>
          <a:noFill/>
        </p:spPr>
        <p:txBody>
          <a:bodyPr wrap="square" lIns="54864" tIns="27432" rIns="54864" bIns="27432" anchor="ctr">
            <a:spAutoFit/>
          </a:bodyPr>
          <a:lstStyle/>
          <a:p>
            <a:pPr algn="l">
              <a:lnSpc>
                <a:spcPct val="100000"/>
              </a:lnSpc>
            </a:pPr>
            <a:r>
              <a:rPr sz="850" b="0" i="0">
                <a:solidFill>
                  <a:srgbClr val="171717"/>
                </a:solidFill>
                <a:latin typeface="Arial"/>
              </a:rPr>
              <a:t>4  Frontend et site</a:t>
            </a:r>
          </a:p>
        </p:txBody>
      </p:sp>
      <p:sp>
        <p:nvSpPr>
          <p:cNvPr id="79" name="Rounded Rectangle 78"/>
          <p:cNvSpPr/>
          <p:nvPr/>
        </p:nvSpPr>
        <p:spPr>
          <a:xfrm>
            <a:off x="2377439" y="2560320"/>
            <a:ext cx="950975" cy="210311"/>
          </a:xfrm>
          <a:prstGeom prst="roundRect">
            <a:avLst>
              <a:gd name="adj" fmla="val 27173"/>
            </a:avLst>
          </a:prstGeom>
          <a:solidFill>
            <a:srgbClr val="F1F3F5"/>
          </a:solidFill>
          <a:ln w="9525">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2331720" y="2528315"/>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666666"/>
                </a:solidFill>
                <a:latin typeface="Arial"/>
              </a:rPr>
              <a:t>I</a:t>
            </a:r>
          </a:p>
        </p:txBody>
      </p:sp>
      <p:sp>
        <p:nvSpPr>
          <p:cNvPr id="81" name="Rounded Rectangle 80"/>
          <p:cNvSpPr/>
          <p:nvPr/>
        </p:nvSpPr>
        <p:spPr>
          <a:xfrm>
            <a:off x="3419855" y="2560320"/>
            <a:ext cx="950975" cy="210311"/>
          </a:xfrm>
          <a:prstGeom prst="roundRect">
            <a:avLst>
              <a:gd name="adj" fmla="val 27173"/>
            </a:avLst>
          </a:prstGeom>
          <a:solidFill>
            <a:srgbClr val="E5DBFF"/>
          </a:solidFill>
          <a:ln w="9525">
            <a:solidFill>
              <a:srgbClr val="B197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3374135" y="2528315"/>
            <a:ext cx="1042415" cy="274320"/>
          </a:xfrm>
          <a:prstGeom prst="rect">
            <a:avLst/>
          </a:prstGeom>
          <a:noFill/>
        </p:spPr>
        <p:txBody>
          <a:bodyPr wrap="square" lIns="54864" tIns="27432" rIns="54864" bIns="27432" anchor="ctr">
            <a:spAutoFit/>
          </a:bodyPr>
          <a:lstStyle/>
          <a:p>
            <a:pPr algn="ctr">
              <a:lnSpc>
                <a:spcPct val="100000"/>
              </a:lnSpc>
            </a:pPr>
            <a:r>
              <a:rPr sz="850" b="1" i="0">
                <a:solidFill>
                  <a:srgbClr val="171717"/>
                </a:solidFill>
                <a:latin typeface="Arial"/>
              </a:rPr>
              <a:t>A</a:t>
            </a:r>
          </a:p>
        </p:txBody>
      </p:sp>
      <p:sp>
        <p:nvSpPr>
          <p:cNvPr id="83" name="Rounded Rectangle 82"/>
          <p:cNvSpPr/>
          <p:nvPr/>
        </p:nvSpPr>
        <p:spPr>
          <a:xfrm>
            <a:off x="4462272" y="2560320"/>
            <a:ext cx="950975" cy="210311"/>
          </a:xfrm>
          <a:prstGeom prst="roundRect">
            <a:avLst>
              <a:gd name="adj" fmla="val 27173"/>
            </a:avLst>
          </a:prstGeom>
          <a:solidFill>
            <a:srgbClr val="D0EBFF"/>
          </a:solidFill>
          <a:ln w="9525">
            <a:solidFill>
              <a:srgbClr val="74C0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4416552" y="2528315"/>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171717"/>
                </a:solidFill>
                <a:latin typeface="Arial"/>
              </a:rPr>
              <a:t>R</a:t>
            </a:r>
          </a:p>
        </p:txBody>
      </p:sp>
      <p:sp>
        <p:nvSpPr>
          <p:cNvPr id="85" name="Rounded Rectangle 84"/>
          <p:cNvSpPr/>
          <p:nvPr/>
        </p:nvSpPr>
        <p:spPr>
          <a:xfrm>
            <a:off x="5504688" y="2560320"/>
            <a:ext cx="950975" cy="210311"/>
          </a:xfrm>
          <a:prstGeom prst="roundRect">
            <a:avLst>
              <a:gd name="adj" fmla="val 27173"/>
            </a:avLst>
          </a:prstGeom>
          <a:solidFill>
            <a:srgbClr val="F1F3F5"/>
          </a:solidFill>
          <a:ln w="9525">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5458968" y="2528315"/>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666666"/>
                </a:solidFill>
                <a:latin typeface="Arial"/>
              </a:rPr>
              <a:t>I</a:t>
            </a:r>
          </a:p>
        </p:txBody>
      </p:sp>
      <p:sp>
        <p:nvSpPr>
          <p:cNvPr id="87" name="Rounded Rectangle 86"/>
          <p:cNvSpPr/>
          <p:nvPr/>
        </p:nvSpPr>
        <p:spPr>
          <a:xfrm>
            <a:off x="6547103" y="2560320"/>
            <a:ext cx="950975" cy="210311"/>
          </a:xfrm>
          <a:prstGeom prst="roundRect">
            <a:avLst>
              <a:gd name="adj" fmla="val 27173"/>
            </a:avLst>
          </a:prstGeom>
          <a:solidFill>
            <a:srgbClr val="F1F3F5"/>
          </a:solidFill>
          <a:ln w="9525">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6501383" y="2528315"/>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666666"/>
                </a:solidFill>
                <a:latin typeface="Arial"/>
              </a:rPr>
              <a:t>I</a:t>
            </a:r>
          </a:p>
        </p:txBody>
      </p:sp>
      <p:sp>
        <p:nvSpPr>
          <p:cNvPr id="89" name="Rounded Rectangle 88"/>
          <p:cNvSpPr/>
          <p:nvPr/>
        </p:nvSpPr>
        <p:spPr>
          <a:xfrm>
            <a:off x="7589520" y="2560320"/>
            <a:ext cx="950975" cy="210311"/>
          </a:xfrm>
          <a:prstGeom prst="roundRect">
            <a:avLst>
              <a:gd name="adj" fmla="val 27173"/>
            </a:avLst>
          </a:prstGeom>
          <a:solidFill>
            <a:srgbClr val="FFF3BF"/>
          </a:solidFill>
          <a:ln w="9525">
            <a:solidFill>
              <a:srgbClr val="FFD4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7543800" y="2528315"/>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171717"/>
                </a:solidFill>
                <a:latin typeface="Arial"/>
              </a:rPr>
              <a:t>C</a:t>
            </a:r>
          </a:p>
        </p:txBody>
      </p:sp>
      <p:sp>
        <p:nvSpPr>
          <p:cNvPr id="91" name="Rectangle 90"/>
          <p:cNvSpPr/>
          <p:nvPr/>
        </p:nvSpPr>
        <p:spPr>
          <a:xfrm>
            <a:off x="548640" y="3069640"/>
            <a:ext cx="8037575" cy="7315"/>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603503" y="2802636"/>
            <a:ext cx="1691639" cy="274320"/>
          </a:xfrm>
          <a:prstGeom prst="rect">
            <a:avLst/>
          </a:prstGeom>
          <a:noFill/>
        </p:spPr>
        <p:txBody>
          <a:bodyPr wrap="square" lIns="54864" tIns="27432" rIns="54864" bIns="27432" anchor="ctr">
            <a:spAutoFit/>
          </a:bodyPr>
          <a:lstStyle/>
          <a:p>
            <a:pPr algn="l">
              <a:lnSpc>
                <a:spcPct val="100000"/>
              </a:lnSpc>
            </a:pPr>
            <a:r>
              <a:rPr sz="850" b="0" i="0">
                <a:solidFill>
                  <a:srgbClr val="171717"/>
                </a:solidFill>
                <a:latin typeface="Arial"/>
              </a:rPr>
              <a:t>5  Chaîne CI/CD</a:t>
            </a:r>
          </a:p>
        </p:txBody>
      </p:sp>
      <p:sp>
        <p:nvSpPr>
          <p:cNvPr id="93" name="Rounded Rectangle 92"/>
          <p:cNvSpPr/>
          <p:nvPr/>
        </p:nvSpPr>
        <p:spPr>
          <a:xfrm>
            <a:off x="2377439" y="2834640"/>
            <a:ext cx="950975" cy="210311"/>
          </a:xfrm>
          <a:prstGeom prst="roundRect">
            <a:avLst>
              <a:gd name="adj" fmla="val 27173"/>
            </a:avLst>
          </a:prstGeom>
          <a:solidFill>
            <a:srgbClr val="F1F3F5"/>
          </a:solidFill>
          <a:ln w="9525">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2331720" y="280263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666666"/>
                </a:solidFill>
                <a:latin typeface="Arial"/>
              </a:rPr>
              <a:t>I</a:t>
            </a:r>
          </a:p>
        </p:txBody>
      </p:sp>
      <p:sp>
        <p:nvSpPr>
          <p:cNvPr id="95" name="Rounded Rectangle 94"/>
          <p:cNvSpPr/>
          <p:nvPr/>
        </p:nvSpPr>
        <p:spPr>
          <a:xfrm>
            <a:off x="3419855" y="2834640"/>
            <a:ext cx="950975" cy="210311"/>
          </a:xfrm>
          <a:prstGeom prst="roundRect">
            <a:avLst>
              <a:gd name="adj" fmla="val 27173"/>
            </a:avLst>
          </a:prstGeom>
          <a:solidFill>
            <a:srgbClr val="F3D9FA"/>
          </a:solidFill>
          <a:ln w="9525">
            <a:solidFill>
              <a:srgbClr val="E599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p:cNvSpPr txBox="1"/>
          <p:nvPr/>
        </p:nvSpPr>
        <p:spPr>
          <a:xfrm>
            <a:off x="3374135" y="2802636"/>
            <a:ext cx="1042415" cy="274320"/>
          </a:xfrm>
          <a:prstGeom prst="rect">
            <a:avLst/>
          </a:prstGeom>
          <a:noFill/>
        </p:spPr>
        <p:txBody>
          <a:bodyPr wrap="square" lIns="54864" tIns="27432" rIns="54864" bIns="27432" anchor="ctr">
            <a:spAutoFit/>
          </a:bodyPr>
          <a:lstStyle/>
          <a:p>
            <a:pPr algn="ctr">
              <a:lnSpc>
                <a:spcPct val="100000"/>
              </a:lnSpc>
            </a:pPr>
            <a:r>
              <a:rPr sz="850" b="1" i="0">
                <a:solidFill>
                  <a:srgbClr val="171717"/>
                </a:solidFill>
                <a:latin typeface="Arial"/>
              </a:rPr>
              <a:t>A/R</a:t>
            </a:r>
          </a:p>
        </p:txBody>
      </p:sp>
      <p:sp>
        <p:nvSpPr>
          <p:cNvPr id="97" name="Rounded Rectangle 96"/>
          <p:cNvSpPr/>
          <p:nvPr/>
        </p:nvSpPr>
        <p:spPr>
          <a:xfrm>
            <a:off x="4462272" y="2834640"/>
            <a:ext cx="950975" cy="210311"/>
          </a:xfrm>
          <a:prstGeom prst="roundRect">
            <a:avLst>
              <a:gd name="adj" fmla="val 27173"/>
            </a:avLst>
          </a:prstGeom>
          <a:solidFill>
            <a:srgbClr val="FFF3BF"/>
          </a:solidFill>
          <a:ln w="9525">
            <a:solidFill>
              <a:srgbClr val="FFD4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4416552" y="280263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171717"/>
                </a:solidFill>
                <a:latin typeface="Arial"/>
              </a:rPr>
              <a:t>C</a:t>
            </a:r>
          </a:p>
        </p:txBody>
      </p:sp>
      <p:sp>
        <p:nvSpPr>
          <p:cNvPr id="99" name="Rounded Rectangle 98"/>
          <p:cNvSpPr/>
          <p:nvPr/>
        </p:nvSpPr>
        <p:spPr>
          <a:xfrm>
            <a:off x="5504688" y="2834640"/>
            <a:ext cx="950975" cy="210311"/>
          </a:xfrm>
          <a:prstGeom prst="roundRect">
            <a:avLst>
              <a:gd name="adj" fmla="val 27173"/>
            </a:avLst>
          </a:prstGeom>
          <a:solidFill>
            <a:srgbClr val="FFF3BF"/>
          </a:solidFill>
          <a:ln w="9525">
            <a:solidFill>
              <a:srgbClr val="FFD4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p:cNvSpPr txBox="1"/>
          <p:nvPr/>
        </p:nvSpPr>
        <p:spPr>
          <a:xfrm>
            <a:off x="5458968" y="280263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171717"/>
                </a:solidFill>
                <a:latin typeface="Arial"/>
              </a:rPr>
              <a:t>C</a:t>
            </a:r>
          </a:p>
        </p:txBody>
      </p:sp>
      <p:sp>
        <p:nvSpPr>
          <p:cNvPr id="101" name="Rounded Rectangle 100"/>
          <p:cNvSpPr/>
          <p:nvPr/>
        </p:nvSpPr>
        <p:spPr>
          <a:xfrm>
            <a:off x="6547103" y="2834640"/>
            <a:ext cx="950975" cy="210311"/>
          </a:xfrm>
          <a:prstGeom prst="roundRect">
            <a:avLst>
              <a:gd name="adj" fmla="val 27173"/>
            </a:avLst>
          </a:prstGeom>
          <a:solidFill>
            <a:srgbClr val="F1F3F5"/>
          </a:solidFill>
          <a:ln w="9525">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6501383" y="280263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666666"/>
                </a:solidFill>
                <a:latin typeface="Arial"/>
              </a:rPr>
              <a:t>I</a:t>
            </a:r>
          </a:p>
        </p:txBody>
      </p:sp>
      <p:sp>
        <p:nvSpPr>
          <p:cNvPr id="103" name="TextBox 102"/>
          <p:cNvSpPr txBox="1"/>
          <p:nvPr/>
        </p:nvSpPr>
        <p:spPr>
          <a:xfrm>
            <a:off x="7543800" y="280263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D4D4D4"/>
                </a:solidFill>
                <a:latin typeface="Arial"/>
              </a:rPr>
              <a:t>–</a:t>
            </a:r>
          </a:p>
        </p:txBody>
      </p:sp>
      <p:sp>
        <p:nvSpPr>
          <p:cNvPr id="104" name="Rectangle 103"/>
          <p:cNvSpPr/>
          <p:nvPr/>
        </p:nvSpPr>
        <p:spPr>
          <a:xfrm>
            <a:off x="548640" y="3343960"/>
            <a:ext cx="8037575" cy="7315"/>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TextBox 104"/>
          <p:cNvSpPr txBox="1"/>
          <p:nvPr/>
        </p:nvSpPr>
        <p:spPr>
          <a:xfrm>
            <a:off x="603503" y="3076956"/>
            <a:ext cx="1691639" cy="274320"/>
          </a:xfrm>
          <a:prstGeom prst="rect">
            <a:avLst/>
          </a:prstGeom>
          <a:noFill/>
        </p:spPr>
        <p:txBody>
          <a:bodyPr wrap="square" lIns="54864" tIns="27432" rIns="54864" bIns="27432" anchor="ctr">
            <a:spAutoFit/>
          </a:bodyPr>
          <a:lstStyle/>
          <a:p>
            <a:pPr algn="l">
              <a:lnSpc>
                <a:spcPct val="100000"/>
              </a:lnSpc>
            </a:pPr>
            <a:r>
              <a:rPr sz="850" b="0" i="0">
                <a:solidFill>
                  <a:srgbClr val="171717"/>
                </a:solidFill>
                <a:latin typeface="Arial"/>
              </a:rPr>
              <a:t>6  Observabilité</a:t>
            </a:r>
          </a:p>
        </p:txBody>
      </p:sp>
      <p:sp>
        <p:nvSpPr>
          <p:cNvPr id="106" name="Rounded Rectangle 105"/>
          <p:cNvSpPr/>
          <p:nvPr/>
        </p:nvSpPr>
        <p:spPr>
          <a:xfrm>
            <a:off x="2377439" y="3108960"/>
            <a:ext cx="950975" cy="210311"/>
          </a:xfrm>
          <a:prstGeom prst="roundRect">
            <a:avLst>
              <a:gd name="adj" fmla="val 27173"/>
            </a:avLst>
          </a:prstGeom>
          <a:solidFill>
            <a:srgbClr val="FFF3BF"/>
          </a:solidFill>
          <a:ln w="9525">
            <a:solidFill>
              <a:srgbClr val="FFD4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TextBox 106"/>
          <p:cNvSpPr txBox="1"/>
          <p:nvPr/>
        </p:nvSpPr>
        <p:spPr>
          <a:xfrm>
            <a:off x="2331720" y="307695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171717"/>
                </a:solidFill>
                <a:latin typeface="Arial"/>
              </a:rPr>
              <a:t>C</a:t>
            </a:r>
          </a:p>
        </p:txBody>
      </p:sp>
      <p:sp>
        <p:nvSpPr>
          <p:cNvPr id="108" name="Rounded Rectangle 107"/>
          <p:cNvSpPr/>
          <p:nvPr/>
        </p:nvSpPr>
        <p:spPr>
          <a:xfrm>
            <a:off x="3419855" y="3108960"/>
            <a:ext cx="950975" cy="210311"/>
          </a:xfrm>
          <a:prstGeom prst="roundRect">
            <a:avLst>
              <a:gd name="adj" fmla="val 27173"/>
            </a:avLst>
          </a:prstGeom>
          <a:solidFill>
            <a:srgbClr val="F3D9FA"/>
          </a:solidFill>
          <a:ln w="9525">
            <a:solidFill>
              <a:srgbClr val="E599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TextBox 108"/>
          <p:cNvSpPr txBox="1"/>
          <p:nvPr/>
        </p:nvSpPr>
        <p:spPr>
          <a:xfrm>
            <a:off x="3374135" y="3076956"/>
            <a:ext cx="1042415" cy="274320"/>
          </a:xfrm>
          <a:prstGeom prst="rect">
            <a:avLst/>
          </a:prstGeom>
          <a:noFill/>
        </p:spPr>
        <p:txBody>
          <a:bodyPr wrap="square" lIns="54864" tIns="27432" rIns="54864" bIns="27432" anchor="ctr">
            <a:spAutoFit/>
          </a:bodyPr>
          <a:lstStyle/>
          <a:p>
            <a:pPr algn="ctr">
              <a:lnSpc>
                <a:spcPct val="100000"/>
              </a:lnSpc>
            </a:pPr>
            <a:r>
              <a:rPr sz="850" b="1" i="0">
                <a:solidFill>
                  <a:srgbClr val="171717"/>
                </a:solidFill>
                <a:latin typeface="Arial"/>
              </a:rPr>
              <a:t>A/R</a:t>
            </a:r>
          </a:p>
        </p:txBody>
      </p:sp>
      <p:sp>
        <p:nvSpPr>
          <p:cNvPr id="110" name="Rounded Rectangle 109"/>
          <p:cNvSpPr/>
          <p:nvPr/>
        </p:nvSpPr>
        <p:spPr>
          <a:xfrm>
            <a:off x="4462272" y="3108960"/>
            <a:ext cx="950975" cy="210311"/>
          </a:xfrm>
          <a:prstGeom prst="roundRect">
            <a:avLst>
              <a:gd name="adj" fmla="val 27173"/>
            </a:avLst>
          </a:prstGeom>
          <a:solidFill>
            <a:srgbClr val="F1F3F5"/>
          </a:solidFill>
          <a:ln w="9525">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TextBox 110"/>
          <p:cNvSpPr txBox="1"/>
          <p:nvPr/>
        </p:nvSpPr>
        <p:spPr>
          <a:xfrm>
            <a:off x="4416552" y="307695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666666"/>
                </a:solidFill>
                <a:latin typeface="Arial"/>
              </a:rPr>
              <a:t>I</a:t>
            </a:r>
          </a:p>
        </p:txBody>
      </p:sp>
      <p:sp>
        <p:nvSpPr>
          <p:cNvPr id="112" name="Rounded Rectangle 111"/>
          <p:cNvSpPr/>
          <p:nvPr/>
        </p:nvSpPr>
        <p:spPr>
          <a:xfrm>
            <a:off x="5504688" y="3108960"/>
            <a:ext cx="950975" cy="210311"/>
          </a:xfrm>
          <a:prstGeom prst="roundRect">
            <a:avLst>
              <a:gd name="adj" fmla="val 27173"/>
            </a:avLst>
          </a:prstGeom>
          <a:solidFill>
            <a:srgbClr val="FFF3BF"/>
          </a:solidFill>
          <a:ln w="9525">
            <a:solidFill>
              <a:srgbClr val="FFD4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TextBox 112"/>
          <p:cNvSpPr txBox="1"/>
          <p:nvPr/>
        </p:nvSpPr>
        <p:spPr>
          <a:xfrm>
            <a:off x="5458968" y="307695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171717"/>
                </a:solidFill>
                <a:latin typeface="Arial"/>
              </a:rPr>
              <a:t>C</a:t>
            </a:r>
          </a:p>
        </p:txBody>
      </p:sp>
      <p:sp>
        <p:nvSpPr>
          <p:cNvPr id="114" name="Rounded Rectangle 113"/>
          <p:cNvSpPr/>
          <p:nvPr/>
        </p:nvSpPr>
        <p:spPr>
          <a:xfrm>
            <a:off x="6547103" y="3108960"/>
            <a:ext cx="950975" cy="210311"/>
          </a:xfrm>
          <a:prstGeom prst="roundRect">
            <a:avLst>
              <a:gd name="adj" fmla="val 27173"/>
            </a:avLst>
          </a:prstGeom>
          <a:solidFill>
            <a:srgbClr val="F1F3F5"/>
          </a:solidFill>
          <a:ln w="9525">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TextBox 114"/>
          <p:cNvSpPr txBox="1"/>
          <p:nvPr/>
        </p:nvSpPr>
        <p:spPr>
          <a:xfrm>
            <a:off x="6501383" y="307695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666666"/>
                </a:solidFill>
                <a:latin typeface="Arial"/>
              </a:rPr>
              <a:t>I</a:t>
            </a:r>
          </a:p>
        </p:txBody>
      </p:sp>
      <p:sp>
        <p:nvSpPr>
          <p:cNvPr id="116" name="TextBox 115"/>
          <p:cNvSpPr txBox="1"/>
          <p:nvPr/>
        </p:nvSpPr>
        <p:spPr>
          <a:xfrm>
            <a:off x="7543800" y="307695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D4D4D4"/>
                </a:solidFill>
                <a:latin typeface="Arial"/>
              </a:rPr>
              <a:t>–</a:t>
            </a:r>
          </a:p>
        </p:txBody>
      </p:sp>
      <p:sp>
        <p:nvSpPr>
          <p:cNvPr id="117" name="Rectangle 116"/>
          <p:cNvSpPr/>
          <p:nvPr/>
        </p:nvSpPr>
        <p:spPr>
          <a:xfrm>
            <a:off x="548640" y="3618280"/>
            <a:ext cx="8037575" cy="7315"/>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TextBox 117"/>
          <p:cNvSpPr txBox="1"/>
          <p:nvPr/>
        </p:nvSpPr>
        <p:spPr>
          <a:xfrm>
            <a:off x="603503" y="3351276"/>
            <a:ext cx="1691639" cy="274320"/>
          </a:xfrm>
          <a:prstGeom prst="rect">
            <a:avLst/>
          </a:prstGeom>
          <a:noFill/>
        </p:spPr>
        <p:txBody>
          <a:bodyPr wrap="square" lIns="54864" tIns="27432" rIns="54864" bIns="27432" anchor="ctr">
            <a:spAutoFit/>
          </a:bodyPr>
          <a:lstStyle/>
          <a:p>
            <a:pPr algn="l">
              <a:lnSpc>
                <a:spcPct val="100000"/>
              </a:lnSpc>
            </a:pPr>
            <a:r>
              <a:rPr sz="850" b="0" i="0">
                <a:solidFill>
                  <a:srgbClr val="171717"/>
                </a:solidFill>
                <a:latin typeface="Arial"/>
              </a:rPr>
              <a:t>7  Sécurité</a:t>
            </a:r>
          </a:p>
        </p:txBody>
      </p:sp>
      <p:sp>
        <p:nvSpPr>
          <p:cNvPr id="119" name="Rounded Rectangle 118"/>
          <p:cNvSpPr/>
          <p:nvPr/>
        </p:nvSpPr>
        <p:spPr>
          <a:xfrm>
            <a:off x="2377439" y="3383280"/>
            <a:ext cx="950975" cy="210311"/>
          </a:xfrm>
          <a:prstGeom prst="roundRect">
            <a:avLst>
              <a:gd name="adj" fmla="val 27173"/>
            </a:avLst>
          </a:prstGeom>
          <a:solidFill>
            <a:srgbClr val="FFF3BF"/>
          </a:solidFill>
          <a:ln w="9525">
            <a:solidFill>
              <a:srgbClr val="FFD4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TextBox 119"/>
          <p:cNvSpPr txBox="1"/>
          <p:nvPr/>
        </p:nvSpPr>
        <p:spPr>
          <a:xfrm>
            <a:off x="2331720" y="335127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171717"/>
                </a:solidFill>
                <a:latin typeface="Arial"/>
              </a:rPr>
              <a:t>C</a:t>
            </a:r>
          </a:p>
        </p:txBody>
      </p:sp>
      <p:sp>
        <p:nvSpPr>
          <p:cNvPr id="121" name="Rounded Rectangle 120"/>
          <p:cNvSpPr/>
          <p:nvPr/>
        </p:nvSpPr>
        <p:spPr>
          <a:xfrm>
            <a:off x="3419855" y="3383280"/>
            <a:ext cx="950975" cy="210311"/>
          </a:xfrm>
          <a:prstGeom prst="roundRect">
            <a:avLst>
              <a:gd name="adj" fmla="val 27173"/>
            </a:avLst>
          </a:prstGeom>
          <a:solidFill>
            <a:srgbClr val="D0EBFF"/>
          </a:solidFill>
          <a:ln w="9525">
            <a:solidFill>
              <a:srgbClr val="74C0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TextBox 121"/>
          <p:cNvSpPr txBox="1"/>
          <p:nvPr/>
        </p:nvSpPr>
        <p:spPr>
          <a:xfrm>
            <a:off x="3374135" y="335127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171717"/>
                </a:solidFill>
                <a:latin typeface="Arial"/>
              </a:rPr>
              <a:t>R</a:t>
            </a:r>
          </a:p>
        </p:txBody>
      </p:sp>
      <p:sp>
        <p:nvSpPr>
          <p:cNvPr id="123" name="Rounded Rectangle 122"/>
          <p:cNvSpPr/>
          <p:nvPr/>
        </p:nvSpPr>
        <p:spPr>
          <a:xfrm>
            <a:off x="4462272" y="3383280"/>
            <a:ext cx="950975" cy="210311"/>
          </a:xfrm>
          <a:prstGeom prst="roundRect">
            <a:avLst>
              <a:gd name="adj" fmla="val 27173"/>
            </a:avLst>
          </a:prstGeom>
          <a:solidFill>
            <a:srgbClr val="F1F3F5"/>
          </a:solidFill>
          <a:ln w="9525">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TextBox 123"/>
          <p:cNvSpPr txBox="1"/>
          <p:nvPr/>
        </p:nvSpPr>
        <p:spPr>
          <a:xfrm>
            <a:off x="4416552" y="335127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666666"/>
                </a:solidFill>
                <a:latin typeface="Arial"/>
              </a:rPr>
              <a:t>I</a:t>
            </a:r>
          </a:p>
        </p:txBody>
      </p:sp>
      <p:sp>
        <p:nvSpPr>
          <p:cNvPr id="125" name="Rounded Rectangle 124"/>
          <p:cNvSpPr/>
          <p:nvPr/>
        </p:nvSpPr>
        <p:spPr>
          <a:xfrm>
            <a:off x="5504688" y="3383280"/>
            <a:ext cx="950975" cy="210311"/>
          </a:xfrm>
          <a:prstGeom prst="roundRect">
            <a:avLst>
              <a:gd name="adj" fmla="val 27173"/>
            </a:avLst>
          </a:prstGeom>
          <a:solidFill>
            <a:srgbClr val="E5DBFF"/>
          </a:solidFill>
          <a:ln w="9525">
            <a:solidFill>
              <a:srgbClr val="B197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TextBox 125"/>
          <p:cNvSpPr txBox="1"/>
          <p:nvPr/>
        </p:nvSpPr>
        <p:spPr>
          <a:xfrm>
            <a:off x="5458968" y="3351276"/>
            <a:ext cx="1042415" cy="274320"/>
          </a:xfrm>
          <a:prstGeom prst="rect">
            <a:avLst/>
          </a:prstGeom>
          <a:noFill/>
        </p:spPr>
        <p:txBody>
          <a:bodyPr wrap="square" lIns="54864" tIns="27432" rIns="54864" bIns="27432" anchor="ctr">
            <a:spAutoFit/>
          </a:bodyPr>
          <a:lstStyle/>
          <a:p>
            <a:pPr algn="ctr">
              <a:lnSpc>
                <a:spcPct val="100000"/>
              </a:lnSpc>
            </a:pPr>
            <a:r>
              <a:rPr sz="850" b="1" i="0">
                <a:solidFill>
                  <a:srgbClr val="171717"/>
                </a:solidFill>
                <a:latin typeface="Arial"/>
              </a:rPr>
              <a:t>A</a:t>
            </a:r>
          </a:p>
        </p:txBody>
      </p:sp>
      <p:sp>
        <p:nvSpPr>
          <p:cNvPr id="127" name="Rounded Rectangle 126"/>
          <p:cNvSpPr/>
          <p:nvPr/>
        </p:nvSpPr>
        <p:spPr>
          <a:xfrm>
            <a:off x="6547103" y="3383280"/>
            <a:ext cx="950975" cy="210311"/>
          </a:xfrm>
          <a:prstGeom prst="roundRect">
            <a:avLst>
              <a:gd name="adj" fmla="val 27173"/>
            </a:avLst>
          </a:prstGeom>
          <a:solidFill>
            <a:srgbClr val="FFF3BF"/>
          </a:solidFill>
          <a:ln w="9525">
            <a:solidFill>
              <a:srgbClr val="FFD4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TextBox 127"/>
          <p:cNvSpPr txBox="1"/>
          <p:nvPr/>
        </p:nvSpPr>
        <p:spPr>
          <a:xfrm>
            <a:off x="6501383" y="335127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171717"/>
                </a:solidFill>
                <a:latin typeface="Arial"/>
              </a:rPr>
              <a:t>C</a:t>
            </a:r>
          </a:p>
        </p:txBody>
      </p:sp>
      <p:sp>
        <p:nvSpPr>
          <p:cNvPr id="129" name="TextBox 128"/>
          <p:cNvSpPr txBox="1"/>
          <p:nvPr/>
        </p:nvSpPr>
        <p:spPr>
          <a:xfrm>
            <a:off x="7543800" y="335127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D4D4D4"/>
                </a:solidFill>
                <a:latin typeface="Arial"/>
              </a:rPr>
              <a:t>–</a:t>
            </a:r>
          </a:p>
        </p:txBody>
      </p:sp>
      <p:sp>
        <p:nvSpPr>
          <p:cNvPr id="130" name="Rectangle 129"/>
          <p:cNvSpPr/>
          <p:nvPr/>
        </p:nvSpPr>
        <p:spPr>
          <a:xfrm>
            <a:off x="548640" y="3892600"/>
            <a:ext cx="8037575" cy="7315"/>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TextBox 130"/>
          <p:cNvSpPr txBox="1"/>
          <p:nvPr/>
        </p:nvSpPr>
        <p:spPr>
          <a:xfrm>
            <a:off x="603503" y="3625596"/>
            <a:ext cx="1691639" cy="274320"/>
          </a:xfrm>
          <a:prstGeom prst="rect">
            <a:avLst/>
          </a:prstGeom>
          <a:noFill/>
        </p:spPr>
        <p:txBody>
          <a:bodyPr wrap="square" lIns="54864" tIns="27432" rIns="54864" bIns="27432" anchor="ctr">
            <a:spAutoFit/>
          </a:bodyPr>
          <a:lstStyle/>
          <a:p>
            <a:pPr algn="l">
              <a:lnSpc>
                <a:spcPct val="100000"/>
              </a:lnSpc>
            </a:pPr>
            <a:r>
              <a:rPr sz="850" b="0" i="0">
                <a:solidFill>
                  <a:srgbClr val="171717"/>
                </a:solidFill>
                <a:latin typeface="Arial"/>
              </a:rPr>
              <a:t>8  Documentation</a:t>
            </a:r>
          </a:p>
        </p:txBody>
      </p:sp>
      <p:sp>
        <p:nvSpPr>
          <p:cNvPr id="132" name="Rounded Rectangle 131"/>
          <p:cNvSpPr/>
          <p:nvPr/>
        </p:nvSpPr>
        <p:spPr>
          <a:xfrm>
            <a:off x="2377439" y="3657600"/>
            <a:ext cx="950975" cy="210311"/>
          </a:xfrm>
          <a:prstGeom prst="roundRect">
            <a:avLst>
              <a:gd name="adj" fmla="val 27173"/>
            </a:avLst>
          </a:prstGeom>
          <a:solidFill>
            <a:srgbClr val="FFF3BF"/>
          </a:solidFill>
          <a:ln w="9525">
            <a:solidFill>
              <a:srgbClr val="FFD4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TextBox 132"/>
          <p:cNvSpPr txBox="1"/>
          <p:nvPr/>
        </p:nvSpPr>
        <p:spPr>
          <a:xfrm>
            <a:off x="2331720" y="362559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171717"/>
                </a:solidFill>
                <a:latin typeface="Arial"/>
              </a:rPr>
              <a:t>C</a:t>
            </a:r>
          </a:p>
        </p:txBody>
      </p:sp>
      <p:sp>
        <p:nvSpPr>
          <p:cNvPr id="134" name="Rounded Rectangle 133"/>
          <p:cNvSpPr/>
          <p:nvPr/>
        </p:nvSpPr>
        <p:spPr>
          <a:xfrm>
            <a:off x="3419855" y="3657600"/>
            <a:ext cx="950975" cy="210311"/>
          </a:xfrm>
          <a:prstGeom prst="roundRect">
            <a:avLst>
              <a:gd name="adj" fmla="val 27173"/>
            </a:avLst>
          </a:prstGeom>
          <a:solidFill>
            <a:srgbClr val="D0EBFF"/>
          </a:solidFill>
          <a:ln w="9525">
            <a:solidFill>
              <a:srgbClr val="74C0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TextBox 134"/>
          <p:cNvSpPr txBox="1"/>
          <p:nvPr/>
        </p:nvSpPr>
        <p:spPr>
          <a:xfrm>
            <a:off x="3374135" y="362559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171717"/>
                </a:solidFill>
                <a:latin typeface="Arial"/>
              </a:rPr>
              <a:t>R</a:t>
            </a:r>
          </a:p>
        </p:txBody>
      </p:sp>
      <p:sp>
        <p:nvSpPr>
          <p:cNvPr id="136" name="Rounded Rectangle 135"/>
          <p:cNvSpPr/>
          <p:nvPr/>
        </p:nvSpPr>
        <p:spPr>
          <a:xfrm>
            <a:off x="4462272" y="3657600"/>
            <a:ext cx="950975" cy="210311"/>
          </a:xfrm>
          <a:prstGeom prst="roundRect">
            <a:avLst>
              <a:gd name="adj" fmla="val 27173"/>
            </a:avLst>
          </a:prstGeom>
          <a:solidFill>
            <a:srgbClr val="F1F3F5"/>
          </a:solidFill>
          <a:ln w="9525">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TextBox 136"/>
          <p:cNvSpPr txBox="1"/>
          <p:nvPr/>
        </p:nvSpPr>
        <p:spPr>
          <a:xfrm>
            <a:off x="4416552" y="362559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666666"/>
                </a:solidFill>
                <a:latin typeface="Arial"/>
              </a:rPr>
              <a:t>I</a:t>
            </a:r>
          </a:p>
        </p:txBody>
      </p:sp>
      <p:sp>
        <p:nvSpPr>
          <p:cNvPr id="138" name="Rounded Rectangle 137"/>
          <p:cNvSpPr/>
          <p:nvPr/>
        </p:nvSpPr>
        <p:spPr>
          <a:xfrm>
            <a:off x="5504688" y="3657600"/>
            <a:ext cx="950975" cy="210311"/>
          </a:xfrm>
          <a:prstGeom prst="roundRect">
            <a:avLst>
              <a:gd name="adj" fmla="val 27173"/>
            </a:avLst>
          </a:prstGeom>
          <a:solidFill>
            <a:srgbClr val="FFF3BF"/>
          </a:solidFill>
          <a:ln w="9525">
            <a:solidFill>
              <a:srgbClr val="FFD4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TextBox 138"/>
          <p:cNvSpPr txBox="1"/>
          <p:nvPr/>
        </p:nvSpPr>
        <p:spPr>
          <a:xfrm>
            <a:off x="5458968" y="362559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171717"/>
                </a:solidFill>
                <a:latin typeface="Arial"/>
              </a:rPr>
              <a:t>C</a:t>
            </a:r>
          </a:p>
        </p:txBody>
      </p:sp>
      <p:sp>
        <p:nvSpPr>
          <p:cNvPr id="140" name="Rounded Rectangle 139"/>
          <p:cNvSpPr/>
          <p:nvPr/>
        </p:nvSpPr>
        <p:spPr>
          <a:xfrm>
            <a:off x="6547103" y="3657600"/>
            <a:ext cx="950975" cy="210311"/>
          </a:xfrm>
          <a:prstGeom prst="roundRect">
            <a:avLst>
              <a:gd name="adj" fmla="val 27173"/>
            </a:avLst>
          </a:prstGeom>
          <a:solidFill>
            <a:srgbClr val="E5DBFF"/>
          </a:solidFill>
          <a:ln w="9525">
            <a:solidFill>
              <a:srgbClr val="B197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TextBox 140"/>
          <p:cNvSpPr txBox="1"/>
          <p:nvPr/>
        </p:nvSpPr>
        <p:spPr>
          <a:xfrm>
            <a:off x="6501383" y="3625596"/>
            <a:ext cx="1042415" cy="274320"/>
          </a:xfrm>
          <a:prstGeom prst="rect">
            <a:avLst/>
          </a:prstGeom>
          <a:noFill/>
        </p:spPr>
        <p:txBody>
          <a:bodyPr wrap="square" lIns="54864" tIns="27432" rIns="54864" bIns="27432" anchor="ctr">
            <a:spAutoFit/>
          </a:bodyPr>
          <a:lstStyle/>
          <a:p>
            <a:pPr algn="ctr">
              <a:lnSpc>
                <a:spcPct val="100000"/>
              </a:lnSpc>
            </a:pPr>
            <a:r>
              <a:rPr sz="850" b="1" i="0">
                <a:solidFill>
                  <a:srgbClr val="171717"/>
                </a:solidFill>
                <a:latin typeface="Arial"/>
              </a:rPr>
              <a:t>A</a:t>
            </a:r>
          </a:p>
        </p:txBody>
      </p:sp>
      <p:sp>
        <p:nvSpPr>
          <p:cNvPr id="142" name="TextBox 141"/>
          <p:cNvSpPr txBox="1"/>
          <p:nvPr/>
        </p:nvSpPr>
        <p:spPr>
          <a:xfrm>
            <a:off x="7543800" y="3625596"/>
            <a:ext cx="1042415" cy="274320"/>
          </a:xfrm>
          <a:prstGeom prst="rect">
            <a:avLst/>
          </a:prstGeom>
          <a:noFill/>
        </p:spPr>
        <p:txBody>
          <a:bodyPr wrap="square" lIns="54864" tIns="27432" rIns="54864" bIns="27432" anchor="ctr">
            <a:spAutoFit/>
          </a:bodyPr>
          <a:lstStyle/>
          <a:p>
            <a:pPr algn="ctr">
              <a:lnSpc>
                <a:spcPct val="100000"/>
              </a:lnSpc>
            </a:pPr>
            <a:r>
              <a:rPr sz="850" b="0" i="0">
                <a:solidFill>
                  <a:srgbClr val="D4D4D4"/>
                </a:solidFill>
                <a:latin typeface="Arial"/>
              </a:rPr>
              <a:t>–</a:t>
            </a:r>
          </a:p>
        </p:txBody>
      </p:sp>
      <p:sp>
        <p:nvSpPr>
          <p:cNvPr id="143" name="TextBox 142"/>
          <p:cNvSpPr txBox="1"/>
          <p:nvPr/>
        </p:nvSpPr>
        <p:spPr>
          <a:xfrm>
            <a:off x="457200" y="4005072"/>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DISTRIBUTION DES RÔLES SUR LES 48 CASES</a:t>
            </a:r>
          </a:p>
        </p:txBody>
      </p:sp>
      <p:sp>
        <p:nvSpPr>
          <p:cNvPr id="144" name="Rounded Rectangle 143"/>
          <p:cNvSpPr/>
          <p:nvPr/>
        </p:nvSpPr>
        <p:spPr>
          <a:xfrm>
            <a:off x="457200" y="4206240"/>
            <a:ext cx="1289304" cy="237744"/>
          </a:xfrm>
          <a:prstGeom prst="roundRect">
            <a:avLst>
              <a:gd name="adj" fmla="val 12019"/>
            </a:avLst>
          </a:prstGeom>
          <a:solidFill>
            <a:srgbClr val="E5D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TextBox 144"/>
          <p:cNvSpPr txBox="1"/>
          <p:nvPr/>
        </p:nvSpPr>
        <p:spPr>
          <a:xfrm>
            <a:off x="457200" y="4206240"/>
            <a:ext cx="1289304" cy="237744"/>
          </a:xfrm>
          <a:prstGeom prst="rect">
            <a:avLst/>
          </a:prstGeom>
          <a:noFill/>
        </p:spPr>
        <p:txBody>
          <a:bodyPr wrap="square" lIns="54864" tIns="27432" rIns="54864" bIns="27432" anchor="ctr">
            <a:spAutoFit/>
          </a:bodyPr>
          <a:lstStyle/>
          <a:p>
            <a:pPr algn="ctr">
              <a:lnSpc>
                <a:spcPct val="100000"/>
              </a:lnSpc>
            </a:pPr>
            <a:r>
              <a:rPr sz="750" b="1" i="0">
                <a:solidFill>
                  <a:srgbClr val="171717"/>
                </a:solidFill>
                <a:latin typeface="Arial"/>
              </a:rPr>
              <a:t>A  8</a:t>
            </a:r>
          </a:p>
        </p:txBody>
      </p:sp>
      <p:sp>
        <p:nvSpPr>
          <p:cNvPr id="146" name="Rounded Rectangle 145"/>
          <p:cNvSpPr/>
          <p:nvPr/>
        </p:nvSpPr>
        <p:spPr>
          <a:xfrm>
            <a:off x="1773936" y="4206240"/>
            <a:ext cx="1289304" cy="237744"/>
          </a:xfrm>
          <a:prstGeom prst="roundRect">
            <a:avLst>
              <a:gd name="adj" fmla="val 12019"/>
            </a:avLst>
          </a:prstGeom>
          <a:solidFill>
            <a:srgbClr val="D0E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TextBox 146"/>
          <p:cNvSpPr txBox="1"/>
          <p:nvPr/>
        </p:nvSpPr>
        <p:spPr>
          <a:xfrm>
            <a:off x="1773936" y="4206240"/>
            <a:ext cx="1289304" cy="237744"/>
          </a:xfrm>
          <a:prstGeom prst="rect">
            <a:avLst/>
          </a:prstGeom>
          <a:noFill/>
        </p:spPr>
        <p:txBody>
          <a:bodyPr wrap="square" lIns="54864" tIns="27432" rIns="54864" bIns="27432" anchor="ctr">
            <a:spAutoFit/>
          </a:bodyPr>
          <a:lstStyle/>
          <a:p>
            <a:pPr algn="ctr">
              <a:lnSpc>
                <a:spcPct val="100000"/>
              </a:lnSpc>
            </a:pPr>
            <a:r>
              <a:rPr sz="750" b="1" i="0">
                <a:solidFill>
                  <a:srgbClr val="171717"/>
                </a:solidFill>
                <a:latin typeface="Arial"/>
              </a:rPr>
              <a:t>R  8</a:t>
            </a:r>
          </a:p>
        </p:txBody>
      </p:sp>
      <p:sp>
        <p:nvSpPr>
          <p:cNvPr id="148" name="Rounded Rectangle 147"/>
          <p:cNvSpPr/>
          <p:nvPr/>
        </p:nvSpPr>
        <p:spPr>
          <a:xfrm>
            <a:off x="3090672" y="4206240"/>
            <a:ext cx="2441448" cy="237744"/>
          </a:xfrm>
          <a:prstGeom prst="roundRect">
            <a:avLst>
              <a:gd name="adj" fmla="val 12019"/>
            </a:avLst>
          </a:prstGeom>
          <a:solidFill>
            <a:srgbClr val="FFF3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TextBox 148"/>
          <p:cNvSpPr txBox="1"/>
          <p:nvPr/>
        </p:nvSpPr>
        <p:spPr>
          <a:xfrm>
            <a:off x="3090672" y="4206240"/>
            <a:ext cx="2441448" cy="237744"/>
          </a:xfrm>
          <a:prstGeom prst="rect">
            <a:avLst/>
          </a:prstGeom>
          <a:noFill/>
        </p:spPr>
        <p:txBody>
          <a:bodyPr wrap="square" lIns="54864" tIns="27432" rIns="54864" bIns="27432" anchor="ctr">
            <a:spAutoFit/>
          </a:bodyPr>
          <a:lstStyle/>
          <a:p>
            <a:pPr algn="ctr">
              <a:lnSpc>
                <a:spcPct val="100000"/>
              </a:lnSpc>
            </a:pPr>
            <a:r>
              <a:rPr sz="750" b="1" i="0">
                <a:solidFill>
                  <a:srgbClr val="171717"/>
                </a:solidFill>
                <a:latin typeface="Arial"/>
              </a:rPr>
              <a:t>C  15</a:t>
            </a:r>
          </a:p>
        </p:txBody>
      </p:sp>
      <p:sp>
        <p:nvSpPr>
          <p:cNvPr id="150" name="Rounded Rectangle 149"/>
          <p:cNvSpPr/>
          <p:nvPr/>
        </p:nvSpPr>
        <p:spPr>
          <a:xfrm>
            <a:off x="5559552" y="4206240"/>
            <a:ext cx="2276856" cy="237744"/>
          </a:xfrm>
          <a:prstGeom prst="roundRect">
            <a:avLst>
              <a:gd name="adj" fmla="val 12019"/>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TextBox 150"/>
          <p:cNvSpPr txBox="1"/>
          <p:nvPr/>
        </p:nvSpPr>
        <p:spPr>
          <a:xfrm>
            <a:off x="5559552" y="4206240"/>
            <a:ext cx="2276856" cy="237744"/>
          </a:xfrm>
          <a:prstGeom prst="rect">
            <a:avLst/>
          </a:prstGeom>
          <a:noFill/>
        </p:spPr>
        <p:txBody>
          <a:bodyPr wrap="square" lIns="54864" tIns="27432" rIns="54864" bIns="27432" anchor="ctr">
            <a:spAutoFit/>
          </a:bodyPr>
          <a:lstStyle/>
          <a:p>
            <a:pPr algn="ctr">
              <a:lnSpc>
                <a:spcPct val="100000"/>
              </a:lnSpc>
            </a:pPr>
            <a:r>
              <a:rPr sz="750" b="1" i="0">
                <a:solidFill>
                  <a:srgbClr val="171717"/>
                </a:solidFill>
                <a:latin typeface="Arial"/>
              </a:rPr>
              <a:t>I  14</a:t>
            </a:r>
          </a:p>
        </p:txBody>
      </p:sp>
      <p:sp>
        <p:nvSpPr>
          <p:cNvPr id="152" name="Rounded Rectangle 151"/>
          <p:cNvSpPr/>
          <p:nvPr/>
        </p:nvSpPr>
        <p:spPr>
          <a:xfrm>
            <a:off x="7863840" y="4206240"/>
            <a:ext cx="795528" cy="237744"/>
          </a:xfrm>
          <a:prstGeom prst="roundRect">
            <a:avLst>
              <a:gd name="adj" fmla="val 12019"/>
            </a:avLst>
          </a:prstGeom>
          <a:solidFill>
            <a:srgbClr val="F4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3" name="TextBox 152"/>
          <p:cNvSpPr txBox="1"/>
          <p:nvPr/>
        </p:nvSpPr>
        <p:spPr>
          <a:xfrm>
            <a:off x="7863840" y="4206240"/>
            <a:ext cx="795528" cy="237744"/>
          </a:xfrm>
          <a:prstGeom prst="rect">
            <a:avLst/>
          </a:prstGeom>
          <a:noFill/>
        </p:spPr>
        <p:txBody>
          <a:bodyPr wrap="square" lIns="54864" tIns="27432" rIns="54864" bIns="27432" anchor="ctr">
            <a:spAutoFit/>
          </a:bodyPr>
          <a:lstStyle/>
          <a:p>
            <a:pPr algn="ctr">
              <a:lnSpc>
                <a:spcPct val="100000"/>
              </a:lnSpc>
            </a:pPr>
            <a:r>
              <a:rPr sz="750" b="1" i="0">
                <a:solidFill>
                  <a:srgbClr val="171717"/>
                </a:solidFill>
                <a:latin typeface="Arial"/>
              </a:rPr>
              <a:t>–  5</a:t>
            </a:r>
          </a:p>
        </p:txBody>
      </p:sp>
      <p:sp>
        <p:nvSpPr>
          <p:cNvPr id="154" name="TextBox 153"/>
          <p:cNvSpPr txBox="1"/>
          <p:nvPr/>
        </p:nvSpPr>
        <p:spPr>
          <a:xfrm>
            <a:off x="457200" y="4498848"/>
            <a:ext cx="8229600" cy="219456"/>
          </a:xfrm>
          <a:prstGeom prst="rect">
            <a:avLst/>
          </a:prstGeom>
          <a:noFill/>
        </p:spPr>
        <p:txBody>
          <a:bodyPr wrap="square" lIns="54864" tIns="27432" rIns="54864" bIns="27432" anchor="t">
            <a:spAutoFit/>
          </a:bodyPr>
          <a:lstStyle/>
          <a:p>
            <a:pPr algn="l">
              <a:lnSpc>
                <a:spcPct val="100000"/>
              </a:lnSpc>
            </a:pPr>
            <a:r>
              <a:rPr sz="900" b="0" i="0">
                <a:solidFill>
                  <a:srgbClr val="666666"/>
                </a:solidFill>
                <a:latin typeface="Arial"/>
              </a:rPr>
              <a:t>Un seul A par lot, jamais deux ni zéro. Quatre acteurs distincts en portent un. La colonne DevOps concentre 4 A et 6 R, c’est le point de vigilance.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3048000" y="0"/>
            <a:ext cx="1524000" cy="41148"/>
          </a:xfrm>
          <a:prstGeom prst="rect">
            <a:avLst/>
          </a:prstGeom>
          <a:solidFill>
            <a:srgbClr val="674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269480"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10144"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lIns="54864" tIns="27432" rIns="54864" bIns="27432" anchor="t">
            <a:spAutoFit/>
          </a:bodyPr>
          <a:lstStyle/>
          <a:p>
            <a:pPr algn="l">
              <a:lnSpc>
                <a:spcPct val="100000"/>
              </a:lnSpc>
            </a:pPr>
            <a:r>
              <a:rPr sz="750" b="1" i="0" spc="120">
                <a:solidFill>
                  <a:srgbClr val="6741D9"/>
                </a:solidFill>
                <a:latin typeface="Arial"/>
              </a:rPr>
              <a:t>3 · GESTION DE PROJET</a:t>
            </a:r>
          </a:p>
        </p:txBody>
      </p:sp>
      <p:sp>
        <p:nvSpPr>
          <p:cNvPr id="11" name="TextBox 10"/>
          <p:cNvSpPr txBox="1"/>
          <p:nvPr/>
        </p:nvSpPr>
        <p:spPr>
          <a:xfrm>
            <a:off x="457200" y="493776"/>
            <a:ext cx="6720840" cy="566928"/>
          </a:xfrm>
          <a:prstGeom prst="rect">
            <a:avLst/>
          </a:prstGeom>
          <a:noFill/>
        </p:spPr>
        <p:txBody>
          <a:bodyPr wrap="square" lIns="54864" tIns="27432" rIns="54864" bIns="27432" anchor="t">
            <a:spAutoFit/>
          </a:bodyPr>
          <a:lstStyle/>
          <a:p>
            <a:pPr algn="l">
              <a:lnSpc>
                <a:spcPct val="100000"/>
              </a:lnSpc>
            </a:pPr>
            <a:r>
              <a:rPr sz="2400" b="1" i="0" spc="-84">
                <a:solidFill>
                  <a:srgbClr val="171717"/>
                </a:solidFill>
                <a:latin typeface="Arial"/>
              </a:rPr>
              <a:t>Pilotage et management de l’équipe</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26679" y="4832604"/>
            <a:ext cx="1143000" cy="237744"/>
          </a:xfrm>
          <a:prstGeom prst="rect">
            <a:avLst/>
          </a:prstGeom>
          <a:noFill/>
        </p:spPr>
        <p:txBody>
          <a:bodyPr wrap="square" lIns="54864" tIns="27432" rIns="54864" bIns="27432" anchor="t">
            <a:spAutoFit/>
          </a:bodyPr>
          <a:lstStyle/>
          <a:p>
            <a:pPr algn="r">
              <a:lnSpc>
                <a:spcPct val="100000"/>
              </a:lnSpc>
            </a:pPr>
            <a:r>
              <a:rPr sz="800" b="0" i="0">
                <a:solidFill>
                  <a:srgbClr val="A1A1A1"/>
                </a:solidFill>
                <a:latin typeface="Arial"/>
              </a:rPr>
              <a:t>14 / 31</a:t>
            </a:r>
          </a:p>
        </p:txBody>
      </p:sp>
      <p:sp>
        <p:nvSpPr>
          <p:cNvPr id="14" name="Rounded Rectangle 13"/>
          <p:cNvSpPr/>
          <p:nvPr/>
        </p:nvSpPr>
        <p:spPr>
          <a:xfrm>
            <a:off x="457200" y="4818888"/>
            <a:ext cx="1051560" cy="228600"/>
          </a:xfrm>
          <a:prstGeom prst="roundRect">
            <a:avLst>
              <a:gd name="adj" fmla="val 25000"/>
            </a:avLst>
          </a:prstGeom>
          <a:solidFill>
            <a:srgbClr val="674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4818888"/>
            <a:ext cx="1051560" cy="228600"/>
          </a:xfrm>
          <a:prstGeom prst="rect">
            <a:avLst/>
          </a:prstGeom>
          <a:noFill/>
        </p:spPr>
        <p:txBody>
          <a:bodyPr wrap="square" lIns="54864" tIns="27432" rIns="54864" bIns="27432" anchor="ctr">
            <a:spAutoFit/>
          </a:bodyPr>
          <a:lstStyle/>
          <a:p>
            <a:pPr algn="ctr">
              <a:lnSpc>
                <a:spcPct val="100000"/>
              </a:lnSpc>
            </a:pPr>
            <a:r>
              <a:rPr sz="750" b="1" i="0">
                <a:solidFill>
                  <a:srgbClr val="FFFFFF"/>
                </a:solidFill>
                <a:latin typeface="Arial"/>
              </a:rPr>
              <a:t>Réf.  C19 · C20</a:t>
            </a:r>
          </a:p>
        </p:txBody>
      </p:sp>
      <p:sp>
        <p:nvSpPr>
          <p:cNvPr id="16" name="TextBox 15"/>
          <p:cNvSpPr txBox="1"/>
          <p:nvPr/>
        </p:nvSpPr>
        <p:spPr>
          <a:xfrm>
            <a:off x="1600200" y="4818888"/>
            <a:ext cx="5486400" cy="228600"/>
          </a:xfrm>
          <a:prstGeom prst="rect">
            <a:avLst/>
          </a:prstGeom>
          <a:noFill/>
        </p:spPr>
        <p:txBody>
          <a:bodyPr wrap="square" lIns="54864" tIns="27432" rIns="54864" bIns="27432" anchor="ctr">
            <a:spAutoFit/>
          </a:bodyPr>
          <a:lstStyle/>
          <a:p>
            <a:pPr algn="l">
              <a:lnSpc>
                <a:spcPct val="100000"/>
              </a:lnSpc>
            </a:pPr>
            <a:r>
              <a:rPr sz="750" b="0" i="0">
                <a:solidFill>
                  <a:srgbClr val="A1A1A1"/>
                </a:solidFill>
                <a:latin typeface="Arial"/>
              </a:rPr>
              <a:t>BC2 · mémoire 13.3, 13.4, 13.5.2 · annexes O bis, T</a:t>
            </a:r>
          </a:p>
        </p:txBody>
      </p:sp>
      <p:sp>
        <p:nvSpPr>
          <p:cNvPr id="17" name="TextBox 16"/>
          <p:cNvSpPr txBox="1"/>
          <p:nvPr/>
        </p:nvSpPr>
        <p:spPr>
          <a:xfrm>
            <a:off x="457200" y="1207008"/>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MÉTHODE HYBRIDE, CADRAGE PRÉDICTIF PUIS EXÉCUTION AGILE</a:t>
            </a:r>
          </a:p>
        </p:txBody>
      </p:sp>
      <p:sp>
        <p:nvSpPr>
          <p:cNvPr id="18" name="Rounded Rectangle 17"/>
          <p:cNvSpPr/>
          <p:nvPr/>
        </p:nvSpPr>
        <p:spPr>
          <a:xfrm>
            <a:off x="457200" y="1408176"/>
            <a:ext cx="1528876" cy="274320"/>
          </a:xfrm>
          <a:prstGeom prst="roundRect">
            <a:avLst>
              <a:gd name="adj" fmla="val 20833"/>
            </a:avLst>
          </a:prstGeom>
          <a:solidFill>
            <a:srgbClr val="E5D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200" y="1408176"/>
            <a:ext cx="1528876" cy="274320"/>
          </a:xfrm>
          <a:prstGeom prst="rect">
            <a:avLst/>
          </a:prstGeom>
          <a:noFill/>
        </p:spPr>
        <p:txBody>
          <a:bodyPr wrap="square" lIns="54864" tIns="27432" rIns="54864" bIns="27432" anchor="ctr">
            <a:spAutoFit/>
          </a:bodyPr>
          <a:lstStyle/>
          <a:p>
            <a:pPr algn="ctr">
              <a:lnSpc>
                <a:spcPct val="100000"/>
              </a:lnSpc>
            </a:pPr>
            <a:r>
              <a:rPr sz="900" b="1" i="0">
                <a:solidFill>
                  <a:srgbClr val="171717"/>
                </a:solidFill>
                <a:latin typeface="Arial"/>
              </a:rPr>
              <a:t>Backlog</a:t>
            </a:r>
          </a:p>
        </p:txBody>
      </p:sp>
      <p:sp>
        <p:nvSpPr>
          <p:cNvPr id="20" name="Rounded Rectangle 19"/>
          <p:cNvSpPr/>
          <p:nvPr/>
        </p:nvSpPr>
        <p:spPr>
          <a:xfrm>
            <a:off x="457200" y="1755648"/>
            <a:ext cx="1528876" cy="182880"/>
          </a:xfrm>
          <a:prstGeom prst="roundRect">
            <a:avLst>
              <a:gd name="adj" fmla="val 15625"/>
            </a:avLst>
          </a:prstGeom>
          <a:solidFill>
            <a:srgbClr val="DBE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457200" y="1993391"/>
            <a:ext cx="1528876" cy="182880"/>
          </a:xfrm>
          <a:prstGeom prst="roundRect">
            <a:avLst>
              <a:gd name="adj" fmla="val 15625"/>
            </a:avLst>
          </a:prstGeom>
          <a:solidFill>
            <a:srgbClr val="D0E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457200" y="2231136"/>
            <a:ext cx="1528876" cy="182880"/>
          </a:xfrm>
          <a:prstGeom prst="roundRect">
            <a:avLst>
              <a:gd name="adj" fmla="val 15625"/>
            </a:avLst>
          </a:prstGeom>
          <a:solidFill>
            <a:srgbClr val="E5D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2132380" y="1408176"/>
            <a:ext cx="1528876" cy="274320"/>
          </a:xfrm>
          <a:prstGeom prst="roundRect">
            <a:avLst>
              <a:gd name="adj" fmla="val 20833"/>
            </a:avLst>
          </a:prstGeom>
          <a:solidFill>
            <a:srgbClr val="E5D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132380" y="1408176"/>
            <a:ext cx="1528876" cy="274320"/>
          </a:xfrm>
          <a:prstGeom prst="rect">
            <a:avLst/>
          </a:prstGeom>
          <a:noFill/>
        </p:spPr>
        <p:txBody>
          <a:bodyPr wrap="square" lIns="54864" tIns="27432" rIns="54864" bIns="27432" anchor="ctr">
            <a:spAutoFit/>
          </a:bodyPr>
          <a:lstStyle/>
          <a:p>
            <a:pPr algn="ctr">
              <a:lnSpc>
                <a:spcPct val="100000"/>
              </a:lnSpc>
            </a:pPr>
            <a:r>
              <a:rPr sz="900" b="1" i="0">
                <a:solidFill>
                  <a:srgbClr val="171717"/>
                </a:solidFill>
                <a:latin typeface="Arial"/>
              </a:rPr>
              <a:t>Ready</a:t>
            </a:r>
          </a:p>
        </p:txBody>
      </p:sp>
      <p:sp>
        <p:nvSpPr>
          <p:cNvPr id="25" name="Rounded Rectangle 24"/>
          <p:cNvSpPr/>
          <p:nvPr/>
        </p:nvSpPr>
        <p:spPr>
          <a:xfrm>
            <a:off x="2132380" y="1755648"/>
            <a:ext cx="1528876" cy="182880"/>
          </a:xfrm>
          <a:prstGeom prst="roundRect">
            <a:avLst>
              <a:gd name="adj" fmla="val 15625"/>
            </a:avLst>
          </a:prstGeom>
          <a:solidFill>
            <a:srgbClr val="C5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2132380" y="1993391"/>
            <a:ext cx="1528876" cy="182880"/>
          </a:xfrm>
          <a:prstGeom prst="roundRect">
            <a:avLst>
              <a:gd name="adj" fmla="val 15625"/>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2132380" y="2231136"/>
            <a:ext cx="1528876" cy="182880"/>
          </a:xfrm>
          <a:prstGeom prst="roundRect">
            <a:avLst>
              <a:gd name="adj" fmla="val 15625"/>
            </a:avLst>
          </a:prstGeom>
          <a:solidFill>
            <a:srgbClr val="F3D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3807561" y="1408176"/>
            <a:ext cx="1528876" cy="274320"/>
          </a:xfrm>
          <a:prstGeom prst="roundRect">
            <a:avLst>
              <a:gd name="adj" fmla="val 20833"/>
            </a:avLst>
          </a:prstGeom>
          <a:solidFill>
            <a:srgbClr val="E5D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807561" y="1408176"/>
            <a:ext cx="1528876" cy="274320"/>
          </a:xfrm>
          <a:prstGeom prst="rect">
            <a:avLst/>
          </a:prstGeom>
          <a:noFill/>
        </p:spPr>
        <p:txBody>
          <a:bodyPr wrap="square" lIns="54864" tIns="27432" rIns="54864" bIns="27432" anchor="ctr">
            <a:spAutoFit/>
          </a:bodyPr>
          <a:lstStyle/>
          <a:p>
            <a:pPr algn="ctr">
              <a:lnSpc>
                <a:spcPct val="100000"/>
              </a:lnSpc>
            </a:pPr>
            <a:r>
              <a:rPr sz="900" b="1" i="0">
                <a:solidFill>
                  <a:srgbClr val="171717"/>
                </a:solidFill>
                <a:latin typeface="Arial"/>
              </a:rPr>
              <a:t>En cours</a:t>
            </a:r>
          </a:p>
        </p:txBody>
      </p:sp>
      <p:sp>
        <p:nvSpPr>
          <p:cNvPr id="30" name="Rounded Rectangle 29"/>
          <p:cNvSpPr/>
          <p:nvPr/>
        </p:nvSpPr>
        <p:spPr>
          <a:xfrm>
            <a:off x="3807561" y="1755648"/>
            <a:ext cx="1528876" cy="182880"/>
          </a:xfrm>
          <a:prstGeom prst="roundRect">
            <a:avLst>
              <a:gd name="adj" fmla="val 15625"/>
            </a:avLst>
          </a:prstGeom>
          <a:solidFill>
            <a:srgbClr val="FF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3807561" y="1993391"/>
            <a:ext cx="1528876" cy="182880"/>
          </a:xfrm>
          <a:prstGeom prst="roundRect">
            <a:avLst>
              <a:gd name="adj" fmla="val 15625"/>
            </a:avLst>
          </a:prstGeom>
          <a:solidFill>
            <a:srgbClr val="C3F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3807561" y="2231136"/>
            <a:ext cx="1528876" cy="182880"/>
          </a:xfrm>
          <a:prstGeom prst="roundRect">
            <a:avLst>
              <a:gd name="adj" fmla="val 15625"/>
            </a:avLst>
          </a:prstGeom>
          <a:solidFill>
            <a:srgbClr val="DBE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5482742" y="1408176"/>
            <a:ext cx="1528876" cy="274320"/>
          </a:xfrm>
          <a:prstGeom prst="roundRect">
            <a:avLst>
              <a:gd name="adj" fmla="val 20833"/>
            </a:avLst>
          </a:prstGeom>
          <a:solidFill>
            <a:srgbClr val="E5D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482742" y="1408176"/>
            <a:ext cx="1528876" cy="274320"/>
          </a:xfrm>
          <a:prstGeom prst="rect">
            <a:avLst/>
          </a:prstGeom>
          <a:noFill/>
        </p:spPr>
        <p:txBody>
          <a:bodyPr wrap="square" lIns="54864" tIns="27432" rIns="54864" bIns="27432" anchor="ctr">
            <a:spAutoFit/>
          </a:bodyPr>
          <a:lstStyle/>
          <a:p>
            <a:pPr algn="ctr">
              <a:lnSpc>
                <a:spcPct val="100000"/>
              </a:lnSpc>
            </a:pPr>
            <a:r>
              <a:rPr sz="900" b="1" i="0">
                <a:solidFill>
                  <a:srgbClr val="171717"/>
                </a:solidFill>
                <a:latin typeface="Arial"/>
              </a:rPr>
              <a:t>En revue</a:t>
            </a:r>
          </a:p>
        </p:txBody>
      </p:sp>
      <p:sp>
        <p:nvSpPr>
          <p:cNvPr id="35" name="Rounded Rectangle 34"/>
          <p:cNvSpPr/>
          <p:nvPr/>
        </p:nvSpPr>
        <p:spPr>
          <a:xfrm>
            <a:off x="5482742" y="1755648"/>
            <a:ext cx="1528876" cy="182880"/>
          </a:xfrm>
          <a:prstGeom prst="roundRect">
            <a:avLst>
              <a:gd name="adj" fmla="val 15625"/>
            </a:avLst>
          </a:prstGeom>
          <a:solidFill>
            <a:srgbClr val="D0E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5482742" y="1993391"/>
            <a:ext cx="1528876" cy="182880"/>
          </a:xfrm>
          <a:prstGeom prst="roundRect">
            <a:avLst>
              <a:gd name="adj" fmla="val 15625"/>
            </a:avLst>
          </a:prstGeom>
          <a:solidFill>
            <a:srgbClr val="E5D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ounded Rectangle 36"/>
          <p:cNvSpPr/>
          <p:nvPr/>
        </p:nvSpPr>
        <p:spPr>
          <a:xfrm>
            <a:off x="5482742" y="2231136"/>
            <a:ext cx="1528876" cy="182880"/>
          </a:xfrm>
          <a:prstGeom prst="roundRect">
            <a:avLst>
              <a:gd name="adj" fmla="val 15625"/>
            </a:avLst>
          </a:prstGeom>
          <a:solidFill>
            <a:srgbClr val="C5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7157923" y="1408176"/>
            <a:ext cx="1528876" cy="274320"/>
          </a:xfrm>
          <a:prstGeom prst="roundRect">
            <a:avLst>
              <a:gd name="adj" fmla="val 20833"/>
            </a:avLst>
          </a:prstGeom>
          <a:solidFill>
            <a:srgbClr val="E5D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157923" y="1408176"/>
            <a:ext cx="1528876" cy="274320"/>
          </a:xfrm>
          <a:prstGeom prst="rect">
            <a:avLst/>
          </a:prstGeom>
          <a:noFill/>
        </p:spPr>
        <p:txBody>
          <a:bodyPr wrap="square" lIns="54864" tIns="27432" rIns="54864" bIns="27432" anchor="ctr">
            <a:spAutoFit/>
          </a:bodyPr>
          <a:lstStyle/>
          <a:p>
            <a:pPr algn="ctr">
              <a:lnSpc>
                <a:spcPct val="100000"/>
              </a:lnSpc>
            </a:pPr>
            <a:r>
              <a:rPr sz="900" b="1" i="0">
                <a:solidFill>
                  <a:srgbClr val="171717"/>
                </a:solidFill>
                <a:latin typeface="Arial"/>
              </a:rPr>
              <a:t>Done</a:t>
            </a:r>
          </a:p>
        </p:txBody>
      </p:sp>
      <p:sp>
        <p:nvSpPr>
          <p:cNvPr id="40" name="Rounded Rectangle 39"/>
          <p:cNvSpPr/>
          <p:nvPr/>
        </p:nvSpPr>
        <p:spPr>
          <a:xfrm>
            <a:off x="7157923" y="1755648"/>
            <a:ext cx="1528876" cy="182880"/>
          </a:xfrm>
          <a:prstGeom prst="roundRect">
            <a:avLst>
              <a:gd name="adj" fmla="val 15625"/>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ounded Rectangle 40"/>
          <p:cNvSpPr/>
          <p:nvPr/>
        </p:nvSpPr>
        <p:spPr>
          <a:xfrm>
            <a:off x="7157923" y="1993391"/>
            <a:ext cx="1528876" cy="182880"/>
          </a:xfrm>
          <a:prstGeom prst="roundRect">
            <a:avLst>
              <a:gd name="adj" fmla="val 15625"/>
            </a:avLst>
          </a:prstGeom>
          <a:solidFill>
            <a:srgbClr val="F3D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ounded Rectangle 41"/>
          <p:cNvSpPr/>
          <p:nvPr/>
        </p:nvSpPr>
        <p:spPr>
          <a:xfrm>
            <a:off x="7157923" y="2231136"/>
            <a:ext cx="1528876" cy="182880"/>
          </a:xfrm>
          <a:prstGeom prst="roundRect">
            <a:avLst>
              <a:gd name="adj" fmla="val 15625"/>
            </a:avLst>
          </a:prstGeom>
          <a:solidFill>
            <a:srgbClr val="FF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457200" y="2523744"/>
            <a:ext cx="3204057" cy="9144"/>
          </a:xfrm>
          <a:prstGeom prst="rect">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457200" y="2578608"/>
            <a:ext cx="3204057" cy="219456"/>
          </a:xfrm>
          <a:prstGeom prst="rect">
            <a:avLst/>
          </a:prstGeom>
          <a:noFill/>
        </p:spPr>
        <p:txBody>
          <a:bodyPr wrap="square" lIns="54864" tIns="27432" rIns="54864" bIns="27432" anchor="t">
            <a:spAutoFit/>
          </a:bodyPr>
          <a:lstStyle/>
          <a:p>
            <a:pPr algn="ctr">
              <a:lnSpc>
                <a:spcPct val="100000"/>
              </a:lnSpc>
            </a:pPr>
            <a:r>
              <a:rPr sz="1000" b="1" i="0">
                <a:solidFill>
                  <a:srgbClr val="171717"/>
                </a:solidFill>
                <a:latin typeface="Arial"/>
              </a:rPr>
              <a:t>18 en attente</a:t>
            </a:r>
          </a:p>
        </p:txBody>
      </p:sp>
      <p:sp>
        <p:nvSpPr>
          <p:cNvPr id="45" name="Rectangle 44"/>
          <p:cNvSpPr/>
          <p:nvPr/>
        </p:nvSpPr>
        <p:spPr>
          <a:xfrm>
            <a:off x="3807561" y="2523744"/>
            <a:ext cx="3204057" cy="9144"/>
          </a:xfrm>
          <a:prstGeom prst="rect">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3807561" y="2578608"/>
            <a:ext cx="3204057" cy="219456"/>
          </a:xfrm>
          <a:prstGeom prst="rect">
            <a:avLst/>
          </a:prstGeom>
          <a:noFill/>
        </p:spPr>
        <p:txBody>
          <a:bodyPr wrap="square" lIns="54864" tIns="27432" rIns="54864" bIns="27432" anchor="t">
            <a:spAutoFit/>
          </a:bodyPr>
          <a:lstStyle/>
          <a:p>
            <a:pPr algn="ctr">
              <a:lnSpc>
                <a:spcPct val="100000"/>
              </a:lnSpc>
            </a:pPr>
            <a:r>
              <a:rPr sz="1000" b="1" i="0">
                <a:solidFill>
                  <a:srgbClr val="171717"/>
                </a:solidFill>
                <a:latin typeface="Arial"/>
              </a:rPr>
              <a:t>8 engagées</a:t>
            </a:r>
          </a:p>
        </p:txBody>
      </p:sp>
      <p:sp>
        <p:nvSpPr>
          <p:cNvPr id="47" name="TextBox 46"/>
          <p:cNvSpPr txBox="1"/>
          <p:nvPr/>
        </p:nvSpPr>
        <p:spPr>
          <a:xfrm>
            <a:off x="3807561" y="2779776"/>
            <a:ext cx="3204057" cy="201168"/>
          </a:xfrm>
          <a:prstGeom prst="rect">
            <a:avLst/>
          </a:prstGeom>
          <a:noFill/>
        </p:spPr>
        <p:txBody>
          <a:bodyPr wrap="square" lIns="54864" tIns="27432" rIns="54864" bIns="27432" anchor="t">
            <a:spAutoFit/>
          </a:bodyPr>
          <a:lstStyle/>
          <a:p>
            <a:pPr algn="ctr">
              <a:lnSpc>
                <a:spcPct val="100000"/>
              </a:lnSpc>
            </a:pPr>
            <a:r>
              <a:rPr sz="750" b="0" i="0">
                <a:solidFill>
                  <a:srgbClr val="8F8F8F"/>
                </a:solidFill>
                <a:latin typeface="Arial"/>
              </a:rPr>
              <a:t>limite de travail en cours, 4</a:t>
            </a:r>
          </a:p>
        </p:txBody>
      </p:sp>
      <p:sp>
        <p:nvSpPr>
          <p:cNvPr id="48" name="Rectangle 47"/>
          <p:cNvSpPr/>
          <p:nvPr/>
        </p:nvSpPr>
        <p:spPr>
          <a:xfrm>
            <a:off x="7157923" y="2523744"/>
            <a:ext cx="1528876" cy="9144"/>
          </a:xfrm>
          <a:prstGeom prst="rect">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157923" y="2578608"/>
            <a:ext cx="1528876" cy="219456"/>
          </a:xfrm>
          <a:prstGeom prst="rect">
            <a:avLst/>
          </a:prstGeom>
          <a:noFill/>
        </p:spPr>
        <p:txBody>
          <a:bodyPr wrap="square" lIns="54864" tIns="27432" rIns="54864" bIns="27432" anchor="t">
            <a:spAutoFit/>
          </a:bodyPr>
          <a:lstStyle/>
          <a:p>
            <a:pPr algn="ctr">
              <a:lnSpc>
                <a:spcPct val="100000"/>
              </a:lnSpc>
            </a:pPr>
            <a:r>
              <a:rPr sz="1000" b="1" i="0">
                <a:solidFill>
                  <a:srgbClr val="171717"/>
                </a:solidFill>
                <a:latin typeface="Arial"/>
              </a:rPr>
              <a:t>33 terminées</a:t>
            </a:r>
          </a:p>
        </p:txBody>
      </p:sp>
      <p:sp>
        <p:nvSpPr>
          <p:cNvPr id="50" name="TextBox 49"/>
          <p:cNvSpPr txBox="1"/>
          <p:nvPr/>
        </p:nvSpPr>
        <p:spPr>
          <a:xfrm>
            <a:off x="7157923" y="2779776"/>
            <a:ext cx="1528876" cy="201168"/>
          </a:xfrm>
          <a:prstGeom prst="rect">
            <a:avLst/>
          </a:prstGeom>
          <a:noFill/>
        </p:spPr>
        <p:txBody>
          <a:bodyPr wrap="square" lIns="54864" tIns="27432" rIns="54864" bIns="27432" anchor="t">
            <a:spAutoFit/>
          </a:bodyPr>
          <a:lstStyle/>
          <a:p>
            <a:pPr algn="ctr">
              <a:lnSpc>
                <a:spcPct val="100000"/>
              </a:lnSpc>
            </a:pPr>
            <a:r>
              <a:rPr sz="750" b="0" i="0">
                <a:solidFill>
                  <a:srgbClr val="8F8F8F"/>
                </a:solidFill>
                <a:latin typeface="Arial"/>
              </a:rPr>
              <a:t>56 %</a:t>
            </a:r>
          </a:p>
        </p:txBody>
      </p:sp>
      <p:sp>
        <p:nvSpPr>
          <p:cNvPr id="51" name="TextBox 50"/>
          <p:cNvSpPr txBox="1"/>
          <p:nvPr/>
        </p:nvSpPr>
        <p:spPr>
          <a:xfrm>
            <a:off x="457200" y="1207008"/>
            <a:ext cx="8229600" cy="201168"/>
          </a:xfrm>
          <a:prstGeom prst="rect">
            <a:avLst/>
          </a:prstGeom>
          <a:noFill/>
        </p:spPr>
        <p:txBody>
          <a:bodyPr wrap="square" lIns="54864" tIns="27432" rIns="54864" bIns="27432" anchor="t">
            <a:spAutoFit/>
          </a:bodyPr>
          <a:lstStyle/>
          <a:p>
            <a:pPr algn="r">
              <a:lnSpc>
                <a:spcPct val="100000"/>
              </a:lnSpc>
            </a:pPr>
            <a:r>
              <a:rPr sz="750" b="1" i="0" spc="120">
                <a:solidFill>
                  <a:srgbClr val="6741D9"/>
                </a:solidFill>
                <a:latin typeface="Arial"/>
              </a:rPr>
              <a:t>TRELLO « DROPICTURE »  ·  59 CARTES ÉTIQUETÉES PAR LOT</a:t>
            </a:r>
          </a:p>
        </p:txBody>
      </p:sp>
      <p:sp>
        <p:nvSpPr>
          <p:cNvPr id="52" name="TextBox 51"/>
          <p:cNvSpPr txBox="1"/>
          <p:nvPr/>
        </p:nvSpPr>
        <p:spPr>
          <a:xfrm>
            <a:off x="457200" y="3127248"/>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L’ÉQUIPE, SON ENGAGEMENT ET SA TRANSMISSION</a:t>
            </a:r>
          </a:p>
        </p:txBody>
      </p:sp>
      <p:sp>
        <p:nvSpPr>
          <p:cNvPr id="53" name="Rounded Rectangle 52"/>
          <p:cNvSpPr/>
          <p:nvPr/>
        </p:nvSpPr>
        <p:spPr>
          <a:xfrm>
            <a:off x="457200" y="3328416"/>
            <a:ext cx="1961388" cy="566928"/>
          </a:xfrm>
          <a:prstGeom prst="roundRect">
            <a:avLst>
              <a:gd name="adj" fmla="val 10080"/>
            </a:avLst>
          </a:prstGeom>
          <a:solidFill>
            <a:srgbClr val="F3F0FF"/>
          </a:solidFill>
          <a:ln w="9525">
            <a:solidFill>
              <a:srgbClr val="E5D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457200" y="3328416"/>
            <a:ext cx="1961388" cy="566928"/>
          </a:xfrm>
          <a:prstGeom prst="rect">
            <a:avLst/>
          </a:prstGeom>
          <a:noFill/>
        </p:spPr>
        <p:txBody>
          <a:bodyPr wrap="square" lIns="54864" tIns="27432" rIns="54864" bIns="27432" anchor="ctr">
            <a:spAutoFit/>
          </a:bodyPr>
          <a:lstStyle/>
          <a:p>
            <a:pPr algn="ctr">
              <a:lnSpc>
                <a:spcPct val="105000"/>
              </a:lnSpc>
            </a:pPr>
            <a:r>
              <a:rPr sz="900" b="1" i="0">
                <a:solidFill>
                  <a:srgbClr val="171717"/>
                </a:solidFill>
                <a:latin typeface="Arial"/>
              </a:rPr>
              <a:t>8 parties prenantes</a:t>
            </a:r>
          </a:p>
          <a:p>
            <a:pPr algn="ctr">
              <a:lnSpc>
                <a:spcPct val="105000"/>
              </a:lnSpc>
            </a:pPr>
            <a:r>
              <a:rPr sz="750" b="0" i="0">
                <a:solidFill>
                  <a:srgbClr val="666666"/>
                </a:solidFill>
                <a:latin typeface="Arial"/>
              </a:rPr>
              <a:t>4 internes, 4 externes</a:t>
            </a:r>
          </a:p>
        </p:txBody>
      </p:sp>
      <p:sp>
        <p:nvSpPr>
          <p:cNvPr id="55" name="Rounded Rectangle 54"/>
          <p:cNvSpPr/>
          <p:nvPr/>
        </p:nvSpPr>
        <p:spPr>
          <a:xfrm>
            <a:off x="2546604" y="3328416"/>
            <a:ext cx="1961388" cy="566928"/>
          </a:xfrm>
          <a:prstGeom prst="roundRect">
            <a:avLst>
              <a:gd name="adj" fmla="val 10080"/>
            </a:avLst>
          </a:prstGeom>
          <a:solidFill>
            <a:srgbClr val="F3F0FF"/>
          </a:solidFill>
          <a:ln w="9525">
            <a:solidFill>
              <a:srgbClr val="E5D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2546604" y="3328416"/>
            <a:ext cx="1961388" cy="566928"/>
          </a:xfrm>
          <a:prstGeom prst="rect">
            <a:avLst/>
          </a:prstGeom>
          <a:noFill/>
        </p:spPr>
        <p:txBody>
          <a:bodyPr wrap="square" lIns="54864" tIns="27432" rIns="54864" bIns="27432" anchor="ctr">
            <a:spAutoFit/>
          </a:bodyPr>
          <a:lstStyle/>
          <a:p>
            <a:pPr algn="ctr">
              <a:lnSpc>
                <a:spcPct val="105000"/>
              </a:lnSpc>
            </a:pPr>
            <a:r>
              <a:rPr sz="900" b="1" i="0">
                <a:solidFill>
                  <a:srgbClr val="171717"/>
                </a:solidFill>
                <a:latin typeface="Arial"/>
              </a:rPr>
              <a:t>Engagement suivi</a:t>
            </a:r>
          </a:p>
          <a:p>
            <a:pPr algn="ctr">
              <a:lnSpc>
                <a:spcPct val="105000"/>
              </a:lnSpc>
            </a:pPr>
            <a:r>
              <a:rPr sz="750" b="0" i="0">
                <a:solidFill>
                  <a:srgbClr val="666666"/>
                </a:solidFill>
                <a:latin typeface="Arial"/>
              </a:rPr>
              <a:t>causes des écarts et actions</a:t>
            </a:r>
          </a:p>
        </p:txBody>
      </p:sp>
      <p:sp>
        <p:nvSpPr>
          <p:cNvPr id="57" name="Rounded Rectangle 56"/>
          <p:cNvSpPr/>
          <p:nvPr/>
        </p:nvSpPr>
        <p:spPr>
          <a:xfrm>
            <a:off x="4636008" y="3328416"/>
            <a:ext cx="1961388" cy="566928"/>
          </a:xfrm>
          <a:prstGeom prst="roundRect">
            <a:avLst>
              <a:gd name="adj" fmla="val 10080"/>
            </a:avLst>
          </a:prstGeom>
          <a:solidFill>
            <a:srgbClr val="F3F0FF"/>
          </a:solidFill>
          <a:ln w="9525">
            <a:solidFill>
              <a:srgbClr val="E5D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636008" y="3328416"/>
            <a:ext cx="1961388" cy="566928"/>
          </a:xfrm>
          <a:prstGeom prst="rect">
            <a:avLst/>
          </a:prstGeom>
          <a:noFill/>
        </p:spPr>
        <p:txBody>
          <a:bodyPr wrap="square" lIns="54864" tIns="27432" rIns="54864" bIns="27432" anchor="ctr">
            <a:spAutoFit/>
          </a:bodyPr>
          <a:lstStyle/>
          <a:p>
            <a:pPr algn="ctr">
              <a:lnSpc>
                <a:spcPct val="105000"/>
              </a:lnSpc>
            </a:pPr>
            <a:r>
              <a:rPr sz="900" b="1" i="0">
                <a:solidFill>
                  <a:srgbClr val="171717"/>
                </a:solidFill>
                <a:latin typeface="Arial"/>
              </a:rPr>
              <a:t>Participation accessible</a:t>
            </a:r>
          </a:p>
          <a:p>
            <a:pPr algn="ctr">
              <a:lnSpc>
                <a:spcPct val="105000"/>
              </a:lnSpc>
            </a:pPr>
            <a:r>
              <a:rPr sz="750" b="0" i="0">
                <a:solidFill>
                  <a:srgbClr val="666666"/>
                </a:solidFill>
                <a:latin typeface="Arial"/>
              </a:rPr>
              <a:t>situations de handicap</a:t>
            </a:r>
          </a:p>
        </p:txBody>
      </p:sp>
      <p:sp>
        <p:nvSpPr>
          <p:cNvPr id="59" name="Rounded Rectangle 58"/>
          <p:cNvSpPr/>
          <p:nvPr/>
        </p:nvSpPr>
        <p:spPr>
          <a:xfrm>
            <a:off x="6725412" y="3328416"/>
            <a:ext cx="1961388" cy="566928"/>
          </a:xfrm>
          <a:prstGeom prst="roundRect">
            <a:avLst>
              <a:gd name="adj" fmla="val 10080"/>
            </a:avLst>
          </a:prstGeom>
          <a:solidFill>
            <a:srgbClr val="F3F0FF"/>
          </a:solidFill>
          <a:ln w="9525">
            <a:solidFill>
              <a:srgbClr val="E5D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725412" y="3328416"/>
            <a:ext cx="1961388" cy="566928"/>
          </a:xfrm>
          <a:prstGeom prst="rect">
            <a:avLst/>
          </a:prstGeom>
          <a:noFill/>
        </p:spPr>
        <p:txBody>
          <a:bodyPr wrap="square" lIns="54864" tIns="27432" rIns="54864" bIns="27432" anchor="ctr">
            <a:spAutoFit/>
          </a:bodyPr>
          <a:lstStyle/>
          <a:p>
            <a:pPr algn="ctr">
              <a:lnSpc>
                <a:spcPct val="105000"/>
              </a:lnSpc>
            </a:pPr>
            <a:r>
              <a:rPr sz="900" b="1" i="0">
                <a:solidFill>
                  <a:srgbClr val="171717"/>
                </a:solidFill>
                <a:latin typeface="Arial"/>
              </a:rPr>
              <a:t>Transmission</a:t>
            </a:r>
          </a:p>
          <a:p>
            <a:pPr algn="ctr">
              <a:lnSpc>
                <a:spcPct val="105000"/>
              </a:lnSpc>
            </a:pPr>
            <a:r>
              <a:rPr sz="750" b="0" i="0">
                <a:solidFill>
                  <a:srgbClr val="666666"/>
                </a:solidFill>
                <a:latin typeface="Arial"/>
              </a:rPr>
              <a:t>reconnaissance, jalons, passation</a:t>
            </a:r>
          </a:p>
        </p:txBody>
      </p:sp>
      <p:sp>
        <p:nvSpPr>
          <p:cNvPr id="61" name="Rectangle 60"/>
          <p:cNvSpPr/>
          <p:nvPr/>
        </p:nvSpPr>
        <p:spPr>
          <a:xfrm>
            <a:off x="457200" y="404164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457200" y="4041648"/>
            <a:ext cx="548640" cy="9144"/>
          </a:xfrm>
          <a:prstGeom prst="rect">
            <a:avLst/>
          </a:prstGeom>
          <a:solidFill>
            <a:srgbClr val="674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457200" y="4114800"/>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6741D9"/>
                </a:solidFill>
                <a:latin typeface="Arial"/>
              </a:rPr>
              <a:t>RÉCAPITULATIF DE PROJET, LE TABLEAU DE BORD DU SPONSOR</a:t>
            </a:r>
          </a:p>
        </p:txBody>
      </p:sp>
      <p:sp>
        <p:nvSpPr>
          <p:cNvPr id="64" name="TextBox 63"/>
          <p:cNvSpPr txBox="1"/>
          <p:nvPr/>
        </p:nvSpPr>
        <p:spPr>
          <a:xfrm>
            <a:off x="457200" y="4315968"/>
            <a:ext cx="8229600" cy="274320"/>
          </a:xfrm>
          <a:prstGeom prst="rect">
            <a:avLst/>
          </a:prstGeom>
          <a:noFill/>
        </p:spPr>
        <p:txBody>
          <a:bodyPr wrap="square" lIns="54864" tIns="27432" rIns="54864" bIns="27432" anchor="t">
            <a:spAutoFit/>
          </a:bodyPr>
          <a:lstStyle/>
          <a:p>
            <a:pPr algn="l">
              <a:lnSpc>
                <a:spcPct val="105000"/>
              </a:lnSpc>
            </a:pPr>
            <a:r>
              <a:rPr sz="900" b="0" i="0">
                <a:solidFill>
                  <a:srgbClr val="666666"/>
                </a:solidFill>
                <a:latin typeface="Arial"/>
              </a:rPr>
              <a:t>avancement par lot, reste-à-faire, consommation budgétaire, écart au chemin critique   ·   accès nominatif, synthèse rédigée par IA sous relecture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0" y="0"/>
            <a:ext cx="1524000" cy="41148"/>
          </a:xfrm>
          <a:prstGeom prst="rect">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269480"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10144"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lIns="54864" tIns="27432" rIns="54864" bIns="27432" anchor="t">
            <a:spAutoFit/>
          </a:bodyPr>
          <a:lstStyle/>
          <a:p>
            <a:pPr algn="l">
              <a:lnSpc>
                <a:spcPct val="100000"/>
              </a:lnSpc>
            </a:pPr>
            <a:r>
              <a:rPr sz="750" b="1" i="0" spc="120">
                <a:solidFill>
                  <a:srgbClr val="C2255C"/>
                </a:solidFill>
                <a:latin typeface="Arial"/>
              </a:rPr>
              <a:t>4 · CONCEPTION ET DÉVELOPPEMENT</a:t>
            </a:r>
          </a:p>
        </p:txBody>
      </p:sp>
      <p:sp>
        <p:nvSpPr>
          <p:cNvPr id="11" name="TextBox 10"/>
          <p:cNvSpPr txBox="1"/>
          <p:nvPr/>
        </p:nvSpPr>
        <p:spPr>
          <a:xfrm>
            <a:off x="457200" y="493776"/>
            <a:ext cx="6720840" cy="566928"/>
          </a:xfrm>
          <a:prstGeom prst="rect">
            <a:avLst/>
          </a:prstGeom>
          <a:noFill/>
        </p:spPr>
        <p:txBody>
          <a:bodyPr wrap="square" lIns="54864" tIns="27432" rIns="54864" bIns="27432" anchor="t">
            <a:spAutoFit/>
          </a:bodyPr>
          <a:lstStyle/>
          <a:p>
            <a:pPr algn="l">
              <a:lnSpc>
                <a:spcPct val="100000"/>
              </a:lnSpc>
            </a:pPr>
            <a:r>
              <a:rPr sz="2400" b="1" i="0" spc="-84">
                <a:solidFill>
                  <a:srgbClr val="171717"/>
                </a:solidFill>
                <a:latin typeface="Arial"/>
              </a:rPr>
              <a:t>Maquettes et flux de données</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26679" y="4832604"/>
            <a:ext cx="1143000" cy="237744"/>
          </a:xfrm>
          <a:prstGeom prst="rect">
            <a:avLst/>
          </a:prstGeom>
          <a:noFill/>
        </p:spPr>
        <p:txBody>
          <a:bodyPr wrap="square" lIns="54864" tIns="27432" rIns="54864" bIns="27432" anchor="t">
            <a:spAutoFit/>
          </a:bodyPr>
          <a:lstStyle/>
          <a:p>
            <a:pPr algn="r">
              <a:lnSpc>
                <a:spcPct val="100000"/>
              </a:lnSpc>
            </a:pPr>
            <a:r>
              <a:rPr sz="800" b="0" i="0">
                <a:solidFill>
                  <a:srgbClr val="A1A1A1"/>
                </a:solidFill>
                <a:latin typeface="Arial"/>
              </a:rPr>
              <a:t>15 / 31</a:t>
            </a:r>
          </a:p>
        </p:txBody>
      </p:sp>
      <p:sp>
        <p:nvSpPr>
          <p:cNvPr id="14" name="Rounded Rectangle 13"/>
          <p:cNvSpPr/>
          <p:nvPr/>
        </p:nvSpPr>
        <p:spPr>
          <a:xfrm>
            <a:off x="457200" y="4818888"/>
            <a:ext cx="733348" cy="228600"/>
          </a:xfrm>
          <a:prstGeom prst="roundRect">
            <a:avLst>
              <a:gd name="adj" fmla="val 25000"/>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4818888"/>
            <a:ext cx="733348" cy="228600"/>
          </a:xfrm>
          <a:prstGeom prst="rect">
            <a:avLst/>
          </a:prstGeom>
          <a:noFill/>
        </p:spPr>
        <p:txBody>
          <a:bodyPr wrap="square" lIns="54864" tIns="27432" rIns="54864" bIns="27432" anchor="ctr">
            <a:spAutoFit/>
          </a:bodyPr>
          <a:lstStyle/>
          <a:p>
            <a:pPr algn="ctr">
              <a:lnSpc>
                <a:spcPct val="100000"/>
              </a:lnSpc>
            </a:pPr>
            <a:r>
              <a:rPr sz="750" b="1" i="0">
                <a:solidFill>
                  <a:srgbClr val="FFFFFF"/>
                </a:solidFill>
                <a:latin typeface="Arial"/>
              </a:rPr>
              <a:t>Réf.  C21</a:t>
            </a:r>
          </a:p>
        </p:txBody>
      </p:sp>
      <p:sp>
        <p:nvSpPr>
          <p:cNvPr id="16" name="TextBox 15"/>
          <p:cNvSpPr txBox="1"/>
          <p:nvPr/>
        </p:nvSpPr>
        <p:spPr>
          <a:xfrm>
            <a:off x="1281988" y="4818888"/>
            <a:ext cx="5486400" cy="228600"/>
          </a:xfrm>
          <a:prstGeom prst="rect">
            <a:avLst/>
          </a:prstGeom>
          <a:noFill/>
        </p:spPr>
        <p:txBody>
          <a:bodyPr wrap="square" lIns="54864" tIns="27432" rIns="54864" bIns="27432" anchor="ctr">
            <a:spAutoFit/>
          </a:bodyPr>
          <a:lstStyle/>
          <a:p>
            <a:pPr algn="l">
              <a:lnSpc>
                <a:spcPct val="100000"/>
              </a:lnSpc>
            </a:pPr>
            <a:r>
              <a:rPr sz="750" b="0" i="0">
                <a:solidFill>
                  <a:srgbClr val="A1A1A1"/>
                </a:solidFill>
                <a:latin typeface="Arial"/>
              </a:rPr>
              <a:t>BC3 · mémoire 14.1 · annexes F.1, F.2, F.3</a:t>
            </a:r>
          </a:p>
        </p:txBody>
      </p:sp>
      <p:sp>
        <p:nvSpPr>
          <p:cNvPr id="17" name="TextBox 16"/>
          <p:cNvSpPr txBox="1"/>
          <p:nvPr/>
        </p:nvSpPr>
        <p:spPr>
          <a:xfrm>
            <a:off x="457200" y="1207008"/>
            <a:ext cx="402336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L’ÉCRAN DES RÉGLAGES</a:t>
            </a:r>
          </a:p>
        </p:txBody>
      </p:sp>
      <p:pic>
        <p:nvPicPr>
          <p:cNvPr id="18" name="Picture 17" descr="soutenance-maquettes.png"/>
          <p:cNvPicPr>
            <a:picLocks noChangeAspect="1"/>
          </p:cNvPicPr>
          <p:nvPr/>
        </p:nvPicPr>
        <p:blipFill>
          <a:blip r:embed="rId3"/>
          <a:stretch>
            <a:fillRect/>
          </a:stretch>
        </p:blipFill>
        <p:spPr>
          <a:xfrm>
            <a:off x="457200" y="1408176"/>
            <a:ext cx="3840480" cy="2564052"/>
          </a:xfrm>
          <a:prstGeom prst="rect">
            <a:avLst/>
          </a:prstGeom>
        </p:spPr>
      </p:pic>
      <p:sp>
        <p:nvSpPr>
          <p:cNvPr id="19" name="TextBox 18"/>
          <p:cNvSpPr txBox="1"/>
          <p:nvPr/>
        </p:nvSpPr>
        <p:spPr>
          <a:xfrm>
            <a:off x="4754880" y="1207008"/>
            <a:ext cx="393192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CE QUE CET ÉCRAN FIGE</a:t>
            </a:r>
          </a:p>
        </p:txBody>
      </p:sp>
      <p:sp>
        <p:nvSpPr>
          <p:cNvPr id="20" name="Rounded Rectangle 19"/>
          <p:cNvSpPr/>
          <p:nvPr/>
        </p:nvSpPr>
        <p:spPr>
          <a:xfrm>
            <a:off x="4754880" y="1426464"/>
            <a:ext cx="3931920" cy="493776"/>
          </a:xfrm>
          <a:prstGeom prst="roundRect">
            <a:avLst>
              <a:gd name="adj" fmla="val 11574"/>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4864608" y="1545336"/>
            <a:ext cx="256032" cy="256032"/>
          </a:xfrm>
          <a:prstGeom prst="roundRect">
            <a:avLst>
              <a:gd name="adj" fmla="val 11160"/>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864608" y="1545336"/>
            <a:ext cx="256032" cy="256032"/>
          </a:xfrm>
          <a:prstGeom prst="rect">
            <a:avLst/>
          </a:prstGeom>
          <a:noFill/>
        </p:spPr>
        <p:txBody>
          <a:bodyPr wrap="square" lIns="54864" tIns="27432" rIns="54864" bIns="27432" anchor="ctr">
            <a:spAutoFit/>
          </a:bodyPr>
          <a:lstStyle/>
          <a:p>
            <a:pPr algn="ctr">
              <a:lnSpc>
                <a:spcPct val="100000"/>
              </a:lnSpc>
            </a:pPr>
            <a:r>
              <a:rPr sz="800" b="1" i="0">
                <a:solidFill>
                  <a:srgbClr val="FFFFFF"/>
                </a:solidFill>
                <a:latin typeface="Arial"/>
              </a:rPr>
              <a:t>1</a:t>
            </a:r>
          </a:p>
        </p:txBody>
      </p:sp>
      <p:sp>
        <p:nvSpPr>
          <p:cNvPr id="23" name="TextBox 22"/>
          <p:cNvSpPr txBox="1"/>
          <p:nvPr/>
        </p:nvSpPr>
        <p:spPr>
          <a:xfrm>
            <a:off x="5230368" y="1463040"/>
            <a:ext cx="3346704" cy="219456"/>
          </a:xfrm>
          <a:prstGeom prst="rect">
            <a:avLst/>
          </a:prstGeom>
          <a:noFill/>
        </p:spPr>
        <p:txBody>
          <a:bodyPr wrap="square" lIns="54864" tIns="27432" rIns="54864" bIns="27432" anchor="t">
            <a:spAutoFit/>
          </a:bodyPr>
          <a:lstStyle/>
          <a:p>
            <a:pPr algn="l">
              <a:lnSpc>
                <a:spcPct val="100000"/>
              </a:lnSpc>
            </a:pPr>
            <a:r>
              <a:rPr sz="850" b="1" i="0">
                <a:solidFill>
                  <a:srgbClr val="171717"/>
                </a:solidFill>
                <a:latin typeface="Arial"/>
              </a:rPr>
              <a:t>Adresse publique distincte de l’e-mail</a:t>
            </a:r>
          </a:p>
        </p:txBody>
      </p:sp>
      <p:sp>
        <p:nvSpPr>
          <p:cNvPr id="24" name="TextBox 23"/>
          <p:cNvSpPr txBox="1"/>
          <p:nvPr/>
        </p:nvSpPr>
        <p:spPr>
          <a:xfrm>
            <a:off x="5230368" y="1664208"/>
            <a:ext cx="3346704" cy="219456"/>
          </a:xfrm>
          <a:prstGeom prst="rect">
            <a:avLst/>
          </a:prstGeom>
          <a:noFill/>
        </p:spPr>
        <p:txBody>
          <a:bodyPr wrap="square" lIns="54864" tIns="27432" rIns="54864" bIns="27432" anchor="t">
            <a:spAutoFit/>
          </a:bodyPr>
          <a:lstStyle/>
          <a:p>
            <a:pPr algn="l">
              <a:lnSpc>
                <a:spcPct val="100000"/>
              </a:lnSpc>
            </a:pPr>
            <a:r>
              <a:rPr sz="750" b="0" i="0">
                <a:solidFill>
                  <a:srgbClr val="666666"/>
                </a:solidFill>
                <a:latin typeface="Arial"/>
              </a:rPr>
              <a:t>l’e-mail n’est jamais exposé par l’API publique</a:t>
            </a:r>
          </a:p>
        </p:txBody>
      </p:sp>
      <p:sp>
        <p:nvSpPr>
          <p:cNvPr id="25" name="Rounded Rectangle 24"/>
          <p:cNvSpPr/>
          <p:nvPr/>
        </p:nvSpPr>
        <p:spPr>
          <a:xfrm>
            <a:off x="4754880" y="1993392"/>
            <a:ext cx="3931920" cy="493776"/>
          </a:xfrm>
          <a:prstGeom prst="roundRect">
            <a:avLst>
              <a:gd name="adj" fmla="val 11574"/>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4864608" y="2112264"/>
            <a:ext cx="256032" cy="256032"/>
          </a:xfrm>
          <a:prstGeom prst="roundRect">
            <a:avLst>
              <a:gd name="adj" fmla="val 11160"/>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864608" y="2112264"/>
            <a:ext cx="256032" cy="256032"/>
          </a:xfrm>
          <a:prstGeom prst="rect">
            <a:avLst/>
          </a:prstGeom>
          <a:noFill/>
        </p:spPr>
        <p:txBody>
          <a:bodyPr wrap="square" lIns="54864" tIns="27432" rIns="54864" bIns="27432" anchor="ctr">
            <a:spAutoFit/>
          </a:bodyPr>
          <a:lstStyle/>
          <a:p>
            <a:pPr algn="ctr">
              <a:lnSpc>
                <a:spcPct val="100000"/>
              </a:lnSpc>
            </a:pPr>
            <a:r>
              <a:rPr sz="800" b="1" i="0">
                <a:solidFill>
                  <a:srgbClr val="FFFFFF"/>
                </a:solidFill>
                <a:latin typeface="Arial"/>
              </a:rPr>
              <a:t>2</a:t>
            </a:r>
          </a:p>
        </p:txBody>
      </p:sp>
      <p:sp>
        <p:nvSpPr>
          <p:cNvPr id="28" name="TextBox 27"/>
          <p:cNvSpPr txBox="1"/>
          <p:nvPr/>
        </p:nvSpPr>
        <p:spPr>
          <a:xfrm>
            <a:off x="5230368" y="2029968"/>
            <a:ext cx="3346704" cy="219456"/>
          </a:xfrm>
          <a:prstGeom prst="rect">
            <a:avLst/>
          </a:prstGeom>
          <a:noFill/>
        </p:spPr>
        <p:txBody>
          <a:bodyPr wrap="square" lIns="54864" tIns="27432" rIns="54864" bIns="27432" anchor="t">
            <a:spAutoFit/>
          </a:bodyPr>
          <a:lstStyle/>
          <a:p>
            <a:pPr algn="l">
              <a:lnSpc>
                <a:spcPct val="100000"/>
              </a:lnSpc>
            </a:pPr>
            <a:r>
              <a:rPr sz="850" b="1" i="0">
                <a:solidFill>
                  <a:srgbClr val="171717"/>
                </a:solidFill>
                <a:latin typeface="Arial"/>
              </a:rPr>
              <a:t>Clé d’API régénérable et révocable</a:t>
            </a:r>
          </a:p>
        </p:txBody>
      </p:sp>
      <p:sp>
        <p:nvSpPr>
          <p:cNvPr id="29" name="TextBox 28"/>
          <p:cNvSpPr txBox="1"/>
          <p:nvPr/>
        </p:nvSpPr>
        <p:spPr>
          <a:xfrm>
            <a:off x="5230368" y="2231136"/>
            <a:ext cx="3346704" cy="219456"/>
          </a:xfrm>
          <a:prstGeom prst="rect">
            <a:avLst/>
          </a:prstGeom>
          <a:noFill/>
        </p:spPr>
        <p:txBody>
          <a:bodyPr wrap="square" lIns="54864" tIns="27432" rIns="54864" bIns="27432" anchor="t">
            <a:spAutoFit/>
          </a:bodyPr>
          <a:lstStyle/>
          <a:p>
            <a:pPr algn="l">
              <a:lnSpc>
                <a:spcPct val="100000"/>
              </a:lnSpc>
            </a:pPr>
            <a:r>
              <a:rPr sz="750" b="0" i="0">
                <a:solidFill>
                  <a:srgbClr val="666666"/>
                </a:solidFill>
                <a:latin typeface="Arial"/>
              </a:rPr>
              <a:t>l’accès programmatique se coupe sans supprimer le compte</a:t>
            </a:r>
          </a:p>
        </p:txBody>
      </p:sp>
      <p:sp>
        <p:nvSpPr>
          <p:cNvPr id="30" name="Rounded Rectangle 29"/>
          <p:cNvSpPr/>
          <p:nvPr/>
        </p:nvSpPr>
        <p:spPr>
          <a:xfrm>
            <a:off x="4754880" y="2560320"/>
            <a:ext cx="3931920" cy="493776"/>
          </a:xfrm>
          <a:prstGeom prst="roundRect">
            <a:avLst>
              <a:gd name="adj" fmla="val 11574"/>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4864608" y="2679191"/>
            <a:ext cx="256032" cy="256032"/>
          </a:xfrm>
          <a:prstGeom prst="roundRect">
            <a:avLst>
              <a:gd name="adj" fmla="val 11160"/>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864608" y="2679191"/>
            <a:ext cx="256032" cy="256032"/>
          </a:xfrm>
          <a:prstGeom prst="rect">
            <a:avLst/>
          </a:prstGeom>
          <a:noFill/>
        </p:spPr>
        <p:txBody>
          <a:bodyPr wrap="square" lIns="54864" tIns="27432" rIns="54864" bIns="27432" anchor="ctr">
            <a:spAutoFit/>
          </a:bodyPr>
          <a:lstStyle/>
          <a:p>
            <a:pPr algn="ctr">
              <a:lnSpc>
                <a:spcPct val="100000"/>
              </a:lnSpc>
            </a:pPr>
            <a:r>
              <a:rPr sz="800" b="1" i="0">
                <a:solidFill>
                  <a:srgbClr val="FFFFFF"/>
                </a:solidFill>
                <a:latin typeface="Arial"/>
              </a:rPr>
              <a:t>3</a:t>
            </a:r>
          </a:p>
        </p:txBody>
      </p:sp>
      <p:sp>
        <p:nvSpPr>
          <p:cNvPr id="33" name="TextBox 32"/>
          <p:cNvSpPr txBox="1"/>
          <p:nvPr/>
        </p:nvSpPr>
        <p:spPr>
          <a:xfrm>
            <a:off x="5230368" y="2596896"/>
            <a:ext cx="3346704" cy="219456"/>
          </a:xfrm>
          <a:prstGeom prst="rect">
            <a:avLst/>
          </a:prstGeom>
          <a:noFill/>
        </p:spPr>
        <p:txBody>
          <a:bodyPr wrap="square" lIns="54864" tIns="27432" rIns="54864" bIns="27432" anchor="t">
            <a:spAutoFit/>
          </a:bodyPr>
          <a:lstStyle/>
          <a:p>
            <a:pPr algn="l">
              <a:lnSpc>
                <a:spcPct val="100000"/>
              </a:lnSpc>
            </a:pPr>
            <a:r>
              <a:rPr sz="850" b="1" i="0">
                <a:solidFill>
                  <a:srgbClr val="171717"/>
                </a:solidFill>
                <a:latin typeface="Arial"/>
              </a:rPr>
              <a:t>Suppression de compte, irréversibilité annoncée</a:t>
            </a:r>
          </a:p>
        </p:txBody>
      </p:sp>
      <p:sp>
        <p:nvSpPr>
          <p:cNvPr id="34" name="TextBox 33"/>
          <p:cNvSpPr txBox="1"/>
          <p:nvPr/>
        </p:nvSpPr>
        <p:spPr>
          <a:xfrm>
            <a:off x="5230368" y="2798063"/>
            <a:ext cx="3346704" cy="219456"/>
          </a:xfrm>
          <a:prstGeom prst="rect">
            <a:avLst/>
          </a:prstGeom>
          <a:noFill/>
        </p:spPr>
        <p:txBody>
          <a:bodyPr wrap="square" lIns="54864" tIns="27432" rIns="54864" bIns="27432" anchor="t">
            <a:spAutoFit/>
          </a:bodyPr>
          <a:lstStyle/>
          <a:p>
            <a:pPr algn="l">
              <a:lnSpc>
                <a:spcPct val="100000"/>
              </a:lnSpc>
            </a:pPr>
            <a:r>
              <a:rPr sz="750" b="0" i="0">
                <a:solidFill>
                  <a:srgbClr val="666666"/>
                </a:solidFill>
                <a:latin typeface="Arial"/>
              </a:rPr>
              <a:t>le droit à l’effacement est visible, pas enterré</a:t>
            </a:r>
          </a:p>
        </p:txBody>
      </p:sp>
      <p:sp>
        <p:nvSpPr>
          <p:cNvPr id="35" name="TextBox 34"/>
          <p:cNvSpPr txBox="1"/>
          <p:nvPr/>
        </p:nvSpPr>
        <p:spPr>
          <a:xfrm>
            <a:off x="4754880" y="3200400"/>
            <a:ext cx="393192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LES FLUX DE DONNÉES, MODULE PAR MODULE</a:t>
            </a:r>
          </a:p>
        </p:txBody>
      </p:sp>
      <p:sp>
        <p:nvSpPr>
          <p:cNvPr id="36" name="Rounded Rectangle 35"/>
          <p:cNvSpPr/>
          <p:nvPr/>
        </p:nvSpPr>
        <p:spPr>
          <a:xfrm>
            <a:off x="4754880" y="3401568"/>
            <a:ext cx="1213104" cy="512064"/>
          </a:xfrm>
          <a:prstGeom prst="roundRect">
            <a:avLst>
              <a:gd name="adj" fmla="val 11160"/>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754880" y="3438144"/>
            <a:ext cx="1213104" cy="237744"/>
          </a:xfrm>
          <a:prstGeom prst="rect">
            <a:avLst/>
          </a:prstGeom>
          <a:noFill/>
        </p:spPr>
        <p:txBody>
          <a:bodyPr wrap="square" lIns="54864" tIns="27432" rIns="54864" bIns="27432" anchor="t">
            <a:spAutoFit/>
          </a:bodyPr>
          <a:lstStyle/>
          <a:p>
            <a:pPr algn="ctr">
              <a:lnSpc>
                <a:spcPct val="100000"/>
              </a:lnSpc>
            </a:pPr>
            <a:r>
              <a:rPr sz="1300" b="1" i="0">
                <a:solidFill>
                  <a:srgbClr val="171717"/>
                </a:solidFill>
                <a:latin typeface="Arial"/>
              </a:rPr>
              <a:t>4</a:t>
            </a:r>
          </a:p>
        </p:txBody>
      </p:sp>
      <p:sp>
        <p:nvSpPr>
          <p:cNvPr id="38" name="TextBox 37"/>
          <p:cNvSpPr txBox="1"/>
          <p:nvPr/>
        </p:nvSpPr>
        <p:spPr>
          <a:xfrm>
            <a:off x="4754880" y="3657600"/>
            <a:ext cx="1213104" cy="201168"/>
          </a:xfrm>
          <a:prstGeom prst="rect">
            <a:avLst/>
          </a:prstGeom>
          <a:noFill/>
        </p:spPr>
        <p:txBody>
          <a:bodyPr wrap="square" lIns="54864" tIns="27432" rIns="54864" bIns="27432" anchor="t">
            <a:spAutoFit/>
          </a:bodyPr>
          <a:lstStyle/>
          <a:p>
            <a:pPr algn="ctr">
              <a:lnSpc>
                <a:spcPct val="100000"/>
              </a:lnSpc>
            </a:pPr>
            <a:r>
              <a:rPr sz="750" b="0" i="0">
                <a:solidFill>
                  <a:srgbClr val="666666"/>
                </a:solidFill>
                <a:latin typeface="Arial"/>
              </a:rPr>
              <a:t>entités externes</a:t>
            </a:r>
          </a:p>
        </p:txBody>
      </p:sp>
      <p:sp>
        <p:nvSpPr>
          <p:cNvPr id="39" name="Right Arrow 38"/>
          <p:cNvSpPr/>
          <p:nvPr/>
        </p:nvSpPr>
        <p:spPr>
          <a:xfrm>
            <a:off x="5986272" y="3602736"/>
            <a:ext cx="109728" cy="109728"/>
          </a:xfrm>
          <a:prstGeom prst="righ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ounded Rectangle 39"/>
          <p:cNvSpPr/>
          <p:nvPr/>
        </p:nvSpPr>
        <p:spPr>
          <a:xfrm>
            <a:off x="6114288" y="3401568"/>
            <a:ext cx="1213104" cy="512064"/>
          </a:xfrm>
          <a:prstGeom prst="roundRect">
            <a:avLst>
              <a:gd name="adj" fmla="val 11160"/>
            </a:avLst>
          </a:prstGeom>
          <a:solidFill>
            <a:srgbClr val="D0E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114288" y="3438144"/>
            <a:ext cx="1213104" cy="237744"/>
          </a:xfrm>
          <a:prstGeom prst="rect">
            <a:avLst/>
          </a:prstGeom>
          <a:noFill/>
        </p:spPr>
        <p:txBody>
          <a:bodyPr wrap="square" lIns="54864" tIns="27432" rIns="54864" bIns="27432" anchor="t">
            <a:spAutoFit/>
          </a:bodyPr>
          <a:lstStyle/>
          <a:p>
            <a:pPr algn="ctr">
              <a:lnSpc>
                <a:spcPct val="100000"/>
              </a:lnSpc>
            </a:pPr>
            <a:r>
              <a:rPr sz="1300" b="1" i="0">
                <a:solidFill>
                  <a:srgbClr val="171717"/>
                </a:solidFill>
                <a:latin typeface="Arial"/>
              </a:rPr>
              <a:t>7</a:t>
            </a:r>
          </a:p>
        </p:txBody>
      </p:sp>
      <p:sp>
        <p:nvSpPr>
          <p:cNvPr id="42" name="TextBox 41"/>
          <p:cNvSpPr txBox="1"/>
          <p:nvPr/>
        </p:nvSpPr>
        <p:spPr>
          <a:xfrm>
            <a:off x="6114288" y="3657600"/>
            <a:ext cx="1213104" cy="201168"/>
          </a:xfrm>
          <a:prstGeom prst="rect">
            <a:avLst/>
          </a:prstGeom>
          <a:noFill/>
        </p:spPr>
        <p:txBody>
          <a:bodyPr wrap="square" lIns="54864" tIns="27432" rIns="54864" bIns="27432" anchor="t">
            <a:spAutoFit/>
          </a:bodyPr>
          <a:lstStyle/>
          <a:p>
            <a:pPr algn="ctr">
              <a:lnSpc>
                <a:spcPct val="100000"/>
              </a:lnSpc>
            </a:pPr>
            <a:r>
              <a:rPr sz="750" b="0" i="0">
                <a:solidFill>
                  <a:srgbClr val="666666"/>
                </a:solidFill>
                <a:latin typeface="Arial"/>
              </a:rPr>
              <a:t>traitements</a:t>
            </a:r>
          </a:p>
        </p:txBody>
      </p:sp>
      <p:sp>
        <p:nvSpPr>
          <p:cNvPr id="43" name="Right Arrow 42"/>
          <p:cNvSpPr/>
          <p:nvPr/>
        </p:nvSpPr>
        <p:spPr>
          <a:xfrm>
            <a:off x="7345680" y="3602736"/>
            <a:ext cx="109728" cy="109728"/>
          </a:xfrm>
          <a:prstGeom prst="righ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ounded Rectangle 43"/>
          <p:cNvSpPr/>
          <p:nvPr/>
        </p:nvSpPr>
        <p:spPr>
          <a:xfrm>
            <a:off x="7473696" y="3401568"/>
            <a:ext cx="1213104" cy="512064"/>
          </a:xfrm>
          <a:prstGeom prst="roundRect">
            <a:avLst>
              <a:gd name="adj" fmla="val 11160"/>
            </a:avLst>
          </a:prstGeom>
          <a:solidFill>
            <a:srgbClr val="C3F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7473696" y="3438144"/>
            <a:ext cx="1213104" cy="237744"/>
          </a:xfrm>
          <a:prstGeom prst="rect">
            <a:avLst/>
          </a:prstGeom>
          <a:noFill/>
        </p:spPr>
        <p:txBody>
          <a:bodyPr wrap="square" lIns="54864" tIns="27432" rIns="54864" bIns="27432" anchor="t">
            <a:spAutoFit/>
          </a:bodyPr>
          <a:lstStyle/>
          <a:p>
            <a:pPr algn="ctr">
              <a:lnSpc>
                <a:spcPct val="100000"/>
              </a:lnSpc>
            </a:pPr>
            <a:r>
              <a:rPr sz="1300" b="1" i="0">
                <a:solidFill>
                  <a:srgbClr val="171717"/>
                </a:solidFill>
                <a:latin typeface="Arial"/>
              </a:rPr>
              <a:t>9</a:t>
            </a:r>
          </a:p>
        </p:txBody>
      </p:sp>
      <p:sp>
        <p:nvSpPr>
          <p:cNvPr id="46" name="TextBox 45"/>
          <p:cNvSpPr txBox="1"/>
          <p:nvPr/>
        </p:nvSpPr>
        <p:spPr>
          <a:xfrm>
            <a:off x="7473696" y="3657600"/>
            <a:ext cx="1213104" cy="201168"/>
          </a:xfrm>
          <a:prstGeom prst="rect">
            <a:avLst/>
          </a:prstGeom>
          <a:noFill/>
        </p:spPr>
        <p:txBody>
          <a:bodyPr wrap="square" lIns="54864" tIns="27432" rIns="54864" bIns="27432" anchor="t">
            <a:spAutoFit/>
          </a:bodyPr>
          <a:lstStyle/>
          <a:p>
            <a:pPr algn="ctr">
              <a:lnSpc>
                <a:spcPct val="100000"/>
              </a:lnSpc>
            </a:pPr>
            <a:r>
              <a:rPr sz="750" b="0" i="0">
                <a:solidFill>
                  <a:srgbClr val="666666"/>
                </a:solidFill>
                <a:latin typeface="Arial"/>
              </a:rPr>
              <a:t>magasins</a:t>
            </a:r>
          </a:p>
        </p:txBody>
      </p:sp>
      <p:sp>
        <p:nvSpPr>
          <p:cNvPr id="47" name="Rectangle 46"/>
          <p:cNvSpPr/>
          <p:nvPr/>
        </p:nvSpPr>
        <p:spPr>
          <a:xfrm>
            <a:off x="457200" y="4096512"/>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457200" y="4096512"/>
            <a:ext cx="548640" cy="9144"/>
          </a:xfrm>
          <a:prstGeom prst="rect">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57200" y="4169664"/>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C2255C"/>
                </a:solidFill>
                <a:latin typeface="Arial"/>
              </a:rPr>
              <a:t>POURQUOI MAQUETTER AVANT DE CODER</a:t>
            </a:r>
          </a:p>
        </p:txBody>
      </p:sp>
      <p:sp>
        <p:nvSpPr>
          <p:cNvPr id="50" name="TextBox 49"/>
          <p:cNvSpPr txBox="1"/>
          <p:nvPr/>
        </p:nvSpPr>
        <p:spPr>
          <a:xfrm>
            <a:off x="457200" y="4370832"/>
            <a:ext cx="8229600" cy="274320"/>
          </a:xfrm>
          <a:prstGeom prst="rect">
            <a:avLst/>
          </a:prstGeom>
          <a:noFill/>
        </p:spPr>
        <p:txBody>
          <a:bodyPr wrap="square" lIns="54864" tIns="27432" rIns="54864" bIns="27432" anchor="t">
            <a:spAutoFit/>
          </a:bodyPr>
          <a:lstStyle/>
          <a:p>
            <a:pPr algn="l">
              <a:lnSpc>
                <a:spcPct val="105000"/>
              </a:lnSpc>
            </a:pPr>
            <a:r>
              <a:rPr sz="900" b="0" i="0">
                <a:solidFill>
                  <a:srgbClr val="666666"/>
                </a:solidFill>
                <a:latin typeface="Arial"/>
              </a:rPr>
              <a:t>discuter un écran coûte des minutes, le recoder coûte des jours. Ces maquettes sont dérivées du code, elles ne peuvent pas diverger de ce qui tourne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0" y="0"/>
            <a:ext cx="1524000" cy="41148"/>
          </a:xfrm>
          <a:prstGeom prst="rect">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269480"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10144"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lIns="54864" tIns="27432" rIns="54864" bIns="27432" anchor="t">
            <a:spAutoFit/>
          </a:bodyPr>
          <a:lstStyle/>
          <a:p>
            <a:pPr algn="l">
              <a:lnSpc>
                <a:spcPct val="100000"/>
              </a:lnSpc>
            </a:pPr>
            <a:r>
              <a:rPr sz="750" b="1" i="0" spc="120">
                <a:solidFill>
                  <a:srgbClr val="C2255C"/>
                </a:solidFill>
                <a:latin typeface="Arial"/>
              </a:rPr>
              <a:t>4 · CONCEPTION ET DÉVELOPPEMENT</a:t>
            </a:r>
          </a:p>
        </p:txBody>
      </p:sp>
      <p:sp>
        <p:nvSpPr>
          <p:cNvPr id="11" name="TextBox 10"/>
          <p:cNvSpPr txBox="1"/>
          <p:nvPr/>
        </p:nvSpPr>
        <p:spPr>
          <a:xfrm>
            <a:off x="457200" y="493776"/>
            <a:ext cx="6720840" cy="566928"/>
          </a:xfrm>
          <a:prstGeom prst="rect">
            <a:avLst/>
          </a:prstGeom>
          <a:noFill/>
        </p:spPr>
        <p:txBody>
          <a:bodyPr wrap="square" lIns="54864" tIns="27432" rIns="54864" bIns="27432" anchor="t">
            <a:spAutoFit/>
          </a:bodyPr>
          <a:lstStyle/>
          <a:p>
            <a:pPr algn="l">
              <a:lnSpc>
                <a:spcPct val="100000"/>
              </a:lnSpc>
            </a:pPr>
            <a:r>
              <a:rPr sz="2400" b="1" i="0" spc="-84">
                <a:solidFill>
                  <a:srgbClr val="171717"/>
                </a:solidFill>
                <a:latin typeface="Arial"/>
              </a:rPr>
              <a:t>Architecture applicative</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26679" y="4832604"/>
            <a:ext cx="1143000" cy="237744"/>
          </a:xfrm>
          <a:prstGeom prst="rect">
            <a:avLst/>
          </a:prstGeom>
          <a:noFill/>
        </p:spPr>
        <p:txBody>
          <a:bodyPr wrap="square" lIns="54864" tIns="27432" rIns="54864" bIns="27432" anchor="t">
            <a:spAutoFit/>
          </a:bodyPr>
          <a:lstStyle/>
          <a:p>
            <a:pPr algn="r">
              <a:lnSpc>
                <a:spcPct val="100000"/>
              </a:lnSpc>
            </a:pPr>
            <a:r>
              <a:rPr sz="800" b="0" i="0">
                <a:solidFill>
                  <a:srgbClr val="A1A1A1"/>
                </a:solidFill>
                <a:latin typeface="Arial"/>
              </a:rPr>
              <a:t>16 / 31</a:t>
            </a:r>
          </a:p>
        </p:txBody>
      </p:sp>
      <p:sp>
        <p:nvSpPr>
          <p:cNvPr id="14" name="Rounded Rectangle 13"/>
          <p:cNvSpPr/>
          <p:nvPr/>
        </p:nvSpPr>
        <p:spPr>
          <a:xfrm>
            <a:off x="457200" y="4818888"/>
            <a:ext cx="1051560" cy="228600"/>
          </a:xfrm>
          <a:prstGeom prst="roundRect">
            <a:avLst>
              <a:gd name="adj" fmla="val 25000"/>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4818888"/>
            <a:ext cx="1051560" cy="228600"/>
          </a:xfrm>
          <a:prstGeom prst="rect">
            <a:avLst/>
          </a:prstGeom>
          <a:noFill/>
        </p:spPr>
        <p:txBody>
          <a:bodyPr wrap="square" lIns="54864" tIns="27432" rIns="54864" bIns="27432" anchor="ctr">
            <a:spAutoFit/>
          </a:bodyPr>
          <a:lstStyle/>
          <a:p>
            <a:pPr algn="ctr">
              <a:lnSpc>
                <a:spcPct val="100000"/>
              </a:lnSpc>
            </a:pPr>
            <a:r>
              <a:rPr sz="750" b="1" i="0">
                <a:solidFill>
                  <a:srgbClr val="FFFFFF"/>
                </a:solidFill>
                <a:latin typeface="Arial"/>
              </a:rPr>
              <a:t>Réf.  C21 · C23</a:t>
            </a:r>
          </a:p>
        </p:txBody>
      </p:sp>
      <p:sp>
        <p:nvSpPr>
          <p:cNvPr id="16" name="TextBox 15"/>
          <p:cNvSpPr txBox="1"/>
          <p:nvPr/>
        </p:nvSpPr>
        <p:spPr>
          <a:xfrm>
            <a:off x="1600200" y="4818888"/>
            <a:ext cx="5486400" cy="228600"/>
          </a:xfrm>
          <a:prstGeom prst="rect">
            <a:avLst/>
          </a:prstGeom>
          <a:noFill/>
        </p:spPr>
        <p:txBody>
          <a:bodyPr wrap="square" lIns="54864" tIns="27432" rIns="54864" bIns="27432" anchor="ctr">
            <a:spAutoFit/>
          </a:bodyPr>
          <a:lstStyle/>
          <a:p>
            <a:pPr algn="l">
              <a:lnSpc>
                <a:spcPct val="100000"/>
              </a:lnSpc>
            </a:pPr>
            <a:r>
              <a:rPr sz="750" b="0" i="0">
                <a:solidFill>
                  <a:srgbClr val="A1A1A1"/>
                </a:solidFill>
                <a:latin typeface="Arial"/>
              </a:rPr>
              <a:t>BC3 · mémoire 14.1.2, 14.1.5 · annexes B, H</a:t>
            </a:r>
          </a:p>
        </p:txBody>
      </p:sp>
      <p:sp>
        <p:nvSpPr>
          <p:cNvPr id="17" name="TextBox 16"/>
          <p:cNvSpPr txBox="1"/>
          <p:nvPr/>
        </p:nvSpPr>
        <p:spPr>
          <a:xfrm>
            <a:off x="457200" y="1188720"/>
            <a:ext cx="502920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app.dropicture.com  ·  LE SAAS, DERRIÈRE LE CLUSTER</a:t>
            </a:r>
          </a:p>
        </p:txBody>
      </p:sp>
      <p:sp>
        <p:nvSpPr>
          <p:cNvPr id="18" name="TextBox 17"/>
          <p:cNvSpPr txBox="1"/>
          <p:nvPr/>
        </p:nvSpPr>
        <p:spPr>
          <a:xfrm>
            <a:off x="5669280" y="1188720"/>
            <a:ext cx="301752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dropicture.com  ·  LE SITE PUBLIC, SANS SERVEUR</a:t>
            </a:r>
          </a:p>
        </p:txBody>
      </p:sp>
      <p:sp>
        <p:nvSpPr>
          <p:cNvPr id="19" name="Rounded Rectangle 18"/>
          <p:cNvSpPr/>
          <p:nvPr/>
        </p:nvSpPr>
        <p:spPr>
          <a:xfrm>
            <a:off x="457200" y="1408176"/>
            <a:ext cx="5029200" cy="365760"/>
          </a:xfrm>
          <a:prstGeom prst="roundRect">
            <a:avLst>
              <a:gd name="adj" fmla="val 15625"/>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1408176"/>
            <a:ext cx="5029200" cy="365760"/>
          </a:xfrm>
          <a:prstGeom prst="rect">
            <a:avLst/>
          </a:prstGeom>
          <a:noFill/>
        </p:spPr>
        <p:txBody>
          <a:bodyPr wrap="square" lIns="54864" tIns="27432" rIns="54864" bIns="27432" anchor="ctr">
            <a:spAutoFit/>
          </a:bodyPr>
          <a:lstStyle/>
          <a:p>
            <a:pPr algn="ctr">
              <a:lnSpc>
                <a:spcPct val="100000"/>
              </a:lnSpc>
            </a:pPr>
            <a:r>
              <a:rPr sz="950" b="1" i="0">
                <a:solidFill>
                  <a:srgbClr val="171717"/>
                </a:solidFill>
                <a:latin typeface="Arial"/>
              </a:rPr>
              <a:t>Cloudflare  ·  proxy activé, WAF, TLS strict</a:t>
            </a:r>
          </a:p>
        </p:txBody>
      </p:sp>
      <p:sp>
        <p:nvSpPr>
          <p:cNvPr id="21" name="Rounded Rectangle 20"/>
          <p:cNvSpPr/>
          <p:nvPr/>
        </p:nvSpPr>
        <p:spPr>
          <a:xfrm>
            <a:off x="5669280" y="1408176"/>
            <a:ext cx="3017520" cy="365760"/>
          </a:xfrm>
          <a:prstGeom prst="roundRect">
            <a:avLst>
              <a:gd name="adj" fmla="val 15625"/>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669280" y="1408176"/>
            <a:ext cx="3017520" cy="365760"/>
          </a:xfrm>
          <a:prstGeom prst="rect">
            <a:avLst/>
          </a:prstGeom>
          <a:noFill/>
        </p:spPr>
        <p:txBody>
          <a:bodyPr wrap="square" lIns="54864" tIns="27432" rIns="54864" bIns="27432" anchor="ctr">
            <a:spAutoFit/>
          </a:bodyPr>
          <a:lstStyle/>
          <a:p>
            <a:pPr algn="ctr">
              <a:lnSpc>
                <a:spcPct val="100000"/>
              </a:lnSpc>
            </a:pPr>
            <a:r>
              <a:rPr sz="900" b="1" i="0">
                <a:solidFill>
                  <a:srgbClr val="171717"/>
                </a:solidFill>
                <a:latin typeface="Arial"/>
              </a:rPr>
              <a:t>Cloudflare  ·  DNS seul, non proxifié</a:t>
            </a:r>
          </a:p>
        </p:txBody>
      </p:sp>
      <p:sp>
        <p:nvSpPr>
          <p:cNvPr id="23" name="Rounded Rectangle 22"/>
          <p:cNvSpPr/>
          <p:nvPr/>
        </p:nvSpPr>
        <p:spPr>
          <a:xfrm>
            <a:off x="457200" y="1901952"/>
            <a:ext cx="5029200" cy="365760"/>
          </a:xfrm>
          <a:prstGeom prst="roundRect">
            <a:avLst>
              <a:gd name="adj" fmla="val 15625"/>
            </a:avLst>
          </a:prstGeom>
          <a:solidFill>
            <a:srgbClr val="E5D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7200" y="1901952"/>
            <a:ext cx="5029200" cy="365760"/>
          </a:xfrm>
          <a:prstGeom prst="rect">
            <a:avLst/>
          </a:prstGeom>
          <a:noFill/>
        </p:spPr>
        <p:txBody>
          <a:bodyPr wrap="square" lIns="54864" tIns="27432" rIns="54864" bIns="27432" anchor="ctr">
            <a:spAutoFit/>
          </a:bodyPr>
          <a:lstStyle/>
          <a:p>
            <a:pPr algn="ctr">
              <a:lnSpc>
                <a:spcPct val="100000"/>
              </a:lnSpc>
            </a:pPr>
            <a:r>
              <a:rPr sz="950" b="1" i="0">
                <a:solidFill>
                  <a:srgbClr val="171717"/>
                </a:solidFill>
                <a:latin typeface="Arial"/>
              </a:rPr>
              <a:t>Traefik  ·  terminaison TLS, cluster Hetzner</a:t>
            </a:r>
          </a:p>
        </p:txBody>
      </p:sp>
      <p:sp>
        <p:nvSpPr>
          <p:cNvPr id="25" name="Rounded Rectangle 24"/>
          <p:cNvSpPr/>
          <p:nvPr/>
        </p:nvSpPr>
        <p:spPr>
          <a:xfrm>
            <a:off x="5669280" y="1901952"/>
            <a:ext cx="3017520" cy="365760"/>
          </a:xfrm>
          <a:prstGeom prst="roundRect">
            <a:avLst>
              <a:gd name="adj" fmla="val 15625"/>
            </a:avLst>
          </a:prstGeom>
          <a:solidFill>
            <a:srgbClr val="D3F9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669280" y="1901952"/>
            <a:ext cx="3017520" cy="365760"/>
          </a:xfrm>
          <a:prstGeom prst="rect">
            <a:avLst/>
          </a:prstGeom>
          <a:noFill/>
        </p:spPr>
        <p:txBody>
          <a:bodyPr wrap="square" lIns="54864" tIns="27432" rIns="54864" bIns="27432" anchor="ctr">
            <a:spAutoFit/>
          </a:bodyPr>
          <a:lstStyle/>
          <a:p>
            <a:pPr algn="ctr">
              <a:lnSpc>
                <a:spcPct val="100000"/>
              </a:lnSpc>
            </a:pPr>
            <a:r>
              <a:rPr sz="900" b="1" i="0">
                <a:solidFill>
                  <a:srgbClr val="171717"/>
                </a:solidFill>
                <a:latin typeface="Arial"/>
              </a:rPr>
              <a:t>CloudFront + WAF  ·  AWS eu-west-3</a:t>
            </a:r>
          </a:p>
        </p:txBody>
      </p:sp>
      <p:sp>
        <p:nvSpPr>
          <p:cNvPr id="27" name="Rounded Rectangle 26"/>
          <p:cNvSpPr/>
          <p:nvPr/>
        </p:nvSpPr>
        <p:spPr>
          <a:xfrm>
            <a:off x="457200" y="2395728"/>
            <a:ext cx="5029200" cy="420624"/>
          </a:xfrm>
          <a:prstGeom prst="roundRect">
            <a:avLst>
              <a:gd name="adj" fmla="val 13586"/>
            </a:avLst>
          </a:prstGeom>
          <a:solidFill>
            <a:srgbClr val="C3F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57200" y="2395728"/>
            <a:ext cx="5029200" cy="420624"/>
          </a:xfrm>
          <a:prstGeom prst="rect">
            <a:avLst/>
          </a:prstGeom>
          <a:noFill/>
        </p:spPr>
        <p:txBody>
          <a:bodyPr wrap="square" lIns="54864" tIns="27432" rIns="54864" bIns="27432" anchor="ctr">
            <a:spAutoFit/>
          </a:bodyPr>
          <a:lstStyle/>
          <a:p>
            <a:pPr algn="ctr">
              <a:lnSpc>
                <a:spcPct val="100000"/>
              </a:lnSpc>
            </a:pPr>
            <a:r>
              <a:rPr sz="950" b="1" i="0">
                <a:solidFill>
                  <a:srgbClr val="171717"/>
                </a:solidFill>
                <a:latin typeface="Arial"/>
              </a:rPr>
              <a:t>Frontend  ·  Next.js 16, rendu serveur</a:t>
            </a:r>
          </a:p>
        </p:txBody>
      </p:sp>
      <p:sp>
        <p:nvSpPr>
          <p:cNvPr id="29" name="Rounded Rectangle 28"/>
          <p:cNvSpPr/>
          <p:nvPr/>
        </p:nvSpPr>
        <p:spPr>
          <a:xfrm>
            <a:off x="5669280" y="2395728"/>
            <a:ext cx="3017520" cy="420624"/>
          </a:xfrm>
          <a:prstGeom prst="roundRect">
            <a:avLst>
              <a:gd name="adj" fmla="val 13586"/>
            </a:avLst>
          </a:prstGeom>
          <a:solidFill>
            <a:srgbClr val="E9F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669280" y="2395728"/>
            <a:ext cx="3017520" cy="420624"/>
          </a:xfrm>
          <a:prstGeom prst="rect">
            <a:avLst/>
          </a:prstGeom>
          <a:noFill/>
        </p:spPr>
        <p:txBody>
          <a:bodyPr wrap="square" lIns="54864" tIns="27432" rIns="54864" bIns="27432" anchor="ctr">
            <a:spAutoFit/>
          </a:bodyPr>
          <a:lstStyle/>
          <a:p>
            <a:pPr algn="ctr">
              <a:lnSpc>
                <a:spcPct val="100000"/>
              </a:lnSpc>
            </a:pPr>
            <a:r>
              <a:rPr sz="900" b="1" i="0">
                <a:solidFill>
                  <a:srgbClr val="171717"/>
                </a:solidFill>
                <a:latin typeface="Arial"/>
              </a:rPr>
              <a:t>S3  ·  export statique, aucun serveur</a:t>
            </a:r>
          </a:p>
        </p:txBody>
      </p:sp>
      <p:cxnSp>
        <p:nvCxnSpPr>
          <p:cNvPr id="31" name="Connector 30"/>
          <p:cNvCxnSpPr/>
          <p:nvPr/>
        </p:nvCxnSpPr>
        <p:spPr>
          <a:xfrm>
            <a:off x="2971800" y="1773936"/>
            <a:ext cx="0" cy="128016"/>
          </a:xfrm>
          <a:prstGeom prst="line">
            <a:avLst/>
          </a:prstGeom>
          <a:ln w="19050">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178040" y="1773936"/>
            <a:ext cx="0" cy="128016"/>
          </a:xfrm>
          <a:prstGeom prst="line">
            <a:avLst/>
          </a:prstGeom>
          <a:ln w="19050">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71800" y="2267712"/>
            <a:ext cx="0" cy="128016"/>
          </a:xfrm>
          <a:prstGeom prst="line">
            <a:avLst/>
          </a:prstGeom>
          <a:ln w="19050">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178040" y="2267712"/>
            <a:ext cx="0" cy="128016"/>
          </a:xfrm>
          <a:prstGeom prst="line">
            <a:avLst/>
          </a:prstGeom>
          <a:ln w="19050">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2971800" y="2816352"/>
            <a:ext cx="0" cy="128016"/>
          </a:xfrm>
          <a:prstGeom prst="line">
            <a:avLst/>
          </a:prstGeom>
          <a:ln w="19050">
            <a:solidFill>
              <a:srgbClr val="D4D4D4"/>
            </a:solidFill>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57200" y="2944368"/>
            <a:ext cx="5029200" cy="859536"/>
          </a:xfrm>
          <a:prstGeom prst="roundRect">
            <a:avLst>
              <a:gd name="adj" fmla="val 6648"/>
            </a:avLst>
          </a:prstGeom>
          <a:solidFill>
            <a:srgbClr val="D0E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57200" y="2980944"/>
            <a:ext cx="5029200" cy="219456"/>
          </a:xfrm>
          <a:prstGeom prst="rect">
            <a:avLst/>
          </a:prstGeom>
          <a:noFill/>
        </p:spPr>
        <p:txBody>
          <a:bodyPr wrap="square" lIns="54864" tIns="27432" rIns="54864" bIns="27432" anchor="t">
            <a:spAutoFit/>
          </a:bodyPr>
          <a:lstStyle/>
          <a:p>
            <a:pPr algn="ctr">
              <a:lnSpc>
                <a:spcPct val="100000"/>
              </a:lnSpc>
            </a:pPr>
            <a:r>
              <a:rPr sz="1000" b="1" i="0">
                <a:solidFill>
                  <a:srgbClr val="171717"/>
                </a:solidFill>
                <a:latin typeface="Arial"/>
              </a:rPr>
              <a:t>Backend API   ·   NestJS 11 sur Bun</a:t>
            </a:r>
          </a:p>
        </p:txBody>
      </p:sp>
      <p:sp>
        <p:nvSpPr>
          <p:cNvPr id="38" name="TextBox 37"/>
          <p:cNvSpPr txBox="1"/>
          <p:nvPr/>
        </p:nvSpPr>
        <p:spPr>
          <a:xfrm>
            <a:off x="457200" y="3191256"/>
            <a:ext cx="5029200" cy="182880"/>
          </a:xfrm>
          <a:prstGeom prst="rect">
            <a:avLst/>
          </a:prstGeom>
          <a:noFill/>
        </p:spPr>
        <p:txBody>
          <a:bodyPr wrap="square" lIns="54864" tIns="27432" rIns="54864" bIns="27432" anchor="t">
            <a:spAutoFit/>
          </a:bodyPr>
          <a:lstStyle/>
          <a:p>
            <a:pPr algn="ctr">
              <a:lnSpc>
                <a:spcPct val="100000"/>
              </a:lnSpc>
            </a:pPr>
            <a:r>
              <a:rPr sz="650" b="1" i="0" spc="104">
                <a:solidFill>
                  <a:srgbClr val="1C7ED6"/>
                </a:solidFill>
                <a:latin typeface="Arial"/>
              </a:rPr>
              <a:t>MONOLITHE MODULAIRE, 6 DOMAINES</a:t>
            </a:r>
          </a:p>
        </p:txBody>
      </p:sp>
      <p:sp>
        <p:nvSpPr>
          <p:cNvPr id="39" name="Rounded Rectangle 38"/>
          <p:cNvSpPr/>
          <p:nvPr/>
        </p:nvSpPr>
        <p:spPr>
          <a:xfrm>
            <a:off x="594360" y="3419856"/>
            <a:ext cx="746760" cy="237744"/>
          </a:xfrm>
          <a:prstGeom prst="roundRect">
            <a:avLst>
              <a:gd name="adj" fmla="val 1442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594360" y="3419856"/>
            <a:ext cx="746760" cy="237744"/>
          </a:xfrm>
          <a:prstGeom prst="rect">
            <a:avLst/>
          </a:prstGeom>
          <a:noFill/>
        </p:spPr>
        <p:txBody>
          <a:bodyPr wrap="square" lIns="54864" tIns="27432" rIns="54864" bIns="27432" anchor="ctr">
            <a:spAutoFit/>
          </a:bodyPr>
          <a:lstStyle/>
          <a:p>
            <a:pPr algn="ctr">
              <a:lnSpc>
                <a:spcPct val="100000"/>
              </a:lnSpc>
            </a:pPr>
            <a:r>
              <a:rPr sz="650" b="1" i="0">
                <a:solidFill>
                  <a:srgbClr val="171717"/>
                </a:solidFill>
                <a:latin typeface="Arial"/>
              </a:rPr>
              <a:t>auth</a:t>
            </a:r>
          </a:p>
        </p:txBody>
      </p:sp>
      <p:sp>
        <p:nvSpPr>
          <p:cNvPr id="41" name="Rounded Rectangle 40"/>
          <p:cNvSpPr/>
          <p:nvPr/>
        </p:nvSpPr>
        <p:spPr>
          <a:xfrm>
            <a:off x="1395984" y="3419856"/>
            <a:ext cx="746760" cy="237744"/>
          </a:xfrm>
          <a:prstGeom prst="roundRect">
            <a:avLst>
              <a:gd name="adj" fmla="val 1442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1395984" y="3419856"/>
            <a:ext cx="746760" cy="237744"/>
          </a:xfrm>
          <a:prstGeom prst="rect">
            <a:avLst/>
          </a:prstGeom>
          <a:noFill/>
        </p:spPr>
        <p:txBody>
          <a:bodyPr wrap="square" lIns="54864" tIns="27432" rIns="54864" bIns="27432" anchor="ctr">
            <a:spAutoFit/>
          </a:bodyPr>
          <a:lstStyle/>
          <a:p>
            <a:pPr algn="ctr">
              <a:lnSpc>
                <a:spcPct val="100000"/>
              </a:lnSpc>
            </a:pPr>
            <a:r>
              <a:rPr sz="650" b="1" i="0">
                <a:solidFill>
                  <a:srgbClr val="171717"/>
                </a:solidFill>
                <a:latin typeface="Arial"/>
              </a:rPr>
              <a:t>library</a:t>
            </a:r>
          </a:p>
        </p:txBody>
      </p:sp>
      <p:sp>
        <p:nvSpPr>
          <p:cNvPr id="43" name="Rounded Rectangle 42"/>
          <p:cNvSpPr/>
          <p:nvPr/>
        </p:nvSpPr>
        <p:spPr>
          <a:xfrm>
            <a:off x="2197608" y="3419856"/>
            <a:ext cx="746760" cy="237744"/>
          </a:xfrm>
          <a:prstGeom prst="roundRect">
            <a:avLst>
              <a:gd name="adj" fmla="val 1442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2197608" y="3419856"/>
            <a:ext cx="746760" cy="237744"/>
          </a:xfrm>
          <a:prstGeom prst="rect">
            <a:avLst/>
          </a:prstGeom>
          <a:noFill/>
        </p:spPr>
        <p:txBody>
          <a:bodyPr wrap="square" lIns="54864" tIns="27432" rIns="54864" bIns="27432" anchor="ctr">
            <a:spAutoFit/>
          </a:bodyPr>
          <a:lstStyle/>
          <a:p>
            <a:pPr algn="ctr">
              <a:lnSpc>
                <a:spcPct val="100000"/>
              </a:lnSpc>
            </a:pPr>
            <a:r>
              <a:rPr sz="650" b="1" i="0">
                <a:solidFill>
                  <a:srgbClr val="171717"/>
                </a:solidFill>
                <a:latin typeface="Arial"/>
              </a:rPr>
              <a:t>profile</a:t>
            </a:r>
          </a:p>
        </p:txBody>
      </p:sp>
      <p:sp>
        <p:nvSpPr>
          <p:cNvPr id="45" name="Rounded Rectangle 44"/>
          <p:cNvSpPr/>
          <p:nvPr/>
        </p:nvSpPr>
        <p:spPr>
          <a:xfrm>
            <a:off x="2999232" y="3419856"/>
            <a:ext cx="746760" cy="237744"/>
          </a:xfrm>
          <a:prstGeom prst="roundRect">
            <a:avLst>
              <a:gd name="adj" fmla="val 1442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2999232" y="3419856"/>
            <a:ext cx="746760" cy="237744"/>
          </a:xfrm>
          <a:prstGeom prst="rect">
            <a:avLst/>
          </a:prstGeom>
          <a:noFill/>
        </p:spPr>
        <p:txBody>
          <a:bodyPr wrap="square" lIns="54864" tIns="27432" rIns="54864" bIns="27432" anchor="ctr">
            <a:spAutoFit/>
          </a:bodyPr>
          <a:lstStyle/>
          <a:p>
            <a:pPr algn="ctr">
              <a:lnSpc>
                <a:spcPct val="100000"/>
              </a:lnSpc>
            </a:pPr>
            <a:r>
              <a:rPr sz="650" b="1" i="0">
                <a:solidFill>
                  <a:srgbClr val="171717"/>
                </a:solidFill>
                <a:latin typeface="Arial"/>
              </a:rPr>
              <a:t>discover</a:t>
            </a:r>
          </a:p>
        </p:txBody>
      </p:sp>
      <p:sp>
        <p:nvSpPr>
          <p:cNvPr id="47" name="Rounded Rectangle 46"/>
          <p:cNvSpPr/>
          <p:nvPr/>
        </p:nvSpPr>
        <p:spPr>
          <a:xfrm>
            <a:off x="3800856" y="3419856"/>
            <a:ext cx="746760" cy="237744"/>
          </a:xfrm>
          <a:prstGeom prst="roundRect">
            <a:avLst>
              <a:gd name="adj" fmla="val 1442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800856" y="3419856"/>
            <a:ext cx="746760" cy="237744"/>
          </a:xfrm>
          <a:prstGeom prst="rect">
            <a:avLst/>
          </a:prstGeom>
          <a:noFill/>
        </p:spPr>
        <p:txBody>
          <a:bodyPr wrap="square" lIns="54864" tIns="27432" rIns="54864" bIns="27432" anchor="ctr">
            <a:spAutoFit/>
          </a:bodyPr>
          <a:lstStyle/>
          <a:p>
            <a:pPr algn="ctr">
              <a:lnSpc>
                <a:spcPct val="100000"/>
              </a:lnSpc>
            </a:pPr>
            <a:r>
              <a:rPr sz="650" b="1" i="0">
                <a:solidFill>
                  <a:srgbClr val="171717"/>
                </a:solidFill>
                <a:latin typeface="Arial"/>
              </a:rPr>
              <a:t>settings</a:t>
            </a:r>
          </a:p>
        </p:txBody>
      </p:sp>
      <p:sp>
        <p:nvSpPr>
          <p:cNvPr id="49" name="Rounded Rectangle 48"/>
          <p:cNvSpPr/>
          <p:nvPr/>
        </p:nvSpPr>
        <p:spPr>
          <a:xfrm>
            <a:off x="4602480" y="3419856"/>
            <a:ext cx="746760" cy="237744"/>
          </a:xfrm>
          <a:prstGeom prst="roundRect">
            <a:avLst>
              <a:gd name="adj" fmla="val 1442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602480" y="3419856"/>
            <a:ext cx="746760" cy="237744"/>
          </a:xfrm>
          <a:prstGeom prst="rect">
            <a:avLst/>
          </a:prstGeom>
          <a:noFill/>
        </p:spPr>
        <p:txBody>
          <a:bodyPr wrap="square" lIns="54864" tIns="27432" rIns="54864" bIns="27432" anchor="ctr">
            <a:spAutoFit/>
          </a:bodyPr>
          <a:lstStyle/>
          <a:p>
            <a:pPr algn="ctr">
              <a:lnSpc>
                <a:spcPct val="100000"/>
              </a:lnSpc>
            </a:pPr>
            <a:r>
              <a:rPr sz="650" b="1" i="0">
                <a:solidFill>
                  <a:srgbClr val="171717"/>
                </a:solidFill>
                <a:latin typeface="Arial"/>
              </a:rPr>
              <a:t>public</a:t>
            </a:r>
          </a:p>
        </p:txBody>
      </p:sp>
      <p:sp>
        <p:nvSpPr>
          <p:cNvPr id="51" name="Rounded Rectangle 50"/>
          <p:cNvSpPr/>
          <p:nvPr/>
        </p:nvSpPr>
        <p:spPr>
          <a:xfrm>
            <a:off x="5669280" y="2944368"/>
            <a:ext cx="3017520" cy="859536"/>
          </a:xfrm>
          <a:prstGeom prst="roundRect">
            <a:avLst>
              <a:gd name="adj" fmla="val 6648"/>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5833872" y="2999232"/>
            <a:ext cx="2688336" cy="749808"/>
          </a:xfrm>
          <a:prstGeom prst="rect">
            <a:avLst/>
          </a:prstGeom>
          <a:noFill/>
        </p:spPr>
        <p:txBody>
          <a:bodyPr wrap="square" lIns="54864" tIns="27432" rIns="54864" bIns="27432" anchor="t">
            <a:spAutoFit/>
          </a:bodyPr>
          <a:lstStyle/>
          <a:p>
            <a:pPr algn="l">
              <a:lnSpc>
                <a:spcPct val="110000"/>
              </a:lnSpc>
            </a:pPr>
            <a:r>
              <a:rPr sz="850" b="0" i="0">
                <a:solidFill>
                  <a:srgbClr val="666666"/>
                </a:solidFill>
                <a:latin typeface="Arial"/>
              </a:rPr>
              <a:t>Le profil public est rendu par le navigateur du visiteur, qui appelle /api/public sur le backend.</a:t>
            </a:r>
          </a:p>
        </p:txBody>
      </p:sp>
      <p:sp>
        <p:nvSpPr>
          <p:cNvPr id="53" name="Left Arrow 52"/>
          <p:cNvSpPr/>
          <p:nvPr/>
        </p:nvSpPr>
        <p:spPr>
          <a:xfrm>
            <a:off x="5504688" y="3310128"/>
            <a:ext cx="146304" cy="128016"/>
          </a:xfrm>
          <a:prstGeom prst="lef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4" name="Connector 53"/>
          <p:cNvCxnSpPr/>
          <p:nvPr/>
        </p:nvCxnSpPr>
        <p:spPr>
          <a:xfrm>
            <a:off x="2971800" y="3803904"/>
            <a:ext cx="0" cy="109728"/>
          </a:xfrm>
          <a:prstGeom prst="line">
            <a:avLst/>
          </a:prstGeom>
          <a:ln w="19050">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764792" y="3913632"/>
            <a:ext cx="5614416" cy="0"/>
          </a:xfrm>
          <a:prstGeom prst="line">
            <a:avLst/>
          </a:prstGeom>
          <a:ln w="19050">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767840" y="3913632"/>
            <a:ext cx="0" cy="91440"/>
          </a:xfrm>
          <a:prstGeom prst="line">
            <a:avLst/>
          </a:prstGeom>
          <a:ln w="19050">
            <a:solidFill>
              <a:srgbClr val="D4D4D4"/>
            </a:solidFill>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457200" y="4005072"/>
            <a:ext cx="2621280" cy="457200"/>
          </a:xfrm>
          <a:prstGeom prst="roundRect">
            <a:avLst>
              <a:gd name="adj" fmla="val 12500"/>
            </a:avLst>
          </a:prstGeom>
          <a:solidFill>
            <a:srgbClr val="C3F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57200" y="4032504"/>
            <a:ext cx="2621280" cy="201168"/>
          </a:xfrm>
          <a:prstGeom prst="rect">
            <a:avLst/>
          </a:prstGeom>
          <a:noFill/>
        </p:spPr>
        <p:txBody>
          <a:bodyPr wrap="square" lIns="54864" tIns="27432" rIns="54864" bIns="27432" anchor="t">
            <a:spAutoFit/>
          </a:bodyPr>
          <a:lstStyle/>
          <a:p>
            <a:pPr algn="ctr">
              <a:lnSpc>
                <a:spcPct val="100000"/>
              </a:lnSpc>
            </a:pPr>
            <a:r>
              <a:rPr sz="950" b="1" i="0">
                <a:solidFill>
                  <a:srgbClr val="171717"/>
                </a:solidFill>
                <a:latin typeface="Arial"/>
              </a:rPr>
              <a:t>PostgreSQL</a:t>
            </a:r>
          </a:p>
        </p:txBody>
      </p:sp>
      <p:sp>
        <p:nvSpPr>
          <p:cNvPr id="59" name="TextBox 58"/>
          <p:cNvSpPr txBox="1"/>
          <p:nvPr/>
        </p:nvSpPr>
        <p:spPr>
          <a:xfrm>
            <a:off x="457200" y="4224528"/>
            <a:ext cx="2621280" cy="201168"/>
          </a:xfrm>
          <a:prstGeom prst="rect">
            <a:avLst/>
          </a:prstGeom>
          <a:noFill/>
        </p:spPr>
        <p:txBody>
          <a:bodyPr wrap="square" lIns="54864" tIns="27432" rIns="54864" bIns="27432" anchor="t">
            <a:spAutoFit/>
          </a:bodyPr>
          <a:lstStyle/>
          <a:p>
            <a:pPr algn="ctr">
              <a:lnSpc>
                <a:spcPct val="100000"/>
              </a:lnSpc>
            </a:pPr>
            <a:r>
              <a:rPr sz="800" b="0" i="0">
                <a:solidFill>
                  <a:srgbClr val="666666"/>
                </a:solidFill>
                <a:latin typeface="Arial"/>
              </a:rPr>
              <a:t>5 tables</a:t>
            </a:r>
          </a:p>
        </p:txBody>
      </p:sp>
      <p:cxnSp>
        <p:nvCxnSpPr>
          <p:cNvPr id="60" name="Connector 59"/>
          <p:cNvCxnSpPr/>
          <p:nvPr/>
        </p:nvCxnSpPr>
        <p:spPr>
          <a:xfrm>
            <a:off x="4572000" y="3913632"/>
            <a:ext cx="0" cy="91440"/>
          </a:xfrm>
          <a:prstGeom prst="line">
            <a:avLst/>
          </a:prstGeom>
          <a:ln w="19050">
            <a:solidFill>
              <a:srgbClr val="D4D4D4"/>
            </a:solidFill>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3261360" y="4005072"/>
            <a:ext cx="2621280" cy="457200"/>
          </a:xfrm>
          <a:prstGeom prst="roundRect">
            <a:avLst>
              <a:gd name="adj" fmla="val 12500"/>
            </a:avLst>
          </a:prstGeom>
          <a:solidFill>
            <a:srgbClr val="C3F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3261360" y="4032504"/>
            <a:ext cx="2621280" cy="201168"/>
          </a:xfrm>
          <a:prstGeom prst="rect">
            <a:avLst/>
          </a:prstGeom>
          <a:noFill/>
        </p:spPr>
        <p:txBody>
          <a:bodyPr wrap="square" lIns="54864" tIns="27432" rIns="54864" bIns="27432" anchor="t">
            <a:spAutoFit/>
          </a:bodyPr>
          <a:lstStyle/>
          <a:p>
            <a:pPr algn="ctr">
              <a:lnSpc>
                <a:spcPct val="100000"/>
              </a:lnSpc>
            </a:pPr>
            <a:r>
              <a:rPr sz="950" b="1" i="0">
                <a:solidFill>
                  <a:srgbClr val="171717"/>
                </a:solidFill>
                <a:latin typeface="Arial"/>
              </a:rPr>
              <a:t>Redis</a:t>
            </a:r>
          </a:p>
        </p:txBody>
      </p:sp>
      <p:sp>
        <p:nvSpPr>
          <p:cNvPr id="63" name="TextBox 62"/>
          <p:cNvSpPr txBox="1"/>
          <p:nvPr/>
        </p:nvSpPr>
        <p:spPr>
          <a:xfrm>
            <a:off x="3261360" y="4224528"/>
            <a:ext cx="2621280" cy="201168"/>
          </a:xfrm>
          <a:prstGeom prst="rect">
            <a:avLst/>
          </a:prstGeom>
          <a:noFill/>
        </p:spPr>
        <p:txBody>
          <a:bodyPr wrap="square" lIns="54864" tIns="27432" rIns="54864" bIns="27432" anchor="t">
            <a:spAutoFit/>
          </a:bodyPr>
          <a:lstStyle/>
          <a:p>
            <a:pPr algn="ctr">
              <a:lnSpc>
                <a:spcPct val="100000"/>
              </a:lnSpc>
            </a:pPr>
            <a:r>
              <a:rPr sz="800" b="0" i="0">
                <a:solidFill>
                  <a:srgbClr val="666666"/>
                </a:solidFill>
                <a:latin typeface="Arial"/>
              </a:rPr>
              <a:t>sessions, limitation de débit</a:t>
            </a:r>
          </a:p>
        </p:txBody>
      </p:sp>
      <p:cxnSp>
        <p:nvCxnSpPr>
          <p:cNvPr id="64" name="Connector 63"/>
          <p:cNvCxnSpPr/>
          <p:nvPr/>
        </p:nvCxnSpPr>
        <p:spPr>
          <a:xfrm>
            <a:off x="7376160" y="3913632"/>
            <a:ext cx="0" cy="91440"/>
          </a:xfrm>
          <a:prstGeom prst="line">
            <a:avLst/>
          </a:prstGeom>
          <a:ln w="19050">
            <a:solidFill>
              <a:srgbClr val="D4D4D4"/>
            </a:solidFill>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6065520" y="4005072"/>
            <a:ext cx="2621280" cy="457200"/>
          </a:xfrm>
          <a:prstGeom prst="roundRect">
            <a:avLst>
              <a:gd name="adj" fmla="val 12500"/>
            </a:avLst>
          </a:prstGeom>
          <a:solidFill>
            <a:srgbClr val="D3F9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6065520" y="4032504"/>
            <a:ext cx="2621280" cy="201168"/>
          </a:xfrm>
          <a:prstGeom prst="rect">
            <a:avLst/>
          </a:prstGeom>
          <a:noFill/>
        </p:spPr>
        <p:txBody>
          <a:bodyPr wrap="square" lIns="54864" tIns="27432" rIns="54864" bIns="27432" anchor="t">
            <a:spAutoFit/>
          </a:bodyPr>
          <a:lstStyle/>
          <a:p>
            <a:pPr algn="ctr">
              <a:lnSpc>
                <a:spcPct val="100000"/>
              </a:lnSpc>
            </a:pPr>
            <a:r>
              <a:rPr sz="950" b="1" i="0">
                <a:solidFill>
                  <a:srgbClr val="171717"/>
                </a:solidFill>
                <a:latin typeface="Arial"/>
              </a:rPr>
              <a:t>S3 · CloudFront</a:t>
            </a:r>
          </a:p>
        </p:txBody>
      </p:sp>
      <p:sp>
        <p:nvSpPr>
          <p:cNvPr id="67" name="TextBox 66"/>
          <p:cNvSpPr txBox="1"/>
          <p:nvPr/>
        </p:nvSpPr>
        <p:spPr>
          <a:xfrm>
            <a:off x="6065520" y="4224528"/>
            <a:ext cx="2621280" cy="201168"/>
          </a:xfrm>
          <a:prstGeom prst="rect">
            <a:avLst/>
          </a:prstGeom>
          <a:noFill/>
        </p:spPr>
        <p:txBody>
          <a:bodyPr wrap="square" lIns="54864" tIns="27432" rIns="54864" bIns="27432" anchor="t">
            <a:spAutoFit/>
          </a:bodyPr>
          <a:lstStyle/>
          <a:p>
            <a:pPr algn="ctr">
              <a:lnSpc>
                <a:spcPct val="100000"/>
              </a:lnSpc>
            </a:pPr>
            <a:r>
              <a:rPr sz="800" b="0" i="0">
                <a:solidFill>
                  <a:srgbClr val="666666"/>
                </a:solidFill>
                <a:latin typeface="Arial"/>
              </a:rPr>
              <a:t>cdn.dropicture.com, URL signées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0" y="0"/>
            <a:ext cx="1524000" cy="41148"/>
          </a:xfrm>
          <a:prstGeom prst="rect">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269480"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10144"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lIns="54864" tIns="27432" rIns="54864" bIns="27432" anchor="t">
            <a:spAutoFit/>
          </a:bodyPr>
          <a:lstStyle/>
          <a:p>
            <a:pPr algn="l">
              <a:lnSpc>
                <a:spcPct val="100000"/>
              </a:lnSpc>
            </a:pPr>
            <a:r>
              <a:rPr sz="750" b="1" i="0" spc="120">
                <a:solidFill>
                  <a:srgbClr val="C2255C"/>
                </a:solidFill>
                <a:latin typeface="Arial"/>
              </a:rPr>
              <a:t>4 · CONCEPTION ET DÉVELOPPEMENT</a:t>
            </a:r>
          </a:p>
        </p:txBody>
      </p:sp>
      <p:sp>
        <p:nvSpPr>
          <p:cNvPr id="11" name="TextBox 10"/>
          <p:cNvSpPr txBox="1"/>
          <p:nvPr/>
        </p:nvSpPr>
        <p:spPr>
          <a:xfrm>
            <a:off x="457200" y="493776"/>
            <a:ext cx="6720840" cy="566928"/>
          </a:xfrm>
          <a:prstGeom prst="rect">
            <a:avLst/>
          </a:prstGeom>
          <a:noFill/>
        </p:spPr>
        <p:txBody>
          <a:bodyPr wrap="square" lIns="54864" tIns="27432" rIns="54864" bIns="27432" anchor="t">
            <a:spAutoFit/>
          </a:bodyPr>
          <a:lstStyle/>
          <a:p>
            <a:pPr algn="l">
              <a:lnSpc>
                <a:spcPct val="100000"/>
              </a:lnSpc>
            </a:pPr>
            <a:r>
              <a:rPr sz="2400" b="1" i="0" spc="-84">
                <a:solidFill>
                  <a:srgbClr val="171717"/>
                </a:solidFill>
                <a:latin typeface="Arial"/>
              </a:rPr>
              <a:t>Processus métier et patterns</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26679" y="4832604"/>
            <a:ext cx="1143000" cy="237744"/>
          </a:xfrm>
          <a:prstGeom prst="rect">
            <a:avLst/>
          </a:prstGeom>
          <a:noFill/>
        </p:spPr>
        <p:txBody>
          <a:bodyPr wrap="square" lIns="54864" tIns="27432" rIns="54864" bIns="27432" anchor="t">
            <a:spAutoFit/>
          </a:bodyPr>
          <a:lstStyle/>
          <a:p>
            <a:pPr algn="r">
              <a:lnSpc>
                <a:spcPct val="100000"/>
              </a:lnSpc>
            </a:pPr>
            <a:r>
              <a:rPr sz="800" b="0" i="0">
                <a:solidFill>
                  <a:srgbClr val="A1A1A1"/>
                </a:solidFill>
                <a:latin typeface="Arial"/>
              </a:rPr>
              <a:t>17 / 31</a:t>
            </a:r>
          </a:p>
        </p:txBody>
      </p:sp>
      <p:sp>
        <p:nvSpPr>
          <p:cNvPr id="14" name="Rounded Rectangle 13"/>
          <p:cNvSpPr/>
          <p:nvPr/>
        </p:nvSpPr>
        <p:spPr>
          <a:xfrm>
            <a:off x="457200" y="4818888"/>
            <a:ext cx="1051560" cy="228600"/>
          </a:xfrm>
          <a:prstGeom prst="roundRect">
            <a:avLst>
              <a:gd name="adj" fmla="val 25000"/>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4818888"/>
            <a:ext cx="1051560" cy="228600"/>
          </a:xfrm>
          <a:prstGeom prst="rect">
            <a:avLst/>
          </a:prstGeom>
          <a:noFill/>
        </p:spPr>
        <p:txBody>
          <a:bodyPr wrap="square" lIns="54864" tIns="27432" rIns="54864" bIns="27432" anchor="ctr">
            <a:spAutoFit/>
          </a:bodyPr>
          <a:lstStyle/>
          <a:p>
            <a:pPr algn="ctr">
              <a:lnSpc>
                <a:spcPct val="100000"/>
              </a:lnSpc>
            </a:pPr>
            <a:r>
              <a:rPr sz="750" b="1" i="0">
                <a:solidFill>
                  <a:srgbClr val="FFFFFF"/>
                </a:solidFill>
                <a:latin typeface="Arial"/>
              </a:rPr>
              <a:t>Réf.  C22 · C24</a:t>
            </a:r>
          </a:p>
        </p:txBody>
      </p:sp>
      <p:sp>
        <p:nvSpPr>
          <p:cNvPr id="16" name="TextBox 15"/>
          <p:cNvSpPr txBox="1"/>
          <p:nvPr/>
        </p:nvSpPr>
        <p:spPr>
          <a:xfrm>
            <a:off x="1600200" y="4818888"/>
            <a:ext cx="5486400" cy="228600"/>
          </a:xfrm>
          <a:prstGeom prst="rect">
            <a:avLst/>
          </a:prstGeom>
          <a:noFill/>
        </p:spPr>
        <p:txBody>
          <a:bodyPr wrap="square" lIns="54864" tIns="27432" rIns="54864" bIns="27432" anchor="ctr">
            <a:spAutoFit/>
          </a:bodyPr>
          <a:lstStyle/>
          <a:p>
            <a:pPr algn="l">
              <a:lnSpc>
                <a:spcPct val="100000"/>
              </a:lnSpc>
            </a:pPr>
            <a:r>
              <a:rPr sz="750" b="0" i="0">
                <a:solidFill>
                  <a:srgbClr val="A1A1A1"/>
                </a:solidFill>
                <a:latin typeface="Arial"/>
              </a:rPr>
              <a:t>BC3 · mémoire 14.1.3 · annexes G, H, I.1 à I.3</a:t>
            </a:r>
          </a:p>
        </p:txBody>
      </p:sp>
      <p:sp>
        <p:nvSpPr>
          <p:cNvPr id="17" name="TextBox 16"/>
          <p:cNvSpPr txBox="1"/>
          <p:nvPr/>
        </p:nvSpPr>
        <p:spPr>
          <a:xfrm>
            <a:off x="457200" y="1225296"/>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TÉLÉVERSEMENT D’UN MÉDIA, DU CLIC AU STOCKAGE</a:t>
            </a:r>
          </a:p>
        </p:txBody>
      </p:sp>
      <p:sp>
        <p:nvSpPr>
          <p:cNvPr id="18" name="Rounded Rectangle 17"/>
          <p:cNvSpPr/>
          <p:nvPr/>
        </p:nvSpPr>
        <p:spPr>
          <a:xfrm>
            <a:off x="457200" y="1463040"/>
            <a:ext cx="1554480" cy="365760"/>
          </a:xfrm>
          <a:prstGeom prst="roundRect">
            <a:avLst>
              <a:gd name="adj" fmla="val 15625"/>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200" y="1463040"/>
            <a:ext cx="1554480" cy="365760"/>
          </a:xfrm>
          <a:prstGeom prst="rect">
            <a:avLst/>
          </a:prstGeom>
          <a:noFill/>
        </p:spPr>
        <p:txBody>
          <a:bodyPr wrap="square" lIns="54864" tIns="27432" rIns="54864" bIns="27432" anchor="ctr">
            <a:spAutoFit/>
          </a:bodyPr>
          <a:lstStyle/>
          <a:p>
            <a:pPr algn="ctr">
              <a:lnSpc>
                <a:spcPct val="100000"/>
              </a:lnSpc>
            </a:pPr>
            <a:r>
              <a:rPr sz="950" b="1" i="0">
                <a:solidFill>
                  <a:srgbClr val="171717"/>
                </a:solidFill>
                <a:latin typeface="Arial"/>
              </a:rPr>
              <a:t>Membre</a:t>
            </a:r>
          </a:p>
        </p:txBody>
      </p:sp>
      <p:cxnSp>
        <p:nvCxnSpPr>
          <p:cNvPr id="20" name="Connector 19"/>
          <p:cNvCxnSpPr/>
          <p:nvPr/>
        </p:nvCxnSpPr>
        <p:spPr>
          <a:xfrm>
            <a:off x="1234440" y="1828800"/>
            <a:ext cx="0" cy="1810512"/>
          </a:xfrm>
          <a:prstGeom prst="line">
            <a:avLst/>
          </a:prstGeom>
          <a:ln w="12700">
            <a:solidFill>
              <a:srgbClr val="EAEAEA"/>
            </a:solidFill>
            <a:prstDash val="dash"/>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2103120" y="1463040"/>
            <a:ext cx="1554480" cy="365760"/>
          </a:xfrm>
          <a:prstGeom prst="roundRect">
            <a:avLst>
              <a:gd name="adj" fmla="val 15625"/>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103120" y="1463040"/>
            <a:ext cx="1554480" cy="365760"/>
          </a:xfrm>
          <a:prstGeom prst="rect">
            <a:avLst/>
          </a:prstGeom>
          <a:noFill/>
        </p:spPr>
        <p:txBody>
          <a:bodyPr wrap="square" lIns="54864" tIns="27432" rIns="54864" bIns="27432" anchor="ctr">
            <a:spAutoFit/>
          </a:bodyPr>
          <a:lstStyle/>
          <a:p>
            <a:pPr algn="ctr">
              <a:lnSpc>
                <a:spcPct val="100000"/>
              </a:lnSpc>
            </a:pPr>
            <a:r>
              <a:rPr sz="950" b="1" i="0">
                <a:solidFill>
                  <a:srgbClr val="171717"/>
                </a:solidFill>
                <a:latin typeface="Arial"/>
              </a:rPr>
              <a:t>Frontend</a:t>
            </a:r>
          </a:p>
        </p:txBody>
      </p:sp>
      <p:cxnSp>
        <p:nvCxnSpPr>
          <p:cNvPr id="23" name="Connector 22"/>
          <p:cNvCxnSpPr/>
          <p:nvPr/>
        </p:nvCxnSpPr>
        <p:spPr>
          <a:xfrm>
            <a:off x="2880360" y="1828800"/>
            <a:ext cx="0" cy="1810512"/>
          </a:xfrm>
          <a:prstGeom prst="line">
            <a:avLst/>
          </a:prstGeom>
          <a:ln w="12700">
            <a:solidFill>
              <a:srgbClr val="EAEAEA"/>
            </a:solidFill>
            <a:prstDash val="dash"/>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49039" y="1463040"/>
            <a:ext cx="1554480" cy="365760"/>
          </a:xfrm>
          <a:prstGeom prst="roundRect">
            <a:avLst>
              <a:gd name="adj" fmla="val 15625"/>
            </a:avLst>
          </a:prstGeom>
          <a:solidFill>
            <a:srgbClr val="D0E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749039" y="1463040"/>
            <a:ext cx="1554480" cy="365760"/>
          </a:xfrm>
          <a:prstGeom prst="rect">
            <a:avLst/>
          </a:prstGeom>
          <a:noFill/>
        </p:spPr>
        <p:txBody>
          <a:bodyPr wrap="square" lIns="54864" tIns="27432" rIns="54864" bIns="27432" anchor="ctr">
            <a:spAutoFit/>
          </a:bodyPr>
          <a:lstStyle/>
          <a:p>
            <a:pPr algn="ctr">
              <a:lnSpc>
                <a:spcPct val="100000"/>
              </a:lnSpc>
            </a:pPr>
            <a:r>
              <a:rPr sz="950" b="1" i="0">
                <a:solidFill>
                  <a:srgbClr val="171717"/>
                </a:solidFill>
                <a:latin typeface="Arial"/>
              </a:rPr>
              <a:t>API NestJS</a:t>
            </a:r>
          </a:p>
        </p:txBody>
      </p:sp>
      <p:cxnSp>
        <p:nvCxnSpPr>
          <p:cNvPr id="26" name="Connector 25"/>
          <p:cNvCxnSpPr/>
          <p:nvPr/>
        </p:nvCxnSpPr>
        <p:spPr>
          <a:xfrm>
            <a:off x="4526279" y="1828800"/>
            <a:ext cx="0" cy="1810512"/>
          </a:xfrm>
          <a:prstGeom prst="line">
            <a:avLst/>
          </a:prstGeom>
          <a:ln w="12700">
            <a:solidFill>
              <a:srgbClr val="EAEAEA"/>
            </a:solidFill>
            <a:prstDash val="dash"/>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394960" y="1463040"/>
            <a:ext cx="1554480" cy="365760"/>
          </a:xfrm>
          <a:prstGeom prst="roundRect">
            <a:avLst>
              <a:gd name="adj" fmla="val 15625"/>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394960" y="1463040"/>
            <a:ext cx="1554480" cy="365760"/>
          </a:xfrm>
          <a:prstGeom prst="rect">
            <a:avLst/>
          </a:prstGeom>
          <a:noFill/>
        </p:spPr>
        <p:txBody>
          <a:bodyPr wrap="square" lIns="54864" tIns="27432" rIns="54864" bIns="27432" anchor="ctr">
            <a:spAutoFit/>
          </a:bodyPr>
          <a:lstStyle/>
          <a:p>
            <a:pPr algn="ctr">
              <a:lnSpc>
                <a:spcPct val="100000"/>
              </a:lnSpc>
            </a:pPr>
            <a:r>
              <a:rPr sz="950" b="1" i="0">
                <a:solidFill>
                  <a:srgbClr val="171717"/>
                </a:solidFill>
                <a:latin typeface="Arial"/>
              </a:rPr>
              <a:t>PostgreSQL</a:t>
            </a:r>
          </a:p>
        </p:txBody>
      </p:sp>
      <p:cxnSp>
        <p:nvCxnSpPr>
          <p:cNvPr id="29" name="Connector 28"/>
          <p:cNvCxnSpPr/>
          <p:nvPr/>
        </p:nvCxnSpPr>
        <p:spPr>
          <a:xfrm>
            <a:off x="6172200" y="1828800"/>
            <a:ext cx="0" cy="1810512"/>
          </a:xfrm>
          <a:prstGeom prst="line">
            <a:avLst/>
          </a:prstGeom>
          <a:ln w="12700">
            <a:solidFill>
              <a:srgbClr val="EAEAEA"/>
            </a:solidFill>
            <a:prstDash val="dash"/>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040880" y="1463040"/>
            <a:ext cx="1554480" cy="365760"/>
          </a:xfrm>
          <a:prstGeom prst="roundRect">
            <a:avLst>
              <a:gd name="adj" fmla="val 15625"/>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040880" y="1463040"/>
            <a:ext cx="1554480" cy="365760"/>
          </a:xfrm>
          <a:prstGeom prst="rect">
            <a:avLst/>
          </a:prstGeom>
          <a:noFill/>
        </p:spPr>
        <p:txBody>
          <a:bodyPr wrap="square" lIns="54864" tIns="27432" rIns="54864" bIns="27432" anchor="ctr">
            <a:spAutoFit/>
          </a:bodyPr>
          <a:lstStyle/>
          <a:p>
            <a:pPr algn="ctr">
              <a:lnSpc>
                <a:spcPct val="100000"/>
              </a:lnSpc>
            </a:pPr>
            <a:r>
              <a:rPr sz="950" b="1" i="0">
                <a:solidFill>
                  <a:srgbClr val="171717"/>
                </a:solidFill>
                <a:latin typeface="Arial"/>
              </a:rPr>
              <a:t>Stockage S3</a:t>
            </a:r>
          </a:p>
        </p:txBody>
      </p:sp>
      <p:cxnSp>
        <p:nvCxnSpPr>
          <p:cNvPr id="32" name="Connector 31"/>
          <p:cNvCxnSpPr/>
          <p:nvPr/>
        </p:nvCxnSpPr>
        <p:spPr>
          <a:xfrm>
            <a:off x="7818120" y="1828800"/>
            <a:ext cx="0" cy="1810512"/>
          </a:xfrm>
          <a:prstGeom prst="line">
            <a:avLst/>
          </a:prstGeom>
          <a:ln w="12700">
            <a:solidFill>
              <a:srgbClr val="EAEAEA"/>
            </a:solidFill>
            <a:prstDash val="dash"/>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1234440" y="2028139"/>
            <a:ext cx="1517903" cy="20116"/>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ight Arrow 33"/>
          <p:cNvSpPr/>
          <p:nvPr/>
        </p:nvSpPr>
        <p:spPr>
          <a:xfrm>
            <a:off x="2752344" y="1975104"/>
            <a:ext cx="128016" cy="128016"/>
          </a:xfrm>
          <a:prstGeom prst="rightArrow">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1234440" y="1737360"/>
            <a:ext cx="1645919" cy="201168"/>
          </a:xfrm>
          <a:prstGeom prst="rect">
            <a:avLst/>
          </a:prstGeom>
          <a:noFill/>
        </p:spPr>
        <p:txBody>
          <a:bodyPr wrap="square" lIns="54864" tIns="27432" rIns="54864" bIns="27432" anchor="t">
            <a:spAutoFit/>
          </a:bodyPr>
          <a:lstStyle/>
          <a:p>
            <a:pPr algn="ctr">
              <a:lnSpc>
                <a:spcPct val="100000"/>
              </a:lnSpc>
            </a:pPr>
            <a:r>
              <a:rPr sz="850" b="0" i="0">
                <a:solidFill>
                  <a:srgbClr val="666666"/>
                </a:solidFill>
                <a:latin typeface="Arial"/>
              </a:rPr>
              <a:t>sélectionne un fichier</a:t>
            </a:r>
          </a:p>
        </p:txBody>
      </p:sp>
      <p:sp>
        <p:nvSpPr>
          <p:cNvPr id="36" name="Rectangle 35"/>
          <p:cNvSpPr/>
          <p:nvPr/>
        </p:nvSpPr>
        <p:spPr>
          <a:xfrm>
            <a:off x="2880360" y="2357323"/>
            <a:ext cx="1517903" cy="20116"/>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ight Arrow 36"/>
          <p:cNvSpPr/>
          <p:nvPr/>
        </p:nvSpPr>
        <p:spPr>
          <a:xfrm>
            <a:off x="4398264" y="2304288"/>
            <a:ext cx="128016" cy="128016"/>
          </a:xfrm>
          <a:prstGeom prst="rightArrow">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2880360" y="2066543"/>
            <a:ext cx="1645919" cy="201168"/>
          </a:xfrm>
          <a:prstGeom prst="rect">
            <a:avLst/>
          </a:prstGeom>
          <a:noFill/>
        </p:spPr>
        <p:txBody>
          <a:bodyPr wrap="square" lIns="54864" tIns="27432" rIns="54864" bIns="27432" anchor="t">
            <a:spAutoFit/>
          </a:bodyPr>
          <a:lstStyle/>
          <a:p>
            <a:pPr algn="ctr">
              <a:lnSpc>
                <a:spcPct val="100000"/>
              </a:lnSpc>
            </a:pPr>
            <a:r>
              <a:rPr sz="850" b="0" i="0">
                <a:solidFill>
                  <a:srgbClr val="666666"/>
                </a:solidFill>
                <a:latin typeface="Arial"/>
              </a:rPr>
              <a:t>POST /library/media   ·   multipart</a:t>
            </a:r>
          </a:p>
        </p:txBody>
      </p:sp>
      <p:sp>
        <p:nvSpPr>
          <p:cNvPr id="39" name="Rectangle 38"/>
          <p:cNvSpPr/>
          <p:nvPr/>
        </p:nvSpPr>
        <p:spPr>
          <a:xfrm>
            <a:off x="4526279" y="2814523"/>
            <a:ext cx="3163824" cy="20116"/>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ight Arrow 39"/>
          <p:cNvSpPr/>
          <p:nvPr/>
        </p:nvSpPr>
        <p:spPr>
          <a:xfrm>
            <a:off x="7690104" y="2761488"/>
            <a:ext cx="128016" cy="128016"/>
          </a:xfrm>
          <a:prstGeom prst="rightArrow">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526279" y="2523744"/>
            <a:ext cx="3291840" cy="201168"/>
          </a:xfrm>
          <a:prstGeom prst="rect">
            <a:avLst/>
          </a:prstGeom>
          <a:noFill/>
        </p:spPr>
        <p:txBody>
          <a:bodyPr wrap="square" lIns="54864" tIns="27432" rIns="54864" bIns="27432" anchor="t">
            <a:spAutoFit/>
          </a:bodyPr>
          <a:lstStyle/>
          <a:p>
            <a:pPr algn="ctr">
              <a:lnSpc>
                <a:spcPct val="100000"/>
              </a:lnSpc>
            </a:pPr>
            <a:r>
              <a:rPr sz="850" b="0" i="0">
                <a:solidFill>
                  <a:srgbClr val="666666"/>
                </a:solidFill>
                <a:latin typeface="Arial"/>
              </a:rPr>
              <a:t>flux borné en mémoire, objet privé</a:t>
            </a:r>
          </a:p>
        </p:txBody>
      </p:sp>
      <p:sp>
        <p:nvSpPr>
          <p:cNvPr id="42" name="Rectangle 41"/>
          <p:cNvSpPr/>
          <p:nvPr/>
        </p:nvSpPr>
        <p:spPr>
          <a:xfrm>
            <a:off x="4526279" y="3143707"/>
            <a:ext cx="1517904" cy="20116"/>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ight Arrow 42"/>
          <p:cNvSpPr/>
          <p:nvPr/>
        </p:nvSpPr>
        <p:spPr>
          <a:xfrm>
            <a:off x="6044184" y="3090672"/>
            <a:ext cx="128016" cy="128016"/>
          </a:xfrm>
          <a:prstGeom prst="rightArrow">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4526279" y="2852928"/>
            <a:ext cx="1645920" cy="201168"/>
          </a:xfrm>
          <a:prstGeom prst="rect">
            <a:avLst/>
          </a:prstGeom>
          <a:noFill/>
        </p:spPr>
        <p:txBody>
          <a:bodyPr wrap="square" lIns="54864" tIns="27432" rIns="54864" bIns="27432" anchor="t">
            <a:spAutoFit/>
          </a:bodyPr>
          <a:lstStyle/>
          <a:p>
            <a:pPr algn="ctr">
              <a:lnSpc>
                <a:spcPct val="100000"/>
              </a:lnSpc>
            </a:pPr>
            <a:r>
              <a:rPr sz="850" b="0" i="0">
                <a:solidFill>
                  <a:srgbClr val="666666"/>
                </a:solidFill>
                <a:latin typeface="Arial"/>
              </a:rPr>
              <a:t>INSERT media, date de publication nulle</a:t>
            </a:r>
          </a:p>
        </p:txBody>
      </p:sp>
      <p:sp>
        <p:nvSpPr>
          <p:cNvPr id="45" name="Rectangle 44"/>
          <p:cNvSpPr/>
          <p:nvPr/>
        </p:nvSpPr>
        <p:spPr>
          <a:xfrm>
            <a:off x="3008376" y="3472891"/>
            <a:ext cx="1517903" cy="20116"/>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Left Arrow 45"/>
          <p:cNvSpPr/>
          <p:nvPr/>
        </p:nvSpPr>
        <p:spPr>
          <a:xfrm>
            <a:off x="2880360" y="3419856"/>
            <a:ext cx="128016" cy="128016"/>
          </a:xfrm>
          <a:prstGeom prst="leftArrow">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2880360" y="3182112"/>
            <a:ext cx="1645919" cy="201168"/>
          </a:xfrm>
          <a:prstGeom prst="rect">
            <a:avLst/>
          </a:prstGeom>
          <a:noFill/>
        </p:spPr>
        <p:txBody>
          <a:bodyPr wrap="square" lIns="54864" tIns="27432" rIns="54864" bIns="27432" anchor="t">
            <a:spAutoFit/>
          </a:bodyPr>
          <a:lstStyle/>
          <a:p>
            <a:pPr algn="ctr">
              <a:lnSpc>
                <a:spcPct val="100000"/>
              </a:lnSpc>
            </a:pPr>
            <a:r>
              <a:rPr sz="850" b="0" i="0">
                <a:solidFill>
                  <a:srgbClr val="666666"/>
                </a:solidFill>
                <a:latin typeface="Arial"/>
              </a:rPr>
              <a:t>201 Created</a:t>
            </a:r>
          </a:p>
        </p:txBody>
      </p:sp>
      <p:sp>
        <p:nvSpPr>
          <p:cNvPr id="48" name="Rounded Rectangle 47"/>
          <p:cNvSpPr/>
          <p:nvPr/>
        </p:nvSpPr>
        <p:spPr>
          <a:xfrm>
            <a:off x="3794759" y="2487168"/>
            <a:ext cx="1463040" cy="219456"/>
          </a:xfrm>
          <a:prstGeom prst="roundRect">
            <a:avLst>
              <a:gd name="adj" fmla="val 50000"/>
            </a:avLst>
          </a:prstGeom>
          <a:solidFill>
            <a:srgbClr val="FFF3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3794759" y="2487168"/>
            <a:ext cx="1463040" cy="219456"/>
          </a:xfrm>
          <a:prstGeom prst="rect">
            <a:avLst/>
          </a:prstGeom>
          <a:noFill/>
        </p:spPr>
        <p:txBody>
          <a:bodyPr wrap="square" lIns="54864" tIns="27432" rIns="54864" bIns="27432" anchor="ctr">
            <a:spAutoFit/>
          </a:bodyPr>
          <a:lstStyle/>
          <a:p>
            <a:pPr algn="ctr">
              <a:lnSpc>
                <a:spcPct val="100000"/>
              </a:lnSpc>
            </a:pPr>
            <a:r>
              <a:rPr sz="800" b="1" i="0">
                <a:solidFill>
                  <a:srgbClr val="171717"/>
                </a:solidFill>
                <a:latin typeface="Arial"/>
              </a:rPr>
              <a:t>garde de taille et quota</a:t>
            </a:r>
          </a:p>
        </p:txBody>
      </p:sp>
      <p:sp>
        <p:nvSpPr>
          <p:cNvPr id="50" name="TextBox 49"/>
          <p:cNvSpPr txBox="1"/>
          <p:nvPr/>
        </p:nvSpPr>
        <p:spPr>
          <a:xfrm>
            <a:off x="6309360" y="3675887"/>
            <a:ext cx="2377440" cy="219456"/>
          </a:xfrm>
          <a:prstGeom prst="rect">
            <a:avLst/>
          </a:prstGeom>
          <a:noFill/>
        </p:spPr>
        <p:txBody>
          <a:bodyPr wrap="square" lIns="54864" tIns="27432" rIns="54864" bIns="27432" anchor="t">
            <a:spAutoFit/>
          </a:bodyPr>
          <a:lstStyle/>
          <a:p>
            <a:pPr algn="ctr">
              <a:lnSpc>
                <a:spcPct val="100000"/>
              </a:lnSpc>
            </a:pPr>
            <a:r>
              <a:rPr sz="900" b="1" i="0">
                <a:solidFill>
                  <a:srgbClr val="2F9E44"/>
                </a:solidFill>
                <a:latin typeface="Arial"/>
              </a:rPr>
              <a:t>le média existe et il est privé</a:t>
            </a:r>
          </a:p>
        </p:txBody>
      </p:sp>
      <p:sp>
        <p:nvSpPr>
          <p:cNvPr id="51" name="Rectangle 50"/>
          <p:cNvSpPr/>
          <p:nvPr/>
        </p:nvSpPr>
        <p:spPr>
          <a:xfrm>
            <a:off x="457200" y="4059936"/>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457200" y="4059936"/>
            <a:ext cx="548640" cy="9144"/>
          </a:xfrm>
          <a:prstGeom prst="rect">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457200" y="4133088"/>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C2255C"/>
                </a:solidFill>
                <a:latin typeface="Arial"/>
              </a:rPr>
              <a:t>DEUX AUTRES PROCESSUS ET LES PATTERNS RETENUS</a:t>
            </a:r>
          </a:p>
        </p:txBody>
      </p:sp>
      <p:sp>
        <p:nvSpPr>
          <p:cNvPr id="54" name="TextBox 53"/>
          <p:cNvSpPr txBox="1"/>
          <p:nvPr/>
        </p:nvSpPr>
        <p:spPr>
          <a:xfrm>
            <a:off x="457200" y="4334256"/>
            <a:ext cx="8229600" cy="274320"/>
          </a:xfrm>
          <a:prstGeom prst="rect">
            <a:avLst/>
          </a:prstGeom>
          <a:noFill/>
        </p:spPr>
        <p:txBody>
          <a:bodyPr wrap="square" lIns="54864" tIns="27432" rIns="54864" bIns="27432" anchor="t">
            <a:spAutoFit/>
          </a:bodyPr>
          <a:lstStyle/>
          <a:p>
            <a:pPr algn="l">
              <a:lnSpc>
                <a:spcPct val="105000"/>
              </a:lnSpc>
            </a:pPr>
            <a:r>
              <a:rPr sz="900" b="0" i="0">
                <a:solidFill>
                  <a:srgbClr val="666666"/>
                </a:solidFill>
                <a:latin typeface="Arial"/>
              </a:rPr>
              <a:t>publication et retrait, annexe I.2   ·   session sécurisée, annexe I.3   ·   injection de dépendances, repository, DTO validé, pagination par curseur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0" y="0"/>
            <a:ext cx="1524000" cy="41148"/>
          </a:xfrm>
          <a:prstGeom prst="rect">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269480"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10144"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lIns="54864" tIns="27432" rIns="54864" bIns="27432" anchor="t">
            <a:spAutoFit/>
          </a:bodyPr>
          <a:lstStyle/>
          <a:p>
            <a:pPr algn="l">
              <a:lnSpc>
                <a:spcPct val="100000"/>
              </a:lnSpc>
            </a:pPr>
            <a:r>
              <a:rPr sz="750" b="1" i="0" spc="120">
                <a:solidFill>
                  <a:srgbClr val="C2255C"/>
                </a:solidFill>
                <a:latin typeface="Arial"/>
              </a:rPr>
              <a:t>4 · CONCEPTION ET DÉVELOPPEMENT</a:t>
            </a:r>
          </a:p>
        </p:txBody>
      </p:sp>
      <p:sp>
        <p:nvSpPr>
          <p:cNvPr id="11" name="TextBox 10"/>
          <p:cNvSpPr txBox="1"/>
          <p:nvPr/>
        </p:nvSpPr>
        <p:spPr>
          <a:xfrm>
            <a:off x="457200" y="493776"/>
            <a:ext cx="6720840" cy="566928"/>
          </a:xfrm>
          <a:prstGeom prst="rect">
            <a:avLst/>
          </a:prstGeom>
          <a:noFill/>
        </p:spPr>
        <p:txBody>
          <a:bodyPr wrap="square" lIns="54864" tIns="27432" rIns="54864" bIns="27432" anchor="t">
            <a:spAutoFit/>
          </a:bodyPr>
          <a:lstStyle/>
          <a:p>
            <a:pPr algn="l">
              <a:lnSpc>
                <a:spcPct val="100000"/>
              </a:lnSpc>
            </a:pPr>
            <a:r>
              <a:rPr sz="2400" b="1" i="0" spc="-84">
                <a:solidFill>
                  <a:srgbClr val="171717"/>
                </a:solidFill>
                <a:latin typeface="Arial"/>
              </a:rPr>
              <a:t>Modèle de données</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26679" y="4832604"/>
            <a:ext cx="1143000" cy="237744"/>
          </a:xfrm>
          <a:prstGeom prst="rect">
            <a:avLst/>
          </a:prstGeom>
          <a:noFill/>
        </p:spPr>
        <p:txBody>
          <a:bodyPr wrap="square" lIns="54864" tIns="27432" rIns="54864" bIns="27432" anchor="t">
            <a:spAutoFit/>
          </a:bodyPr>
          <a:lstStyle/>
          <a:p>
            <a:pPr algn="r">
              <a:lnSpc>
                <a:spcPct val="100000"/>
              </a:lnSpc>
            </a:pPr>
            <a:r>
              <a:rPr sz="800" b="0" i="0">
                <a:solidFill>
                  <a:srgbClr val="A1A1A1"/>
                </a:solidFill>
                <a:latin typeface="Arial"/>
              </a:rPr>
              <a:t>18 / 31</a:t>
            </a:r>
          </a:p>
        </p:txBody>
      </p:sp>
      <p:sp>
        <p:nvSpPr>
          <p:cNvPr id="14" name="Rounded Rectangle 13"/>
          <p:cNvSpPr/>
          <p:nvPr/>
        </p:nvSpPr>
        <p:spPr>
          <a:xfrm>
            <a:off x="457200" y="4818888"/>
            <a:ext cx="1051560" cy="228600"/>
          </a:xfrm>
          <a:prstGeom prst="roundRect">
            <a:avLst>
              <a:gd name="adj" fmla="val 25000"/>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4818888"/>
            <a:ext cx="1051560" cy="228600"/>
          </a:xfrm>
          <a:prstGeom prst="rect">
            <a:avLst/>
          </a:prstGeom>
          <a:noFill/>
        </p:spPr>
        <p:txBody>
          <a:bodyPr wrap="square" lIns="54864" tIns="27432" rIns="54864" bIns="27432" anchor="ctr">
            <a:spAutoFit/>
          </a:bodyPr>
          <a:lstStyle/>
          <a:p>
            <a:pPr algn="ctr">
              <a:lnSpc>
                <a:spcPct val="100000"/>
              </a:lnSpc>
            </a:pPr>
            <a:r>
              <a:rPr sz="750" b="1" i="0">
                <a:solidFill>
                  <a:srgbClr val="FFFFFF"/>
                </a:solidFill>
                <a:latin typeface="Arial"/>
              </a:rPr>
              <a:t>Réf.  C13 · C21</a:t>
            </a:r>
          </a:p>
        </p:txBody>
      </p:sp>
      <p:sp>
        <p:nvSpPr>
          <p:cNvPr id="16" name="TextBox 15"/>
          <p:cNvSpPr txBox="1"/>
          <p:nvPr/>
        </p:nvSpPr>
        <p:spPr>
          <a:xfrm>
            <a:off x="1600200" y="4818888"/>
            <a:ext cx="5486400" cy="228600"/>
          </a:xfrm>
          <a:prstGeom prst="rect">
            <a:avLst/>
          </a:prstGeom>
          <a:noFill/>
        </p:spPr>
        <p:txBody>
          <a:bodyPr wrap="square" lIns="54864" tIns="27432" rIns="54864" bIns="27432" anchor="ctr">
            <a:spAutoFit/>
          </a:bodyPr>
          <a:lstStyle/>
          <a:p>
            <a:pPr algn="l">
              <a:lnSpc>
                <a:spcPct val="100000"/>
              </a:lnSpc>
            </a:pPr>
            <a:r>
              <a:rPr sz="750" b="0" i="0">
                <a:solidFill>
                  <a:srgbClr val="A1A1A1"/>
                </a:solidFill>
                <a:latin typeface="Arial"/>
              </a:rPr>
              <a:t>BC2, BC3 · mémoire 14.1.4, 12.2.3 · annexes D, E, E bis</a:t>
            </a:r>
          </a:p>
        </p:txBody>
      </p:sp>
      <p:sp>
        <p:nvSpPr>
          <p:cNvPr id="17" name="TextBox 16"/>
          <p:cNvSpPr txBox="1"/>
          <p:nvPr/>
        </p:nvSpPr>
        <p:spPr>
          <a:xfrm>
            <a:off x="457200" y="1225296"/>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CINQ TABLES, MINIMISATION EXIGÉE PAR LE RGPD</a:t>
            </a:r>
          </a:p>
        </p:txBody>
      </p:sp>
      <p:sp>
        <p:nvSpPr>
          <p:cNvPr id="18" name="Rounded Rectangle 17"/>
          <p:cNvSpPr/>
          <p:nvPr/>
        </p:nvSpPr>
        <p:spPr>
          <a:xfrm>
            <a:off x="548640" y="2011680"/>
            <a:ext cx="1737360" cy="932688"/>
          </a:xfrm>
          <a:prstGeom prst="roundRect">
            <a:avLst>
              <a:gd name="adj" fmla="val 6127"/>
            </a:avLst>
          </a:prstGeom>
          <a:solidFill>
            <a:srgbClr val="FFFFFF"/>
          </a:solidFill>
          <a:ln w="9525">
            <a:solidFill>
              <a:srgbClr val="D4D4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48640" y="2011680"/>
            <a:ext cx="1737360" cy="310896"/>
          </a:xfrm>
          <a:prstGeom prst="roundRect">
            <a:avLst>
              <a:gd name="adj" fmla="val 18382"/>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548640" y="2167128"/>
            <a:ext cx="1737360" cy="155448"/>
          </a:xfrm>
          <a:prstGeom prst="rect">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48640" y="2011680"/>
            <a:ext cx="1737360" cy="310896"/>
          </a:xfrm>
          <a:prstGeom prst="rect">
            <a:avLst/>
          </a:prstGeom>
          <a:noFill/>
        </p:spPr>
        <p:txBody>
          <a:bodyPr wrap="square" lIns="54864" tIns="27432" rIns="54864" bIns="27432" anchor="ctr">
            <a:spAutoFit/>
          </a:bodyPr>
          <a:lstStyle/>
          <a:p>
            <a:pPr algn="ctr">
              <a:lnSpc>
                <a:spcPct val="100000"/>
              </a:lnSpc>
            </a:pPr>
            <a:r>
              <a:rPr sz="950" b="1" i="0">
                <a:solidFill>
                  <a:srgbClr val="171717"/>
                </a:solidFill>
                <a:latin typeface="Arial"/>
              </a:rPr>
              <a:t>comptes</a:t>
            </a:r>
          </a:p>
        </p:txBody>
      </p:sp>
      <p:sp>
        <p:nvSpPr>
          <p:cNvPr id="22" name="TextBox 21"/>
          <p:cNvSpPr txBox="1"/>
          <p:nvPr/>
        </p:nvSpPr>
        <p:spPr>
          <a:xfrm>
            <a:off x="640080" y="2340864"/>
            <a:ext cx="1554480" cy="585216"/>
          </a:xfrm>
          <a:prstGeom prst="rect">
            <a:avLst/>
          </a:prstGeom>
          <a:noFill/>
        </p:spPr>
        <p:txBody>
          <a:bodyPr wrap="square" lIns="54864" tIns="27432" rIns="54864" bIns="27432" anchor="t">
            <a:spAutoFit/>
          </a:bodyPr>
          <a:lstStyle/>
          <a:p>
            <a:pPr algn="l">
              <a:lnSpc>
                <a:spcPct val="105000"/>
              </a:lnSpc>
            </a:pPr>
            <a:r>
              <a:rPr sz="800" b="0" i="0">
                <a:solidFill>
                  <a:srgbClr val="666666"/>
                </a:solidFill>
                <a:latin typeface="Arial"/>
              </a:rPr>
              <a:t>identifiant public</a:t>
            </a:r>
          </a:p>
          <a:p>
            <a:pPr algn="l">
              <a:lnSpc>
                <a:spcPct val="105000"/>
              </a:lnSpc>
            </a:pPr>
            <a:r>
              <a:rPr sz="800" b="0" i="0">
                <a:solidFill>
                  <a:srgbClr val="666666"/>
                </a:solidFill>
                <a:latin typeface="Arial"/>
              </a:rPr>
              <a:t>empreinte Argon2id</a:t>
            </a:r>
          </a:p>
          <a:p>
            <a:pPr algn="l">
              <a:lnSpc>
                <a:spcPct val="105000"/>
              </a:lnSpc>
            </a:pPr>
            <a:r>
              <a:rPr sz="800" b="0" i="0">
                <a:solidFill>
                  <a:srgbClr val="666666"/>
                </a:solidFill>
                <a:latin typeface="Arial"/>
              </a:rPr>
              <a:t>clé d’API</a:t>
            </a:r>
          </a:p>
        </p:txBody>
      </p:sp>
      <p:sp>
        <p:nvSpPr>
          <p:cNvPr id="23" name="Rounded Rectangle 22"/>
          <p:cNvSpPr/>
          <p:nvPr/>
        </p:nvSpPr>
        <p:spPr>
          <a:xfrm>
            <a:off x="3017520" y="1481328"/>
            <a:ext cx="1737360" cy="932688"/>
          </a:xfrm>
          <a:prstGeom prst="roundRect">
            <a:avLst>
              <a:gd name="adj" fmla="val 6127"/>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3017520" y="1481328"/>
            <a:ext cx="1737360" cy="310896"/>
          </a:xfrm>
          <a:prstGeom prst="roundRect">
            <a:avLst>
              <a:gd name="adj" fmla="val 18382"/>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3017520" y="1636776"/>
            <a:ext cx="1737360" cy="155448"/>
          </a:xfrm>
          <a:prstGeom prst="rect">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017520" y="1481328"/>
            <a:ext cx="1737360" cy="310896"/>
          </a:xfrm>
          <a:prstGeom prst="rect">
            <a:avLst/>
          </a:prstGeom>
          <a:noFill/>
        </p:spPr>
        <p:txBody>
          <a:bodyPr wrap="square" lIns="54864" tIns="27432" rIns="54864" bIns="27432" anchor="ctr">
            <a:spAutoFit/>
          </a:bodyPr>
          <a:lstStyle/>
          <a:p>
            <a:pPr algn="ctr">
              <a:lnSpc>
                <a:spcPct val="100000"/>
              </a:lnSpc>
            </a:pPr>
            <a:r>
              <a:rPr sz="950" b="1" i="0">
                <a:solidFill>
                  <a:srgbClr val="171717"/>
                </a:solidFill>
                <a:latin typeface="Arial"/>
              </a:rPr>
              <a:t>médias</a:t>
            </a:r>
          </a:p>
        </p:txBody>
      </p:sp>
      <p:sp>
        <p:nvSpPr>
          <p:cNvPr id="27" name="TextBox 26"/>
          <p:cNvSpPr txBox="1"/>
          <p:nvPr/>
        </p:nvSpPr>
        <p:spPr>
          <a:xfrm>
            <a:off x="3108960" y="1810512"/>
            <a:ext cx="1554480" cy="585216"/>
          </a:xfrm>
          <a:prstGeom prst="rect">
            <a:avLst/>
          </a:prstGeom>
          <a:noFill/>
        </p:spPr>
        <p:txBody>
          <a:bodyPr wrap="square" lIns="54864" tIns="27432" rIns="54864" bIns="27432" anchor="t">
            <a:spAutoFit/>
          </a:bodyPr>
          <a:lstStyle/>
          <a:p>
            <a:pPr algn="l">
              <a:lnSpc>
                <a:spcPct val="105000"/>
              </a:lnSpc>
            </a:pPr>
            <a:r>
              <a:rPr sz="800" b="0" i="0">
                <a:solidFill>
                  <a:srgbClr val="666666"/>
                </a:solidFill>
                <a:latin typeface="Arial"/>
              </a:rPr>
              <a:t>propriétaire</a:t>
            </a:r>
          </a:p>
          <a:p>
            <a:pPr algn="l">
              <a:lnSpc>
                <a:spcPct val="105000"/>
              </a:lnSpc>
            </a:pPr>
            <a:r>
              <a:rPr sz="800" b="0" i="0">
                <a:solidFill>
                  <a:srgbClr val="666666"/>
                </a:solidFill>
                <a:latin typeface="Arial"/>
              </a:rPr>
              <a:t>date de publication</a:t>
            </a:r>
          </a:p>
          <a:p>
            <a:pPr algn="l">
              <a:lnSpc>
                <a:spcPct val="105000"/>
              </a:lnSpc>
            </a:pPr>
            <a:r>
              <a:rPr sz="800" b="0" i="0">
                <a:solidFill>
                  <a:srgbClr val="666666"/>
                </a:solidFill>
                <a:latin typeface="Arial"/>
              </a:rPr>
              <a:t>rôle</a:t>
            </a:r>
          </a:p>
        </p:txBody>
      </p:sp>
      <p:sp>
        <p:nvSpPr>
          <p:cNvPr id="28" name="Rounded Rectangle 27"/>
          <p:cNvSpPr/>
          <p:nvPr/>
        </p:nvSpPr>
        <p:spPr>
          <a:xfrm>
            <a:off x="3017520" y="2798064"/>
            <a:ext cx="1737360" cy="731520"/>
          </a:xfrm>
          <a:prstGeom prst="roundRect">
            <a:avLst>
              <a:gd name="adj" fmla="val 7812"/>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3017520" y="2798064"/>
            <a:ext cx="1737360" cy="310896"/>
          </a:xfrm>
          <a:prstGeom prst="roundRect">
            <a:avLst>
              <a:gd name="adj" fmla="val 18382"/>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3017520" y="2953512"/>
            <a:ext cx="1737360" cy="155448"/>
          </a:xfrm>
          <a:prstGeom prst="rect">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3017520" y="2798064"/>
            <a:ext cx="1737360" cy="310896"/>
          </a:xfrm>
          <a:prstGeom prst="rect">
            <a:avLst/>
          </a:prstGeom>
          <a:noFill/>
        </p:spPr>
        <p:txBody>
          <a:bodyPr wrap="square" lIns="54864" tIns="27432" rIns="54864" bIns="27432" anchor="ctr">
            <a:spAutoFit/>
          </a:bodyPr>
          <a:lstStyle/>
          <a:p>
            <a:pPr algn="ctr">
              <a:lnSpc>
                <a:spcPct val="100000"/>
              </a:lnSpc>
            </a:pPr>
            <a:r>
              <a:rPr sz="950" b="1" i="0">
                <a:solidFill>
                  <a:srgbClr val="171717"/>
                </a:solidFill>
                <a:latin typeface="Arial"/>
              </a:rPr>
              <a:t>albums</a:t>
            </a:r>
          </a:p>
        </p:txBody>
      </p:sp>
      <p:sp>
        <p:nvSpPr>
          <p:cNvPr id="32" name="TextBox 31"/>
          <p:cNvSpPr txBox="1"/>
          <p:nvPr/>
        </p:nvSpPr>
        <p:spPr>
          <a:xfrm>
            <a:off x="3108960" y="3127248"/>
            <a:ext cx="1554480" cy="384048"/>
          </a:xfrm>
          <a:prstGeom prst="rect">
            <a:avLst/>
          </a:prstGeom>
          <a:noFill/>
        </p:spPr>
        <p:txBody>
          <a:bodyPr wrap="square" lIns="54864" tIns="27432" rIns="54864" bIns="27432" anchor="t">
            <a:spAutoFit/>
          </a:bodyPr>
          <a:lstStyle/>
          <a:p>
            <a:pPr algn="l">
              <a:lnSpc>
                <a:spcPct val="105000"/>
              </a:lnSpc>
            </a:pPr>
            <a:r>
              <a:rPr sz="800" b="0" i="0">
                <a:solidFill>
                  <a:srgbClr val="666666"/>
                </a:solidFill>
                <a:latin typeface="Arial"/>
              </a:rPr>
              <a:t>propriétaire</a:t>
            </a:r>
          </a:p>
          <a:p>
            <a:pPr algn="l">
              <a:lnSpc>
                <a:spcPct val="105000"/>
              </a:lnSpc>
            </a:pPr>
            <a:r>
              <a:rPr sz="800" b="0" i="0">
                <a:solidFill>
                  <a:srgbClr val="666666"/>
                </a:solidFill>
                <a:latin typeface="Arial"/>
              </a:rPr>
              <a:t>titre</a:t>
            </a:r>
          </a:p>
        </p:txBody>
      </p:sp>
      <p:sp>
        <p:nvSpPr>
          <p:cNvPr id="33" name="Rounded Rectangle 32"/>
          <p:cNvSpPr/>
          <p:nvPr/>
        </p:nvSpPr>
        <p:spPr>
          <a:xfrm>
            <a:off x="5486400" y="2139696"/>
            <a:ext cx="1737360" cy="932688"/>
          </a:xfrm>
          <a:prstGeom prst="roundRect">
            <a:avLst>
              <a:gd name="adj" fmla="val 6127"/>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5486400" y="2139696"/>
            <a:ext cx="1737360" cy="310896"/>
          </a:xfrm>
          <a:prstGeom prst="roundRect">
            <a:avLst>
              <a:gd name="adj" fmla="val 18382"/>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5486400" y="2295144"/>
            <a:ext cx="1737360" cy="155448"/>
          </a:xfrm>
          <a:prstGeom prst="rect">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5486400" y="2139696"/>
            <a:ext cx="1737360" cy="310896"/>
          </a:xfrm>
          <a:prstGeom prst="rect">
            <a:avLst/>
          </a:prstGeom>
          <a:noFill/>
        </p:spPr>
        <p:txBody>
          <a:bodyPr wrap="square" lIns="54864" tIns="27432" rIns="54864" bIns="27432" anchor="ctr">
            <a:spAutoFit/>
          </a:bodyPr>
          <a:lstStyle/>
          <a:p>
            <a:pPr algn="ctr">
              <a:lnSpc>
                <a:spcPct val="100000"/>
              </a:lnSpc>
            </a:pPr>
            <a:r>
              <a:rPr sz="950" b="1" i="0">
                <a:solidFill>
                  <a:srgbClr val="171717"/>
                </a:solidFill>
                <a:latin typeface="Arial"/>
              </a:rPr>
              <a:t>placements</a:t>
            </a:r>
          </a:p>
        </p:txBody>
      </p:sp>
      <p:sp>
        <p:nvSpPr>
          <p:cNvPr id="37" name="TextBox 36"/>
          <p:cNvSpPr txBox="1"/>
          <p:nvPr/>
        </p:nvSpPr>
        <p:spPr>
          <a:xfrm>
            <a:off x="5577840" y="2468879"/>
            <a:ext cx="1554480" cy="585216"/>
          </a:xfrm>
          <a:prstGeom prst="rect">
            <a:avLst/>
          </a:prstGeom>
          <a:noFill/>
        </p:spPr>
        <p:txBody>
          <a:bodyPr wrap="square" lIns="54864" tIns="27432" rIns="54864" bIns="27432" anchor="t">
            <a:spAutoFit/>
          </a:bodyPr>
          <a:lstStyle/>
          <a:p>
            <a:pPr algn="l">
              <a:lnSpc>
                <a:spcPct val="105000"/>
              </a:lnSpc>
            </a:pPr>
            <a:r>
              <a:rPr sz="800" b="0" i="0">
                <a:solidFill>
                  <a:srgbClr val="666666"/>
                </a:solidFill>
                <a:latin typeface="Arial"/>
              </a:rPr>
              <a:t>album</a:t>
            </a:r>
          </a:p>
          <a:p>
            <a:pPr algn="l">
              <a:lnSpc>
                <a:spcPct val="105000"/>
              </a:lnSpc>
            </a:pPr>
            <a:r>
              <a:rPr sz="800" b="0" i="0">
                <a:solidFill>
                  <a:srgbClr val="666666"/>
                </a:solidFill>
                <a:latin typeface="Arial"/>
              </a:rPr>
              <a:t>média</a:t>
            </a:r>
          </a:p>
          <a:p>
            <a:pPr algn="l">
              <a:lnSpc>
                <a:spcPct val="105000"/>
              </a:lnSpc>
            </a:pPr>
            <a:r>
              <a:rPr sz="800" b="0" i="0">
                <a:solidFill>
                  <a:srgbClr val="666666"/>
                </a:solidFill>
                <a:latin typeface="Arial"/>
              </a:rPr>
              <a:t>position</a:t>
            </a:r>
          </a:p>
        </p:txBody>
      </p:sp>
      <p:sp>
        <p:nvSpPr>
          <p:cNvPr id="38" name="Rounded Rectangle 37"/>
          <p:cNvSpPr/>
          <p:nvPr/>
        </p:nvSpPr>
        <p:spPr>
          <a:xfrm>
            <a:off x="548640" y="3182112"/>
            <a:ext cx="1737360" cy="731520"/>
          </a:xfrm>
          <a:prstGeom prst="roundRect">
            <a:avLst>
              <a:gd name="adj" fmla="val 7812"/>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ounded Rectangle 38"/>
          <p:cNvSpPr/>
          <p:nvPr/>
        </p:nvSpPr>
        <p:spPr>
          <a:xfrm>
            <a:off x="548640" y="3182112"/>
            <a:ext cx="1737360" cy="310896"/>
          </a:xfrm>
          <a:prstGeom prst="roundRect">
            <a:avLst>
              <a:gd name="adj" fmla="val 18382"/>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548640" y="3337560"/>
            <a:ext cx="1737360" cy="155448"/>
          </a:xfrm>
          <a:prstGeom prst="rect">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548640" y="3182112"/>
            <a:ext cx="1737360" cy="310896"/>
          </a:xfrm>
          <a:prstGeom prst="rect">
            <a:avLst/>
          </a:prstGeom>
          <a:noFill/>
        </p:spPr>
        <p:txBody>
          <a:bodyPr wrap="square" lIns="54864" tIns="27432" rIns="54864" bIns="27432" anchor="ctr">
            <a:spAutoFit/>
          </a:bodyPr>
          <a:lstStyle/>
          <a:p>
            <a:pPr algn="ctr">
              <a:lnSpc>
                <a:spcPct val="100000"/>
              </a:lnSpc>
            </a:pPr>
            <a:r>
              <a:rPr sz="950" b="1" i="0">
                <a:solidFill>
                  <a:srgbClr val="171717"/>
                </a:solidFill>
                <a:latin typeface="Arial"/>
              </a:rPr>
              <a:t>abonnements</a:t>
            </a:r>
          </a:p>
        </p:txBody>
      </p:sp>
      <p:sp>
        <p:nvSpPr>
          <p:cNvPr id="42" name="TextBox 41"/>
          <p:cNvSpPr txBox="1"/>
          <p:nvPr/>
        </p:nvSpPr>
        <p:spPr>
          <a:xfrm>
            <a:off x="640080" y="3511296"/>
            <a:ext cx="1554480" cy="384048"/>
          </a:xfrm>
          <a:prstGeom prst="rect">
            <a:avLst/>
          </a:prstGeom>
          <a:noFill/>
        </p:spPr>
        <p:txBody>
          <a:bodyPr wrap="square" lIns="54864" tIns="27432" rIns="54864" bIns="27432" anchor="t">
            <a:spAutoFit/>
          </a:bodyPr>
          <a:lstStyle/>
          <a:p>
            <a:pPr algn="l">
              <a:lnSpc>
                <a:spcPct val="105000"/>
              </a:lnSpc>
            </a:pPr>
            <a:r>
              <a:rPr sz="800" b="0" i="0">
                <a:solidFill>
                  <a:srgbClr val="666666"/>
                </a:solidFill>
                <a:latin typeface="Arial"/>
              </a:rPr>
              <a:t>suiveur</a:t>
            </a:r>
          </a:p>
          <a:p>
            <a:pPr algn="l">
              <a:lnSpc>
                <a:spcPct val="105000"/>
              </a:lnSpc>
            </a:pPr>
            <a:r>
              <a:rPr sz="800" b="0" i="0">
                <a:solidFill>
                  <a:srgbClr val="666666"/>
                </a:solidFill>
                <a:latin typeface="Arial"/>
              </a:rPr>
              <a:t>suivi</a:t>
            </a:r>
          </a:p>
        </p:txBody>
      </p:sp>
      <p:cxnSp>
        <p:nvCxnSpPr>
          <p:cNvPr id="43" name="Connector 42"/>
          <p:cNvCxnSpPr/>
          <p:nvPr/>
        </p:nvCxnSpPr>
        <p:spPr>
          <a:xfrm>
            <a:off x="2286000" y="2478024"/>
            <a:ext cx="365760" cy="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2651760" y="1947672"/>
            <a:ext cx="0" cy="530352"/>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651760" y="1947672"/>
            <a:ext cx="365760" cy="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2148840" y="1700784"/>
            <a:ext cx="1005840" cy="219456"/>
          </a:xfrm>
          <a:prstGeom prst="roundRect">
            <a:avLst>
              <a:gd name="adj" fmla="val 15625"/>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2148840" y="1700784"/>
            <a:ext cx="1005840" cy="219456"/>
          </a:xfrm>
          <a:prstGeom prst="rect">
            <a:avLst/>
          </a:prstGeom>
          <a:noFill/>
        </p:spPr>
        <p:txBody>
          <a:bodyPr wrap="square" lIns="54864" tIns="27432" rIns="54864" bIns="27432" anchor="ctr">
            <a:spAutoFit/>
          </a:bodyPr>
          <a:lstStyle/>
          <a:p>
            <a:pPr algn="ctr">
              <a:lnSpc>
                <a:spcPct val="100000"/>
              </a:lnSpc>
            </a:pPr>
            <a:r>
              <a:rPr sz="700" b="1" i="0">
                <a:solidFill>
                  <a:srgbClr val="171717"/>
                </a:solidFill>
                <a:latin typeface="Arial"/>
              </a:rPr>
              <a:t>DÉPOSER  1·n</a:t>
            </a:r>
          </a:p>
        </p:txBody>
      </p:sp>
      <p:cxnSp>
        <p:nvCxnSpPr>
          <p:cNvPr id="48" name="Connector 47"/>
          <p:cNvCxnSpPr/>
          <p:nvPr/>
        </p:nvCxnSpPr>
        <p:spPr>
          <a:xfrm>
            <a:off x="2286000" y="2478024"/>
            <a:ext cx="365760" cy="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2651760" y="2478024"/>
            <a:ext cx="0" cy="68580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2651760" y="3163824"/>
            <a:ext cx="365760" cy="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2148840" y="2926080"/>
            <a:ext cx="1005840" cy="219456"/>
          </a:xfrm>
          <a:prstGeom prst="roundRect">
            <a:avLst>
              <a:gd name="adj" fmla="val 15625"/>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148840" y="2926080"/>
            <a:ext cx="1005840" cy="219456"/>
          </a:xfrm>
          <a:prstGeom prst="rect">
            <a:avLst/>
          </a:prstGeom>
          <a:noFill/>
        </p:spPr>
        <p:txBody>
          <a:bodyPr wrap="square" lIns="54864" tIns="27432" rIns="54864" bIns="27432" anchor="ctr">
            <a:spAutoFit/>
          </a:bodyPr>
          <a:lstStyle/>
          <a:p>
            <a:pPr algn="ctr">
              <a:lnSpc>
                <a:spcPct val="100000"/>
              </a:lnSpc>
            </a:pPr>
            <a:r>
              <a:rPr sz="700" b="1" i="0">
                <a:solidFill>
                  <a:srgbClr val="171717"/>
                </a:solidFill>
                <a:latin typeface="Arial"/>
              </a:rPr>
              <a:t>CRÉER  1·n</a:t>
            </a:r>
          </a:p>
        </p:txBody>
      </p:sp>
      <p:cxnSp>
        <p:nvCxnSpPr>
          <p:cNvPr id="53" name="Connector 52"/>
          <p:cNvCxnSpPr/>
          <p:nvPr/>
        </p:nvCxnSpPr>
        <p:spPr>
          <a:xfrm>
            <a:off x="4754880" y="1947672"/>
            <a:ext cx="329184" cy="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084064" y="1947672"/>
            <a:ext cx="0" cy="658368"/>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5084064" y="2606040"/>
            <a:ext cx="402336" cy="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4754880" y="3163824"/>
            <a:ext cx="438912" cy="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5193792" y="2606040"/>
            <a:ext cx="0" cy="557784"/>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5193792" y="2606040"/>
            <a:ext cx="292608" cy="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4645152" y="2359152"/>
            <a:ext cx="1005840" cy="219456"/>
          </a:xfrm>
          <a:prstGeom prst="roundRect">
            <a:avLst>
              <a:gd name="adj" fmla="val 15625"/>
            </a:avLst>
          </a:prstGeom>
          <a:solidFill>
            <a:srgbClr val="E5D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4645152" y="2359152"/>
            <a:ext cx="1005840" cy="219456"/>
          </a:xfrm>
          <a:prstGeom prst="rect">
            <a:avLst/>
          </a:prstGeom>
          <a:noFill/>
        </p:spPr>
        <p:txBody>
          <a:bodyPr wrap="square" lIns="54864" tIns="27432" rIns="54864" bIns="27432" anchor="ctr">
            <a:spAutoFit/>
          </a:bodyPr>
          <a:lstStyle/>
          <a:p>
            <a:pPr algn="ctr">
              <a:lnSpc>
                <a:spcPct val="100000"/>
              </a:lnSpc>
            </a:pPr>
            <a:r>
              <a:rPr sz="700" b="1" i="0">
                <a:solidFill>
                  <a:srgbClr val="171717"/>
                </a:solidFill>
                <a:latin typeface="Arial"/>
              </a:rPr>
              <a:t>ILLUSTRER  n·n</a:t>
            </a:r>
          </a:p>
        </p:txBody>
      </p:sp>
      <p:cxnSp>
        <p:nvCxnSpPr>
          <p:cNvPr id="61" name="Connector 60"/>
          <p:cNvCxnSpPr/>
          <p:nvPr/>
        </p:nvCxnSpPr>
        <p:spPr>
          <a:xfrm>
            <a:off x="1417320" y="2944368"/>
            <a:ext cx="0" cy="237744"/>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1481328" y="2944368"/>
            <a:ext cx="822960" cy="201168"/>
          </a:xfrm>
          <a:prstGeom prst="rect">
            <a:avLst/>
          </a:prstGeom>
          <a:noFill/>
        </p:spPr>
        <p:txBody>
          <a:bodyPr wrap="square" lIns="54864" tIns="27432" rIns="54864" bIns="27432" anchor="t">
            <a:spAutoFit/>
          </a:bodyPr>
          <a:lstStyle/>
          <a:p>
            <a:pPr algn="l">
              <a:lnSpc>
                <a:spcPct val="100000"/>
              </a:lnSpc>
            </a:pPr>
            <a:r>
              <a:rPr sz="800" b="1" i="0">
                <a:solidFill>
                  <a:srgbClr val="8F8F8F"/>
                </a:solidFill>
                <a:latin typeface="Arial"/>
              </a:rPr>
              <a:t>réflexive</a:t>
            </a:r>
          </a:p>
        </p:txBody>
      </p:sp>
      <p:sp>
        <p:nvSpPr>
          <p:cNvPr id="63" name="Rounded Rectangle 62"/>
          <p:cNvSpPr/>
          <p:nvPr/>
        </p:nvSpPr>
        <p:spPr>
          <a:xfrm>
            <a:off x="7406640" y="2011680"/>
            <a:ext cx="1280160" cy="1060704"/>
          </a:xfrm>
          <a:prstGeom prst="roundRect">
            <a:avLst>
              <a:gd name="adj" fmla="val 5387"/>
            </a:avLst>
          </a:prstGeom>
          <a:solidFill>
            <a:srgbClr val="FAFAFA"/>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7552944" y="2066543"/>
            <a:ext cx="1078992" cy="219456"/>
          </a:xfrm>
          <a:prstGeom prst="rect">
            <a:avLst/>
          </a:prstGeom>
          <a:noFill/>
        </p:spPr>
        <p:txBody>
          <a:bodyPr wrap="square" lIns="54864" tIns="27432" rIns="54864" bIns="27432" anchor="t">
            <a:spAutoFit/>
          </a:bodyPr>
          <a:lstStyle/>
          <a:p>
            <a:pPr algn="l">
              <a:lnSpc>
                <a:spcPct val="100000"/>
              </a:lnSpc>
            </a:pPr>
            <a:r>
              <a:rPr sz="900" b="1" i="0">
                <a:solidFill>
                  <a:srgbClr val="171717"/>
                </a:solidFill>
                <a:latin typeface="Arial"/>
              </a:rPr>
              <a:t>Fort volume</a:t>
            </a:r>
          </a:p>
        </p:txBody>
      </p:sp>
      <p:sp>
        <p:nvSpPr>
          <p:cNvPr id="65" name="TextBox 64"/>
          <p:cNvSpPr txBox="1"/>
          <p:nvPr/>
        </p:nvSpPr>
        <p:spPr>
          <a:xfrm>
            <a:off x="7552944" y="2286000"/>
            <a:ext cx="1078992" cy="786384"/>
          </a:xfrm>
          <a:prstGeom prst="rect">
            <a:avLst/>
          </a:prstGeom>
          <a:noFill/>
        </p:spPr>
        <p:txBody>
          <a:bodyPr wrap="square" lIns="54864" tIns="27432" rIns="54864" bIns="27432" anchor="t">
            <a:spAutoFit/>
          </a:bodyPr>
          <a:lstStyle/>
          <a:p>
            <a:pPr algn="l">
              <a:lnSpc>
                <a:spcPct val="102000"/>
              </a:lnSpc>
            </a:pPr>
            <a:r>
              <a:rPr sz="800" b="0" i="0">
                <a:solidFill>
                  <a:srgbClr val="666666"/>
                </a:solidFill>
                <a:latin typeface="Arial"/>
              </a:rPr>
              <a:t>flux borné, pagination par curseur, index partiels, cycle de vie S3</a:t>
            </a:r>
          </a:p>
        </p:txBody>
      </p:sp>
      <p:sp>
        <p:nvSpPr>
          <p:cNvPr id="66" name="Rectangle 65"/>
          <p:cNvSpPr/>
          <p:nvPr/>
        </p:nvSpPr>
        <p:spPr>
          <a:xfrm>
            <a:off x="457200" y="4059936"/>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66"/>
          <p:cNvSpPr/>
          <p:nvPr/>
        </p:nvSpPr>
        <p:spPr>
          <a:xfrm>
            <a:off x="457200" y="4059936"/>
            <a:ext cx="548640" cy="9144"/>
          </a:xfrm>
          <a:prstGeom prst="rect">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457200" y="4133088"/>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C2255C"/>
                </a:solidFill>
                <a:latin typeface="Arial"/>
              </a:rPr>
              <a:t>SUPPRESSION D’UN COMPTE</a:t>
            </a:r>
          </a:p>
        </p:txBody>
      </p:sp>
      <p:sp>
        <p:nvSpPr>
          <p:cNvPr id="69" name="TextBox 68"/>
          <p:cNvSpPr txBox="1"/>
          <p:nvPr/>
        </p:nvSpPr>
        <p:spPr>
          <a:xfrm>
            <a:off x="457200" y="4334256"/>
            <a:ext cx="8229600" cy="274320"/>
          </a:xfrm>
          <a:prstGeom prst="rect">
            <a:avLst/>
          </a:prstGeom>
          <a:noFill/>
        </p:spPr>
        <p:txBody>
          <a:bodyPr wrap="square" lIns="54864" tIns="27432" rIns="54864" bIns="27432" anchor="t">
            <a:spAutoFit/>
          </a:bodyPr>
          <a:lstStyle/>
          <a:p>
            <a:pPr algn="l">
              <a:lnSpc>
                <a:spcPct val="105000"/>
              </a:lnSpc>
            </a:pPr>
            <a:r>
              <a:rPr sz="950" b="0" i="0">
                <a:solidFill>
                  <a:srgbClr val="666666"/>
                </a:solidFill>
                <a:latin typeface="Arial"/>
              </a:rPr>
              <a:t>effacement en cascade des médias, albums, placements et abonnements, en base comme sur le stockage objet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0" y="0"/>
            <a:ext cx="1524000" cy="41148"/>
          </a:xfrm>
          <a:prstGeom prst="rect">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269480"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10144"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lIns="54864" tIns="27432" rIns="54864" bIns="27432" anchor="t">
            <a:spAutoFit/>
          </a:bodyPr>
          <a:lstStyle/>
          <a:p>
            <a:pPr algn="l">
              <a:lnSpc>
                <a:spcPct val="100000"/>
              </a:lnSpc>
            </a:pPr>
            <a:r>
              <a:rPr sz="750" b="1" i="0" spc="120">
                <a:solidFill>
                  <a:srgbClr val="C2255C"/>
                </a:solidFill>
                <a:latin typeface="Arial"/>
              </a:rPr>
              <a:t>4 · CONCEPTION ET DÉVELOPPEMENT</a:t>
            </a:r>
          </a:p>
        </p:txBody>
      </p:sp>
      <p:sp>
        <p:nvSpPr>
          <p:cNvPr id="11" name="TextBox 10"/>
          <p:cNvSpPr txBox="1"/>
          <p:nvPr/>
        </p:nvSpPr>
        <p:spPr>
          <a:xfrm>
            <a:off x="457200" y="493776"/>
            <a:ext cx="6720840" cy="566928"/>
          </a:xfrm>
          <a:prstGeom prst="rect">
            <a:avLst/>
          </a:prstGeom>
          <a:noFill/>
        </p:spPr>
        <p:txBody>
          <a:bodyPr wrap="square" lIns="54864" tIns="27432" rIns="54864" bIns="27432" anchor="t">
            <a:spAutoFit/>
          </a:bodyPr>
          <a:lstStyle/>
          <a:p>
            <a:pPr algn="l">
              <a:lnSpc>
                <a:spcPct val="100000"/>
              </a:lnSpc>
            </a:pPr>
            <a:r>
              <a:rPr sz="2400" b="1" i="0" spc="-84">
                <a:solidFill>
                  <a:srgbClr val="171717"/>
                </a:solidFill>
                <a:latin typeface="Arial"/>
              </a:rPr>
              <a:t>Sécurité et stratégie de tests</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26679" y="4832604"/>
            <a:ext cx="1143000" cy="237744"/>
          </a:xfrm>
          <a:prstGeom prst="rect">
            <a:avLst/>
          </a:prstGeom>
          <a:noFill/>
        </p:spPr>
        <p:txBody>
          <a:bodyPr wrap="square" lIns="54864" tIns="27432" rIns="54864" bIns="27432" anchor="t">
            <a:spAutoFit/>
          </a:bodyPr>
          <a:lstStyle/>
          <a:p>
            <a:pPr algn="r">
              <a:lnSpc>
                <a:spcPct val="100000"/>
              </a:lnSpc>
            </a:pPr>
            <a:r>
              <a:rPr sz="800" b="0" i="0">
                <a:solidFill>
                  <a:srgbClr val="A1A1A1"/>
                </a:solidFill>
                <a:latin typeface="Arial"/>
              </a:rPr>
              <a:t>19 / 31</a:t>
            </a:r>
          </a:p>
        </p:txBody>
      </p:sp>
      <p:sp>
        <p:nvSpPr>
          <p:cNvPr id="14" name="Rounded Rectangle 13"/>
          <p:cNvSpPr/>
          <p:nvPr/>
        </p:nvSpPr>
        <p:spPr>
          <a:xfrm>
            <a:off x="457200" y="4818888"/>
            <a:ext cx="1051560" cy="228600"/>
          </a:xfrm>
          <a:prstGeom prst="roundRect">
            <a:avLst>
              <a:gd name="adj" fmla="val 25000"/>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4818888"/>
            <a:ext cx="1051560" cy="228600"/>
          </a:xfrm>
          <a:prstGeom prst="rect">
            <a:avLst/>
          </a:prstGeom>
          <a:noFill/>
        </p:spPr>
        <p:txBody>
          <a:bodyPr wrap="square" lIns="54864" tIns="27432" rIns="54864" bIns="27432" anchor="ctr">
            <a:spAutoFit/>
          </a:bodyPr>
          <a:lstStyle/>
          <a:p>
            <a:pPr algn="ctr">
              <a:lnSpc>
                <a:spcPct val="100000"/>
              </a:lnSpc>
            </a:pPr>
            <a:r>
              <a:rPr sz="750" b="1" i="0">
                <a:solidFill>
                  <a:srgbClr val="FFFFFF"/>
                </a:solidFill>
                <a:latin typeface="Arial"/>
              </a:rPr>
              <a:t>Réf.  C25 · C26</a:t>
            </a:r>
          </a:p>
        </p:txBody>
      </p:sp>
      <p:sp>
        <p:nvSpPr>
          <p:cNvPr id="16" name="TextBox 15"/>
          <p:cNvSpPr txBox="1"/>
          <p:nvPr/>
        </p:nvSpPr>
        <p:spPr>
          <a:xfrm>
            <a:off x="1600200" y="4818888"/>
            <a:ext cx="5486400" cy="228600"/>
          </a:xfrm>
          <a:prstGeom prst="rect">
            <a:avLst/>
          </a:prstGeom>
          <a:noFill/>
        </p:spPr>
        <p:txBody>
          <a:bodyPr wrap="square" lIns="54864" tIns="27432" rIns="54864" bIns="27432" anchor="ctr">
            <a:spAutoFit/>
          </a:bodyPr>
          <a:lstStyle/>
          <a:p>
            <a:pPr algn="l">
              <a:lnSpc>
                <a:spcPct val="100000"/>
              </a:lnSpc>
            </a:pPr>
            <a:r>
              <a:rPr sz="750" b="0" i="0">
                <a:solidFill>
                  <a:srgbClr val="A1A1A1"/>
                </a:solidFill>
                <a:latin typeface="Arial"/>
              </a:rPr>
              <a:t>BC3 · mémoire 12.3, 14.1.6, 14.2 · annexes R, S, Z</a:t>
            </a:r>
          </a:p>
        </p:txBody>
      </p:sp>
      <p:sp>
        <p:nvSpPr>
          <p:cNvPr id="17" name="TextBox 16"/>
          <p:cNvSpPr txBox="1"/>
          <p:nvPr/>
        </p:nvSpPr>
        <p:spPr>
          <a:xfrm>
            <a:off x="457200" y="1225296"/>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LA SEULE ROUTE VERS LA PRODUCTION</a:t>
            </a:r>
          </a:p>
        </p:txBody>
      </p:sp>
      <p:sp>
        <p:nvSpPr>
          <p:cNvPr id="18" name="Rounded Rectangle 17"/>
          <p:cNvSpPr/>
          <p:nvPr/>
        </p:nvSpPr>
        <p:spPr>
          <a:xfrm>
            <a:off x="457200" y="1481328"/>
            <a:ext cx="1143000" cy="493776"/>
          </a:xfrm>
          <a:prstGeom prst="roundRect">
            <a:avLst>
              <a:gd name="adj" fmla="val 11574"/>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200" y="1481328"/>
            <a:ext cx="1143000" cy="493776"/>
          </a:xfrm>
          <a:prstGeom prst="rect">
            <a:avLst/>
          </a:prstGeom>
          <a:noFill/>
        </p:spPr>
        <p:txBody>
          <a:bodyPr wrap="square" lIns="54864" tIns="27432" rIns="54864" bIns="27432" anchor="ctr">
            <a:spAutoFit/>
          </a:bodyPr>
          <a:lstStyle/>
          <a:p>
            <a:pPr algn="ctr">
              <a:lnSpc>
                <a:spcPct val="100000"/>
              </a:lnSpc>
            </a:pPr>
            <a:r>
              <a:rPr sz="900" b="1" i="0">
                <a:solidFill>
                  <a:srgbClr val="171717"/>
                </a:solidFill>
                <a:latin typeface="Arial"/>
              </a:rPr>
              <a:t>commit</a:t>
            </a:r>
          </a:p>
        </p:txBody>
      </p:sp>
      <p:sp>
        <p:nvSpPr>
          <p:cNvPr id="20" name="Right Arrow 19"/>
          <p:cNvSpPr/>
          <p:nvPr/>
        </p:nvSpPr>
        <p:spPr>
          <a:xfrm>
            <a:off x="1645920" y="1664208"/>
            <a:ext cx="182880" cy="137160"/>
          </a:xfrm>
          <a:prstGeom prst="righ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1874519" y="1481328"/>
            <a:ext cx="1143000" cy="493776"/>
          </a:xfrm>
          <a:prstGeom prst="roundRect">
            <a:avLst>
              <a:gd name="adj" fmla="val 11574"/>
            </a:avLst>
          </a:prstGeom>
          <a:solidFill>
            <a:srgbClr val="FF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874519" y="1481328"/>
            <a:ext cx="1143000" cy="493776"/>
          </a:xfrm>
          <a:prstGeom prst="rect">
            <a:avLst/>
          </a:prstGeom>
          <a:noFill/>
        </p:spPr>
        <p:txBody>
          <a:bodyPr wrap="square" lIns="54864" tIns="27432" rIns="54864" bIns="27432" anchor="ctr">
            <a:spAutoFit/>
          </a:bodyPr>
          <a:lstStyle/>
          <a:p>
            <a:pPr algn="ctr">
              <a:lnSpc>
                <a:spcPct val="100000"/>
              </a:lnSpc>
            </a:pPr>
            <a:r>
              <a:rPr sz="900" b="1" i="0">
                <a:solidFill>
                  <a:srgbClr val="171717"/>
                </a:solidFill>
                <a:latin typeface="Arial"/>
              </a:rPr>
              <a:t>lint &amp; types</a:t>
            </a:r>
          </a:p>
        </p:txBody>
      </p:sp>
      <p:sp>
        <p:nvSpPr>
          <p:cNvPr id="23" name="TextBox 22"/>
          <p:cNvSpPr txBox="1"/>
          <p:nvPr/>
        </p:nvSpPr>
        <p:spPr>
          <a:xfrm>
            <a:off x="1874519" y="1993392"/>
            <a:ext cx="1143000" cy="237744"/>
          </a:xfrm>
          <a:prstGeom prst="rect">
            <a:avLst/>
          </a:prstGeom>
          <a:noFill/>
        </p:spPr>
        <p:txBody>
          <a:bodyPr wrap="square" lIns="54864" tIns="27432" rIns="54864" bIns="27432" anchor="t">
            <a:spAutoFit/>
          </a:bodyPr>
          <a:lstStyle/>
          <a:p>
            <a:pPr algn="ctr">
              <a:lnSpc>
                <a:spcPct val="100000"/>
              </a:lnSpc>
            </a:pPr>
            <a:r>
              <a:rPr sz="750" b="0" i="0">
                <a:solidFill>
                  <a:srgbClr val="E03131"/>
                </a:solidFill>
                <a:latin typeface="Arial"/>
              </a:rPr>
              <a:t>bloquante</a:t>
            </a:r>
          </a:p>
        </p:txBody>
      </p:sp>
      <p:sp>
        <p:nvSpPr>
          <p:cNvPr id="24" name="Right Arrow 23"/>
          <p:cNvSpPr/>
          <p:nvPr/>
        </p:nvSpPr>
        <p:spPr>
          <a:xfrm>
            <a:off x="3063239" y="1664208"/>
            <a:ext cx="182880" cy="137160"/>
          </a:xfrm>
          <a:prstGeom prst="righ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3291840" y="1481328"/>
            <a:ext cx="1143000" cy="493776"/>
          </a:xfrm>
          <a:prstGeom prst="roundRect">
            <a:avLst>
              <a:gd name="adj" fmla="val 11574"/>
            </a:avLst>
          </a:prstGeom>
          <a:solidFill>
            <a:srgbClr val="FF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291840" y="1481328"/>
            <a:ext cx="1143000" cy="493776"/>
          </a:xfrm>
          <a:prstGeom prst="rect">
            <a:avLst/>
          </a:prstGeom>
          <a:noFill/>
        </p:spPr>
        <p:txBody>
          <a:bodyPr wrap="square" lIns="54864" tIns="27432" rIns="54864" bIns="27432" anchor="ctr">
            <a:spAutoFit/>
          </a:bodyPr>
          <a:lstStyle/>
          <a:p>
            <a:pPr algn="ctr">
              <a:lnSpc>
                <a:spcPct val="100000"/>
              </a:lnSpc>
            </a:pPr>
            <a:r>
              <a:rPr sz="900" b="1" i="0">
                <a:solidFill>
                  <a:srgbClr val="171717"/>
                </a:solidFill>
                <a:latin typeface="Arial"/>
              </a:rPr>
              <a:t>218 tests</a:t>
            </a:r>
          </a:p>
        </p:txBody>
      </p:sp>
      <p:sp>
        <p:nvSpPr>
          <p:cNvPr id="27" name="TextBox 26"/>
          <p:cNvSpPr txBox="1"/>
          <p:nvPr/>
        </p:nvSpPr>
        <p:spPr>
          <a:xfrm>
            <a:off x="3291840" y="1993392"/>
            <a:ext cx="1143000" cy="237744"/>
          </a:xfrm>
          <a:prstGeom prst="rect">
            <a:avLst/>
          </a:prstGeom>
          <a:noFill/>
        </p:spPr>
        <p:txBody>
          <a:bodyPr wrap="square" lIns="54864" tIns="27432" rIns="54864" bIns="27432" anchor="t">
            <a:spAutoFit/>
          </a:bodyPr>
          <a:lstStyle/>
          <a:p>
            <a:pPr algn="ctr">
              <a:lnSpc>
                <a:spcPct val="100000"/>
              </a:lnSpc>
            </a:pPr>
            <a:r>
              <a:rPr sz="750" b="0" i="0">
                <a:solidFill>
                  <a:srgbClr val="E03131"/>
                </a:solidFill>
                <a:latin typeface="Arial"/>
              </a:rPr>
              <a:t>bloquante</a:t>
            </a:r>
          </a:p>
        </p:txBody>
      </p:sp>
      <p:sp>
        <p:nvSpPr>
          <p:cNvPr id="28" name="Right Arrow 27"/>
          <p:cNvSpPr/>
          <p:nvPr/>
        </p:nvSpPr>
        <p:spPr>
          <a:xfrm>
            <a:off x="4480559" y="1664208"/>
            <a:ext cx="182880" cy="137160"/>
          </a:xfrm>
          <a:prstGeom prst="righ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4709160" y="1481328"/>
            <a:ext cx="1143000" cy="493776"/>
          </a:xfrm>
          <a:prstGeom prst="roundRect">
            <a:avLst>
              <a:gd name="adj" fmla="val 11574"/>
            </a:avLst>
          </a:prstGeom>
          <a:solidFill>
            <a:srgbClr val="FF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709160" y="1481328"/>
            <a:ext cx="1143000" cy="493776"/>
          </a:xfrm>
          <a:prstGeom prst="rect">
            <a:avLst/>
          </a:prstGeom>
          <a:noFill/>
        </p:spPr>
        <p:txBody>
          <a:bodyPr wrap="square" lIns="54864" tIns="27432" rIns="54864" bIns="27432" anchor="ctr">
            <a:spAutoFit/>
          </a:bodyPr>
          <a:lstStyle/>
          <a:p>
            <a:pPr algn="ctr">
              <a:lnSpc>
                <a:spcPct val="100000"/>
              </a:lnSpc>
            </a:pPr>
            <a:r>
              <a:rPr sz="900" b="1" i="0">
                <a:solidFill>
                  <a:srgbClr val="171717"/>
                </a:solidFill>
                <a:latin typeface="Arial"/>
              </a:rPr>
              <a:t>secrets &amp; dépendances</a:t>
            </a:r>
          </a:p>
        </p:txBody>
      </p:sp>
      <p:sp>
        <p:nvSpPr>
          <p:cNvPr id="31" name="TextBox 30"/>
          <p:cNvSpPr txBox="1"/>
          <p:nvPr/>
        </p:nvSpPr>
        <p:spPr>
          <a:xfrm>
            <a:off x="4709160" y="1993392"/>
            <a:ext cx="1143000" cy="237744"/>
          </a:xfrm>
          <a:prstGeom prst="rect">
            <a:avLst/>
          </a:prstGeom>
          <a:noFill/>
        </p:spPr>
        <p:txBody>
          <a:bodyPr wrap="square" lIns="54864" tIns="27432" rIns="54864" bIns="27432" anchor="t">
            <a:spAutoFit/>
          </a:bodyPr>
          <a:lstStyle/>
          <a:p>
            <a:pPr algn="ctr">
              <a:lnSpc>
                <a:spcPct val="100000"/>
              </a:lnSpc>
            </a:pPr>
            <a:r>
              <a:rPr sz="750" b="0" i="0">
                <a:solidFill>
                  <a:srgbClr val="E03131"/>
                </a:solidFill>
                <a:latin typeface="Arial"/>
              </a:rPr>
              <a:t>bloquante</a:t>
            </a:r>
          </a:p>
        </p:txBody>
      </p:sp>
      <p:sp>
        <p:nvSpPr>
          <p:cNvPr id="32" name="Right Arrow 31"/>
          <p:cNvSpPr/>
          <p:nvPr/>
        </p:nvSpPr>
        <p:spPr>
          <a:xfrm>
            <a:off x="5897880" y="1664208"/>
            <a:ext cx="182880" cy="137160"/>
          </a:xfrm>
          <a:prstGeom prst="righ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6126480" y="1481328"/>
            <a:ext cx="1143000" cy="493776"/>
          </a:xfrm>
          <a:prstGeom prst="roundRect">
            <a:avLst>
              <a:gd name="adj" fmla="val 11574"/>
            </a:avLst>
          </a:prstGeom>
          <a:solidFill>
            <a:srgbClr val="FF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126480" y="1481328"/>
            <a:ext cx="1143000" cy="493776"/>
          </a:xfrm>
          <a:prstGeom prst="rect">
            <a:avLst/>
          </a:prstGeom>
          <a:noFill/>
        </p:spPr>
        <p:txBody>
          <a:bodyPr wrap="square" lIns="54864" tIns="27432" rIns="54864" bIns="27432" anchor="ctr">
            <a:spAutoFit/>
          </a:bodyPr>
          <a:lstStyle/>
          <a:p>
            <a:pPr algn="ctr">
              <a:lnSpc>
                <a:spcPct val="100000"/>
              </a:lnSpc>
            </a:pPr>
            <a:r>
              <a:rPr sz="900" b="1" i="0">
                <a:solidFill>
                  <a:srgbClr val="171717"/>
                </a:solidFill>
                <a:latin typeface="Arial"/>
              </a:rPr>
              <a:t>image scannée</a:t>
            </a:r>
          </a:p>
        </p:txBody>
      </p:sp>
      <p:sp>
        <p:nvSpPr>
          <p:cNvPr id="35" name="TextBox 34"/>
          <p:cNvSpPr txBox="1"/>
          <p:nvPr/>
        </p:nvSpPr>
        <p:spPr>
          <a:xfrm>
            <a:off x="6126480" y="1993392"/>
            <a:ext cx="1143000" cy="237744"/>
          </a:xfrm>
          <a:prstGeom prst="rect">
            <a:avLst/>
          </a:prstGeom>
          <a:noFill/>
        </p:spPr>
        <p:txBody>
          <a:bodyPr wrap="square" lIns="54864" tIns="27432" rIns="54864" bIns="27432" anchor="t">
            <a:spAutoFit/>
          </a:bodyPr>
          <a:lstStyle/>
          <a:p>
            <a:pPr algn="ctr">
              <a:lnSpc>
                <a:spcPct val="100000"/>
              </a:lnSpc>
            </a:pPr>
            <a:r>
              <a:rPr sz="750" b="0" i="0">
                <a:solidFill>
                  <a:srgbClr val="E03131"/>
                </a:solidFill>
                <a:latin typeface="Arial"/>
              </a:rPr>
              <a:t>bloquante</a:t>
            </a:r>
          </a:p>
        </p:txBody>
      </p:sp>
      <p:sp>
        <p:nvSpPr>
          <p:cNvPr id="36" name="Right Arrow 35"/>
          <p:cNvSpPr/>
          <p:nvPr/>
        </p:nvSpPr>
        <p:spPr>
          <a:xfrm>
            <a:off x="7315200" y="1664208"/>
            <a:ext cx="182880" cy="137160"/>
          </a:xfrm>
          <a:prstGeom prst="righ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ounded Rectangle 36"/>
          <p:cNvSpPr/>
          <p:nvPr/>
        </p:nvSpPr>
        <p:spPr>
          <a:xfrm>
            <a:off x="7543800" y="1481328"/>
            <a:ext cx="1143000" cy="493776"/>
          </a:xfrm>
          <a:prstGeom prst="roundRect">
            <a:avLst>
              <a:gd name="adj" fmla="val 11574"/>
            </a:avLst>
          </a:prstGeom>
          <a:solidFill>
            <a:srgbClr val="D3F9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7543800" y="1481328"/>
            <a:ext cx="1143000" cy="493776"/>
          </a:xfrm>
          <a:prstGeom prst="rect">
            <a:avLst/>
          </a:prstGeom>
          <a:noFill/>
        </p:spPr>
        <p:txBody>
          <a:bodyPr wrap="square" lIns="54864" tIns="27432" rIns="54864" bIns="27432" anchor="ctr">
            <a:spAutoFit/>
          </a:bodyPr>
          <a:lstStyle/>
          <a:p>
            <a:pPr algn="ctr">
              <a:lnSpc>
                <a:spcPct val="100000"/>
              </a:lnSpc>
            </a:pPr>
            <a:r>
              <a:rPr sz="900" b="1" i="0">
                <a:solidFill>
                  <a:srgbClr val="171717"/>
                </a:solidFill>
                <a:latin typeface="Arial"/>
              </a:rPr>
              <a:t>production</a:t>
            </a:r>
          </a:p>
        </p:txBody>
      </p:sp>
      <p:sp>
        <p:nvSpPr>
          <p:cNvPr id="39" name="Rounded Rectangle 38"/>
          <p:cNvSpPr/>
          <p:nvPr/>
        </p:nvSpPr>
        <p:spPr>
          <a:xfrm>
            <a:off x="457200" y="2468880"/>
            <a:ext cx="2560320" cy="859536"/>
          </a:xfrm>
          <a:prstGeom prst="roundRect">
            <a:avLst>
              <a:gd name="adj" fmla="val 6648"/>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457200" y="2551176"/>
            <a:ext cx="2560320" cy="365760"/>
          </a:xfrm>
          <a:prstGeom prst="rect">
            <a:avLst/>
          </a:prstGeom>
          <a:noFill/>
        </p:spPr>
        <p:txBody>
          <a:bodyPr wrap="square" lIns="54864" tIns="27432" rIns="54864" bIns="27432" anchor="t">
            <a:spAutoFit/>
          </a:bodyPr>
          <a:lstStyle/>
          <a:p>
            <a:pPr algn="ctr">
              <a:lnSpc>
                <a:spcPct val="100000"/>
              </a:lnSpc>
            </a:pPr>
            <a:r>
              <a:rPr sz="2200" b="1" i="0" spc="-77">
                <a:solidFill>
                  <a:srgbClr val="171717"/>
                </a:solidFill>
                <a:latin typeface="Arial"/>
              </a:rPr>
              <a:t>218</a:t>
            </a:r>
          </a:p>
        </p:txBody>
      </p:sp>
      <p:sp>
        <p:nvSpPr>
          <p:cNvPr id="41" name="TextBox 40"/>
          <p:cNvSpPr txBox="1"/>
          <p:nvPr/>
        </p:nvSpPr>
        <p:spPr>
          <a:xfrm>
            <a:off x="457200" y="2825496"/>
            <a:ext cx="2560320" cy="365760"/>
          </a:xfrm>
          <a:prstGeom prst="rect">
            <a:avLst/>
          </a:prstGeom>
          <a:noFill/>
        </p:spPr>
        <p:txBody>
          <a:bodyPr wrap="square" lIns="54864" tIns="27432" rIns="54864" bIns="27432" anchor="t">
            <a:spAutoFit/>
          </a:bodyPr>
          <a:lstStyle/>
          <a:p>
            <a:pPr algn="ctr">
              <a:lnSpc>
                <a:spcPct val="100000"/>
              </a:lnSpc>
            </a:pPr>
            <a:r>
              <a:rPr sz="700" b="1" i="0" spc="112">
                <a:solidFill>
                  <a:srgbClr val="C2255C"/>
                </a:solidFill>
                <a:latin typeface="Arial"/>
              </a:rPr>
              <a:t>CAS DE TEST</a:t>
            </a:r>
          </a:p>
        </p:txBody>
      </p:sp>
      <p:sp>
        <p:nvSpPr>
          <p:cNvPr id="42" name="TextBox 41"/>
          <p:cNvSpPr txBox="1"/>
          <p:nvPr/>
        </p:nvSpPr>
        <p:spPr>
          <a:xfrm>
            <a:off x="457200" y="3054096"/>
            <a:ext cx="2560320" cy="201168"/>
          </a:xfrm>
          <a:prstGeom prst="rect">
            <a:avLst/>
          </a:prstGeom>
          <a:noFill/>
        </p:spPr>
        <p:txBody>
          <a:bodyPr wrap="square" lIns="54864" tIns="27432" rIns="54864" bIns="27432" anchor="t">
            <a:spAutoFit/>
          </a:bodyPr>
          <a:lstStyle/>
          <a:p>
            <a:pPr algn="ctr">
              <a:lnSpc>
                <a:spcPct val="100000"/>
              </a:lnSpc>
            </a:pPr>
            <a:r>
              <a:rPr sz="800" b="0" i="0">
                <a:solidFill>
                  <a:srgbClr val="666666"/>
                </a:solidFill>
                <a:latin typeface="Arial"/>
              </a:rPr>
              <a:t>services, contrôleurs, validation</a:t>
            </a:r>
          </a:p>
        </p:txBody>
      </p:sp>
      <p:sp>
        <p:nvSpPr>
          <p:cNvPr id="43" name="Rounded Rectangle 42"/>
          <p:cNvSpPr/>
          <p:nvPr/>
        </p:nvSpPr>
        <p:spPr>
          <a:xfrm>
            <a:off x="3291840" y="2468880"/>
            <a:ext cx="2560320" cy="859536"/>
          </a:xfrm>
          <a:prstGeom prst="roundRect">
            <a:avLst>
              <a:gd name="adj" fmla="val 6648"/>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3291840" y="2551176"/>
            <a:ext cx="2560320" cy="365760"/>
          </a:xfrm>
          <a:prstGeom prst="rect">
            <a:avLst/>
          </a:prstGeom>
          <a:noFill/>
        </p:spPr>
        <p:txBody>
          <a:bodyPr wrap="square" lIns="54864" tIns="27432" rIns="54864" bIns="27432" anchor="t">
            <a:spAutoFit/>
          </a:bodyPr>
          <a:lstStyle/>
          <a:p>
            <a:pPr algn="ctr">
              <a:lnSpc>
                <a:spcPct val="100000"/>
              </a:lnSpc>
            </a:pPr>
            <a:r>
              <a:rPr sz="2200" b="1" i="0" spc="-77">
                <a:solidFill>
                  <a:srgbClr val="171717"/>
                </a:solidFill>
                <a:latin typeface="Arial"/>
              </a:rPr>
              <a:t>8</a:t>
            </a:r>
          </a:p>
        </p:txBody>
      </p:sp>
      <p:sp>
        <p:nvSpPr>
          <p:cNvPr id="45" name="TextBox 44"/>
          <p:cNvSpPr txBox="1"/>
          <p:nvPr/>
        </p:nvSpPr>
        <p:spPr>
          <a:xfrm>
            <a:off x="3291840" y="2825496"/>
            <a:ext cx="2560320" cy="365760"/>
          </a:xfrm>
          <a:prstGeom prst="rect">
            <a:avLst/>
          </a:prstGeom>
          <a:noFill/>
        </p:spPr>
        <p:txBody>
          <a:bodyPr wrap="square" lIns="54864" tIns="27432" rIns="54864" bIns="27432" anchor="t">
            <a:spAutoFit/>
          </a:bodyPr>
          <a:lstStyle/>
          <a:p>
            <a:pPr algn="ctr">
              <a:lnSpc>
                <a:spcPct val="100000"/>
              </a:lnSpc>
            </a:pPr>
            <a:r>
              <a:rPr sz="700" b="1" i="0" spc="112">
                <a:solidFill>
                  <a:srgbClr val="C2255C"/>
                </a:solidFill>
                <a:latin typeface="Arial"/>
              </a:rPr>
              <a:t>SUITES</a:t>
            </a:r>
          </a:p>
        </p:txBody>
      </p:sp>
      <p:sp>
        <p:nvSpPr>
          <p:cNvPr id="46" name="TextBox 45"/>
          <p:cNvSpPr txBox="1"/>
          <p:nvPr/>
        </p:nvSpPr>
        <p:spPr>
          <a:xfrm>
            <a:off x="3291840" y="3054096"/>
            <a:ext cx="2560320" cy="201168"/>
          </a:xfrm>
          <a:prstGeom prst="rect">
            <a:avLst/>
          </a:prstGeom>
          <a:noFill/>
        </p:spPr>
        <p:txBody>
          <a:bodyPr wrap="square" lIns="54864" tIns="27432" rIns="54864" bIns="27432" anchor="t">
            <a:spAutoFit/>
          </a:bodyPr>
          <a:lstStyle/>
          <a:p>
            <a:pPr algn="ctr">
              <a:lnSpc>
                <a:spcPct val="100000"/>
              </a:lnSpc>
            </a:pPr>
            <a:r>
              <a:rPr sz="800" b="0" i="0">
                <a:solidFill>
                  <a:srgbClr val="666666"/>
                </a:solidFill>
                <a:latin typeface="Arial"/>
              </a:rPr>
              <a:t>environnement hermétique</a:t>
            </a:r>
          </a:p>
        </p:txBody>
      </p:sp>
      <p:sp>
        <p:nvSpPr>
          <p:cNvPr id="47" name="Rounded Rectangle 46"/>
          <p:cNvSpPr/>
          <p:nvPr/>
        </p:nvSpPr>
        <p:spPr>
          <a:xfrm>
            <a:off x="6126480" y="2468880"/>
            <a:ext cx="2560320" cy="859536"/>
          </a:xfrm>
          <a:prstGeom prst="roundRect">
            <a:avLst>
              <a:gd name="adj" fmla="val 6648"/>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126480" y="2551176"/>
            <a:ext cx="2560320" cy="365760"/>
          </a:xfrm>
          <a:prstGeom prst="rect">
            <a:avLst/>
          </a:prstGeom>
          <a:noFill/>
        </p:spPr>
        <p:txBody>
          <a:bodyPr wrap="square" lIns="54864" tIns="27432" rIns="54864" bIns="27432" anchor="t">
            <a:spAutoFit/>
          </a:bodyPr>
          <a:lstStyle/>
          <a:p>
            <a:pPr algn="ctr">
              <a:lnSpc>
                <a:spcPct val="100000"/>
              </a:lnSpc>
            </a:pPr>
            <a:r>
              <a:rPr sz="2200" b="1" i="0" spc="-77">
                <a:solidFill>
                  <a:srgbClr val="171717"/>
                </a:solidFill>
                <a:latin typeface="Arial"/>
              </a:rPr>
              <a:t>0</a:t>
            </a:r>
          </a:p>
        </p:txBody>
      </p:sp>
      <p:sp>
        <p:nvSpPr>
          <p:cNvPr id="49" name="TextBox 48"/>
          <p:cNvSpPr txBox="1"/>
          <p:nvPr/>
        </p:nvSpPr>
        <p:spPr>
          <a:xfrm>
            <a:off x="6126480" y="2825496"/>
            <a:ext cx="2560320" cy="365760"/>
          </a:xfrm>
          <a:prstGeom prst="rect">
            <a:avLst/>
          </a:prstGeom>
          <a:noFill/>
        </p:spPr>
        <p:txBody>
          <a:bodyPr wrap="square" lIns="54864" tIns="27432" rIns="54864" bIns="27432" anchor="t">
            <a:spAutoFit/>
          </a:bodyPr>
          <a:lstStyle/>
          <a:p>
            <a:pPr algn="ctr">
              <a:lnSpc>
                <a:spcPct val="100000"/>
              </a:lnSpc>
            </a:pPr>
            <a:r>
              <a:rPr sz="700" b="1" i="0" spc="112">
                <a:solidFill>
                  <a:srgbClr val="C2255C"/>
                </a:solidFill>
                <a:latin typeface="Arial"/>
              </a:rPr>
              <a:t>ÉCHEC</a:t>
            </a:r>
          </a:p>
        </p:txBody>
      </p:sp>
      <p:sp>
        <p:nvSpPr>
          <p:cNvPr id="50" name="TextBox 49"/>
          <p:cNvSpPr txBox="1"/>
          <p:nvPr/>
        </p:nvSpPr>
        <p:spPr>
          <a:xfrm>
            <a:off x="6126480" y="3054096"/>
            <a:ext cx="2560320" cy="201168"/>
          </a:xfrm>
          <a:prstGeom prst="rect">
            <a:avLst/>
          </a:prstGeom>
          <a:noFill/>
        </p:spPr>
        <p:txBody>
          <a:bodyPr wrap="square" lIns="54864" tIns="27432" rIns="54864" bIns="27432" anchor="t">
            <a:spAutoFit/>
          </a:bodyPr>
          <a:lstStyle/>
          <a:p>
            <a:pPr algn="ctr">
              <a:lnSpc>
                <a:spcPct val="100000"/>
              </a:lnSpc>
            </a:pPr>
            <a:r>
              <a:rPr sz="800" b="0" i="0">
                <a:solidFill>
                  <a:srgbClr val="666666"/>
                </a:solidFill>
                <a:latin typeface="Arial"/>
              </a:rPr>
              <a:t>le vol de session est testé</a:t>
            </a:r>
          </a:p>
        </p:txBody>
      </p:sp>
      <p:sp>
        <p:nvSpPr>
          <p:cNvPr id="51" name="TextBox 50"/>
          <p:cNvSpPr txBox="1"/>
          <p:nvPr/>
        </p:nvSpPr>
        <p:spPr>
          <a:xfrm>
            <a:off x="457200" y="3474720"/>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SÉCURITÉ PAR CONSTRUCTION, ALIGNÉE OWASP</a:t>
            </a:r>
          </a:p>
        </p:txBody>
      </p:sp>
      <p:sp>
        <p:nvSpPr>
          <p:cNvPr id="52" name="Rounded Rectangle 51"/>
          <p:cNvSpPr/>
          <p:nvPr/>
        </p:nvSpPr>
        <p:spPr>
          <a:xfrm>
            <a:off x="457200" y="3694176"/>
            <a:ext cx="1558137" cy="365760"/>
          </a:xfrm>
          <a:prstGeom prst="roundRect">
            <a:avLst>
              <a:gd name="adj" fmla="val 15625"/>
            </a:avLst>
          </a:prstGeom>
          <a:solidFill>
            <a:srgbClr val="FFF0F6"/>
          </a:solidFill>
          <a:ln w="9525">
            <a:solidFill>
              <a:srgbClr val="FFDE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457200" y="3694176"/>
            <a:ext cx="1558137" cy="365760"/>
          </a:xfrm>
          <a:prstGeom prst="rect">
            <a:avLst/>
          </a:prstGeom>
          <a:noFill/>
        </p:spPr>
        <p:txBody>
          <a:bodyPr wrap="square" lIns="54864" tIns="27432" rIns="54864" bIns="27432" anchor="ctr">
            <a:spAutoFit/>
          </a:bodyPr>
          <a:lstStyle/>
          <a:p>
            <a:pPr algn="ctr">
              <a:lnSpc>
                <a:spcPct val="105000"/>
              </a:lnSpc>
            </a:pPr>
            <a:r>
              <a:rPr sz="850" b="1" i="0">
                <a:solidFill>
                  <a:srgbClr val="171717"/>
                </a:solidFill>
                <a:latin typeface="Arial"/>
              </a:rPr>
              <a:t>Argon2id</a:t>
            </a:r>
          </a:p>
        </p:txBody>
      </p:sp>
      <p:sp>
        <p:nvSpPr>
          <p:cNvPr id="54" name="Rounded Rectangle 53"/>
          <p:cNvSpPr/>
          <p:nvPr/>
        </p:nvSpPr>
        <p:spPr>
          <a:xfrm>
            <a:off x="2125065" y="3694176"/>
            <a:ext cx="1558137" cy="365760"/>
          </a:xfrm>
          <a:prstGeom prst="roundRect">
            <a:avLst>
              <a:gd name="adj" fmla="val 15625"/>
            </a:avLst>
          </a:prstGeom>
          <a:solidFill>
            <a:srgbClr val="FFF0F6"/>
          </a:solidFill>
          <a:ln w="9525">
            <a:solidFill>
              <a:srgbClr val="FFDE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2125065" y="3694176"/>
            <a:ext cx="1558137" cy="365760"/>
          </a:xfrm>
          <a:prstGeom prst="rect">
            <a:avLst/>
          </a:prstGeom>
          <a:noFill/>
        </p:spPr>
        <p:txBody>
          <a:bodyPr wrap="square" lIns="54864" tIns="27432" rIns="54864" bIns="27432" anchor="ctr">
            <a:spAutoFit/>
          </a:bodyPr>
          <a:lstStyle/>
          <a:p>
            <a:pPr algn="ctr">
              <a:lnSpc>
                <a:spcPct val="105000"/>
              </a:lnSpc>
            </a:pPr>
            <a:r>
              <a:rPr sz="850" b="1" i="0">
                <a:solidFill>
                  <a:srgbClr val="171717"/>
                </a:solidFill>
                <a:latin typeface="Arial"/>
              </a:rPr>
              <a:t>sessions opaques</a:t>
            </a:r>
          </a:p>
        </p:txBody>
      </p:sp>
      <p:sp>
        <p:nvSpPr>
          <p:cNvPr id="56" name="Rounded Rectangle 55"/>
          <p:cNvSpPr/>
          <p:nvPr/>
        </p:nvSpPr>
        <p:spPr>
          <a:xfrm>
            <a:off x="3792931" y="3694176"/>
            <a:ext cx="1558137" cy="365760"/>
          </a:xfrm>
          <a:prstGeom prst="roundRect">
            <a:avLst>
              <a:gd name="adj" fmla="val 15625"/>
            </a:avLst>
          </a:prstGeom>
          <a:solidFill>
            <a:srgbClr val="FFF0F6"/>
          </a:solidFill>
          <a:ln w="9525">
            <a:solidFill>
              <a:srgbClr val="FFDE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3792931" y="3694176"/>
            <a:ext cx="1558137" cy="365760"/>
          </a:xfrm>
          <a:prstGeom prst="rect">
            <a:avLst/>
          </a:prstGeom>
          <a:noFill/>
        </p:spPr>
        <p:txBody>
          <a:bodyPr wrap="square" lIns="54864" tIns="27432" rIns="54864" bIns="27432" anchor="ctr">
            <a:spAutoFit/>
          </a:bodyPr>
          <a:lstStyle/>
          <a:p>
            <a:pPr algn="ctr">
              <a:lnSpc>
                <a:spcPct val="105000"/>
              </a:lnSpc>
            </a:pPr>
            <a:r>
              <a:rPr sz="850" b="1" i="0">
                <a:solidFill>
                  <a:srgbClr val="171717"/>
                </a:solidFill>
                <a:latin typeface="Arial"/>
              </a:rPr>
              <a:t>rotation et rejeu détecté</a:t>
            </a:r>
          </a:p>
        </p:txBody>
      </p:sp>
      <p:sp>
        <p:nvSpPr>
          <p:cNvPr id="58" name="Rounded Rectangle 57"/>
          <p:cNvSpPr/>
          <p:nvPr/>
        </p:nvSpPr>
        <p:spPr>
          <a:xfrm>
            <a:off x="5460796" y="3694176"/>
            <a:ext cx="1558137" cy="365760"/>
          </a:xfrm>
          <a:prstGeom prst="roundRect">
            <a:avLst>
              <a:gd name="adj" fmla="val 15625"/>
            </a:avLst>
          </a:prstGeom>
          <a:solidFill>
            <a:srgbClr val="FFF0F6"/>
          </a:solidFill>
          <a:ln w="9525">
            <a:solidFill>
              <a:srgbClr val="FFDE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5460796" y="3694176"/>
            <a:ext cx="1558137" cy="365760"/>
          </a:xfrm>
          <a:prstGeom prst="rect">
            <a:avLst/>
          </a:prstGeom>
          <a:noFill/>
        </p:spPr>
        <p:txBody>
          <a:bodyPr wrap="square" lIns="54864" tIns="27432" rIns="54864" bIns="27432" anchor="ctr">
            <a:spAutoFit/>
          </a:bodyPr>
          <a:lstStyle/>
          <a:p>
            <a:pPr algn="ctr">
              <a:lnSpc>
                <a:spcPct val="105000"/>
              </a:lnSpc>
            </a:pPr>
            <a:r>
              <a:rPr sz="850" b="1" i="0">
                <a:solidFill>
                  <a:srgbClr val="171717"/>
                </a:solidFill>
                <a:latin typeface="Arial"/>
              </a:rPr>
              <a:t>limitation de débit</a:t>
            </a:r>
          </a:p>
        </p:txBody>
      </p:sp>
      <p:sp>
        <p:nvSpPr>
          <p:cNvPr id="60" name="Rounded Rectangle 59"/>
          <p:cNvSpPr/>
          <p:nvPr/>
        </p:nvSpPr>
        <p:spPr>
          <a:xfrm>
            <a:off x="7128662" y="3694176"/>
            <a:ext cx="1558137" cy="365760"/>
          </a:xfrm>
          <a:prstGeom prst="roundRect">
            <a:avLst>
              <a:gd name="adj" fmla="val 15625"/>
            </a:avLst>
          </a:prstGeom>
          <a:solidFill>
            <a:srgbClr val="FFF0F6"/>
          </a:solidFill>
          <a:ln w="9525">
            <a:solidFill>
              <a:srgbClr val="FFDE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7128662" y="3694176"/>
            <a:ext cx="1558137" cy="365760"/>
          </a:xfrm>
          <a:prstGeom prst="rect">
            <a:avLst/>
          </a:prstGeom>
          <a:noFill/>
        </p:spPr>
        <p:txBody>
          <a:bodyPr wrap="square" lIns="54864" tIns="27432" rIns="54864" bIns="27432" anchor="ctr">
            <a:spAutoFit/>
          </a:bodyPr>
          <a:lstStyle/>
          <a:p>
            <a:pPr algn="ctr">
              <a:lnSpc>
                <a:spcPct val="105000"/>
              </a:lnSpc>
            </a:pPr>
            <a:r>
              <a:rPr sz="850" b="1" i="0">
                <a:solidFill>
                  <a:srgbClr val="171717"/>
                </a:solidFill>
                <a:latin typeface="Arial"/>
              </a:rPr>
              <a:t>HSTS et CORS stricts</a:t>
            </a:r>
          </a:p>
        </p:txBody>
      </p:sp>
      <p:sp>
        <p:nvSpPr>
          <p:cNvPr id="62" name="Rectangle 61"/>
          <p:cNvSpPr/>
          <p:nvPr/>
        </p:nvSpPr>
        <p:spPr>
          <a:xfrm>
            <a:off x="457200" y="4187952"/>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ectangle 62"/>
          <p:cNvSpPr/>
          <p:nvPr/>
        </p:nvSpPr>
        <p:spPr>
          <a:xfrm>
            <a:off x="457200" y="4187952"/>
            <a:ext cx="548640" cy="9144"/>
          </a:xfrm>
          <a:prstGeom prst="rect">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457200" y="4261104"/>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C2255C"/>
                </a:solidFill>
                <a:latin typeface="Arial"/>
              </a:rPr>
              <a:t>APRÈS LA LIVRAISON</a:t>
            </a:r>
          </a:p>
        </p:txBody>
      </p:sp>
      <p:sp>
        <p:nvSpPr>
          <p:cNvPr id="65" name="TextBox 64"/>
          <p:cNvSpPr txBox="1"/>
          <p:nvPr/>
        </p:nvSpPr>
        <p:spPr>
          <a:xfrm>
            <a:off x="457200" y="4462272"/>
            <a:ext cx="8229600" cy="274320"/>
          </a:xfrm>
          <a:prstGeom prst="rect">
            <a:avLst/>
          </a:prstGeom>
          <a:noFill/>
        </p:spPr>
        <p:txBody>
          <a:bodyPr wrap="square" lIns="54864" tIns="27432" rIns="54864" bIns="27432" anchor="t">
            <a:spAutoFit/>
          </a:bodyPr>
          <a:lstStyle/>
          <a:p>
            <a:pPr algn="l">
              <a:lnSpc>
                <a:spcPct val="105000"/>
              </a:lnSpc>
            </a:pPr>
            <a:r>
              <a:rPr sz="900" b="0" i="0">
                <a:solidFill>
                  <a:srgbClr val="666666"/>
                </a:solidFill>
                <a:latin typeface="Arial"/>
              </a:rPr>
              <a:t>46 routes sur 46 documentées, 228 blocs de commentaires   ·   plan de maintenance daté, contrôles de conformité en prévision des audits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096000" y="0"/>
            <a:ext cx="1524000" cy="41148"/>
          </a:xfrm>
          <a:prstGeom prst="rect">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269480"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10144"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lIns="54864" tIns="27432" rIns="54864" bIns="27432" anchor="t">
            <a:spAutoFit/>
          </a:bodyPr>
          <a:lstStyle/>
          <a:p>
            <a:pPr algn="l">
              <a:lnSpc>
                <a:spcPct val="100000"/>
              </a:lnSpc>
            </a:pPr>
            <a:r>
              <a:rPr sz="750" b="1" i="0" spc="120">
                <a:solidFill>
                  <a:srgbClr val="D9480F"/>
                </a:solidFill>
                <a:latin typeface="Arial"/>
              </a:rPr>
              <a:t>5 · OPTION DEVOPS</a:t>
            </a:r>
          </a:p>
        </p:txBody>
      </p:sp>
      <p:sp>
        <p:nvSpPr>
          <p:cNvPr id="11" name="TextBox 10"/>
          <p:cNvSpPr txBox="1"/>
          <p:nvPr/>
        </p:nvSpPr>
        <p:spPr>
          <a:xfrm>
            <a:off x="457200" y="493776"/>
            <a:ext cx="6720840" cy="566928"/>
          </a:xfrm>
          <a:prstGeom prst="rect">
            <a:avLst/>
          </a:prstGeom>
          <a:noFill/>
        </p:spPr>
        <p:txBody>
          <a:bodyPr wrap="square" lIns="54864" tIns="27432" rIns="54864" bIns="27432" anchor="t">
            <a:spAutoFit/>
          </a:bodyPr>
          <a:lstStyle/>
          <a:p>
            <a:pPr algn="l">
              <a:lnSpc>
                <a:spcPct val="100000"/>
              </a:lnSpc>
            </a:pPr>
            <a:r>
              <a:rPr sz="2400" b="1" i="0" spc="-84">
                <a:solidFill>
                  <a:srgbClr val="171717"/>
                </a:solidFill>
                <a:latin typeface="Arial"/>
              </a:rPr>
              <a:t>Stratégie DevOps</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26679" y="4832604"/>
            <a:ext cx="1143000" cy="237744"/>
          </a:xfrm>
          <a:prstGeom prst="rect">
            <a:avLst/>
          </a:prstGeom>
          <a:noFill/>
        </p:spPr>
        <p:txBody>
          <a:bodyPr wrap="square" lIns="54864" tIns="27432" rIns="54864" bIns="27432" anchor="t">
            <a:spAutoFit/>
          </a:bodyPr>
          <a:lstStyle/>
          <a:p>
            <a:pPr algn="r">
              <a:lnSpc>
                <a:spcPct val="100000"/>
              </a:lnSpc>
            </a:pPr>
            <a:r>
              <a:rPr sz="800" b="0" i="0">
                <a:solidFill>
                  <a:srgbClr val="A1A1A1"/>
                </a:solidFill>
                <a:latin typeface="Arial"/>
              </a:rPr>
              <a:t>20 / 31</a:t>
            </a:r>
          </a:p>
        </p:txBody>
      </p:sp>
      <p:sp>
        <p:nvSpPr>
          <p:cNvPr id="14" name="Rounded Rectangle 13"/>
          <p:cNvSpPr/>
          <p:nvPr/>
        </p:nvSpPr>
        <p:spPr>
          <a:xfrm>
            <a:off x="457200" y="4818888"/>
            <a:ext cx="733348" cy="228600"/>
          </a:xfrm>
          <a:prstGeom prst="roundRect">
            <a:avLst>
              <a:gd name="adj" fmla="val 25000"/>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4818888"/>
            <a:ext cx="733348" cy="228600"/>
          </a:xfrm>
          <a:prstGeom prst="rect">
            <a:avLst/>
          </a:prstGeom>
          <a:noFill/>
        </p:spPr>
        <p:txBody>
          <a:bodyPr wrap="square" lIns="54864" tIns="27432" rIns="54864" bIns="27432" anchor="ctr">
            <a:spAutoFit/>
          </a:bodyPr>
          <a:lstStyle/>
          <a:p>
            <a:pPr algn="ctr">
              <a:lnSpc>
                <a:spcPct val="100000"/>
              </a:lnSpc>
            </a:pPr>
            <a:r>
              <a:rPr sz="750" b="1" i="0">
                <a:solidFill>
                  <a:srgbClr val="171717"/>
                </a:solidFill>
                <a:latin typeface="Arial"/>
              </a:rPr>
              <a:t>Réf.  C28</a:t>
            </a:r>
          </a:p>
        </p:txBody>
      </p:sp>
      <p:sp>
        <p:nvSpPr>
          <p:cNvPr id="16" name="TextBox 15"/>
          <p:cNvSpPr txBox="1"/>
          <p:nvPr/>
        </p:nvSpPr>
        <p:spPr>
          <a:xfrm>
            <a:off x="1281988" y="4818888"/>
            <a:ext cx="5486400" cy="228600"/>
          </a:xfrm>
          <a:prstGeom prst="rect">
            <a:avLst/>
          </a:prstGeom>
          <a:noFill/>
        </p:spPr>
        <p:txBody>
          <a:bodyPr wrap="square" lIns="54864" tIns="27432" rIns="54864" bIns="27432" anchor="ctr">
            <a:spAutoFit/>
          </a:bodyPr>
          <a:lstStyle/>
          <a:p>
            <a:pPr algn="l">
              <a:lnSpc>
                <a:spcPct val="100000"/>
              </a:lnSpc>
            </a:pPr>
            <a:r>
              <a:rPr sz="750" b="0" i="0">
                <a:solidFill>
                  <a:srgbClr val="A1A1A1"/>
                </a:solidFill>
                <a:latin typeface="Arial"/>
              </a:rPr>
              <a:t>BC4C · mémoire 17.1 · annexes B, J · wiki 06</a:t>
            </a:r>
          </a:p>
        </p:txBody>
      </p:sp>
      <p:sp>
        <p:nvSpPr>
          <p:cNvPr id="17" name="TextBox 16"/>
          <p:cNvSpPr txBox="1"/>
          <p:nvPr/>
        </p:nvSpPr>
        <p:spPr>
          <a:xfrm>
            <a:off x="457200" y="1225296"/>
            <a:ext cx="420624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CE QUI NE MARCHAIT PAS SUR L’EXISTANT</a:t>
            </a:r>
          </a:p>
        </p:txBody>
      </p:sp>
      <p:sp>
        <p:nvSpPr>
          <p:cNvPr id="18" name="TextBox 17"/>
          <p:cNvSpPr txBox="1"/>
          <p:nvPr/>
        </p:nvSpPr>
        <p:spPr>
          <a:xfrm>
            <a:off x="4846320" y="1225296"/>
            <a:ext cx="384048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LA RÉPONSE D’INGÉNIERIE</a:t>
            </a:r>
          </a:p>
        </p:txBody>
      </p:sp>
      <p:sp>
        <p:nvSpPr>
          <p:cNvPr id="19" name="Rounded Rectangle 18"/>
          <p:cNvSpPr/>
          <p:nvPr/>
        </p:nvSpPr>
        <p:spPr>
          <a:xfrm>
            <a:off x="457200" y="1444752"/>
            <a:ext cx="1225296" cy="384048"/>
          </a:xfrm>
          <a:prstGeom prst="roundRect">
            <a:avLst>
              <a:gd name="adj" fmla="val 1488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1444752"/>
            <a:ext cx="1225296" cy="384048"/>
          </a:xfrm>
          <a:prstGeom prst="rect">
            <a:avLst/>
          </a:prstGeom>
          <a:noFill/>
        </p:spPr>
        <p:txBody>
          <a:bodyPr wrap="square" lIns="54864" tIns="27432" rIns="54864" bIns="27432" anchor="ctr">
            <a:spAutoFit/>
          </a:bodyPr>
          <a:lstStyle/>
          <a:p>
            <a:pPr algn="ctr">
              <a:lnSpc>
                <a:spcPct val="100000"/>
              </a:lnSpc>
            </a:pPr>
            <a:r>
              <a:rPr sz="800" b="1" i="0">
                <a:solidFill>
                  <a:srgbClr val="171717"/>
                </a:solidFill>
                <a:latin typeface="Arial"/>
              </a:rPr>
              <a:t>Livraison</a:t>
            </a:r>
          </a:p>
        </p:txBody>
      </p:sp>
      <p:sp>
        <p:nvSpPr>
          <p:cNvPr id="21" name="TextBox 20"/>
          <p:cNvSpPr txBox="1"/>
          <p:nvPr/>
        </p:nvSpPr>
        <p:spPr>
          <a:xfrm>
            <a:off x="1792224" y="1444752"/>
            <a:ext cx="2871216" cy="384048"/>
          </a:xfrm>
          <a:prstGeom prst="rect">
            <a:avLst/>
          </a:prstGeom>
          <a:noFill/>
        </p:spPr>
        <p:txBody>
          <a:bodyPr wrap="square" lIns="54864" tIns="27432" rIns="54864" bIns="27432" anchor="ctr">
            <a:spAutoFit/>
          </a:bodyPr>
          <a:lstStyle/>
          <a:p>
            <a:pPr algn="l">
              <a:lnSpc>
                <a:spcPct val="100000"/>
              </a:lnSpc>
            </a:pPr>
            <a:r>
              <a:rPr sz="850" b="0" i="0">
                <a:solidFill>
                  <a:srgbClr val="666666"/>
                </a:solidFill>
                <a:latin typeface="Arial"/>
              </a:rPr>
              <a:t>déploiements manuels, non reproductibles</a:t>
            </a:r>
          </a:p>
        </p:txBody>
      </p:sp>
      <p:sp>
        <p:nvSpPr>
          <p:cNvPr id="22" name="Rounded Rectangle 21"/>
          <p:cNvSpPr/>
          <p:nvPr/>
        </p:nvSpPr>
        <p:spPr>
          <a:xfrm>
            <a:off x="4846320" y="1444752"/>
            <a:ext cx="3840480"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846320" y="1527048"/>
            <a:ext cx="45720" cy="219456"/>
          </a:xfrm>
          <a:prstGeom prst="rect">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029200" y="1444752"/>
            <a:ext cx="3529584" cy="384048"/>
          </a:xfrm>
          <a:prstGeom prst="rect">
            <a:avLst/>
          </a:prstGeom>
          <a:noFill/>
        </p:spPr>
        <p:txBody>
          <a:bodyPr wrap="square" lIns="54864" tIns="27432" rIns="54864" bIns="27432" anchor="ctr">
            <a:spAutoFit/>
          </a:bodyPr>
          <a:lstStyle/>
          <a:p>
            <a:pPr algn="l">
              <a:lnSpc>
                <a:spcPct val="100000"/>
              </a:lnSpc>
            </a:pPr>
            <a:r>
              <a:rPr sz="900" b="1" i="0">
                <a:solidFill>
                  <a:srgbClr val="171717"/>
                </a:solidFill>
                <a:latin typeface="Arial"/>
              </a:rPr>
              <a:t>pipeline CI/CD déterministe</a:t>
            </a:r>
          </a:p>
        </p:txBody>
      </p:sp>
      <p:sp>
        <p:nvSpPr>
          <p:cNvPr id="25" name="Rounded Rectangle 24"/>
          <p:cNvSpPr/>
          <p:nvPr/>
        </p:nvSpPr>
        <p:spPr>
          <a:xfrm>
            <a:off x="457200" y="1874519"/>
            <a:ext cx="1225296" cy="384048"/>
          </a:xfrm>
          <a:prstGeom prst="roundRect">
            <a:avLst>
              <a:gd name="adj" fmla="val 1488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57200" y="1874519"/>
            <a:ext cx="1225296" cy="384048"/>
          </a:xfrm>
          <a:prstGeom prst="rect">
            <a:avLst/>
          </a:prstGeom>
          <a:noFill/>
        </p:spPr>
        <p:txBody>
          <a:bodyPr wrap="square" lIns="54864" tIns="27432" rIns="54864" bIns="27432" anchor="ctr">
            <a:spAutoFit/>
          </a:bodyPr>
          <a:lstStyle/>
          <a:p>
            <a:pPr algn="ctr">
              <a:lnSpc>
                <a:spcPct val="100000"/>
              </a:lnSpc>
            </a:pPr>
            <a:r>
              <a:rPr sz="800" b="1" i="0">
                <a:solidFill>
                  <a:srgbClr val="171717"/>
                </a:solidFill>
                <a:latin typeface="Arial"/>
              </a:rPr>
              <a:t>Infrastructure</a:t>
            </a:r>
          </a:p>
        </p:txBody>
      </p:sp>
      <p:sp>
        <p:nvSpPr>
          <p:cNvPr id="27" name="TextBox 26"/>
          <p:cNvSpPr txBox="1"/>
          <p:nvPr/>
        </p:nvSpPr>
        <p:spPr>
          <a:xfrm>
            <a:off x="1792224" y="1874519"/>
            <a:ext cx="2871216" cy="384048"/>
          </a:xfrm>
          <a:prstGeom prst="rect">
            <a:avLst/>
          </a:prstGeom>
          <a:noFill/>
        </p:spPr>
        <p:txBody>
          <a:bodyPr wrap="square" lIns="54864" tIns="27432" rIns="54864" bIns="27432" anchor="ctr">
            <a:spAutoFit/>
          </a:bodyPr>
          <a:lstStyle/>
          <a:p>
            <a:pPr algn="l">
              <a:lnSpc>
                <a:spcPct val="100000"/>
              </a:lnSpc>
            </a:pPr>
            <a:r>
              <a:rPr sz="850" b="0" i="0">
                <a:solidFill>
                  <a:srgbClr val="666666"/>
                </a:solidFill>
                <a:latin typeface="Arial"/>
              </a:rPr>
              <a:t>trois fournisseurs, dérive de configuration</a:t>
            </a:r>
          </a:p>
        </p:txBody>
      </p:sp>
      <p:sp>
        <p:nvSpPr>
          <p:cNvPr id="28" name="Rounded Rectangle 27"/>
          <p:cNvSpPr/>
          <p:nvPr/>
        </p:nvSpPr>
        <p:spPr>
          <a:xfrm>
            <a:off x="4846320" y="1874519"/>
            <a:ext cx="3840480"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846320" y="1956815"/>
            <a:ext cx="45720" cy="219456"/>
          </a:xfrm>
          <a:prstGeom prst="rect">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029200" y="1874519"/>
            <a:ext cx="3529584" cy="384048"/>
          </a:xfrm>
          <a:prstGeom prst="rect">
            <a:avLst/>
          </a:prstGeom>
          <a:noFill/>
        </p:spPr>
        <p:txBody>
          <a:bodyPr wrap="square" lIns="54864" tIns="27432" rIns="54864" bIns="27432" anchor="ctr">
            <a:spAutoFit/>
          </a:bodyPr>
          <a:lstStyle/>
          <a:p>
            <a:pPr algn="l">
              <a:lnSpc>
                <a:spcPct val="100000"/>
              </a:lnSpc>
            </a:pPr>
            <a:r>
              <a:rPr sz="900" b="1" i="0">
                <a:solidFill>
                  <a:srgbClr val="171717"/>
                </a:solidFill>
                <a:latin typeface="Arial"/>
              </a:rPr>
              <a:t>tout décrit en code</a:t>
            </a:r>
          </a:p>
        </p:txBody>
      </p:sp>
      <p:sp>
        <p:nvSpPr>
          <p:cNvPr id="31" name="Rounded Rectangle 30"/>
          <p:cNvSpPr/>
          <p:nvPr/>
        </p:nvSpPr>
        <p:spPr>
          <a:xfrm>
            <a:off x="457200" y="2304288"/>
            <a:ext cx="1225296" cy="384048"/>
          </a:xfrm>
          <a:prstGeom prst="roundRect">
            <a:avLst>
              <a:gd name="adj" fmla="val 1488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7200" y="2304288"/>
            <a:ext cx="1225296" cy="384048"/>
          </a:xfrm>
          <a:prstGeom prst="rect">
            <a:avLst/>
          </a:prstGeom>
          <a:noFill/>
        </p:spPr>
        <p:txBody>
          <a:bodyPr wrap="square" lIns="54864" tIns="27432" rIns="54864" bIns="27432" anchor="ctr">
            <a:spAutoFit/>
          </a:bodyPr>
          <a:lstStyle/>
          <a:p>
            <a:pPr algn="ctr">
              <a:lnSpc>
                <a:spcPct val="100000"/>
              </a:lnSpc>
            </a:pPr>
            <a:r>
              <a:rPr sz="800" b="1" i="0">
                <a:solidFill>
                  <a:srgbClr val="171717"/>
                </a:solidFill>
                <a:latin typeface="Arial"/>
              </a:rPr>
              <a:t>Environnements</a:t>
            </a:r>
          </a:p>
        </p:txBody>
      </p:sp>
      <p:sp>
        <p:nvSpPr>
          <p:cNvPr id="33" name="TextBox 32"/>
          <p:cNvSpPr txBox="1"/>
          <p:nvPr/>
        </p:nvSpPr>
        <p:spPr>
          <a:xfrm>
            <a:off x="1792224" y="2304288"/>
            <a:ext cx="2871216" cy="384048"/>
          </a:xfrm>
          <a:prstGeom prst="rect">
            <a:avLst/>
          </a:prstGeom>
          <a:noFill/>
        </p:spPr>
        <p:txBody>
          <a:bodyPr wrap="square" lIns="54864" tIns="27432" rIns="54864" bIns="27432" anchor="ctr">
            <a:spAutoFit/>
          </a:bodyPr>
          <a:lstStyle/>
          <a:p>
            <a:pPr algn="l">
              <a:lnSpc>
                <a:spcPct val="100000"/>
              </a:lnSpc>
            </a:pPr>
            <a:r>
              <a:rPr sz="850" b="0" i="0">
                <a:solidFill>
                  <a:srgbClr val="666666"/>
                </a:solidFill>
                <a:latin typeface="Arial"/>
              </a:rPr>
              <a:t>écart entre développement et production</a:t>
            </a:r>
          </a:p>
        </p:txBody>
      </p:sp>
      <p:sp>
        <p:nvSpPr>
          <p:cNvPr id="34" name="Rounded Rectangle 33"/>
          <p:cNvSpPr/>
          <p:nvPr/>
        </p:nvSpPr>
        <p:spPr>
          <a:xfrm>
            <a:off x="4846320" y="2304288"/>
            <a:ext cx="3840480"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4846320" y="2386584"/>
            <a:ext cx="45720" cy="219456"/>
          </a:xfrm>
          <a:prstGeom prst="rect">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5029200" y="2304288"/>
            <a:ext cx="3529584" cy="384048"/>
          </a:xfrm>
          <a:prstGeom prst="rect">
            <a:avLst/>
          </a:prstGeom>
          <a:noFill/>
        </p:spPr>
        <p:txBody>
          <a:bodyPr wrap="square" lIns="54864" tIns="27432" rIns="54864" bIns="27432" anchor="ctr">
            <a:spAutoFit/>
          </a:bodyPr>
          <a:lstStyle/>
          <a:p>
            <a:pPr algn="l">
              <a:lnSpc>
                <a:spcPct val="100000"/>
              </a:lnSpc>
            </a:pPr>
            <a:r>
              <a:rPr sz="900" b="1" i="0">
                <a:solidFill>
                  <a:srgbClr val="171717"/>
                </a:solidFill>
                <a:latin typeface="Arial"/>
              </a:rPr>
              <a:t>conteneurs, images immuables</a:t>
            </a:r>
          </a:p>
        </p:txBody>
      </p:sp>
      <p:sp>
        <p:nvSpPr>
          <p:cNvPr id="37" name="Rounded Rectangle 36"/>
          <p:cNvSpPr/>
          <p:nvPr/>
        </p:nvSpPr>
        <p:spPr>
          <a:xfrm>
            <a:off x="457200" y="2734056"/>
            <a:ext cx="1225296" cy="384048"/>
          </a:xfrm>
          <a:prstGeom prst="roundRect">
            <a:avLst>
              <a:gd name="adj" fmla="val 1488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57200" y="2734056"/>
            <a:ext cx="1225296" cy="384048"/>
          </a:xfrm>
          <a:prstGeom prst="rect">
            <a:avLst/>
          </a:prstGeom>
          <a:noFill/>
        </p:spPr>
        <p:txBody>
          <a:bodyPr wrap="square" lIns="54864" tIns="27432" rIns="54864" bIns="27432" anchor="ctr">
            <a:spAutoFit/>
          </a:bodyPr>
          <a:lstStyle/>
          <a:p>
            <a:pPr algn="ctr">
              <a:lnSpc>
                <a:spcPct val="100000"/>
              </a:lnSpc>
            </a:pPr>
            <a:r>
              <a:rPr sz="800" b="1" i="0">
                <a:solidFill>
                  <a:srgbClr val="171717"/>
                </a:solidFill>
                <a:latin typeface="Arial"/>
              </a:rPr>
              <a:t>Régressions</a:t>
            </a:r>
          </a:p>
        </p:txBody>
      </p:sp>
      <p:sp>
        <p:nvSpPr>
          <p:cNvPr id="39" name="TextBox 38"/>
          <p:cNvSpPr txBox="1"/>
          <p:nvPr/>
        </p:nvSpPr>
        <p:spPr>
          <a:xfrm>
            <a:off x="1792224" y="2734056"/>
            <a:ext cx="2871216" cy="384048"/>
          </a:xfrm>
          <a:prstGeom prst="rect">
            <a:avLst/>
          </a:prstGeom>
          <a:noFill/>
        </p:spPr>
        <p:txBody>
          <a:bodyPr wrap="square" lIns="54864" tIns="27432" rIns="54864" bIns="27432" anchor="ctr">
            <a:spAutoFit/>
          </a:bodyPr>
          <a:lstStyle/>
          <a:p>
            <a:pPr algn="l">
              <a:lnSpc>
                <a:spcPct val="100000"/>
              </a:lnSpc>
            </a:pPr>
            <a:r>
              <a:rPr sz="850" b="0" i="0">
                <a:solidFill>
                  <a:srgbClr val="666666"/>
                </a:solidFill>
                <a:latin typeface="Arial"/>
              </a:rPr>
              <a:t>aucun garde-fou fonctionnel</a:t>
            </a:r>
          </a:p>
        </p:txBody>
      </p:sp>
      <p:sp>
        <p:nvSpPr>
          <p:cNvPr id="40" name="Rounded Rectangle 39"/>
          <p:cNvSpPr/>
          <p:nvPr/>
        </p:nvSpPr>
        <p:spPr>
          <a:xfrm>
            <a:off x="4846320" y="2734056"/>
            <a:ext cx="3840480"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4846320" y="2816352"/>
            <a:ext cx="45720" cy="219456"/>
          </a:xfrm>
          <a:prstGeom prst="rect">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5029200" y="2734056"/>
            <a:ext cx="3529584" cy="384048"/>
          </a:xfrm>
          <a:prstGeom prst="rect">
            <a:avLst/>
          </a:prstGeom>
          <a:noFill/>
        </p:spPr>
        <p:txBody>
          <a:bodyPr wrap="square" lIns="54864" tIns="27432" rIns="54864" bIns="27432" anchor="ctr">
            <a:spAutoFit/>
          </a:bodyPr>
          <a:lstStyle/>
          <a:p>
            <a:pPr algn="l">
              <a:lnSpc>
                <a:spcPct val="100000"/>
              </a:lnSpc>
            </a:pPr>
            <a:r>
              <a:rPr sz="900" b="1" i="0">
                <a:solidFill>
                  <a:srgbClr val="171717"/>
                </a:solidFill>
                <a:latin typeface="Arial"/>
              </a:rPr>
              <a:t>tests et portes bloquantes</a:t>
            </a:r>
          </a:p>
        </p:txBody>
      </p:sp>
      <p:sp>
        <p:nvSpPr>
          <p:cNvPr id="43" name="Rounded Rectangle 42"/>
          <p:cNvSpPr/>
          <p:nvPr/>
        </p:nvSpPr>
        <p:spPr>
          <a:xfrm>
            <a:off x="457200" y="3163824"/>
            <a:ext cx="1225296" cy="384048"/>
          </a:xfrm>
          <a:prstGeom prst="roundRect">
            <a:avLst>
              <a:gd name="adj" fmla="val 1488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457200" y="3163824"/>
            <a:ext cx="1225296" cy="384048"/>
          </a:xfrm>
          <a:prstGeom prst="rect">
            <a:avLst/>
          </a:prstGeom>
          <a:noFill/>
        </p:spPr>
        <p:txBody>
          <a:bodyPr wrap="square" lIns="54864" tIns="27432" rIns="54864" bIns="27432" anchor="ctr">
            <a:spAutoFit/>
          </a:bodyPr>
          <a:lstStyle/>
          <a:p>
            <a:pPr algn="ctr">
              <a:lnSpc>
                <a:spcPct val="100000"/>
              </a:lnSpc>
            </a:pPr>
            <a:r>
              <a:rPr sz="800" b="1" i="0">
                <a:solidFill>
                  <a:srgbClr val="171717"/>
                </a:solidFill>
                <a:latin typeface="Arial"/>
              </a:rPr>
              <a:t>Dépendances</a:t>
            </a:r>
          </a:p>
        </p:txBody>
      </p:sp>
      <p:sp>
        <p:nvSpPr>
          <p:cNvPr id="45" name="TextBox 44"/>
          <p:cNvSpPr txBox="1"/>
          <p:nvPr/>
        </p:nvSpPr>
        <p:spPr>
          <a:xfrm>
            <a:off x="1792224" y="3163824"/>
            <a:ext cx="2871216" cy="384048"/>
          </a:xfrm>
          <a:prstGeom prst="rect">
            <a:avLst/>
          </a:prstGeom>
          <a:noFill/>
        </p:spPr>
        <p:txBody>
          <a:bodyPr wrap="square" lIns="54864" tIns="27432" rIns="54864" bIns="27432" anchor="ctr">
            <a:spAutoFit/>
          </a:bodyPr>
          <a:lstStyle/>
          <a:p>
            <a:pPr algn="l">
              <a:lnSpc>
                <a:spcPct val="100000"/>
              </a:lnSpc>
            </a:pPr>
            <a:r>
              <a:rPr sz="850" b="0" i="0">
                <a:solidFill>
                  <a:srgbClr val="666666"/>
                </a:solidFill>
                <a:latin typeface="Arial"/>
              </a:rPr>
              <a:t>dépendances et images non contrôlées</a:t>
            </a:r>
          </a:p>
        </p:txBody>
      </p:sp>
      <p:sp>
        <p:nvSpPr>
          <p:cNvPr id="46" name="Rounded Rectangle 45"/>
          <p:cNvSpPr/>
          <p:nvPr/>
        </p:nvSpPr>
        <p:spPr>
          <a:xfrm>
            <a:off x="4846320" y="3163824"/>
            <a:ext cx="3840480"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4846320" y="3246120"/>
            <a:ext cx="45720" cy="219456"/>
          </a:xfrm>
          <a:prstGeom prst="rect">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5029200" y="3163824"/>
            <a:ext cx="3529584" cy="384048"/>
          </a:xfrm>
          <a:prstGeom prst="rect">
            <a:avLst/>
          </a:prstGeom>
          <a:noFill/>
        </p:spPr>
        <p:txBody>
          <a:bodyPr wrap="square" lIns="54864" tIns="27432" rIns="54864" bIns="27432" anchor="ctr">
            <a:spAutoFit/>
          </a:bodyPr>
          <a:lstStyle/>
          <a:p>
            <a:pPr algn="l">
              <a:lnSpc>
                <a:spcPct val="100000"/>
              </a:lnSpc>
            </a:pPr>
            <a:r>
              <a:rPr sz="900" b="1" i="0">
                <a:solidFill>
                  <a:srgbClr val="171717"/>
                </a:solidFill>
                <a:latin typeface="Arial"/>
              </a:rPr>
              <a:t>analyse de sécurité en porte</a:t>
            </a:r>
          </a:p>
        </p:txBody>
      </p:sp>
      <p:sp>
        <p:nvSpPr>
          <p:cNvPr id="49" name="Rounded Rectangle 48"/>
          <p:cNvSpPr/>
          <p:nvPr/>
        </p:nvSpPr>
        <p:spPr>
          <a:xfrm>
            <a:off x="457200" y="3593591"/>
            <a:ext cx="1225296" cy="384048"/>
          </a:xfrm>
          <a:prstGeom prst="roundRect">
            <a:avLst>
              <a:gd name="adj" fmla="val 1488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57200" y="3593591"/>
            <a:ext cx="1225296" cy="384048"/>
          </a:xfrm>
          <a:prstGeom prst="rect">
            <a:avLst/>
          </a:prstGeom>
          <a:noFill/>
        </p:spPr>
        <p:txBody>
          <a:bodyPr wrap="square" lIns="54864" tIns="27432" rIns="54864" bIns="27432" anchor="ctr">
            <a:spAutoFit/>
          </a:bodyPr>
          <a:lstStyle/>
          <a:p>
            <a:pPr algn="ctr">
              <a:lnSpc>
                <a:spcPct val="100000"/>
              </a:lnSpc>
            </a:pPr>
            <a:r>
              <a:rPr sz="800" b="1" i="0">
                <a:solidFill>
                  <a:srgbClr val="171717"/>
                </a:solidFill>
                <a:latin typeface="Arial"/>
              </a:rPr>
              <a:t>Exploitation</a:t>
            </a:r>
          </a:p>
        </p:txBody>
      </p:sp>
      <p:sp>
        <p:nvSpPr>
          <p:cNvPr id="51" name="TextBox 50"/>
          <p:cNvSpPr txBox="1"/>
          <p:nvPr/>
        </p:nvSpPr>
        <p:spPr>
          <a:xfrm>
            <a:off x="1792224" y="3593591"/>
            <a:ext cx="2871216" cy="384048"/>
          </a:xfrm>
          <a:prstGeom prst="rect">
            <a:avLst/>
          </a:prstGeom>
          <a:noFill/>
        </p:spPr>
        <p:txBody>
          <a:bodyPr wrap="square" lIns="54864" tIns="27432" rIns="54864" bIns="27432" anchor="ctr">
            <a:spAutoFit/>
          </a:bodyPr>
          <a:lstStyle/>
          <a:p>
            <a:pPr algn="l">
              <a:lnSpc>
                <a:spcPct val="100000"/>
              </a:lnSpc>
            </a:pPr>
            <a:r>
              <a:rPr sz="850" b="0" i="0">
                <a:solidFill>
                  <a:srgbClr val="666666"/>
                </a:solidFill>
                <a:latin typeface="Arial"/>
              </a:rPr>
              <a:t>peu visible, énergie non mesurée</a:t>
            </a:r>
          </a:p>
        </p:txBody>
      </p:sp>
      <p:sp>
        <p:nvSpPr>
          <p:cNvPr id="52" name="Rounded Rectangle 51"/>
          <p:cNvSpPr/>
          <p:nvPr/>
        </p:nvSpPr>
        <p:spPr>
          <a:xfrm>
            <a:off x="4846320" y="3593591"/>
            <a:ext cx="3840480"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ectangle 52"/>
          <p:cNvSpPr/>
          <p:nvPr/>
        </p:nvSpPr>
        <p:spPr>
          <a:xfrm>
            <a:off x="4846320" y="3675887"/>
            <a:ext cx="45720" cy="219456"/>
          </a:xfrm>
          <a:prstGeom prst="rect">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029200" y="3593591"/>
            <a:ext cx="3529584" cy="384048"/>
          </a:xfrm>
          <a:prstGeom prst="rect">
            <a:avLst/>
          </a:prstGeom>
          <a:noFill/>
        </p:spPr>
        <p:txBody>
          <a:bodyPr wrap="square" lIns="54864" tIns="27432" rIns="54864" bIns="27432" anchor="ctr">
            <a:spAutoFit/>
          </a:bodyPr>
          <a:lstStyle/>
          <a:p>
            <a:pPr algn="l">
              <a:lnSpc>
                <a:spcPct val="100000"/>
              </a:lnSpc>
            </a:pPr>
            <a:r>
              <a:rPr sz="900" b="1" i="0">
                <a:solidFill>
                  <a:srgbClr val="171717"/>
                </a:solidFill>
                <a:latin typeface="Arial"/>
              </a:rPr>
              <a:t>métriques, journaux, alertes</a:t>
            </a:r>
          </a:p>
        </p:txBody>
      </p:sp>
      <p:sp>
        <p:nvSpPr>
          <p:cNvPr id="55" name="Rectangle 54"/>
          <p:cNvSpPr/>
          <p:nvPr/>
        </p:nvSpPr>
        <p:spPr>
          <a:xfrm>
            <a:off x="457200" y="4114800"/>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457200" y="4114800"/>
            <a:ext cx="548640" cy="9144"/>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457200" y="4187952"/>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D9480F"/>
                </a:solidFill>
                <a:latin typeface="Arial"/>
              </a:rPr>
              <a:t>DEUX EXIGENCES QUI TRAVERSENT TOUTE LA CHAÎNE</a:t>
            </a:r>
          </a:p>
        </p:txBody>
      </p:sp>
      <p:sp>
        <p:nvSpPr>
          <p:cNvPr id="58" name="TextBox 57"/>
          <p:cNvSpPr txBox="1"/>
          <p:nvPr/>
        </p:nvSpPr>
        <p:spPr>
          <a:xfrm>
            <a:off x="457200" y="4389120"/>
            <a:ext cx="8229600" cy="274320"/>
          </a:xfrm>
          <a:prstGeom prst="rect">
            <a:avLst/>
          </a:prstGeom>
          <a:noFill/>
        </p:spPr>
        <p:txBody>
          <a:bodyPr wrap="square" lIns="54864" tIns="27432" rIns="54864" bIns="27432" anchor="t">
            <a:spAutoFit/>
          </a:bodyPr>
          <a:lstStyle/>
          <a:p>
            <a:pPr algn="l">
              <a:lnSpc>
                <a:spcPct val="105000"/>
              </a:lnSpc>
            </a:pPr>
            <a:r>
              <a:rPr sz="950" b="0" i="0">
                <a:solidFill>
                  <a:srgbClr val="666666"/>
                </a:solidFill>
                <a:latin typeface="Arial"/>
              </a:rPr>
              <a:t>green IT, dimensionnement au plus juste et énergie mesurée   ·   accessibilité, aucun statut porté par la seule couleur</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096000" y="0"/>
            <a:ext cx="1524000" cy="41148"/>
          </a:xfrm>
          <a:prstGeom prst="rect">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269480"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10144"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lIns="54864" tIns="27432" rIns="54864" bIns="27432" anchor="t">
            <a:spAutoFit/>
          </a:bodyPr>
          <a:lstStyle/>
          <a:p>
            <a:pPr algn="l">
              <a:lnSpc>
                <a:spcPct val="100000"/>
              </a:lnSpc>
            </a:pPr>
            <a:r>
              <a:rPr sz="750" b="1" i="0" spc="120">
                <a:solidFill>
                  <a:srgbClr val="D9480F"/>
                </a:solidFill>
                <a:latin typeface="Arial"/>
              </a:rPr>
              <a:t>5 · OPTION DEVOPS</a:t>
            </a:r>
          </a:p>
        </p:txBody>
      </p:sp>
      <p:sp>
        <p:nvSpPr>
          <p:cNvPr id="11" name="TextBox 10"/>
          <p:cNvSpPr txBox="1"/>
          <p:nvPr/>
        </p:nvSpPr>
        <p:spPr>
          <a:xfrm>
            <a:off x="457200" y="493776"/>
            <a:ext cx="6720840" cy="566928"/>
          </a:xfrm>
          <a:prstGeom prst="rect">
            <a:avLst/>
          </a:prstGeom>
          <a:noFill/>
        </p:spPr>
        <p:txBody>
          <a:bodyPr wrap="square" lIns="54864" tIns="27432" rIns="54864" bIns="27432" anchor="t">
            <a:spAutoFit/>
          </a:bodyPr>
          <a:lstStyle/>
          <a:p>
            <a:pPr algn="l">
              <a:lnSpc>
                <a:spcPct val="100000"/>
              </a:lnSpc>
            </a:pPr>
            <a:r>
              <a:rPr sz="2400" b="1" i="0" spc="-84">
                <a:solidFill>
                  <a:srgbClr val="171717"/>
                </a:solidFill>
                <a:latin typeface="Arial"/>
              </a:rPr>
              <a:t>Infrastructure as code</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26679" y="4832604"/>
            <a:ext cx="1143000" cy="237744"/>
          </a:xfrm>
          <a:prstGeom prst="rect">
            <a:avLst/>
          </a:prstGeom>
          <a:noFill/>
        </p:spPr>
        <p:txBody>
          <a:bodyPr wrap="square" lIns="54864" tIns="27432" rIns="54864" bIns="27432" anchor="t">
            <a:spAutoFit/>
          </a:bodyPr>
          <a:lstStyle/>
          <a:p>
            <a:pPr algn="r">
              <a:lnSpc>
                <a:spcPct val="100000"/>
              </a:lnSpc>
            </a:pPr>
            <a:r>
              <a:rPr sz="800" b="0" i="0">
                <a:solidFill>
                  <a:srgbClr val="A1A1A1"/>
                </a:solidFill>
                <a:latin typeface="Arial"/>
              </a:rPr>
              <a:t>21 / 31</a:t>
            </a:r>
          </a:p>
        </p:txBody>
      </p:sp>
      <p:sp>
        <p:nvSpPr>
          <p:cNvPr id="14" name="Rounded Rectangle 13"/>
          <p:cNvSpPr/>
          <p:nvPr/>
        </p:nvSpPr>
        <p:spPr>
          <a:xfrm>
            <a:off x="457200" y="4818888"/>
            <a:ext cx="733348" cy="228600"/>
          </a:xfrm>
          <a:prstGeom prst="roundRect">
            <a:avLst>
              <a:gd name="adj" fmla="val 25000"/>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4818888"/>
            <a:ext cx="733348" cy="228600"/>
          </a:xfrm>
          <a:prstGeom prst="rect">
            <a:avLst/>
          </a:prstGeom>
          <a:noFill/>
        </p:spPr>
        <p:txBody>
          <a:bodyPr wrap="square" lIns="54864" tIns="27432" rIns="54864" bIns="27432" anchor="ctr">
            <a:spAutoFit/>
          </a:bodyPr>
          <a:lstStyle/>
          <a:p>
            <a:pPr algn="ctr">
              <a:lnSpc>
                <a:spcPct val="100000"/>
              </a:lnSpc>
            </a:pPr>
            <a:r>
              <a:rPr sz="750" b="1" i="0">
                <a:solidFill>
                  <a:srgbClr val="171717"/>
                </a:solidFill>
                <a:latin typeface="Arial"/>
              </a:rPr>
              <a:t>Réf.  C29</a:t>
            </a:r>
          </a:p>
        </p:txBody>
      </p:sp>
      <p:sp>
        <p:nvSpPr>
          <p:cNvPr id="16" name="TextBox 15"/>
          <p:cNvSpPr txBox="1"/>
          <p:nvPr/>
        </p:nvSpPr>
        <p:spPr>
          <a:xfrm>
            <a:off x="1281988" y="4818888"/>
            <a:ext cx="5486400" cy="228600"/>
          </a:xfrm>
          <a:prstGeom prst="rect">
            <a:avLst/>
          </a:prstGeom>
          <a:noFill/>
        </p:spPr>
        <p:txBody>
          <a:bodyPr wrap="square" lIns="54864" tIns="27432" rIns="54864" bIns="27432" anchor="ctr">
            <a:spAutoFit/>
          </a:bodyPr>
          <a:lstStyle/>
          <a:p>
            <a:pPr algn="l">
              <a:lnSpc>
                <a:spcPct val="100000"/>
              </a:lnSpc>
            </a:pPr>
            <a:r>
              <a:rPr sz="750" b="0" i="0">
                <a:solidFill>
                  <a:srgbClr val="A1A1A1"/>
                </a:solidFill>
                <a:latin typeface="Arial"/>
              </a:rPr>
              <a:t>BC4C · mémoire 17.1 · annexe B · wiki 07</a:t>
            </a:r>
          </a:p>
        </p:txBody>
      </p:sp>
      <p:sp>
        <p:nvSpPr>
          <p:cNvPr id="17" name="TextBox 16"/>
          <p:cNvSpPr txBox="1"/>
          <p:nvPr/>
        </p:nvSpPr>
        <p:spPr>
          <a:xfrm>
            <a:off x="457200" y="1207008"/>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UN SEUL DÉPÔT, DU CODE JUSQU’AUX PIPELINES</a:t>
            </a:r>
          </a:p>
        </p:txBody>
      </p:sp>
      <p:sp>
        <p:nvSpPr>
          <p:cNvPr id="18" name="Rounded Rectangle 17"/>
          <p:cNvSpPr/>
          <p:nvPr/>
        </p:nvSpPr>
        <p:spPr>
          <a:xfrm>
            <a:off x="457200" y="1426464"/>
            <a:ext cx="5394960" cy="2395728"/>
          </a:xfrm>
          <a:prstGeom prst="roundRect">
            <a:avLst>
              <a:gd name="adj" fmla="val 2385"/>
            </a:avLst>
          </a:prstGeom>
          <a:solidFill>
            <a:srgbClr val="FFFFFF"/>
          </a:solidFill>
          <a:ln w="9525">
            <a:solidFill>
              <a:srgbClr val="F767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457200" y="1426464"/>
            <a:ext cx="5394960" cy="310896"/>
          </a:xfrm>
          <a:prstGeom prst="roundRect">
            <a:avLst>
              <a:gd name="adj" fmla="val 18382"/>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457200" y="1581912"/>
            <a:ext cx="5394960" cy="155448"/>
          </a:xfrm>
          <a:prstGeom prst="rect">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1426464"/>
            <a:ext cx="5394960" cy="310896"/>
          </a:xfrm>
          <a:prstGeom prst="rect">
            <a:avLst/>
          </a:prstGeom>
          <a:noFill/>
        </p:spPr>
        <p:txBody>
          <a:bodyPr wrap="square" lIns="54864" tIns="27432" rIns="54864" bIns="27432" anchor="ctr">
            <a:spAutoFit/>
          </a:bodyPr>
          <a:lstStyle/>
          <a:p>
            <a:pPr algn="ctr">
              <a:lnSpc>
                <a:spcPct val="100000"/>
              </a:lnSpc>
            </a:pPr>
            <a:r>
              <a:rPr sz="950" b="1" i="0">
                <a:solidFill>
                  <a:srgbClr val="171717"/>
                </a:solidFill>
                <a:latin typeface="Arial"/>
              </a:rPr>
              <a:t>dropicture   ·   un seul dépôt Git</a:t>
            </a:r>
          </a:p>
        </p:txBody>
      </p:sp>
      <p:sp>
        <p:nvSpPr>
          <p:cNvPr id="22" name="Rounded Rectangle 21"/>
          <p:cNvSpPr/>
          <p:nvPr/>
        </p:nvSpPr>
        <p:spPr>
          <a:xfrm>
            <a:off x="640080" y="1847088"/>
            <a:ext cx="5029200" cy="402336"/>
          </a:xfrm>
          <a:prstGeom prst="roundRect">
            <a:avLst>
              <a:gd name="adj" fmla="val 14204"/>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86384" y="1847088"/>
            <a:ext cx="1920240" cy="402336"/>
          </a:xfrm>
          <a:prstGeom prst="rect">
            <a:avLst/>
          </a:prstGeom>
          <a:noFill/>
        </p:spPr>
        <p:txBody>
          <a:bodyPr wrap="square" lIns="54864" tIns="27432" rIns="54864" bIns="27432" anchor="ctr">
            <a:spAutoFit/>
          </a:bodyPr>
          <a:lstStyle/>
          <a:p>
            <a:pPr algn="l">
              <a:lnSpc>
                <a:spcPct val="100000"/>
              </a:lnSpc>
            </a:pPr>
            <a:r>
              <a:rPr sz="850" b="1" i="0">
                <a:solidFill>
                  <a:srgbClr val="171717"/>
                </a:solidFill>
                <a:latin typeface="Arial"/>
              </a:rPr>
              <a:t>apps/</a:t>
            </a:r>
          </a:p>
        </p:txBody>
      </p:sp>
      <p:sp>
        <p:nvSpPr>
          <p:cNvPr id="24" name="TextBox 23"/>
          <p:cNvSpPr txBox="1"/>
          <p:nvPr/>
        </p:nvSpPr>
        <p:spPr>
          <a:xfrm>
            <a:off x="2743200" y="1847088"/>
            <a:ext cx="1737360" cy="402336"/>
          </a:xfrm>
          <a:prstGeom prst="rect">
            <a:avLst/>
          </a:prstGeom>
          <a:noFill/>
        </p:spPr>
        <p:txBody>
          <a:bodyPr wrap="square" lIns="54864" tIns="27432" rIns="54864" bIns="27432" anchor="ctr">
            <a:spAutoFit/>
          </a:bodyPr>
          <a:lstStyle/>
          <a:p>
            <a:pPr algn="l">
              <a:lnSpc>
                <a:spcPct val="100000"/>
              </a:lnSpc>
            </a:pPr>
            <a:r>
              <a:rPr sz="800" b="0" i="0">
                <a:solidFill>
                  <a:srgbClr val="666666"/>
                </a:solidFill>
                <a:latin typeface="Arial"/>
              </a:rPr>
              <a:t>l’application</a:t>
            </a:r>
          </a:p>
        </p:txBody>
      </p:sp>
      <p:sp>
        <p:nvSpPr>
          <p:cNvPr id="25" name="TextBox 24"/>
          <p:cNvSpPr txBox="1"/>
          <p:nvPr/>
        </p:nvSpPr>
        <p:spPr>
          <a:xfrm>
            <a:off x="4480560" y="1847088"/>
            <a:ext cx="1060704" cy="402336"/>
          </a:xfrm>
          <a:prstGeom prst="rect">
            <a:avLst/>
          </a:prstGeom>
          <a:noFill/>
        </p:spPr>
        <p:txBody>
          <a:bodyPr wrap="square" lIns="54864" tIns="27432" rIns="54864" bIns="27432" anchor="ctr">
            <a:spAutoFit/>
          </a:bodyPr>
          <a:lstStyle/>
          <a:p>
            <a:pPr algn="r">
              <a:lnSpc>
                <a:spcPct val="100000"/>
              </a:lnSpc>
            </a:pPr>
            <a:r>
              <a:rPr sz="900" b="1" i="0">
                <a:solidFill>
                  <a:srgbClr val="D9480F"/>
                </a:solidFill>
                <a:latin typeface="Arial"/>
              </a:rPr>
              <a:t>3 briques</a:t>
            </a:r>
          </a:p>
        </p:txBody>
      </p:sp>
      <p:sp>
        <p:nvSpPr>
          <p:cNvPr id="26" name="Rounded Rectangle 25"/>
          <p:cNvSpPr/>
          <p:nvPr/>
        </p:nvSpPr>
        <p:spPr>
          <a:xfrm>
            <a:off x="640080" y="2322576"/>
            <a:ext cx="5029200" cy="402336"/>
          </a:xfrm>
          <a:prstGeom prst="roundRect">
            <a:avLst>
              <a:gd name="adj" fmla="val 14204"/>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86384" y="2322576"/>
            <a:ext cx="1920240" cy="402336"/>
          </a:xfrm>
          <a:prstGeom prst="rect">
            <a:avLst/>
          </a:prstGeom>
          <a:noFill/>
        </p:spPr>
        <p:txBody>
          <a:bodyPr wrap="square" lIns="54864" tIns="27432" rIns="54864" bIns="27432" anchor="ctr">
            <a:spAutoFit/>
          </a:bodyPr>
          <a:lstStyle/>
          <a:p>
            <a:pPr algn="l">
              <a:lnSpc>
                <a:spcPct val="100000"/>
              </a:lnSpc>
            </a:pPr>
            <a:r>
              <a:rPr sz="850" b="1" i="0">
                <a:solidFill>
                  <a:srgbClr val="171717"/>
                </a:solidFill>
                <a:latin typeface="Arial"/>
              </a:rPr>
              <a:t>infra/*/terraform</a:t>
            </a:r>
          </a:p>
        </p:txBody>
      </p:sp>
      <p:sp>
        <p:nvSpPr>
          <p:cNvPr id="28" name="TextBox 27"/>
          <p:cNvSpPr txBox="1"/>
          <p:nvPr/>
        </p:nvSpPr>
        <p:spPr>
          <a:xfrm>
            <a:off x="2743200" y="2322576"/>
            <a:ext cx="1737360" cy="402336"/>
          </a:xfrm>
          <a:prstGeom prst="rect">
            <a:avLst/>
          </a:prstGeom>
          <a:noFill/>
        </p:spPr>
        <p:txBody>
          <a:bodyPr wrap="square" lIns="54864" tIns="27432" rIns="54864" bIns="27432" anchor="ctr">
            <a:spAutoFit/>
          </a:bodyPr>
          <a:lstStyle/>
          <a:p>
            <a:pPr algn="l">
              <a:lnSpc>
                <a:spcPct val="100000"/>
              </a:lnSpc>
            </a:pPr>
            <a:r>
              <a:rPr sz="800" b="0" i="0">
                <a:solidFill>
                  <a:srgbClr val="666666"/>
                </a:solidFill>
                <a:latin typeface="Arial"/>
              </a:rPr>
              <a:t>ce qui est provisionné</a:t>
            </a:r>
          </a:p>
        </p:txBody>
      </p:sp>
      <p:sp>
        <p:nvSpPr>
          <p:cNvPr id="29" name="TextBox 28"/>
          <p:cNvSpPr txBox="1"/>
          <p:nvPr/>
        </p:nvSpPr>
        <p:spPr>
          <a:xfrm>
            <a:off x="4480560" y="2322576"/>
            <a:ext cx="1060704" cy="402336"/>
          </a:xfrm>
          <a:prstGeom prst="rect">
            <a:avLst/>
          </a:prstGeom>
          <a:noFill/>
        </p:spPr>
        <p:txBody>
          <a:bodyPr wrap="square" lIns="54864" tIns="27432" rIns="54864" bIns="27432" anchor="ctr">
            <a:spAutoFit/>
          </a:bodyPr>
          <a:lstStyle/>
          <a:p>
            <a:pPr algn="r">
              <a:lnSpc>
                <a:spcPct val="100000"/>
              </a:lnSpc>
            </a:pPr>
            <a:r>
              <a:rPr sz="900" b="1" i="0">
                <a:solidFill>
                  <a:srgbClr val="D9480F"/>
                </a:solidFill>
                <a:latin typeface="Arial"/>
              </a:rPr>
              <a:t>52 ressources</a:t>
            </a:r>
          </a:p>
        </p:txBody>
      </p:sp>
      <p:sp>
        <p:nvSpPr>
          <p:cNvPr id="30" name="Rounded Rectangle 29"/>
          <p:cNvSpPr/>
          <p:nvPr/>
        </p:nvSpPr>
        <p:spPr>
          <a:xfrm>
            <a:off x="640080" y="2798064"/>
            <a:ext cx="5029200" cy="402336"/>
          </a:xfrm>
          <a:prstGeom prst="roundRect">
            <a:avLst>
              <a:gd name="adj" fmla="val 14204"/>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86384" y="2798064"/>
            <a:ext cx="1920240" cy="402336"/>
          </a:xfrm>
          <a:prstGeom prst="rect">
            <a:avLst/>
          </a:prstGeom>
          <a:noFill/>
        </p:spPr>
        <p:txBody>
          <a:bodyPr wrap="square" lIns="54864" tIns="27432" rIns="54864" bIns="27432" anchor="ctr">
            <a:spAutoFit/>
          </a:bodyPr>
          <a:lstStyle/>
          <a:p>
            <a:pPr algn="l">
              <a:lnSpc>
                <a:spcPct val="100000"/>
              </a:lnSpc>
            </a:pPr>
            <a:r>
              <a:rPr sz="850" b="1" i="0">
                <a:solidFill>
                  <a:srgbClr val="171717"/>
                </a:solidFill>
                <a:latin typeface="Arial"/>
              </a:rPr>
              <a:t>infra/saas/ansible</a:t>
            </a:r>
          </a:p>
        </p:txBody>
      </p:sp>
      <p:sp>
        <p:nvSpPr>
          <p:cNvPr id="32" name="TextBox 31"/>
          <p:cNvSpPr txBox="1"/>
          <p:nvPr/>
        </p:nvSpPr>
        <p:spPr>
          <a:xfrm>
            <a:off x="2743200" y="2798064"/>
            <a:ext cx="1737360" cy="402336"/>
          </a:xfrm>
          <a:prstGeom prst="rect">
            <a:avLst/>
          </a:prstGeom>
          <a:noFill/>
        </p:spPr>
        <p:txBody>
          <a:bodyPr wrap="square" lIns="54864" tIns="27432" rIns="54864" bIns="27432" anchor="ctr">
            <a:spAutoFit/>
          </a:bodyPr>
          <a:lstStyle/>
          <a:p>
            <a:pPr algn="l">
              <a:lnSpc>
                <a:spcPct val="100000"/>
              </a:lnSpc>
            </a:pPr>
            <a:r>
              <a:rPr sz="800" b="0" i="0">
                <a:solidFill>
                  <a:srgbClr val="666666"/>
                </a:solidFill>
                <a:latin typeface="Arial"/>
              </a:rPr>
              <a:t>ce qui est configuré</a:t>
            </a:r>
          </a:p>
        </p:txBody>
      </p:sp>
      <p:sp>
        <p:nvSpPr>
          <p:cNvPr id="33" name="TextBox 32"/>
          <p:cNvSpPr txBox="1"/>
          <p:nvPr/>
        </p:nvSpPr>
        <p:spPr>
          <a:xfrm>
            <a:off x="4480560" y="2798064"/>
            <a:ext cx="1060704" cy="402336"/>
          </a:xfrm>
          <a:prstGeom prst="rect">
            <a:avLst/>
          </a:prstGeom>
          <a:noFill/>
        </p:spPr>
        <p:txBody>
          <a:bodyPr wrap="square" lIns="54864" tIns="27432" rIns="54864" bIns="27432" anchor="ctr">
            <a:spAutoFit/>
          </a:bodyPr>
          <a:lstStyle/>
          <a:p>
            <a:pPr algn="r">
              <a:lnSpc>
                <a:spcPct val="100000"/>
              </a:lnSpc>
            </a:pPr>
            <a:r>
              <a:rPr sz="900" b="1" i="0">
                <a:solidFill>
                  <a:srgbClr val="D9480F"/>
                </a:solidFill>
                <a:latin typeface="Arial"/>
              </a:rPr>
              <a:t>191 tâches</a:t>
            </a:r>
          </a:p>
        </p:txBody>
      </p:sp>
      <p:sp>
        <p:nvSpPr>
          <p:cNvPr id="34" name="Rounded Rectangle 33"/>
          <p:cNvSpPr/>
          <p:nvPr/>
        </p:nvSpPr>
        <p:spPr>
          <a:xfrm>
            <a:off x="640080" y="3273552"/>
            <a:ext cx="5029200" cy="402336"/>
          </a:xfrm>
          <a:prstGeom prst="roundRect">
            <a:avLst>
              <a:gd name="adj" fmla="val 14204"/>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86384" y="3273552"/>
            <a:ext cx="1920240" cy="402336"/>
          </a:xfrm>
          <a:prstGeom prst="rect">
            <a:avLst/>
          </a:prstGeom>
          <a:noFill/>
        </p:spPr>
        <p:txBody>
          <a:bodyPr wrap="square" lIns="54864" tIns="27432" rIns="54864" bIns="27432" anchor="ctr">
            <a:spAutoFit/>
          </a:bodyPr>
          <a:lstStyle/>
          <a:p>
            <a:pPr algn="l">
              <a:lnSpc>
                <a:spcPct val="100000"/>
              </a:lnSpc>
            </a:pPr>
            <a:r>
              <a:rPr sz="850" b="1" i="0">
                <a:solidFill>
                  <a:srgbClr val="171717"/>
                </a:solidFill>
                <a:latin typeface="Arial"/>
              </a:rPr>
              <a:t>.github/workflows</a:t>
            </a:r>
          </a:p>
        </p:txBody>
      </p:sp>
      <p:sp>
        <p:nvSpPr>
          <p:cNvPr id="36" name="TextBox 35"/>
          <p:cNvSpPr txBox="1"/>
          <p:nvPr/>
        </p:nvSpPr>
        <p:spPr>
          <a:xfrm>
            <a:off x="2743200" y="3273552"/>
            <a:ext cx="1737360" cy="402336"/>
          </a:xfrm>
          <a:prstGeom prst="rect">
            <a:avLst/>
          </a:prstGeom>
          <a:noFill/>
        </p:spPr>
        <p:txBody>
          <a:bodyPr wrap="square" lIns="54864" tIns="27432" rIns="54864" bIns="27432" anchor="ctr">
            <a:spAutoFit/>
          </a:bodyPr>
          <a:lstStyle/>
          <a:p>
            <a:pPr algn="l">
              <a:lnSpc>
                <a:spcPct val="100000"/>
              </a:lnSpc>
            </a:pPr>
            <a:r>
              <a:rPr sz="800" b="0" i="0">
                <a:solidFill>
                  <a:srgbClr val="666666"/>
                </a:solidFill>
                <a:latin typeface="Arial"/>
              </a:rPr>
              <a:t>ce qui applique</a:t>
            </a:r>
          </a:p>
        </p:txBody>
      </p:sp>
      <p:sp>
        <p:nvSpPr>
          <p:cNvPr id="37" name="TextBox 36"/>
          <p:cNvSpPr txBox="1"/>
          <p:nvPr/>
        </p:nvSpPr>
        <p:spPr>
          <a:xfrm>
            <a:off x="4480560" y="3273552"/>
            <a:ext cx="1060704" cy="402336"/>
          </a:xfrm>
          <a:prstGeom prst="rect">
            <a:avLst/>
          </a:prstGeom>
          <a:noFill/>
        </p:spPr>
        <p:txBody>
          <a:bodyPr wrap="square" lIns="54864" tIns="27432" rIns="54864" bIns="27432" anchor="ctr">
            <a:spAutoFit/>
          </a:bodyPr>
          <a:lstStyle/>
          <a:p>
            <a:pPr algn="r">
              <a:lnSpc>
                <a:spcPct val="100000"/>
              </a:lnSpc>
            </a:pPr>
            <a:r>
              <a:rPr sz="900" b="1" i="0">
                <a:solidFill>
                  <a:srgbClr val="D9480F"/>
                </a:solidFill>
                <a:latin typeface="Arial"/>
              </a:rPr>
              <a:t>8 workflows</a:t>
            </a:r>
          </a:p>
        </p:txBody>
      </p:sp>
      <p:sp>
        <p:nvSpPr>
          <p:cNvPr id="38" name="TextBox 37"/>
          <p:cNvSpPr txBox="1"/>
          <p:nvPr/>
        </p:nvSpPr>
        <p:spPr>
          <a:xfrm>
            <a:off x="6126480" y="1207008"/>
            <a:ext cx="256032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HORS DU DÉPÔT, VOLONTAIREMENT</a:t>
            </a:r>
          </a:p>
        </p:txBody>
      </p:sp>
      <p:sp>
        <p:nvSpPr>
          <p:cNvPr id="39" name="Rounded Rectangle 38"/>
          <p:cNvSpPr/>
          <p:nvPr/>
        </p:nvSpPr>
        <p:spPr>
          <a:xfrm>
            <a:off x="6126480" y="1426464"/>
            <a:ext cx="2560320" cy="1133856"/>
          </a:xfrm>
          <a:prstGeom prst="roundRect">
            <a:avLst>
              <a:gd name="adj" fmla="val 5040"/>
            </a:avLst>
          </a:prstGeom>
          <a:solidFill>
            <a:srgbClr val="FFFFFF"/>
          </a:solidFill>
          <a:ln w="9525">
            <a:solidFill>
              <a:srgbClr val="D4D4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291072" y="1517904"/>
            <a:ext cx="2231136" cy="219456"/>
          </a:xfrm>
          <a:prstGeom prst="rect">
            <a:avLst/>
          </a:prstGeom>
          <a:noFill/>
        </p:spPr>
        <p:txBody>
          <a:bodyPr wrap="square" lIns="54864" tIns="27432" rIns="54864" bIns="27432" anchor="t">
            <a:spAutoFit/>
          </a:bodyPr>
          <a:lstStyle/>
          <a:p>
            <a:pPr algn="l">
              <a:lnSpc>
                <a:spcPct val="100000"/>
              </a:lnSpc>
            </a:pPr>
            <a:r>
              <a:rPr sz="950" b="1" i="0">
                <a:solidFill>
                  <a:srgbClr val="171717"/>
                </a:solidFill>
                <a:latin typeface="Arial"/>
              </a:rPr>
              <a:t>L’état Terraform</a:t>
            </a:r>
          </a:p>
        </p:txBody>
      </p:sp>
      <p:sp>
        <p:nvSpPr>
          <p:cNvPr id="41" name="TextBox 40"/>
          <p:cNvSpPr txBox="1"/>
          <p:nvPr/>
        </p:nvSpPr>
        <p:spPr>
          <a:xfrm>
            <a:off x="6291072" y="1755648"/>
            <a:ext cx="2231136" cy="731520"/>
          </a:xfrm>
          <a:prstGeom prst="rect">
            <a:avLst/>
          </a:prstGeom>
          <a:noFill/>
        </p:spPr>
        <p:txBody>
          <a:bodyPr wrap="square" lIns="54864" tIns="27432" rIns="54864" bIns="27432" anchor="t">
            <a:spAutoFit/>
          </a:bodyPr>
          <a:lstStyle/>
          <a:p>
            <a:pPr algn="l">
              <a:lnSpc>
                <a:spcPct val="108000"/>
              </a:lnSpc>
            </a:pPr>
            <a:r>
              <a:rPr sz="850" b="0" i="0">
                <a:solidFill>
                  <a:srgbClr val="666666"/>
                </a:solidFill>
                <a:latin typeface="Arial"/>
              </a:rPr>
              <a:t>bucket S3 chiffré, verrou d’écriture, région eu-west-3</a:t>
            </a:r>
          </a:p>
        </p:txBody>
      </p:sp>
      <p:sp>
        <p:nvSpPr>
          <p:cNvPr id="42" name="Left Arrow 41"/>
          <p:cNvSpPr/>
          <p:nvPr/>
        </p:nvSpPr>
        <p:spPr>
          <a:xfrm>
            <a:off x="5907024" y="1929384"/>
            <a:ext cx="146304" cy="128016"/>
          </a:xfrm>
          <a:prstGeom prst="lef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ounded Rectangle 42"/>
          <p:cNvSpPr/>
          <p:nvPr/>
        </p:nvSpPr>
        <p:spPr>
          <a:xfrm>
            <a:off x="6126480" y="2688336"/>
            <a:ext cx="2560320" cy="1133856"/>
          </a:xfrm>
          <a:prstGeom prst="roundRect">
            <a:avLst>
              <a:gd name="adj" fmla="val 5040"/>
            </a:avLst>
          </a:prstGeom>
          <a:solidFill>
            <a:srgbClr val="FFFFFF"/>
          </a:solidFill>
          <a:ln w="9525">
            <a:solidFill>
              <a:srgbClr val="D4D4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291072" y="2779776"/>
            <a:ext cx="2231136" cy="219456"/>
          </a:xfrm>
          <a:prstGeom prst="rect">
            <a:avLst/>
          </a:prstGeom>
          <a:noFill/>
        </p:spPr>
        <p:txBody>
          <a:bodyPr wrap="square" lIns="54864" tIns="27432" rIns="54864" bIns="27432" anchor="t">
            <a:spAutoFit/>
          </a:bodyPr>
          <a:lstStyle/>
          <a:p>
            <a:pPr algn="l">
              <a:lnSpc>
                <a:spcPct val="100000"/>
              </a:lnSpc>
            </a:pPr>
            <a:r>
              <a:rPr sz="950" b="1" i="0">
                <a:solidFill>
                  <a:srgbClr val="171717"/>
                </a:solidFill>
                <a:latin typeface="Arial"/>
              </a:rPr>
              <a:t>Les secrets</a:t>
            </a:r>
          </a:p>
        </p:txBody>
      </p:sp>
      <p:sp>
        <p:nvSpPr>
          <p:cNvPr id="45" name="TextBox 44"/>
          <p:cNvSpPr txBox="1"/>
          <p:nvPr/>
        </p:nvSpPr>
        <p:spPr>
          <a:xfrm>
            <a:off x="6291072" y="3017520"/>
            <a:ext cx="2231136" cy="731520"/>
          </a:xfrm>
          <a:prstGeom prst="rect">
            <a:avLst/>
          </a:prstGeom>
          <a:noFill/>
        </p:spPr>
        <p:txBody>
          <a:bodyPr wrap="square" lIns="54864" tIns="27432" rIns="54864" bIns="27432" anchor="t">
            <a:spAutoFit/>
          </a:bodyPr>
          <a:lstStyle/>
          <a:p>
            <a:pPr algn="l">
              <a:lnSpc>
                <a:spcPct val="108000"/>
              </a:lnSpc>
            </a:pPr>
            <a:r>
              <a:rPr sz="850" b="0" i="0">
                <a:solidFill>
                  <a:srgbClr val="666666"/>
                </a:solidFill>
                <a:latin typeface="Arial"/>
              </a:rPr>
              <a:t>71 références injectées par le pipeline, aucun fichier versionné</a:t>
            </a:r>
          </a:p>
        </p:txBody>
      </p:sp>
      <p:sp>
        <p:nvSpPr>
          <p:cNvPr id="46" name="Left Arrow 45"/>
          <p:cNvSpPr/>
          <p:nvPr/>
        </p:nvSpPr>
        <p:spPr>
          <a:xfrm>
            <a:off x="5907024" y="3191256"/>
            <a:ext cx="146304" cy="128016"/>
          </a:xfrm>
          <a:prstGeom prst="lef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457200" y="395020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457200" y="3950208"/>
            <a:ext cx="548640" cy="9144"/>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57200" y="4023360"/>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D9480F"/>
                </a:solidFill>
                <a:latin typeface="Arial"/>
              </a:rPr>
              <a:t>AUCUNE RESSOURCE N’EXISTE HORS DU CODE</a:t>
            </a:r>
          </a:p>
        </p:txBody>
      </p:sp>
      <p:sp>
        <p:nvSpPr>
          <p:cNvPr id="50" name="TextBox 49"/>
          <p:cNvSpPr txBox="1"/>
          <p:nvPr/>
        </p:nvSpPr>
        <p:spPr>
          <a:xfrm>
            <a:off x="457200" y="4224528"/>
            <a:ext cx="8229600" cy="274320"/>
          </a:xfrm>
          <a:prstGeom prst="rect">
            <a:avLst/>
          </a:prstGeom>
          <a:noFill/>
        </p:spPr>
        <p:txBody>
          <a:bodyPr wrap="square" lIns="54864" tIns="27432" rIns="54864" bIns="27432" anchor="t">
            <a:spAutoFit/>
          </a:bodyPr>
          <a:lstStyle/>
          <a:p>
            <a:pPr algn="l">
              <a:lnSpc>
                <a:spcPct val="105000"/>
              </a:lnSpc>
            </a:pPr>
            <a:r>
              <a:rPr sz="900" b="0" i="0">
                <a:solidFill>
                  <a:srgbClr val="666666"/>
                </a:solidFill>
                <a:latin typeface="Arial"/>
              </a:rPr>
              <a:t>6 des 8 workflows appliquent Terraform, jamais un poste de travail   ·   un commit décrit un état complet du système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096000" y="0"/>
            <a:ext cx="1524000" cy="41148"/>
          </a:xfrm>
          <a:prstGeom prst="rect">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269480"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10144"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lIns="54864" tIns="27432" rIns="54864" bIns="27432" anchor="t">
            <a:spAutoFit/>
          </a:bodyPr>
          <a:lstStyle/>
          <a:p>
            <a:pPr algn="l">
              <a:lnSpc>
                <a:spcPct val="100000"/>
              </a:lnSpc>
            </a:pPr>
            <a:r>
              <a:rPr sz="750" b="1" i="0" spc="120">
                <a:solidFill>
                  <a:srgbClr val="D9480F"/>
                </a:solidFill>
                <a:latin typeface="Arial"/>
              </a:rPr>
              <a:t>5 · OPTION DEVOPS</a:t>
            </a:r>
          </a:p>
        </p:txBody>
      </p:sp>
      <p:sp>
        <p:nvSpPr>
          <p:cNvPr id="11" name="TextBox 10"/>
          <p:cNvSpPr txBox="1"/>
          <p:nvPr/>
        </p:nvSpPr>
        <p:spPr>
          <a:xfrm>
            <a:off x="457200" y="493776"/>
            <a:ext cx="6720840" cy="566928"/>
          </a:xfrm>
          <a:prstGeom prst="rect">
            <a:avLst/>
          </a:prstGeom>
          <a:noFill/>
        </p:spPr>
        <p:txBody>
          <a:bodyPr wrap="square" lIns="54864" tIns="27432" rIns="54864" bIns="27432" anchor="t">
            <a:spAutoFit/>
          </a:bodyPr>
          <a:lstStyle/>
          <a:p>
            <a:pPr algn="l">
              <a:lnSpc>
                <a:spcPct val="100000"/>
              </a:lnSpc>
            </a:pPr>
            <a:r>
              <a:rPr sz="2400" b="1" i="0" spc="-84">
                <a:solidFill>
                  <a:srgbClr val="171717"/>
                </a:solidFill>
                <a:latin typeface="Arial"/>
              </a:rPr>
              <a:t>Chaîne CI/CD et DevSecOps</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26679" y="4832604"/>
            <a:ext cx="1143000" cy="237744"/>
          </a:xfrm>
          <a:prstGeom prst="rect">
            <a:avLst/>
          </a:prstGeom>
          <a:noFill/>
        </p:spPr>
        <p:txBody>
          <a:bodyPr wrap="square" lIns="54864" tIns="27432" rIns="54864" bIns="27432" anchor="t">
            <a:spAutoFit/>
          </a:bodyPr>
          <a:lstStyle/>
          <a:p>
            <a:pPr algn="r">
              <a:lnSpc>
                <a:spcPct val="100000"/>
              </a:lnSpc>
            </a:pPr>
            <a:r>
              <a:rPr sz="800" b="0" i="0">
                <a:solidFill>
                  <a:srgbClr val="A1A1A1"/>
                </a:solidFill>
                <a:latin typeface="Arial"/>
              </a:rPr>
              <a:t>22 / 31</a:t>
            </a:r>
          </a:p>
        </p:txBody>
      </p:sp>
      <p:sp>
        <p:nvSpPr>
          <p:cNvPr id="14" name="Rounded Rectangle 13"/>
          <p:cNvSpPr/>
          <p:nvPr/>
        </p:nvSpPr>
        <p:spPr>
          <a:xfrm>
            <a:off x="457200" y="4818888"/>
            <a:ext cx="733348" cy="228600"/>
          </a:xfrm>
          <a:prstGeom prst="roundRect">
            <a:avLst>
              <a:gd name="adj" fmla="val 25000"/>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4818888"/>
            <a:ext cx="733348" cy="228600"/>
          </a:xfrm>
          <a:prstGeom prst="rect">
            <a:avLst/>
          </a:prstGeom>
          <a:noFill/>
        </p:spPr>
        <p:txBody>
          <a:bodyPr wrap="square" lIns="54864" tIns="27432" rIns="54864" bIns="27432" anchor="ctr">
            <a:spAutoFit/>
          </a:bodyPr>
          <a:lstStyle/>
          <a:p>
            <a:pPr algn="ctr">
              <a:lnSpc>
                <a:spcPct val="100000"/>
              </a:lnSpc>
            </a:pPr>
            <a:r>
              <a:rPr sz="750" b="1" i="0">
                <a:solidFill>
                  <a:srgbClr val="171717"/>
                </a:solidFill>
                <a:latin typeface="Arial"/>
              </a:rPr>
              <a:t>Réf.  C29</a:t>
            </a:r>
          </a:p>
        </p:txBody>
      </p:sp>
      <p:sp>
        <p:nvSpPr>
          <p:cNvPr id="16" name="TextBox 15"/>
          <p:cNvSpPr txBox="1"/>
          <p:nvPr/>
        </p:nvSpPr>
        <p:spPr>
          <a:xfrm>
            <a:off x="1281988" y="4818888"/>
            <a:ext cx="5486400" cy="228600"/>
          </a:xfrm>
          <a:prstGeom prst="rect">
            <a:avLst/>
          </a:prstGeom>
          <a:noFill/>
        </p:spPr>
        <p:txBody>
          <a:bodyPr wrap="square" lIns="54864" tIns="27432" rIns="54864" bIns="27432" anchor="ctr">
            <a:spAutoFit/>
          </a:bodyPr>
          <a:lstStyle/>
          <a:p>
            <a:pPr algn="l">
              <a:lnSpc>
                <a:spcPct val="100000"/>
              </a:lnSpc>
            </a:pPr>
            <a:r>
              <a:rPr sz="750" b="0" i="0">
                <a:solidFill>
                  <a:srgbClr val="A1A1A1"/>
                </a:solidFill>
                <a:latin typeface="Arial"/>
              </a:rPr>
              <a:t>BC4C · mémoire 17.2 · annexes K, S · wiki 09</a:t>
            </a:r>
          </a:p>
        </p:txBody>
      </p:sp>
      <p:sp>
        <p:nvSpPr>
          <p:cNvPr id="17" name="TextBox 16"/>
          <p:cNvSpPr txBox="1"/>
          <p:nvPr/>
        </p:nvSpPr>
        <p:spPr>
          <a:xfrm>
            <a:off x="457200" y="1225296"/>
            <a:ext cx="2743200" cy="219456"/>
          </a:xfrm>
          <a:prstGeom prst="rect">
            <a:avLst/>
          </a:prstGeom>
          <a:noFill/>
        </p:spPr>
        <p:txBody>
          <a:bodyPr wrap="square" lIns="54864" tIns="27432" rIns="54864" bIns="27432" anchor="t">
            <a:spAutoFit/>
          </a:bodyPr>
          <a:lstStyle/>
          <a:p>
            <a:pPr algn="l">
              <a:lnSpc>
                <a:spcPct val="100000"/>
              </a:lnSpc>
            </a:pPr>
            <a:r>
              <a:rPr sz="850" b="1" i="0">
                <a:solidFill>
                  <a:srgbClr val="D9480F"/>
                </a:solidFill>
                <a:latin typeface="Arial"/>
              </a:rPr>
              <a:t>PORTE 1  ·  QUALITÉ</a:t>
            </a:r>
          </a:p>
        </p:txBody>
      </p:sp>
      <p:sp>
        <p:nvSpPr>
          <p:cNvPr id="18" name="TextBox 17"/>
          <p:cNvSpPr txBox="1"/>
          <p:nvPr/>
        </p:nvSpPr>
        <p:spPr>
          <a:xfrm>
            <a:off x="5943600" y="1225296"/>
            <a:ext cx="2743200" cy="219456"/>
          </a:xfrm>
          <a:prstGeom prst="rect">
            <a:avLst/>
          </a:prstGeom>
          <a:noFill/>
        </p:spPr>
        <p:txBody>
          <a:bodyPr wrap="square" lIns="54864" tIns="27432" rIns="54864" bIns="27432" anchor="t">
            <a:spAutoFit/>
          </a:bodyPr>
          <a:lstStyle/>
          <a:p>
            <a:pPr algn="r">
              <a:lnSpc>
                <a:spcPct val="100000"/>
              </a:lnSpc>
            </a:pPr>
            <a:r>
              <a:rPr sz="850" b="1" i="0">
                <a:solidFill>
                  <a:srgbClr val="D9480F"/>
                </a:solidFill>
                <a:latin typeface="Arial"/>
              </a:rPr>
              <a:t>PORTE 2  ·  SÉCURITÉ</a:t>
            </a:r>
          </a:p>
        </p:txBody>
      </p:sp>
      <p:sp>
        <p:nvSpPr>
          <p:cNvPr id="19" name="Chevron 18"/>
          <p:cNvSpPr/>
          <p:nvPr/>
        </p:nvSpPr>
        <p:spPr>
          <a:xfrm>
            <a:off x="457200" y="1481328"/>
            <a:ext cx="1463040" cy="566928"/>
          </a:xfrm>
          <a:prstGeom prst="chevron">
            <a:avLst>
              <a:gd name="adj" fmla="val 50000"/>
            </a:avLst>
          </a:prstGeom>
          <a:solidFill>
            <a:srgbClr val="FF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1481328"/>
            <a:ext cx="1463040" cy="566928"/>
          </a:xfrm>
          <a:prstGeom prst="rect">
            <a:avLst/>
          </a:prstGeom>
          <a:noFill/>
        </p:spPr>
        <p:txBody>
          <a:bodyPr wrap="square" lIns="54864" tIns="27432" rIns="54864" bIns="27432" anchor="ctr">
            <a:spAutoFit/>
          </a:bodyPr>
          <a:lstStyle/>
          <a:p>
            <a:pPr algn="ctr">
              <a:lnSpc>
                <a:spcPct val="100000"/>
              </a:lnSpc>
            </a:pPr>
            <a:r>
              <a:rPr sz="1000" b="1" i="0">
                <a:solidFill>
                  <a:srgbClr val="171717"/>
                </a:solidFill>
                <a:latin typeface="Arial"/>
              </a:rPr>
              <a:t>checks</a:t>
            </a:r>
          </a:p>
        </p:txBody>
      </p:sp>
      <p:sp>
        <p:nvSpPr>
          <p:cNvPr id="21" name="TextBox 20"/>
          <p:cNvSpPr txBox="1"/>
          <p:nvPr/>
        </p:nvSpPr>
        <p:spPr>
          <a:xfrm>
            <a:off x="411480" y="2093976"/>
            <a:ext cx="1554480" cy="274320"/>
          </a:xfrm>
          <a:prstGeom prst="rect">
            <a:avLst/>
          </a:prstGeom>
          <a:noFill/>
        </p:spPr>
        <p:txBody>
          <a:bodyPr wrap="square" lIns="54864" tIns="27432" rIns="54864" bIns="27432" anchor="t">
            <a:spAutoFit/>
          </a:bodyPr>
          <a:lstStyle/>
          <a:p>
            <a:pPr algn="ctr">
              <a:lnSpc>
                <a:spcPct val="100000"/>
              </a:lnSpc>
            </a:pPr>
            <a:r>
              <a:rPr sz="750" b="0" i="0">
                <a:solidFill>
                  <a:srgbClr val="8F8F8F"/>
                </a:solidFill>
                <a:latin typeface="Arial"/>
              </a:rPr>
              <a:t>218 tests + IaC</a:t>
            </a:r>
          </a:p>
        </p:txBody>
      </p:sp>
      <p:sp>
        <p:nvSpPr>
          <p:cNvPr id="22" name="Chevron 21"/>
          <p:cNvSpPr/>
          <p:nvPr/>
        </p:nvSpPr>
        <p:spPr>
          <a:xfrm>
            <a:off x="1810512" y="1481328"/>
            <a:ext cx="1463040" cy="566928"/>
          </a:xfrm>
          <a:prstGeom prst="chevron">
            <a:avLst>
              <a:gd name="adj" fmla="val 50000"/>
            </a:avLst>
          </a:prstGeom>
          <a:solidFill>
            <a:srgbClr val="FFF3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810512" y="1481328"/>
            <a:ext cx="1463040" cy="566928"/>
          </a:xfrm>
          <a:prstGeom prst="rect">
            <a:avLst/>
          </a:prstGeom>
          <a:noFill/>
        </p:spPr>
        <p:txBody>
          <a:bodyPr wrap="square" lIns="54864" tIns="27432" rIns="54864" bIns="27432" anchor="ctr">
            <a:spAutoFit/>
          </a:bodyPr>
          <a:lstStyle/>
          <a:p>
            <a:pPr algn="ctr">
              <a:lnSpc>
                <a:spcPct val="100000"/>
              </a:lnSpc>
            </a:pPr>
            <a:r>
              <a:rPr sz="1000" b="1" i="0">
                <a:solidFill>
                  <a:srgbClr val="171717"/>
                </a:solidFill>
                <a:latin typeface="Arial"/>
              </a:rPr>
              <a:t>versions</a:t>
            </a:r>
          </a:p>
        </p:txBody>
      </p:sp>
      <p:sp>
        <p:nvSpPr>
          <p:cNvPr id="24" name="TextBox 23"/>
          <p:cNvSpPr txBox="1"/>
          <p:nvPr/>
        </p:nvSpPr>
        <p:spPr>
          <a:xfrm>
            <a:off x="1764792" y="2093976"/>
            <a:ext cx="1554480" cy="274320"/>
          </a:xfrm>
          <a:prstGeom prst="rect">
            <a:avLst/>
          </a:prstGeom>
          <a:noFill/>
        </p:spPr>
        <p:txBody>
          <a:bodyPr wrap="square" lIns="54864" tIns="27432" rIns="54864" bIns="27432" anchor="t">
            <a:spAutoFit/>
          </a:bodyPr>
          <a:lstStyle/>
          <a:p>
            <a:pPr algn="ctr">
              <a:lnSpc>
                <a:spcPct val="100000"/>
              </a:lnSpc>
            </a:pPr>
            <a:r>
              <a:rPr sz="750" b="0" i="0">
                <a:solidFill>
                  <a:srgbClr val="8F8F8F"/>
                </a:solidFill>
                <a:latin typeface="Arial"/>
              </a:rPr>
              <a:t>empreinte par service</a:t>
            </a:r>
          </a:p>
        </p:txBody>
      </p:sp>
      <p:sp>
        <p:nvSpPr>
          <p:cNvPr id="25" name="Chevron 24"/>
          <p:cNvSpPr/>
          <p:nvPr/>
        </p:nvSpPr>
        <p:spPr>
          <a:xfrm>
            <a:off x="3163824" y="1481328"/>
            <a:ext cx="1463040" cy="566928"/>
          </a:xfrm>
          <a:prstGeom prst="chevron">
            <a:avLst>
              <a:gd name="adj" fmla="val 50000"/>
            </a:avLst>
          </a:prstGeom>
          <a:solidFill>
            <a:srgbClr val="D0E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163824" y="1481328"/>
            <a:ext cx="1463040" cy="566928"/>
          </a:xfrm>
          <a:prstGeom prst="rect">
            <a:avLst/>
          </a:prstGeom>
          <a:noFill/>
        </p:spPr>
        <p:txBody>
          <a:bodyPr wrap="square" lIns="54864" tIns="27432" rIns="54864" bIns="27432" anchor="ctr">
            <a:spAutoFit/>
          </a:bodyPr>
          <a:lstStyle/>
          <a:p>
            <a:pPr algn="ctr">
              <a:lnSpc>
                <a:spcPct val="100000"/>
              </a:lnSpc>
            </a:pPr>
            <a:r>
              <a:rPr sz="1000" b="1" i="0">
                <a:solidFill>
                  <a:srgbClr val="171717"/>
                </a:solidFill>
                <a:latin typeface="Arial"/>
              </a:rPr>
              <a:t>terraform</a:t>
            </a:r>
          </a:p>
        </p:txBody>
      </p:sp>
      <p:sp>
        <p:nvSpPr>
          <p:cNvPr id="27" name="TextBox 26"/>
          <p:cNvSpPr txBox="1"/>
          <p:nvPr/>
        </p:nvSpPr>
        <p:spPr>
          <a:xfrm>
            <a:off x="3118104" y="2093976"/>
            <a:ext cx="1554480" cy="274320"/>
          </a:xfrm>
          <a:prstGeom prst="rect">
            <a:avLst/>
          </a:prstGeom>
          <a:noFill/>
        </p:spPr>
        <p:txBody>
          <a:bodyPr wrap="square" lIns="54864" tIns="27432" rIns="54864" bIns="27432" anchor="t">
            <a:spAutoFit/>
          </a:bodyPr>
          <a:lstStyle/>
          <a:p>
            <a:pPr algn="ctr">
              <a:lnSpc>
                <a:spcPct val="100000"/>
              </a:lnSpc>
            </a:pPr>
            <a:r>
              <a:rPr sz="750" b="0" i="0">
                <a:solidFill>
                  <a:srgbClr val="8F8F8F"/>
                </a:solidFill>
                <a:latin typeface="Arial"/>
              </a:rPr>
              <a:t>plan puis apply</a:t>
            </a:r>
          </a:p>
        </p:txBody>
      </p:sp>
      <p:sp>
        <p:nvSpPr>
          <p:cNvPr id="28" name="Chevron 27"/>
          <p:cNvSpPr/>
          <p:nvPr/>
        </p:nvSpPr>
        <p:spPr>
          <a:xfrm>
            <a:off x="4517136" y="1481328"/>
            <a:ext cx="1463040" cy="566928"/>
          </a:xfrm>
          <a:prstGeom prst="chevron">
            <a:avLst>
              <a:gd name="adj" fmla="val 50000"/>
            </a:avLst>
          </a:prstGeom>
          <a:solidFill>
            <a:srgbClr val="DBE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517136" y="1481328"/>
            <a:ext cx="1463040" cy="566928"/>
          </a:xfrm>
          <a:prstGeom prst="rect">
            <a:avLst/>
          </a:prstGeom>
          <a:noFill/>
        </p:spPr>
        <p:txBody>
          <a:bodyPr wrap="square" lIns="54864" tIns="27432" rIns="54864" bIns="27432" anchor="ctr">
            <a:spAutoFit/>
          </a:bodyPr>
          <a:lstStyle/>
          <a:p>
            <a:pPr algn="ctr">
              <a:lnSpc>
                <a:spcPct val="100000"/>
              </a:lnSpc>
            </a:pPr>
            <a:r>
              <a:rPr sz="1000" b="1" i="0">
                <a:solidFill>
                  <a:srgbClr val="171717"/>
                </a:solidFill>
                <a:latin typeface="Arial"/>
              </a:rPr>
              <a:t>build</a:t>
            </a:r>
          </a:p>
        </p:txBody>
      </p:sp>
      <p:sp>
        <p:nvSpPr>
          <p:cNvPr id="30" name="TextBox 29"/>
          <p:cNvSpPr txBox="1"/>
          <p:nvPr/>
        </p:nvSpPr>
        <p:spPr>
          <a:xfrm>
            <a:off x="4471416" y="2093976"/>
            <a:ext cx="1554480" cy="274320"/>
          </a:xfrm>
          <a:prstGeom prst="rect">
            <a:avLst/>
          </a:prstGeom>
          <a:noFill/>
        </p:spPr>
        <p:txBody>
          <a:bodyPr wrap="square" lIns="54864" tIns="27432" rIns="54864" bIns="27432" anchor="t">
            <a:spAutoFit/>
          </a:bodyPr>
          <a:lstStyle/>
          <a:p>
            <a:pPr algn="ctr">
              <a:lnSpc>
                <a:spcPct val="100000"/>
              </a:lnSpc>
            </a:pPr>
            <a:r>
              <a:rPr sz="750" b="0" i="0">
                <a:solidFill>
                  <a:srgbClr val="8F8F8F"/>
                </a:solidFill>
                <a:latin typeface="Arial"/>
              </a:rPr>
              <a:t>idempotent, caché</a:t>
            </a:r>
          </a:p>
        </p:txBody>
      </p:sp>
      <p:sp>
        <p:nvSpPr>
          <p:cNvPr id="31" name="Chevron 30"/>
          <p:cNvSpPr/>
          <p:nvPr/>
        </p:nvSpPr>
        <p:spPr>
          <a:xfrm>
            <a:off x="5870448" y="1481328"/>
            <a:ext cx="1463040" cy="566928"/>
          </a:xfrm>
          <a:prstGeom prst="chevron">
            <a:avLst>
              <a:gd name="adj" fmla="val 50000"/>
            </a:avLst>
          </a:prstGeom>
          <a:solidFill>
            <a:srgbClr val="FF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870448" y="1481328"/>
            <a:ext cx="1463040" cy="566928"/>
          </a:xfrm>
          <a:prstGeom prst="rect">
            <a:avLst/>
          </a:prstGeom>
          <a:noFill/>
        </p:spPr>
        <p:txBody>
          <a:bodyPr wrap="square" lIns="54864" tIns="27432" rIns="54864" bIns="27432" anchor="ctr">
            <a:spAutoFit/>
          </a:bodyPr>
          <a:lstStyle/>
          <a:p>
            <a:pPr algn="ctr">
              <a:lnSpc>
                <a:spcPct val="100000"/>
              </a:lnSpc>
            </a:pPr>
            <a:r>
              <a:rPr sz="1000" b="1" i="0">
                <a:solidFill>
                  <a:srgbClr val="171717"/>
                </a:solidFill>
                <a:latin typeface="Arial"/>
              </a:rPr>
              <a:t>scan</a:t>
            </a:r>
          </a:p>
        </p:txBody>
      </p:sp>
      <p:sp>
        <p:nvSpPr>
          <p:cNvPr id="33" name="TextBox 32"/>
          <p:cNvSpPr txBox="1"/>
          <p:nvPr/>
        </p:nvSpPr>
        <p:spPr>
          <a:xfrm>
            <a:off x="5824728" y="2093976"/>
            <a:ext cx="1554480" cy="274320"/>
          </a:xfrm>
          <a:prstGeom prst="rect">
            <a:avLst/>
          </a:prstGeom>
          <a:noFill/>
        </p:spPr>
        <p:txBody>
          <a:bodyPr wrap="square" lIns="54864" tIns="27432" rIns="54864" bIns="27432" anchor="t">
            <a:spAutoFit/>
          </a:bodyPr>
          <a:lstStyle/>
          <a:p>
            <a:pPr algn="ctr">
              <a:lnSpc>
                <a:spcPct val="100000"/>
              </a:lnSpc>
            </a:pPr>
            <a:r>
              <a:rPr sz="750" b="0" i="0">
                <a:solidFill>
                  <a:srgbClr val="8F8F8F"/>
                </a:solidFill>
                <a:latin typeface="Arial"/>
              </a:rPr>
              <a:t>Trivy et SBOM</a:t>
            </a:r>
          </a:p>
        </p:txBody>
      </p:sp>
      <p:sp>
        <p:nvSpPr>
          <p:cNvPr id="34" name="Chevron 33"/>
          <p:cNvSpPr/>
          <p:nvPr/>
        </p:nvSpPr>
        <p:spPr>
          <a:xfrm>
            <a:off x="7223760" y="1481328"/>
            <a:ext cx="1463040" cy="566928"/>
          </a:xfrm>
          <a:prstGeom prst="chevron">
            <a:avLst>
              <a:gd name="adj" fmla="val 50000"/>
            </a:avLst>
          </a:prstGeom>
          <a:solidFill>
            <a:srgbClr val="D3F9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223760" y="1481328"/>
            <a:ext cx="1463040" cy="566928"/>
          </a:xfrm>
          <a:prstGeom prst="rect">
            <a:avLst/>
          </a:prstGeom>
          <a:noFill/>
        </p:spPr>
        <p:txBody>
          <a:bodyPr wrap="square" lIns="54864" tIns="27432" rIns="54864" bIns="27432" anchor="ctr">
            <a:spAutoFit/>
          </a:bodyPr>
          <a:lstStyle/>
          <a:p>
            <a:pPr algn="ctr">
              <a:lnSpc>
                <a:spcPct val="100000"/>
              </a:lnSpc>
            </a:pPr>
            <a:r>
              <a:rPr sz="1000" b="1" i="0">
                <a:solidFill>
                  <a:srgbClr val="171717"/>
                </a:solidFill>
                <a:latin typeface="Arial"/>
              </a:rPr>
              <a:t>deploy</a:t>
            </a:r>
          </a:p>
        </p:txBody>
      </p:sp>
      <p:sp>
        <p:nvSpPr>
          <p:cNvPr id="36" name="TextBox 35"/>
          <p:cNvSpPr txBox="1"/>
          <p:nvPr/>
        </p:nvSpPr>
        <p:spPr>
          <a:xfrm>
            <a:off x="7178040" y="2093976"/>
            <a:ext cx="1554480" cy="274320"/>
          </a:xfrm>
          <a:prstGeom prst="rect">
            <a:avLst/>
          </a:prstGeom>
          <a:noFill/>
        </p:spPr>
        <p:txBody>
          <a:bodyPr wrap="square" lIns="54864" tIns="27432" rIns="54864" bIns="27432" anchor="t">
            <a:spAutoFit/>
          </a:bodyPr>
          <a:lstStyle/>
          <a:p>
            <a:pPr algn="ctr">
              <a:lnSpc>
                <a:spcPct val="100000"/>
              </a:lnSpc>
            </a:pPr>
            <a:r>
              <a:rPr sz="750" b="0" i="0">
                <a:solidFill>
                  <a:srgbClr val="8F8F8F"/>
                </a:solidFill>
                <a:latin typeface="Arial"/>
              </a:rPr>
              <a:t>rolling + migrations</a:t>
            </a:r>
          </a:p>
        </p:txBody>
      </p:sp>
      <p:sp>
        <p:nvSpPr>
          <p:cNvPr id="37" name="TextBox 36"/>
          <p:cNvSpPr txBox="1"/>
          <p:nvPr/>
        </p:nvSpPr>
        <p:spPr>
          <a:xfrm>
            <a:off x="457200" y="2487168"/>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CE QUI ARRÊTE VRAIMENT UNE LIVRAISON</a:t>
            </a:r>
          </a:p>
        </p:txBody>
      </p:sp>
      <p:sp>
        <p:nvSpPr>
          <p:cNvPr id="38" name="Rounded Rectangle 37"/>
          <p:cNvSpPr/>
          <p:nvPr/>
        </p:nvSpPr>
        <p:spPr>
          <a:xfrm>
            <a:off x="457200" y="2706624"/>
            <a:ext cx="1961388" cy="640080"/>
          </a:xfrm>
          <a:prstGeom prst="roundRect">
            <a:avLst>
              <a:gd name="adj" fmla="val 8928"/>
            </a:avLst>
          </a:prstGeom>
          <a:solidFill>
            <a:srgbClr val="FFF5F5"/>
          </a:solidFill>
          <a:ln w="9525">
            <a:solidFill>
              <a:srgbClr val="FF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57200" y="2706624"/>
            <a:ext cx="1961388" cy="640080"/>
          </a:xfrm>
          <a:prstGeom prst="rect">
            <a:avLst/>
          </a:prstGeom>
          <a:noFill/>
        </p:spPr>
        <p:txBody>
          <a:bodyPr wrap="square" lIns="54864" tIns="27432" rIns="54864" bIns="27432" anchor="ctr">
            <a:spAutoFit/>
          </a:bodyPr>
          <a:lstStyle/>
          <a:p>
            <a:pPr algn="ctr">
              <a:lnSpc>
                <a:spcPct val="105000"/>
              </a:lnSpc>
            </a:pPr>
            <a:r>
              <a:rPr sz="900" b="1" i="0">
                <a:solidFill>
                  <a:srgbClr val="171717"/>
                </a:solidFill>
                <a:latin typeface="Arial"/>
              </a:rPr>
              <a:t>Dépendance vulnérable</a:t>
            </a:r>
          </a:p>
          <a:p>
            <a:pPr algn="ctr">
              <a:lnSpc>
                <a:spcPct val="105000"/>
              </a:lnSpc>
            </a:pPr>
            <a:r>
              <a:rPr sz="750" b="0" i="0">
                <a:solidFill>
                  <a:srgbClr val="666666"/>
                </a:solidFill>
                <a:latin typeface="Arial"/>
              </a:rPr>
              <a:t>analysée en porte</a:t>
            </a:r>
          </a:p>
        </p:txBody>
      </p:sp>
      <p:sp>
        <p:nvSpPr>
          <p:cNvPr id="40" name="Rounded Rectangle 39"/>
          <p:cNvSpPr/>
          <p:nvPr/>
        </p:nvSpPr>
        <p:spPr>
          <a:xfrm>
            <a:off x="2546604" y="2706624"/>
            <a:ext cx="1961388" cy="640080"/>
          </a:xfrm>
          <a:prstGeom prst="roundRect">
            <a:avLst>
              <a:gd name="adj" fmla="val 8928"/>
            </a:avLst>
          </a:prstGeom>
          <a:solidFill>
            <a:srgbClr val="FFF5F5"/>
          </a:solidFill>
          <a:ln w="9525">
            <a:solidFill>
              <a:srgbClr val="FF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2546604" y="2706624"/>
            <a:ext cx="1961388" cy="640080"/>
          </a:xfrm>
          <a:prstGeom prst="rect">
            <a:avLst/>
          </a:prstGeom>
          <a:noFill/>
        </p:spPr>
        <p:txBody>
          <a:bodyPr wrap="square" lIns="54864" tIns="27432" rIns="54864" bIns="27432" anchor="ctr">
            <a:spAutoFit/>
          </a:bodyPr>
          <a:lstStyle/>
          <a:p>
            <a:pPr algn="ctr">
              <a:lnSpc>
                <a:spcPct val="105000"/>
              </a:lnSpc>
            </a:pPr>
            <a:r>
              <a:rPr sz="900" b="1" i="0">
                <a:solidFill>
                  <a:srgbClr val="171717"/>
                </a:solidFill>
                <a:latin typeface="Arial"/>
              </a:rPr>
              <a:t>Secret dans le dépôt</a:t>
            </a:r>
          </a:p>
          <a:p>
            <a:pPr algn="ctr">
              <a:lnSpc>
                <a:spcPct val="105000"/>
              </a:lnSpc>
            </a:pPr>
            <a:r>
              <a:rPr sz="750" b="0" i="0">
                <a:solidFill>
                  <a:srgbClr val="666666"/>
                </a:solidFill>
                <a:latin typeface="Arial"/>
              </a:rPr>
              <a:t>détection bloquante</a:t>
            </a:r>
          </a:p>
        </p:txBody>
      </p:sp>
      <p:sp>
        <p:nvSpPr>
          <p:cNvPr id="42" name="Rounded Rectangle 41"/>
          <p:cNvSpPr/>
          <p:nvPr/>
        </p:nvSpPr>
        <p:spPr>
          <a:xfrm>
            <a:off x="4636008" y="2706624"/>
            <a:ext cx="1961388" cy="640080"/>
          </a:xfrm>
          <a:prstGeom prst="roundRect">
            <a:avLst>
              <a:gd name="adj" fmla="val 8928"/>
            </a:avLst>
          </a:prstGeom>
          <a:solidFill>
            <a:srgbClr val="FFF5F5"/>
          </a:solidFill>
          <a:ln w="9525">
            <a:solidFill>
              <a:srgbClr val="FF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636008" y="2706624"/>
            <a:ext cx="1961388" cy="640080"/>
          </a:xfrm>
          <a:prstGeom prst="rect">
            <a:avLst/>
          </a:prstGeom>
          <a:noFill/>
        </p:spPr>
        <p:txBody>
          <a:bodyPr wrap="square" lIns="54864" tIns="27432" rIns="54864" bIns="27432" anchor="ctr">
            <a:spAutoFit/>
          </a:bodyPr>
          <a:lstStyle/>
          <a:p>
            <a:pPr algn="ctr">
              <a:lnSpc>
                <a:spcPct val="105000"/>
              </a:lnSpc>
            </a:pPr>
            <a:r>
              <a:rPr sz="900" b="1" i="0">
                <a:solidFill>
                  <a:srgbClr val="171717"/>
                </a:solidFill>
                <a:latin typeface="Arial"/>
              </a:rPr>
              <a:t>IaC non conforme</a:t>
            </a:r>
          </a:p>
          <a:p>
            <a:pPr algn="ctr">
              <a:lnSpc>
                <a:spcPct val="105000"/>
              </a:lnSpc>
            </a:pPr>
            <a:r>
              <a:rPr sz="750" b="0" i="0">
                <a:solidFill>
                  <a:srgbClr val="666666"/>
                </a:solidFill>
                <a:latin typeface="Arial"/>
              </a:rPr>
              <a:t>contrôle statique</a:t>
            </a:r>
          </a:p>
        </p:txBody>
      </p:sp>
      <p:sp>
        <p:nvSpPr>
          <p:cNvPr id="44" name="Rounded Rectangle 43"/>
          <p:cNvSpPr/>
          <p:nvPr/>
        </p:nvSpPr>
        <p:spPr>
          <a:xfrm>
            <a:off x="6725412" y="2706624"/>
            <a:ext cx="1961388" cy="640080"/>
          </a:xfrm>
          <a:prstGeom prst="roundRect">
            <a:avLst>
              <a:gd name="adj" fmla="val 8928"/>
            </a:avLst>
          </a:prstGeom>
          <a:solidFill>
            <a:srgbClr val="FFF5F5"/>
          </a:solidFill>
          <a:ln w="9525">
            <a:solidFill>
              <a:srgbClr val="FF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725412" y="2706624"/>
            <a:ext cx="1961388" cy="640080"/>
          </a:xfrm>
          <a:prstGeom prst="rect">
            <a:avLst/>
          </a:prstGeom>
          <a:noFill/>
        </p:spPr>
        <p:txBody>
          <a:bodyPr wrap="square" lIns="54864" tIns="27432" rIns="54864" bIns="27432" anchor="ctr">
            <a:spAutoFit/>
          </a:bodyPr>
          <a:lstStyle/>
          <a:p>
            <a:pPr algn="ctr">
              <a:lnSpc>
                <a:spcPct val="105000"/>
              </a:lnSpc>
            </a:pPr>
            <a:r>
              <a:rPr sz="900" b="1" i="0">
                <a:solidFill>
                  <a:srgbClr val="171717"/>
                </a:solidFill>
                <a:latin typeface="Arial"/>
              </a:rPr>
              <a:t>Image vulnérable</a:t>
            </a:r>
          </a:p>
          <a:p>
            <a:pPr algn="ctr">
              <a:lnSpc>
                <a:spcPct val="105000"/>
              </a:lnSpc>
            </a:pPr>
            <a:r>
              <a:rPr sz="750" b="0" i="0">
                <a:solidFill>
                  <a:srgbClr val="666666"/>
                </a:solidFill>
                <a:latin typeface="Arial"/>
              </a:rPr>
              <a:t>Trivy et SBOM</a:t>
            </a:r>
          </a:p>
        </p:txBody>
      </p:sp>
      <p:sp>
        <p:nvSpPr>
          <p:cNvPr id="46" name="TextBox 45"/>
          <p:cNvSpPr txBox="1"/>
          <p:nvPr/>
        </p:nvSpPr>
        <p:spPr>
          <a:xfrm>
            <a:off x="457200" y="3456432"/>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CE QUI PROTÈGE LA CHAÎNE ELLE-MÊME</a:t>
            </a:r>
          </a:p>
        </p:txBody>
      </p:sp>
      <p:sp>
        <p:nvSpPr>
          <p:cNvPr id="47" name="TextBox 46"/>
          <p:cNvSpPr txBox="1"/>
          <p:nvPr/>
        </p:nvSpPr>
        <p:spPr>
          <a:xfrm>
            <a:off x="457200" y="3657600"/>
            <a:ext cx="8229600" cy="256032"/>
          </a:xfrm>
          <a:prstGeom prst="rect">
            <a:avLst/>
          </a:prstGeom>
          <a:noFill/>
        </p:spPr>
        <p:txBody>
          <a:bodyPr wrap="square" lIns="54864" tIns="27432" rIns="54864" bIns="27432" anchor="t">
            <a:spAutoFit/>
          </a:bodyPr>
          <a:lstStyle/>
          <a:p>
            <a:pPr algn="l">
              <a:lnSpc>
                <a:spcPct val="100000"/>
              </a:lnSpc>
            </a:pPr>
            <a:r>
              <a:rPr sz="950" b="1" i="0">
                <a:solidFill>
                  <a:srgbClr val="171717"/>
                </a:solidFill>
                <a:latin typeface="Arial"/>
              </a:rPr>
              <a:t>8 workflows</a:t>
            </a:r>
            <a:r>
              <a:rPr sz="950" b="0" i="0">
                <a:solidFill>
                  <a:srgbClr val="666666"/>
                </a:solidFill>
                <a:latin typeface="Arial"/>
              </a:rPr>
              <a:t>   ·   ciblage strict, le pipeline du CDN ne peut pas toucher les serveurs   ·   exceptions tracées et datées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096000" y="0"/>
            <a:ext cx="1524000" cy="41148"/>
          </a:xfrm>
          <a:prstGeom prst="rect">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269480"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10144"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lIns="54864" tIns="27432" rIns="54864" bIns="27432" anchor="t">
            <a:spAutoFit/>
          </a:bodyPr>
          <a:lstStyle/>
          <a:p>
            <a:pPr algn="l">
              <a:lnSpc>
                <a:spcPct val="100000"/>
              </a:lnSpc>
            </a:pPr>
            <a:r>
              <a:rPr sz="750" b="1" i="0" spc="120">
                <a:solidFill>
                  <a:srgbClr val="D9480F"/>
                </a:solidFill>
                <a:latin typeface="Arial"/>
              </a:rPr>
              <a:t>5 · OPTION DEVOPS</a:t>
            </a:r>
          </a:p>
        </p:txBody>
      </p:sp>
      <p:sp>
        <p:nvSpPr>
          <p:cNvPr id="11" name="TextBox 10"/>
          <p:cNvSpPr txBox="1"/>
          <p:nvPr/>
        </p:nvSpPr>
        <p:spPr>
          <a:xfrm>
            <a:off x="457200" y="493776"/>
            <a:ext cx="6720840" cy="566928"/>
          </a:xfrm>
          <a:prstGeom prst="rect">
            <a:avLst/>
          </a:prstGeom>
          <a:noFill/>
        </p:spPr>
        <p:txBody>
          <a:bodyPr wrap="square" lIns="54864" tIns="27432" rIns="54864" bIns="27432" anchor="t">
            <a:spAutoFit/>
          </a:bodyPr>
          <a:lstStyle/>
          <a:p>
            <a:pPr algn="l">
              <a:lnSpc>
                <a:spcPct val="100000"/>
              </a:lnSpc>
            </a:pPr>
            <a:r>
              <a:rPr sz="2400" b="1" i="0" spc="-84">
                <a:solidFill>
                  <a:srgbClr val="171717"/>
                </a:solidFill>
                <a:latin typeface="Arial"/>
              </a:rPr>
              <a:t>Orchestration des conteneurs</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26679" y="4832604"/>
            <a:ext cx="1143000" cy="237744"/>
          </a:xfrm>
          <a:prstGeom prst="rect">
            <a:avLst/>
          </a:prstGeom>
          <a:noFill/>
        </p:spPr>
        <p:txBody>
          <a:bodyPr wrap="square" lIns="54864" tIns="27432" rIns="54864" bIns="27432" anchor="t">
            <a:spAutoFit/>
          </a:bodyPr>
          <a:lstStyle/>
          <a:p>
            <a:pPr algn="r">
              <a:lnSpc>
                <a:spcPct val="100000"/>
              </a:lnSpc>
            </a:pPr>
            <a:r>
              <a:rPr sz="800" b="0" i="0">
                <a:solidFill>
                  <a:srgbClr val="A1A1A1"/>
                </a:solidFill>
                <a:latin typeface="Arial"/>
              </a:rPr>
              <a:t>23 / 31</a:t>
            </a:r>
          </a:p>
        </p:txBody>
      </p:sp>
      <p:sp>
        <p:nvSpPr>
          <p:cNvPr id="14" name="Rounded Rectangle 13"/>
          <p:cNvSpPr/>
          <p:nvPr/>
        </p:nvSpPr>
        <p:spPr>
          <a:xfrm>
            <a:off x="457200" y="4818888"/>
            <a:ext cx="733348" cy="228600"/>
          </a:xfrm>
          <a:prstGeom prst="roundRect">
            <a:avLst>
              <a:gd name="adj" fmla="val 25000"/>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4818888"/>
            <a:ext cx="733348" cy="228600"/>
          </a:xfrm>
          <a:prstGeom prst="rect">
            <a:avLst/>
          </a:prstGeom>
          <a:noFill/>
        </p:spPr>
        <p:txBody>
          <a:bodyPr wrap="square" lIns="54864" tIns="27432" rIns="54864" bIns="27432" anchor="ctr">
            <a:spAutoFit/>
          </a:bodyPr>
          <a:lstStyle/>
          <a:p>
            <a:pPr algn="ctr">
              <a:lnSpc>
                <a:spcPct val="100000"/>
              </a:lnSpc>
            </a:pPr>
            <a:r>
              <a:rPr sz="750" b="1" i="0">
                <a:solidFill>
                  <a:srgbClr val="171717"/>
                </a:solidFill>
                <a:latin typeface="Arial"/>
              </a:rPr>
              <a:t>Réf.  C30</a:t>
            </a:r>
          </a:p>
        </p:txBody>
      </p:sp>
      <p:sp>
        <p:nvSpPr>
          <p:cNvPr id="16" name="TextBox 15"/>
          <p:cNvSpPr txBox="1"/>
          <p:nvPr/>
        </p:nvSpPr>
        <p:spPr>
          <a:xfrm>
            <a:off x="1281988" y="4818888"/>
            <a:ext cx="5486400" cy="228600"/>
          </a:xfrm>
          <a:prstGeom prst="rect">
            <a:avLst/>
          </a:prstGeom>
          <a:noFill/>
        </p:spPr>
        <p:txBody>
          <a:bodyPr wrap="square" lIns="54864" tIns="27432" rIns="54864" bIns="27432" anchor="ctr">
            <a:spAutoFit/>
          </a:bodyPr>
          <a:lstStyle/>
          <a:p>
            <a:pPr algn="l">
              <a:lnSpc>
                <a:spcPct val="100000"/>
              </a:lnSpc>
            </a:pPr>
            <a:r>
              <a:rPr sz="750" b="0" i="0">
                <a:solidFill>
                  <a:srgbClr val="A1A1A1"/>
                </a:solidFill>
                <a:latin typeface="Arial"/>
              </a:rPr>
              <a:t>BC4C · mémoire 17.3 · annexe C · wiki 08</a:t>
            </a:r>
          </a:p>
        </p:txBody>
      </p:sp>
      <p:sp>
        <p:nvSpPr>
          <p:cNvPr id="46" name="TextBox 45"/>
          <p:cNvSpPr txBox="1"/>
          <p:nvPr/>
        </p:nvSpPr>
        <p:spPr>
          <a:xfrm>
            <a:off x="457200" y="2615184"/>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MÉMOIRE PAR SERVICE, APLAT PLEIN LA RÉSERVATION GARANTIE, APLAT CLAIR LE PLAFOND</a:t>
            </a:r>
          </a:p>
        </p:txBody>
      </p:sp>
      <p:sp>
        <p:nvSpPr>
          <p:cNvPr id="47" name="TextBox 46"/>
          <p:cNvSpPr txBox="1"/>
          <p:nvPr/>
        </p:nvSpPr>
        <p:spPr>
          <a:xfrm>
            <a:off x="457200" y="2834640"/>
            <a:ext cx="1280160" cy="219456"/>
          </a:xfrm>
          <a:prstGeom prst="rect">
            <a:avLst/>
          </a:prstGeom>
          <a:noFill/>
        </p:spPr>
        <p:txBody>
          <a:bodyPr wrap="square" lIns="54864" tIns="27432" rIns="54864" bIns="27432" anchor="ctr">
            <a:spAutoFit/>
          </a:bodyPr>
          <a:lstStyle/>
          <a:p>
            <a:pPr algn="l">
              <a:lnSpc>
                <a:spcPct val="100000"/>
              </a:lnSpc>
            </a:pPr>
            <a:r>
              <a:rPr sz="850" b="0" i="0">
                <a:solidFill>
                  <a:srgbClr val="171717"/>
                </a:solidFill>
                <a:latin typeface="Arial"/>
              </a:rPr>
              <a:t>PostgreSQL</a:t>
            </a:r>
          </a:p>
        </p:txBody>
      </p:sp>
      <p:sp>
        <p:nvSpPr>
          <p:cNvPr id="48" name="Rounded Rectangle 47"/>
          <p:cNvSpPr/>
          <p:nvPr/>
        </p:nvSpPr>
        <p:spPr>
          <a:xfrm>
            <a:off x="1783080" y="2880360"/>
            <a:ext cx="5577839" cy="137160"/>
          </a:xfrm>
          <a:prstGeom prst="roundRect">
            <a:avLst>
              <a:gd name="adj" fmla="val 50000"/>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ounded Rectangle 48"/>
          <p:cNvSpPr/>
          <p:nvPr/>
        </p:nvSpPr>
        <p:spPr>
          <a:xfrm>
            <a:off x="1783080" y="2880360"/>
            <a:ext cx="1859280" cy="137160"/>
          </a:xfrm>
          <a:prstGeom prst="roundRect">
            <a:avLst>
              <a:gd name="adj" fmla="val 50000"/>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498079" y="2834640"/>
            <a:ext cx="1188720" cy="219456"/>
          </a:xfrm>
          <a:prstGeom prst="rect">
            <a:avLst/>
          </a:prstGeom>
          <a:noFill/>
        </p:spPr>
        <p:txBody>
          <a:bodyPr wrap="square" lIns="54864" tIns="27432" rIns="54864" bIns="27432" anchor="ctr">
            <a:spAutoFit/>
          </a:bodyPr>
          <a:lstStyle/>
          <a:p>
            <a:pPr algn="r">
              <a:lnSpc>
                <a:spcPct val="100000"/>
              </a:lnSpc>
            </a:pPr>
            <a:r>
              <a:rPr sz="750" b="0" i="0">
                <a:solidFill>
                  <a:srgbClr val="8F8F8F"/>
                </a:solidFill>
                <a:latin typeface="Arial"/>
              </a:rPr>
              <a:t>2048 à 6144 Mo</a:t>
            </a:r>
          </a:p>
        </p:txBody>
      </p:sp>
      <p:sp>
        <p:nvSpPr>
          <p:cNvPr id="51" name="TextBox 50"/>
          <p:cNvSpPr txBox="1"/>
          <p:nvPr/>
        </p:nvSpPr>
        <p:spPr>
          <a:xfrm>
            <a:off x="457200" y="3090672"/>
            <a:ext cx="1280160" cy="219456"/>
          </a:xfrm>
          <a:prstGeom prst="rect">
            <a:avLst/>
          </a:prstGeom>
          <a:noFill/>
        </p:spPr>
        <p:txBody>
          <a:bodyPr wrap="square" lIns="54864" tIns="27432" rIns="54864" bIns="27432" anchor="ctr">
            <a:spAutoFit/>
          </a:bodyPr>
          <a:lstStyle/>
          <a:p>
            <a:pPr algn="l">
              <a:lnSpc>
                <a:spcPct val="100000"/>
              </a:lnSpc>
            </a:pPr>
            <a:r>
              <a:rPr sz="850" b="0" i="0">
                <a:solidFill>
                  <a:srgbClr val="171717"/>
                </a:solidFill>
                <a:latin typeface="Arial"/>
              </a:rPr>
              <a:t>Backend API</a:t>
            </a:r>
          </a:p>
        </p:txBody>
      </p:sp>
      <p:sp>
        <p:nvSpPr>
          <p:cNvPr id="52" name="Rounded Rectangle 51"/>
          <p:cNvSpPr/>
          <p:nvPr/>
        </p:nvSpPr>
        <p:spPr>
          <a:xfrm>
            <a:off x="1783080" y="3136391"/>
            <a:ext cx="1162050" cy="137160"/>
          </a:xfrm>
          <a:prstGeom prst="roundRect">
            <a:avLst>
              <a:gd name="adj" fmla="val 50000"/>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ounded Rectangle 52"/>
          <p:cNvSpPr/>
          <p:nvPr/>
        </p:nvSpPr>
        <p:spPr>
          <a:xfrm>
            <a:off x="1783080" y="3136391"/>
            <a:ext cx="348614" cy="137160"/>
          </a:xfrm>
          <a:prstGeom prst="roundRect">
            <a:avLst>
              <a:gd name="adj" fmla="val 50000"/>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7498079" y="3090672"/>
            <a:ext cx="1188720" cy="219456"/>
          </a:xfrm>
          <a:prstGeom prst="rect">
            <a:avLst/>
          </a:prstGeom>
          <a:noFill/>
        </p:spPr>
        <p:txBody>
          <a:bodyPr wrap="square" lIns="54864" tIns="27432" rIns="54864" bIns="27432" anchor="ctr">
            <a:spAutoFit/>
          </a:bodyPr>
          <a:lstStyle/>
          <a:p>
            <a:pPr algn="r">
              <a:lnSpc>
                <a:spcPct val="100000"/>
              </a:lnSpc>
            </a:pPr>
            <a:r>
              <a:rPr sz="750" b="0" i="0">
                <a:solidFill>
                  <a:srgbClr val="8F8F8F"/>
                </a:solidFill>
                <a:latin typeface="Arial"/>
              </a:rPr>
              <a:t>384 à 1280 Mo</a:t>
            </a:r>
          </a:p>
        </p:txBody>
      </p:sp>
      <p:sp>
        <p:nvSpPr>
          <p:cNvPr id="55" name="TextBox 54"/>
          <p:cNvSpPr txBox="1"/>
          <p:nvPr/>
        </p:nvSpPr>
        <p:spPr>
          <a:xfrm>
            <a:off x="457200" y="3346704"/>
            <a:ext cx="1280160" cy="219456"/>
          </a:xfrm>
          <a:prstGeom prst="rect">
            <a:avLst/>
          </a:prstGeom>
          <a:noFill/>
        </p:spPr>
        <p:txBody>
          <a:bodyPr wrap="square" lIns="54864" tIns="27432" rIns="54864" bIns="27432" anchor="ctr">
            <a:spAutoFit/>
          </a:bodyPr>
          <a:lstStyle/>
          <a:p>
            <a:pPr algn="l">
              <a:lnSpc>
                <a:spcPct val="100000"/>
              </a:lnSpc>
            </a:pPr>
            <a:r>
              <a:rPr sz="850" b="0" i="0">
                <a:solidFill>
                  <a:srgbClr val="171717"/>
                </a:solidFill>
                <a:latin typeface="Arial"/>
              </a:rPr>
              <a:t>Frontend</a:t>
            </a:r>
          </a:p>
        </p:txBody>
      </p:sp>
      <p:sp>
        <p:nvSpPr>
          <p:cNvPr id="56" name="Rounded Rectangle 55"/>
          <p:cNvSpPr/>
          <p:nvPr/>
        </p:nvSpPr>
        <p:spPr>
          <a:xfrm>
            <a:off x="1783080" y="3392424"/>
            <a:ext cx="871537" cy="137160"/>
          </a:xfrm>
          <a:prstGeom prst="roundRect">
            <a:avLst>
              <a:gd name="adj" fmla="val 50000"/>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ounded Rectangle 56"/>
          <p:cNvSpPr/>
          <p:nvPr/>
        </p:nvSpPr>
        <p:spPr>
          <a:xfrm>
            <a:off x="1783080" y="3392424"/>
            <a:ext cx="232410" cy="137160"/>
          </a:xfrm>
          <a:prstGeom prst="roundRect">
            <a:avLst>
              <a:gd name="adj" fmla="val 50000"/>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7498079" y="3346704"/>
            <a:ext cx="1188720" cy="219456"/>
          </a:xfrm>
          <a:prstGeom prst="rect">
            <a:avLst/>
          </a:prstGeom>
          <a:noFill/>
        </p:spPr>
        <p:txBody>
          <a:bodyPr wrap="square" lIns="54864" tIns="27432" rIns="54864" bIns="27432" anchor="ctr">
            <a:spAutoFit/>
          </a:bodyPr>
          <a:lstStyle/>
          <a:p>
            <a:pPr algn="r">
              <a:lnSpc>
                <a:spcPct val="100000"/>
              </a:lnSpc>
            </a:pPr>
            <a:r>
              <a:rPr sz="750" b="0" i="0">
                <a:solidFill>
                  <a:srgbClr val="8F8F8F"/>
                </a:solidFill>
                <a:latin typeface="Arial"/>
              </a:rPr>
              <a:t>256 à 960 Mo</a:t>
            </a:r>
          </a:p>
        </p:txBody>
      </p:sp>
      <p:sp>
        <p:nvSpPr>
          <p:cNvPr id="59" name="TextBox 58"/>
          <p:cNvSpPr txBox="1"/>
          <p:nvPr/>
        </p:nvSpPr>
        <p:spPr>
          <a:xfrm>
            <a:off x="457200" y="3602736"/>
            <a:ext cx="1280160" cy="219456"/>
          </a:xfrm>
          <a:prstGeom prst="rect">
            <a:avLst/>
          </a:prstGeom>
          <a:noFill/>
        </p:spPr>
        <p:txBody>
          <a:bodyPr wrap="square" lIns="54864" tIns="27432" rIns="54864" bIns="27432" anchor="ctr">
            <a:spAutoFit/>
          </a:bodyPr>
          <a:lstStyle/>
          <a:p>
            <a:pPr algn="l">
              <a:lnSpc>
                <a:spcPct val="100000"/>
              </a:lnSpc>
            </a:pPr>
            <a:r>
              <a:rPr sz="850" b="0" i="0">
                <a:solidFill>
                  <a:srgbClr val="171717"/>
                </a:solidFill>
                <a:latin typeface="Arial"/>
              </a:rPr>
              <a:t>Redis</a:t>
            </a:r>
          </a:p>
        </p:txBody>
      </p:sp>
      <p:sp>
        <p:nvSpPr>
          <p:cNvPr id="60" name="Rounded Rectangle 59"/>
          <p:cNvSpPr/>
          <p:nvPr/>
        </p:nvSpPr>
        <p:spPr>
          <a:xfrm>
            <a:off x="1783080" y="3648456"/>
            <a:ext cx="813435" cy="137160"/>
          </a:xfrm>
          <a:prstGeom prst="roundRect">
            <a:avLst>
              <a:gd name="adj" fmla="val 50000"/>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Rounded Rectangle 60"/>
          <p:cNvSpPr/>
          <p:nvPr/>
        </p:nvSpPr>
        <p:spPr>
          <a:xfrm>
            <a:off x="1783080" y="3648456"/>
            <a:ext cx="87153" cy="137160"/>
          </a:xfrm>
          <a:prstGeom prst="roundRect">
            <a:avLst>
              <a:gd name="adj" fmla="val 50000"/>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7498079" y="3602736"/>
            <a:ext cx="1188720" cy="219456"/>
          </a:xfrm>
          <a:prstGeom prst="rect">
            <a:avLst/>
          </a:prstGeom>
          <a:noFill/>
        </p:spPr>
        <p:txBody>
          <a:bodyPr wrap="square" lIns="54864" tIns="27432" rIns="54864" bIns="27432" anchor="ctr">
            <a:spAutoFit/>
          </a:bodyPr>
          <a:lstStyle/>
          <a:p>
            <a:pPr algn="r">
              <a:lnSpc>
                <a:spcPct val="100000"/>
              </a:lnSpc>
            </a:pPr>
            <a:r>
              <a:rPr sz="750" b="0" i="0">
                <a:solidFill>
                  <a:srgbClr val="8F8F8F"/>
                </a:solidFill>
                <a:latin typeface="Arial"/>
              </a:rPr>
              <a:t>96 à 896 Mo</a:t>
            </a:r>
          </a:p>
        </p:txBody>
      </p:sp>
      <p:sp>
        <p:nvSpPr>
          <p:cNvPr id="63" name="TextBox 62"/>
          <p:cNvSpPr txBox="1"/>
          <p:nvPr/>
        </p:nvSpPr>
        <p:spPr>
          <a:xfrm>
            <a:off x="457200" y="3858768"/>
            <a:ext cx="1280160" cy="219456"/>
          </a:xfrm>
          <a:prstGeom prst="rect">
            <a:avLst/>
          </a:prstGeom>
          <a:noFill/>
        </p:spPr>
        <p:txBody>
          <a:bodyPr wrap="square" lIns="54864" tIns="27432" rIns="54864" bIns="27432" anchor="ctr">
            <a:spAutoFit/>
          </a:bodyPr>
          <a:lstStyle/>
          <a:p>
            <a:pPr algn="l">
              <a:lnSpc>
                <a:spcPct val="100000"/>
              </a:lnSpc>
            </a:pPr>
            <a:r>
              <a:rPr sz="850" b="0" i="0">
                <a:solidFill>
                  <a:srgbClr val="171717"/>
                </a:solidFill>
                <a:latin typeface="Arial"/>
              </a:rPr>
              <a:t>Traefik</a:t>
            </a:r>
          </a:p>
        </p:txBody>
      </p:sp>
      <p:sp>
        <p:nvSpPr>
          <p:cNvPr id="64" name="Rounded Rectangle 63"/>
          <p:cNvSpPr/>
          <p:nvPr/>
        </p:nvSpPr>
        <p:spPr>
          <a:xfrm>
            <a:off x="1783080" y="3904488"/>
            <a:ext cx="232410" cy="137160"/>
          </a:xfrm>
          <a:prstGeom prst="roundRect">
            <a:avLst>
              <a:gd name="adj" fmla="val 50000"/>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ounded Rectangle 64"/>
          <p:cNvSpPr/>
          <p:nvPr/>
        </p:nvSpPr>
        <p:spPr>
          <a:xfrm>
            <a:off x="1783080" y="3904488"/>
            <a:ext cx="58102" cy="137160"/>
          </a:xfrm>
          <a:prstGeom prst="roundRect">
            <a:avLst>
              <a:gd name="adj" fmla="val 50000"/>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7498079" y="3858768"/>
            <a:ext cx="1188720" cy="219456"/>
          </a:xfrm>
          <a:prstGeom prst="rect">
            <a:avLst/>
          </a:prstGeom>
          <a:noFill/>
        </p:spPr>
        <p:txBody>
          <a:bodyPr wrap="square" lIns="54864" tIns="27432" rIns="54864" bIns="27432" anchor="ctr">
            <a:spAutoFit/>
          </a:bodyPr>
          <a:lstStyle/>
          <a:p>
            <a:pPr algn="r">
              <a:lnSpc>
                <a:spcPct val="100000"/>
              </a:lnSpc>
            </a:pPr>
            <a:r>
              <a:rPr sz="750" b="0" i="0">
                <a:solidFill>
                  <a:srgbClr val="8F8F8F"/>
                </a:solidFill>
                <a:latin typeface="Arial"/>
              </a:rPr>
              <a:t>64 à 256 Mo</a:t>
            </a:r>
          </a:p>
        </p:txBody>
      </p:sp>
      <p:sp>
        <p:nvSpPr>
          <p:cNvPr id="67" name="Rectangle 66"/>
          <p:cNvSpPr/>
          <p:nvPr/>
        </p:nvSpPr>
        <p:spPr>
          <a:xfrm>
            <a:off x="457200" y="422452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ectangle 67"/>
          <p:cNvSpPr/>
          <p:nvPr/>
        </p:nvSpPr>
        <p:spPr>
          <a:xfrm>
            <a:off x="457200" y="4224528"/>
            <a:ext cx="548640" cy="9144"/>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457200" y="4297680"/>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D9480F"/>
                </a:solidFill>
                <a:latin typeface="Arial"/>
              </a:rPr>
              <a:t>POURQUOI SWARM ET PAS KUBERNETES</a:t>
            </a:r>
          </a:p>
        </p:txBody>
      </p:sp>
      <p:sp>
        <p:nvSpPr>
          <p:cNvPr id="70" name="TextBox 69"/>
          <p:cNvSpPr txBox="1"/>
          <p:nvPr/>
        </p:nvSpPr>
        <p:spPr>
          <a:xfrm>
            <a:off x="457200" y="4498848"/>
            <a:ext cx="8229600" cy="274320"/>
          </a:xfrm>
          <a:prstGeom prst="rect">
            <a:avLst/>
          </a:prstGeom>
          <a:noFill/>
        </p:spPr>
        <p:txBody>
          <a:bodyPr wrap="square" lIns="54864" tIns="27432" rIns="54864" bIns="27432" anchor="t">
            <a:spAutoFit/>
          </a:bodyPr>
          <a:lstStyle/>
          <a:p>
            <a:pPr algn="l">
              <a:lnSpc>
                <a:spcPct val="105000"/>
              </a:lnSpc>
            </a:pPr>
            <a:r>
              <a:rPr sz="950" b="0" i="0">
                <a:solidFill>
                  <a:srgbClr val="666666"/>
                </a:solidFill>
                <a:latin typeface="Arial"/>
              </a:rPr>
              <a:t>les primitives nécessaires sont là pour une surface d’exploitation bien moindre. Kubernetes reste la cible documentée</a:t>
            </a:r>
          </a:p>
        </p:txBody>
      </p:sp>
      <p:sp>
        <p:nvSpPr>
          <p:cNvPr id="71" name="TextBox 70"/>
          <p:cNvSpPr txBox="1"/>
          <p:nvPr/>
        </p:nvSpPr>
        <p:spPr>
          <a:xfrm>
            <a:off x="457200" y="1207008"/>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D’UNE VERSION VALIDÉE À LA MISE EN LIGNE, SANS INTERVENTION</a:t>
            </a:r>
          </a:p>
        </p:txBody>
      </p:sp>
      <p:sp>
        <p:nvSpPr>
          <p:cNvPr id="72" name="Rounded Rectangle 71"/>
          <p:cNvSpPr/>
          <p:nvPr/>
        </p:nvSpPr>
        <p:spPr>
          <a:xfrm>
            <a:off x="457200" y="1444752"/>
            <a:ext cx="1851660" cy="841248"/>
          </a:xfrm>
          <a:prstGeom prst="roundRect">
            <a:avLst>
              <a:gd name="adj" fmla="val 6793"/>
            </a:avLst>
          </a:prstGeom>
          <a:solidFill>
            <a:srgbClr val="FFFFFF"/>
          </a:solidFill>
          <a:ln w="12700">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57200" y="1517904"/>
            <a:ext cx="1851660" cy="164592"/>
          </a:xfrm>
          <a:prstGeom prst="rect">
            <a:avLst/>
          </a:prstGeom>
          <a:noFill/>
        </p:spPr>
        <p:txBody>
          <a:bodyPr wrap="square" anchor="t" lIns="54864" rIns="54864" tIns="27432" bIns="27432">
            <a:spAutoFit/>
          </a:bodyPr>
          <a:lstStyle/>
          <a:p>
            <a:pPr algn="ctr">
              <a:lnSpc>
                <a:spcPct val="100000"/>
              </a:lnSpc>
            </a:pPr>
            <a:r>
              <a:rPr sz="600" b="1" i="0" spc="96">
                <a:solidFill>
                  <a:srgbClr val="D9480F"/>
                </a:solidFill>
                <a:latin typeface="Arial"/>
              </a:rPr>
              <a:t>1 · CONTENEURISATION</a:t>
            </a:r>
          </a:p>
        </p:txBody>
      </p:sp>
      <p:sp>
        <p:nvSpPr>
          <p:cNvPr id="74" name="TextBox 73"/>
          <p:cNvSpPr txBox="1"/>
          <p:nvPr/>
        </p:nvSpPr>
        <p:spPr>
          <a:xfrm>
            <a:off x="457200" y="1700784"/>
            <a:ext cx="1851660" cy="402336"/>
          </a:xfrm>
          <a:prstGeom prst="rect">
            <a:avLst/>
          </a:prstGeom>
          <a:noFill/>
        </p:spPr>
        <p:txBody>
          <a:bodyPr wrap="square" anchor="t" lIns="54864" rIns="54864" tIns="27432" bIns="27432">
            <a:spAutoFit/>
          </a:bodyPr>
          <a:lstStyle/>
          <a:p>
            <a:pPr algn="ctr">
              <a:lnSpc>
                <a:spcPct val="100000"/>
              </a:lnSpc>
            </a:pPr>
            <a:r>
              <a:rPr sz="800" b="1" i="0">
                <a:solidFill>
                  <a:srgbClr val="171717"/>
                </a:solidFill>
                <a:latin typeface="Arial"/>
              </a:rPr>
              <a:t>chaque service est empaqueté avec sa version exacte</a:t>
            </a:r>
          </a:p>
        </p:txBody>
      </p:sp>
      <p:sp>
        <p:nvSpPr>
          <p:cNvPr id="75" name="TextBox 74"/>
          <p:cNvSpPr txBox="1"/>
          <p:nvPr/>
        </p:nvSpPr>
        <p:spPr>
          <a:xfrm>
            <a:off x="457200" y="2039112"/>
            <a:ext cx="1851660" cy="182880"/>
          </a:xfrm>
          <a:prstGeom prst="rect">
            <a:avLst/>
          </a:prstGeom>
          <a:noFill/>
        </p:spPr>
        <p:txBody>
          <a:bodyPr wrap="square" anchor="t" lIns="54864" rIns="54864" tIns="27432" bIns="27432">
            <a:spAutoFit/>
          </a:bodyPr>
          <a:lstStyle/>
          <a:p>
            <a:pPr algn="ctr">
              <a:lnSpc>
                <a:spcPct val="100000"/>
              </a:lnSpc>
            </a:pPr>
            <a:r>
              <a:rPr sz="650" b="0" i="0">
                <a:solidFill>
                  <a:srgbClr val="666666"/>
                </a:solidFill>
                <a:latin typeface="Arial"/>
              </a:rPr>
              <a:t>14 services, chaque image épinglée</a:t>
            </a:r>
          </a:p>
        </p:txBody>
      </p:sp>
      <p:sp>
        <p:nvSpPr>
          <p:cNvPr id="76" name="Rounded Rectangle 75"/>
          <p:cNvSpPr/>
          <p:nvPr/>
        </p:nvSpPr>
        <p:spPr>
          <a:xfrm>
            <a:off x="2583180" y="1444752"/>
            <a:ext cx="1851660" cy="841248"/>
          </a:xfrm>
          <a:prstGeom prst="roundRect">
            <a:avLst>
              <a:gd name="adj" fmla="val 6793"/>
            </a:avLst>
          </a:prstGeom>
          <a:solidFill>
            <a:srgbClr val="FFFFFF"/>
          </a:solidFill>
          <a:ln w="12700">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583180" y="1517904"/>
            <a:ext cx="1851660" cy="164592"/>
          </a:xfrm>
          <a:prstGeom prst="rect">
            <a:avLst/>
          </a:prstGeom>
          <a:noFill/>
        </p:spPr>
        <p:txBody>
          <a:bodyPr wrap="square" anchor="t" lIns="54864" rIns="54864" tIns="27432" bIns="27432">
            <a:spAutoFit/>
          </a:bodyPr>
          <a:lstStyle/>
          <a:p>
            <a:pPr algn="ctr">
              <a:lnSpc>
                <a:spcPct val="100000"/>
              </a:lnSpc>
            </a:pPr>
            <a:r>
              <a:rPr sz="600" b="1" i="0" spc="96">
                <a:solidFill>
                  <a:srgbClr val="D9480F"/>
                </a:solidFill>
                <a:latin typeface="Arial"/>
              </a:rPr>
              <a:t>2 · ORCHESTRATION</a:t>
            </a:r>
          </a:p>
        </p:txBody>
      </p:sp>
      <p:sp>
        <p:nvSpPr>
          <p:cNvPr id="78" name="TextBox 77"/>
          <p:cNvSpPr txBox="1"/>
          <p:nvPr/>
        </p:nvSpPr>
        <p:spPr>
          <a:xfrm>
            <a:off x="2583180" y="1700784"/>
            <a:ext cx="1851660" cy="402336"/>
          </a:xfrm>
          <a:prstGeom prst="rect">
            <a:avLst/>
          </a:prstGeom>
          <a:noFill/>
        </p:spPr>
        <p:txBody>
          <a:bodyPr wrap="square" anchor="t" lIns="54864" rIns="54864" tIns="27432" bIns="27432">
            <a:spAutoFit/>
          </a:bodyPr>
          <a:lstStyle/>
          <a:p>
            <a:pPr algn="ctr">
              <a:lnSpc>
                <a:spcPct val="100000"/>
              </a:lnSpc>
            </a:pPr>
            <a:r>
              <a:rPr sz="800" b="1" i="0">
                <a:solidFill>
                  <a:srgbClr val="171717"/>
                </a:solidFill>
                <a:latin typeface="Arial"/>
              </a:rPr>
              <a:t>un fichier décrit l’état voulu et la machine cible</a:t>
            </a:r>
          </a:p>
        </p:txBody>
      </p:sp>
      <p:sp>
        <p:nvSpPr>
          <p:cNvPr id="79" name="TextBox 78"/>
          <p:cNvSpPr txBox="1"/>
          <p:nvPr/>
        </p:nvSpPr>
        <p:spPr>
          <a:xfrm>
            <a:off x="2583180" y="2039112"/>
            <a:ext cx="1851660" cy="182880"/>
          </a:xfrm>
          <a:prstGeom prst="rect">
            <a:avLst/>
          </a:prstGeom>
          <a:noFill/>
        </p:spPr>
        <p:txBody>
          <a:bodyPr wrap="square" anchor="t" lIns="54864" rIns="54864" tIns="27432" bIns="27432">
            <a:spAutoFit/>
          </a:bodyPr>
          <a:lstStyle/>
          <a:p>
            <a:pPr algn="ctr">
              <a:lnSpc>
                <a:spcPct val="100000"/>
              </a:lnSpc>
            </a:pPr>
            <a:r>
              <a:rPr sz="650" b="0" i="0">
                <a:solidFill>
                  <a:srgbClr val="666666"/>
                </a:solidFill>
                <a:latin typeface="Arial"/>
              </a:rPr>
              <a:t>placement imposé par node.labels</a:t>
            </a:r>
          </a:p>
        </p:txBody>
      </p:sp>
      <p:sp>
        <p:nvSpPr>
          <p:cNvPr id="80" name="Rounded Rectangle 79"/>
          <p:cNvSpPr/>
          <p:nvPr/>
        </p:nvSpPr>
        <p:spPr>
          <a:xfrm>
            <a:off x="4709160" y="1444752"/>
            <a:ext cx="1851660" cy="841248"/>
          </a:xfrm>
          <a:prstGeom prst="roundRect">
            <a:avLst>
              <a:gd name="adj" fmla="val 6793"/>
            </a:avLst>
          </a:prstGeom>
          <a:solidFill>
            <a:srgbClr val="FFFFFF"/>
          </a:solidFill>
          <a:ln w="12700">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709160" y="1517904"/>
            <a:ext cx="1851660" cy="164592"/>
          </a:xfrm>
          <a:prstGeom prst="rect">
            <a:avLst/>
          </a:prstGeom>
          <a:noFill/>
        </p:spPr>
        <p:txBody>
          <a:bodyPr wrap="square" anchor="t" lIns="54864" rIns="54864" tIns="27432" bIns="27432">
            <a:spAutoFit/>
          </a:bodyPr>
          <a:lstStyle/>
          <a:p>
            <a:pPr algn="ctr">
              <a:lnSpc>
                <a:spcPct val="100000"/>
              </a:lnSpc>
            </a:pPr>
            <a:r>
              <a:rPr sz="600" b="1" i="0" spc="96">
                <a:solidFill>
                  <a:srgbClr val="D9480F"/>
                </a:solidFill>
                <a:latin typeface="Arial"/>
              </a:rPr>
              <a:t>3 · SCALING</a:t>
            </a:r>
          </a:p>
        </p:txBody>
      </p:sp>
      <p:sp>
        <p:nvSpPr>
          <p:cNvPr id="82" name="TextBox 81"/>
          <p:cNvSpPr txBox="1"/>
          <p:nvPr/>
        </p:nvSpPr>
        <p:spPr>
          <a:xfrm>
            <a:off x="4709160" y="1700784"/>
            <a:ext cx="1851660" cy="402336"/>
          </a:xfrm>
          <a:prstGeom prst="rect">
            <a:avLst/>
          </a:prstGeom>
          <a:noFill/>
        </p:spPr>
        <p:txBody>
          <a:bodyPr wrap="square" anchor="t" lIns="54864" rIns="54864" tIns="27432" bIns="27432">
            <a:spAutoFit/>
          </a:bodyPr>
          <a:lstStyle/>
          <a:p>
            <a:pPr algn="ctr">
              <a:lnSpc>
                <a:spcPct val="100000"/>
              </a:lnSpc>
            </a:pPr>
            <a:r>
              <a:rPr sz="800" b="1" i="0">
                <a:solidFill>
                  <a:srgbClr val="171717"/>
                </a:solidFill>
                <a:latin typeface="Arial"/>
              </a:rPr>
              <a:t>le nombre de copies se change dans un fichier</a:t>
            </a:r>
          </a:p>
        </p:txBody>
      </p:sp>
      <p:sp>
        <p:nvSpPr>
          <p:cNvPr id="83" name="TextBox 82"/>
          <p:cNvSpPr txBox="1"/>
          <p:nvPr/>
        </p:nvSpPr>
        <p:spPr>
          <a:xfrm>
            <a:off x="4709160" y="2039112"/>
            <a:ext cx="1851660" cy="182880"/>
          </a:xfrm>
          <a:prstGeom prst="rect">
            <a:avLst/>
          </a:prstGeom>
          <a:noFill/>
        </p:spPr>
        <p:txBody>
          <a:bodyPr wrap="square" anchor="t" lIns="54864" rIns="54864" tIns="27432" bIns="27432">
            <a:spAutoFit/>
          </a:bodyPr>
          <a:lstStyle/>
          <a:p>
            <a:pPr algn="ctr">
              <a:lnSpc>
                <a:spcPct val="100000"/>
              </a:lnSpc>
            </a:pPr>
            <a:r>
              <a:rPr sz="650" b="0" i="0">
                <a:solidFill>
                  <a:srgbClr val="666666"/>
                </a:solidFill>
                <a:latin typeface="Arial"/>
              </a:rPr>
              <a:t>réplicas dérivés de l’inventaire</a:t>
            </a:r>
          </a:p>
        </p:txBody>
      </p:sp>
      <p:sp>
        <p:nvSpPr>
          <p:cNvPr id="84" name="Rounded Rectangle 83"/>
          <p:cNvSpPr/>
          <p:nvPr/>
        </p:nvSpPr>
        <p:spPr>
          <a:xfrm>
            <a:off x="6835140" y="1444752"/>
            <a:ext cx="1851660" cy="841248"/>
          </a:xfrm>
          <a:prstGeom prst="roundRect">
            <a:avLst>
              <a:gd name="adj" fmla="val 6793"/>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835140" y="1517904"/>
            <a:ext cx="1851660" cy="164592"/>
          </a:xfrm>
          <a:prstGeom prst="rect">
            <a:avLst/>
          </a:prstGeom>
          <a:noFill/>
        </p:spPr>
        <p:txBody>
          <a:bodyPr wrap="square" anchor="t" lIns="54864" rIns="54864" tIns="27432" bIns="27432">
            <a:spAutoFit/>
          </a:bodyPr>
          <a:lstStyle/>
          <a:p>
            <a:pPr algn="ctr">
              <a:lnSpc>
                <a:spcPct val="100000"/>
              </a:lnSpc>
            </a:pPr>
            <a:r>
              <a:rPr sz="600" b="1" i="0" spc="96">
                <a:solidFill>
                  <a:srgbClr val="D9480F"/>
                </a:solidFill>
                <a:latin typeface="Arial"/>
              </a:rPr>
              <a:t>4 · RÉSILIENCE</a:t>
            </a:r>
          </a:p>
        </p:txBody>
      </p:sp>
      <p:sp>
        <p:nvSpPr>
          <p:cNvPr id="86" name="TextBox 85"/>
          <p:cNvSpPr txBox="1"/>
          <p:nvPr/>
        </p:nvSpPr>
        <p:spPr>
          <a:xfrm>
            <a:off x="6835140" y="1700784"/>
            <a:ext cx="1851660" cy="402336"/>
          </a:xfrm>
          <a:prstGeom prst="rect">
            <a:avLst/>
          </a:prstGeom>
          <a:noFill/>
        </p:spPr>
        <p:txBody>
          <a:bodyPr wrap="square" anchor="t" lIns="54864" rIns="54864" tIns="27432" bIns="27432">
            <a:spAutoFit/>
          </a:bodyPr>
          <a:lstStyle/>
          <a:p>
            <a:pPr algn="ctr">
              <a:lnSpc>
                <a:spcPct val="100000"/>
              </a:lnSpc>
            </a:pPr>
            <a:r>
              <a:rPr sz="800" b="1" i="0">
                <a:solidFill>
                  <a:srgbClr val="171717"/>
                </a:solidFill>
                <a:latin typeface="Arial"/>
              </a:rPr>
              <a:t>les copies sont remplacées une à une, sans coupure</a:t>
            </a:r>
          </a:p>
        </p:txBody>
      </p:sp>
      <p:sp>
        <p:nvSpPr>
          <p:cNvPr id="87" name="TextBox 86"/>
          <p:cNvSpPr txBox="1"/>
          <p:nvPr/>
        </p:nvSpPr>
        <p:spPr>
          <a:xfrm>
            <a:off x="6835140" y="2039112"/>
            <a:ext cx="1851660" cy="182880"/>
          </a:xfrm>
          <a:prstGeom prst="rect">
            <a:avLst/>
          </a:prstGeom>
          <a:noFill/>
        </p:spPr>
        <p:txBody>
          <a:bodyPr wrap="square" anchor="t" lIns="54864" rIns="54864" tIns="27432" bIns="27432">
            <a:spAutoFit/>
          </a:bodyPr>
          <a:lstStyle/>
          <a:p>
            <a:pPr algn="ctr">
              <a:lnSpc>
                <a:spcPct val="100000"/>
              </a:lnSpc>
            </a:pPr>
            <a:r>
              <a:rPr sz="650" b="0" i="0">
                <a:solidFill>
                  <a:srgbClr val="666666"/>
                </a:solidFill>
                <a:latin typeface="Arial"/>
              </a:rPr>
              <a:t>mise à jour progressive, start-first</a:t>
            </a:r>
          </a:p>
        </p:txBody>
      </p:sp>
      <p:sp>
        <p:nvSpPr>
          <p:cNvPr id="88" name="Right Arrow 87"/>
          <p:cNvSpPr/>
          <p:nvPr/>
        </p:nvSpPr>
        <p:spPr>
          <a:xfrm>
            <a:off x="2354580" y="1801368"/>
            <a:ext cx="182880" cy="137160"/>
          </a:xfrm>
          <a:prstGeom prst="righ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ight Arrow 88"/>
          <p:cNvSpPr/>
          <p:nvPr/>
        </p:nvSpPr>
        <p:spPr>
          <a:xfrm>
            <a:off x="4480560" y="1801368"/>
            <a:ext cx="182880" cy="137160"/>
          </a:xfrm>
          <a:prstGeom prst="righ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ight Arrow 89"/>
          <p:cNvSpPr/>
          <p:nvPr/>
        </p:nvSpPr>
        <p:spPr>
          <a:xfrm>
            <a:off x="6606540" y="1801368"/>
            <a:ext cx="182880" cy="137160"/>
          </a:xfrm>
          <a:prstGeom prst="righ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1" name="Connector 90"/>
          <p:cNvCxnSpPr/>
          <p:nvPr/>
        </p:nvCxnSpPr>
        <p:spPr>
          <a:xfrm>
            <a:off x="7760970" y="2286000"/>
            <a:ext cx="0" cy="146304"/>
          </a:xfrm>
          <a:prstGeom prst="line">
            <a:avLst/>
          </a:prstGeom>
          <a:ln w="15875">
            <a:solidFill>
              <a:srgbClr val="E03131"/>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731520" y="2432304"/>
            <a:ext cx="7029450" cy="0"/>
          </a:xfrm>
          <a:prstGeom prst="line">
            <a:avLst/>
          </a:prstGeom>
          <a:ln w="15875">
            <a:solidFill>
              <a:srgbClr val="E03131"/>
            </a:solidFill>
          </a:ln>
        </p:spPr>
        <p:style>
          <a:lnRef idx="2">
            <a:schemeClr val="accent1"/>
          </a:lnRef>
          <a:fillRef idx="0">
            <a:schemeClr val="accent1"/>
          </a:fillRef>
          <a:effectRef idx="1">
            <a:schemeClr val="accent1"/>
          </a:effectRef>
          <a:fontRef idx="minor">
            <a:schemeClr val="tx1"/>
          </a:fontRef>
        </p:style>
      </p:cxnSp>
      <p:sp>
        <p:nvSpPr>
          <p:cNvPr id="93" name="Left Arrow 92"/>
          <p:cNvSpPr/>
          <p:nvPr/>
        </p:nvSpPr>
        <p:spPr>
          <a:xfrm>
            <a:off x="585216" y="2368296"/>
            <a:ext cx="146304" cy="128016"/>
          </a:xfrm>
          <a:prstGeom prst="leftArrow">
            <a:avLst/>
          </a:prstGeom>
          <a:solidFill>
            <a:srgbClr val="E0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ounded Rectangle 93"/>
          <p:cNvSpPr/>
          <p:nvPr/>
        </p:nvSpPr>
        <p:spPr>
          <a:xfrm>
            <a:off x="2377440" y="2322576"/>
            <a:ext cx="4389120" cy="219456"/>
          </a:xfrm>
          <a:prstGeom prst="roundRect">
            <a:avLst>
              <a:gd name="adj" fmla="val 26041"/>
            </a:avLst>
          </a:prstGeom>
          <a:solidFill>
            <a:srgbClr val="FF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2377440" y="2322576"/>
            <a:ext cx="4389120" cy="219456"/>
          </a:xfrm>
          <a:prstGeom prst="rect">
            <a:avLst/>
          </a:prstGeom>
          <a:noFill/>
        </p:spPr>
        <p:txBody>
          <a:bodyPr wrap="square" anchor="ctr" lIns="54864" rIns="54864" tIns="27432" bIns="27432">
            <a:spAutoFit/>
          </a:bodyPr>
          <a:lstStyle/>
          <a:p>
            <a:pPr algn="ctr">
              <a:lnSpc>
                <a:spcPct val="100000"/>
              </a:lnSpc>
            </a:pPr>
            <a:r>
              <a:rPr sz="750" b="1" i="0">
                <a:solidFill>
                  <a:srgbClr val="171717"/>
                </a:solidFill>
                <a:latin typeface="Arial"/>
              </a:rPr>
              <a:t>contrôle de santé en échec, la version d’avant revient toute seule</a:t>
            </a:r>
            <a:r>
              <a:rPr sz="750" b="0" i="0">
                <a:solidFill>
                  <a:srgbClr val="666666"/>
                </a:solidFill>
                <a:latin typeface="Arial"/>
              </a:rPr>
              <a:t>   ·   failure_action rollback</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096000" y="0"/>
            <a:ext cx="1524000" cy="41148"/>
          </a:xfrm>
          <a:prstGeom prst="rect">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269480"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10144"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lIns="54864" tIns="27432" rIns="54864" bIns="27432" anchor="t">
            <a:spAutoFit/>
          </a:bodyPr>
          <a:lstStyle/>
          <a:p>
            <a:pPr algn="l">
              <a:lnSpc>
                <a:spcPct val="100000"/>
              </a:lnSpc>
            </a:pPr>
            <a:r>
              <a:rPr sz="750" b="1" i="0" spc="120">
                <a:solidFill>
                  <a:srgbClr val="D9480F"/>
                </a:solidFill>
                <a:latin typeface="Arial"/>
              </a:rPr>
              <a:t>5 · OPTION DEVOPS</a:t>
            </a:r>
          </a:p>
        </p:txBody>
      </p:sp>
      <p:sp>
        <p:nvSpPr>
          <p:cNvPr id="11" name="TextBox 10"/>
          <p:cNvSpPr txBox="1"/>
          <p:nvPr/>
        </p:nvSpPr>
        <p:spPr>
          <a:xfrm>
            <a:off x="457200" y="493776"/>
            <a:ext cx="6720840" cy="566928"/>
          </a:xfrm>
          <a:prstGeom prst="rect">
            <a:avLst/>
          </a:prstGeom>
          <a:noFill/>
        </p:spPr>
        <p:txBody>
          <a:bodyPr wrap="square" lIns="54864" tIns="27432" rIns="54864" bIns="27432" anchor="t">
            <a:spAutoFit/>
          </a:bodyPr>
          <a:lstStyle/>
          <a:p>
            <a:pPr algn="l">
              <a:lnSpc>
                <a:spcPct val="100000"/>
              </a:lnSpc>
            </a:pPr>
            <a:r>
              <a:rPr sz="2400" b="1" i="0" spc="-84">
                <a:solidFill>
                  <a:srgbClr val="171717"/>
                </a:solidFill>
                <a:latin typeface="Arial"/>
              </a:rPr>
              <a:t>Observabilité et alerting</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26679" y="4832604"/>
            <a:ext cx="1143000" cy="237744"/>
          </a:xfrm>
          <a:prstGeom prst="rect">
            <a:avLst/>
          </a:prstGeom>
          <a:noFill/>
        </p:spPr>
        <p:txBody>
          <a:bodyPr wrap="square" lIns="54864" tIns="27432" rIns="54864" bIns="27432" anchor="t">
            <a:spAutoFit/>
          </a:bodyPr>
          <a:lstStyle/>
          <a:p>
            <a:pPr algn="r">
              <a:lnSpc>
                <a:spcPct val="100000"/>
              </a:lnSpc>
            </a:pPr>
            <a:r>
              <a:rPr sz="800" b="0" i="0">
                <a:solidFill>
                  <a:srgbClr val="A1A1A1"/>
                </a:solidFill>
                <a:latin typeface="Arial"/>
              </a:rPr>
              <a:t>24 / 31</a:t>
            </a:r>
          </a:p>
        </p:txBody>
      </p:sp>
      <p:sp>
        <p:nvSpPr>
          <p:cNvPr id="14" name="Rounded Rectangle 13"/>
          <p:cNvSpPr/>
          <p:nvPr/>
        </p:nvSpPr>
        <p:spPr>
          <a:xfrm>
            <a:off x="457200" y="4818888"/>
            <a:ext cx="733348" cy="228600"/>
          </a:xfrm>
          <a:prstGeom prst="roundRect">
            <a:avLst>
              <a:gd name="adj" fmla="val 25000"/>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4818888"/>
            <a:ext cx="733348" cy="228600"/>
          </a:xfrm>
          <a:prstGeom prst="rect">
            <a:avLst/>
          </a:prstGeom>
          <a:noFill/>
        </p:spPr>
        <p:txBody>
          <a:bodyPr wrap="square" lIns="54864" tIns="27432" rIns="54864" bIns="27432" anchor="ctr">
            <a:spAutoFit/>
          </a:bodyPr>
          <a:lstStyle/>
          <a:p>
            <a:pPr algn="ctr">
              <a:lnSpc>
                <a:spcPct val="100000"/>
              </a:lnSpc>
            </a:pPr>
            <a:r>
              <a:rPr sz="750" b="1" i="0">
                <a:solidFill>
                  <a:srgbClr val="171717"/>
                </a:solidFill>
                <a:latin typeface="Arial"/>
              </a:rPr>
              <a:t>Réf.  C31</a:t>
            </a:r>
          </a:p>
        </p:txBody>
      </p:sp>
      <p:sp>
        <p:nvSpPr>
          <p:cNvPr id="16" name="TextBox 15"/>
          <p:cNvSpPr txBox="1"/>
          <p:nvPr/>
        </p:nvSpPr>
        <p:spPr>
          <a:xfrm>
            <a:off x="1281988" y="4818888"/>
            <a:ext cx="5486400" cy="228600"/>
          </a:xfrm>
          <a:prstGeom prst="rect">
            <a:avLst/>
          </a:prstGeom>
          <a:noFill/>
        </p:spPr>
        <p:txBody>
          <a:bodyPr wrap="square" lIns="54864" tIns="27432" rIns="54864" bIns="27432" anchor="ctr">
            <a:spAutoFit/>
          </a:bodyPr>
          <a:lstStyle/>
          <a:p>
            <a:pPr algn="l">
              <a:lnSpc>
                <a:spcPct val="100000"/>
              </a:lnSpc>
            </a:pPr>
            <a:r>
              <a:rPr sz="750" b="0" i="0">
                <a:solidFill>
                  <a:srgbClr val="A1A1A1"/>
                </a:solidFill>
                <a:latin typeface="Arial"/>
              </a:rPr>
              <a:t>BC4C · mémoire 17.4 · annexe P · wiki 10</a:t>
            </a:r>
          </a:p>
        </p:txBody>
      </p:sp>
      <p:sp>
        <p:nvSpPr>
          <p:cNvPr id="17" name="TextBox 16"/>
          <p:cNvSpPr txBox="1"/>
          <p:nvPr/>
        </p:nvSpPr>
        <p:spPr>
          <a:xfrm>
            <a:off x="457200" y="1225296"/>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CHAÎNE VERSIONNÉE, DE LA SOURCE À L’ÉCRAN</a:t>
            </a:r>
          </a:p>
        </p:txBody>
      </p:sp>
      <p:sp>
        <p:nvSpPr>
          <p:cNvPr id="18" name="Rounded Rectangle 17"/>
          <p:cNvSpPr/>
          <p:nvPr/>
        </p:nvSpPr>
        <p:spPr>
          <a:xfrm>
            <a:off x="457200" y="1444752"/>
            <a:ext cx="1851660" cy="493776"/>
          </a:xfrm>
          <a:prstGeom prst="roundRect">
            <a:avLst>
              <a:gd name="adj" fmla="val 11574"/>
            </a:avLst>
          </a:prstGeom>
          <a:solidFill>
            <a:srgbClr val="D0E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200" y="1444752"/>
            <a:ext cx="1851660" cy="493776"/>
          </a:xfrm>
          <a:prstGeom prst="rect">
            <a:avLst/>
          </a:prstGeom>
          <a:noFill/>
        </p:spPr>
        <p:txBody>
          <a:bodyPr wrap="square" lIns="54864" tIns="27432" rIns="54864" bIns="27432" anchor="ctr">
            <a:spAutoFit/>
          </a:bodyPr>
          <a:lstStyle/>
          <a:p>
            <a:pPr algn="ctr">
              <a:lnSpc>
                <a:spcPct val="100000"/>
              </a:lnSpc>
            </a:pPr>
            <a:r>
              <a:rPr sz="1050" b="1" i="0">
                <a:solidFill>
                  <a:srgbClr val="171717"/>
                </a:solidFill>
                <a:latin typeface="Arial"/>
              </a:rPr>
              <a:t>Sources</a:t>
            </a:r>
          </a:p>
        </p:txBody>
      </p:sp>
      <p:sp>
        <p:nvSpPr>
          <p:cNvPr id="20" name="TextBox 19"/>
          <p:cNvSpPr txBox="1"/>
          <p:nvPr/>
        </p:nvSpPr>
        <p:spPr>
          <a:xfrm>
            <a:off x="457200" y="1975104"/>
            <a:ext cx="1851660" cy="237744"/>
          </a:xfrm>
          <a:prstGeom prst="rect">
            <a:avLst/>
          </a:prstGeom>
          <a:noFill/>
        </p:spPr>
        <p:txBody>
          <a:bodyPr wrap="square" lIns="54864" tIns="27432" rIns="54864" bIns="27432" anchor="t">
            <a:spAutoFit/>
          </a:bodyPr>
          <a:lstStyle/>
          <a:p>
            <a:pPr algn="ctr">
              <a:lnSpc>
                <a:spcPct val="100000"/>
              </a:lnSpc>
            </a:pPr>
            <a:r>
              <a:rPr sz="750" b="0" i="0">
                <a:solidFill>
                  <a:srgbClr val="8F8F8F"/>
                </a:solidFill>
                <a:latin typeface="Arial"/>
              </a:rPr>
              <a:t>Traefik, nœuds, conteneurs</a:t>
            </a:r>
          </a:p>
        </p:txBody>
      </p:sp>
      <p:sp>
        <p:nvSpPr>
          <p:cNvPr id="21" name="Right Arrow 20"/>
          <p:cNvSpPr/>
          <p:nvPr/>
        </p:nvSpPr>
        <p:spPr>
          <a:xfrm>
            <a:off x="2354579" y="1627632"/>
            <a:ext cx="182880" cy="137160"/>
          </a:xfrm>
          <a:prstGeom prst="righ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2583179" y="1444752"/>
            <a:ext cx="1851660" cy="493776"/>
          </a:xfrm>
          <a:prstGeom prst="roundRect">
            <a:avLst>
              <a:gd name="adj" fmla="val 11574"/>
            </a:avLst>
          </a:prstGeom>
          <a:solidFill>
            <a:srgbClr val="E5D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583179" y="1444752"/>
            <a:ext cx="1851660" cy="493776"/>
          </a:xfrm>
          <a:prstGeom prst="rect">
            <a:avLst/>
          </a:prstGeom>
          <a:noFill/>
        </p:spPr>
        <p:txBody>
          <a:bodyPr wrap="square" lIns="54864" tIns="27432" rIns="54864" bIns="27432" anchor="ctr">
            <a:spAutoFit/>
          </a:bodyPr>
          <a:lstStyle/>
          <a:p>
            <a:pPr algn="ctr">
              <a:lnSpc>
                <a:spcPct val="100000"/>
              </a:lnSpc>
            </a:pPr>
            <a:r>
              <a:rPr sz="1050" b="1" i="0">
                <a:solidFill>
                  <a:srgbClr val="171717"/>
                </a:solidFill>
                <a:latin typeface="Arial"/>
              </a:rPr>
              <a:t>Collecte</a:t>
            </a:r>
          </a:p>
        </p:txBody>
      </p:sp>
      <p:sp>
        <p:nvSpPr>
          <p:cNvPr id="24" name="TextBox 23"/>
          <p:cNvSpPr txBox="1"/>
          <p:nvPr/>
        </p:nvSpPr>
        <p:spPr>
          <a:xfrm>
            <a:off x="2583179" y="1975104"/>
            <a:ext cx="1851660" cy="237744"/>
          </a:xfrm>
          <a:prstGeom prst="rect">
            <a:avLst/>
          </a:prstGeom>
          <a:noFill/>
        </p:spPr>
        <p:txBody>
          <a:bodyPr wrap="square" lIns="54864" tIns="27432" rIns="54864" bIns="27432" anchor="t">
            <a:spAutoFit/>
          </a:bodyPr>
          <a:lstStyle/>
          <a:p>
            <a:pPr algn="ctr">
              <a:lnSpc>
                <a:spcPct val="100000"/>
              </a:lnSpc>
            </a:pPr>
            <a:r>
              <a:rPr sz="750" b="0" i="0">
                <a:solidFill>
                  <a:srgbClr val="8F8F8F"/>
                </a:solidFill>
                <a:latin typeface="Arial"/>
              </a:rPr>
              <a:t>Prometheus toutes les 15 s</a:t>
            </a:r>
          </a:p>
        </p:txBody>
      </p:sp>
      <p:sp>
        <p:nvSpPr>
          <p:cNvPr id="25" name="Right Arrow 24"/>
          <p:cNvSpPr/>
          <p:nvPr/>
        </p:nvSpPr>
        <p:spPr>
          <a:xfrm>
            <a:off x="4480559" y="1627632"/>
            <a:ext cx="182880" cy="137160"/>
          </a:xfrm>
          <a:prstGeom prst="righ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4709159" y="1444752"/>
            <a:ext cx="1851660" cy="493776"/>
          </a:xfrm>
          <a:prstGeom prst="roundRect">
            <a:avLst>
              <a:gd name="adj" fmla="val 11574"/>
            </a:avLst>
          </a:prstGeom>
          <a:solidFill>
            <a:srgbClr val="C3F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709159" y="1444752"/>
            <a:ext cx="1851660" cy="493776"/>
          </a:xfrm>
          <a:prstGeom prst="rect">
            <a:avLst/>
          </a:prstGeom>
          <a:noFill/>
        </p:spPr>
        <p:txBody>
          <a:bodyPr wrap="square" lIns="54864" tIns="27432" rIns="54864" bIns="27432" anchor="ctr">
            <a:spAutoFit/>
          </a:bodyPr>
          <a:lstStyle/>
          <a:p>
            <a:pPr algn="ctr">
              <a:lnSpc>
                <a:spcPct val="100000"/>
              </a:lnSpc>
            </a:pPr>
            <a:r>
              <a:rPr sz="1050" b="1" i="0">
                <a:solidFill>
                  <a:srgbClr val="171717"/>
                </a:solidFill>
                <a:latin typeface="Arial"/>
              </a:rPr>
              <a:t>Stockage</a:t>
            </a:r>
          </a:p>
        </p:txBody>
      </p:sp>
      <p:sp>
        <p:nvSpPr>
          <p:cNvPr id="28" name="TextBox 27"/>
          <p:cNvSpPr txBox="1"/>
          <p:nvPr/>
        </p:nvSpPr>
        <p:spPr>
          <a:xfrm>
            <a:off x="4709159" y="1975104"/>
            <a:ext cx="1851660" cy="237744"/>
          </a:xfrm>
          <a:prstGeom prst="rect">
            <a:avLst/>
          </a:prstGeom>
          <a:noFill/>
        </p:spPr>
        <p:txBody>
          <a:bodyPr wrap="square" lIns="54864" tIns="27432" rIns="54864" bIns="27432" anchor="t">
            <a:spAutoFit/>
          </a:bodyPr>
          <a:lstStyle/>
          <a:p>
            <a:pPr algn="ctr">
              <a:lnSpc>
                <a:spcPct val="100000"/>
              </a:lnSpc>
            </a:pPr>
            <a:r>
              <a:rPr sz="750" b="0" i="0">
                <a:solidFill>
                  <a:srgbClr val="8F8F8F"/>
                </a:solidFill>
                <a:latin typeface="Arial"/>
              </a:rPr>
              <a:t>séries temporelles, Loki</a:t>
            </a:r>
          </a:p>
        </p:txBody>
      </p:sp>
      <p:sp>
        <p:nvSpPr>
          <p:cNvPr id="29" name="Right Arrow 28"/>
          <p:cNvSpPr/>
          <p:nvPr/>
        </p:nvSpPr>
        <p:spPr>
          <a:xfrm>
            <a:off x="6606539" y="1627632"/>
            <a:ext cx="182880" cy="137160"/>
          </a:xfrm>
          <a:prstGeom prst="righ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6835140" y="1444752"/>
            <a:ext cx="1851660" cy="493776"/>
          </a:xfrm>
          <a:prstGeom prst="roundRect">
            <a:avLst>
              <a:gd name="adj" fmla="val 11574"/>
            </a:avLst>
          </a:prstGeom>
          <a:solidFill>
            <a:srgbClr val="F3D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835140" y="1444752"/>
            <a:ext cx="1851660" cy="493776"/>
          </a:xfrm>
          <a:prstGeom prst="rect">
            <a:avLst/>
          </a:prstGeom>
          <a:noFill/>
        </p:spPr>
        <p:txBody>
          <a:bodyPr wrap="square" lIns="54864" tIns="27432" rIns="54864" bIns="27432" anchor="ctr">
            <a:spAutoFit/>
          </a:bodyPr>
          <a:lstStyle/>
          <a:p>
            <a:pPr algn="ctr">
              <a:lnSpc>
                <a:spcPct val="100000"/>
              </a:lnSpc>
            </a:pPr>
            <a:r>
              <a:rPr sz="1050" b="1" i="0">
                <a:solidFill>
                  <a:srgbClr val="171717"/>
                </a:solidFill>
                <a:latin typeface="Arial"/>
              </a:rPr>
              <a:t>Restitution</a:t>
            </a:r>
          </a:p>
        </p:txBody>
      </p:sp>
      <p:sp>
        <p:nvSpPr>
          <p:cNvPr id="32" name="TextBox 31"/>
          <p:cNvSpPr txBox="1"/>
          <p:nvPr/>
        </p:nvSpPr>
        <p:spPr>
          <a:xfrm>
            <a:off x="6835140" y="1975104"/>
            <a:ext cx="1851660" cy="237744"/>
          </a:xfrm>
          <a:prstGeom prst="rect">
            <a:avLst/>
          </a:prstGeom>
          <a:noFill/>
        </p:spPr>
        <p:txBody>
          <a:bodyPr wrap="square" lIns="54864" tIns="27432" rIns="54864" bIns="27432" anchor="t">
            <a:spAutoFit/>
          </a:bodyPr>
          <a:lstStyle/>
          <a:p>
            <a:pPr algn="ctr">
              <a:lnSpc>
                <a:spcPct val="100000"/>
              </a:lnSpc>
            </a:pPr>
            <a:r>
              <a:rPr sz="750" b="0" i="0">
                <a:solidFill>
                  <a:srgbClr val="8F8F8F"/>
                </a:solidFill>
                <a:latin typeface="Arial"/>
              </a:rPr>
              <a:t>Grafana, 3 tableaux de bord</a:t>
            </a:r>
          </a:p>
        </p:txBody>
      </p:sp>
      <p:sp>
        <p:nvSpPr>
          <p:cNvPr id="33" name="TextBox 32"/>
          <p:cNvSpPr txBox="1"/>
          <p:nvPr/>
        </p:nvSpPr>
        <p:spPr>
          <a:xfrm>
            <a:off x="457200" y="2377440"/>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DIX RÈGLES D’ALERTE, ORIENTÉES ANTICIPATION</a:t>
            </a:r>
          </a:p>
        </p:txBody>
      </p:sp>
      <p:sp>
        <p:nvSpPr>
          <p:cNvPr id="34" name="Rounded Rectangle 33"/>
          <p:cNvSpPr/>
          <p:nvPr/>
        </p:nvSpPr>
        <p:spPr>
          <a:xfrm>
            <a:off x="457200" y="2596896"/>
            <a:ext cx="1961388" cy="658368"/>
          </a:xfrm>
          <a:prstGeom prst="roundRect">
            <a:avLst>
              <a:gd name="adj" fmla="val 8680"/>
            </a:avLst>
          </a:prstGeom>
          <a:solidFill>
            <a:srgbClr val="FFE3E3"/>
          </a:solidFill>
          <a:ln w="9525">
            <a:solidFill>
              <a:srgbClr val="FFE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57200" y="2596896"/>
            <a:ext cx="1961388" cy="658368"/>
          </a:xfrm>
          <a:prstGeom prst="rect">
            <a:avLst/>
          </a:prstGeom>
          <a:noFill/>
        </p:spPr>
        <p:txBody>
          <a:bodyPr wrap="square" lIns="54864" tIns="27432" rIns="54864" bIns="27432" anchor="ctr">
            <a:spAutoFit/>
          </a:bodyPr>
          <a:lstStyle/>
          <a:p>
            <a:pPr algn="ctr">
              <a:lnSpc>
                <a:spcPct val="105000"/>
              </a:lnSpc>
            </a:pPr>
            <a:r>
              <a:rPr sz="950" b="1" i="0">
                <a:solidFill>
                  <a:srgbClr val="171717"/>
                </a:solidFill>
                <a:latin typeface="Arial"/>
              </a:rPr>
              <a:t>2  Disponibilité</a:t>
            </a:r>
          </a:p>
          <a:p>
            <a:pPr algn="ctr">
              <a:lnSpc>
                <a:spcPct val="105000"/>
              </a:lnSpc>
            </a:pPr>
            <a:r>
              <a:rPr sz="800" b="0" i="0">
                <a:solidFill>
                  <a:srgbClr val="666666"/>
                </a:solidFill>
                <a:latin typeface="Arial"/>
              </a:rPr>
              <a:t>cible absente 5 min</a:t>
            </a:r>
          </a:p>
        </p:txBody>
      </p:sp>
      <p:sp>
        <p:nvSpPr>
          <p:cNvPr id="36" name="Rounded Rectangle 35"/>
          <p:cNvSpPr/>
          <p:nvPr/>
        </p:nvSpPr>
        <p:spPr>
          <a:xfrm>
            <a:off x="2546604" y="2596896"/>
            <a:ext cx="1961388" cy="658368"/>
          </a:xfrm>
          <a:prstGeom prst="roundRect">
            <a:avLst>
              <a:gd name="adj" fmla="val 8680"/>
            </a:avLst>
          </a:prstGeom>
          <a:solidFill>
            <a:srgbClr val="FFE3E3"/>
          </a:solidFill>
          <a:ln w="9525">
            <a:solidFill>
              <a:srgbClr val="FFE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546604" y="2596896"/>
            <a:ext cx="1961388" cy="658368"/>
          </a:xfrm>
          <a:prstGeom prst="rect">
            <a:avLst/>
          </a:prstGeom>
          <a:noFill/>
        </p:spPr>
        <p:txBody>
          <a:bodyPr wrap="square" lIns="54864" tIns="27432" rIns="54864" bIns="27432" anchor="ctr">
            <a:spAutoFit/>
          </a:bodyPr>
          <a:lstStyle/>
          <a:p>
            <a:pPr algn="ctr">
              <a:lnSpc>
                <a:spcPct val="105000"/>
              </a:lnSpc>
            </a:pPr>
            <a:r>
              <a:rPr sz="950" b="1" i="0">
                <a:solidFill>
                  <a:srgbClr val="171717"/>
                </a:solidFill>
                <a:latin typeface="Arial"/>
              </a:rPr>
              <a:t>4  Saturation</a:t>
            </a:r>
          </a:p>
          <a:p>
            <a:pPr algn="ctr">
              <a:lnSpc>
                <a:spcPct val="105000"/>
              </a:lnSpc>
            </a:pPr>
            <a:r>
              <a:rPr sz="800" b="0" i="0">
                <a:solidFill>
                  <a:srgbClr val="666666"/>
                </a:solidFill>
                <a:latin typeface="Arial"/>
              </a:rPr>
              <a:t>processeur, mémoire, disque</a:t>
            </a:r>
          </a:p>
        </p:txBody>
      </p:sp>
      <p:sp>
        <p:nvSpPr>
          <p:cNvPr id="38" name="Rounded Rectangle 37"/>
          <p:cNvSpPr/>
          <p:nvPr/>
        </p:nvSpPr>
        <p:spPr>
          <a:xfrm>
            <a:off x="4636008" y="2596896"/>
            <a:ext cx="1961388" cy="658368"/>
          </a:xfrm>
          <a:prstGeom prst="roundRect">
            <a:avLst>
              <a:gd name="adj" fmla="val 8680"/>
            </a:avLst>
          </a:prstGeom>
          <a:solidFill>
            <a:srgbClr val="FFE3E3"/>
          </a:solidFill>
          <a:ln w="9525">
            <a:solidFill>
              <a:srgbClr val="FFE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636008" y="2596896"/>
            <a:ext cx="1961388" cy="658368"/>
          </a:xfrm>
          <a:prstGeom prst="rect">
            <a:avLst/>
          </a:prstGeom>
          <a:noFill/>
        </p:spPr>
        <p:txBody>
          <a:bodyPr wrap="square" lIns="54864" tIns="27432" rIns="54864" bIns="27432" anchor="ctr">
            <a:spAutoFit/>
          </a:bodyPr>
          <a:lstStyle/>
          <a:p>
            <a:pPr algn="ctr">
              <a:lnSpc>
                <a:spcPct val="105000"/>
              </a:lnSpc>
            </a:pPr>
            <a:r>
              <a:rPr sz="950" b="1" i="0">
                <a:solidFill>
                  <a:srgbClr val="171717"/>
                </a:solidFill>
                <a:latin typeface="Arial"/>
              </a:rPr>
              <a:t>3  Applicatif</a:t>
            </a:r>
          </a:p>
          <a:p>
            <a:pPr algn="ctr">
              <a:lnSpc>
                <a:spcPct val="105000"/>
              </a:lnSpc>
            </a:pPr>
            <a:r>
              <a:rPr sz="800" b="0" i="0">
                <a:solidFill>
                  <a:srgbClr val="666666"/>
                </a:solidFill>
                <a:latin typeface="Arial"/>
              </a:rPr>
              <a:t>erreurs, latence, redémarrages</a:t>
            </a:r>
          </a:p>
        </p:txBody>
      </p:sp>
      <p:sp>
        <p:nvSpPr>
          <p:cNvPr id="40" name="Rounded Rectangle 39"/>
          <p:cNvSpPr/>
          <p:nvPr/>
        </p:nvSpPr>
        <p:spPr>
          <a:xfrm>
            <a:off x="6725412" y="2596896"/>
            <a:ext cx="1961388" cy="658368"/>
          </a:xfrm>
          <a:prstGeom prst="roundRect">
            <a:avLst>
              <a:gd name="adj" fmla="val 8680"/>
            </a:avLst>
          </a:prstGeom>
          <a:solidFill>
            <a:srgbClr val="FFE3E3"/>
          </a:solidFill>
          <a:ln w="9525">
            <a:solidFill>
              <a:srgbClr val="FFE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725412" y="2596896"/>
            <a:ext cx="1961388" cy="658368"/>
          </a:xfrm>
          <a:prstGeom prst="rect">
            <a:avLst/>
          </a:prstGeom>
          <a:noFill/>
        </p:spPr>
        <p:txBody>
          <a:bodyPr wrap="square" lIns="54864" tIns="27432" rIns="54864" bIns="27432" anchor="ctr">
            <a:spAutoFit/>
          </a:bodyPr>
          <a:lstStyle/>
          <a:p>
            <a:pPr algn="ctr">
              <a:lnSpc>
                <a:spcPct val="105000"/>
              </a:lnSpc>
            </a:pPr>
            <a:r>
              <a:rPr sz="950" b="1" i="0">
                <a:solidFill>
                  <a:srgbClr val="171717"/>
                </a:solidFill>
                <a:latin typeface="Arial"/>
              </a:rPr>
              <a:t>1  Énergie</a:t>
            </a:r>
          </a:p>
          <a:p>
            <a:pPr algn="ctr">
              <a:lnSpc>
                <a:spcPct val="105000"/>
              </a:lnSpc>
            </a:pPr>
            <a:r>
              <a:rPr sz="800" b="0" i="0">
                <a:solidFill>
                  <a:srgbClr val="666666"/>
                </a:solidFill>
                <a:latin typeface="Arial"/>
              </a:rPr>
              <a:t>au-delà de 200 W</a:t>
            </a:r>
          </a:p>
        </p:txBody>
      </p:sp>
      <p:sp>
        <p:nvSpPr>
          <p:cNvPr id="42" name="Rounded Rectangle 41"/>
          <p:cNvSpPr/>
          <p:nvPr/>
        </p:nvSpPr>
        <p:spPr>
          <a:xfrm>
            <a:off x="2377440" y="3401568"/>
            <a:ext cx="4389120" cy="384048"/>
          </a:xfrm>
          <a:prstGeom prst="roundRect">
            <a:avLst>
              <a:gd name="adj" fmla="val 14880"/>
            </a:avLst>
          </a:prstGeom>
          <a:solidFill>
            <a:srgbClr val="C3F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377440" y="3401568"/>
            <a:ext cx="4389120" cy="384048"/>
          </a:xfrm>
          <a:prstGeom prst="rect">
            <a:avLst/>
          </a:prstGeom>
          <a:noFill/>
        </p:spPr>
        <p:txBody>
          <a:bodyPr wrap="square" lIns="54864" tIns="27432" rIns="54864" bIns="27432" anchor="ctr">
            <a:spAutoFit/>
          </a:bodyPr>
          <a:lstStyle/>
          <a:p>
            <a:pPr algn="ctr">
              <a:lnSpc>
                <a:spcPct val="100000"/>
              </a:lnSpc>
            </a:pPr>
            <a:r>
              <a:rPr sz="1000" b="1" i="0">
                <a:solidFill>
                  <a:srgbClr val="171717"/>
                </a:solidFill>
                <a:latin typeface="Arial"/>
              </a:rPr>
              <a:t>Alertmanager   ·   routage et regroupement</a:t>
            </a:r>
          </a:p>
        </p:txBody>
      </p:sp>
      <p:sp>
        <p:nvSpPr>
          <p:cNvPr id="44" name="Left Arrow 43"/>
          <p:cNvSpPr/>
          <p:nvPr/>
        </p:nvSpPr>
        <p:spPr>
          <a:xfrm>
            <a:off x="1956816" y="3538728"/>
            <a:ext cx="329184" cy="128016"/>
          </a:xfrm>
          <a:prstGeom prst="lef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ight Arrow 44"/>
          <p:cNvSpPr/>
          <p:nvPr/>
        </p:nvSpPr>
        <p:spPr>
          <a:xfrm>
            <a:off x="6858000" y="3538728"/>
            <a:ext cx="329184" cy="128016"/>
          </a:xfrm>
          <a:prstGeom prst="righ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457200" y="3438144"/>
            <a:ext cx="1426464" cy="310896"/>
          </a:xfrm>
          <a:prstGeom prst="rect">
            <a:avLst/>
          </a:prstGeom>
          <a:noFill/>
        </p:spPr>
        <p:txBody>
          <a:bodyPr wrap="square" lIns="54864" tIns="27432" rIns="54864" bIns="27432" anchor="ctr">
            <a:spAutoFit/>
          </a:bodyPr>
          <a:lstStyle/>
          <a:p>
            <a:pPr algn="r">
              <a:lnSpc>
                <a:spcPct val="100000"/>
              </a:lnSpc>
            </a:pPr>
            <a:r>
              <a:rPr sz="900" b="0" i="0">
                <a:solidFill>
                  <a:srgbClr val="666666"/>
                </a:solidFill>
                <a:latin typeface="Arial"/>
              </a:rPr>
              <a:t>courriel authentifié</a:t>
            </a:r>
          </a:p>
        </p:txBody>
      </p:sp>
      <p:sp>
        <p:nvSpPr>
          <p:cNvPr id="47" name="TextBox 46"/>
          <p:cNvSpPr txBox="1"/>
          <p:nvPr/>
        </p:nvSpPr>
        <p:spPr>
          <a:xfrm>
            <a:off x="7260336" y="3438144"/>
            <a:ext cx="1426464" cy="310896"/>
          </a:xfrm>
          <a:prstGeom prst="rect">
            <a:avLst/>
          </a:prstGeom>
          <a:noFill/>
        </p:spPr>
        <p:txBody>
          <a:bodyPr wrap="square" lIns="54864" tIns="27432" rIns="54864" bIns="27432" anchor="ctr">
            <a:spAutoFit/>
          </a:bodyPr>
          <a:lstStyle/>
          <a:p>
            <a:pPr algn="l">
              <a:lnSpc>
                <a:spcPct val="100000"/>
              </a:lnSpc>
            </a:pPr>
            <a:r>
              <a:rPr sz="900" b="0" i="0">
                <a:solidFill>
                  <a:srgbClr val="666666"/>
                </a:solidFill>
                <a:latin typeface="Arial"/>
              </a:rPr>
              <a:t>webhook Slack</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096000" y="0"/>
            <a:ext cx="1524000" cy="41148"/>
          </a:xfrm>
          <a:prstGeom prst="rect">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269480"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10144"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lIns="54864" tIns="27432" rIns="54864" bIns="27432" anchor="t">
            <a:spAutoFit/>
          </a:bodyPr>
          <a:lstStyle/>
          <a:p>
            <a:pPr algn="l">
              <a:lnSpc>
                <a:spcPct val="100000"/>
              </a:lnSpc>
            </a:pPr>
            <a:r>
              <a:rPr sz="750" b="1" i="0" spc="120">
                <a:solidFill>
                  <a:srgbClr val="D9480F"/>
                </a:solidFill>
                <a:latin typeface="Arial"/>
              </a:rPr>
              <a:t>5 · OPTION DEVOPS</a:t>
            </a:r>
          </a:p>
        </p:txBody>
      </p:sp>
      <p:sp>
        <p:nvSpPr>
          <p:cNvPr id="11" name="TextBox 10"/>
          <p:cNvSpPr txBox="1"/>
          <p:nvPr/>
        </p:nvSpPr>
        <p:spPr>
          <a:xfrm>
            <a:off x="457200" y="493776"/>
            <a:ext cx="6720840" cy="566928"/>
          </a:xfrm>
          <a:prstGeom prst="rect">
            <a:avLst/>
          </a:prstGeom>
          <a:noFill/>
        </p:spPr>
        <p:txBody>
          <a:bodyPr wrap="square" lIns="54864" tIns="27432" rIns="54864" bIns="27432" anchor="t">
            <a:spAutoFit/>
          </a:bodyPr>
          <a:lstStyle/>
          <a:p>
            <a:pPr algn="l">
              <a:lnSpc>
                <a:spcPct val="100000"/>
              </a:lnSpc>
            </a:pPr>
            <a:r>
              <a:rPr sz="2400" b="1" i="0" spc="-84">
                <a:solidFill>
                  <a:srgbClr val="171717"/>
                </a:solidFill>
                <a:latin typeface="Arial"/>
              </a:rPr>
              <a:t>Green IT et optimisation par IA</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26679" y="4832604"/>
            <a:ext cx="1143000" cy="237744"/>
          </a:xfrm>
          <a:prstGeom prst="rect">
            <a:avLst/>
          </a:prstGeom>
          <a:noFill/>
        </p:spPr>
        <p:txBody>
          <a:bodyPr wrap="square" lIns="54864" tIns="27432" rIns="54864" bIns="27432" anchor="t">
            <a:spAutoFit/>
          </a:bodyPr>
          <a:lstStyle/>
          <a:p>
            <a:pPr algn="r">
              <a:lnSpc>
                <a:spcPct val="100000"/>
              </a:lnSpc>
            </a:pPr>
            <a:r>
              <a:rPr sz="800" b="0" i="0">
                <a:solidFill>
                  <a:srgbClr val="A1A1A1"/>
                </a:solidFill>
                <a:latin typeface="Arial"/>
              </a:rPr>
              <a:t>25 / 31</a:t>
            </a:r>
          </a:p>
        </p:txBody>
      </p:sp>
      <p:sp>
        <p:nvSpPr>
          <p:cNvPr id="14" name="Rounded Rectangle 13"/>
          <p:cNvSpPr/>
          <p:nvPr/>
        </p:nvSpPr>
        <p:spPr>
          <a:xfrm>
            <a:off x="457200" y="4818888"/>
            <a:ext cx="1316736" cy="228600"/>
          </a:xfrm>
          <a:prstGeom prst="roundRect">
            <a:avLst>
              <a:gd name="adj" fmla="val 25000"/>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4818888"/>
            <a:ext cx="1316736" cy="228600"/>
          </a:xfrm>
          <a:prstGeom prst="rect">
            <a:avLst/>
          </a:prstGeom>
          <a:noFill/>
        </p:spPr>
        <p:txBody>
          <a:bodyPr wrap="square" lIns="54864" tIns="27432" rIns="54864" bIns="27432" anchor="ctr">
            <a:spAutoFit/>
          </a:bodyPr>
          <a:lstStyle/>
          <a:p>
            <a:pPr algn="ctr">
              <a:lnSpc>
                <a:spcPct val="100000"/>
              </a:lnSpc>
            </a:pPr>
            <a:r>
              <a:rPr sz="750" b="1" i="0">
                <a:solidFill>
                  <a:srgbClr val="171717"/>
                </a:solidFill>
                <a:latin typeface="Arial"/>
              </a:rPr>
              <a:t>Réf.  C31 · C3 · C23</a:t>
            </a:r>
          </a:p>
        </p:txBody>
      </p:sp>
      <p:sp>
        <p:nvSpPr>
          <p:cNvPr id="16" name="TextBox 15"/>
          <p:cNvSpPr txBox="1"/>
          <p:nvPr/>
        </p:nvSpPr>
        <p:spPr>
          <a:xfrm>
            <a:off x="1865376" y="4818888"/>
            <a:ext cx="5486400" cy="228600"/>
          </a:xfrm>
          <a:prstGeom prst="rect">
            <a:avLst/>
          </a:prstGeom>
          <a:noFill/>
        </p:spPr>
        <p:txBody>
          <a:bodyPr wrap="square" lIns="54864" tIns="27432" rIns="54864" bIns="27432" anchor="ctr">
            <a:spAutoFit/>
          </a:bodyPr>
          <a:lstStyle/>
          <a:p>
            <a:pPr algn="l">
              <a:lnSpc>
                <a:spcPct val="100000"/>
              </a:lnSpc>
            </a:pPr>
            <a:r>
              <a:rPr sz="750" b="0" i="0">
                <a:solidFill>
                  <a:srgbClr val="A1A1A1"/>
                </a:solidFill>
                <a:latin typeface="Arial"/>
              </a:rPr>
              <a:t>BC1, BC3, BC4C · mémoire 11.1.4, 17.4 · annexe P</a:t>
            </a:r>
          </a:p>
        </p:txBody>
      </p:sp>
      <p:sp>
        <p:nvSpPr>
          <p:cNvPr id="17" name="TextBox 16"/>
          <p:cNvSpPr txBox="1"/>
          <p:nvPr/>
        </p:nvSpPr>
        <p:spPr>
          <a:xfrm>
            <a:off x="457200" y="1225296"/>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MESURE IMPOSSIBLE, D’OÙ UN MODÈLE ASSUMÉ</a:t>
            </a:r>
          </a:p>
        </p:txBody>
      </p:sp>
      <p:sp>
        <p:nvSpPr>
          <p:cNvPr id="18" name="TextBox 17"/>
          <p:cNvSpPr txBox="1"/>
          <p:nvPr/>
        </p:nvSpPr>
        <p:spPr>
          <a:xfrm>
            <a:off x="457200" y="1463040"/>
            <a:ext cx="8229600" cy="475488"/>
          </a:xfrm>
          <a:prstGeom prst="rect">
            <a:avLst/>
          </a:prstGeom>
          <a:noFill/>
        </p:spPr>
        <p:txBody>
          <a:bodyPr wrap="square" lIns="54864" tIns="27432" rIns="54864" bIns="27432" anchor="t">
            <a:spAutoFit/>
          </a:bodyPr>
          <a:lstStyle/>
          <a:p>
            <a:pPr algn="l">
              <a:lnSpc>
                <a:spcPct val="110000"/>
              </a:lnSpc>
              <a:spcAft>
                <a:spcPts val="200"/>
              </a:spcAft>
            </a:pPr>
            <a:r>
              <a:rPr sz="950" b="0" i="0">
                <a:solidFill>
                  <a:srgbClr val="666666"/>
                </a:solidFill>
                <a:latin typeface="Arial"/>
              </a:rPr>
              <a:t>les compteurs matériels ne sont pas exposés dans une machine louée</a:t>
            </a:r>
          </a:p>
          <a:p>
            <a:pPr algn="l">
              <a:lnSpc>
                <a:spcPct val="110000"/>
              </a:lnSpc>
              <a:spcAft>
                <a:spcPts val="200"/>
              </a:spcAft>
            </a:pPr>
            <a:r>
              <a:rPr sz="1050" b="1" i="0">
                <a:solidFill>
                  <a:srgbClr val="171717"/>
                </a:solidFill>
                <a:latin typeface="Arial"/>
              </a:rPr>
              <a:t>P = nb_vCPU × ( 1,5 W + 4,5 W × utilisation )</a:t>
            </a:r>
            <a:r>
              <a:rPr sz="950" b="0" i="0">
                <a:solidFill>
                  <a:srgbClr val="666666"/>
                </a:solidFill>
                <a:latin typeface="Arial"/>
              </a:rPr>
              <a:t>      cadres RGESN et GreenIT</a:t>
            </a:r>
          </a:p>
        </p:txBody>
      </p:sp>
      <p:sp>
        <p:nvSpPr>
          <p:cNvPr id="19" name="Rounded Rectangle 18"/>
          <p:cNvSpPr/>
          <p:nvPr/>
        </p:nvSpPr>
        <p:spPr>
          <a:xfrm>
            <a:off x="457200" y="2084831"/>
            <a:ext cx="1975104" cy="877824"/>
          </a:xfrm>
          <a:prstGeom prst="roundRect">
            <a:avLst>
              <a:gd name="adj" fmla="val 651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2167127"/>
            <a:ext cx="1975104" cy="365760"/>
          </a:xfrm>
          <a:prstGeom prst="rect">
            <a:avLst/>
          </a:prstGeom>
          <a:noFill/>
        </p:spPr>
        <p:txBody>
          <a:bodyPr wrap="square" lIns="54864" tIns="27432" rIns="54864" bIns="27432" anchor="t">
            <a:spAutoFit/>
          </a:bodyPr>
          <a:lstStyle/>
          <a:p>
            <a:pPr algn="ctr">
              <a:lnSpc>
                <a:spcPct val="100000"/>
              </a:lnSpc>
            </a:pPr>
            <a:r>
              <a:rPr sz="1800" b="1" i="0" spc="-63">
                <a:solidFill>
                  <a:srgbClr val="171717"/>
                </a:solidFill>
                <a:latin typeface="Arial"/>
              </a:rPr>
              <a:t>W</a:t>
            </a:r>
          </a:p>
        </p:txBody>
      </p:sp>
      <p:sp>
        <p:nvSpPr>
          <p:cNvPr id="21" name="TextBox 20"/>
          <p:cNvSpPr txBox="1"/>
          <p:nvPr/>
        </p:nvSpPr>
        <p:spPr>
          <a:xfrm>
            <a:off x="457200" y="2441448"/>
            <a:ext cx="1975104" cy="365760"/>
          </a:xfrm>
          <a:prstGeom prst="rect">
            <a:avLst/>
          </a:prstGeom>
          <a:noFill/>
        </p:spPr>
        <p:txBody>
          <a:bodyPr wrap="square" lIns="54864" tIns="27432" rIns="54864" bIns="27432" anchor="t">
            <a:spAutoFit/>
          </a:bodyPr>
          <a:lstStyle/>
          <a:p>
            <a:pPr algn="ctr">
              <a:lnSpc>
                <a:spcPct val="100000"/>
              </a:lnSpc>
            </a:pPr>
            <a:r>
              <a:rPr sz="700" b="1" i="0" spc="112">
                <a:solidFill>
                  <a:srgbClr val="D9480F"/>
                </a:solidFill>
                <a:latin typeface="Arial"/>
              </a:rPr>
              <a:t>PUISSANCE PAR NŒUD</a:t>
            </a:r>
          </a:p>
        </p:txBody>
      </p:sp>
      <p:sp>
        <p:nvSpPr>
          <p:cNvPr id="22" name="TextBox 21"/>
          <p:cNvSpPr txBox="1"/>
          <p:nvPr/>
        </p:nvSpPr>
        <p:spPr>
          <a:xfrm>
            <a:off x="457200" y="2688336"/>
            <a:ext cx="1975104" cy="201168"/>
          </a:xfrm>
          <a:prstGeom prst="rect">
            <a:avLst/>
          </a:prstGeom>
          <a:noFill/>
        </p:spPr>
        <p:txBody>
          <a:bodyPr wrap="square" lIns="54864" tIns="27432" rIns="54864" bIns="27432" anchor="t">
            <a:spAutoFit/>
          </a:bodyPr>
          <a:lstStyle/>
          <a:p>
            <a:pPr algn="ctr">
              <a:lnSpc>
                <a:spcPct val="100000"/>
              </a:lnSpc>
            </a:pPr>
            <a:r>
              <a:rPr sz="800" b="0" i="0">
                <a:solidFill>
                  <a:srgbClr val="666666"/>
                </a:solidFill>
                <a:latin typeface="Arial"/>
              </a:rPr>
              <a:t>règle Prometheus</a:t>
            </a:r>
          </a:p>
        </p:txBody>
      </p:sp>
      <p:sp>
        <p:nvSpPr>
          <p:cNvPr id="23" name="Rounded Rectangle 22"/>
          <p:cNvSpPr/>
          <p:nvPr/>
        </p:nvSpPr>
        <p:spPr>
          <a:xfrm>
            <a:off x="2542032" y="2084831"/>
            <a:ext cx="1975104" cy="877824"/>
          </a:xfrm>
          <a:prstGeom prst="roundRect">
            <a:avLst>
              <a:gd name="adj" fmla="val 651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542032" y="2167127"/>
            <a:ext cx="1975104" cy="365760"/>
          </a:xfrm>
          <a:prstGeom prst="rect">
            <a:avLst/>
          </a:prstGeom>
          <a:noFill/>
        </p:spPr>
        <p:txBody>
          <a:bodyPr wrap="square" lIns="54864" tIns="27432" rIns="54864" bIns="27432" anchor="t">
            <a:spAutoFit/>
          </a:bodyPr>
          <a:lstStyle/>
          <a:p>
            <a:pPr algn="ctr">
              <a:lnSpc>
                <a:spcPct val="100000"/>
              </a:lnSpc>
            </a:pPr>
            <a:r>
              <a:rPr sz="1800" b="1" i="0" spc="-63">
                <a:solidFill>
                  <a:srgbClr val="171717"/>
                </a:solidFill>
                <a:latin typeface="Arial"/>
              </a:rPr>
              <a:t>kWh / j</a:t>
            </a:r>
          </a:p>
        </p:txBody>
      </p:sp>
      <p:sp>
        <p:nvSpPr>
          <p:cNvPr id="25" name="TextBox 24"/>
          <p:cNvSpPr txBox="1"/>
          <p:nvPr/>
        </p:nvSpPr>
        <p:spPr>
          <a:xfrm>
            <a:off x="2542032" y="2441448"/>
            <a:ext cx="1975104" cy="365760"/>
          </a:xfrm>
          <a:prstGeom prst="rect">
            <a:avLst/>
          </a:prstGeom>
          <a:noFill/>
        </p:spPr>
        <p:txBody>
          <a:bodyPr wrap="square" lIns="54864" tIns="27432" rIns="54864" bIns="27432" anchor="t">
            <a:spAutoFit/>
          </a:bodyPr>
          <a:lstStyle/>
          <a:p>
            <a:pPr algn="ctr">
              <a:lnSpc>
                <a:spcPct val="100000"/>
              </a:lnSpc>
            </a:pPr>
            <a:r>
              <a:rPr sz="700" b="1" i="0" spc="112">
                <a:solidFill>
                  <a:srgbClr val="D9480F"/>
                </a:solidFill>
                <a:latin typeface="Arial"/>
              </a:rPr>
              <a:t>ÉNERGIE DU CLUSTER</a:t>
            </a:r>
          </a:p>
        </p:txBody>
      </p:sp>
      <p:sp>
        <p:nvSpPr>
          <p:cNvPr id="26" name="TextBox 25"/>
          <p:cNvSpPr txBox="1"/>
          <p:nvPr/>
        </p:nvSpPr>
        <p:spPr>
          <a:xfrm>
            <a:off x="2542032" y="2688336"/>
            <a:ext cx="1975104" cy="201168"/>
          </a:xfrm>
          <a:prstGeom prst="rect">
            <a:avLst/>
          </a:prstGeom>
          <a:noFill/>
        </p:spPr>
        <p:txBody>
          <a:bodyPr wrap="square" lIns="54864" tIns="27432" rIns="54864" bIns="27432" anchor="t">
            <a:spAutoFit/>
          </a:bodyPr>
          <a:lstStyle/>
          <a:p>
            <a:pPr algn="ctr">
              <a:lnSpc>
                <a:spcPct val="100000"/>
              </a:lnSpc>
            </a:pPr>
            <a:r>
              <a:rPr sz="800" b="0" i="0">
                <a:solidFill>
                  <a:srgbClr val="666666"/>
                </a:solidFill>
                <a:latin typeface="Arial"/>
              </a:rPr>
              <a:t>agrégée et projetée</a:t>
            </a:r>
          </a:p>
        </p:txBody>
      </p:sp>
      <p:sp>
        <p:nvSpPr>
          <p:cNvPr id="27" name="Rounded Rectangle 26"/>
          <p:cNvSpPr/>
          <p:nvPr/>
        </p:nvSpPr>
        <p:spPr>
          <a:xfrm>
            <a:off x="4626864" y="2084831"/>
            <a:ext cx="1975104" cy="877824"/>
          </a:xfrm>
          <a:prstGeom prst="roundRect">
            <a:avLst>
              <a:gd name="adj" fmla="val 651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626864" y="2167127"/>
            <a:ext cx="1975104" cy="365760"/>
          </a:xfrm>
          <a:prstGeom prst="rect">
            <a:avLst/>
          </a:prstGeom>
          <a:noFill/>
        </p:spPr>
        <p:txBody>
          <a:bodyPr wrap="square" lIns="54864" tIns="27432" rIns="54864" bIns="27432" anchor="t">
            <a:spAutoFit/>
          </a:bodyPr>
          <a:lstStyle/>
          <a:p>
            <a:pPr algn="ctr">
              <a:lnSpc>
                <a:spcPct val="100000"/>
              </a:lnSpc>
            </a:pPr>
            <a:r>
              <a:rPr sz="1800" b="1" i="0" spc="-63">
                <a:solidFill>
                  <a:srgbClr val="171717"/>
                </a:solidFill>
                <a:latin typeface="Arial"/>
              </a:rPr>
              <a:t>gCO₂</a:t>
            </a:r>
          </a:p>
        </p:txBody>
      </p:sp>
      <p:sp>
        <p:nvSpPr>
          <p:cNvPr id="29" name="TextBox 28"/>
          <p:cNvSpPr txBox="1"/>
          <p:nvPr/>
        </p:nvSpPr>
        <p:spPr>
          <a:xfrm>
            <a:off x="4626864" y="2441448"/>
            <a:ext cx="1975104" cy="365760"/>
          </a:xfrm>
          <a:prstGeom prst="rect">
            <a:avLst/>
          </a:prstGeom>
          <a:noFill/>
        </p:spPr>
        <p:txBody>
          <a:bodyPr wrap="square" lIns="54864" tIns="27432" rIns="54864" bIns="27432" anchor="t">
            <a:spAutoFit/>
          </a:bodyPr>
          <a:lstStyle/>
          <a:p>
            <a:pPr algn="ctr">
              <a:lnSpc>
                <a:spcPct val="100000"/>
              </a:lnSpc>
            </a:pPr>
            <a:r>
              <a:rPr sz="700" b="1" i="0" spc="112">
                <a:solidFill>
                  <a:srgbClr val="D9480F"/>
                </a:solidFill>
                <a:latin typeface="Arial"/>
              </a:rPr>
              <a:t>EMPREINTE</a:t>
            </a:r>
          </a:p>
        </p:txBody>
      </p:sp>
      <p:sp>
        <p:nvSpPr>
          <p:cNvPr id="30" name="TextBox 29"/>
          <p:cNvSpPr txBox="1"/>
          <p:nvPr/>
        </p:nvSpPr>
        <p:spPr>
          <a:xfrm>
            <a:off x="4626864" y="2688336"/>
            <a:ext cx="1975104" cy="201168"/>
          </a:xfrm>
          <a:prstGeom prst="rect">
            <a:avLst/>
          </a:prstGeom>
          <a:noFill/>
        </p:spPr>
        <p:txBody>
          <a:bodyPr wrap="square" lIns="54864" tIns="27432" rIns="54864" bIns="27432" anchor="t">
            <a:spAutoFit/>
          </a:bodyPr>
          <a:lstStyle/>
          <a:p>
            <a:pPr algn="ctr">
              <a:lnSpc>
                <a:spcPct val="100000"/>
              </a:lnSpc>
            </a:pPr>
            <a:r>
              <a:rPr sz="800" b="0" i="0">
                <a:solidFill>
                  <a:srgbClr val="666666"/>
                </a:solidFill>
                <a:latin typeface="Arial"/>
              </a:rPr>
              <a:t>380 gCO₂eq par kWh</a:t>
            </a:r>
          </a:p>
        </p:txBody>
      </p:sp>
      <p:sp>
        <p:nvSpPr>
          <p:cNvPr id="31" name="Rounded Rectangle 30"/>
          <p:cNvSpPr/>
          <p:nvPr/>
        </p:nvSpPr>
        <p:spPr>
          <a:xfrm>
            <a:off x="6711696" y="2084831"/>
            <a:ext cx="1975104" cy="877824"/>
          </a:xfrm>
          <a:prstGeom prst="roundRect">
            <a:avLst>
              <a:gd name="adj" fmla="val 651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711696" y="2167127"/>
            <a:ext cx="1975104" cy="365760"/>
          </a:xfrm>
          <a:prstGeom prst="rect">
            <a:avLst/>
          </a:prstGeom>
          <a:noFill/>
        </p:spPr>
        <p:txBody>
          <a:bodyPr wrap="square" lIns="54864" tIns="27432" rIns="54864" bIns="27432" anchor="t">
            <a:spAutoFit/>
          </a:bodyPr>
          <a:lstStyle/>
          <a:p>
            <a:pPr algn="ctr">
              <a:lnSpc>
                <a:spcPct val="100000"/>
              </a:lnSpc>
            </a:pPr>
            <a:r>
              <a:rPr sz="1800" b="1" i="0" spc="-63">
                <a:solidFill>
                  <a:srgbClr val="171717"/>
                </a:solidFill>
                <a:latin typeface="Arial"/>
              </a:rPr>
              <a:t>200 W</a:t>
            </a:r>
          </a:p>
        </p:txBody>
      </p:sp>
      <p:sp>
        <p:nvSpPr>
          <p:cNvPr id="33" name="TextBox 32"/>
          <p:cNvSpPr txBox="1"/>
          <p:nvPr/>
        </p:nvSpPr>
        <p:spPr>
          <a:xfrm>
            <a:off x="6711696" y="2441448"/>
            <a:ext cx="1975104" cy="365760"/>
          </a:xfrm>
          <a:prstGeom prst="rect">
            <a:avLst/>
          </a:prstGeom>
          <a:noFill/>
        </p:spPr>
        <p:txBody>
          <a:bodyPr wrap="square" lIns="54864" tIns="27432" rIns="54864" bIns="27432" anchor="t">
            <a:spAutoFit/>
          </a:bodyPr>
          <a:lstStyle/>
          <a:p>
            <a:pPr algn="ctr">
              <a:lnSpc>
                <a:spcPct val="100000"/>
              </a:lnSpc>
            </a:pPr>
            <a:r>
              <a:rPr sz="700" b="1" i="0" spc="112">
                <a:solidFill>
                  <a:srgbClr val="D9480F"/>
                </a:solidFill>
                <a:latin typeface="Arial"/>
              </a:rPr>
              <a:t>SEUIL D’ALERTE</a:t>
            </a:r>
          </a:p>
        </p:txBody>
      </p:sp>
      <p:sp>
        <p:nvSpPr>
          <p:cNvPr id="34" name="TextBox 33"/>
          <p:cNvSpPr txBox="1"/>
          <p:nvPr/>
        </p:nvSpPr>
        <p:spPr>
          <a:xfrm>
            <a:off x="6711696" y="2688336"/>
            <a:ext cx="1975104" cy="201168"/>
          </a:xfrm>
          <a:prstGeom prst="rect">
            <a:avLst/>
          </a:prstGeom>
          <a:noFill/>
        </p:spPr>
        <p:txBody>
          <a:bodyPr wrap="square" lIns="54864" tIns="27432" rIns="54864" bIns="27432" anchor="t">
            <a:spAutoFit/>
          </a:bodyPr>
          <a:lstStyle/>
          <a:p>
            <a:pPr algn="ctr">
              <a:lnSpc>
                <a:spcPct val="100000"/>
              </a:lnSpc>
            </a:pPr>
            <a:r>
              <a:rPr sz="800" b="0" i="0">
                <a:solidFill>
                  <a:srgbClr val="666666"/>
                </a:solidFill>
                <a:latin typeface="Arial"/>
              </a:rPr>
              <a:t>15 min puis action</a:t>
            </a:r>
          </a:p>
        </p:txBody>
      </p:sp>
      <p:sp>
        <p:nvSpPr>
          <p:cNvPr id="35" name="TextBox 34"/>
          <p:cNvSpPr txBox="1"/>
          <p:nvPr/>
        </p:nvSpPr>
        <p:spPr>
          <a:xfrm>
            <a:off x="457200" y="3090672"/>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LA BOUCLE QUI SE FERME</a:t>
            </a:r>
          </a:p>
        </p:txBody>
      </p:sp>
      <p:sp>
        <p:nvSpPr>
          <p:cNvPr id="36" name="Rounded Rectangle 35"/>
          <p:cNvSpPr/>
          <p:nvPr/>
        </p:nvSpPr>
        <p:spPr>
          <a:xfrm>
            <a:off x="457200" y="3310128"/>
            <a:ext cx="845819" cy="420624"/>
          </a:xfrm>
          <a:prstGeom prst="roundRect">
            <a:avLst>
              <a:gd name="adj" fmla="val 13586"/>
            </a:avLst>
          </a:prstGeom>
          <a:solidFill>
            <a:srgbClr val="FFF4E6"/>
          </a:solidFill>
          <a:ln w="9525">
            <a:solidFill>
              <a:srgbClr val="FFE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57200" y="3310128"/>
            <a:ext cx="845819" cy="420624"/>
          </a:xfrm>
          <a:prstGeom prst="rect">
            <a:avLst/>
          </a:prstGeom>
          <a:noFill/>
        </p:spPr>
        <p:txBody>
          <a:bodyPr wrap="square" lIns="54864" tIns="27432" rIns="54864" bIns="27432" anchor="ctr">
            <a:spAutoFit/>
          </a:bodyPr>
          <a:lstStyle/>
          <a:p>
            <a:pPr algn="ctr">
              <a:lnSpc>
                <a:spcPct val="100000"/>
              </a:lnSpc>
            </a:pPr>
            <a:r>
              <a:rPr sz="900" b="1" i="0">
                <a:solidFill>
                  <a:srgbClr val="171717"/>
                </a:solidFill>
                <a:latin typeface="Arial"/>
              </a:rPr>
              <a:t>mesurer</a:t>
            </a:r>
          </a:p>
        </p:txBody>
      </p:sp>
      <p:sp>
        <p:nvSpPr>
          <p:cNvPr id="38" name="Right Arrow 37"/>
          <p:cNvSpPr/>
          <p:nvPr/>
        </p:nvSpPr>
        <p:spPr>
          <a:xfrm>
            <a:off x="1348739" y="3451860"/>
            <a:ext cx="182880" cy="137160"/>
          </a:xfrm>
          <a:prstGeom prst="rightArrow">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ounded Rectangle 38"/>
          <p:cNvSpPr/>
          <p:nvPr/>
        </p:nvSpPr>
        <p:spPr>
          <a:xfrm>
            <a:off x="1577339" y="3310128"/>
            <a:ext cx="845819" cy="420624"/>
          </a:xfrm>
          <a:prstGeom prst="roundRect">
            <a:avLst>
              <a:gd name="adj" fmla="val 13586"/>
            </a:avLst>
          </a:prstGeom>
          <a:solidFill>
            <a:srgbClr val="FFF4E6"/>
          </a:solidFill>
          <a:ln w="9525">
            <a:solidFill>
              <a:srgbClr val="FFE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1577339" y="3310128"/>
            <a:ext cx="845819" cy="420624"/>
          </a:xfrm>
          <a:prstGeom prst="rect">
            <a:avLst/>
          </a:prstGeom>
          <a:noFill/>
        </p:spPr>
        <p:txBody>
          <a:bodyPr wrap="square" lIns="54864" tIns="27432" rIns="54864" bIns="27432" anchor="ctr">
            <a:spAutoFit/>
          </a:bodyPr>
          <a:lstStyle/>
          <a:p>
            <a:pPr algn="ctr">
              <a:lnSpc>
                <a:spcPct val="100000"/>
              </a:lnSpc>
            </a:pPr>
            <a:r>
              <a:rPr sz="900" b="1" i="0">
                <a:solidFill>
                  <a:srgbClr val="171717"/>
                </a:solidFill>
                <a:latin typeface="Arial"/>
              </a:rPr>
              <a:t>alerter</a:t>
            </a:r>
          </a:p>
        </p:txBody>
      </p:sp>
      <p:sp>
        <p:nvSpPr>
          <p:cNvPr id="41" name="Right Arrow 40"/>
          <p:cNvSpPr/>
          <p:nvPr/>
        </p:nvSpPr>
        <p:spPr>
          <a:xfrm>
            <a:off x="2468879" y="3451860"/>
            <a:ext cx="182880" cy="137160"/>
          </a:xfrm>
          <a:prstGeom prst="rightArrow">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ounded Rectangle 41"/>
          <p:cNvSpPr/>
          <p:nvPr/>
        </p:nvSpPr>
        <p:spPr>
          <a:xfrm>
            <a:off x="2697479" y="3310128"/>
            <a:ext cx="845819" cy="420624"/>
          </a:xfrm>
          <a:prstGeom prst="roundRect">
            <a:avLst>
              <a:gd name="adj" fmla="val 13586"/>
            </a:avLst>
          </a:prstGeom>
          <a:solidFill>
            <a:srgbClr val="FFF4E6"/>
          </a:solidFill>
          <a:ln w="9525">
            <a:solidFill>
              <a:srgbClr val="FFE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697479" y="3310128"/>
            <a:ext cx="845819" cy="420624"/>
          </a:xfrm>
          <a:prstGeom prst="rect">
            <a:avLst/>
          </a:prstGeom>
          <a:noFill/>
        </p:spPr>
        <p:txBody>
          <a:bodyPr wrap="square" lIns="54864" tIns="27432" rIns="54864" bIns="27432" anchor="ctr">
            <a:spAutoFit/>
          </a:bodyPr>
          <a:lstStyle/>
          <a:p>
            <a:pPr algn="ctr">
              <a:lnSpc>
                <a:spcPct val="100000"/>
              </a:lnSpc>
            </a:pPr>
            <a:r>
              <a:rPr sz="900" b="1" i="0">
                <a:solidFill>
                  <a:srgbClr val="171717"/>
                </a:solidFill>
                <a:latin typeface="Arial"/>
              </a:rPr>
              <a:t>analyser</a:t>
            </a:r>
          </a:p>
        </p:txBody>
      </p:sp>
      <p:sp>
        <p:nvSpPr>
          <p:cNvPr id="44" name="Right Arrow 43"/>
          <p:cNvSpPr/>
          <p:nvPr/>
        </p:nvSpPr>
        <p:spPr>
          <a:xfrm>
            <a:off x="3589019" y="3451860"/>
            <a:ext cx="182880" cy="137160"/>
          </a:xfrm>
          <a:prstGeom prst="rightArrow">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ounded Rectangle 44"/>
          <p:cNvSpPr/>
          <p:nvPr/>
        </p:nvSpPr>
        <p:spPr>
          <a:xfrm>
            <a:off x="3817620" y="3310128"/>
            <a:ext cx="845819" cy="420624"/>
          </a:xfrm>
          <a:prstGeom prst="roundRect">
            <a:avLst>
              <a:gd name="adj" fmla="val 13586"/>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3817620" y="3310128"/>
            <a:ext cx="845819" cy="420624"/>
          </a:xfrm>
          <a:prstGeom prst="rect">
            <a:avLst/>
          </a:prstGeom>
          <a:noFill/>
        </p:spPr>
        <p:txBody>
          <a:bodyPr wrap="square" lIns="54864" tIns="27432" rIns="54864" bIns="27432" anchor="ctr">
            <a:spAutoFit/>
          </a:bodyPr>
          <a:lstStyle/>
          <a:p>
            <a:pPr algn="ctr">
              <a:lnSpc>
                <a:spcPct val="100000"/>
              </a:lnSpc>
            </a:pPr>
            <a:r>
              <a:rPr sz="900" b="1" i="0">
                <a:solidFill>
                  <a:srgbClr val="171717"/>
                </a:solidFill>
                <a:latin typeface="Arial"/>
              </a:rPr>
              <a:t>optimiser</a:t>
            </a:r>
          </a:p>
        </p:txBody>
      </p:sp>
      <p:sp>
        <p:nvSpPr>
          <p:cNvPr id="47" name="Rounded Rectangle 46"/>
          <p:cNvSpPr/>
          <p:nvPr/>
        </p:nvSpPr>
        <p:spPr>
          <a:xfrm>
            <a:off x="4846320" y="3310128"/>
            <a:ext cx="3840480" cy="420624"/>
          </a:xfrm>
          <a:prstGeom prst="roundRect">
            <a:avLst>
              <a:gd name="adj" fmla="val 13586"/>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846320" y="3310128"/>
            <a:ext cx="3840480" cy="420624"/>
          </a:xfrm>
          <a:prstGeom prst="rect">
            <a:avLst/>
          </a:prstGeom>
          <a:noFill/>
        </p:spPr>
        <p:txBody>
          <a:bodyPr wrap="square" lIns="54864" tIns="27432" rIns="54864" bIns="27432" anchor="ctr">
            <a:spAutoFit/>
          </a:bodyPr>
          <a:lstStyle/>
          <a:p>
            <a:pPr algn="ctr">
              <a:lnSpc>
                <a:spcPct val="100000"/>
              </a:lnSpc>
            </a:pPr>
            <a:r>
              <a:rPr sz="950" b="1" i="0">
                <a:solidFill>
                  <a:srgbClr val="171717"/>
                </a:solidFill>
                <a:latin typeface="Arial"/>
              </a:rPr>
              <a:t>ai-rightsizing   ·   5 optimisations chiffrées au plus</a:t>
            </a:r>
          </a:p>
        </p:txBody>
      </p:sp>
      <p:sp>
        <p:nvSpPr>
          <p:cNvPr id="49" name="Rectangle 48"/>
          <p:cNvSpPr/>
          <p:nvPr/>
        </p:nvSpPr>
        <p:spPr>
          <a:xfrm>
            <a:off x="457200" y="3931920"/>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457200" y="3931920"/>
            <a:ext cx="548640" cy="9144"/>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457200" y="4005072"/>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D9480F"/>
                </a:solidFill>
                <a:latin typeface="Arial"/>
              </a:rPr>
              <a:t>OPTIMISATION DES RESSOURCES PAR IA</a:t>
            </a:r>
          </a:p>
        </p:txBody>
      </p:sp>
      <p:sp>
        <p:nvSpPr>
          <p:cNvPr id="52" name="TextBox 51"/>
          <p:cNvSpPr txBox="1"/>
          <p:nvPr/>
        </p:nvSpPr>
        <p:spPr>
          <a:xfrm>
            <a:off x="457200" y="4206240"/>
            <a:ext cx="8229600" cy="274320"/>
          </a:xfrm>
          <a:prstGeom prst="rect">
            <a:avLst/>
          </a:prstGeom>
          <a:noFill/>
        </p:spPr>
        <p:txBody>
          <a:bodyPr wrap="square" lIns="54864" tIns="27432" rIns="54864" bIns="27432" anchor="t">
            <a:spAutoFit/>
          </a:bodyPr>
          <a:lstStyle/>
          <a:p>
            <a:pPr algn="l">
              <a:lnSpc>
                <a:spcPct val="105000"/>
              </a:lnSpc>
            </a:pPr>
            <a:r>
              <a:rPr sz="950" b="0" i="0">
                <a:solidFill>
                  <a:srgbClr val="666666"/>
                </a:solidFill>
                <a:latin typeface="Arial"/>
              </a:rPr>
              <a:t>un modèle analyse les séries de consommation et propose des optimisations chiffrées, validées avant application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096000" y="0"/>
            <a:ext cx="1524000" cy="41148"/>
          </a:xfrm>
          <a:prstGeom prst="rect">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269480"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10144"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lIns="54864" tIns="27432" rIns="54864" bIns="27432" anchor="t">
            <a:spAutoFit/>
          </a:bodyPr>
          <a:lstStyle/>
          <a:p>
            <a:pPr algn="l">
              <a:lnSpc>
                <a:spcPct val="100000"/>
              </a:lnSpc>
            </a:pPr>
            <a:r>
              <a:rPr sz="750" b="1" i="0" spc="120">
                <a:solidFill>
                  <a:srgbClr val="D9480F"/>
                </a:solidFill>
                <a:latin typeface="Arial"/>
              </a:rPr>
              <a:t>5 · OPTION DEVOPS</a:t>
            </a:r>
          </a:p>
        </p:txBody>
      </p:sp>
      <p:sp>
        <p:nvSpPr>
          <p:cNvPr id="11" name="TextBox 10"/>
          <p:cNvSpPr txBox="1"/>
          <p:nvPr/>
        </p:nvSpPr>
        <p:spPr>
          <a:xfrm>
            <a:off x="457200" y="493776"/>
            <a:ext cx="6720840" cy="566928"/>
          </a:xfrm>
          <a:prstGeom prst="rect">
            <a:avLst/>
          </a:prstGeom>
          <a:noFill/>
        </p:spPr>
        <p:txBody>
          <a:bodyPr wrap="square" lIns="54864" tIns="27432" rIns="54864" bIns="27432" anchor="t">
            <a:spAutoFit/>
          </a:bodyPr>
          <a:lstStyle/>
          <a:p>
            <a:pPr algn="l">
              <a:lnSpc>
                <a:spcPct val="100000"/>
              </a:lnSpc>
            </a:pPr>
            <a:r>
              <a:rPr sz="2300" b="1" i="0" spc="-80">
                <a:solidFill>
                  <a:srgbClr val="171717"/>
                </a:solidFill>
                <a:latin typeface="Arial"/>
              </a:rPr>
              <a:t>Documentation et amélioration continue</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26679" y="4832604"/>
            <a:ext cx="1143000" cy="237744"/>
          </a:xfrm>
          <a:prstGeom prst="rect">
            <a:avLst/>
          </a:prstGeom>
          <a:noFill/>
        </p:spPr>
        <p:txBody>
          <a:bodyPr wrap="square" lIns="54864" tIns="27432" rIns="54864" bIns="27432" anchor="t">
            <a:spAutoFit/>
          </a:bodyPr>
          <a:lstStyle/>
          <a:p>
            <a:pPr algn="r">
              <a:lnSpc>
                <a:spcPct val="100000"/>
              </a:lnSpc>
            </a:pPr>
            <a:r>
              <a:rPr sz="800" b="0" i="0">
                <a:solidFill>
                  <a:srgbClr val="A1A1A1"/>
                </a:solidFill>
                <a:latin typeface="Arial"/>
              </a:rPr>
              <a:t>26 / 31</a:t>
            </a:r>
          </a:p>
        </p:txBody>
      </p:sp>
      <p:sp>
        <p:nvSpPr>
          <p:cNvPr id="14" name="Rounded Rectangle 13"/>
          <p:cNvSpPr/>
          <p:nvPr/>
        </p:nvSpPr>
        <p:spPr>
          <a:xfrm>
            <a:off x="457200" y="4818888"/>
            <a:ext cx="1316736" cy="228600"/>
          </a:xfrm>
          <a:prstGeom prst="roundRect">
            <a:avLst>
              <a:gd name="adj" fmla="val 25000"/>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4818888"/>
            <a:ext cx="1316736" cy="228600"/>
          </a:xfrm>
          <a:prstGeom prst="rect">
            <a:avLst/>
          </a:prstGeom>
          <a:noFill/>
        </p:spPr>
        <p:txBody>
          <a:bodyPr wrap="square" lIns="54864" tIns="27432" rIns="54864" bIns="27432" anchor="ctr">
            <a:spAutoFit/>
          </a:bodyPr>
          <a:lstStyle/>
          <a:p>
            <a:pPr algn="ctr">
              <a:lnSpc>
                <a:spcPct val="100000"/>
              </a:lnSpc>
            </a:pPr>
            <a:r>
              <a:rPr sz="750" b="1" i="0">
                <a:solidFill>
                  <a:srgbClr val="171717"/>
                </a:solidFill>
                <a:latin typeface="Arial"/>
              </a:rPr>
              <a:t>Réf.  C2 · C20 · C28</a:t>
            </a:r>
          </a:p>
        </p:txBody>
      </p:sp>
      <p:sp>
        <p:nvSpPr>
          <p:cNvPr id="16" name="TextBox 15"/>
          <p:cNvSpPr txBox="1"/>
          <p:nvPr/>
        </p:nvSpPr>
        <p:spPr>
          <a:xfrm>
            <a:off x="1865376" y="4818888"/>
            <a:ext cx="5486400" cy="228600"/>
          </a:xfrm>
          <a:prstGeom prst="rect">
            <a:avLst/>
          </a:prstGeom>
          <a:noFill/>
        </p:spPr>
        <p:txBody>
          <a:bodyPr wrap="square" lIns="54864" tIns="27432" rIns="54864" bIns="27432" anchor="ctr">
            <a:spAutoFit/>
          </a:bodyPr>
          <a:lstStyle/>
          <a:p>
            <a:pPr algn="l">
              <a:lnSpc>
                <a:spcPct val="100000"/>
              </a:lnSpc>
            </a:pPr>
            <a:r>
              <a:rPr sz="750" b="0" i="0">
                <a:solidFill>
                  <a:srgbClr val="A1A1A1"/>
                </a:solidFill>
                <a:latin typeface="Arial"/>
              </a:rPr>
              <a:t>BC1, BC2, BC4C · mémoire 18.2.2 · docs/wiki, 16 pages</a:t>
            </a:r>
          </a:p>
        </p:txBody>
      </p:sp>
      <p:sp>
        <p:nvSpPr>
          <p:cNvPr id="17" name="TextBox 16"/>
          <p:cNvSpPr txBox="1"/>
          <p:nvPr/>
        </p:nvSpPr>
        <p:spPr>
          <a:xfrm>
            <a:off x="457200" y="1225296"/>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TROIS NIVEAUX QUI NE SE RECOUVRENT PAS</a:t>
            </a:r>
          </a:p>
        </p:txBody>
      </p:sp>
      <p:sp>
        <p:nvSpPr>
          <p:cNvPr id="18" name="Rounded Rectangle 17"/>
          <p:cNvSpPr/>
          <p:nvPr/>
        </p:nvSpPr>
        <p:spPr>
          <a:xfrm>
            <a:off x="457200" y="1444752"/>
            <a:ext cx="2645664" cy="676656"/>
          </a:xfrm>
          <a:prstGeom prst="roundRect">
            <a:avLst>
              <a:gd name="adj" fmla="val 8445"/>
            </a:avLst>
          </a:prstGeom>
          <a:solidFill>
            <a:srgbClr val="FFF4E6"/>
          </a:solidFill>
          <a:ln w="9525">
            <a:solidFill>
              <a:srgbClr val="FFE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200" y="1444752"/>
            <a:ext cx="2645664" cy="676656"/>
          </a:xfrm>
          <a:prstGeom prst="rect">
            <a:avLst/>
          </a:prstGeom>
          <a:noFill/>
        </p:spPr>
        <p:txBody>
          <a:bodyPr wrap="square" lIns="54864" tIns="27432" rIns="54864" bIns="27432" anchor="ctr">
            <a:spAutoFit/>
          </a:bodyPr>
          <a:lstStyle/>
          <a:p>
            <a:pPr algn="ctr">
              <a:lnSpc>
                <a:spcPct val="105000"/>
              </a:lnSpc>
            </a:pPr>
            <a:r>
              <a:rPr sz="1050" b="1" i="0">
                <a:solidFill>
                  <a:srgbClr val="171717"/>
                </a:solidFill>
                <a:latin typeface="Arial"/>
              </a:rPr>
              <a:t>OpenAPI</a:t>
            </a:r>
          </a:p>
          <a:p>
            <a:pPr algn="ctr">
              <a:lnSpc>
                <a:spcPct val="105000"/>
              </a:lnSpc>
            </a:pPr>
            <a:r>
              <a:rPr sz="900" b="0" i="0">
                <a:solidFill>
                  <a:srgbClr val="666666"/>
                </a:solidFill>
                <a:latin typeface="Arial"/>
              </a:rPr>
              <a:t>ce que l’API expose</a:t>
            </a:r>
          </a:p>
        </p:txBody>
      </p:sp>
      <p:sp>
        <p:nvSpPr>
          <p:cNvPr id="20" name="Rounded Rectangle 19"/>
          <p:cNvSpPr/>
          <p:nvPr/>
        </p:nvSpPr>
        <p:spPr>
          <a:xfrm>
            <a:off x="3249168" y="1444752"/>
            <a:ext cx="2645664" cy="676656"/>
          </a:xfrm>
          <a:prstGeom prst="roundRect">
            <a:avLst>
              <a:gd name="adj" fmla="val 8445"/>
            </a:avLst>
          </a:prstGeom>
          <a:solidFill>
            <a:srgbClr val="FFF4E6"/>
          </a:solidFill>
          <a:ln w="9525">
            <a:solidFill>
              <a:srgbClr val="FFE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249168" y="1444752"/>
            <a:ext cx="2645664" cy="676656"/>
          </a:xfrm>
          <a:prstGeom prst="rect">
            <a:avLst/>
          </a:prstGeom>
          <a:noFill/>
        </p:spPr>
        <p:txBody>
          <a:bodyPr wrap="square" lIns="54864" tIns="27432" rIns="54864" bIns="27432" anchor="ctr">
            <a:spAutoFit/>
          </a:bodyPr>
          <a:lstStyle/>
          <a:p>
            <a:pPr algn="ctr">
              <a:lnSpc>
                <a:spcPct val="105000"/>
              </a:lnSpc>
            </a:pPr>
            <a:r>
              <a:rPr sz="1050" b="1" i="0">
                <a:solidFill>
                  <a:srgbClr val="171717"/>
                </a:solidFill>
                <a:latin typeface="Arial"/>
              </a:rPr>
              <a:t>Commentaires JSDoc</a:t>
            </a:r>
          </a:p>
          <a:p>
            <a:pPr algn="ctr">
              <a:lnSpc>
                <a:spcPct val="105000"/>
              </a:lnSpc>
            </a:pPr>
            <a:r>
              <a:rPr sz="900" b="0" i="0">
                <a:solidFill>
                  <a:srgbClr val="666666"/>
                </a:solidFill>
                <a:latin typeface="Arial"/>
              </a:rPr>
              <a:t>comment chaque route se comporte</a:t>
            </a:r>
          </a:p>
        </p:txBody>
      </p:sp>
      <p:sp>
        <p:nvSpPr>
          <p:cNvPr id="22" name="Rounded Rectangle 21"/>
          <p:cNvSpPr/>
          <p:nvPr/>
        </p:nvSpPr>
        <p:spPr>
          <a:xfrm>
            <a:off x="6041136" y="1444752"/>
            <a:ext cx="2645664" cy="676656"/>
          </a:xfrm>
          <a:prstGeom prst="roundRect">
            <a:avLst>
              <a:gd name="adj" fmla="val 8445"/>
            </a:avLst>
          </a:prstGeom>
          <a:solidFill>
            <a:srgbClr val="FFF4E6"/>
          </a:solidFill>
          <a:ln w="9525">
            <a:solidFill>
              <a:srgbClr val="FFE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041136" y="1444752"/>
            <a:ext cx="2645664" cy="676656"/>
          </a:xfrm>
          <a:prstGeom prst="rect">
            <a:avLst/>
          </a:prstGeom>
          <a:noFill/>
        </p:spPr>
        <p:txBody>
          <a:bodyPr wrap="square" lIns="54864" tIns="27432" rIns="54864" bIns="27432" anchor="ctr">
            <a:spAutoFit/>
          </a:bodyPr>
          <a:lstStyle/>
          <a:p>
            <a:pPr algn="ctr">
              <a:lnSpc>
                <a:spcPct val="105000"/>
              </a:lnSpc>
            </a:pPr>
            <a:r>
              <a:rPr sz="1050" b="1" i="0">
                <a:solidFill>
                  <a:srgbClr val="171717"/>
                </a:solidFill>
                <a:latin typeface="Arial"/>
              </a:rPr>
              <a:t>Fiches de décision</a:t>
            </a:r>
          </a:p>
          <a:p>
            <a:pPr algn="ctr">
              <a:lnSpc>
                <a:spcPct val="105000"/>
              </a:lnSpc>
            </a:pPr>
            <a:r>
              <a:rPr sz="900" b="0" i="0">
                <a:solidFill>
                  <a:srgbClr val="666666"/>
                </a:solidFill>
                <a:latin typeface="Arial"/>
              </a:rPr>
              <a:t>pourquoi les arbitrages ont été retenus</a:t>
            </a:r>
          </a:p>
        </p:txBody>
      </p:sp>
      <p:sp>
        <p:nvSpPr>
          <p:cNvPr id="24" name="TextBox 23"/>
          <p:cNvSpPr txBox="1"/>
          <p:nvPr/>
        </p:nvSpPr>
        <p:spPr>
          <a:xfrm>
            <a:off x="457200" y="2304288"/>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WIKI DE 16 PAGES, ORGANISÉ PAR LECTEUR</a:t>
            </a:r>
          </a:p>
        </p:txBody>
      </p:sp>
      <p:sp>
        <p:nvSpPr>
          <p:cNvPr id="25" name="Rounded Rectangle 24"/>
          <p:cNvSpPr/>
          <p:nvPr/>
        </p:nvSpPr>
        <p:spPr>
          <a:xfrm>
            <a:off x="457200" y="2523744"/>
            <a:ext cx="2645664" cy="603504"/>
          </a:xfrm>
          <a:prstGeom prst="roundRect">
            <a:avLst>
              <a:gd name="adj" fmla="val 9469"/>
            </a:avLst>
          </a:prstGeom>
          <a:solidFill>
            <a:srgbClr val="FAFAFA"/>
          </a:solidFill>
          <a:ln w="9525">
            <a:solidFill>
              <a:srgbClr val="FFE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57200" y="2523744"/>
            <a:ext cx="2645664" cy="603504"/>
          </a:xfrm>
          <a:prstGeom prst="rect">
            <a:avLst/>
          </a:prstGeom>
          <a:noFill/>
        </p:spPr>
        <p:txBody>
          <a:bodyPr wrap="square" lIns="54864" tIns="27432" rIns="54864" bIns="27432" anchor="ctr">
            <a:spAutoFit/>
          </a:bodyPr>
          <a:lstStyle/>
          <a:p>
            <a:pPr algn="ctr">
              <a:lnSpc>
                <a:spcPct val="105000"/>
              </a:lnSpc>
            </a:pPr>
            <a:r>
              <a:rPr sz="1000" b="1" i="0">
                <a:solidFill>
                  <a:srgbClr val="171717"/>
                </a:solidFill>
                <a:latin typeface="Arial"/>
              </a:rPr>
              <a:t>Exploitant</a:t>
            </a:r>
          </a:p>
          <a:p>
            <a:pPr algn="ctr">
              <a:lnSpc>
                <a:spcPct val="105000"/>
              </a:lnSpc>
            </a:pPr>
            <a:r>
              <a:rPr sz="850" b="0" i="0">
                <a:solidFill>
                  <a:srgbClr val="666666"/>
                </a:solidFill>
                <a:latin typeface="Arial"/>
              </a:rPr>
              <a:t>runbooks, reprise</a:t>
            </a:r>
          </a:p>
        </p:txBody>
      </p:sp>
      <p:sp>
        <p:nvSpPr>
          <p:cNvPr id="27" name="Rounded Rectangle 26"/>
          <p:cNvSpPr/>
          <p:nvPr/>
        </p:nvSpPr>
        <p:spPr>
          <a:xfrm>
            <a:off x="3249168" y="2523744"/>
            <a:ext cx="2645664" cy="603504"/>
          </a:xfrm>
          <a:prstGeom prst="roundRect">
            <a:avLst>
              <a:gd name="adj" fmla="val 9469"/>
            </a:avLst>
          </a:prstGeom>
          <a:solidFill>
            <a:srgbClr val="FAFAFA"/>
          </a:solidFill>
          <a:ln w="9525">
            <a:solidFill>
              <a:srgbClr val="FFE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249168" y="2523744"/>
            <a:ext cx="2645664" cy="603504"/>
          </a:xfrm>
          <a:prstGeom prst="rect">
            <a:avLst/>
          </a:prstGeom>
          <a:noFill/>
        </p:spPr>
        <p:txBody>
          <a:bodyPr wrap="square" lIns="54864" tIns="27432" rIns="54864" bIns="27432" anchor="ctr">
            <a:spAutoFit/>
          </a:bodyPr>
          <a:lstStyle/>
          <a:p>
            <a:pPr algn="ctr">
              <a:lnSpc>
                <a:spcPct val="105000"/>
              </a:lnSpc>
            </a:pPr>
            <a:r>
              <a:rPr sz="1000" b="1" i="0">
                <a:solidFill>
                  <a:srgbClr val="171717"/>
                </a:solidFill>
                <a:latin typeface="Arial"/>
              </a:rPr>
              <a:t>Développeur</a:t>
            </a:r>
          </a:p>
          <a:p>
            <a:pPr algn="ctr">
              <a:lnSpc>
                <a:spcPct val="105000"/>
              </a:lnSpc>
            </a:pPr>
            <a:r>
              <a:rPr sz="850" b="0" i="0">
                <a:solidFill>
                  <a:srgbClr val="666666"/>
                </a:solidFill>
                <a:latin typeface="Arial"/>
              </a:rPr>
              <a:t>conventions, contrat d’interface</a:t>
            </a:r>
          </a:p>
        </p:txBody>
      </p:sp>
      <p:sp>
        <p:nvSpPr>
          <p:cNvPr id="29" name="Rounded Rectangle 28"/>
          <p:cNvSpPr/>
          <p:nvPr/>
        </p:nvSpPr>
        <p:spPr>
          <a:xfrm>
            <a:off x="6041136" y="2523744"/>
            <a:ext cx="2645664" cy="603504"/>
          </a:xfrm>
          <a:prstGeom prst="roundRect">
            <a:avLst>
              <a:gd name="adj" fmla="val 9469"/>
            </a:avLst>
          </a:prstGeom>
          <a:solidFill>
            <a:srgbClr val="FAFAFA"/>
          </a:solidFill>
          <a:ln w="9525">
            <a:solidFill>
              <a:srgbClr val="FFE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041136" y="2523744"/>
            <a:ext cx="2645664" cy="603504"/>
          </a:xfrm>
          <a:prstGeom prst="rect">
            <a:avLst/>
          </a:prstGeom>
          <a:noFill/>
        </p:spPr>
        <p:txBody>
          <a:bodyPr wrap="square" lIns="54864" tIns="27432" rIns="54864" bIns="27432" anchor="ctr">
            <a:spAutoFit/>
          </a:bodyPr>
          <a:lstStyle/>
          <a:p>
            <a:pPr algn="ctr">
              <a:lnSpc>
                <a:spcPct val="105000"/>
              </a:lnSpc>
            </a:pPr>
            <a:r>
              <a:rPr sz="1000" b="1" i="0">
                <a:solidFill>
                  <a:srgbClr val="171717"/>
                </a:solidFill>
                <a:latin typeface="Arial"/>
              </a:rPr>
              <a:t>Décideur</a:t>
            </a:r>
          </a:p>
          <a:p>
            <a:pPr algn="ctr">
              <a:lnSpc>
                <a:spcPct val="105000"/>
              </a:lnSpc>
            </a:pPr>
            <a:r>
              <a:rPr sz="850" b="0" i="0">
                <a:solidFill>
                  <a:srgbClr val="666666"/>
                </a:solidFill>
                <a:latin typeface="Arial"/>
              </a:rPr>
              <a:t>synthèse des choix</a:t>
            </a:r>
          </a:p>
        </p:txBody>
      </p:sp>
      <p:sp>
        <p:nvSpPr>
          <p:cNvPr id="31" name="TextBox 30"/>
          <p:cNvSpPr txBox="1"/>
          <p:nvPr/>
        </p:nvSpPr>
        <p:spPr>
          <a:xfrm>
            <a:off x="457200" y="3383280"/>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PLAN D’AMÉLIORATION, PRIORISÉ VALEUR SUR EFFORT</a:t>
            </a:r>
          </a:p>
        </p:txBody>
      </p:sp>
      <p:sp>
        <p:nvSpPr>
          <p:cNvPr id="32" name="Rounded Rectangle 31"/>
          <p:cNvSpPr/>
          <p:nvPr/>
        </p:nvSpPr>
        <p:spPr>
          <a:xfrm>
            <a:off x="457200" y="3566160"/>
            <a:ext cx="2097024" cy="621792"/>
          </a:xfrm>
          <a:prstGeom prst="roundRect">
            <a:avLst>
              <a:gd name="adj" fmla="val 9191"/>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585216" y="3602736"/>
            <a:ext cx="1840992" cy="219456"/>
          </a:xfrm>
          <a:prstGeom prst="rect">
            <a:avLst/>
          </a:prstGeom>
          <a:noFill/>
        </p:spPr>
        <p:txBody>
          <a:bodyPr wrap="square" lIns="54864" tIns="27432" rIns="54864" bIns="27432" anchor="t">
            <a:spAutoFit/>
          </a:bodyPr>
          <a:lstStyle/>
          <a:p>
            <a:pPr algn="l">
              <a:lnSpc>
                <a:spcPct val="100000"/>
              </a:lnSpc>
            </a:pPr>
            <a:r>
              <a:rPr sz="950" b="1" i="0">
                <a:solidFill>
                  <a:srgbClr val="D9480F"/>
                </a:solidFill>
                <a:latin typeface="Arial"/>
              </a:rPr>
              <a:t>Court terme</a:t>
            </a:r>
          </a:p>
        </p:txBody>
      </p:sp>
      <p:sp>
        <p:nvSpPr>
          <p:cNvPr id="34" name="TextBox 33"/>
          <p:cNvSpPr txBox="1"/>
          <p:nvPr/>
        </p:nvSpPr>
        <p:spPr>
          <a:xfrm>
            <a:off x="585216" y="3803904"/>
            <a:ext cx="1840992" cy="329184"/>
          </a:xfrm>
          <a:prstGeom prst="rect">
            <a:avLst/>
          </a:prstGeom>
          <a:noFill/>
        </p:spPr>
        <p:txBody>
          <a:bodyPr wrap="square" lIns="54864" tIns="27432" rIns="54864" bIns="27432" anchor="t">
            <a:spAutoFit/>
          </a:bodyPr>
          <a:lstStyle/>
          <a:p>
            <a:pPr algn="l">
              <a:lnSpc>
                <a:spcPct val="100000"/>
              </a:lnSpc>
            </a:pPr>
            <a:r>
              <a:rPr sz="800" b="0" i="0">
                <a:solidFill>
                  <a:srgbClr val="666666"/>
                </a:solidFill>
                <a:latin typeface="Arial"/>
              </a:rPr>
              <a:t>escalade des alertes, couverture de tests publiée</a:t>
            </a:r>
          </a:p>
        </p:txBody>
      </p:sp>
      <p:sp>
        <p:nvSpPr>
          <p:cNvPr id="35" name="Rounded Rectangle 34"/>
          <p:cNvSpPr/>
          <p:nvPr/>
        </p:nvSpPr>
        <p:spPr>
          <a:xfrm>
            <a:off x="2700528" y="3566160"/>
            <a:ext cx="2097024" cy="621792"/>
          </a:xfrm>
          <a:prstGeom prst="roundRect">
            <a:avLst>
              <a:gd name="adj" fmla="val 9191"/>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2828544" y="3602736"/>
            <a:ext cx="1840992" cy="219456"/>
          </a:xfrm>
          <a:prstGeom prst="rect">
            <a:avLst/>
          </a:prstGeom>
          <a:noFill/>
        </p:spPr>
        <p:txBody>
          <a:bodyPr wrap="square" lIns="54864" tIns="27432" rIns="54864" bIns="27432" anchor="t">
            <a:spAutoFit/>
          </a:bodyPr>
          <a:lstStyle/>
          <a:p>
            <a:pPr algn="l">
              <a:lnSpc>
                <a:spcPct val="100000"/>
              </a:lnSpc>
            </a:pPr>
            <a:r>
              <a:rPr sz="950" b="1" i="0">
                <a:solidFill>
                  <a:srgbClr val="D9480F"/>
                </a:solidFill>
                <a:latin typeface="Arial"/>
              </a:rPr>
              <a:t>Moyen terme</a:t>
            </a:r>
          </a:p>
        </p:txBody>
      </p:sp>
      <p:sp>
        <p:nvSpPr>
          <p:cNvPr id="37" name="TextBox 36"/>
          <p:cNvSpPr txBox="1"/>
          <p:nvPr/>
        </p:nvSpPr>
        <p:spPr>
          <a:xfrm>
            <a:off x="2828544" y="3803904"/>
            <a:ext cx="1840992" cy="329184"/>
          </a:xfrm>
          <a:prstGeom prst="rect">
            <a:avLst/>
          </a:prstGeom>
          <a:noFill/>
        </p:spPr>
        <p:txBody>
          <a:bodyPr wrap="square" lIns="54864" tIns="27432" rIns="54864" bIns="27432" anchor="t">
            <a:spAutoFit/>
          </a:bodyPr>
          <a:lstStyle/>
          <a:p>
            <a:pPr algn="l">
              <a:lnSpc>
                <a:spcPct val="100000"/>
              </a:lnSpc>
            </a:pPr>
            <a:r>
              <a:rPr sz="800" b="0" i="0">
                <a:solidFill>
                  <a:srgbClr val="666666"/>
                </a:solidFill>
                <a:latin typeface="Arial"/>
              </a:rPr>
              <a:t>supervision redondée, exercice de reprise réel</a:t>
            </a:r>
          </a:p>
        </p:txBody>
      </p:sp>
      <p:sp>
        <p:nvSpPr>
          <p:cNvPr id="38" name="Rounded Rectangle 37"/>
          <p:cNvSpPr/>
          <p:nvPr/>
        </p:nvSpPr>
        <p:spPr>
          <a:xfrm>
            <a:off x="4943856" y="3566160"/>
            <a:ext cx="2097024" cy="621792"/>
          </a:xfrm>
          <a:prstGeom prst="roundRect">
            <a:avLst>
              <a:gd name="adj" fmla="val 9191"/>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071872" y="3602736"/>
            <a:ext cx="1840992" cy="219456"/>
          </a:xfrm>
          <a:prstGeom prst="rect">
            <a:avLst/>
          </a:prstGeom>
          <a:noFill/>
        </p:spPr>
        <p:txBody>
          <a:bodyPr wrap="square" lIns="54864" tIns="27432" rIns="54864" bIns="27432" anchor="t">
            <a:spAutoFit/>
          </a:bodyPr>
          <a:lstStyle/>
          <a:p>
            <a:pPr algn="l">
              <a:lnSpc>
                <a:spcPct val="100000"/>
              </a:lnSpc>
            </a:pPr>
            <a:r>
              <a:rPr sz="950" b="1" i="0">
                <a:solidFill>
                  <a:srgbClr val="D9480F"/>
                </a:solidFill>
                <a:latin typeface="Arial"/>
              </a:rPr>
              <a:t>Long terme</a:t>
            </a:r>
          </a:p>
        </p:txBody>
      </p:sp>
      <p:sp>
        <p:nvSpPr>
          <p:cNvPr id="40" name="TextBox 39"/>
          <p:cNvSpPr txBox="1"/>
          <p:nvPr/>
        </p:nvSpPr>
        <p:spPr>
          <a:xfrm>
            <a:off x="5071872" y="3803904"/>
            <a:ext cx="1840992" cy="329184"/>
          </a:xfrm>
          <a:prstGeom prst="rect">
            <a:avLst/>
          </a:prstGeom>
          <a:noFill/>
        </p:spPr>
        <p:txBody>
          <a:bodyPr wrap="square" lIns="54864" tIns="27432" rIns="54864" bIns="27432" anchor="t">
            <a:spAutoFit/>
          </a:bodyPr>
          <a:lstStyle/>
          <a:p>
            <a:pPr algn="l">
              <a:lnSpc>
                <a:spcPct val="100000"/>
              </a:lnSpc>
            </a:pPr>
            <a:r>
              <a:rPr sz="800" b="0" i="0">
                <a:solidFill>
                  <a:srgbClr val="666666"/>
                </a:solidFill>
                <a:latin typeface="Arial"/>
              </a:rPr>
              <a:t>déploiement progressif, prédiction d’incidents</a:t>
            </a:r>
          </a:p>
        </p:txBody>
      </p:sp>
      <p:sp>
        <p:nvSpPr>
          <p:cNvPr id="41" name="Rounded Rectangle 40"/>
          <p:cNvSpPr/>
          <p:nvPr/>
        </p:nvSpPr>
        <p:spPr>
          <a:xfrm>
            <a:off x="7223760" y="3566160"/>
            <a:ext cx="1463040" cy="621792"/>
          </a:xfrm>
          <a:prstGeom prst="roundRect">
            <a:avLst>
              <a:gd name="adj" fmla="val 9191"/>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7223760" y="3648456"/>
            <a:ext cx="1463040" cy="365760"/>
          </a:xfrm>
          <a:prstGeom prst="rect">
            <a:avLst/>
          </a:prstGeom>
          <a:noFill/>
        </p:spPr>
        <p:txBody>
          <a:bodyPr wrap="square" lIns="54864" tIns="27432" rIns="54864" bIns="27432" anchor="t">
            <a:spAutoFit/>
          </a:bodyPr>
          <a:lstStyle/>
          <a:p>
            <a:pPr algn="ctr">
              <a:lnSpc>
                <a:spcPct val="100000"/>
              </a:lnSpc>
            </a:pPr>
            <a:r>
              <a:rPr sz="1400" b="1" i="0" spc="-49">
                <a:solidFill>
                  <a:srgbClr val="171717"/>
                </a:solidFill>
                <a:latin typeface="Arial"/>
              </a:rPr>
              <a:t>29 j-h</a:t>
            </a:r>
          </a:p>
        </p:txBody>
      </p:sp>
      <p:sp>
        <p:nvSpPr>
          <p:cNvPr id="43" name="TextBox 42"/>
          <p:cNvSpPr txBox="1"/>
          <p:nvPr/>
        </p:nvSpPr>
        <p:spPr>
          <a:xfrm>
            <a:off x="7223760" y="3922776"/>
            <a:ext cx="1463040" cy="365760"/>
          </a:xfrm>
          <a:prstGeom prst="rect">
            <a:avLst/>
          </a:prstGeom>
          <a:noFill/>
        </p:spPr>
        <p:txBody>
          <a:bodyPr wrap="square" lIns="54864" tIns="27432" rIns="54864" bIns="27432" anchor="t">
            <a:spAutoFit/>
          </a:bodyPr>
          <a:lstStyle/>
          <a:p>
            <a:pPr algn="ctr">
              <a:lnSpc>
                <a:spcPct val="100000"/>
              </a:lnSpc>
            </a:pPr>
            <a:r>
              <a:rPr sz="700" b="1" i="0" spc="112">
                <a:solidFill>
                  <a:srgbClr val="D9480F"/>
                </a:solidFill>
                <a:latin typeface="Arial"/>
              </a:rPr>
              <a:t>14 500 €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620000" y="0"/>
            <a:ext cx="1524000" cy="41148"/>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269480"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10144"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lIns="54864" tIns="27432" rIns="54864" bIns="27432" anchor="t">
            <a:spAutoFit/>
          </a:bodyPr>
          <a:lstStyle/>
          <a:p>
            <a:pPr algn="l">
              <a:lnSpc>
                <a:spcPct val="100000"/>
              </a:lnSpc>
            </a:pPr>
            <a:r>
              <a:rPr sz="750" b="1" i="0" spc="120">
                <a:solidFill>
                  <a:srgbClr val="2F9E44"/>
                </a:solidFill>
                <a:latin typeface="Arial"/>
              </a:rPr>
              <a:t>6 · RÉSULTATS ET CONCLUSION</a:t>
            </a:r>
          </a:p>
        </p:txBody>
      </p:sp>
      <p:sp>
        <p:nvSpPr>
          <p:cNvPr id="11" name="TextBox 10"/>
          <p:cNvSpPr txBox="1"/>
          <p:nvPr/>
        </p:nvSpPr>
        <p:spPr>
          <a:xfrm>
            <a:off x="457200" y="493776"/>
            <a:ext cx="6720840" cy="566928"/>
          </a:xfrm>
          <a:prstGeom prst="rect">
            <a:avLst/>
          </a:prstGeom>
          <a:noFill/>
        </p:spPr>
        <p:txBody>
          <a:bodyPr wrap="square" lIns="54864" tIns="27432" rIns="54864" bIns="27432" anchor="t">
            <a:spAutoFit/>
          </a:bodyPr>
          <a:lstStyle/>
          <a:p>
            <a:pPr algn="l">
              <a:lnSpc>
                <a:spcPct val="100000"/>
              </a:lnSpc>
            </a:pPr>
            <a:r>
              <a:rPr sz="2400" b="1" i="0" spc="-84">
                <a:solidFill>
                  <a:srgbClr val="171717"/>
                </a:solidFill>
                <a:latin typeface="Arial"/>
              </a:rPr>
              <a:t>Indicateurs de pilotage</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26679" y="4832604"/>
            <a:ext cx="1143000" cy="237744"/>
          </a:xfrm>
          <a:prstGeom prst="rect">
            <a:avLst/>
          </a:prstGeom>
          <a:noFill/>
        </p:spPr>
        <p:txBody>
          <a:bodyPr wrap="square" lIns="54864" tIns="27432" rIns="54864" bIns="27432" anchor="t">
            <a:spAutoFit/>
          </a:bodyPr>
          <a:lstStyle/>
          <a:p>
            <a:pPr algn="r">
              <a:lnSpc>
                <a:spcPct val="100000"/>
              </a:lnSpc>
            </a:pPr>
            <a:r>
              <a:rPr sz="800" b="0" i="0">
                <a:solidFill>
                  <a:srgbClr val="A1A1A1"/>
                </a:solidFill>
                <a:latin typeface="Arial"/>
              </a:rPr>
              <a:t>27 / 31</a:t>
            </a:r>
          </a:p>
        </p:txBody>
      </p:sp>
      <p:sp>
        <p:nvSpPr>
          <p:cNvPr id="14" name="Rounded Rectangle 13"/>
          <p:cNvSpPr/>
          <p:nvPr/>
        </p:nvSpPr>
        <p:spPr>
          <a:xfrm>
            <a:off x="457200" y="4818888"/>
            <a:ext cx="1369771" cy="228600"/>
          </a:xfrm>
          <a:prstGeom prst="roundRect">
            <a:avLst>
              <a:gd name="adj" fmla="val 25000"/>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4818888"/>
            <a:ext cx="1369771" cy="228600"/>
          </a:xfrm>
          <a:prstGeom prst="rect">
            <a:avLst/>
          </a:prstGeom>
          <a:noFill/>
        </p:spPr>
        <p:txBody>
          <a:bodyPr wrap="square" lIns="54864" tIns="27432" rIns="54864" bIns="27432" anchor="ctr">
            <a:spAutoFit/>
          </a:bodyPr>
          <a:lstStyle/>
          <a:p>
            <a:pPr algn="ctr">
              <a:lnSpc>
                <a:spcPct val="100000"/>
              </a:lnSpc>
            </a:pPr>
            <a:r>
              <a:rPr sz="750" b="1" i="0">
                <a:solidFill>
                  <a:srgbClr val="FFFFFF"/>
                </a:solidFill>
                <a:latin typeface="Arial"/>
              </a:rPr>
              <a:t>Réf.  C15 · C27 · C31</a:t>
            </a:r>
          </a:p>
        </p:txBody>
      </p:sp>
      <p:sp>
        <p:nvSpPr>
          <p:cNvPr id="16" name="TextBox 15"/>
          <p:cNvSpPr txBox="1"/>
          <p:nvPr/>
        </p:nvSpPr>
        <p:spPr>
          <a:xfrm>
            <a:off x="1918411" y="4818888"/>
            <a:ext cx="5486400" cy="228600"/>
          </a:xfrm>
          <a:prstGeom prst="rect">
            <a:avLst/>
          </a:prstGeom>
          <a:noFill/>
        </p:spPr>
        <p:txBody>
          <a:bodyPr wrap="square" lIns="54864" tIns="27432" rIns="54864" bIns="27432" anchor="ctr">
            <a:spAutoFit/>
          </a:bodyPr>
          <a:lstStyle/>
          <a:p>
            <a:pPr algn="l">
              <a:lnSpc>
                <a:spcPct val="100000"/>
              </a:lnSpc>
            </a:pPr>
            <a:r>
              <a:rPr sz="750" b="0" i="0">
                <a:solidFill>
                  <a:srgbClr val="A1A1A1"/>
                </a:solidFill>
                <a:latin typeface="Arial"/>
              </a:rPr>
              <a:t>BC2, BC3, BC4C · mémoire 13.2.1, 14.1.6 · annexe P</a:t>
            </a:r>
          </a:p>
        </p:txBody>
      </p:sp>
      <p:sp>
        <p:nvSpPr>
          <p:cNvPr id="17" name="TextBox 16"/>
          <p:cNvSpPr txBox="1"/>
          <p:nvPr/>
        </p:nvSpPr>
        <p:spPr>
          <a:xfrm>
            <a:off x="457200" y="1225296"/>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DOUZE INDICATEURS, CIBLE ET SOURCE DE MESURE</a:t>
            </a:r>
          </a:p>
        </p:txBody>
      </p:sp>
      <p:sp>
        <p:nvSpPr>
          <p:cNvPr id="18" name="Rounded Rectangle 17"/>
          <p:cNvSpPr/>
          <p:nvPr/>
        </p:nvSpPr>
        <p:spPr>
          <a:xfrm>
            <a:off x="457200" y="1463040"/>
            <a:ext cx="1947672" cy="347472"/>
          </a:xfrm>
          <a:prstGeom prst="roundRect">
            <a:avLst>
              <a:gd name="adj" fmla="val 16447"/>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200" y="1463040"/>
            <a:ext cx="1947672" cy="347472"/>
          </a:xfrm>
          <a:prstGeom prst="rect">
            <a:avLst/>
          </a:prstGeom>
          <a:noFill/>
        </p:spPr>
        <p:txBody>
          <a:bodyPr wrap="square" lIns="54864" tIns="27432" rIns="54864" bIns="27432" anchor="ctr">
            <a:spAutoFit/>
          </a:bodyPr>
          <a:lstStyle/>
          <a:p>
            <a:pPr algn="ctr">
              <a:lnSpc>
                <a:spcPct val="100000"/>
              </a:lnSpc>
            </a:pPr>
            <a:r>
              <a:rPr sz="900" b="1" i="0">
                <a:solidFill>
                  <a:srgbClr val="FFFFFF"/>
                </a:solidFill>
                <a:latin typeface="Arial"/>
              </a:rPr>
              <a:t>PERFORMANCE</a:t>
            </a:r>
          </a:p>
        </p:txBody>
      </p:sp>
      <p:sp>
        <p:nvSpPr>
          <p:cNvPr id="20" name="Rounded Rectangle 19"/>
          <p:cNvSpPr/>
          <p:nvPr/>
        </p:nvSpPr>
        <p:spPr>
          <a:xfrm>
            <a:off x="457200" y="1901952"/>
            <a:ext cx="1947672" cy="493776"/>
          </a:xfrm>
          <a:prstGeom prst="roundRect">
            <a:avLst>
              <a:gd name="adj" fmla="val 1157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6928" y="1947672"/>
            <a:ext cx="1728216" cy="219456"/>
          </a:xfrm>
          <a:prstGeom prst="rect">
            <a:avLst/>
          </a:prstGeom>
          <a:noFill/>
        </p:spPr>
        <p:txBody>
          <a:bodyPr wrap="square" lIns="54864" tIns="27432" rIns="54864" bIns="27432" anchor="t">
            <a:spAutoFit/>
          </a:bodyPr>
          <a:lstStyle/>
          <a:p>
            <a:pPr algn="l">
              <a:lnSpc>
                <a:spcPct val="100000"/>
              </a:lnSpc>
            </a:pPr>
            <a:r>
              <a:rPr sz="850" b="0" i="0">
                <a:solidFill>
                  <a:srgbClr val="666666"/>
                </a:solidFill>
                <a:latin typeface="Arial"/>
              </a:rPr>
              <a:t>Disponibilité</a:t>
            </a:r>
          </a:p>
        </p:txBody>
      </p:sp>
      <p:sp>
        <p:nvSpPr>
          <p:cNvPr id="22" name="TextBox 21"/>
          <p:cNvSpPr txBox="1"/>
          <p:nvPr/>
        </p:nvSpPr>
        <p:spPr>
          <a:xfrm>
            <a:off x="566928" y="2130552"/>
            <a:ext cx="1728216" cy="237744"/>
          </a:xfrm>
          <a:prstGeom prst="rect">
            <a:avLst/>
          </a:prstGeom>
          <a:noFill/>
        </p:spPr>
        <p:txBody>
          <a:bodyPr wrap="square" lIns="54864" tIns="27432" rIns="54864" bIns="27432" anchor="t">
            <a:spAutoFit/>
          </a:bodyPr>
          <a:lstStyle/>
          <a:p>
            <a:pPr algn="l">
              <a:lnSpc>
                <a:spcPct val="100000"/>
              </a:lnSpc>
            </a:pPr>
            <a:r>
              <a:rPr sz="1200" b="1" i="0">
                <a:solidFill>
                  <a:srgbClr val="171717"/>
                </a:solidFill>
                <a:latin typeface="Arial"/>
              </a:rPr>
              <a:t>≥ 99,5 %</a:t>
            </a:r>
          </a:p>
        </p:txBody>
      </p:sp>
      <p:sp>
        <p:nvSpPr>
          <p:cNvPr id="23" name="Rounded Rectangle 22"/>
          <p:cNvSpPr/>
          <p:nvPr/>
        </p:nvSpPr>
        <p:spPr>
          <a:xfrm>
            <a:off x="457200" y="2468880"/>
            <a:ext cx="1947672" cy="493776"/>
          </a:xfrm>
          <a:prstGeom prst="roundRect">
            <a:avLst>
              <a:gd name="adj" fmla="val 1157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66928" y="2514600"/>
            <a:ext cx="1728216" cy="219456"/>
          </a:xfrm>
          <a:prstGeom prst="rect">
            <a:avLst/>
          </a:prstGeom>
          <a:noFill/>
        </p:spPr>
        <p:txBody>
          <a:bodyPr wrap="square" lIns="54864" tIns="27432" rIns="54864" bIns="27432" anchor="t">
            <a:spAutoFit/>
          </a:bodyPr>
          <a:lstStyle/>
          <a:p>
            <a:pPr algn="l">
              <a:lnSpc>
                <a:spcPct val="100000"/>
              </a:lnSpc>
            </a:pPr>
            <a:r>
              <a:rPr sz="850" b="0" i="0">
                <a:solidFill>
                  <a:srgbClr val="666666"/>
                </a:solidFill>
                <a:latin typeface="Arial"/>
              </a:rPr>
              <a:t>Latence p95</a:t>
            </a:r>
          </a:p>
        </p:txBody>
      </p:sp>
      <p:sp>
        <p:nvSpPr>
          <p:cNvPr id="25" name="TextBox 24"/>
          <p:cNvSpPr txBox="1"/>
          <p:nvPr/>
        </p:nvSpPr>
        <p:spPr>
          <a:xfrm>
            <a:off x="566928" y="2697480"/>
            <a:ext cx="1728216" cy="237744"/>
          </a:xfrm>
          <a:prstGeom prst="rect">
            <a:avLst/>
          </a:prstGeom>
          <a:noFill/>
        </p:spPr>
        <p:txBody>
          <a:bodyPr wrap="square" lIns="54864" tIns="27432" rIns="54864" bIns="27432" anchor="t">
            <a:spAutoFit/>
          </a:bodyPr>
          <a:lstStyle/>
          <a:p>
            <a:pPr algn="l">
              <a:lnSpc>
                <a:spcPct val="100000"/>
              </a:lnSpc>
            </a:pPr>
            <a:r>
              <a:rPr sz="1200" b="1" i="0">
                <a:solidFill>
                  <a:srgbClr val="171717"/>
                </a:solidFill>
                <a:latin typeface="Arial"/>
              </a:rPr>
              <a:t>&lt; 1 s</a:t>
            </a:r>
          </a:p>
        </p:txBody>
      </p:sp>
      <p:sp>
        <p:nvSpPr>
          <p:cNvPr id="26" name="Rounded Rectangle 25"/>
          <p:cNvSpPr/>
          <p:nvPr/>
        </p:nvSpPr>
        <p:spPr>
          <a:xfrm>
            <a:off x="457200" y="3035808"/>
            <a:ext cx="1947672" cy="493776"/>
          </a:xfrm>
          <a:prstGeom prst="roundRect">
            <a:avLst>
              <a:gd name="adj" fmla="val 1157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66928" y="3081528"/>
            <a:ext cx="1728216" cy="219456"/>
          </a:xfrm>
          <a:prstGeom prst="rect">
            <a:avLst/>
          </a:prstGeom>
          <a:noFill/>
        </p:spPr>
        <p:txBody>
          <a:bodyPr wrap="square" lIns="54864" tIns="27432" rIns="54864" bIns="27432" anchor="t">
            <a:spAutoFit/>
          </a:bodyPr>
          <a:lstStyle/>
          <a:p>
            <a:pPr algn="l">
              <a:lnSpc>
                <a:spcPct val="100000"/>
              </a:lnSpc>
            </a:pPr>
            <a:r>
              <a:rPr sz="850" b="0" i="0">
                <a:solidFill>
                  <a:srgbClr val="666666"/>
                </a:solidFill>
                <a:latin typeface="Arial"/>
              </a:rPr>
              <a:t>Erreurs serveur</a:t>
            </a:r>
          </a:p>
        </p:txBody>
      </p:sp>
      <p:sp>
        <p:nvSpPr>
          <p:cNvPr id="28" name="TextBox 27"/>
          <p:cNvSpPr txBox="1"/>
          <p:nvPr/>
        </p:nvSpPr>
        <p:spPr>
          <a:xfrm>
            <a:off x="566928" y="3264408"/>
            <a:ext cx="1728216" cy="237744"/>
          </a:xfrm>
          <a:prstGeom prst="rect">
            <a:avLst/>
          </a:prstGeom>
          <a:noFill/>
        </p:spPr>
        <p:txBody>
          <a:bodyPr wrap="square" lIns="54864" tIns="27432" rIns="54864" bIns="27432" anchor="t">
            <a:spAutoFit/>
          </a:bodyPr>
          <a:lstStyle/>
          <a:p>
            <a:pPr algn="l">
              <a:lnSpc>
                <a:spcPct val="100000"/>
              </a:lnSpc>
            </a:pPr>
            <a:r>
              <a:rPr sz="1200" b="1" i="0">
                <a:solidFill>
                  <a:srgbClr val="171717"/>
                </a:solidFill>
                <a:latin typeface="Arial"/>
              </a:rPr>
              <a:t>&lt; 1 %</a:t>
            </a:r>
          </a:p>
        </p:txBody>
      </p:sp>
      <p:sp>
        <p:nvSpPr>
          <p:cNvPr id="29" name="Rounded Rectangle 28"/>
          <p:cNvSpPr/>
          <p:nvPr/>
        </p:nvSpPr>
        <p:spPr>
          <a:xfrm>
            <a:off x="2551176" y="1463040"/>
            <a:ext cx="1947672" cy="347472"/>
          </a:xfrm>
          <a:prstGeom prst="roundRect">
            <a:avLst>
              <a:gd name="adj" fmla="val 16447"/>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551176" y="1463040"/>
            <a:ext cx="1947672" cy="347472"/>
          </a:xfrm>
          <a:prstGeom prst="rect">
            <a:avLst/>
          </a:prstGeom>
          <a:noFill/>
        </p:spPr>
        <p:txBody>
          <a:bodyPr wrap="square" lIns="54864" tIns="27432" rIns="54864" bIns="27432" anchor="ctr">
            <a:spAutoFit/>
          </a:bodyPr>
          <a:lstStyle/>
          <a:p>
            <a:pPr algn="ctr">
              <a:lnSpc>
                <a:spcPct val="100000"/>
              </a:lnSpc>
            </a:pPr>
            <a:r>
              <a:rPr sz="900" b="1" i="0">
                <a:solidFill>
                  <a:srgbClr val="FFFFFF"/>
                </a:solidFill>
                <a:latin typeface="Arial"/>
              </a:rPr>
              <a:t>SÉCURITÉ</a:t>
            </a:r>
          </a:p>
        </p:txBody>
      </p:sp>
      <p:sp>
        <p:nvSpPr>
          <p:cNvPr id="31" name="Rounded Rectangle 30"/>
          <p:cNvSpPr/>
          <p:nvPr/>
        </p:nvSpPr>
        <p:spPr>
          <a:xfrm>
            <a:off x="2551176" y="1901952"/>
            <a:ext cx="1947672" cy="493776"/>
          </a:xfrm>
          <a:prstGeom prst="roundRect">
            <a:avLst>
              <a:gd name="adj" fmla="val 1157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660904" y="1947672"/>
            <a:ext cx="1728216" cy="219456"/>
          </a:xfrm>
          <a:prstGeom prst="rect">
            <a:avLst/>
          </a:prstGeom>
          <a:noFill/>
        </p:spPr>
        <p:txBody>
          <a:bodyPr wrap="square" lIns="54864" tIns="27432" rIns="54864" bIns="27432" anchor="t">
            <a:spAutoFit/>
          </a:bodyPr>
          <a:lstStyle/>
          <a:p>
            <a:pPr algn="l">
              <a:lnSpc>
                <a:spcPct val="100000"/>
              </a:lnSpc>
            </a:pPr>
            <a:r>
              <a:rPr sz="850" b="0" i="0">
                <a:solidFill>
                  <a:srgbClr val="666666"/>
                </a:solidFill>
                <a:latin typeface="Arial"/>
              </a:rPr>
              <a:t>Vulnérabilités critiques</a:t>
            </a:r>
          </a:p>
        </p:txBody>
      </p:sp>
      <p:sp>
        <p:nvSpPr>
          <p:cNvPr id="33" name="TextBox 32"/>
          <p:cNvSpPr txBox="1"/>
          <p:nvPr/>
        </p:nvSpPr>
        <p:spPr>
          <a:xfrm>
            <a:off x="2660904" y="2130552"/>
            <a:ext cx="1728216" cy="237744"/>
          </a:xfrm>
          <a:prstGeom prst="rect">
            <a:avLst/>
          </a:prstGeom>
          <a:noFill/>
        </p:spPr>
        <p:txBody>
          <a:bodyPr wrap="square" lIns="54864" tIns="27432" rIns="54864" bIns="27432" anchor="t">
            <a:spAutoFit/>
          </a:bodyPr>
          <a:lstStyle/>
          <a:p>
            <a:pPr algn="l">
              <a:lnSpc>
                <a:spcPct val="100000"/>
              </a:lnSpc>
            </a:pPr>
            <a:r>
              <a:rPr sz="1200" b="1" i="0">
                <a:solidFill>
                  <a:srgbClr val="171717"/>
                </a:solidFill>
                <a:latin typeface="Arial"/>
              </a:rPr>
              <a:t>0</a:t>
            </a:r>
          </a:p>
        </p:txBody>
      </p:sp>
      <p:sp>
        <p:nvSpPr>
          <p:cNvPr id="34" name="Rounded Rectangle 33"/>
          <p:cNvSpPr/>
          <p:nvPr/>
        </p:nvSpPr>
        <p:spPr>
          <a:xfrm>
            <a:off x="2551176" y="2468880"/>
            <a:ext cx="1947672" cy="493776"/>
          </a:xfrm>
          <a:prstGeom prst="roundRect">
            <a:avLst>
              <a:gd name="adj" fmla="val 1157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2660904" y="2514600"/>
            <a:ext cx="1728216" cy="219456"/>
          </a:xfrm>
          <a:prstGeom prst="rect">
            <a:avLst/>
          </a:prstGeom>
          <a:noFill/>
        </p:spPr>
        <p:txBody>
          <a:bodyPr wrap="square" lIns="54864" tIns="27432" rIns="54864" bIns="27432" anchor="t">
            <a:spAutoFit/>
          </a:bodyPr>
          <a:lstStyle/>
          <a:p>
            <a:pPr algn="l">
              <a:lnSpc>
                <a:spcPct val="100000"/>
              </a:lnSpc>
            </a:pPr>
            <a:r>
              <a:rPr sz="850" b="0" i="0">
                <a:solidFill>
                  <a:srgbClr val="666666"/>
                </a:solidFill>
                <a:latin typeface="Arial"/>
              </a:rPr>
              <a:t>Secrets au dépôt</a:t>
            </a:r>
          </a:p>
        </p:txBody>
      </p:sp>
      <p:sp>
        <p:nvSpPr>
          <p:cNvPr id="36" name="TextBox 35"/>
          <p:cNvSpPr txBox="1"/>
          <p:nvPr/>
        </p:nvSpPr>
        <p:spPr>
          <a:xfrm>
            <a:off x="2660904" y="2697480"/>
            <a:ext cx="1728216" cy="237744"/>
          </a:xfrm>
          <a:prstGeom prst="rect">
            <a:avLst/>
          </a:prstGeom>
          <a:noFill/>
        </p:spPr>
        <p:txBody>
          <a:bodyPr wrap="square" lIns="54864" tIns="27432" rIns="54864" bIns="27432" anchor="t">
            <a:spAutoFit/>
          </a:bodyPr>
          <a:lstStyle/>
          <a:p>
            <a:pPr algn="l">
              <a:lnSpc>
                <a:spcPct val="100000"/>
              </a:lnSpc>
            </a:pPr>
            <a:r>
              <a:rPr sz="1200" b="1" i="0">
                <a:solidFill>
                  <a:srgbClr val="171717"/>
                </a:solidFill>
                <a:latin typeface="Arial"/>
              </a:rPr>
              <a:t>0</a:t>
            </a:r>
          </a:p>
        </p:txBody>
      </p:sp>
      <p:sp>
        <p:nvSpPr>
          <p:cNvPr id="37" name="Rounded Rectangle 36"/>
          <p:cNvSpPr/>
          <p:nvPr/>
        </p:nvSpPr>
        <p:spPr>
          <a:xfrm>
            <a:off x="2551176" y="3035808"/>
            <a:ext cx="1947672" cy="493776"/>
          </a:xfrm>
          <a:prstGeom prst="roundRect">
            <a:avLst>
              <a:gd name="adj" fmla="val 1157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2660904" y="3081528"/>
            <a:ext cx="1728216" cy="219456"/>
          </a:xfrm>
          <a:prstGeom prst="rect">
            <a:avLst/>
          </a:prstGeom>
          <a:noFill/>
        </p:spPr>
        <p:txBody>
          <a:bodyPr wrap="square" lIns="54864" tIns="27432" rIns="54864" bIns="27432" anchor="t">
            <a:spAutoFit/>
          </a:bodyPr>
          <a:lstStyle/>
          <a:p>
            <a:pPr algn="l">
              <a:lnSpc>
                <a:spcPct val="100000"/>
              </a:lnSpc>
            </a:pPr>
            <a:r>
              <a:rPr sz="850" b="0" i="0">
                <a:solidFill>
                  <a:srgbClr val="666666"/>
                </a:solidFill>
                <a:latin typeface="Arial"/>
              </a:rPr>
              <a:t>Tests au vert</a:t>
            </a:r>
          </a:p>
        </p:txBody>
      </p:sp>
      <p:sp>
        <p:nvSpPr>
          <p:cNvPr id="39" name="TextBox 38"/>
          <p:cNvSpPr txBox="1"/>
          <p:nvPr/>
        </p:nvSpPr>
        <p:spPr>
          <a:xfrm>
            <a:off x="2660904" y="3264408"/>
            <a:ext cx="1728216" cy="237744"/>
          </a:xfrm>
          <a:prstGeom prst="rect">
            <a:avLst/>
          </a:prstGeom>
          <a:noFill/>
        </p:spPr>
        <p:txBody>
          <a:bodyPr wrap="square" lIns="54864" tIns="27432" rIns="54864" bIns="27432" anchor="t">
            <a:spAutoFit/>
          </a:bodyPr>
          <a:lstStyle/>
          <a:p>
            <a:pPr algn="l">
              <a:lnSpc>
                <a:spcPct val="100000"/>
              </a:lnSpc>
            </a:pPr>
            <a:r>
              <a:rPr sz="1200" b="1" i="0">
                <a:solidFill>
                  <a:srgbClr val="171717"/>
                </a:solidFill>
                <a:latin typeface="Arial"/>
              </a:rPr>
              <a:t>218 / 218</a:t>
            </a:r>
          </a:p>
        </p:txBody>
      </p:sp>
      <p:sp>
        <p:nvSpPr>
          <p:cNvPr id="40" name="Rounded Rectangle 39"/>
          <p:cNvSpPr/>
          <p:nvPr/>
        </p:nvSpPr>
        <p:spPr>
          <a:xfrm>
            <a:off x="4645152" y="1463040"/>
            <a:ext cx="1947672" cy="347472"/>
          </a:xfrm>
          <a:prstGeom prst="roundRect">
            <a:avLst>
              <a:gd name="adj" fmla="val 16447"/>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645152" y="1463040"/>
            <a:ext cx="1947672" cy="347472"/>
          </a:xfrm>
          <a:prstGeom prst="rect">
            <a:avLst/>
          </a:prstGeom>
          <a:noFill/>
        </p:spPr>
        <p:txBody>
          <a:bodyPr wrap="square" lIns="54864" tIns="27432" rIns="54864" bIns="27432" anchor="ctr">
            <a:spAutoFit/>
          </a:bodyPr>
          <a:lstStyle/>
          <a:p>
            <a:pPr algn="ctr">
              <a:lnSpc>
                <a:spcPct val="100000"/>
              </a:lnSpc>
            </a:pPr>
            <a:r>
              <a:rPr sz="900" b="1" i="0">
                <a:solidFill>
                  <a:srgbClr val="FFFFFF"/>
                </a:solidFill>
                <a:latin typeface="Arial"/>
              </a:rPr>
              <a:t>CONFORMITÉ</a:t>
            </a:r>
          </a:p>
        </p:txBody>
      </p:sp>
      <p:sp>
        <p:nvSpPr>
          <p:cNvPr id="42" name="Rounded Rectangle 41"/>
          <p:cNvSpPr/>
          <p:nvPr/>
        </p:nvSpPr>
        <p:spPr>
          <a:xfrm>
            <a:off x="4645152" y="1901952"/>
            <a:ext cx="1947672" cy="493776"/>
          </a:xfrm>
          <a:prstGeom prst="roundRect">
            <a:avLst>
              <a:gd name="adj" fmla="val 1157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754880" y="1947672"/>
            <a:ext cx="1728216" cy="219456"/>
          </a:xfrm>
          <a:prstGeom prst="rect">
            <a:avLst/>
          </a:prstGeom>
          <a:noFill/>
        </p:spPr>
        <p:txBody>
          <a:bodyPr wrap="square" lIns="54864" tIns="27432" rIns="54864" bIns="27432" anchor="t">
            <a:spAutoFit/>
          </a:bodyPr>
          <a:lstStyle/>
          <a:p>
            <a:pPr algn="l">
              <a:lnSpc>
                <a:spcPct val="100000"/>
              </a:lnSpc>
            </a:pPr>
            <a:r>
              <a:rPr sz="850" b="0" i="0">
                <a:solidFill>
                  <a:srgbClr val="666666"/>
                </a:solidFill>
                <a:latin typeface="Arial"/>
              </a:rPr>
              <a:t>Contrôles ISO couverts</a:t>
            </a:r>
          </a:p>
        </p:txBody>
      </p:sp>
      <p:sp>
        <p:nvSpPr>
          <p:cNvPr id="44" name="TextBox 43"/>
          <p:cNvSpPr txBox="1"/>
          <p:nvPr/>
        </p:nvSpPr>
        <p:spPr>
          <a:xfrm>
            <a:off x="4754880" y="2130552"/>
            <a:ext cx="1728216" cy="237744"/>
          </a:xfrm>
          <a:prstGeom prst="rect">
            <a:avLst/>
          </a:prstGeom>
          <a:noFill/>
        </p:spPr>
        <p:txBody>
          <a:bodyPr wrap="square" lIns="54864" tIns="27432" rIns="54864" bIns="27432" anchor="t">
            <a:spAutoFit/>
          </a:bodyPr>
          <a:lstStyle/>
          <a:p>
            <a:pPr algn="l">
              <a:lnSpc>
                <a:spcPct val="100000"/>
              </a:lnSpc>
            </a:pPr>
            <a:r>
              <a:rPr sz="1200" b="1" i="0">
                <a:solidFill>
                  <a:srgbClr val="171717"/>
                </a:solidFill>
                <a:latin typeface="Arial"/>
              </a:rPr>
              <a:t>≥ 90 %</a:t>
            </a:r>
          </a:p>
        </p:txBody>
      </p:sp>
      <p:sp>
        <p:nvSpPr>
          <p:cNvPr id="45" name="Rounded Rectangle 44"/>
          <p:cNvSpPr/>
          <p:nvPr/>
        </p:nvSpPr>
        <p:spPr>
          <a:xfrm>
            <a:off x="4645152" y="2468880"/>
            <a:ext cx="1947672" cy="493776"/>
          </a:xfrm>
          <a:prstGeom prst="roundRect">
            <a:avLst>
              <a:gd name="adj" fmla="val 1157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4754880" y="2514600"/>
            <a:ext cx="1728216" cy="219456"/>
          </a:xfrm>
          <a:prstGeom prst="rect">
            <a:avLst/>
          </a:prstGeom>
          <a:noFill/>
        </p:spPr>
        <p:txBody>
          <a:bodyPr wrap="square" lIns="54864" tIns="27432" rIns="54864" bIns="27432" anchor="t">
            <a:spAutoFit/>
          </a:bodyPr>
          <a:lstStyle/>
          <a:p>
            <a:pPr algn="l">
              <a:lnSpc>
                <a:spcPct val="100000"/>
              </a:lnSpc>
            </a:pPr>
            <a:r>
              <a:rPr sz="850" b="0" i="0">
                <a:solidFill>
                  <a:srgbClr val="666666"/>
                </a:solidFill>
                <a:latin typeface="Arial"/>
              </a:rPr>
              <a:t>Demande RGPD traitée</a:t>
            </a:r>
          </a:p>
        </p:txBody>
      </p:sp>
      <p:sp>
        <p:nvSpPr>
          <p:cNvPr id="47" name="TextBox 46"/>
          <p:cNvSpPr txBox="1"/>
          <p:nvPr/>
        </p:nvSpPr>
        <p:spPr>
          <a:xfrm>
            <a:off x="4754880" y="2697480"/>
            <a:ext cx="1728216" cy="237744"/>
          </a:xfrm>
          <a:prstGeom prst="rect">
            <a:avLst/>
          </a:prstGeom>
          <a:noFill/>
        </p:spPr>
        <p:txBody>
          <a:bodyPr wrap="square" lIns="54864" tIns="27432" rIns="54864" bIns="27432" anchor="t">
            <a:spAutoFit/>
          </a:bodyPr>
          <a:lstStyle/>
          <a:p>
            <a:pPr algn="l">
              <a:lnSpc>
                <a:spcPct val="100000"/>
              </a:lnSpc>
            </a:pPr>
            <a:r>
              <a:rPr sz="1200" b="1" i="0">
                <a:solidFill>
                  <a:srgbClr val="171717"/>
                </a:solidFill>
                <a:latin typeface="Arial"/>
              </a:rPr>
              <a:t>&lt; 30 j</a:t>
            </a:r>
          </a:p>
        </p:txBody>
      </p:sp>
      <p:sp>
        <p:nvSpPr>
          <p:cNvPr id="48" name="Rounded Rectangle 47"/>
          <p:cNvSpPr/>
          <p:nvPr/>
        </p:nvSpPr>
        <p:spPr>
          <a:xfrm>
            <a:off x="4645152" y="3035808"/>
            <a:ext cx="1947672" cy="493776"/>
          </a:xfrm>
          <a:prstGeom prst="roundRect">
            <a:avLst>
              <a:gd name="adj" fmla="val 1157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754880" y="3081528"/>
            <a:ext cx="1728216" cy="219456"/>
          </a:xfrm>
          <a:prstGeom prst="rect">
            <a:avLst/>
          </a:prstGeom>
          <a:noFill/>
        </p:spPr>
        <p:txBody>
          <a:bodyPr wrap="square" lIns="54864" tIns="27432" rIns="54864" bIns="27432" anchor="t">
            <a:spAutoFit/>
          </a:bodyPr>
          <a:lstStyle/>
          <a:p>
            <a:pPr algn="l">
              <a:lnSpc>
                <a:spcPct val="100000"/>
              </a:lnSpc>
            </a:pPr>
            <a:r>
              <a:rPr sz="850" b="0" i="0">
                <a:solidFill>
                  <a:srgbClr val="666666"/>
                </a:solidFill>
                <a:latin typeface="Arial"/>
              </a:rPr>
              <a:t>Chiffrement</a:t>
            </a:r>
          </a:p>
        </p:txBody>
      </p:sp>
      <p:sp>
        <p:nvSpPr>
          <p:cNvPr id="50" name="TextBox 49"/>
          <p:cNvSpPr txBox="1"/>
          <p:nvPr/>
        </p:nvSpPr>
        <p:spPr>
          <a:xfrm>
            <a:off x="4754880" y="3264408"/>
            <a:ext cx="1728216" cy="237744"/>
          </a:xfrm>
          <a:prstGeom prst="rect">
            <a:avLst/>
          </a:prstGeom>
          <a:noFill/>
        </p:spPr>
        <p:txBody>
          <a:bodyPr wrap="square" lIns="54864" tIns="27432" rIns="54864" bIns="27432" anchor="t">
            <a:spAutoFit/>
          </a:bodyPr>
          <a:lstStyle/>
          <a:p>
            <a:pPr algn="l">
              <a:lnSpc>
                <a:spcPct val="100000"/>
              </a:lnSpc>
            </a:pPr>
            <a:r>
              <a:rPr sz="1200" b="1" i="0">
                <a:solidFill>
                  <a:srgbClr val="171717"/>
                </a:solidFill>
                <a:latin typeface="Arial"/>
              </a:rPr>
              <a:t>100 %</a:t>
            </a:r>
          </a:p>
        </p:txBody>
      </p:sp>
      <p:sp>
        <p:nvSpPr>
          <p:cNvPr id="51" name="Rounded Rectangle 50"/>
          <p:cNvSpPr/>
          <p:nvPr/>
        </p:nvSpPr>
        <p:spPr>
          <a:xfrm>
            <a:off x="6739128" y="1463040"/>
            <a:ext cx="1947672" cy="347472"/>
          </a:xfrm>
          <a:prstGeom prst="roundRect">
            <a:avLst>
              <a:gd name="adj" fmla="val 16447"/>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6739128" y="1463040"/>
            <a:ext cx="1947672" cy="347472"/>
          </a:xfrm>
          <a:prstGeom prst="rect">
            <a:avLst/>
          </a:prstGeom>
          <a:noFill/>
        </p:spPr>
        <p:txBody>
          <a:bodyPr wrap="square" lIns="54864" tIns="27432" rIns="54864" bIns="27432" anchor="ctr">
            <a:spAutoFit/>
          </a:bodyPr>
          <a:lstStyle/>
          <a:p>
            <a:pPr algn="ctr">
              <a:lnSpc>
                <a:spcPct val="100000"/>
              </a:lnSpc>
            </a:pPr>
            <a:r>
              <a:rPr sz="900" b="1" i="0">
                <a:solidFill>
                  <a:srgbClr val="FFFFFF"/>
                </a:solidFill>
                <a:latin typeface="Arial"/>
              </a:rPr>
              <a:t>SOBRIÉTÉ &amp; COÛT</a:t>
            </a:r>
          </a:p>
        </p:txBody>
      </p:sp>
      <p:sp>
        <p:nvSpPr>
          <p:cNvPr id="53" name="Rounded Rectangle 52"/>
          <p:cNvSpPr/>
          <p:nvPr/>
        </p:nvSpPr>
        <p:spPr>
          <a:xfrm>
            <a:off x="6739128" y="1901952"/>
            <a:ext cx="1947672" cy="493776"/>
          </a:xfrm>
          <a:prstGeom prst="roundRect">
            <a:avLst>
              <a:gd name="adj" fmla="val 1157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6848856" y="1947672"/>
            <a:ext cx="1728216" cy="219456"/>
          </a:xfrm>
          <a:prstGeom prst="rect">
            <a:avLst/>
          </a:prstGeom>
          <a:noFill/>
        </p:spPr>
        <p:txBody>
          <a:bodyPr wrap="square" lIns="54864" tIns="27432" rIns="54864" bIns="27432" anchor="t">
            <a:spAutoFit/>
          </a:bodyPr>
          <a:lstStyle/>
          <a:p>
            <a:pPr algn="l">
              <a:lnSpc>
                <a:spcPct val="100000"/>
              </a:lnSpc>
            </a:pPr>
            <a:r>
              <a:rPr sz="850" b="0" i="0">
                <a:solidFill>
                  <a:srgbClr val="666666"/>
                </a:solidFill>
                <a:latin typeface="Arial"/>
              </a:rPr>
              <a:t>Puissance du cluster</a:t>
            </a:r>
          </a:p>
        </p:txBody>
      </p:sp>
      <p:sp>
        <p:nvSpPr>
          <p:cNvPr id="55" name="TextBox 54"/>
          <p:cNvSpPr txBox="1"/>
          <p:nvPr/>
        </p:nvSpPr>
        <p:spPr>
          <a:xfrm>
            <a:off x="6848856" y="2130552"/>
            <a:ext cx="1728216" cy="237744"/>
          </a:xfrm>
          <a:prstGeom prst="rect">
            <a:avLst/>
          </a:prstGeom>
          <a:noFill/>
        </p:spPr>
        <p:txBody>
          <a:bodyPr wrap="square" lIns="54864" tIns="27432" rIns="54864" bIns="27432" anchor="t">
            <a:spAutoFit/>
          </a:bodyPr>
          <a:lstStyle/>
          <a:p>
            <a:pPr algn="l">
              <a:lnSpc>
                <a:spcPct val="100000"/>
              </a:lnSpc>
            </a:pPr>
            <a:r>
              <a:rPr sz="1200" b="1" i="0">
                <a:solidFill>
                  <a:srgbClr val="171717"/>
                </a:solidFill>
                <a:latin typeface="Arial"/>
              </a:rPr>
              <a:t>&lt; 200 W</a:t>
            </a:r>
          </a:p>
        </p:txBody>
      </p:sp>
      <p:sp>
        <p:nvSpPr>
          <p:cNvPr id="56" name="Rounded Rectangle 55"/>
          <p:cNvSpPr/>
          <p:nvPr/>
        </p:nvSpPr>
        <p:spPr>
          <a:xfrm>
            <a:off x="6739128" y="2468880"/>
            <a:ext cx="1947672" cy="493776"/>
          </a:xfrm>
          <a:prstGeom prst="roundRect">
            <a:avLst>
              <a:gd name="adj" fmla="val 1157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6848856" y="2514600"/>
            <a:ext cx="1728216" cy="219456"/>
          </a:xfrm>
          <a:prstGeom prst="rect">
            <a:avLst/>
          </a:prstGeom>
          <a:noFill/>
        </p:spPr>
        <p:txBody>
          <a:bodyPr wrap="square" lIns="54864" tIns="27432" rIns="54864" bIns="27432" anchor="t">
            <a:spAutoFit/>
          </a:bodyPr>
          <a:lstStyle/>
          <a:p>
            <a:pPr algn="l">
              <a:lnSpc>
                <a:spcPct val="100000"/>
              </a:lnSpc>
            </a:pPr>
            <a:r>
              <a:rPr sz="850" b="0" i="0">
                <a:solidFill>
                  <a:srgbClr val="666666"/>
                </a:solidFill>
                <a:latin typeface="Arial"/>
              </a:rPr>
              <a:t>Coût mensuel</a:t>
            </a:r>
          </a:p>
        </p:txBody>
      </p:sp>
      <p:sp>
        <p:nvSpPr>
          <p:cNvPr id="58" name="TextBox 57"/>
          <p:cNvSpPr txBox="1"/>
          <p:nvPr/>
        </p:nvSpPr>
        <p:spPr>
          <a:xfrm>
            <a:off x="6848856" y="2697480"/>
            <a:ext cx="1728216" cy="237744"/>
          </a:xfrm>
          <a:prstGeom prst="rect">
            <a:avLst/>
          </a:prstGeom>
          <a:noFill/>
        </p:spPr>
        <p:txBody>
          <a:bodyPr wrap="square" lIns="54864" tIns="27432" rIns="54864" bIns="27432" anchor="t">
            <a:spAutoFit/>
          </a:bodyPr>
          <a:lstStyle/>
          <a:p>
            <a:pPr algn="l">
              <a:lnSpc>
                <a:spcPct val="100000"/>
              </a:lnSpc>
            </a:pPr>
            <a:r>
              <a:rPr sz="1200" b="1" i="0">
                <a:solidFill>
                  <a:srgbClr val="171717"/>
                </a:solidFill>
                <a:latin typeface="Arial"/>
              </a:rPr>
              <a:t>≤ 71 €</a:t>
            </a:r>
          </a:p>
        </p:txBody>
      </p:sp>
      <p:sp>
        <p:nvSpPr>
          <p:cNvPr id="59" name="Rounded Rectangle 58"/>
          <p:cNvSpPr/>
          <p:nvPr/>
        </p:nvSpPr>
        <p:spPr>
          <a:xfrm>
            <a:off x="6739128" y="3035808"/>
            <a:ext cx="1947672" cy="493776"/>
          </a:xfrm>
          <a:prstGeom prst="roundRect">
            <a:avLst>
              <a:gd name="adj" fmla="val 1157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848856" y="3081528"/>
            <a:ext cx="1728216" cy="219456"/>
          </a:xfrm>
          <a:prstGeom prst="rect">
            <a:avLst/>
          </a:prstGeom>
          <a:noFill/>
        </p:spPr>
        <p:txBody>
          <a:bodyPr wrap="square" lIns="54864" tIns="27432" rIns="54864" bIns="27432" anchor="t">
            <a:spAutoFit/>
          </a:bodyPr>
          <a:lstStyle/>
          <a:p>
            <a:pPr algn="l">
              <a:lnSpc>
                <a:spcPct val="100000"/>
              </a:lnSpc>
            </a:pPr>
            <a:r>
              <a:rPr sz="850" b="0" i="0">
                <a:solidFill>
                  <a:srgbClr val="666666"/>
                </a:solidFill>
                <a:latin typeface="Arial"/>
              </a:rPr>
              <a:t>Empreinte</a:t>
            </a:r>
          </a:p>
        </p:txBody>
      </p:sp>
      <p:sp>
        <p:nvSpPr>
          <p:cNvPr id="61" name="TextBox 60"/>
          <p:cNvSpPr txBox="1"/>
          <p:nvPr/>
        </p:nvSpPr>
        <p:spPr>
          <a:xfrm>
            <a:off x="6848856" y="3264408"/>
            <a:ext cx="1728216" cy="237744"/>
          </a:xfrm>
          <a:prstGeom prst="rect">
            <a:avLst/>
          </a:prstGeom>
          <a:noFill/>
        </p:spPr>
        <p:txBody>
          <a:bodyPr wrap="square" lIns="54864" tIns="27432" rIns="54864" bIns="27432" anchor="t">
            <a:spAutoFit/>
          </a:bodyPr>
          <a:lstStyle/>
          <a:p>
            <a:pPr algn="l">
              <a:lnSpc>
                <a:spcPct val="100000"/>
              </a:lnSpc>
            </a:pPr>
            <a:r>
              <a:rPr sz="1200" b="1" i="0">
                <a:solidFill>
                  <a:srgbClr val="171717"/>
                </a:solidFill>
                <a:latin typeface="Arial"/>
              </a:rPr>
              <a:t>380 g/kWh</a:t>
            </a:r>
          </a:p>
        </p:txBody>
      </p:sp>
      <p:sp>
        <p:nvSpPr>
          <p:cNvPr id="62" name="TextBox 61"/>
          <p:cNvSpPr txBox="1"/>
          <p:nvPr/>
        </p:nvSpPr>
        <p:spPr>
          <a:xfrm>
            <a:off x="457200" y="3639312"/>
            <a:ext cx="8229600" cy="219456"/>
          </a:xfrm>
          <a:prstGeom prst="rect">
            <a:avLst/>
          </a:prstGeom>
          <a:noFill/>
        </p:spPr>
        <p:txBody>
          <a:bodyPr wrap="square" lIns="54864" tIns="27432" rIns="54864" bIns="27432" anchor="t">
            <a:spAutoFit/>
          </a:bodyPr>
          <a:lstStyle/>
          <a:p>
            <a:pPr algn="l">
              <a:lnSpc>
                <a:spcPct val="100000"/>
              </a:lnSpc>
            </a:pPr>
            <a:r>
              <a:rPr sz="950" b="1" i="0">
                <a:solidFill>
                  <a:srgbClr val="171717"/>
                </a:solidFill>
                <a:latin typeface="Arial"/>
              </a:rPr>
              <a:t>Un indicateur sans source de mesure est une intention. Chacun a la sienne.</a:t>
            </a:r>
          </a:p>
        </p:txBody>
      </p:sp>
      <p:sp>
        <p:nvSpPr>
          <p:cNvPr id="63" name="Rectangle 62"/>
          <p:cNvSpPr/>
          <p:nvPr/>
        </p:nvSpPr>
        <p:spPr>
          <a:xfrm>
            <a:off x="457200" y="395020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ectangle 63"/>
          <p:cNvSpPr/>
          <p:nvPr/>
        </p:nvSpPr>
        <p:spPr>
          <a:xfrm>
            <a:off x="457200" y="3950208"/>
            <a:ext cx="548640" cy="9144"/>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457200" y="4023360"/>
            <a:ext cx="8229600" cy="201168"/>
          </a:xfrm>
          <a:prstGeom prst="rect">
            <a:avLst/>
          </a:prstGeom>
          <a:noFill/>
        </p:spPr>
        <p:txBody>
          <a:bodyPr wrap="square" lIns="54864" tIns="27432" rIns="54864" bIns="27432" anchor="t">
            <a:spAutoFit/>
          </a:bodyPr>
          <a:lstStyle/>
          <a:p>
            <a:pPr algn="l">
              <a:lnSpc>
                <a:spcPct val="100000"/>
              </a:lnSpc>
            </a:pPr>
            <a:r>
              <a:rPr sz="750" b="1" i="0" spc="120">
                <a:solidFill>
                  <a:srgbClr val="2F9E44"/>
                </a:solidFill>
                <a:latin typeface="Arial"/>
              </a:rPr>
              <a:t>MÉTRIQUES DORA, LA CHAÎNE DE LIVRAISON</a:t>
            </a:r>
          </a:p>
        </p:txBody>
      </p:sp>
      <p:sp>
        <p:nvSpPr>
          <p:cNvPr id="66" name="TextBox 65"/>
          <p:cNvSpPr txBox="1"/>
          <p:nvPr/>
        </p:nvSpPr>
        <p:spPr>
          <a:xfrm>
            <a:off x="457200" y="4224528"/>
            <a:ext cx="8229600" cy="274320"/>
          </a:xfrm>
          <a:prstGeom prst="rect">
            <a:avLst/>
          </a:prstGeom>
          <a:noFill/>
        </p:spPr>
        <p:txBody>
          <a:bodyPr wrap="square" lIns="54864" tIns="27432" rIns="54864" bIns="27432" anchor="t">
            <a:spAutoFit/>
          </a:bodyPr>
          <a:lstStyle/>
          <a:p>
            <a:pPr algn="l">
              <a:lnSpc>
                <a:spcPct val="105000"/>
              </a:lnSpc>
            </a:pPr>
            <a:r>
              <a:rPr sz="950" b="0" i="0">
                <a:solidFill>
                  <a:srgbClr val="666666"/>
                </a:solidFill>
                <a:latin typeface="Arial"/>
              </a:rPr>
              <a:t>fréquence de déploiement   ·   délai du commit à la production   ·   taux d’échec des changements   ·   délai de rétablissement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620000" y="0"/>
            <a:ext cx="1524000" cy="41148"/>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269480"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10144"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lIns="54864" tIns="27432" rIns="54864" bIns="27432" anchor="t">
            <a:spAutoFit/>
          </a:bodyPr>
          <a:lstStyle/>
          <a:p>
            <a:pPr algn="l">
              <a:lnSpc>
                <a:spcPct val="100000"/>
              </a:lnSpc>
            </a:pPr>
            <a:r>
              <a:rPr sz="750" b="1" i="0" spc="120">
                <a:solidFill>
                  <a:srgbClr val="2F9E44"/>
                </a:solidFill>
                <a:latin typeface="Arial"/>
              </a:rPr>
              <a:t>6 · RÉSULTATS ET CONCLUSION</a:t>
            </a:r>
          </a:p>
        </p:txBody>
      </p:sp>
      <p:sp>
        <p:nvSpPr>
          <p:cNvPr id="11" name="TextBox 10"/>
          <p:cNvSpPr txBox="1"/>
          <p:nvPr/>
        </p:nvSpPr>
        <p:spPr>
          <a:xfrm>
            <a:off x="457200" y="493776"/>
            <a:ext cx="6720840" cy="566928"/>
          </a:xfrm>
          <a:prstGeom prst="rect">
            <a:avLst/>
          </a:prstGeom>
          <a:noFill/>
        </p:spPr>
        <p:txBody>
          <a:bodyPr wrap="square" lIns="54864" tIns="27432" rIns="54864" bIns="27432" anchor="t">
            <a:spAutoFit/>
          </a:bodyPr>
          <a:lstStyle/>
          <a:p>
            <a:pPr algn="l">
              <a:lnSpc>
                <a:spcPct val="100000"/>
              </a:lnSpc>
            </a:pPr>
            <a:r>
              <a:rPr sz="2400" b="1" i="0" spc="-84">
                <a:solidFill>
                  <a:srgbClr val="171717"/>
                </a:solidFill>
                <a:latin typeface="Arial"/>
              </a:rPr>
              <a:t>Sécurité, conformité et continuité</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26679" y="4832604"/>
            <a:ext cx="1143000" cy="237744"/>
          </a:xfrm>
          <a:prstGeom prst="rect">
            <a:avLst/>
          </a:prstGeom>
          <a:noFill/>
        </p:spPr>
        <p:txBody>
          <a:bodyPr wrap="square" lIns="54864" tIns="27432" rIns="54864" bIns="27432" anchor="t">
            <a:spAutoFit/>
          </a:bodyPr>
          <a:lstStyle/>
          <a:p>
            <a:pPr algn="r">
              <a:lnSpc>
                <a:spcPct val="100000"/>
              </a:lnSpc>
            </a:pPr>
            <a:r>
              <a:rPr sz="800" b="0" i="0">
                <a:solidFill>
                  <a:srgbClr val="A1A1A1"/>
                </a:solidFill>
                <a:latin typeface="Arial"/>
              </a:rPr>
              <a:t>28 / 31</a:t>
            </a:r>
          </a:p>
        </p:txBody>
      </p:sp>
      <p:sp>
        <p:nvSpPr>
          <p:cNvPr id="14" name="Rounded Rectangle 13"/>
          <p:cNvSpPr/>
          <p:nvPr/>
        </p:nvSpPr>
        <p:spPr>
          <a:xfrm>
            <a:off x="457200" y="4818888"/>
            <a:ext cx="1369771" cy="228600"/>
          </a:xfrm>
          <a:prstGeom prst="roundRect">
            <a:avLst>
              <a:gd name="adj" fmla="val 25000"/>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4818888"/>
            <a:ext cx="1369771" cy="228600"/>
          </a:xfrm>
          <a:prstGeom prst="rect">
            <a:avLst/>
          </a:prstGeom>
          <a:noFill/>
        </p:spPr>
        <p:txBody>
          <a:bodyPr wrap="square" lIns="54864" tIns="27432" rIns="54864" bIns="27432" anchor="ctr">
            <a:spAutoFit/>
          </a:bodyPr>
          <a:lstStyle/>
          <a:p>
            <a:pPr algn="ctr">
              <a:lnSpc>
                <a:spcPct val="100000"/>
              </a:lnSpc>
            </a:pPr>
            <a:r>
              <a:rPr sz="750" b="1" i="0">
                <a:solidFill>
                  <a:srgbClr val="FFFFFF"/>
                </a:solidFill>
                <a:latin typeface="Arial"/>
              </a:rPr>
              <a:t>Réf.  C25 · C29 · C31</a:t>
            </a:r>
          </a:p>
        </p:txBody>
      </p:sp>
      <p:sp>
        <p:nvSpPr>
          <p:cNvPr id="16" name="TextBox 15"/>
          <p:cNvSpPr txBox="1"/>
          <p:nvPr/>
        </p:nvSpPr>
        <p:spPr>
          <a:xfrm>
            <a:off x="1918411" y="4818888"/>
            <a:ext cx="5486400" cy="228600"/>
          </a:xfrm>
          <a:prstGeom prst="rect">
            <a:avLst/>
          </a:prstGeom>
          <a:noFill/>
        </p:spPr>
        <p:txBody>
          <a:bodyPr wrap="square" lIns="54864" tIns="27432" rIns="54864" bIns="27432" anchor="ctr">
            <a:spAutoFit/>
          </a:bodyPr>
          <a:lstStyle/>
          <a:p>
            <a:pPr algn="l">
              <a:lnSpc>
                <a:spcPct val="100000"/>
              </a:lnSpc>
            </a:pPr>
            <a:r>
              <a:rPr sz="750" b="0" i="0">
                <a:solidFill>
                  <a:srgbClr val="A1A1A1"/>
                </a:solidFill>
                <a:latin typeface="Arial"/>
              </a:rPr>
              <a:t>BC3, BC4C · mémoire 12.3, 12.4 · annexes R, S, U</a:t>
            </a:r>
          </a:p>
        </p:txBody>
      </p:sp>
      <p:sp>
        <p:nvSpPr>
          <p:cNvPr id="17" name="TextBox 16"/>
          <p:cNvSpPr txBox="1"/>
          <p:nvPr/>
        </p:nvSpPr>
        <p:spPr>
          <a:xfrm>
            <a:off x="457200" y="1225296"/>
            <a:ext cx="457200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DÉFENSE EN PROFONDEUR, QUATRE COUCHES EMBOÎTÉES</a:t>
            </a:r>
          </a:p>
        </p:txBody>
      </p:sp>
      <p:sp>
        <p:nvSpPr>
          <p:cNvPr id="18" name="Rounded Rectangle 17"/>
          <p:cNvSpPr/>
          <p:nvPr/>
        </p:nvSpPr>
        <p:spPr>
          <a:xfrm>
            <a:off x="457200" y="1463040"/>
            <a:ext cx="4572000" cy="2432304"/>
          </a:xfrm>
          <a:prstGeom prst="roundRect">
            <a:avLst>
              <a:gd name="adj" fmla="val 2349"/>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85216" y="1508760"/>
            <a:ext cx="4315968"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PÉRIPHÉRIE</a:t>
            </a:r>
          </a:p>
        </p:txBody>
      </p:sp>
      <p:sp>
        <p:nvSpPr>
          <p:cNvPr id="20" name="TextBox 19"/>
          <p:cNvSpPr txBox="1"/>
          <p:nvPr/>
        </p:nvSpPr>
        <p:spPr>
          <a:xfrm>
            <a:off x="2286000" y="1508760"/>
            <a:ext cx="2615184" cy="201168"/>
          </a:xfrm>
          <a:prstGeom prst="rect">
            <a:avLst/>
          </a:prstGeom>
          <a:noFill/>
        </p:spPr>
        <p:txBody>
          <a:bodyPr wrap="square" lIns="54864" tIns="27432" rIns="54864" bIns="27432" anchor="t">
            <a:spAutoFit/>
          </a:bodyPr>
          <a:lstStyle/>
          <a:p>
            <a:pPr algn="r">
              <a:lnSpc>
                <a:spcPct val="100000"/>
              </a:lnSpc>
            </a:pPr>
            <a:r>
              <a:rPr sz="800" b="0" i="0">
                <a:solidFill>
                  <a:srgbClr val="666666"/>
                </a:solidFill>
                <a:latin typeface="Arial"/>
              </a:rPr>
              <a:t>Cloudflare, TLS strict, anti-volumétrique</a:t>
            </a:r>
          </a:p>
        </p:txBody>
      </p:sp>
      <p:sp>
        <p:nvSpPr>
          <p:cNvPr id="21" name="Rounded Rectangle 20"/>
          <p:cNvSpPr/>
          <p:nvPr/>
        </p:nvSpPr>
        <p:spPr>
          <a:xfrm>
            <a:off x="786384" y="1810512"/>
            <a:ext cx="3913632" cy="1773936"/>
          </a:xfrm>
          <a:prstGeom prst="roundRect">
            <a:avLst>
              <a:gd name="adj" fmla="val 3221"/>
            </a:avLst>
          </a:prstGeom>
          <a:solidFill>
            <a:srgbClr val="FAFAFA"/>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14400" y="1856231"/>
            <a:ext cx="365760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RÉSEAU</a:t>
            </a:r>
          </a:p>
        </p:txBody>
      </p:sp>
      <p:sp>
        <p:nvSpPr>
          <p:cNvPr id="23" name="TextBox 22"/>
          <p:cNvSpPr txBox="1"/>
          <p:nvPr/>
        </p:nvSpPr>
        <p:spPr>
          <a:xfrm>
            <a:off x="1956816" y="1856231"/>
            <a:ext cx="2615184" cy="201168"/>
          </a:xfrm>
          <a:prstGeom prst="rect">
            <a:avLst/>
          </a:prstGeom>
          <a:noFill/>
        </p:spPr>
        <p:txBody>
          <a:bodyPr wrap="square" lIns="54864" tIns="27432" rIns="54864" bIns="27432" anchor="t">
            <a:spAutoFit/>
          </a:bodyPr>
          <a:lstStyle/>
          <a:p>
            <a:pPr algn="r">
              <a:lnSpc>
                <a:spcPct val="100000"/>
              </a:lnSpc>
            </a:pPr>
            <a:r>
              <a:rPr sz="800" b="0" i="0">
                <a:solidFill>
                  <a:srgbClr val="666666"/>
                </a:solidFill>
                <a:latin typeface="Arial"/>
              </a:rPr>
              <a:t>5 réseaux cloisonnés, socket Docker filtré</a:t>
            </a:r>
          </a:p>
        </p:txBody>
      </p:sp>
      <p:sp>
        <p:nvSpPr>
          <p:cNvPr id="24" name="Rounded Rectangle 23"/>
          <p:cNvSpPr/>
          <p:nvPr/>
        </p:nvSpPr>
        <p:spPr>
          <a:xfrm>
            <a:off x="1115568" y="2157984"/>
            <a:ext cx="3255264" cy="1115568"/>
          </a:xfrm>
          <a:prstGeom prst="roundRect">
            <a:avLst>
              <a:gd name="adj" fmla="val 5122"/>
            </a:avLst>
          </a:prstGeom>
          <a:solidFill>
            <a:srgbClr val="F4F4F5"/>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243584" y="2203703"/>
            <a:ext cx="2999232"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APPLICATION</a:t>
            </a:r>
          </a:p>
        </p:txBody>
      </p:sp>
      <p:sp>
        <p:nvSpPr>
          <p:cNvPr id="26" name="TextBox 25"/>
          <p:cNvSpPr txBox="1"/>
          <p:nvPr/>
        </p:nvSpPr>
        <p:spPr>
          <a:xfrm>
            <a:off x="1627632" y="2203703"/>
            <a:ext cx="2615184" cy="201168"/>
          </a:xfrm>
          <a:prstGeom prst="rect">
            <a:avLst/>
          </a:prstGeom>
          <a:noFill/>
        </p:spPr>
        <p:txBody>
          <a:bodyPr wrap="square" lIns="54864" tIns="27432" rIns="54864" bIns="27432" anchor="t">
            <a:spAutoFit/>
          </a:bodyPr>
          <a:lstStyle/>
          <a:p>
            <a:pPr algn="r">
              <a:lnSpc>
                <a:spcPct val="100000"/>
              </a:lnSpc>
            </a:pPr>
            <a:r>
              <a:rPr sz="800" b="0" i="0">
                <a:solidFill>
                  <a:srgbClr val="666666"/>
                </a:solidFill>
                <a:latin typeface="Arial"/>
              </a:rPr>
              <a:t>OWASP, sessions opaques, limitation de débit</a:t>
            </a:r>
          </a:p>
        </p:txBody>
      </p:sp>
      <p:sp>
        <p:nvSpPr>
          <p:cNvPr id="27" name="Rounded Rectangle 26"/>
          <p:cNvSpPr/>
          <p:nvPr/>
        </p:nvSpPr>
        <p:spPr>
          <a:xfrm>
            <a:off x="1444752" y="2505456"/>
            <a:ext cx="2596896" cy="457200"/>
          </a:xfrm>
          <a:prstGeom prst="roundRect">
            <a:avLst>
              <a:gd name="adj" fmla="val 12500"/>
            </a:avLst>
          </a:prstGeom>
          <a:solidFill>
            <a:srgbClr val="DEE2E6"/>
          </a:solidFill>
          <a:ln w="9525">
            <a:solidFill>
              <a:srgbClr val="D4D4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572768" y="2551176"/>
            <a:ext cx="2340863" cy="201168"/>
          </a:xfrm>
          <a:prstGeom prst="rect">
            <a:avLst/>
          </a:prstGeom>
          <a:noFill/>
        </p:spPr>
        <p:txBody>
          <a:bodyPr wrap="square" lIns="54864" tIns="27432" rIns="54864" bIns="27432" anchor="t">
            <a:spAutoFit/>
          </a:bodyPr>
          <a:lstStyle/>
          <a:p>
            <a:pPr algn="l">
              <a:lnSpc>
                <a:spcPct val="100000"/>
              </a:lnSpc>
            </a:pPr>
            <a:r>
              <a:rPr sz="750" b="1" i="0" spc="120">
                <a:solidFill>
                  <a:srgbClr val="171717"/>
                </a:solidFill>
                <a:latin typeface="Arial"/>
              </a:rPr>
              <a:t>DONNÉES</a:t>
            </a:r>
          </a:p>
        </p:txBody>
      </p:sp>
      <p:sp>
        <p:nvSpPr>
          <p:cNvPr id="29" name="TextBox 28"/>
          <p:cNvSpPr txBox="1"/>
          <p:nvPr/>
        </p:nvSpPr>
        <p:spPr>
          <a:xfrm>
            <a:off x="1572768" y="2734056"/>
            <a:ext cx="2340863" cy="201168"/>
          </a:xfrm>
          <a:prstGeom prst="rect">
            <a:avLst/>
          </a:prstGeom>
          <a:noFill/>
        </p:spPr>
        <p:txBody>
          <a:bodyPr wrap="square" lIns="54864" tIns="27432" rIns="54864" bIns="27432" anchor="t">
            <a:spAutoFit/>
          </a:bodyPr>
          <a:lstStyle/>
          <a:p>
            <a:pPr algn="l">
              <a:lnSpc>
                <a:spcPct val="100000"/>
              </a:lnSpc>
            </a:pPr>
            <a:r>
              <a:rPr sz="800" b="0" i="0">
                <a:solidFill>
                  <a:srgbClr val="666666"/>
                </a:solidFill>
                <a:latin typeface="Arial"/>
              </a:rPr>
              <a:t>Argon2id, AES-256, cascade RGPD</a:t>
            </a:r>
          </a:p>
        </p:txBody>
      </p:sp>
      <p:sp>
        <p:nvSpPr>
          <p:cNvPr id="30" name="Rounded Rectangle 29"/>
          <p:cNvSpPr/>
          <p:nvPr/>
        </p:nvSpPr>
        <p:spPr>
          <a:xfrm>
            <a:off x="5303520" y="1463040"/>
            <a:ext cx="3383280" cy="1152144"/>
          </a:xfrm>
          <a:prstGeom prst="roundRect">
            <a:avLst>
              <a:gd name="adj" fmla="val 496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504688" y="1517904"/>
            <a:ext cx="3017520" cy="219456"/>
          </a:xfrm>
          <a:prstGeom prst="rect">
            <a:avLst/>
          </a:prstGeom>
          <a:noFill/>
        </p:spPr>
        <p:txBody>
          <a:bodyPr wrap="square" lIns="54864" tIns="27432" rIns="54864" bIns="27432" anchor="t">
            <a:spAutoFit/>
          </a:bodyPr>
          <a:lstStyle/>
          <a:p>
            <a:pPr algn="l">
              <a:lnSpc>
                <a:spcPct val="100000"/>
              </a:lnSpc>
            </a:pPr>
            <a:r>
              <a:rPr sz="1000" b="1" i="0">
                <a:solidFill>
                  <a:srgbClr val="171717"/>
                </a:solidFill>
                <a:latin typeface="Arial"/>
              </a:rPr>
              <a:t>Conformité documentée, écarts assumés</a:t>
            </a:r>
          </a:p>
        </p:txBody>
      </p:sp>
      <p:sp>
        <p:nvSpPr>
          <p:cNvPr id="32" name="TextBox 31"/>
          <p:cNvSpPr txBox="1"/>
          <p:nvPr/>
        </p:nvSpPr>
        <p:spPr>
          <a:xfrm>
            <a:off x="5504688" y="1755648"/>
            <a:ext cx="3017520" cy="804672"/>
          </a:xfrm>
          <a:prstGeom prst="rect">
            <a:avLst/>
          </a:prstGeom>
          <a:noFill/>
        </p:spPr>
        <p:txBody>
          <a:bodyPr wrap="square" lIns="54864" tIns="27432" rIns="54864" bIns="27432" anchor="t">
            <a:spAutoFit/>
          </a:bodyPr>
          <a:lstStyle/>
          <a:p>
            <a:pPr algn="l">
              <a:lnSpc>
                <a:spcPct val="104000"/>
              </a:lnSpc>
            </a:pPr>
            <a:r>
              <a:rPr sz="900" b="0" i="0">
                <a:solidFill>
                  <a:srgbClr val="666666"/>
                </a:solidFill>
                <a:latin typeface="Arial"/>
              </a:rPr>
              <a:t>ISO 27001 version 2022, contrôles couverts, partiels et hors périmètre. RGPD, hébergement européen. NIS 2 et IA Act en veille.</a:t>
            </a:r>
          </a:p>
        </p:txBody>
      </p:sp>
      <p:sp>
        <p:nvSpPr>
          <p:cNvPr id="33" name="Rounded Rectangle 32"/>
          <p:cNvSpPr/>
          <p:nvPr/>
        </p:nvSpPr>
        <p:spPr>
          <a:xfrm>
            <a:off x="5303520" y="2743200"/>
            <a:ext cx="3383280" cy="1152144"/>
          </a:xfrm>
          <a:prstGeom prst="roundRect">
            <a:avLst>
              <a:gd name="adj" fmla="val 496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504688" y="2798064"/>
            <a:ext cx="3017520" cy="219456"/>
          </a:xfrm>
          <a:prstGeom prst="rect">
            <a:avLst/>
          </a:prstGeom>
          <a:noFill/>
        </p:spPr>
        <p:txBody>
          <a:bodyPr wrap="square" lIns="54864" tIns="27432" rIns="54864" bIns="27432" anchor="t">
            <a:spAutoFit/>
          </a:bodyPr>
          <a:lstStyle/>
          <a:p>
            <a:pPr algn="l">
              <a:lnSpc>
                <a:spcPct val="100000"/>
              </a:lnSpc>
            </a:pPr>
            <a:r>
              <a:rPr sz="1000" b="1" i="0">
                <a:solidFill>
                  <a:srgbClr val="171717"/>
                </a:solidFill>
                <a:latin typeface="Arial"/>
              </a:rPr>
              <a:t>Continuité éprouvée, pas déclarée</a:t>
            </a:r>
          </a:p>
        </p:txBody>
      </p:sp>
      <p:sp>
        <p:nvSpPr>
          <p:cNvPr id="35" name="TextBox 34"/>
          <p:cNvSpPr txBox="1"/>
          <p:nvPr/>
        </p:nvSpPr>
        <p:spPr>
          <a:xfrm>
            <a:off x="5504688" y="3035808"/>
            <a:ext cx="3017520" cy="804672"/>
          </a:xfrm>
          <a:prstGeom prst="rect">
            <a:avLst/>
          </a:prstGeom>
          <a:noFill/>
        </p:spPr>
        <p:txBody>
          <a:bodyPr wrap="square" lIns="54864" tIns="27432" rIns="54864" bIns="27432" anchor="t">
            <a:spAutoFit/>
          </a:bodyPr>
          <a:lstStyle/>
          <a:p>
            <a:pPr algn="l">
              <a:lnSpc>
                <a:spcPct val="104000"/>
              </a:lnSpc>
            </a:pPr>
            <a:r>
              <a:rPr sz="900" b="0" i="0">
                <a:solidFill>
                  <a:srgbClr val="666666"/>
                </a:solidFill>
                <a:latin typeface="Arial"/>
              </a:rPr>
              <a:t>sauvegardes toutes les 6 h, empreinte vérifiée, verrou d’écriture. Le plan de reprise reconstruit par le code.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620000" y="0"/>
            <a:ext cx="1524000" cy="41148"/>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269480"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10144"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lIns="54864" tIns="27432" rIns="54864" bIns="27432" anchor="t">
            <a:spAutoFit/>
          </a:bodyPr>
          <a:lstStyle/>
          <a:p>
            <a:pPr algn="l">
              <a:lnSpc>
                <a:spcPct val="100000"/>
              </a:lnSpc>
            </a:pPr>
            <a:r>
              <a:rPr sz="750" b="1" i="0" spc="120">
                <a:solidFill>
                  <a:srgbClr val="2F9E44"/>
                </a:solidFill>
                <a:latin typeface="Arial"/>
              </a:rPr>
              <a:t>6 · RÉSULTATS ET CONCLUSION</a:t>
            </a:r>
          </a:p>
        </p:txBody>
      </p:sp>
      <p:sp>
        <p:nvSpPr>
          <p:cNvPr id="11" name="TextBox 10"/>
          <p:cNvSpPr txBox="1"/>
          <p:nvPr/>
        </p:nvSpPr>
        <p:spPr>
          <a:xfrm>
            <a:off x="457200" y="493776"/>
            <a:ext cx="6720840" cy="566928"/>
          </a:xfrm>
          <a:prstGeom prst="rect">
            <a:avLst/>
          </a:prstGeom>
          <a:noFill/>
        </p:spPr>
        <p:txBody>
          <a:bodyPr wrap="square" lIns="54864" tIns="27432" rIns="54864" bIns="27432" anchor="t">
            <a:spAutoFit/>
          </a:bodyPr>
          <a:lstStyle/>
          <a:p>
            <a:pPr algn="l">
              <a:lnSpc>
                <a:spcPct val="100000"/>
              </a:lnSpc>
            </a:pPr>
            <a:r>
              <a:rPr sz="2400" b="1" i="0" spc="-84">
                <a:solidFill>
                  <a:srgbClr val="171717"/>
                </a:solidFill>
                <a:latin typeface="Arial"/>
              </a:rPr>
              <a:t>Résultats et retour d’expérience</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26679" y="4832604"/>
            <a:ext cx="1143000" cy="237744"/>
          </a:xfrm>
          <a:prstGeom prst="rect">
            <a:avLst/>
          </a:prstGeom>
          <a:noFill/>
        </p:spPr>
        <p:txBody>
          <a:bodyPr wrap="square" lIns="54864" tIns="27432" rIns="54864" bIns="27432" anchor="t">
            <a:spAutoFit/>
          </a:bodyPr>
          <a:lstStyle/>
          <a:p>
            <a:pPr algn="r">
              <a:lnSpc>
                <a:spcPct val="100000"/>
              </a:lnSpc>
            </a:pPr>
            <a:r>
              <a:rPr sz="800" b="0" i="0">
                <a:solidFill>
                  <a:srgbClr val="A1A1A1"/>
                </a:solidFill>
                <a:latin typeface="Arial"/>
              </a:rPr>
              <a:t>29 / 31</a:t>
            </a:r>
          </a:p>
        </p:txBody>
      </p:sp>
      <p:sp>
        <p:nvSpPr>
          <p:cNvPr id="14" name="Rounded Rectangle 13"/>
          <p:cNvSpPr/>
          <p:nvPr/>
        </p:nvSpPr>
        <p:spPr>
          <a:xfrm>
            <a:off x="457200" y="4818888"/>
            <a:ext cx="733348" cy="228600"/>
          </a:xfrm>
          <a:prstGeom prst="roundRect">
            <a:avLst>
              <a:gd name="adj" fmla="val 25000"/>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4818888"/>
            <a:ext cx="733348" cy="228600"/>
          </a:xfrm>
          <a:prstGeom prst="rect">
            <a:avLst/>
          </a:prstGeom>
          <a:noFill/>
        </p:spPr>
        <p:txBody>
          <a:bodyPr wrap="square" lIns="54864" tIns="27432" rIns="54864" bIns="27432" anchor="ctr">
            <a:spAutoFit/>
          </a:bodyPr>
          <a:lstStyle/>
          <a:p>
            <a:pPr algn="ctr">
              <a:lnSpc>
                <a:spcPct val="100000"/>
              </a:lnSpc>
            </a:pPr>
            <a:r>
              <a:rPr sz="750" b="1" i="0">
                <a:solidFill>
                  <a:srgbClr val="FFFFFF"/>
                </a:solidFill>
                <a:latin typeface="Arial"/>
              </a:rPr>
              <a:t>Réf.  C27</a:t>
            </a:r>
          </a:p>
        </p:txBody>
      </p:sp>
      <p:sp>
        <p:nvSpPr>
          <p:cNvPr id="16" name="TextBox 15"/>
          <p:cNvSpPr txBox="1"/>
          <p:nvPr/>
        </p:nvSpPr>
        <p:spPr>
          <a:xfrm>
            <a:off x="1281988" y="4818888"/>
            <a:ext cx="5486400" cy="228600"/>
          </a:xfrm>
          <a:prstGeom prst="rect">
            <a:avLst/>
          </a:prstGeom>
          <a:noFill/>
        </p:spPr>
        <p:txBody>
          <a:bodyPr wrap="square" lIns="54864" tIns="27432" rIns="54864" bIns="27432" anchor="ctr">
            <a:spAutoFit/>
          </a:bodyPr>
          <a:lstStyle/>
          <a:p>
            <a:pPr algn="l">
              <a:lnSpc>
                <a:spcPct val="100000"/>
              </a:lnSpc>
            </a:pPr>
            <a:r>
              <a:rPr sz="750" b="0" i="0">
                <a:solidFill>
                  <a:srgbClr val="A1A1A1"/>
                </a:solidFill>
                <a:latin typeface="Arial"/>
              </a:rPr>
              <a:t>BC3 · mémoire 18.1, 18.2</a:t>
            </a:r>
          </a:p>
        </p:txBody>
      </p:sp>
      <p:sp>
        <p:nvSpPr>
          <p:cNvPr id="17" name="TextBox 16"/>
          <p:cNvSpPr txBox="1"/>
          <p:nvPr/>
        </p:nvSpPr>
        <p:spPr>
          <a:xfrm>
            <a:off x="457200" y="1225296"/>
            <a:ext cx="484632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LES CINQ OBJECTIFS ET LEUR PREUVE</a:t>
            </a:r>
          </a:p>
        </p:txBody>
      </p:sp>
      <p:sp>
        <p:nvSpPr>
          <p:cNvPr id="18" name="Rounded Rectangle 17"/>
          <p:cNvSpPr/>
          <p:nvPr/>
        </p:nvSpPr>
        <p:spPr>
          <a:xfrm>
            <a:off x="457200" y="1463040"/>
            <a:ext cx="4846320" cy="457200"/>
          </a:xfrm>
          <a:prstGeom prst="roundRect">
            <a:avLst>
              <a:gd name="adj" fmla="val 12500"/>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457200" y="1463040"/>
            <a:ext cx="420624" cy="457200"/>
          </a:xfrm>
          <a:prstGeom prst="roundRect">
            <a:avLst>
              <a:gd name="adj" fmla="val 13586"/>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1463040"/>
            <a:ext cx="420624" cy="457200"/>
          </a:xfrm>
          <a:prstGeom prst="rect">
            <a:avLst/>
          </a:prstGeom>
          <a:noFill/>
        </p:spPr>
        <p:txBody>
          <a:bodyPr wrap="square" lIns="54864" tIns="27432" rIns="54864" bIns="27432" anchor="ctr">
            <a:spAutoFit/>
          </a:bodyPr>
          <a:lstStyle/>
          <a:p>
            <a:pPr algn="ctr">
              <a:lnSpc>
                <a:spcPct val="100000"/>
              </a:lnSpc>
            </a:pPr>
            <a:r>
              <a:rPr sz="900" b="1" i="0">
                <a:solidFill>
                  <a:srgbClr val="FFFFFF"/>
                </a:solidFill>
                <a:latin typeface="Arial"/>
              </a:rPr>
              <a:t>O1</a:t>
            </a:r>
          </a:p>
        </p:txBody>
      </p:sp>
      <p:sp>
        <p:nvSpPr>
          <p:cNvPr id="21" name="TextBox 20"/>
          <p:cNvSpPr txBox="1"/>
          <p:nvPr/>
        </p:nvSpPr>
        <p:spPr>
          <a:xfrm>
            <a:off x="987552" y="1463040"/>
            <a:ext cx="1645920" cy="457200"/>
          </a:xfrm>
          <a:prstGeom prst="rect">
            <a:avLst/>
          </a:prstGeom>
          <a:noFill/>
        </p:spPr>
        <p:txBody>
          <a:bodyPr wrap="square" lIns="54864" tIns="27432" rIns="54864" bIns="27432" anchor="ctr">
            <a:spAutoFit/>
          </a:bodyPr>
          <a:lstStyle/>
          <a:p>
            <a:pPr algn="l">
              <a:lnSpc>
                <a:spcPct val="100000"/>
              </a:lnSpc>
            </a:pPr>
            <a:r>
              <a:rPr sz="950" b="1" i="0">
                <a:solidFill>
                  <a:srgbClr val="171717"/>
                </a:solidFill>
                <a:latin typeface="Arial"/>
              </a:rPr>
              <a:t>Tout en code</a:t>
            </a:r>
          </a:p>
        </p:txBody>
      </p:sp>
      <p:sp>
        <p:nvSpPr>
          <p:cNvPr id="22" name="TextBox 21"/>
          <p:cNvSpPr txBox="1"/>
          <p:nvPr/>
        </p:nvSpPr>
        <p:spPr>
          <a:xfrm>
            <a:off x="2651760" y="1463040"/>
            <a:ext cx="2194560" cy="457200"/>
          </a:xfrm>
          <a:prstGeom prst="rect">
            <a:avLst/>
          </a:prstGeom>
          <a:noFill/>
        </p:spPr>
        <p:txBody>
          <a:bodyPr wrap="square" lIns="54864" tIns="27432" rIns="54864" bIns="27432" anchor="ctr">
            <a:spAutoFit/>
          </a:bodyPr>
          <a:lstStyle/>
          <a:p>
            <a:pPr algn="l">
              <a:lnSpc>
                <a:spcPct val="100000"/>
              </a:lnSpc>
            </a:pPr>
            <a:r>
              <a:rPr sz="900" b="0" i="0">
                <a:solidFill>
                  <a:srgbClr val="666666"/>
                </a:solidFill>
                <a:latin typeface="Arial"/>
              </a:rPr>
              <a:t>0 ressource hors du code</a:t>
            </a:r>
          </a:p>
        </p:txBody>
      </p:sp>
      <p:sp>
        <p:nvSpPr>
          <p:cNvPr id="23" name="TextBox 22"/>
          <p:cNvSpPr txBox="1"/>
          <p:nvPr/>
        </p:nvSpPr>
        <p:spPr>
          <a:xfrm>
            <a:off x="4846320" y="1463040"/>
            <a:ext cx="384048" cy="457200"/>
          </a:xfrm>
          <a:prstGeom prst="rect">
            <a:avLst/>
          </a:prstGeom>
          <a:noFill/>
        </p:spPr>
        <p:txBody>
          <a:bodyPr wrap="square" lIns="54864" tIns="27432" rIns="54864" bIns="27432" anchor="ctr">
            <a:spAutoFit/>
          </a:bodyPr>
          <a:lstStyle/>
          <a:p>
            <a:pPr algn="ctr">
              <a:lnSpc>
                <a:spcPct val="100000"/>
              </a:lnSpc>
            </a:pPr>
            <a:r>
              <a:rPr sz="1200" b="1" i="0">
                <a:solidFill>
                  <a:srgbClr val="2F9E44"/>
                </a:solidFill>
                <a:latin typeface="Arial"/>
              </a:rPr>
              <a:t>✓</a:t>
            </a:r>
          </a:p>
        </p:txBody>
      </p:sp>
      <p:sp>
        <p:nvSpPr>
          <p:cNvPr id="24" name="Rounded Rectangle 23"/>
          <p:cNvSpPr/>
          <p:nvPr/>
        </p:nvSpPr>
        <p:spPr>
          <a:xfrm>
            <a:off x="457200" y="1993392"/>
            <a:ext cx="4846320" cy="457200"/>
          </a:xfrm>
          <a:prstGeom prst="roundRect">
            <a:avLst>
              <a:gd name="adj" fmla="val 12500"/>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457200" y="1993392"/>
            <a:ext cx="420624" cy="457200"/>
          </a:xfrm>
          <a:prstGeom prst="roundRect">
            <a:avLst>
              <a:gd name="adj" fmla="val 13586"/>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57200" y="1993392"/>
            <a:ext cx="420624" cy="457200"/>
          </a:xfrm>
          <a:prstGeom prst="rect">
            <a:avLst/>
          </a:prstGeom>
          <a:noFill/>
        </p:spPr>
        <p:txBody>
          <a:bodyPr wrap="square" lIns="54864" tIns="27432" rIns="54864" bIns="27432" anchor="ctr">
            <a:spAutoFit/>
          </a:bodyPr>
          <a:lstStyle/>
          <a:p>
            <a:pPr algn="ctr">
              <a:lnSpc>
                <a:spcPct val="100000"/>
              </a:lnSpc>
            </a:pPr>
            <a:r>
              <a:rPr sz="900" b="1" i="0">
                <a:solidFill>
                  <a:srgbClr val="FFFFFF"/>
                </a:solidFill>
                <a:latin typeface="Arial"/>
              </a:rPr>
              <a:t>O2</a:t>
            </a:r>
          </a:p>
        </p:txBody>
      </p:sp>
      <p:sp>
        <p:nvSpPr>
          <p:cNvPr id="27" name="TextBox 26"/>
          <p:cNvSpPr txBox="1"/>
          <p:nvPr/>
        </p:nvSpPr>
        <p:spPr>
          <a:xfrm>
            <a:off x="987552" y="1993392"/>
            <a:ext cx="1645920" cy="457200"/>
          </a:xfrm>
          <a:prstGeom prst="rect">
            <a:avLst/>
          </a:prstGeom>
          <a:noFill/>
        </p:spPr>
        <p:txBody>
          <a:bodyPr wrap="square" lIns="54864" tIns="27432" rIns="54864" bIns="27432" anchor="ctr">
            <a:spAutoFit/>
          </a:bodyPr>
          <a:lstStyle/>
          <a:p>
            <a:pPr algn="l">
              <a:lnSpc>
                <a:spcPct val="100000"/>
              </a:lnSpc>
            </a:pPr>
            <a:r>
              <a:rPr sz="950" b="1" i="0">
                <a:solidFill>
                  <a:srgbClr val="171717"/>
                </a:solidFill>
                <a:latin typeface="Arial"/>
              </a:rPr>
              <a:t>Livrer sous contrôle</a:t>
            </a:r>
          </a:p>
        </p:txBody>
      </p:sp>
      <p:sp>
        <p:nvSpPr>
          <p:cNvPr id="28" name="TextBox 27"/>
          <p:cNvSpPr txBox="1"/>
          <p:nvPr/>
        </p:nvSpPr>
        <p:spPr>
          <a:xfrm>
            <a:off x="2651760" y="1993392"/>
            <a:ext cx="2194560" cy="457200"/>
          </a:xfrm>
          <a:prstGeom prst="rect">
            <a:avLst/>
          </a:prstGeom>
          <a:noFill/>
        </p:spPr>
        <p:txBody>
          <a:bodyPr wrap="square" lIns="54864" tIns="27432" rIns="54864" bIns="27432" anchor="ctr">
            <a:spAutoFit/>
          </a:bodyPr>
          <a:lstStyle/>
          <a:p>
            <a:pPr algn="l">
              <a:lnSpc>
                <a:spcPct val="100000"/>
              </a:lnSpc>
            </a:pPr>
            <a:r>
              <a:rPr sz="900" b="0" i="0">
                <a:solidFill>
                  <a:srgbClr val="666666"/>
                </a:solidFill>
                <a:latin typeface="Arial"/>
              </a:rPr>
              <a:t>4 portes bloquantes</a:t>
            </a:r>
          </a:p>
        </p:txBody>
      </p:sp>
      <p:sp>
        <p:nvSpPr>
          <p:cNvPr id="29" name="TextBox 28"/>
          <p:cNvSpPr txBox="1"/>
          <p:nvPr/>
        </p:nvSpPr>
        <p:spPr>
          <a:xfrm>
            <a:off x="4846320" y="1993392"/>
            <a:ext cx="384048" cy="457200"/>
          </a:xfrm>
          <a:prstGeom prst="rect">
            <a:avLst/>
          </a:prstGeom>
          <a:noFill/>
        </p:spPr>
        <p:txBody>
          <a:bodyPr wrap="square" lIns="54864" tIns="27432" rIns="54864" bIns="27432" anchor="ctr">
            <a:spAutoFit/>
          </a:bodyPr>
          <a:lstStyle/>
          <a:p>
            <a:pPr algn="ctr">
              <a:lnSpc>
                <a:spcPct val="100000"/>
              </a:lnSpc>
            </a:pPr>
            <a:r>
              <a:rPr sz="1200" b="1" i="0">
                <a:solidFill>
                  <a:srgbClr val="2F9E44"/>
                </a:solidFill>
                <a:latin typeface="Arial"/>
              </a:rPr>
              <a:t>✓</a:t>
            </a:r>
          </a:p>
        </p:txBody>
      </p:sp>
      <p:sp>
        <p:nvSpPr>
          <p:cNvPr id="30" name="Rounded Rectangle 29"/>
          <p:cNvSpPr/>
          <p:nvPr/>
        </p:nvSpPr>
        <p:spPr>
          <a:xfrm>
            <a:off x="457200" y="2523744"/>
            <a:ext cx="4846320" cy="457200"/>
          </a:xfrm>
          <a:prstGeom prst="roundRect">
            <a:avLst>
              <a:gd name="adj" fmla="val 12500"/>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457200" y="2523744"/>
            <a:ext cx="420624" cy="457200"/>
          </a:xfrm>
          <a:prstGeom prst="roundRect">
            <a:avLst>
              <a:gd name="adj" fmla="val 13586"/>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7200" y="2523744"/>
            <a:ext cx="420624" cy="457200"/>
          </a:xfrm>
          <a:prstGeom prst="rect">
            <a:avLst/>
          </a:prstGeom>
          <a:noFill/>
        </p:spPr>
        <p:txBody>
          <a:bodyPr wrap="square" lIns="54864" tIns="27432" rIns="54864" bIns="27432" anchor="ctr">
            <a:spAutoFit/>
          </a:bodyPr>
          <a:lstStyle/>
          <a:p>
            <a:pPr algn="ctr">
              <a:lnSpc>
                <a:spcPct val="100000"/>
              </a:lnSpc>
            </a:pPr>
            <a:r>
              <a:rPr sz="900" b="1" i="0">
                <a:solidFill>
                  <a:srgbClr val="FFFFFF"/>
                </a:solidFill>
                <a:latin typeface="Arial"/>
              </a:rPr>
              <a:t>O3</a:t>
            </a:r>
          </a:p>
        </p:txBody>
      </p:sp>
      <p:sp>
        <p:nvSpPr>
          <p:cNvPr id="33" name="TextBox 32"/>
          <p:cNvSpPr txBox="1"/>
          <p:nvPr/>
        </p:nvSpPr>
        <p:spPr>
          <a:xfrm>
            <a:off x="987552" y="2523744"/>
            <a:ext cx="1645920" cy="457200"/>
          </a:xfrm>
          <a:prstGeom prst="rect">
            <a:avLst/>
          </a:prstGeom>
          <a:noFill/>
        </p:spPr>
        <p:txBody>
          <a:bodyPr wrap="square" lIns="54864" tIns="27432" rIns="54864" bIns="27432" anchor="ctr">
            <a:spAutoFit/>
          </a:bodyPr>
          <a:lstStyle/>
          <a:p>
            <a:pPr algn="l">
              <a:lnSpc>
                <a:spcPct val="100000"/>
              </a:lnSpc>
            </a:pPr>
            <a:r>
              <a:rPr sz="950" b="1" i="0">
                <a:solidFill>
                  <a:srgbClr val="171717"/>
                </a:solidFill>
                <a:latin typeface="Arial"/>
              </a:rPr>
              <a:t>Orchestrer</a:t>
            </a:r>
          </a:p>
        </p:txBody>
      </p:sp>
      <p:sp>
        <p:nvSpPr>
          <p:cNvPr id="34" name="TextBox 33"/>
          <p:cNvSpPr txBox="1"/>
          <p:nvPr/>
        </p:nvSpPr>
        <p:spPr>
          <a:xfrm>
            <a:off x="2651760" y="2523744"/>
            <a:ext cx="2194560" cy="457200"/>
          </a:xfrm>
          <a:prstGeom prst="rect">
            <a:avLst/>
          </a:prstGeom>
          <a:noFill/>
        </p:spPr>
        <p:txBody>
          <a:bodyPr wrap="square" lIns="54864" tIns="27432" rIns="54864" bIns="27432" anchor="ctr">
            <a:spAutoFit/>
          </a:bodyPr>
          <a:lstStyle/>
          <a:p>
            <a:pPr algn="l">
              <a:lnSpc>
                <a:spcPct val="100000"/>
              </a:lnSpc>
            </a:pPr>
            <a:r>
              <a:rPr sz="900" b="0" i="0">
                <a:solidFill>
                  <a:srgbClr val="666666"/>
                </a:solidFill>
                <a:latin typeface="Arial"/>
              </a:rPr>
              <a:t>mise à jour progressive</a:t>
            </a:r>
          </a:p>
        </p:txBody>
      </p:sp>
      <p:sp>
        <p:nvSpPr>
          <p:cNvPr id="35" name="TextBox 34"/>
          <p:cNvSpPr txBox="1"/>
          <p:nvPr/>
        </p:nvSpPr>
        <p:spPr>
          <a:xfrm>
            <a:off x="4846320" y="2523744"/>
            <a:ext cx="384048" cy="457200"/>
          </a:xfrm>
          <a:prstGeom prst="rect">
            <a:avLst/>
          </a:prstGeom>
          <a:noFill/>
        </p:spPr>
        <p:txBody>
          <a:bodyPr wrap="square" lIns="54864" tIns="27432" rIns="54864" bIns="27432" anchor="ctr">
            <a:spAutoFit/>
          </a:bodyPr>
          <a:lstStyle/>
          <a:p>
            <a:pPr algn="ctr">
              <a:lnSpc>
                <a:spcPct val="100000"/>
              </a:lnSpc>
            </a:pPr>
            <a:r>
              <a:rPr sz="1200" b="1" i="0">
                <a:solidFill>
                  <a:srgbClr val="2F9E44"/>
                </a:solidFill>
                <a:latin typeface="Arial"/>
              </a:rPr>
              <a:t>✓</a:t>
            </a:r>
          </a:p>
        </p:txBody>
      </p:sp>
      <p:sp>
        <p:nvSpPr>
          <p:cNvPr id="36" name="Rounded Rectangle 35"/>
          <p:cNvSpPr/>
          <p:nvPr/>
        </p:nvSpPr>
        <p:spPr>
          <a:xfrm>
            <a:off x="457200" y="3054096"/>
            <a:ext cx="4846320" cy="457200"/>
          </a:xfrm>
          <a:prstGeom prst="roundRect">
            <a:avLst>
              <a:gd name="adj" fmla="val 12500"/>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ounded Rectangle 36"/>
          <p:cNvSpPr/>
          <p:nvPr/>
        </p:nvSpPr>
        <p:spPr>
          <a:xfrm>
            <a:off x="457200" y="3054096"/>
            <a:ext cx="420624" cy="457200"/>
          </a:xfrm>
          <a:prstGeom prst="roundRect">
            <a:avLst>
              <a:gd name="adj" fmla="val 13586"/>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57200" y="3054096"/>
            <a:ext cx="420624" cy="457200"/>
          </a:xfrm>
          <a:prstGeom prst="rect">
            <a:avLst/>
          </a:prstGeom>
          <a:noFill/>
        </p:spPr>
        <p:txBody>
          <a:bodyPr wrap="square" lIns="54864" tIns="27432" rIns="54864" bIns="27432" anchor="ctr">
            <a:spAutoFit/>
          </a:bodyPr>
          <a:lstStyle/>
          <a:p>
            <a:pPr algn="ctr">
              <a:lnSpc>
                <a:spcPct val="100000"/>
              </a:lnSpc>
            </a:pPr>
            <a:r>
              <a:rPr sz="900" b="1" i="0">
                <a:solidFill>
                  <a:srgbClr val="FFFFFF"/>
                </a:solidFill>
                <a:latin typeface="Arial"/>
              </a:rPr>
              <a:t>O4</a:t>
            </a:r>
          </a:p>
        </p:txBody>
      </p:sp>
      <p:sp>
        <p:nvSpPr>
          <p:cNvPr id="39" name="TextBox 38"/>
          <p:cNvSpPr txBox="1"/>
          <p:nvPr/>
        </p:nvSpPr>
        <p:spPr>
          <a:xfrm>
            <a:off x="987552" y="3054096"/>
            <a:ext cx="1645920" cy="457200"/>
          </a:xfrm>
          <a:prstGeom prst="rect">
            <a:avLst/>
          </a:prstGeom>
          <a:noFill/>
        </p:spPr>
        <p:txBody>
          <a:bodyPr wrap="square" lIns="54864" tIns="27432" rIns="54864" bIns="27432" anchor="ctr">
            <a:spAutoFit/>
          </a:bodyPr>
          <a:lstStyle/>
          <a:p>
            <a:pPr algn="l">
              <a:lnSpc>
                <a:spcPct val="100000"/>
              </a:lnSpc>
            </a:pPr>
            <a:r>
              <a:rPr sz="950" b="1" i="0">
                <a:solidFill>
                  <a:srgbClr val="171717"/>
                </a:solidFill>
                <a:latin typeface="Arial"/>
              </a:rPr>
              <a:t>Observer</a:t>
            </a:r>
          </a:p>
        </p:txBody>
      </p:sp>
      <p:sp>
        <p:nvSpPr>
          <p:cNvPr id="40" name="TextBox 39"/>
          <p:cNvSpPr txBox="1"/>
          <p:nvPr/>
        </p:nvSpPr>
        <p:spPr>
          <a:xfrm>
            <a:off x="2651760" y="3054096"/>
            <a:ext cx="2194560" cy="457200"/>
          </a:xfrm>
          <a:prstGeom prst="rect">
            <a:avLst/>
          </a:prstGeom>
          <a:noFill/>
        </p:spPr>
        <p:txBody>
          <a:bodyPr wrap="square" lIns="54864" tIns="27432" rIns="54864" bIns="27432" anchor="ctr">
            <a:spAutoFit/>
          </a:bodyPr>
          <a:lstStyle/>
          <a:p>
            <a:pPr algn="l">
              <a:lnSpc>
                <a:spcPct val="100000"/>
              </a:lnSpc>
            </a:pPr>
            <a:r>
              <a:rPr sz="900" b="0" i="0">
                <a:solidFill>
                  <a:srgbClr val="666666"/>
                </a:solidFill>
                <a:latin typeface="Arial"/>
              </a:rPr>
              <a:t>10 règles, 2 canaux</a:t>
            </a:r>
          </a:p>
        </p:txBody>
      </p:sp>
      <p:sp>
        <p:nvSpPr>
          <p:cNvPr id="41" name="TextBox 40"/>
          <p:cNvSpPr txBox="1"/>
          <p:nvPr/>
        </p:nvSpPr>
        <p:spPr>
          <a:xfrm>
            <a:off x="4846320" y="3054096"/>
            <a:ext cx="384048" cy="457200"/>
          </a:xfrm>
          <a:prstGeom prst="rect">
            <a:avLst/>
          </a:prstGeom>
          <a:noFill/>
        </p:spPr>
        <p:txBody>
          <a:bodyPr wrap="square" lIns="54864" tIns="27432" rIns="54864" bIns="27432" anchor="ctr">
            <a:spAutoFit/>
          </a:bodyPr>
          <a:lstStyle/>
          <a:p>
            <a:pPr algn="ctr">
              <a:lnSpc>
                <a:spcPct val="100000"/>
              </a:lnSpc>
            </a:pPr>
            <a:r>
              <a:rPr sz="1200" b="1" i="0">
                <a:solidFill>
                  <a:srgbClr val="2F9E44"/>
                </a:solidFill>
                <a:latin typeface="Arial"/>
              </a:rPr>
              <a:t>✓</a:t>
            </a:r>
          </a:p>
        </p:txBody>
      </p:sp>
      <p:sp>
        <p:nvSpPr>
          <p:cNvPr id="42" name="Rounded Rectangle 41"/>
          <p:cNvSpPr/>
          <p:nvPr/>
        </p:nvSpPr>
        <p:spPr>
          <a:xfrm>
            <a:off x="457200" y="3584448"/>
            <a:ext cx="4846320" cy="457200"/>
          </a:xfrm>
          <a:prstGeom prst="roundRect">
            <a:avLst>
              <a:gd name="adj" fmla="val 12500"/>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ounded Rectangle 42"/>
          <p:cNvSpPr/>
          <p:nvPr/>
        </p:nvSpPr>
        <p:spPr>
          <a:xfrm>
            <a:off x="457200" y="3584448"/>
            <a:ext cx="420624" cy="457200"/>
          </a:xfrm>
          <a:prstGeom prst="roundRect">
            <a:avLst>
              <a:gd name="adj" fmla="val 13586"/>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457200" y="3584448"/>
            <a:ext cx="420624" cy="457200"/>
          </a:xfrm>
          <a:prstGeom prst="rect">
            <a:avLst/>
          </a:prstGeom>
          <a:noFill/>
        </p:spPr>
        <p:txBody>
          <a:bodyPr wrap="square" lIns="54864" tIns="27432" rIns="54864" bIns="27432" anchor="ctr">
            <a:spAutoFit/>
          </a:bodyPr>
          <a:lstStyle/>
          <a:p>
            <a:pPr algn="ctr">
              <a:lnSpc>
                <a:spcPct val="100000"/>
              </a:lnSpc>
            </a:pPr>
            <a:r>
              <a:rPr sz="900" b="1" i="0">
                <a:solidFill>
                  <a:srgbClr val="FFFFFF"/>
                </a:solidFill>
                <a:latin typeface="Arial"/>
              </a:rPr>
              <a:t>O5</a:t>
            </a:r>
          </a:p>
        </p:txBody>
      </p:sp>
      <p:sp>
        <p:nvSpPr>
          <p:cNvPr id="45" name="TextBox 44"/>
          <p:cNvSpPr txBox="1"/>
          <p:nvPr/>
        </p:nvSpPr>
        <p:spPr>
          <a:xfrm>
            <a:off x="987552" y="3584448"/>
            <a:ext cx="1645920" cy="457200"/>
          </a:xfrm>
          <a:prstGeom prst="rect">
            <a:avLst/>
          </a:prstGeom>
          <a:noFill/>
        </p:spPr>
        <p:txBody>
          <a:bodyPr wrap="square" lIns="54864" tIns="27432" rIns="54864" bIns="27432" anchor="ctr">
            <a:spAutoFit/>
          </a:bodyPr>
          <a:lstStyle/>
          <a:p>
            <a:pPr algn="l">
              <a:lnSpc>
                <a:spcPct val="100000"/>
              </a:lnSpc>
            </a:pPr>
            <a:r>
              <a:rPr sz="950" b="1" i="0">
                <a:solidFill>
                  <a:srgbClr val="171717"/>
                </a:solidFill>
                <a:latin typeface="Arial"/>
              </a:rPr>
              <a:t>Sécurité et sobriété</a:t>
            </a:r>
          </a:p>
        </p:txBody>
      </p:sp>
      <p:sp>
        <p:nvSpPr>
          <p:cNvPr id="46" name="TextBox 45"/>
          <p:cNvSpPr txBox="1"/>
          <p:nvPr/>
        </p:nvSpPr>
        <p:spPr>
          <a:xfrm>
            <a:off x="2651760" y="3584448"/>
            <a:ext cx="2194560" cy="457200"/>
          </a:xfrm>
          <a:prstGeom prst="rect">
            <a:avLst/>
          </a:prstGeom>
          <a:noFill/>
        </p:spPr>
        <p:txBody>
          <a:bodyPr wrap="square" lIns="54864" tIns="27432" rIns="54864" bIns="27432" anchor="ctr">
            <a:spAutoFit/>
          </a:bodyPr>
          <a:lstStyle/>
          <a:p>
            <a:pPr algn="l">
              <a:lnSpc>
                <a:spcPct val="100000"/>
              </a:lnSpc>
            </a:pPr>
            <a:r>
              <a:rPr sz="900" b="0" i="0">
                <a:solidFill>
                  <a:srgbClr val="666666"/>
                </a:solidFill>
                <a:latin typeface="Arial"/>
              </a:rPr>
              <a:t>12 indicateurs suivis</a:t>
            </a:r>
          </a:p>
        </p:txBody>
      </p:sp>
      <p:sp>
        <p:nvSpPr>
          <p:cNvPr id="47" name="TextBox 46"/>
          <p:cNvSpPr txBox="1"/>
          <p:nvPr/>
        </p:nvSpPr>
        <p:spPr>
          <a:xfrm>
            <a:off x="4846320" y="3584448"/>
            <a:ext cx="384048" cy="457200"/>
          </a:xfrm>
          <a:prstGeom prst="rect">
            <a:avLst/>
          </a:prstGeom>
          <a:noFill/>
        </p:spPr>
        <p:txBody>
          <a:bodyPr wrap="square" lIns="54864" tIns="27432" rIns="54864" bIns="27432" anchor="ctr">
            <a:spAutoFit/>
          </a:bodyPr>
          <a:lstStyle/>
          <a:p>
            <a:pPr algn="ctr">
              <a:lnSpc>
                <a:spcPct val="100000"/>
              </a:lnSpc>
            </a:pPr>
            <a:r>
              <a:rPr sz="1200" b="1" i="0">
                <a:solidFill>
                  <a:srgbClr val="2F9E44"/>
                </a:solidFill>
                <a:latin typeface="Arial"/>
              </a:rPr>
              <a:t>✓</a:t>
            </a:r>
          </a:p>
        </p:txBody>
      </p:sp>
      <p:sp>
        <p:nvSpPr>
          <p:cNvPr id="48" name="TextBox 47"/>
          <p:cNvSpPr txBox="1"/>
          <p:nvPr/>
        </p:nvSpPr>
        <p:spPr>
          <a:xfrm>
            <a:off x="5577840" y="1225296"/>
            <a:ext cx="310896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CE QUI RESTE À FAIRE, NOMMÉ ET CHIFFRÉ</a:t>
            </a:r>
          </a:p>
        </p:txBody>
      </p:sp>
      <p:sp>
        <p:nvSpPr>
          <p:cNvPr id="49" name="Rounded Rectangle 48"/>
          <p:cNvSpPr/>
          <p:nvPr/>
        </p:nvSpPr>
        <p:spPr>
          <a:xfrm>
            <a:off x="5577840" y="1463040"/>
            <a:ext cx="3108960" cy="694944"/>
          </a:xfrm>
          <a:prstGeom prst="roundRect">
            <a:avLst>
              <a:gd name="adj" fmla="val 8223"/>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5742432" y="1536192"/>
            <a:ext cx="2798064" cy="219456"/>
          </a:xfrm>
          <a:prstGeom prst="rect">
            <a:avLst/>
          </a:prstGeom>
          <a:noFill/>
        </p:spPr>
        <p:txBody>
          <a:bodyPr wrap="square" lIns="54864" tIns="27432" rIns="54864" bIns="27432" anchor="t">
            <a:spAutoFit/>
          </a:bodyPr>
          <a:lstStyle/>
          <a:p>
            <a:pPr algn="l">
              <a:lnSpc>
                <a:spcPct val="100000"/>
              </a:lnSpc>
            </a:pPr>
            <a:r>
              <a:rPr sz="950" b="1" i="0">
                <a:solidFill>
                  <a:srgbClr val="171717"/>
                </a:solidFill>
                <a:latin typeface="Arial"/>
              </a:rPr>
              <a:t>Nœud proxy unique</a:t>
            </a:r>
          </a:p>
        </p:txBody>
      </p:sp>
      <p:sp>
        <p:nvSpPr>
          <p:cNvPr id="51" name="TextBox 50"/>
          <p:cNvSpPr txBox="1"/>
          <p:nvPr/>
        </p:nvSpPr>
        <p:spPr>
          <a:xfrm>
            <a:off x="5742432" y="1755648"/>
            <a:ext cx="2798064" cy="347472"/>
          </a:xfrm>
          <a:prstGeom prst="rect">
            <a:avLst/>
          </a:prstGeom>
          <a:noFill/>
        </p:spPr>
        <p:txBody>
          <a:bodyPr wrap="square" lIns="54864" tIns="27432" rIns="54864" bIns="27432" anchor="t">
            <a:spAutoFit/>
          </a:bodyPr>
          <a:lstStyle/>
          <a:p>
            <a:pPr algn="l">
              <a:lnSpc>
                <a:spcPct val="102000"/>
              </a:lnSpc>
            </a:pPr>
            <a:r>
              <a:rPr sz="850" b="0" i="0">
                <a:solidFill>
                  <a:srgbClr val="666666"/>
                </a:solidFill>
                <a:latin typeface="Arial"/>
              </a:rPr>
              <a:t>haute disponibilité au palier suivant</a:t>
            </a:r>
          </a:p>
        </p:txBody>
      </p:sp>
      <p:sp>
        <p:nvSpPr>
          <p:cNvPr id="52" name="Rounded Rectangle 51"/>
          <p:cNvSpPr/>
          <p:nvPr/>
        </p:nvSpPr>
        <p:spPr>
          <a:xfrm>
            <a:off x="5577840" y="2249424"/>
            <a:ext cx="3108960" cy="694944"/>
          </a:xfrm>
          <a:prstGeom prst="roundRect">
            <a:avLst>
              <a:gd name="adj" fmla="val 8223"/>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5742432" y="2322576"/>
            <a:ext cx="2798064" cy="219456"/>
          </a:xfrm>
          <a:prstGeom prst="rect">
            <a:avLst/>
          </a:prstGeom>
          <a:noFill/>
        </p:spPr>
        <p:txBody>
          <a:bodyPr wrap="square" lIns="54864" tIns="27432" rIns="54864" bIns="27432" anchor="t">
            <a:spAutoFit/>
          </a:bodyPr>
          <a:lstStyle/>
          <a:p>
            <a:pPr algn="l">
              <a:lnSpc>
                <a:spcPct val="100000"/>
              </a:lnSpc>
            </a:pPr>
            <a:r>
              <a:rPr sz="950" b="1" i="0">
                <a:solidFill>
                  <a:srgbClr val="171717"/>
                </a:solidFill>
                <a:latin typeface="Arial"/>
              </a:rPr>
              <a:t>Une estimation, pas une mesure</a:t>
            </a:r>
          </a:p>
        </p:txBody>
      </p:sp>
      <p:sp>
        <p:nvSpPr>
          <p:cNvPr id="54" name="TextBox 53"/>
          <p:cNvSpPr txBox="1"/>
          <p:nvPr/>
        </p:nvSpPr>
        <p:spPr>
          <a:xfrm>
            <a:off x="5742432" y="2542032"/>
            <a:ext cx="2798064" cy="347472"/>
          </a:xfrm>
          <a:prstGeom prst="rect">
            <a:avLst/>
          </a:prstGeom>
          <a:noFill/>
        </p:spPr>
        <p:txBody>
          <a:bodyPr wrap="square" lIns="54864" tIns="27432" rIns="54864" bIns="27432" anchor="t">
            <a:spAutoFit/>
          </a:bodyPr>
          <a:lstStyle/>
          <a:p>
            <a:pPr algn="l">
              <a:lnSpc>
                <a:spcPct val="102000"/>
              </a:lnSpc>
            </a:pPr>
            <a:r>
              <a:rPr sz="850" b="0" i="0">
                <a:solidFill>
                  <a:srgbClr val="666666"/>
                </a:solidFill>
                <a:latin typeface="Arial"/>
              </a:rPr>
              <a:t>compteurs matériels pour affiner</a:t>
            </a:r>
          </a:p>
        </p:txBody>
      </p:sp>
      <p:sp>
        <p:nvSpPr>
          <p:cNvPr id="55" name="Rounded Rectangle 54"/>
          <p:cNvSpPr/>
          <p:nvPr/>
        </p:nvSpPr>
        <p:spPr>
          <a:xfrm>
            <a:off x="5577840" y="3035808"/>
            <a:ext cx="3108960" cy="694944"/>
          </a:xfrm>
          <a:prstGeom prst="roundRect">
            <a:avLst>
              <a:gd name="adj" fmla="val 8223"/>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5742432" y="3108960"/>
            <a:ext cx="2798064" cy="219456"/>
          </a:xfrm>
          <a:prstGeom prst="rect">
            <a:avLst/>
          </a:prstGeom>
          <a:noFill/>
        </p:spPr>
        <p:txBody>
          <a:bodyPr wrap="square" lIns="54864" tIns="27432" rIns="54864" bIns="27432" anchor="t">
            <a:spAutoFit/>
          </a:bodyPr>
          <a:lstStyle/>
          <a:p>
            <a:pPr algn="l">
              <a:lnSpc>
                <a:spcPct val="100000"/>
              </a:lnSpc>
            </a:pPr>
            <a:r>
              <a:rPr sz="950" b="1" i="0">
                <a:solidFill>
                  <a:srgbClr val="171717"/>
                </a:solidFill>
                <a:latin typeface="Arial"/>
              </a:rPr>
              <a:t>Escalade des alertes</a:t>
            </a:r>
          </a:p>
        </p:txBody>
      </p:sp>
      <p:sp>
        <p:nvSpPr>
          <p:cNvPr id="57" name="TextBox 56"/>
          <p:cNvSpPr txBox="1"/>
          <p:nvPr/>
        </p:nvSpPr>
        <p:spPr>
          <a:xfrm>
            <a:off x="5742432" y="3328416"/>
            <a:ext cx="2798064" cy="347472"/>
          </a:xfrm>
          <a:prstGeom prst="rect">
            <a:avLst/>
          </a:prstGeom>
          <a:noFill/>
        </p:spPr>
        <p:txBody>
          <a:bodyPr wrap="square" lIns="54864" tIns="27432" rIns="54864" bIns="27432" anchor="t">
            <a:spAutoFit/>
          </a:bodyPr>
          <a:lstStyle/>
          <a:p>
            <a:pPr algn="l">
              <a:lnSpc>
                <a:spcPct val="102000"/>
              </a:lnSpc>
            </a:pPr>
            <a:r>
              <a:rPr sz="850" b="0" i="0">
                <a:solidFill>
                  <a:srgbClr val="666666"/>
                </a:solidFill>
                <a:latin typeface="Arial"/>
              </a:rPr>
              <a:t>canaux à enrichir</a:t>
            </a:r>
          </a:p>
        </p:txBody>
      </p:sp>
      <p:sp>
        <p:nvSpPr>
          <p:cNvPr id="58" name="TextBox 57"/>
          <p:cNvSpPr txBox="1"/>
          <p:nvPr/>
        </p:nvSpPr>
        <p:spPr>
          <a:xfrm>
            <a:off x="5577840" y="3840480"/>
            <a:ext cx="3108960" cy="219456"/>
          </a:xfrm>
          <a:prstGeom prst="rect">
            <a:avLst/>
          </a:prstGeom>
          <a:noFill/>
        </p:spPr>
        <p:txBody>
          <a:bodyPr wrap="square" lIns="54864" tIns="27432" rIns="54864" bIns="27432" anchor="t">
            <a:spAutoFit/>
          </a:bodyPr>
          <a:lstStyle/>
          <a:p>
            <a:pPr algn="l">
              <a:lnSpc>
                <a:spcPct val="100000"/>
              </a:lnSpc>
            </a:pPr>
            <a:r>
              <a:rPr sz="850" b="0" i="0">
                <a:solidFill>
                  <a:srgbClr val="8F8F8F"/>
                </a:solidFill>
                <a:latin typeface="Arial"/>
              </a:rPr>
              <a:t>Tous ces points sont au plan d’amélioration.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620000" y="0"/>
            <a:ext cx="1524000" cy="41148"/>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269480"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10144"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lIns="54864" tIns="27432" rIns="54864" bIns="27432" anchor="t">
            <a:spAutoFit/>
          </a:bodyPr>
          <a:lstStyle/>
          <a:p>
            <a:pPr algn="l">
              <a:lnSpc>
                <a:spcPct val="100000"/>
              </a:lnSpc>
            </a:pPr>
            <a:r>
              <a:rPr sz="750" b="1" i="0" spc="120">
                <a:solidFill>
                  <a:srgbClr val="2F9E44"/>
                </a:solidFill>
                <a:latin typeface="Arial"/>
              </a:rPr>
              <a:t>6 · RÉSULTATS ET CONCLUSION</a:t>
            </a:r>
          </a:p>
        </p:txBody>
      </p:sp>
      <p:sp>
        <p:nvSpPr>
          <p:cNvPr id="11" name="TextBox 10"/>
          <p:cNvSpPr txBox="1"/>
          <p:nvPr/>
        </p:nvSpPr>
        <p:spPr>
          <a:xfrm>
            <a:off x="457200" y="493776"/>
            <a:ext cx="6720840" cy="566928"/>
          </a:xfrm>
          <a:prstGeom prst="rect">
            <a:avLst/>
          </a:prstGeom>
          <a:noFill/>
        </p:spPr>
        <p:txBody>
          <a:bodyPr wrap="square" lIns="54864" tIns="27432" rIns="54864" bIns="27432" anchor="t">
            <a:spAutoFit/>
          </a:bodyPr>
          <a:lstStyle/>
          <a:p>
            <a:pPr algn="l">
              <a:lnSpc>
                <a:spcPct val="100000"/>
              </a:lnSpc>
            </a:pPr>
            <a:r>
              <a:rPr sz="2400" b="1" i="0" spc="-84">
                <a:solidFill>
                  <a:srgbClr val="171717"/>
                </a:solidFill>
                <a:latin typeface="Arial"/>
              </a:rPr>
              <a:t>Conclusion</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26679" y="4832604"/>
            <a:ext cx="1143000" cy="237744"/>
          </a:xfrm>
          <a:prstGeom prst="rect">
            <a:avLst/>
          </a:prstGeom>
          <a:noFill/>
        </p:spPr>
        <p:txBody>
          <a:bodyPr wrap="square" lIns="54864" tIns="27432" rIns="54864" bIns="27432" anchor="t">
            <a:spAutoFit/>
          </a:bodyPr>
          <a:lstStyle/>
          <a:p>
            <a:pPr algn="r">
              <a:lnSpc>
                <a:spcPct val="100000"/>
              </a:lnSpc>
            </a:pPr>
            <a:r>
              <a:rPr sz="800" b="0" i="0">
                <a:solidFill>
                  <a:srgbClr val="A1A1A1"/>
                </a:solidFill>
                <a:latin typeface="Arial"/>
              </a:rPr>
              <a:t>30 / 31</a:t>
            </a:r>
          </a:p>
        </p:txBody>
      </p:sp>
      <p:sp>
        <p:nvSpPr>
          <p:cNvPr id="14" name="Rounded Rectangle 13"/>
          <p:cNvSpPr/>
          <p:nvPr/>
        </p:nvSpPr>
        <p:spPr>
          <a:xfrm>
            <a:off x="457200" y="1188720"/>
            <a:ext cx="8229600" cy="420624"/>
          </a:xfrm>
          <a:prstGeom prst="roundRect">
            <a:avLst>
              <a:gd name="adj" fmla="val 13586"/>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1188720"/>
            <a:ext cx="8229600" cy="420624"/>
          </a:xfrm>
          <a:prstGeom prst="rect">
            <a:avLst/>
          </a:prstGeom>
          <a:noFill/>
        </p:spPr>
        <p:txBody>
          <a:bodyPr wrap="square" lIns="54864" tIns="27432" rIns="54864" bIns="27432" anchor="ctr">
            <a:spAutoFit/>
          </a:bodyPr>
          <a:lstStyle/>
          <a:p>
            <a:pPr algn="ctr">
              <a:lnSpc>
                <a:spcPct val="100000"/>
              </a:lnSpc>
            </a:pPr>
            <a:r>
              <a:rPr sz="1300" b="1" i="0">
                <a:solidFill>
                  <a:srgbClr val="FFFFFF"/>
                </a:solidFill>
                <a:latin typeface="Arial"/>
              </a:rPr>
              <a:t>Les six exigences peuvent tenir ensemble.   Oui, à trois conditions.</a:t>
            </a:r>
          </a:p>
        </p:txBody>
      </p:sp>
      <p:sp>
        <p:nvSpPr>
          <p:cNvPr id="16" name="TextBox 15"/>
          <p:cNvSpPr txBox="1"/>
          <p:nvPr/>
        </p:nvSpPr>
        <p:spPr>
          <a:xfrm>
            <a:off x="457200" y="1700784"/>
            <a:ext cx="484632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LES SIX EXIGENCES, UNE PAR UNE</a:t>
            </a:r>
          </a:p>
        </p:txBody>
      </p:sp>
      <p:sp>
        <p:nvSpPr>
          <p:cNvPr id="17" name="Rounded Rectangle 16"/>
          <p:cNvSpPr/>
          <p:nvPr/>
        </p:nvSpPr>
        <p:spPr>
          <a:xfrm>
            <a:off x="457200" y="1920240"/>
            <a:ext cx="4846320" cy="329184"/>
          </a:xfrm>
          <a:prstGeom prst="roundRect">
            <a:avLst>
              <a:gd name="adj" fmla="val 17361"/>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03504" y="1920240"/>
            <a:ext cx="1463040" cy="329184"/>
          </a:xfrm>
          <a:prstGeom prst="rect">
            <a:avLst/>
          </a:prstGeom>
          <a:noFill/>
        </p:spPr>
        <p:txBody>
          <a:bodyPr wrap="square" lIns="54864" tIns="27432" rIns="54864" bIns="27432" anchor="ctr">
            <a:spAutoFit/>
          </a:bodyPr>
          <a:lstStyle/>
          <a:p>
            <a:pPr algn="l">
              <a:lnSpc>
                <a:spcPct val="100000"/>
              </a:lnSpc>
            </a:pPr>
            <a:r>
              <a:rPr sz="900" b="1" i="0">
                <a:solidFill>
                  <a:srgbClr val="171717"/>
                </a:solidFill>
                <a:latin typeface="Arial"/>
              </a:rPr>
              <a:t>Automatisation</a:t>
            </a:r>
          </a:p>
        </p:txBody>
      </p:sp>
      <p:sp>
        <p:nvSpPr>
          <p:cNvPr id="19" name="TextBox 18"/>
          <p:cNvSpPr txBox="1"/>
          <p:nvPr/>
        </p:nvSpPr>
        <p:spPr>
          <a:xfrm>
            <a:off x="2103120" y="1920240"/>
            <a:ext cx="2651760" cy="329184"/>
          </a:xfrm>
          <a:prstGeom prst="rect">
            <a:avLst/>
          </a:prstGeom>
          <a:noFill/>
        </p:spPr>
        <p:txBody>
          <a:bodyPr wrap="square" lIns="54864" tIns="27432" rIns="54864" bIns="27432" anchor="ctr">
            <a:spAutoFit/>
          </a:bodyPr>
          <a:lstStyle/>
          <a:p>
            <a:pPr algn="l">
              <a:lnSpc>
                <a:spcPct val="100000"/>
              </a:lnSpc>
            </a:pPr>
            <a:r>
              <a:rPr sz="850" b="0" i="0">
                <a:solidFill>
                  <a:srgbClr val="666666"/>
                </a:solidFill>
                <a:latin typeface="Arial"/>
              </a:rPr>
              <a:t>tout en code, zéro geste manuel</a:t>
            </a:r>
          </a:p>
        </p:txBody>
      </p:sp>
      <p:sp>
        <p:nvSpPr>
          <p:cNvPr id="20" name="TextBox 19"/>
          <p:cNvSpPr txBox="1"/>
          <p:nvPr/>
        </p:nvSpPr>
        <p:spPr>
          <a:xfrm>
            <a:off x="4754880" y="1920240"/>
            <a:ext cx="457200" cy="329184"/>
          </a:xfrm>
          <a:prstGeom prst="rect">
            <a:avLst/>
          </a:prstGeom>
          <a:noFill/>
        </p:spPr>
        <p:txBody>
          <a:bodyPr wrap="square" lIns="54864" tIns="27432" rIns="54864" bIns="27432" anchor="ctr">
            <a:spAutoFit/>
          </a:bodyPr>
          <a:lstStyle/>
          <a:p>
            <a:pPr algn="r">
              <a:lnSpc>
                <a:spcPct val="100000"/>
              </a:lnSpc>
            </a:pPr>
            <a:r>
              <a:rPr sz="800" b="1" i="0">
                <a:solidFill>
                  <a:srgbClr val="2F9E44"/>
                </a:solidFill>
                <a:latin typeface="Arial"/>
              </a:rPr>
              <a:t>21</a:t>
            </a:r>
          </a:p>
        </p:txBody>
      </p:sp>
      <p:sp>
        <p:nvSpPr>
          <p:cNvPr id="21" name="Rounded Rectangle 20"/>
          <p:cNvSpPr/>
          <p:nvPr/>
        </p:nvSpPr>
        <p:spPr>
          <a:xfrm>
            <a:off x="457200" y="2304288"/>
            <a:ext cx="4846320" cy="329184"/>
          </a:xfrm>
          <a:prstGeom prst="roundRect">
            <a:avLst>
              <a:gd name="adj" fmla="val 1736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03504" y="2304288"/>
            <a:ext cx="1463040" cy="329184"/>
          </a:xfrm>
          <a:prstGeom prst="rect">
            <a:avLst/>
          </a:prstGeom>
          <a:noFill/>
        </p:spPr>
        <p:txBody>
          <a:bodyPr wrap="square" lIns="54864" tIns="27432" rIns="54864" bIns="27432" anchor="ctr">
            <a:spAutoFit/>
          </a:bodyPr>
          <a:lstStyle/>
          <a:p>
            <a:pPr algn="l">
              <a:lnSpc>
                <a:spcPct val="100000"/>
              </a:lnSpc>
            </a:pPr>
            <a:r>
              <a:rPr sz="900" b="1" i="0">
                <a:solidFill>
                  <a:srgbClr val="171717"/>
                </a:solidFill>
                <a:latin typeface="Arial"/>
              </a:rPr>
              <a:t>Sécurité</a:t>
            </a:r>
          </a:p>
        </p:txBody>
      </p:sp>
      <p:sp>
        <p:nvSpPr>
          <p:cNvPr id="23" name="TextBox 22"/>
          <p:cNvSpPr txBox="1"/>
          <p:nvPr/>
        </p:nvSpPr>
        <p:spPr>
          <a:xfrm>
            <a:off x="2103120" y="2304288"/>
            <a:ext cx="2651760" cy="329184"/>
          </a:xfrm>
          <a:prstGeom prst="rect">
            <a:avLst/>
          </a:prstGeom>
          <a:noFill/>
        </p:spPr>
        <p:txBody>
          <a:bodyPr wrap="square" lIns="54864" tIns="27432" rIns="54864" bIns="27432" anchor="ctr">
            <a:spAutoFit/>
          </a:bodyPr>
          <a:lstStyle/>
          <a:p>
            <a:pPr algn="l">
              <a:lnSpc>
                <a:spcPct val="100000"/>
              </a:lnSpc>
            </a:pPr>
            <a:r>
              <a:rPr sz="850" b="0" i="0">
                <a:solidFill>
                  <a:srgbClr val="666666"/>
                </a:solidFill>
                <a:latin typeface="Arial"/>
              </a:rPr>
              <a:t>4 portes bloquantes, défense en profondeur</a:t>
            </a:r>
          </a:p>
        </p:txBody>
      </p:sp>
      <p:sp>
        <p:nvSpPr>
          <p:cNvPr id="24" name="TextBox 23"/>
          <p:cNvSpPr txBox="1"/>
          <p:nvPr/>
        </p:nvSpPr>
        <p:spPr>
          <a:xfrm>
            <a:off x="4754880" y="2304288"/>
            <a:ext cx="457200" cy="329184"/>
          </a:xfrm>
          <a:prstGeom prst="rect">
            <a:avLst/>
          </a:prstGeom>
          <a:noFill/>
        </p:spPr>
        <p:txBody>
          <a:bodyPr wrap="square" lIns="54864" tIns="27432" rIns="54864" bIns="27432" anchor="ctr">
            <a:spAutoFit/>
          </a:bodyPr>
          <a:lstStyle/>
          <a:p>
            <a:pPr algn="r">
              <a:lnSpc>
                <a:spcPct val="100000"/>
              </a:lnSpc>
            </a:pPr>
            <a:r>
              <a:rPr sz="800" b="1" i="0">
                <a:solidFill>
                  <a:srgbClr val="2F9E44"/>
                </a:solidFill>
                <a:latin typeface="Arial"/>
              </a:rPr>
              <a:t>22 · 28</a:t>
            </a:r>
          </a:p>
        </p:txBody>
      </p:sp>
      <p:sp>
        <p:nvSpPr>
          <p:cNvPr id="25" name="Rounded Rectangle 24"/>
          <p:cNvSpPr/>
          <p:nvPr/>
        </p:nvSpPr>
        <p:spPr>
          <a:xfrm>
            <a:off x="457200" y="2688336"/>
            <a:ext cx="4846320" cy="329184"/>
          </a:xfrm>
          <a:prstGeom prst="roundRect">
            <a:avLst>
              <a:gd name="adj" fmla="val 17361"/>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03504" y="2688336"/>
            <a:ext cx="1463040" cy="329184"/>
          </a:xfrm>
          <a:prstGeom prst="rect">
            <a:avLst/>
          </a:prstGeom>
          <a:noFill/>
        </p:spPr>
        <p:txBody>
          <a:bodyPr wrap="square" lIns="54864" tIns="27432" rIns="54864" bIns="27432" anchor="ctr">
            <a:spAutoFit/>
          </a:bodyPr>
          <a:lstStyle/>
          <a:p>
            <a:pPr algn="l">
              <a:lnSpc>
                <a:spcPct val="100000"/>
              </a:lnSpc>
            </a:pPr>
            <a:r>
              <a:rPr sz="900" b="1" i="0">
                <a:solidFill>
                  <a:srgbClr val="171717"/>
                </a:solidFill>
                <a:latin typeface="Arial"/>
              </a:rPr>
              <a:t>Éco-responsabilité</a:t>
            </a:r>
          </a:p>
        </p:txBody>
      </p:sp>
      <p:sp>
        <p:nvSpPr>
          <p:cNvPr id="27" name="TextBox 26"/>
          <p:cNvSpPr txBox="1"/>
          <p:nvPr/>
        </p:nvSpPr>
        <p:spPr>
          <a:xfrm>
            <a:off x="2103120" y="2688336"/>
            <a:ext cx="2651760" cy="329184"/>
          </a:xfrm>
          <a:prstGeom prst="rect">
            <a:avLst/>
          </a:prstGeom>
          <a:noFill/>
        </p:spPr>
        <p:txBody>
          <a:bodyPr wrap="square" lIns="54864" tIns="27432" rIns="54864" bIns="27432" anchor="ctr">
            <a:spAutoFit/>
          </a:bodyPr>
          <a:lstStyle/>
          <a:p>
            <a:pPr algn="l">
              <a:lnSpc>
                <a:spcPct val="100000"/>
              </a:lnSpc>
            </a:pPr>
            <a:r>
              <a:rPr sz="850" b="0" i="0">
                <a:solidFill>
                  <a:srgbClr val="666666"/>
                </a:solidFill>
                <a:latin typeface="Arial"/>
              </a:rPr>
              <a:t>énergie estimée, alertée, optimisée</a:t>
            </a:r>
          </a:p>
        </p:txBody>
      </p:sp>
      <p:sp>
        <p:nvSpPr>
          <p:cNvPr id="28" name="TextBox 27"/>
          <p:cNvSpPr txBox="1"/>
          <p:nvPr/>
        </p:nvSpPr>
        <p:spPr>
          <a:xfrm>
            <a:off x="4754880" y="2688336"/>
            <a:ext cx="457200" cy="329184"/>
          </a:xfrm>
          <a:prstGeom prst="rect">
            <a:avLst/>
          </a:prstGeom>
          <a:noFill/>
        </p:spPr>
        <p:txBody>
          <a:bodyPr wrap="square" lIns="54864" tIns="27432" rIns="54864" bIns="27432" anchor="ctr">
            <a:spAutoFit/>
          </a:bodyPr>
          <a:lstStyle/>
          <a:p>
            <a:pPr algn="r">
              <a:lnSpc>
                <a:spcPct val="100000"/>
              </a:lnSpc>
            </a:pPr>
            <a:r>
              <a:rPr sz="800" b="1" i="0">
                <a:solidFill>
                  <a:srgbClr val="2F9E44"/>
                </a:solidFill>
                <a:latin typeface="Arial"/>
              </a:rPr>
              <a:t>25</a:t>
            </a:r>
          </a:p>
        </p:txBody>
      </p:sp>
      <p:sp>
        <p:nvSpPr>
          <p:cNvPr id="29" name="Rounded Rectangle 28"/>
          <p:cNvSpPr/>
          <p:nvPr/>
        </p:nvSpPr>
        <p:spPr>
          <a:xfrm>
            <a:off x="457200" y="3072384"/>
            <a:ext cx="4846320" cy="329184"/>
          </a:xfrm>
          <a:prstGeom prst="roundRect">
            <a:avLst>
              <a:gd name="adj" fmla="val 1736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03504" y="3072384"/>
            <a:ext cx="1463040" cy="329184"/>
          </a:xfrm>
          <a:prstGeom prst="rect">
            <a:avLst/>
          </a:prstGeom>
          <a:noFill/>
        </p:spPr>
        <p:txBody>
          <a:bodyPr wrap="square" lIns="54864" tIns="27432" rIns="54864" bIns="27432" anchor="ctr">
            <a:spAutoFit/>
          </a:bodyPr>
          <a:lstStyle/>
          <a:p>
            <a:pPr algn="l">
              <a:lnSpc>
                <a:spcPct val="100000"/>
              </a:lnSpc>
            </a:pPr>
            <a:r>
              <a:rPr sz="900" b="1" i="0">
                <a:solidFill>
                  <a:srgbClr val="171717"/>
                </a:solidFill>
                <a:latin typeface="Arial"/>
              </a:rPr>
              <a:t>Qualité</a:t>
            </a:r>
          </a:p>
        </p:txBody>
      </p:sp>
      <p:sp>
        <p:nvSpPr>
          <p:cNvPr id="31" name="TextBox 30"/>
          <p:cNvSpPr txBox="1"/>
          <p:nvPr/>
        </p:nvSpPr>
        <p:spPr>
          <a:xfrm>
            <a:off x="2103120" y="3072384"/>
            <a:ext cx="2651760" cy="329184"/>
          </a:xfrm>
          <a:prstGeom prst="rect">
            <a:avLst/>
          </a:prstGeom>
          <a:noFill/>
        </p:spPr>
        <p:txBody>
          <a:bodyPr wrap="square" lIns="54864" tIns="27432" rIns="54864" bIns="27432" anchor="ctr">
            <a:spAutoFit/>
          </a:bodyPr>
          <a:lstStyle/>
          <a:p>
            <a:pPr algn="l">
              <a:lnSpc>
                <a:spcPct val="100000"/>
              </a:lnSpc>
            </a:pPr>
            <a:r>
              <a:rPr sz="850" b="0" i="0">
                <a:solidFill>
                  <a:srgbClr val="666666"/>
                </a:solidFill>
                <a:latin typeface="Arial"/>
              </a:rPr>
              <a:t>218 tests en porte, zéro échec</a:t>
            </a:r>
          </a:p>
        </p:txBody>
      </p:sp>
      <p:sp>
        <p:nvSpPr>
          <p:cNvPr id="32" name="TextBox 31"/>
          <p:cNvSpPr txBox="1"/>
          <p:nvPr/>
        </p:nvSpPr>
        <p:spPr>
          <a:xfrm>
            <a:off x="4754880" y="3072384"/>
            <a:ext cx="457200" cy="329184"/>
          </a:xfrm>
          <a:prstGeom prst="rect">
            <a:avLst/>
          </a:prstGeom>
          <a:noFill/>
        </p:spPr>
        <p:txBody>
          <a:bodyPr wrap="square" lIns="54864" tIns="27432" rIns="54864" bIns="27432" anchor="ctr">
            <a:spAutoFit/>
          </a:bodyPr>
          <a:lstStyle/>
          <a:p>
            <a:pPr algn="r">
              <a:lnSpc>
                <a:spcPct val="100000"/>
              </a:lnSpc>
            </a:pPr>
            <a:r>
              <a:rPr sz="800" b="1" i="0">
                <a:solidFill>
                  <a:srgbClr val="2F9E44"/>
                </a:solidFill>
                <a:latin typeface="Arial"/>
              </a:rPr>
              <a:t>19</a:t>
            </a:r>
          </a:p>
        </p:txBody>
      </p:sp>
      <p:sp>
        <p:nvSpPr>
          <p:cNvPr id="33" name="Rounded Rectangle 32"/>
          <p:cNvSpPr/>
          <p:nvPr/>
        </p:nvSpPr>
        <p:spPr>
          <a:xfrm>
            <a:off x="457200" y="3456432"/>
            <a:ext cx="4846320" cy="329184"/>
          </a:xfrm>
          <a:prstGeom prst="roundRect">
            <a:avLst>
              <a:gd name="adj" fmla="val 17361"/>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03504" y="3456432"/>
            <a:ext cx="1463040" cy="329184"/>
          </a:xfrm>
          <a:prstGeom prst="rect">
            <a:avLst/>
          </a:prstGeom>
          <a:noFill/>
        </p:spPr>
        <p:txBody>
          <a:bodyPr wrap="square" lIns="54864" tIns="27432" rIns="54864" bIns="27432" anchor="ctr">
            <a:spAutoFit/>
          </a:bodyPr>
          <a:lstStyle/>
          <a:p>
            <a:pPr algn="l">
              <a:lnSpc>
                <a:spcPct val="100000"/>
              </a:lnSpc>
            </a:pPr>
            <a:r>
              <a:rPr sz="900" b="1" i="0">
                <a:solidFill>
                  <a:srgbClr val="171717"/>
                </a:solidFill>
                <a:latin typeface="Arial"/>
              </a:rPr>
              <a:t>Observabilité</a:t>
            </a:r>
          </a:p>
        </p:txBody>
      </p:sp>
      <p:sp>
        <p:nvSpPr>
          <p:cNvPr id="35" name="TextBox 34"/>
          <p:cNvSpPr txBox="1"/>
          <p:nvPr/>
        </p:nvSpPr>
        <p:spPr>
          <a:xfrm>
            <a:off x="2103120" y="3456432"/>
            <a:ext cx="2651760" cy="329184"/>
          </a:xfrm>
          <a:prstGeom prst="rect">
            <a:avLst/>
          </a:prstGeom>
          <a:noFill/>
        </p:spPr>
        <p:txBody>
          <a:bodyPr wrap="square" lIns="54864" tIns="27432" rIns="54864" bIns="27432" anchor="ctr">
            <a:spAutoFit/>
          </a:bodyPr>
          <a:lstStyle/>
          <a:p>
            <a:pPr algn="l">
              <a:lnSpc>
                <a:spcPct val="100000"/>
              </a:lnSpc>
            </a:pPr>
            <a:r>
              <a:rPr sz="850" b="0" i="0">
                <a:solidFill>
                  <a:srgbClr val="666666"/>
                </a:solidFill>
                <a:latin typeface="Arial"/>
              </a:rPr>
              <a:t>dérive vue avant l’utilisateur</a:t>
            </a:r>
          </a:p>
        </p:txBody>
      </p:sp>
      <p:sp>
        <p:nvSpPr>
          <p:cNvPr id="36" name="TextBox 35"/>
          <p:cNvSpPr txBox="1"/>
          <p:nvPr/>
        </p:nvSpPr>
        <p:spPr>
          <a:xfrm>
            <a:off x="4754880" y="3456432"/>
            <a:ext cx="457200" cy="329184"/>
          </a:xfrm>
          <a:prstGeom prst="rect">
            <a:avLst/>
          </a:prstGeom>
          <a:noFill/>
        </p:spPr>
        <p:txBody>
          <a:bodyPr wrap="square" lIns="54864" tIns="27432" rIns="54864" bIns="27432" anchor="ctr">
            <a:spAutoFit/>
          </a:bodyPr>
          <a:lstStyle/>
          <a:p>
            <a:pPr algn="r">
              <a:lnSpc>
                <a:spcPct val="100000"/>
              </a:lnSpc>
            </a:pPr>
            <a:r>
              <a:rPr sz="800" b="1" i="0">
                <a:solidFill>
                  <a:srgbClr val="2F9E44"/>
                </a:solidFill>
                <a:latin typeface="Arial"/>
              </a:rPr>
              <a:t>24</a:t>
            </a:r>
          </a:p>
        </p:txBody>
      </p:sp>
      <p:sp>
        <p:nvSpPr>
          <p:cNvPr id="37" name="Rounded Rectangle 36"/>
          <p:cNvSpPr/>
          <p:nvPr/>
        </p:nvSpPr>
        <p:spPr>
          <a:xfrm>
            <a:off x="457200" y="3840480"/>
            <a:ext cx="4846320" cy="329184"/>
          </a:xfrm>
          <a:prstGeom prst="roundRect">
            <a:avLst>
              <a:gd name="adj" fmla="val 1736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03504" y="3840480"/>
            <a:ext cx="1463040" cy="329184"/>
          </a:xfrm>
          <a:prstGeom prst="rect">
            <a:avLst/>
          </a:prstGeom>
          <a:noFill/>
        </p:spPr>
        <p:txBody>
          <a:bodyPr wrap="square" lIns="54864" tIns="27432" rIns="54864" bIns="27432" anchor="ctr">
            <a:spAutoFit/>
          </a:bodyPr>
          <a:lstStyle/>
          <a:p>
            <a:pPr algn="l">
              <a:lnSpc>
                <a:spcPct val="100000"/>
              </a:lnSpc>
            </a:pPr>
            <a:r>
              <a:rPr sz="900" b="1" i="0">
                <a:solidFill>
                  <a:srgbClr val="171717"/>
                </a:solidFill>
                <a:latin typeface="Arial"/>
              </a:rPr>
              <a:t>Maîtrise des coûts</a:t>
            </a:r>
          </a:p>
        </p:txBody>
      </p:sp>
      <p:sp>
        <p:nvSpPr>
          <p:cNvPr id="39" name="TextBox 38"/>
          <p:cNvSpPr txBox="1"/>
          <p:nvPr/>
        </p:nvSpPr>
        <p:spPr>
          <a:xfrm>
            <a:off x="2103120" y="3840480"/>
            <a:ext cx="2651760" cy="329184"/>
          </a:xfrm>
          <a:prstGeom prst="rect">
            <a:avLst/>
          </a:prstGeom>
          <a:noFill/>
        </p:spPr>
        <p:txBody>
          <a:bodyPr wrap="square" lIns="54864" tIns="27432" rIns="54864" bIns="27432" anchor="ctr">
            <a:spAutoFit/>
          </a:bodyPr>
          <a:lstStyle/>
          <a:p>
            <a:pPr algn="l">
              <a:lnSpc>
                <a:spcPct val="100000"/>
              </a:lnSpc>
            </a:pPr>
            <a:r>
              <a:rPr sz="850" b="0" i="0">
                <a:solidFill>
                  <a:srgbClr val="666666"/>
                </a:solidFill>
                <a:latin typeface="Arial"/>
              </a:rPr>
              <a:t>71 € par mois, alerté avant dépassement</a:t>
            </a:r>
          </a:p>
        </p:txBody>
      </p:sp>
      <p:sp>
        <p:nvSpPr>
          <p:cNvPr id="40" name="TextBox 39"/>
          <p:cNvSpPr txBox="1"/>
          <p:nvPr/>
        </p:nvSpPr>
        <p:spPr>
          <a:xfrm>
            <a:off x="4754880" y="3840480"/>
            <a:ext cx="457200" cy="329184"/>
          </a:xfrm>
          <a:prstGeom prst="rect">
            <a:avLst/>
          </a:prstGeom>
          <a:noFill/>
        </p:spPr>
        <p:txBody>
          <a:bodyPr wrap="square" lIns="54864" tIns="27432" rIns="54864" bIns="27432" anchor="ctr">
            <a:spAutoFit/>
          </a:bodyPr>
          <a:lstStyle/>
          <a:p>
            <a:pPr algn="r">
              <a:lnSpc>
                <a:spcPct val="100000"/>
              </a:lnSpc>
            </a:pPr>
            <a:r>
              <a:rPr sz="800" b="1" i="0">
                <a:solidFill>
                  <a:srgbClr val="2F9E44"/>
                </a:solidFill>
                <a:latin typeface="Arial"/>
              </a:rPr>
              <a:t>11</a:t>
            </a:r>
          </a:p>
        </p:txBody>
      </p:sp>
      <p:sp>
        <p:nvSpPr>
          <p:cNvPr id="41" name="TextBox 40"/>
          <p:cNvSpPr txBox="1"/>
          <p:nvPr/>
        </p:nvSpPr>
        <p:spPr>
          <a:xfrm>
            <a:off x="5577840" y="1700784"/>
            <a:ext cx="3108960" cy="201168"/>
          </a:xfrm>
          <a:prstGeom prst="rect">
            <a:avLst/>
          </a:prstGeom>
          <a:noFill/>
        </p:spPr>
        <p:txBody>
          <a:bodyPr wrap="square" lIns="54864" tIns="27432" rIns="54864" bIns="27432" anchor="t">
            <a:spAutoFit/>
          </a:bodyPr>
          <a:lstStyle/>
          <a:p>
            <a:pPr algn="l">
              <a:lnSpc>
                <a:spcPct val="100000"/>
              </a:lnSpc>
            </a:pPr>
            <a:r>
              <a:rPr sz="750" b="1" i="0" spc="120">
                <a:solidFill>
                  <a:srgbClr val="8F8F8F"/>
                </a:solidFill>
                <a:latin typeface="Arial"/>
              </a:rPr>
              <a:t>LES TROIS CONDITIONS</a:t>
            </a:r>
          </a:p>
        </p:txBody>
      </p:sp>
      <p:sp>
        <p:nvSpPr>
          <p:cNvPr id="42" name="Rounded Rectangle 41"/>
          <p:cNvSpPr/>
          <p:nvPr/>
        </p:nvSpPr>
        <p:spPr>
          <a:xfrm>
            <a:off x="5577840" y="1920240"/>
            <a:ext cx="3108960" cy="658368"/>
          </a:xfrm>
          <a:prstGeom prst="roundRect">
            <a:avLst>
              <a:gd name="adj" fmla="val 8680"/>
            </a:avLst>
          </a:prstGeom>
          <a:solidFill>
            <a:srgbClr val="EBFB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5742432" y="1975104"/>
            <a:ext cx="2798064" cy="219456"/>
          </a:xfrm>
          <a:prstGeom prst="rect">
            <a:avLst/>
          </a:prstGeom>
          <a:noFill/>
        </p:spPr>
        <p:txBody>
          <a:bodyPr wrap="square" lIns="54864" tIns="27432" rIns="54864" bIns="27432" anchor="t">
            <a:spAutoFit/>
          </a:bodyPr>
          <a:lstStyle/>
          <a:p>
            <a:pPr algn="l">
              <a:lnSpc>
                <a:spcPct val="100000"/>
              </a:lnSpc>
            </a:pPr>
            <a:r>
              <a:rPr sz="1000" b="1" i="0">
                <a:solidFill>
                  <a:srgbClr val="2F9E44"/>
                </a:solidFill>
                <a:latin typeface="Arial"/>
              </a:rPr>
              <a:t>1 · Bout en bout</a:t>
            </a:r>
          </a:p>
        </p:txBody>
      </p:sp>
      <p:sp>
        <p:nvSpPr>
          <p:cNvPr id="44" name="TextBox 43"/>
          <p:cNvSpPr txBox="1"/>
          <p:nvPr/>
        </p:nvSpPr>
        <p:spPr>
          <a:xfrm>
            <a:off x="5742432" y="2194560"/>
            <a:ext cx="2798064" cy="347472"/>
          </a:xfrm>
          <a:prstGeom prst="rect">
            <a:avLst/>
          </a:prstGeom>
          <a:noFill/>
        </p:spPr>
        <p:txBody>
          <a:bodyPr wrap="square" lIns="54864" tIns="27432" rIns="54864" bIns="27432" anchor="t">
            <a:spAutoFit/>
          </a:bodyPr>
          <a:lstStyle/>
          <a:p>
            <a:pPr algn="l">
              <a:lnSpc>
                <a:spcPct val="102000"/>
              </a:lnSpc>
            </a:pPr>
            <a:r>
              <a:rPr sz="850" b="0" i="0">
                <a:solidFill>
                  <a:srgbClr val="666666"/>
                </a:solidFill>
                <a:latin typeface="Arial"/>
              </a:rPr>
              <a:t>un seul maillon manuel suffit à rompre la chaîne</a:t>
            </a:r>
          </a:p>
        </p:txBody>
      </p:sp>
      <p:sp>
        <p:nvSpPr>
          <p:cNvPr id="45" name="Rounded Rectangle 44"/>
          <p:cNvSpPr/>
          <p:nvPr/>
        </p:nvSpPr>
        <p:spPr>
          <a:xfrm>
            <a:off x="5577840" y="2670048"/>
            <a:ext cx="3108960" cy="658368"/>
          </a:xfrm>
          <a:prstGeom prst="roundRect">
            <a:avLst>
              <a:gd name="adj" fmla="val 8680"/>
            </a:avLst>
          </a:prstGeom>
          <a:solidFill>
            <a:srgbClr val="EBFB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5742432" y="2724912"/>
            <a:ext cx="2798064" cy="219456"/>
          </a:xfrm>
          <a:prstGeom prst="rect">
            <a:avLst/>
          </a:prstGeom>
          <a:noFill/>
        </p:spPr>
        <p:txBody>
          <a:bodyPr wrap="square" lIns="54864" tIns="27432" rIns="54864" bIns="27432" anchor="t">
            <a:spAutoFit/>
          </a:bodyPr>
          <a:lstStyle/>
          <a:p>
            <a:pPr algn="l">
              <a:lnSpc>
                <a:spcPct val="100000"/>
              </a:lnSpc>
            </a:pPr>
            <a:r>
              <a:rPr sz="1000" b="1" i="0">
                <a:solidFill>
                  <a:srgbClr val="2F9E44"/>
                </a:solidFill>
                <a:latin typeface="Arial"/>
              </a:rPr>
              <a:t>2 · Dès la conception</a:t>
            </a:r>
          </a:p>
        </p:txBody>
      </p:sp>
      <p:sp>
        <p:nvSpPr>
          <p:cNvPr id="47" name="TextBox 46"/>
          <p:cNvSpPr txBox="1"/>
          <p:nvPr/>
        </p:nvSpPr>
        <p:spPr>
          <a:xfrm>
            <a:off x="5742432" y="2944368"/>
            <a:ext cx="2798064" cy="347472"/>
          </a:xfrm>
          <a:prstGeom prst="rect">
            <a:avLst/>
          </a:prstGeom>
          <a:noFill/>
        </p:spPr>
        <p:txBody>
          <a:bodyPr wrap="square" lIns="54864" tIns="27432" rIns="54864" bIns="27432" anchor="t">
            <a:spAutoFit/>
          </a:bodyPr>
          <a:lstStyle/>
          <a:p>
            <a:pPr algn="l">
              <a:lnSpc>
                <a:spcPct val="102000"/>
              </a:lnSpc>
            </a:pPr>
            <a:r>
              <a:rPr sz="850" b="0" i="0">
                <a:solidFill>
                  <a:srgbClr val="666666"/>
                </a:solidFill>
                <a:latin typeface="Arial"/>
              </a:rPr>
              <a:t>sécurité et sobriété intégrées, jamais ajoutées après</a:t>
            </a:r>
          </a:p>
        </p:txBody>
      </p:sp>
      <p:sp>
        <p:nvSpPr>
          <p:cNvPr id="48" name="Rounded Rectangle 47"/>
          <p:cNvSpPr/>
          <p:nvPr/>
        </p:nvSpPr>
        <p:spPr>
          <a:xfrm>
            <a:off x="5577840" y="3419856"/>
            <a:ext cx="3108960" cy="658368"/>
          </a:xfrm>
          <a:prstGeom prst="roundRect">
            <a:avLst>
              <a:gd name="adj" fmla="val 8680"/>
            </a:avLst>
          </a:prstGeom>
          <a:solidFill>
            <a:srgbClr val="EBFB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5742432" y="3474720"/>
            <a:ext cx="2798064" cy="219456"/>
          </a:xfrm>
          <a:prstGeom prst="rect">
            <a:avLst/>
          </a:prstGeom>
          <a:noFill/>
        </p:spPr>
        <p:txBody>
          <a:bodyPr wrap="square" lIns="54864" tIns="27432" rIns="54864" bIns="27432" anchor="t">
            <a:spAutoFit/>
          </a:bodyPr>
          <a:lstStyle/>
          <a:p>
            <a:pPr algn="l">
              <a:lnSpc>
                <a:spcPct val="100000"/>
              </a:lnSpc>
            </a:pPr>
            <a:r>
              <a:rPr sz="1000" b="1" i="0">
                <a:solidFill>
                  <a:srgbClr val="2F9E44"/>
                </a:solidFill>
                <a:latin typeface="Arial"/>
              </a:rPr>
              <a:t>3 · Pilotable</a:t>
            </a:r>
          </a:p>
        </p:txBody>
      </p:sp>
      <p:sp>
        <p:nvSpPr>
          <p:cNvPr id="50" name="TextBox 49"/>
          <p:cNvSpPr txBox="1"/>
          <p:nvPr/>
        </p:nvSpPr>
        <p:spPr>
          <a:xfrm>
            <a:off x="5742432" y="3694176"/>
            <a:ext cx="2798064" cy="347472"/>
          </a:xfrm>
          <a:prstGeom prst="rect">
            <a:avLst/>
          </a:prstGeom>
          <a:noFill/>
        </p:spPr>
        <p:txBody>
          <a:bodyPr wrap="square" lIns="54864" tIns="27432" rIns="54864" bIns="27432" anchor="t">
            <a:spAutoFit/>
          </a:bodyPr>
          <a:lstStyle/>
          <a:p>
            <a:pPr algn="l">
              <a:lnSpc>
                <a:spcPct val="102000"/>
              </a:lnSpc>
            </a:pPr>
            <a:r>
              <a:rPr sz="850" b="0" i="0">
                <a:solidFill>
                  <a:srgbClr val="666666"/>
                </a:solidFill>
                <a:latin typeface="Arial"/>
              </a:rPr>
              <a:t>l’observabilité rend l’ensemble mesurable, donc arbitrable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620000" y="0"/>
            <a:ext cx="1524000" cy="41148"/>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269480"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10144" y="173736"/>
            <a:ext cx="676656" cy="109728"/>
          </a:xfrm>
          <a:prstGeom prst="rect">
            <a:avLst/>
          </a:prstGeom>
          <a:noFill/>
        </p:spPr>
        <p:txBody>
          <a:bodyPr wrap="square" lIns="54864" tIns="27432" rIns="54864" bIns="27432" anchor="t">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lIns="54864" tIns="27432" rIns="54864" bIns="27432" anchor="t">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lIns="54864" tIns="27432" rIns="54864" bIns="27432" anchor="t">
            <a:spAutoFit/>
          </a:bodyPr>
          <a:lstStyle/>
          <a:p>
            <a:pPr algn="l">
              <a:lnSpc>
                <a:spcPct val="100000"/>
              </a:lnSpc>
            </a:pPr>
            <a:r>
              <a:rPr sz="750" b="1" i="0" spc="120">
                <a:solidFill>
                  <a:srgbClr val="2F9E44"/>
                </a:solidFill>
                <a:latin typeface="Arial"/>
              </a:rPr>
              <a:t>6 · RÉSULTATS ET CONCLUSION</a:t>
            </a:r>
          </a:p>
        </p:txBody>
      </p:sp>
      <p:sp>
        <p:nvSpPr>
          <p:cNvPr id="11" name="TextBox 10"/>
          <p:cNvSpPr txBox="1"/>
          <p:nvPr/>
        </p:nvSpPr>
        <p:spPr>
          <a:xfrm>
            <a:off x="457200" y="493776"/>
            <a:ext cx="6720840" cy="566928"/>
          </a:xfrm>
          <a:prstGeom prst="rect">
            <a:avLst/>
          </a:prstGeom>
          <a:noFill/>
        </p:spPr>
        <p:txBody>
          <a:bodyPr wrap="square" lIns="54864" tIns="27432" rIns="54864" bIns="27432" anchor="t">
            <a:spAutoFit/>
          </a:bodyPr>
          <a:lstStyle/>
          <a:p>
            <a:pPr algn="l">
              <a:lnSpc>
                <a:spcPct val="100000"/>
              </a:lnSpc>
            </a:pPr>
            <a:r>
              <a:rPr sz="2400" b="1" i="0" spc="-84">
                <a:solidFill>
                  <a:srgbClr val="171717"/>
                </a:solidFill>
                <a:latin typeface="Arial"/>
              </a:rPr>
              <a:t>Remerciements</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26679" y="4832604"/>
            <a:ext cx="1143000" cy="237744"/>
          </a:xfrm>
          <a:prstGeom prst="rect">
            <a:avLst/>
          </a:prstGeom>
          <a:noFill/>
        </p:spPr>
        <p:txBody>
          <a:bodyPr wrap="square" lIns="54864" tIns="27432" rIns="54864" bIns="27432" anchor="t">
            <a:spAutoFit/>
          </a:bodyPr>
          <a:lstStyle/>
          <a:p>
            <a:pPr algn="r">
              <a:lnSpc>
                <a:spcPct val="100000"/>
              </a:lnSpc>
            </a:pPr>
            <a:r>
              <a:rPr sz="800" b="0" i="0">
                <a:solidFill>
                  <a:srgbClr val="A1A1A1"/>
                </a:solidFill>
                <a:latin typeface="Arial"/>
              </a:rPr>
              <a:t>31 / 31</a:t>
            </a:r>
          </a:p>
        </p:txBody>
      </p:sp>
      <p:sp>
        <p:nvSpPr>
          <p:cNvPr id="14" name="TextBox 13"/>
          <p:cNvSpPr txBox="1"/>
          <p:nvPr/>
        </p:nvSpPr>
        <p:spPr>
          <a:xfrm>
            <a:off x="457200" y="1645920"/>
            <a:ext cx="8229600" cy="1005840"/>
          </a:xfrm>
          <a:prstGeom prst="rect">
            <a:avLst/>
          </a:prstGeom>
          <a:noFill/>
        </p:spPr>
        <p:txBody>
          <a:bodyPr wrap="square" lIns="54864" tIns="27432" rIns="54864" bIns="27432" anchor="t">
            <a:spAutoFit/>
          </a:bodyPr>
          <a:lstStyle/>
          <a:p>
            <a:pPr algn="ctr">
              <a:lnSpc>
                <a:spcPct val="130000"/>
              </a:lnSpc>
            </a:pPr>
            <a:r>
              <a:rPr sz="1200" b="0" i="0">
                <a:solidFill>
                  <a:srgbClr val="666666"/>
                </a:solidFill>
                <a:latin typeface="Arial"/>
              </a:rPr>
              <a:t>École La Plateforme et Joris VERGULDEZOONE, référent de formation,</a:t>
            </a:r>
          </a:p>
          <a:p>
            <a:pPr algn="ctr">
              <a:lnSpc>
                <a:spcPct val="130000"/>
              </a:lnSpc>
            </a:pPr>
            <a:r>
              <a:rPr sz="1200" b="0" i="0">
                <a:solidFill>
                  <a:srgbClr val="666666"/>
                </a:solidFill>
                <a:latin typeface="Arial"/>
              </a:rPr>
              <a:t>FDJ United et Philippe AMERIO, référent en entreprise,</a:t>
            </a:r>
          </a:p>
          <a:p>
            <a:pPr algn="ctr">
              <a:lnSpc>
                <a:spcPct val="130000"/>
              </a:lnSpc>
            </a:pPr>
            <a:r>
              <a:rPr sz="1200" b="0" i="0">
                <a:solidFill>
                  <a:srgbClr val="666666"/>
                </a:solidFill>
                <a:latin typeface="Arial"/>
              </a:rPr>
              <a:t>et toutes les personnes ayant relu, testé et commenté ce travail.</a:t>
            </a:r>
          </a:p>
        </p:txBody>
      </p:sp>
      <p:sp>
        <p:nvSpPr>
          <p:cNvPr id="15" name="Rounded Rectangle 14"/>
          <p:cNvSpPr/>
          <p:nvPr/>
        </p:nvSpPr>
        <p:spPr>
          <a:xfrm>
            <a:off x="2468880" y="3017520"/>
            <a:ext cx="4206240" cy="859536"/>
          </a:xfrm>
          <a:prstGeom prst="roundRect">
            <a:avLst>
              <a:gd name="adj" fmla="val 6648"/>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468880" y="3017520"/>
            <a:ext cx="4206240" cy="859536"/>
          </a:xfrm>
          <a:prstGeom prst="rect">
            <a:avLst/>
          </a:prstGeom>
          <a:noFill/>
        </p:spPr>
        <p:txBody>
          <a:bodyPr wrap="square" lIns="54864" tIns="27432" rIns="54864" bIns="27432" anchor="ctr">
            <a:spAutoFit/>
          </a:bodyPr>
          <a:lstStyle/>
          <a:p>
            <a:pPr algn="ctr">
              <a:lnSpc>
                <a:spcPct val="120000"/>
              </a:lnSpc>
            </a:pPr>
            <a:r>
              <a:rPr sz="1600" b="1" i="0">
                <a:solidFill>
                  <a:srgbClr val="FFFFFF"/>
                </a:solidFill>
                <a:latin typeface="Arial"/>
              </a:rPr>
              <a:t>Merci de votre attention</a:t>
            </a:r>
          </a:p>
          <a:p>
            <a:pPr algn="ctr">
              <a:lnSpc>
                <a:spcPct val="120000"/>
              </a:lnSpc>
            </a:pPr>
            <a:r>
              <a:rPr sz="1100" b="0" i="0">
                <a:solidFill>
                  <a:srgbClr val="D5ECDA"/>
                </a:solidFill>
                <a:latin typeface="Arial"/>
              </a:rPr>
              <a:t>Avez-vous des questions ?</a:t>
            </a:r>
          </a:p>
        </p:txBody>
      </p:sp>
      <p:sp>
        <p:nvSpPr>
          <p:cNvPr id="17" name="TextBox 16"/>
          <p:cNvSpPr txBox="1"/>
          <p:nvPr/>
        </p:nvSpPr>
        <p:spPr>
          <a:xfrm>
            <a:off x="457200" y="4187952"/>
            <a:ext cx="8229600" cy="237744"/>
          </a:xfrm>
          <a:prstGeom prst="rect">
            <a:avLst/>
          </a:prstGeom>
          <a:noFill/>
        </p:spPr>
        <p:txBody>
          <a:bodyPr wrap="square" lIns="54864" tIns="27432" rIns="54864" bIns="27432" anchor="t">
            <a:spAutoFit/>
          </a:bodyPr>
          <a:lstStyle/>
          <a:p>
            <a:pPr algn="ctr">
              <a:lnSpc>
                <a:spcPct val="100000"/>
              </a:lnSpc>
            </a:pPr>
            <a:r>
              <a:rPr sz="900" b="0" i="0">
                <a:solidFill>
                  <a:srgbClr val="8F8F8F"/>
                </a:solidFill>
                <a:latin typeface="Arial"/>
              </a:rPr>
              <a:t>github.com/redjem-amir/dropicture   ·   wiki technique dans docs/wiki   ·   32 annexes de A à Z dans le mémoire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9685</Words>
  <Application>Microsoft Macintosh PowerPoint</Application>
  <PresentationFormat>Affichage à l'écran (16:9)</PresentationFormat>
  <Paragraphs>1238</Paragraphs>
  <Slides>31</Slides>
  <Notes>31</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31</vt:i4>
      </vt:variant>
    </vt:vector>
  </HeadingPairs>
  <TitlesOfParts>
    <vt:vector size="34" baseType="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Amir REDJEM</cp:lastModifiedBy>
  <cp:revision>2</cp:revision>
  <dcterms:created xsi:type="dcterms:W3CDTF">2013-01-27T09:14:16Z</dcterms:created>
  <dcterms:modified xsi:type="dcterms:W3CDTF">2026-08-03T07:24:45Z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33661bcb-cfa9-4fb2-a5e5-a05e20e0e81b_Enabled">
    <vt:lpwstr>true</vt:lpwstr>
  </property>
  <property fmtid="{D5CDD505-2E9C-101B-9397-08002B2CF9AE}" pid="3" name="MSIP_Label_33661bcb-cfa9-4fb2-a5e5-a05e20e0e81b_SetDate">
    <vt:lpwstr>2026-08-03T07:20:06Z</vt:lpwstr>
  </property>
  <property fmtid="{D5CDD505-2E9C-101B-9397-08002B2CF9AE}" pid="4" name="MSIP_Label_33661bcb-cfa9-4fb2-a5e5-a05e20e0e81b_Method">
    <vt:lpwstr>Privileged</vt:lpwstr>
  </property>
  <property fmtid="{D5CDD505-2E9C-101B-9397-08002B2CF9AE}" pid="5" name="MSIP_Label_33661bcb-cfa9-4fb2-a5e5-a05e20e0e81b_Name">
    <vt:lpwstr>PRIVÉ</vt:lpwstr>
  </property>
  <property fmtid="{D5CDD505-2E9C-101B-9397-08002B2CF9AE}" pid="6" name="MSIP_Label_33661bcb-cfa9-4fb2-a5e5-a05e20e0e81b_SiteId">
    <vt:lpwstr>b1a7639e-6f68-471f-a534-787509510be4</vt:lpwstr>
  </property>
  <property fmtid="{D5CDD505-2E9C-101B-9397-08002B2CF9AE}" pid="7" name="MSIP_Label_33661bcb-cfa9-4fb2-a5e5-a05e20e0e81b_ActionId">
    <vt:lpwstr>d6e7e77c-93f0-4930-8cf6-f3ac9a06c56a</vt:lpwstr>
  </property>
  <property fmtid="{D5CDD505-2E9C-101B-9397-08002B2CF9AE}" pid="8" name="MSIP_Label_33661bcb-cfa9-4fb2-a5e5-a05e20e0e81b_ContentBits">
    <vt:lpwstr>0</vt:lpwstr>
  </property>
  <property fmtid="{D5CDD505-2E9C-101B-9397-08002B2CF9AE}" pid="9" name="MSIP_Label_33661bcb-cfa9-4fb2-a5e5-a05e20e0e81b_Tag">
    <vt:lpwstr>50, 0, 1, 1</vt:lpwstr>
  </property>
</Properties>
</file>