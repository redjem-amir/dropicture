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73"/>
  </p:normalViewPr>
  <p:slideViewPr>
    <p:cSldViewPr snapToGrid="0" snapToObjects="1">
      <p:cViewPr varScale="1">
        <p:scale>
          <a:sx n="154" d="100"/>
          <a:sy n="154" d="100"/>
        </p:scale>
        <p:origin x="6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3600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Saluer le jury, me presenter, annoncer le titre du projet sous forme de question. Poser le fil rouge, 6 exigences tenues ensemble. Option DevOps BC4C, projet reel dropicture, tout prive par defaut.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Annoncer le plan. Le deck suit le memoire et couvre les 4 blocs. Le coeur evalue est l'option DevOps. Tout converge vers la reponse a la problematique.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Parcours precis. 28 ans. Bac+2 acquis en juin 2022 a Aix-Marseille, puis 4 ans d'experience continue: IT Remote en CDI 1 an (dev full stack), Altares en alternance (dev full stack, valide la Licence Bac+3), FDJ United en alternance 2 ans (ingenieur DevOps, valide le Master's a La Plateforme). La frise montre que les deux dernieres experiences sont des alternances alignees sur les diplomes. Raison du choix: la double culture dev/ops vecue chez FDJ.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Contexte marche, la confidentialite est une option ailleurs. La these centrale, la valeur vient des arbitrages entre 4 exigences en tension, pas de l'empilement d'outils. Enchainer sur la problematique.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Ces 5 objectifs et 3 hypotheses servent de grille, j'y reviens a la fin. Chaque objectif porte un critere binaire verifiable. La demarche est evaluable, pas declarative.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C1/C2. Une decision d'architecture non adossee a une veille est un pari. 3 piliers, sources recoupees, grille de 8 criteres, regle de tri. La grille a ecarte des options (Terraform BSL, Redis). Consigne en ADR, Annexe J et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C1/C3. La veille reglementaire a deplace des choix concrets (Cloud Act -&gt; heberger en UE). Puis l'eco-conception, RAPL indisponible en VM d'ou une estimation assumee. Recommandations innovantes, IA, Cloud, green IT. Annexe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C4. Cartographie complete aux 4 niveaux fondamentaux exiges, metier, fonctionnel, applicatif, infrastructure. Support de l'analyse de risques. Annexe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C4 et BC2 C17. Diagnostic SWOT interne + PESTEL externe. Registre EBIOS Risk Manager et ISO 27005, criticite brute puis residuelle. Annexe O. La roadmap decoule du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C5 a C9. 4 styles compares sur perf, scalabilite, securite, cout, empreinte. Retenu, monolithe modulaire conteneurise reversible. Strategie en 3 axes. Preconisations budgetisees, ordonnancees par le registre de risques.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C10 a C13. Analyse de la problematique (SWOT/PESTEL) puis priorisation MoSCoW valeur x faisabilite. 8 fonctions MVP couvertes par les tests. 5 contraintes converties en exigences, accessibilite PSH incluse.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C14 a C16. WBS (8 lots, couts) -&gt; PERT (chemin critique, marges) -&gt; Gantt (phases, jalons). Methode hybride, cadrage predictif et execution agile allegee. Annexes L, M,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C14/C15. Estimation a 3 niveaux, global, conception, deploiement. Couts et eco-responsabilite se pilotent avec les memes leviers. Garde-fou AWS Budgets. Annexe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C17 a C19. Chaque risque porte un plan de mitigation reel (Annexe O). RACI, un seul redevable par lot (Annexe L bis). Matrice d'engagement integrant les PSH (Annexe O bis).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C19/C20. Management de proximite qui marche grace aux filets techniques. Capitalisation, ADR, runbooks, wiki. Tableau de bord assiste par IA (Annexe T), gain logistique, valide par l'humain.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C21/C23. Monorepo pour versionner ensemble code, infra, pipelines. Monolithe modulaire, un controleur par domaine, testable isolement. Maquettes validees avant dev. Annexes F.1,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C22/C24. 3 schemas de processus metier UML, televersement, publication, session securisee (Annexes I.1-I.3). Patterns logiciels et de conception justifies un a un (Annexe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C13/C21. Modele relationnel sobre, 5 tables. La cascade porte le droit a l'effacement RGPD. Index partiels ou performance et sobriete vont ensemble. Annexes D, E, E bis.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C25/C26. Securite par construction, Argon2id, sessions opaques a rotation, detection de rejeu, OWASP. 218 tests hermetiques comme porte de qualite. La securite est testee comme une fonctionnalite. Annexes R, S,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C27. Mise en service automatisee, 6 etapes, portes bloquantes. Continuite par rolling update + rollback + sondes. La VSR ferme la boucle grace a l'observabilite. OpenAPI/Swagger (Annexe Q), maintenance datee (Annexe 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C28. Diagnostic de l'existant, 6 axes. Separation provisionnement/configuration, etat Terraform distant chiffre et verrouille = socle du plan de reprise. 6 principes. Green IT et accessibilite comme criteres. Annexe 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C29. Pipeline saas-deploy en 6 etapes, 2 portes bloquantes. DevSecOps shift-left, Trivy, SBOM CycloneDX, SARIF, exceptions tracees. Garde-fous, le pipeline se protege lui-meme. Annexes K,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C30. Swarm, decision de sobriete assumee (K8s reste la cible si le trafic croit). Placement par role, rollback automatique, scaling declaratif derive de Terraform. 5 reseaux overlay dont 2 internes. Annexes B,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C31. Chaine Prometheus/Loki/Grafana/Alertmanager versionnee. 10 regles routees vers e-mail et Slack. 3 dashboards provisionnes par code. Observabilite orientee anticipation. Annexe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C31, contribution distinctive. RAPL indisponible en VM, estimation logicielle documentee derivee du CPU, puissance/energie/empreinte + alerte dediee. L'IA (Claude) propose des optimisations validees par l'ingenieur. Annexe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Synthese securite, renforce C25/C29/C31 et les normes. Defense en profondeur peripherie -&gt; donnees. Conformite cartographiee y compris ecarts (Annexe R). Continuite eprouvee, restauration transactionnelle, PRA (Annexe 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Retour a la grille de la diapo 5. Les 5 objectifs atteints, les 3 hypotheses confirmees. Indicateurs DORA. Honnetete, resultats valides en conditions de validation, la charge reelle reste l'etape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Perspectives priorisees par valeur/effort et chiffrees a 29 j-h / 14 500 euros. Les 2 priorites hautes coincident avec les 2 risques les plus critiques. Aucun angle mort.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Reponse directe a la problematique, oui a 3 conditions. Fermer sur le role de l'expert SI. Enchainer sur les remerciements.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 le jury et ouvrir les questions. Garder la table de correspondance referentiel pour citer l'annexe exacte en reponse. Prevoir la demo, pipelines fonctionnels, code versionne, OWASP.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92608"/>
            <a:ext cx="694944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38328"/>
            <a:ext cx="694944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443484"/>
            <a:ext cx="749808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292608"/>
            <a:ext cx="694944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91856" y="338328"/>
            <a:ext cx="694944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443484"/>
            <a:ext cx="749808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01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5760"/>
            <a:ext cx="6492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RNCP N° 40573   ·   NIVEAU 7 (BAC+5)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603504"/>
            <a:ext cx="649224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EXPERT EN INFORMATIQUE ET SYSTÈMES D’INFORMATION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932688"/>
            <a:ext cx="7863840" cy="8229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212529"/>
                </a:solidFill>
                <a:latin typeface="Calibri"/>
              </a:rPr>
              <a:t>dropicture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1810512"/>
            <a:ext cx="7040880" cy="1024128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51560" y="1810512"/>
            <a:ext cx="73152" cy="102412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98448" y="1892807"/>
            <a:ext cx="6675120" cy="9144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Problématique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212529"/>
                </a:solidFill>
                <a:latin typeface="Calibri"/>
              </a:rPr>
              <a:t>Comment concevoir et déployer une infrastructure DevOps entièrement automatisée, sécurisée et éco-responsable, permettant la livraison continue d’une plateforme SaaS de partage de médias tout en garantissant la qualité, l’observabilité et la maîtrise des coûts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2384"/>
            <a:ext cx="78638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2529"/>
                </a:solidFill>
                <a:latin typeface="Calibri"/>
              </a:rPr>
              <a:t>Amir REDJEM</a:t>
            </a:r>
            <a:r>
              <a:rPr sz="1100" b="0" i="0">
                <a:solidFill>
                  <a:srgbClr val="495057"/>
                </a:solidFill>
                <a:latin typeface="Calibri"/>
              </a:rPr>
              <a:t>     Promotion 2024 / 2026     ·     Option DevOps (BC4C)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84448"/>
            <a:ext cx="41148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École La Plateforme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Marseille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68E96"/>
                </a:solidFill>
                <a:latin typeface="Calibri"/>
              </a:rPr>
              <a:t>Référent  Joris VERGULDEZOONE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84448"/>
            <a:ext cx="41148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FDJ United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Vitrolles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68E96"/>
                </a:solidFill>
                <a:latin typeface="Calibri"/>
              </a:rPr>
              <a:t>Référent  Philippe AMERIO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98848"/>
            <a:ext cx="78638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B8A3E"/>
                </a:solidFill>
                <a:latin typeface="Calibri"/>
              </a:rPr>
              <a:t>Soutenance du 03/08/2026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FIL CONDUCTEUR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Sommaire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02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1600200"/>
            <a:ext cx="1280160" cy="2286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Cadre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  Présentation &amp; parcours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2  Contexte &amp; problématique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3  Objectifs &amp; hypothèses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47088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847088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847088" y="1600200"/>
            <a:ext cx="1280160" cy="2286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65376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BC1 · Stratégie 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8528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4  Veille &amp; réglementaire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5  Cartographie &amp; risques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6  Architectures &amp; stratégie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6976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236976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36976" y="1600200"/>
            <a:ext cx="1280160" cy="2286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55264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BC2 · Piloter le projet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7  Besoins &amp; priorisation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8  Planning &amp; budget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9  Risques, RACI &amp; pilotage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626864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26864" y="1600200"/>
            <a:ext cx="1280160" cy="2286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45152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18304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10  Architecture &amp; UML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11  Données &amp; sécurité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12  Tests &amp; livraison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16752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16752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16752" y="1600200"/>
            <a:ext cx="1280160" cy="228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35040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BC4C · 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13  Stratégie &amp; CI/CD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14  Orchestration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15  Observabilité &amp; green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06640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406640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06640" y="1600200"/>
            <a:ext cx="1280160" cy="2286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24927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16  Conformité &amp; résultats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17  Perspectives chiffrées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18  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68E96"/>
                </a:solidFill>
                <a:latin typeface="Calibri"/>
              </a:rPr>
              <a:t>Chaque section revient à la problématique. Les quatre blocs du référentiel sont couverts intégralement.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1 · PRÉSENTATION PERSONNELLE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Mon parcours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03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143000"/>
            <a:ext cx="8229600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12529"/>
                </a:solidFill>
                <a:latin typeface="Calibri"/>
              </a:rPr>
              <a:t>Amir REDJEM</a:t>
            </a:r>
            <a:r>
              <a:rPr sz="1100" b="0" i="0">
                <a:solidFill>
                  <a:srgbClr val="495057"/>
                </a:solidFill>
                <a:latin typeface="Calibri"/>
              </a:rPr>
              <a:t>   ·   28 ans   ·   Ingénieur DevOps en alternance chez FDJ United   ·   Marseille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258568"/>
            <a:ext cx="7269480" cy="20116"/>
          </a:xfrm>
          <a:prstGeom prst="rect">
            <a:avLst/>
          </a:prstGeom>
          <a:solidFill>
            <a:srgbClr val="DE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41183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sept. 2022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634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0891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85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342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2024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9536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793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8987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9244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août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1481328"/>
            <a:ext cx="14630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971C2"/>
                </a:solidFill>
                <a:latin typeface="Calibri"/>
              </a:rPr>
              <a:t>FORMATIONS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200400"/>
            <a:ext cx="14630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12529"/>
                </a:solidFill>
                <a:latin typeface="Calibri"/>
              </a:rPr>
              <a:t>EXPÉRIENCES · 4 ANS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664208"/>
            <a:ext cx="868680" cy="530352"/>
          </a:xfrm>
          <a:prstGeom prst="roundRect">
            <a:avLst>
              <a:gd name="adj" fmla="val 12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5488" y="1728216"/>
            <a:ext cx="832103" cy="43891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Bac+2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C5DBEF"/>
                </a:solidFill>
                <a:latin typeface="Calibri"/>
              </a:rPr>
              <a:t>AMU · 2022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30118" y="1664208"/>
            <a:ext cx="1739646" cy="530352"/>
          </a:xfrm>
          <a:prstGeom prst="roundRect">
            <a:avLst>
              <a:gd name="adj" fmla="val 12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30118" y="1728216"/>
            <a:ext cx="1757934" cy="43891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Licence · Bac+3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C5DBEF"/>
                </a:solidFill>
                <a:latin typeface="Calibri"/>
              </a:rPr>
              <a:t>Univ. Aix-Marseille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2916" y="1664208"/>
            <a:ext cx="3552444" cy="530352"/>
          </a:xfrm>
          <a:prstGeom prst="roundRect">
            <a:avLst>
              <a:gd name="adj" fmla="val 12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4628" y="1728216"/>
            <a:ext cx="3552444" cy="43891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Master’s Expert en Informatique · Bac+5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C5DBEF"/>
                </a:solidFill>
                <a:latin typeface="Calibri"/>
              </a:rPr>
              <a:t>École La Plateforme · en alternance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5608" y="2578608"/>
            <a:ext cx="1739646" cy="566928"/>
          </a:xfrm>
          <a:prstGeom prst="roundRect">
            <a:avLst>
              <a:gd name="adj" fmla="val 12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35608" y="2725605"/>
            <a:ext cx="1757934" cy="3095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IT Remote · CDI 1 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D9CFF5"/>
                </a:solidFill>
                <a:latin typeface="Calibri"/>
              </a:rPr>
              <a:t>Développeur Full Stack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30118" y="2578608"/>
            <a:ext cx="1739646" cy="566928"/>
          </a:xfrm>
          <a:prstGeom prst="roundRect">
            <a:avLst>
              <a:gd name="adj" fmla="val 12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30118" y="2642615"/>
            <a:ext cx="1757934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Altares D&amp;B · alternance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D9CFF5"/>
                </a:solidFill>
                <a:latin typeface="Calibri"/>
              </a:rPr>
              <a:t>Développeur Full Stack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2916" y="2578608"/>
            <a:ext cx="3534156" cy="566928"/>
          </a:xfrm>
          <a:prstGeom prst="roundRect">
            <a:avLst>
              <a:gd name="adj" fmla="val 12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4628" y="2642615"/>
            <a:ext cx="3552444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FDJ United · alternance 2 ans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F9D5C2"/>
                </a:solidFill>
                <a:latin typeface="Calibri"/>
              </a:rPr>
              <a:t>Ingénieur DevOps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3401568"/>
            <a:ext cx="8229600" cy="804672"/>
          </a:xfrm>
          <a:prstGeom prst="roundRect">
            <a:avLst>
              <a:gd name="adj" fmla="val 5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7200" y="3401568"/>
            <a:ext cx="73152" cy="804672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502152"/>
            <a:ext cx="7772400" cy="6583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Raison de ce choix de sujet   </a:t>
            </a:r>
            <a:r>
              <a:rPr sz="1000" b="0" i="0">
                <a:solidFill>
                  <a:srgbClr val="212529"/>
                </a:solidFill>
                <a:latin typeface="Calibri"/>
              </a:rPr>
              <a:t>Ingénieur DevOps chez FDJ au quotidien, Kubernetes, IaC, CI/CD, Prometheus et Loki.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Cette double culture, développer et exploiter, m’a convaincu que le vrai enjeu n’est pas l’application mais la chaîne sûre et sobre qui la porte en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CADRE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Contexte &amp; problématique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04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25880"/>
            <a:ext cx="3977639" cy="1874519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325880"/>
            <a:ext cx="64008" cy="1874519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14173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Le produit, dropicture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691640"/>
            <a:ext cx="3703320" cy="1453895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Privé par défaut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tout média reste privé jusqu’à publication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Publication explicite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une décision, révocable, du seul auteur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Profil public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l’utilisateur garde la main sur ce qu’il expose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Différenciation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l’inverse des plateformes grand public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1325880"/>
            <a:ext cx="4069080" cy="1874519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17720" y="1325880"/>
            <a:ext cx="64008" cy="1874519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73168" y="1417320"/>
            <a:ext cx="3840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Quatre exigences tenues ensemble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178308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00600" y="1783080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971C2"/>
                </a:solidFill>
                <a:latin typeface="Calibri"/>
              </a:rPr>
              <a:t>Automatisation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78308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0" y="1783080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Sécurité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441448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1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2441448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Éco-responsabilité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2441448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FC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2441448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Maîtrise des coûts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364992"/>
            <a:ext cx="8229600" cy="91440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3465576"/>
            <a:ext cx="7772400" cy="7498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La difficulté n’est pas de traiter ces exigences séparément, chacune a ses solutions. Elle est de les tenir ensemble.  </a:t>
            </a:r>
            <a:r>
              <a:rPr sz="1150" b="1" i="0">
                <a:solidFill>
                  <a:srgbClr val="95C49E"/>
                </a:solidFill>
                <a:latin typeface="Calibri"/>
              </a:rPr>
              <a:t>C’est dans ces tensions que se joue la valeur de la démarche.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CADRE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Objectifs &amp; hypothèses, la grille d’évaluation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05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23444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8A3E"/>
                </a:solidFill>
                <a:latin typeface="Calibri"/>
              </a:rPr>
              <a:t>5 objectifs opérationnels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572768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1572768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572768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1618488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Tout décrire en code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aucune ressource hors du 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139696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2139696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185415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Livrer en continu sous contrôle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aucun déploiement si une porte échoue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706624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7200" y="2706624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706624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2752344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Orchestrer des conteneurs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déploiement sans interruption perceptible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273552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7200" y="3273552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273552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319272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Rendre le système observable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toute dérive détectée avant l’utilisateur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840480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57200" y="3840480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3886200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Sécurité, conformité, sobriété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chaque exigence porte son indicateur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1234440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3 hypothèses de travail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2040" y="1572768"/>
            <a:ext cx="3794760" cy="786384"/>
          </a:xfrm>
          <a:prstGeom prst="roundRect">
            <a:avLst>
              <a:gd name="adj" fmla="val 8000"/>
            </a:avLst>
          </a:prstGeom>
          <a:solidFill>
            <a:srgbClr val="FD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0" y="1645920"/>
            <a:ext cx="4572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590C"/>
                </a:solidFill>
                <a:latin typeface="Calibri"/>
              </a:rPr>
              <a:t>H1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1645920"/>
            <a:ext cx="31089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L’automatisation de bout en bout (IaC + GitOps) améliore ensemble fiabilité et vitesse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2040" y="2450591"/>
            <a:ext cx="3794760" cy="786384"/>
          </a:xfrm>
          <a:prstGeom prst="roundRect">
            <a:avLst>
              <a:gd name="adj" fmla="val 8000"/>
            </a:avLst>
          </a:prstGeom>
          <a:solidFill>
            <a:srgbClr val="FD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0" y="2523744"/>
            <a:ext cx="4572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590C"/>
                </a:solidFill>
                <a:latin typeface="Calibri"/>
              </a:rPr>
              <a:t>H2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2523744"/>
            <a:ext cx="31089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Un orchestrateur proportionné apporte résilience à coût très inférieur au standard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2040" y="3328415"/>
            <a:ext cx="3794760" cy="786384"/>
          </a:xfrm>
          <a:prstGeom prst="roundRect">
            <a:avLst>
              <a:gd name="adj" fmla="val 8000"/>
            </a:avLst>
          </a:prstGeom>
          <a:solidFill>
            <a:srgbClr val="FD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0" y="3401568"/>
            <a:ext cx="4572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590C"/>
                </a:solidFill>
                <a:latin typeface="Calibri"/>
              </a:rPr>
              <a:t>H3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3401568"/>
            <a:ext cx="31089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Une estimation logicielle de l’énergie suffit à piloter l’éco-responsabilité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279392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68E96"/>
                </a:solidFill>
                <a:latin typeface="Calibri"/>
              </a:rPr>
              <a:t>Reprises et validées en section Bilan (Q1 à Q4).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Veille technologique structurée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06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 C2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Sources qualifiées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Primaires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docs officielles, releases, CVE/NVD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Normatives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ANSSI, CNIL, OWASP, ISO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Prospectives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TW Radar, CNCF Landscape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Communautaires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HN, r/devops, DORA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Recoupées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plusieurs sources indépendantes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37560" y="1325880"/>
            <a:ext cx="64008" cy="278892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9300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Grille en 8 critères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Pérennité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licence, gouvernance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Adéquation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besoin réel, sans excès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Coût total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exploitation &gt; licence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Sécurité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surface d’attaque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Sobriété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outil de mesure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Accessibilité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WCAG 2.2, RGAA 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Réversibilité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verrouillage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325880"/>
            <a:ext cx="64008" cy="278892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1417320"/>
            <a:ext cx="22128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Ce qu’elle a tranché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691640"/>
            <a:ext cx="219456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Bun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vs Node/Deno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Swarm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vs Kubernetes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Terraform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repli OpenTofu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Redis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repli Valkey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Auto-hébergé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vs Datadog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Veille réglementaire &amp; éco-conception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07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 C3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71C2"/>
                </a:solidFill>
                <a:latin typeface="Calibri"/>
              </a:rPr>
              <a:t>Trois textes qui ont pesé sur l’architecture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627632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627632"/>
            <a:ext cx="64008" cy="74980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1709928"/>
            <a:ext cx="38862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212529"/>
                </a:solidFill>
                <a:latin typeface="Calibri"/>
              </a:rPr>
              <a:t>Cloud 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Calcul chez Hetzner (UE), AWS confiné à eu-west-3 Paris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468880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468880"/>
            <a:ext cx="64008" cy="74980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551176"/>
            <a:ext cx="38862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212529"/>
                </a:solidFill>
                <a:latin typeface="Calibri"/>
              </a:rPr>
              <a:t>RGPD · NIS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Minimisation, effacement en cascade, chiffrement au repos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10128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310128"/>
            <a:ext cx="64008" cy="74980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392424"/>
            <a:ext cx="38862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212529"/>
                </a:solidFill>
                <a:latin typeface="Calibri"/>
              </a:rPr>
              <a:t>IA 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Outils d’IA sous revue humaine, hors catégories à haut risque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1280160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8A3E"/>
                </a:solidFill>
                <a:latin typeface="Calibri"/>
              </a:rPr>
              <a:t>Éco-conception, mesurer avant de réduire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92040" y="1627632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92040" y="1627632"/>
            <a:ext cx="64008" cy="123444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47488" y="1719072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Le constat outillé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1993392"/>
            <a:ext cx="3520440" cy="81381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RAPL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compteurs matériels absents en VM louée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Choix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estimation logicielle dérivée du CPU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Cadre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RGESN et collectif GreenIT suivis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92040" y="2971800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92040" y="2971800"/>
            <a:ext cx="64008" cy="123444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47488" y="3063240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4 leviers de sobriété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3337560"/>
            <a:ext cx="3520440" cy="81381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Right-sizing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au plus juste, service par service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Cycle de vie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stockage vers paliers froids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Cache &amp; compression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transferts réduits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Région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mix électrique favorable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Cartographie du SI aux 4 niveaux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08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27862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27862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13716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74519" y="1371600"/>
            <a:ext cx="109728" cy="65836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371600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MÉTIER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596140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 err="1">
                <a:solidFill>
                  <a:srgbClr val="212529"/>
                </a:solidFill>
                <a:latin typeface="Calibri"/>
              </a:rPr>
              <a:t>Identité</a:t>
            </a:r>
            <a:r>
              <a:rPr sz="1000" b="0" i="0" dirty="0">
                <a:solidFill>
                  <a:srgbClr val="212529"/>
                </a:solidFill>
                <a:latin typeface="Calibri"/>
              </a:rPr>
              <a:t> · bibliothèque </a:t>
            </a:r>
            <a:r>
              <a:rPr sz="1000" b="0" i="0" dirty="0" err="1">
                <a:solidFill>
                  <a:srgbClr val="212529"/>
                </a:solidFill>
                <a:latin typeface="Calibri"/>
              </a:rPr>
              <a:t>privée</a:t>
            </a:r>
            <a:r>
              <a:rPr sz="1000" b="0" i="0" dirty="0">
                <a:solidFill>
                  <a:srgbClr val="212529"/>
                </a:solidFill>
                <a:latin typeface="Calibri"/>
              </a:rPr>
              <a:t> · publication · réseau social </a:t>
            </a:r>
            <a:r>
              <a:rPr sz="1000" b="0" i="0" dirty="0" err="1">
                <a:solidFill>
                  <a:srgbClr val="212529"/>
                </a:solidFill>
                <a:latin typeface="Calibri"/>
              </a:rPr>
              <a:t>léger</a:t>
            </a:r>
            <a:endParaRPr sz="1000" b="0" i="0" dirty="0">
              <a:solidFill>
                <a:srgbClr val="212529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2103120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210312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3B8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874519" y="2103120"/>
            <a:ext cx="109728" cy="658368"/>
          </a:xfrm>
          <a:prstGeom prst="rect">
            <a:avLst/>
          </a:prstGeom>
          <a:solidFill>
            <a:srgbClr val="3B8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103120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FONCTIONNEL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327660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Auth &amp; sessions · médias &amp; albums · profil public · découverte · paramètres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834639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7200" y="2834639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874519" y="2834639"/>
            <a:ext cx="10972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2834639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APPLICATIF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059179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NestJS/Bun · Next.js · TypeORM · API REST OpenAPI · un contrôleur par domaine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566159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57200" y="3566159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874519" y="3566159"/>
            <a:ext cx="109728" cy="658368"/>
          </a:xfrm>
          <a:prstGeom prst="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566159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790699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Docker Swarm · Traefik · PostgreSQL · Redis · Hetzner · AWS S3/CloudFront · Cloudflare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68E96"/>
                </a:solidFill>
                <a:latin typeface="Calibri"/>
              </a:rPr>
              <a:t>Support de l’analyse de risques. Chaque niveau est instruit séparément pour rester lisible (Annexe A, 4 planches).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Diagnostic &amp; analyse de risques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09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68019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68019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C4 · C17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61872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71C2"/>
                </a:solidFill>
                <a:latin typeface="Calibri"/>
              </a:rPr>
              <a:t>Diagnostic SWOT + PESTEL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591056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E9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1664208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FORCES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901952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Tout en code, sécurité en profondeur, observabilité mature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0320" y="1591056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FD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70048" y="1664208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08C00"/>
                </a:solidFill>
                <a:latin typeface="Calibri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1901952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Nœud de périphérie unique, secrets sur 3 fournisseurs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523744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2596896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OPPORTUNITÉS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34639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RAPL bare-metal, SBOM exploitées, IA d’exploitation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60320" y="2523744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70048" y="2596896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03131"/>
                </a:solidFill>
                <a:latin typeface="Calibri"/>
              </a:rPr>
              <a:t>MENACES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0048" y="2834639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Licences (2 forks), durcissement RGPD, NIS 2, IA 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1591056"/>
            <a:ext cx="3794760" cy="13716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892040" y="1591056"/>
            <a:ext cx="64008" cy="13716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47488" y="1682496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Registre coté EBIOS RM &amp; ISO 27005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1956816"/>
            <a:ext cx="3520440" cy="95097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8 risques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sources, événements, scénarios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Cotation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vraisemblance × gravité, codes couleurs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Traitement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éviter, réduire, transférer, accepter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Résiduel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criticité brute → résiduelle, -58 %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92040" y="3063240"/>
            <a:ext cx="3794760" cy="1143000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74920" y="3163824"/>
            <a:ext cx="3474720" cy="9601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7BFE3"/>
                </a:solidFill>
                <a:latin typeface="Calibri"/>
              </a:rPr>
              <a:t>Convergence 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Les 2 axes prioritaires du plan d’amélioration coïncident avec les 2 risques les plus critiques.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La feuille de route suit le registre.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Comparaison des architectures &amp; stratégie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10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C5-C9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1280160"/>
          <a:ext cx="475488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 marL="64008" marR="45720" marT="9144" marB="9144" anchor="ctr">
                    <a:solidFill>
                      <a:srgbClr val="1971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 pour dropicture</a:t>
                      </a:r>
                    </a:p>
                  </a:txBody>
                  <a:tcPr marL="64008" marR="45720" marT="9144" marB="9144" anchor="ctr">
                    <a:solidFill>
                      <a:srgbClr val="197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Monolithe modulaire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8A3E"/>
                          </a:solidFill>
                          <a:latin typeface="Calibri"/>
                        </a:rPr>
                        <a:t>RETENU · modularité par domaine sans coût du distribué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Microservices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2529"/>
                          </a:solidFill>
                          <a:latin typeface="Calibri"/>
                        </a:rPr>
                        <a:t>écarté · surcoût opérationnel et énergétique disproportionné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Serverless (FaaS)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2529"/>
                          </a:solidFill>
                          <a:latin typeface="Calibri"/>
                        </a:rPr>
                        <a:t>écarté · incompatible téléversement en flux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Orienté événements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2529"/>
                          </a:solidFill>
                          <a:latin typeface="Calibri"/>
                        </a:rPr>
                        <a:t>en cible · post-traitement des médias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40680" y="1280160"/>
            <a:ext cx="32461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71C2"/>
                </a:solidFill>
                <a:latin typeface="Calibri"/>
              </a:rPr>
              <a:t>Stratégie en 3 axes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1609344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E9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40680" y="1609344"/>
            <a:ext cx="64008" cy="56692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96128" y="1664208"/>
            <a:ext cx="3017520" cy="47548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1 · Tout en code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95057"/>
                </a:solidFill>
                <a:latin typeface="Calibri"/>
              </a:rPr>
              <a:t>GitOps, images immuables, rollback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2249424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EF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40680" y="2249424"/>
            <a:ext cx="64008" cy="56692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96128" y="2304288"/>
            <a:ext cx="3017520" cy="47548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2 · Sécurité intégrée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95057"/>
                </a:solidFill>
                <a:latin typeface="Calibri"/>
              </a:rPr>
              <a:t>shift-left, ISO 27001, RGPD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2889504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40680" y="2889504"/>
            <a:ext cx="64008" cy="56692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96128" y="2944368"/>
            <a:ext cx="3017520" cy="47548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3 · Green IT mesuré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95057"/>
                </a:solidFill>
                <a:latin typeface="Calibri"/>
              </a:rPr>
              <a:t>right-sizing + énergie alertée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10128"/>
            <a:ext cx="8229600" cy="896112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310128"/>
            <a:ext cx="64008" cy="896112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" y="3401568"/>
            <a:ext cx="786384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971C2"/>
                </a:solidFill>
                <a:latin typeface="Calibri"/>
              </a:rPr>
              <a:t>Préconisations chiffrées  </a:t>
            </a:r>
            <a:r>
              <a:rPr sz="1050" b="0" i="0">
                <a:solidFill>
                  <a:srgbClr val="212529"/>
                </a:solidFill>
                <a:latin typeface="Calibri"/>
              </a:rPr>
              <a:t>7 actions priorisées, </a:t>
            </a:r>
            <a:r>
              <a:rPr sz="1050" b="1" i="0">
                <a:solidFill>
                  <a:srgbClr val="1971C2"/>
                </a:solidFill>
                <a:latin typeface="Calibri"/>
              </a:rPr>
              <a:t>29 j-h et 14 500 €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, soit 14 % de l’effort de construction. Les 2 priorités hautes traitent le risque le plus critique. Boucle mesure → priorisation → action.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Besoins &amp; priorisation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11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C10-C13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8892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53288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De la vision aux exigences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51460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Personas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créateurs soucieux de garder la main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User stories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format Given / When / Then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Cas d’usage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visiteur et membre (Annexe G)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MoSCoW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valeur × faisabilité (Annexe X)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SWOT / benchmark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killer features (Annexe 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1325880"/>
            <a:ext cx="269748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8328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38728" y="1417320"/>
            <a:ext cx="24414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8 fonctions du MVP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1691640"/>
            <a:ext cx="242316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Auth &amp; compte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Argon2id, sessions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Téléversement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en flux, quotas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Bibliothèque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privée par défaut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Albums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placement ordonné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Publication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sélective, révocable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Profil public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export statique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Fil social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abonnements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Recherche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de profils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F2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1417320"/>
            <a:ext cx="2194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741D9"/>
                </a:solidFill>
                <a:latin typeface="Calibri"/>
              </a:rPr>
              <a:t>5 contraintes structurantes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755648"/>
            <a:ext cx="2194560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Confidentialité par défaut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RGPD, effacement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ISO 27001, défense en profondeur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Accessibilité WCAG 2.2 / RGAA 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Éco-responsabilité mesurable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Planification, WBS · PERT · Gantt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12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C14-C16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453896"/>
            <a:ext cx="19202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8 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726184"/>
            <a:ext cx="1920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WBS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85415"/>
            <a:ext cx="192024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207 j-h · 103 500 €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14600" y="13716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14600" y="1453896"/>
            <a:ext cx="19202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122 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1726184"/>
            <a:ext cx="1920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CHEMIN CRITIQUE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185415"/>
            <a:ext cx="192024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PERT, marges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13716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1453896"/>
            <a:ext cx="19202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5 phases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1726184"/>
            <a:ext cx="1920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GANTT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185415"/>
            <a:ext cx="192024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5 jalons M1 → M5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1371600"/>
            <a:ext cx="20574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1453896"/>
            <a:ext cx="2057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Hybride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26184"/>
            <a:ext cx="2057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MÉTHODE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185415"/>
            <a:ext cx="20574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prédictif + agile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Chemin critique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Cadrage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856231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130552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30552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Backend API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529584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803904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803904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CI/CD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202936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477256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77256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Observabilité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876288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150608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50608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Doc &amp; REX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3749039"/>
            <a:ext cx="822960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12529"/>
                </a:solidFill>
                <a:latin typeface="Calibri"/>
              </a:rPr>
              <a:t>Le PERT révèle où la vigilance compte. </a:t>
            </a:r>
            <a:r>
              <a:rPr sz="1050" b="1" i="0">
                <a:solidFill>
                  <a:srgbClr val="6741D9"/>
                </a:solidFill>
                <a:latin typeface="Calibri"/>
              </a:rPr>
              <a:t>Infrastructure, frontend et sécurité disposent d’une marge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, information précieuse le jour où il faut arbitrer sous tension. Dates réactualisées à chaque jalon.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Budget à 3 niveaux &amp; maîtrise des coûts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13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C14 C15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1371600"/>
            <a:ext cx="2606040" cy="347472"/>
          </a:xfrm>
          <a:prstGeom prst="roundRect">
            <a:avLst>
              <a:gd name="adj" fmla="val 8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572768"/>
            <a:ext cx="2606040" cy="146304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371600"/>
            <a:ext cx="2606040" cy="34747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Global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810512"/>
            <a:ext cx="26060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Calibri"/>
              </a:rPr>
              <a:t>103 500 €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212848"/>
            <a:ext cx="26060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207 j-h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18688" y="1371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218688" y="1371600"/>
            <a:ext cx="2606040" cy="347472"/>
          </a:xfrm>
          <a:prstGeom prst="roundRect">
            <a:avLst>
              <a:gd name="adj" fmla="val 8000"/>
            </a:avLst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18688" y="1572768"/>
            <a:ext cx="2606040" cy="146304"/>
          </a:xfrm>
          <a:prstGeom prst="rect">
            <a:avLst/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18688" y="1371600"/>
            <a:ext cx="2606040" cy="34747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Conception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1810512"/>
            <a:ext cx="26060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Calibri"/>
              </a:rPr>
              <a:t>33 000 €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2212848"/>
            <a:ext cx="26060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66 j-h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0176" y="1371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980176" y="1371600"/>
            <a:ext cx="2606040" cy="347472"/>
          </a:xfrm>
          <a:prstGeom prst="roundRect">
            <a:avLst>
              <a:gd name="adj" fmla="val 8000"/>
            </a:avLst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980176" y="1572768"/>
            <a:ext cx="2606040" cy="146304"/>
          </a:xfrm>
          <a:prstGeom prst="rect">
            <a:avLst/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0176" y="1371600"/>
            <a:ext cx="2606040" cy="34747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Déploiement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810512"/>
            <a:ext cx="26060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Calibri"/>
              </a:rPr>
              <a:t>70 500 €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6" y="2212848"/>
            <a:ext cx="26060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141 j-h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697480"/>
            <a:ext cx="4206240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2697480"/>
            <a:ext cx="64008" cy="150876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2648" y="2788920"/>
            <a:ext cx="39502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Exploitation récurrente maîtrisée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" y="3063240"/>
            <a:ext cx="393192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≈ 71 € / mois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soit 852 € par an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Hetzner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calcul européen à faible coût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AWS Budgets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alerte dès qu’un seuil approche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Right-sizing + tiering S3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facture et énergie ensemble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0" y="2697480"/>
            <a:ext cx="3840480" cy="150876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0" y="2816352"/>
            <a:ext cx="352044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5C49E"/>
                </a:solidFill>
                <a:latin typeface="Calibri"/>
              </a:rPr>
              <a:t>Coûts et sobriété, mêmes leviers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 dimensionnement au plus juste agit sur la facture Hetzner et sur la consommation électrique.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Une trajectoire de coûts anticipée, mesurée et alertée.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Risques, RACI &amp; parties prenantes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14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C17-C19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Registre de 8 risques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R1 Nœud périphérie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HA supervision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R3 Vol/rejeu session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rotation + détection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R4 Coûts cloud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AWS Budgets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R5 Perte de données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sauvegardes 6 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R7 Régression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tests + rollback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R8 RGPD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minimisation, 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3756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9300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Matrice RACI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8 lots × 6 acteurs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Un A unique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par lot, décision non diluée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Distribution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équilibrée R/A/C/I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Exemple infra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DevOps R, sponsor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référent sécurité C, développeurs 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F2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1417320"/>
            <a:ext cx="2194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741D9"/>
                </a:solidFill>
                <a:latin typeface="Calibri"/>
              </a:rPr>
              <a:t>Engagement &amp; PSH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755648"/>
            <a:ext cx="2212848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Niveau actuel vs cible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Causes des écarts et actions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Prise en compte du handicap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Surfaces et comptes rendus accessibles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WCAG 2.2 / RGAA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Management, capitalisation &amp; pilotage 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15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C19 C20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Animer une équipe resserrée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Itérations courtes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engagements, revue, rétro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Autonomie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filets techniques, tests, rollback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Motivation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sens du produit, jalons célébrés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Transparence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indicateurs partagés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3756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9300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Capitaliser le savoir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Revue de code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systématique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Binômage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sur les points délicats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ADR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le pourquoi des arbitrages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Runbooks + wiki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16 pages, docs/wiki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Passation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anti-dépendance individuelle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1417320"/>
            <a:ext cx="2194560" cy="2743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4B491"/>
                </a:solidFill>
                <a:latin typeface="Calibri"/>
              </a:rPr>
              <a:t>Tableau de bord IA 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1">
                <a:solidFill>
                  <a:srgbClr val="FFFFFF"/>
                </a:solidFill>
                <a:latin typeface="Calibri"/>
              </a:rPr>
              <a:t>Sécurisé, consultable en ligne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Agrège avancement, qualité, exploitation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Résumé en langage naturel, tendances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Validé par l’ingénieur avant diffusion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Sources vérifiables, Grafana + OpenAPI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Architecture applicative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16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C21 C23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A678"/>
                </a:solidFill>
                <a:latin typeface="Calibri"/>
              </a:rPr>
              <a:t>Monorepo, un commit décrit tout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627632"/>
            <a:ext cx="416052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627632"/>
            <a:ext cx="6400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1700784"/>
            <a:ext cx="38862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1">
                <a:solidFill>
                  <a:srgbClr val="212529"/>
                </a:solidFill>
                <a:latin typeface="Calibri"/>
              </a:rPr>
              <a:t>apps/saas/backend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API REST · NestJS 11 · Bun · TypeORM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377440"/>
            <a:ext cx="416052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6400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450592"/>
            <a:ext cx="38862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1">
                <a:solidFill>
                  <a:srgbClr val="212529"/>
                </a:solidFill>
                <a:latin typeface="Calibri"/>
              </a:rPr>
              <a:t>apps/saas/frontend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App authentifiée · Next.js 16 (SSR)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127248"/>
            <a:ext cx="416052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127248"/>
            <a:ext cx="6400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38862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1">
                <a:solidFill>
                  <a:srgbClr val="212529"/>
                </a:solidFill>
                <a:latin typeface="Calibri"/>
              </a:rPr>
              <a:t>apps/website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Site vitrine · Next.js export statique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92040" y="1280160"/>
            <a:ext cx="3794760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892040" y="1280160"/>
            <a:ext cx="64008" cy="15087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47488" y="1371600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Monolithe modulaire, un contrôleur par domaine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1645919"/>
            <a:ext cx="352044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Domaines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auth, bibliothèque, profil, découverte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paramètres, périmètre public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Services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AuthService, MediaService, RedisService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Réversible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frontières déjà matérialisées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92040" y="2926080"/>
            <a:ext cx="3794760" cy="1280160"/>
          </a:xfrm>
          <a:prstGeom prst="roundRect">
            <a:avLst>
              <a:gd name="adj" fmla="val 6000"/>
            </a:avLst>
          </a:prstGeom>
          <a:solidFill>
            <a:srgbClr val="EB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892040" y="2926080"/>
            <a:ext cx="64008" cy="12801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74920" y="3017520"/>
            <a:ext cx="3474720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CA678"/>
                </a:solidFill>
                <a:latin typeface="Calibri"/>
              </a:rPr>
              <a:t>Validé avant de coder  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Interfaces esquissées en maquettes basse fidélité reliées aux flux.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Discuter un écran coûte des minutes, le recoder coûte des jours.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Modélisation UML &amp;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17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C22 C24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A678"/>
                </a:solidFill>
                <a:latin typeface="Calibri"/>
              </a:rPr>
              <a:t>3 processus métier en diagrammes de séquence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609344"/>
            <a:ext cx="457200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" y="1609344"/>
            <a:ext cx="384048" cy="658368"/>
          </a:xfrm>
          <a:prstGeom prst="roundRect">
            <a:avLst>
              <a:gd name="adj" fmla="val 8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609344"/>
            <a:ext cx="384048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1691640"/>
            <a:ext cx="4023360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Téléversement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flux multipart, garde de taille, privé par défaut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359152"/>
            <a:ext cx="457200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2359152"/>
            <a:ext cx="384048" cy="658368"/>
          </a:xfrm>
          <a:prstGeom prst="roundRect">
            <a:avLst>
              <a:gd name="adj" fmla="val 8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359152"/>
            <a:ext cx="384048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41448"/>
            <a:ext cx="4023360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Publication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datation atomique, index partiel, invalidation cache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08960"/>
            <a:ext cx="457200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7200" y="3108960"/>
            <a:ext cx="384048" cy="658368"/>
          </a:xfrm>
          <a:prstGeom prst="roundRect">
            <a:avLst>
              <a:gd name="adj" fmla="val 8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108960"/>
            <a:ext cx="384048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191256"/>
            <a:ext cx="4023360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Session sécurisée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rotation par nonce, détection de rejeu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128016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303520" y="1280160"/>
            <a:ext cx="64008" cy="292608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58968" y="1371600"/>
            <a:ext cx="31272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Patterns justifiés (Annexe 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1645919"/>
            <a:ext cx="3108960" cy="2505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Injection de dépendances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découple, testable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Repository + QueryBuilder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typage strict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DTO + validation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liste blanche stricte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Stratégies Passport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cookie et clé d’API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Pagination par curseur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robuste et sobre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Aussi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cas d’usage et classes, Annexe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Modèle de données &amp; éco-conception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18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C13 C21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141732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Merise, 5 tables suffisent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3749040" cy="9966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Comptes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identité, empreinte, clé d’API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Médias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rôle, date de publication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Albums &amp; placements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position d’affichage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Abonnements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relation réflexive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834640"/>
            <a:ext cx="64008" cy="13716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292608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Index partiels, sobriété =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200400"/>
            <a:ext cx="3749040" cy="95097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Fil public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n’indexe que les lignes publiées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Clé d’API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unicité restreinte aux comptes concernés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Effet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index compact, lectures accélérées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325880"/>
            <a:ext cx="3977639" cy="2880360"/>
          </a:xfrm>
          <a:prstGeom prst="roundRect">
            <a:avLst>
              <a:gd name="adj" fmla="val 5000"/>
            </a:avLst>
          </a:prstGeom>
          <a:solidFill>
            <a:srgbClr val="ED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1325880"/>
            <a:ext cx="64008" cy="28803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92040" y="1444752"/>
            <a:ext cx="3657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CA678"/>
                </a:solidFill>
                <a:latin typeface="Calibri"/>
              </a:rPr>
              <a:t>Cascade = droit à l’effacement RGPD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1810512"/>
            <a:ext cx="3657600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12529"/>
                </a:solidFill>
                <a:latin typeface="Calibri"/>
              </a:rPr>
              <a:t>Supprimer un compte fait disparaître en cascade médias, albums, placements et abonnements,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en base comme sur le stockage objet.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495057"/>
                </a:solidFill>
                <a:latin typeface="Calibri"/>
              </a:rPr>
              <a:t>Références douces (avatar, couverture) ramenées à nul plutôt que de bloquer.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495057"/>
                </a:solidFill>
                <a:latin typeface="Calibri"/>
              </a:rPr>
              <a:t>Migrations TypeORM versionnées, structure reproductible et rejouable.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i="1">
                <a:solidFill>
                  <a:srgbClr val="868E96"/>
                </a:solidFill>
                <a:latin typeface="Calibri"/>
              </a:rPr>
              <a:t>MCD Merise et MLD relationnel en Annexes D et 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Sécurité par construction &amp;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19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C25 C26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4023360" cy="2880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8803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Sécurité par construction (OWASP)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3749040" cy="2459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Argon2id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hachage memory-hard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Sessions opaques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aucune donnée côté client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Rotation + rejeu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révocation de la lignée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tokenVersion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révocation globale immédiate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En-têtes, HSTS, CORS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liste blanche stricte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Rate limiting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adossé à Redis, par route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Secrets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exclus des lectures par défaut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1325880"/>
            <a:ext cx="3977639" cy="288036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709160" y="1325880"/>
            <a:ext cx="64008" cy="28803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218 tests, le filet de la livraison continue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1783080"/>
            <a:ext cx="1170432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65376"/>
            <a:ext cx="11704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CA678"/>
                </a:solidFill>
                <a:latin typeface="Calibri"/>
              </a:rPr>
              <a:t>218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37664"/>
            <a:ext cx="117043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CAS JEST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1170432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72200" y="1865376"/>
            <a:ext cx="11704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CA678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137664"/>
            <a:ext cx="117043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SUITES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1783080"/>
            <a:ext cx="1115568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52360" y="1865376"/>
            <a:ext cx="1115568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CA678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137664"/>
            <a:ext cx="111556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DÉP. RÉEL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788920"/>
            <a:ext cx="3657600" cy="1371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Unitaires, contrôleurs HTTP, limitation de débit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Environnement hermétique, Redis et base doublés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Scénario de vol de session explicitement testé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Rapport d’exécution, plan de maintenance daté (Z)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Modalités de livraison &amp; suivi qualité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20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Contrôles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719072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938528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38528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Versionnement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00400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9856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9856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Réconciliation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681728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901184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01184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Build &amp; scan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63056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82512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Déploiement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644383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63840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Migrations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2240280"/>
            <a:ext cx="4023360" cy="19659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2240280"/>
            <a:ext cx="64008" cy="19659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23317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Continuité pendant les mises à jour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2606040"/>
            <a:ext cx="3749040" cy="15453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Rolling update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démarrer avant d’arrêter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Rollback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automatique en cas d’échec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Sondes de santé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trafic vers instances saines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Migrations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après le déploiement, schéma additif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GitOps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Git fait autorité, images immuables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60" y="2240280"/>
            <a:ext cx="3977639" cy="19659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09160" y="2240280"/>
            <a:ext cx="64008" cy="19659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64608" y="23317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Vérifier le service dans la durée (VSR)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2606040"/>
            <a:ext cx="3703320" cy="15453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Journaux structurés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JSON, interrogeables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Observabilité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erreurs, latence, disponibilité, énergie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Anomalie post-prod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alerte puis retour arrière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OpenAPI / Swagger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doc générée du code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Maintenance datée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revues mensuelle à annuelle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12529"/>
                </a:solidFill>
                <a:latin typeface="Calibri"/>
              </a:rPr>
              <a:t>Stratégie DevOps, du diagnostic aux principes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21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88920" cy="2880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880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53288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6 axes de progrès identifiés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514600" cy="2459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Livraison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pipeline déterministe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Infrastructure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IaC unifiée multi-fournisseurs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Environnements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conteneurs, images immuables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Régressions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portes de qualité bloquantes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Chaîne logicielle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analyses de sécurité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Exploitation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métriques, logs, énergie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6 principes directeurs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1609344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74720" y="1609344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Tout en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609344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1609344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GitOps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2084832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74720" y="2084832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Immutabilité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2084832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0" y="2084832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Rolling + rollback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2560320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74720" y="2560320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Observabilité 1er ordre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560320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2560320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Shift-left sécurité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320040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83280" y="3200400"/>
            <a:ext cx="64008" cy="100584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66160" y="3291840"/>
            <a:ext cx="493776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Green IT + accessibilité, critères d’ingénierie 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Séparation Terraform / Ansible. Right-sizing et énergie mesurée, documentation en texte structuré, schémas doublés d’un texte, dashboards jamais réduits à la couleur (WCAG 2.2 / RGAA 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Pipelines CI/CD &amp; DevSecOps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22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C29</a:t>
            </a:r>
          </a:p>
        </p:txBody>
      </p:sp>
      <p:sp>
        <p:nvSpPr>
          <p:cNvPr id="15" name="Chevron 14"/>
          <p:cNvSpPr/>
          <p:nvPr/>
        </p:nvSpPr>
        <p:spPr>
          <a:xfrm>
            <a:off x="457200" y="1600200"/>
            <a:ext cx="1298448" cy="566928"/>
          </a:xfrm>
          <a:prstGeom prst="chevron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218 tests + IaC</a:t>
            </a:r>
          </a:p>
        </p:txBody>
      </p:sp>
      <p:sp>
        <p:nvSpPr>
          <p:cNvPr id="18" name="Chevron 17"/>
          <p:cNvSpPr/>
          <p:nvPr/>
        </p:nvSpPr>
        <p:spPr>
          <a:xfrm>
            <a:off x="164591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591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19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SHA par service</a:t>
            </a:r>
          </a:p>
        </p:txBody>
      </p:sp>
      <p:sp>
        <p:nvSpPr>
          <p:cNvPr id="21" name="Chevron 20"/>
          <p:cNvSpPr/>
          <p:nvPr/>
        </p:nvSpPr>
        <p:spPr>
          <a:xfrm>
            <a:off x="283463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3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terraform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plan/apply GitOps</a:t>
            </a:r>
          </a:p>
        </p:txBody>
      </p:sp>
      <p:sp>
        <p:nvSpPr>
          <p:cNvPr id="24" name="Chevron 23"/>
          <p:cNvSpPr/>
          <p:nvPr/>
        </p:nvSpPr>
        <p:spPr>
          <a:xfrm>
            <a:off x="402335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02335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idempotent, caché</a:t>
            </a:r>
          </a:p>
        </p:txBody>
      </p:sp>
      <p:sp>
        <p:nvSpPr>
          <p:cNvPr id="27" name="Chevron 26"/>
          <p:cNvSpPr/>
          <p:nvPr/>
        </p:nvSpPr>
        <p:spPr>
          <a:xfrm>
            <a:off x="5212079" y="1600200"/>
            <a:ext cx="1298448" cy="566928"/>
          </a:xfrm>
          <a:prstGeom prst="chevron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1207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Trivy + SBOM</a:t>
            </a:r>
          </a:p>
        </p:txBody>
      </p:sp>
      <p:sp>
        <p:nvSpPr>
          <p:cNvPr id="30" name="Chevron 29"/>
          <p:cNvSpPr/>
          <p:nvPr/>
        </p:nvSpPr>
        <p:spPr>
          <a:xfrm>
            <a:off x="640079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79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rolling + migr.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1298448"/>
            <a:ext cx="1188720" cy="237744"/>
          </a:xfrm>
          <a:prstGeom prst="roundRect">
            <a:avLst>
              <a:gd name="adj" fmla="val 40000"/>
            </a:avLst>
          </a:prstGeom>
          <a:solidFill>
            <a:srgbClr val="E0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1298448"/>
            <a:ext cx="1188720" cy="2377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PORTE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30368" y="1298448"/>
            <a:ext cx="1188720" cy="237744"/>
          </a:xfrm>
          <a:prstGeom prst="roundRect">
            <a:avLst>
              <a:gd name="adj" fmla="val 40000"/>
            </a:avLst>
          </a:prstGeom>
          <a:solidFill>
            <a:srgbClr val="E0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30368" y="1298448"/>
            <a:ext cx="1188720" cy="2377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PORTE 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697480"/>
            <a:ext cx="4023360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" y="2697480"/>
            <a:ext cx="64008" cy="15087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2648" y="27889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Sécurité au niveau de la chaîne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3063240"/>
            <a:ext cx="374904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Portes bloquantes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deps, secrets, IaC, images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SBOM CycloneDX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par image publiée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SARIF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rapports historisés dans la forge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Exceptions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tracées, justifiées, datées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2697480"/>
            <a:ext cx="3977639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709160" y="2697480"/>
            <a:ext cx="64008" cy="15087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4608" y="27889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Garde-fous &amp; GitOps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64608" y="3063240"/>
            <a:ext cx="370332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3 pipelines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SaaS, site statique, CDN/backup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-target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le pipeline CDN refuse de toucher Hetzner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Immutabilité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configs versionnées par empreinte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Permissions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minimales, concurrence sérialisée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Orchestration conteneurisée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23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417320"/>
            <a:ext cx="370332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4B491"/>
                </a:solidFill>
                <a:latin typeface="Calibri"/>
              </a:rPr>
              <a:t>Swarm plutôt que Kubernetes 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Une décision de proportionnalité. Les primitives natives suffisent, </a:t>
            </a:r>
            <a:r>
              <a:rPr sz="950" b="1" i="0">
                <a:solidFill>
                  <a:srgbClr val="FFFFFF"/>
                </a:solidFill>
                <a:latin typeface="Calibri"/>
              </a:rPr>
              <a:t>pour une surface d’exploitation bien moindre.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68880"/>
            <a:ext cx="40233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2468880"/>
            <a:ext cx="64008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560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Placement, résilience,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2834640"/>
            <a:ext cx="3749040" cy="1316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Labels de rôle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proxy, db, backend, frontend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Rolling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start-first sans état, stop-first à état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Rollback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failure_action automatique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Scaling déclaratif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répliques dérivées de Terraform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Réconciliation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inventaire Terraform ↔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1280160"/>
            <a:ext cx="3977639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590C"/>
                </a:solidFill>
                <a:latin typeface="Calibri"/>
              </a:rPr>
              <a:t>5 réseaux overlay, moindre privilège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627632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FC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09160" y="1627632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E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09160" y="1627632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1627632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proxy → applications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2148840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1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709160" y="214884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60" y="2148840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148840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API ↔ base &amp; cache · interne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2670048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709160" y="2670048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60" y="2670048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socket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2670048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API Docker filtrée · interne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191256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709160" y="3191256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09160" y="3191256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egress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3191256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sorties Internet &amp; AWS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09160" y="3712463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5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709160" y="3712463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09160" y="3712463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3712463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télémétrie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Observabilité, rendre le système pilotable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24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Traefik · node-exporter · cAdvisor · WAF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350008" y="1700784"/>
            <a:ext cx="146304" cy="201168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496312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496312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496312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96312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Collecte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Prometheus 15 s · Alloy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389120" y="1700784"/>
            <a:ext cx="146304" cy="201168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35424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35424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35424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35424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Stockage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Loki · TSDB · Alertmanager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428232" y="1700784"/>
            <a:ext cx="146304" cy="201168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574536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574536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74536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74536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Restitution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Grafana, 3 dashboards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2468880"/>
            <a:ext cx="40233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7200" y="2468880"/>
            <a:ext cx="64008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2648" y="2560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10 règles d’alerte, orientées anticipation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2834640"/>
            <a:ext cx="3749040" cy="1316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Disponibilité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cible ou nœud absent 5 min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Saturation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CPU 90 %, mémoire, disque projeté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Applicatif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5xx &gt; 5 %, latence p95, redémarrages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Énergie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consommation estimée &gt; 200 W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Routage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e-mail SMTP + webhook Slack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09160" y="2468880"/>
            <a:ext cx="3977639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709160" y="2468880"/>
            <a:ext cx="64008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64608" y="25603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Journaux &amp; dashboards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2834640"/>
            <a:ext cx="3703320" cy="1316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Logs JSON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méthode, route, statut, IP, quota, durée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Vue d’ensemble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nœuds, RPS, 5xx, latence p95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Vue journaux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exploration Loki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Vue énergie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puissance et empreinte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Tout versionné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provisionné par code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Green IT mesuré &amp; IA d’optimisation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25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C31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73152" cy="65836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1399032"/>
            <a:ext cx="786384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Modèle d’estimation  </a:t>
            </a:r>
            <a:r>
              <a:rPr sz="1100" b="1" i="1">
                <a:solidFill>
                  <a:srgbClr val="212529"/>
                </a:solidFill>
                <a:latin typeface="Calibri"/>
              </a:rPr>
              <a:t>P(nœud) = nb_vCPU × ( P_idle + (P_max − P_idle) × utilisation )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 P_idle 1,5 W · P_max 6 W / vCPU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148840"/>
            <a:ext cx="196596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231136"/>
            <a:ext cx="19659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Watts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03424"/>
            <a:ext cx="19659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PUISSANCE/NŒUD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71216"/>
            <a:ext cx="19659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règles Prometheus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4600" y="2148840"/>
            <a:ext cx="196596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14600" y="2231136"/>
            <a:ext cx="19659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kWh/j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503424"/>
            <a:ext cx="19659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ÉNERGIE CLUSTER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2871216"/>
            <a:ext cx="19659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agrégée &amp; projetée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2148840"/>
            <a:ext cx="196596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2231136"/>
            <a:ext cx="19659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gCO₂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2503424"/>
            <a:ext cx="19659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EMPREINTE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871216"/>
            <a:ext cx="19659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380 gCO₂eq/kWh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2148840"/>
            <a:ext cx="20574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2231136"/>
            <a:ext cx="2057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03131"/>
                </a:solidFill>
                <a:latin typeface="Calibri"/>
              </a:rPr>
              <a:t>&gt;200 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503424"/>
            <a:ext cx="2057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ALERTE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2871216"/>
            <a:ext cx="20574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15 min → action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246120"/>
            <a:ext cx="8229600" cy="96012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3346704"/>
            <a:ext cx="7863840" cy="7772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4B491"/>
                </a:solidFill>
                <a:latin typeface="Calibri"/>
              </a:rPr>
              <a:t>ai-rightsizing, la boucle qui se ferme  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Un workflow soumet les séries de consommation à un modèle Claude (API Anthropic) et publie en revue au plus 5 optimisations chiffrées en coût et en énergie.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La mesure devient une donnée qui déclenche une action.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Sécurité &amp; conformité de bout en bout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26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8A3E"/>
                </a:solidFill>
                <a:latin typeface="Calibri"/>
              </a:rPr>
              <a:t>Défense en profondeur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27632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162763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627632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Périphérie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1627632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Cloudflare WAF, TLS strict, anti-volumétrique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67712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226771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267712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Réseau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267712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5 overlays cloisonnés, socket Docker filtré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907791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7200" y="2907791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907791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2907791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OWASP, sessions opaques, rate limiting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547872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7200" y="354787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547872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Données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3547872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Argon2id, AES-256, cascade RGPD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1325880"/>
            <a:ext cx="3840480" cy="14173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46320" y="1325880"/>
            <a:ext cx="64008" cy="14173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01768" y="1417320"/>
            <a:ext cx="35844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Conformité documentée, écarts assumés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01768" y="1691640"/>
            <a:ext cx="3566160" cy="9966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ISO 27001:2022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contrôles couverts / partiels / hors périmètre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RGPD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minimisation, effacement, hébergement 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NIS 2 · IA Act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veille de conformité permanente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283464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846320" y="2834640"/>
            <a:ext cx="64008" cy="13716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01768" y="2926080"/>
            <a:ext cx="35844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Continuité éprouvée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01768" y="3200400"/>
            <a:ext cx="3566160" cy="95097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Sauvegardes 6 h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empreinte SHA-256, Object Lock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Restauration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transactionnelle, cliché de sécurité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PRA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reconstruction par le code, RTO/RPO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Résultats, les objectifs sont atteints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27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37160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37160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Tout en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37160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2024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192024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192024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92024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Livraison continue sous contrôle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92024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6888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46888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46888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Conteneurs orchestrés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46888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01752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57200" y="301752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01752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1752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Système observable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01752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56616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57200" y="356616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356616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56616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Sécurité, conformité, sobriété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56616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1280160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3 hypothèses confirmées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2040" y="1609344"/>
            <a:ext cx="3794760" cy="493776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0" y="1609344"/>
            <a:ext cx="45720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H1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1609344"/>
            <a:ext cx="315468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IaC + GitOps, fiabilité et vitesse ensemble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2176272"/>
            <a:ext cx="3794760" cy="493776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29200" y="2176272"/>
            <a:ext cx="45720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H2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2176272"/>
            <a:ext cx="315468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Orchestration proportionnée, coût très inférieur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2040" y="2743200"/>
            <a:ext cx="3794760" cy="493776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0" y="2743200"/>
            <a:ext cx="45720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H3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2743200"/>
            <a:ext cx="315468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Énergie estimée, éco-responsabilité pilotable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2040" y="3383280"/>
            <a:ext cx="3794760" cy="8229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892040" y="3383280"/>
            <a:ext cx="64008" cy="822960"/>
          </a:xfrm>
          <a:prstGeom prst="rect">
            <a:avLst/>
          </a:prstGeom>
          <a:solidFill>
            <a:srgbClr val="F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74920" y="3465576"/>
            <a:ext cx="347472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08C00"/>
                </a:solidFill>
                <a:latin typeface="Calibri"/>
              </a:rPr>
              <a:t>Réserve assumée 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résultats établis en validation, pas sous charge réelle prolongée. La montée en charge est l’étape de consolidation.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12529"/>
                </a:solidFill>
                <a:latin typeface="Calibri"/>
              </a:rPr>
              <a:t>Perspectives, une amélioration continue chiffrée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28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417320"/>
            <a:ext cx="5943600" cy="84124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1417320"/>
            <a:ext cx="1417320" cy="841248"/>
          </a:xfrm>
          <a:prstGeom prst="roundRect">
            <a:avLst>
              <a:gd name="adj" fmla="val 6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417320"/>
            <a:ext cx="1417320" cy="8412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Court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1508760"/>
            <a:ext cx="4297680" cy="6858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Escalade fine des alertes · couverture de tests publiée avec seuil bloquant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31720"/>
            <a:ext cx="5943600" cy="84124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2331720"/>
            <a:ext cx="1417320" cy="841248"/>
          </a:xfrm>
          <a:prstGeom prst="roundRect">
            <a:avLst>
              <a:gd name="adj" fmla="val 6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331720"/>
            <a:ext cx="1417320" cy="8412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Moyen terme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423160"/>
            <a:ext cx="4297680" cy="6858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HA supervision · exercice de reprise réel · contrôle d’accessibilité automatisé · mesure RAPL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46120"/>
            <a:ext cx="5943600" cy="84124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7200" y="3246120"/>
            <a:ext cx="1417320" cy="841248"/>
          </a:xfrm>
          <a:prstGeom prst="roundRect">
            <a:avLst>
              <a:gd name="adj" fmla="val 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246120"/>
            <a:ext cx="1417320" cy="8412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Long terme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337560"/>
            <a:ext cx="4297680" cy="6858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Déploiement canari ou bleu-vert · IA de prédiction d’incidents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1417320"/>
            <a:ext cx="205740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1499616"/>
            <a:ext cx="2057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29 j-h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771904"/>
            <a:ext cx="2057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TRAJECTOIRE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414016"/>
            <a:ext cx="20574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14 500 €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2788920"/>
            <a:ext cx="2057400" cy="1371600"/>
          </a:xfrm>
          <a:prstGeom prst="roundRect">
            <a:avLst>
              <a:gd name="adj" fmla="val 7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84848" y="2889504"/>
            <a:ext cx="1783080" cy="11887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5C49E"/>
                </a:solidFill>
                <a:latin typeface="Calibri"/>
              </a:rPr>
              <a:t>Priorisée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par le rapport valeur / effort et par le registre de risques. </a:t>
            </a:r>
            <a:r>
              <a:rPr sz="900" b="1" i="0">
                <a:solidFill>
                  <a:srgbClr val="FFFFFF"/>
                </a:solidFill>
                <a:latin typeface="Calibri"/>
              </a:rPr>
              <a:t>Aucun point n’est un impensé.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DB5BD"/>
                </a:solidFill>
                <a:latin typeface="Calibri"/>
              </a:rPr>
              <a:t>29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57200"/>
            <a:ext cx="64008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68680"/>
            <a:ext cx="822960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Automatisation, sécurité, éco-responsabilité, qualité,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observabilité et coûts peuvent tenir ensemble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FCAA8"/>
                </a:solidFill>
                <a:latin typeface="Calibri"/>
              </a:rPr>
              <a:t>à trois conditions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B3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423160"/>
            <a:ext cx="64008" cy="9144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2532888"/>
            <a:ext cx="22860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Bout en bout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automatisation pensée de A à 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B3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2423160"/>
            <a:ext cx="64008" cy="9144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02152" y="2532888"/>
            <a:ext cx="22860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Dès la conception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sécurité et sobriété intégrées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B3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35040" y="2423160"/>
            <a:ext cx="64008" cy="9144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99632" y="2532888"/>
            <a:ext cx="22860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Pilotable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l’observabilité rend l’ensemble maîtrisable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520440"/>
            <a:ext cx="7863840" cy="6400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AD0B1"/>
                </a:solidFill>
                <a:latin typeface="Calibri"/>
              </a:rPr>
              <a:t>H1, H2 et H3 confirmées.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La responsabilité d’un expert SI n’est pas de produire un logiciel, mais de maîtriser la chaîne sûre et sobre qui le porte jusqu’à ses utilisateurs.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Remerciements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30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École La Plateforme et Joris VERGULDEZOONE, référent de formation,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FDJ United et Philippe AMERIO, référent en entreprise,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et toutes les personnes ayant relu, testé et commenté ce travail.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063240"/>
            <a:ext cx="4206240" cy="91440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3063240"/>
            <a:ext cx="4206240" cy="9144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5D4"/>
                </a:solidFill>
                <a:latin typeface="Calibri"/>
              </a:rPr>
              <a:t>Avez-vous des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4754</Words>
  <Application>Microsoft Macintosh PowerPoint</Application>
  <PresentationFormat>Affichage à l'écran (16:9)</PresentationFormat>
  <Paragraphs>765</Paragraphs>
  <Slides>30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Amir REDJEM</cp:lastModifiedBy>
  <cp:revision>2</cp:revision>
  <dcterms:created xsi:type="dcterms:W3CDTF">2013-01-27T09:14:16Z</dcterms:created>
  <dcterms:modified xsi:type="dcterms:W3CDTF">2026-07-24T20:44:45Z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661bcb-cfa9-4fb2-a5e5-a05e20e0e81b_Enabled">
    <vt:lpwstr>true</vt:lpwstr>
  </property>
  <property fmtid="{D5CDD505-2E9C-101B-9397-08002B2CF9AE}" pid="3" name="MSIP_Label_33661bcb-cfa9-4fb2-a5e5-a05e20e0e81b_SetDate">
    <vt:lpwstr>2026-07-24T20:42:49Z</vt:lpwstr>
  </property>
  <property fmtid="{D5CDD505-2E9C-101B-9397-08002B2CF9AE}" pid="4" name="MSIP_Label_33661bcb-cfa9-4fb2-a5e5-a05e20e0e81b_Method">
    <vt:lpwstr>Privileged</vt:lpwstr>
  </property>
  <property fmtid="{D5CDD505-2E9C-101B-9397-08002B2CF9AE}" pid="5" name="MSIP_Label_33661bcb-cfa9-4fb2-a5e5-a05e20e0e81b_Name">
    <vt:lpwstr>PRIVÉ</vt:lpwstr>
  </property>
  <property fmtid="{D5CDD505-2E9C-101B-9397-08002B2CF9AE}" pid="6" name="MSIP_Label_33661bcb-cfa9-4fb2-a5e5-a05e20e0e81b_SiteId">
    <vt:lpwstr>b1a7639e-6f68-471f-a534-787509510be4</vt:lpwstr>
  </property>
  <property fmtid="{D5CDD505-2E9C-101B-9397-08002B2CF9AE}" pid="7" name="MSIP_Label_33661bcb-cfa9-4fb2-a5e5-a05e20e0e81b_ActionId">
    <vt:lpwstr>4a0e01a9-c3b9-4950-853a-762f761705f3</vt:lpwstr>
  </property>
  <property fmtid="{D5CDD505-2E9C-101B-9397-08002B2CF9AE}" pid="8" name="MSIP_Label_33661bcb-cfa9-4fb2-a5e5-a05e20e0e81b_ContentBits">
    <vt:lpwstr>0</vt:lpwstr>
  </property>
  <property fmtid="{D5CDD505-2E9C-101B-9397-08002B2CF9AE}" pid="9" name="MSIP_Label_33661bcb-cfa9-4fb2-a5e5-a05e20e0e81b_Tag">
    <vt:lpwstr>50, 0, 1, 1</vt:lpwstr>
  </property>
</Properties>
</file>