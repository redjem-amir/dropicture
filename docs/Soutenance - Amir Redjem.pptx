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Saluer le jury, me présenter, annoncer le titre sous forme de question.</a:t>
            </a:r>
          </a:p>
          <a:p>
            <a:r>
              <a:t>Poser le fil rouge en une phrase, six exigences que le référentiel demande de tenir ensemble.</a:t>
            </a:r>
          </a:p>
          <a:p>
            <a:r>
              <a:t>Préciser le cadre, option DevOps RNCP40573BC06, projet réel, tout média privé par défaut.</a:t>
            </a:r>
          </a:p>
          <a:p>
            <a:r>
              <a:t>Durée visée, 40 secondes.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la démonstration en cinq étapes, décider, cadrer, construire, automatiser, mesurer.</a:t>
            </a:r>
          </a:p>
          <a:p>
            <a:r>
              <a:t>Chaque étape sert la même question, ce n’est pas un plan de cours.</a:t>
            </a:r>
          </a:p>
          <a:p>
            <a:r>
              <a:t>Le cœur évalué est l’étape 4, l’option DevOps, sept diapositives sur trente.</a:t>
            </a:r>
          </a:p>
          <a:p>
            <a:r>
              <a:t>Signaler la puce de traçabilité en bas à gauche, elle permet au jury de retrouver la preuve écrite sans que l’oral soit structuré par le référentiel.</a:t>
            </a:r>
          </a:p>
          <a:p>
            <a:r>
              <a:t>Durée visée, 45 secondes.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Parcours précis. Bac+2 en juin 2022 à Aix-Marseille, puis quatre ans d’expérience continue.</a:t>
            </a:r>
          </a:p>
          <a:p>
            <a:r>
              <a:t>IT Remote en CDI un an, Altares D&amp;B en alternance qui valide la licence, FDJ United en alternance deux ans qui valide le master.</a:t>
            </a:r>
          </a:p>
          <a:p>
            <a:r>
              <a:t>La frise montre que les deux dernières expériences sont des alternances alignées sur les diplômes.</a:t>
            </a:r>
          </a:p>
          <a:p>
            <a:r>
              <a:t>Raison du choix, la double culture développement et exploitation vécue en production.</a:t>
            </a:r>
          </a:p>
          <a:p>
            <a:r>
              <a:t>Durée visée, 45 secondes.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pose d’abord la question, en haut, telle qu’elle est écrite dans le mémoire.</a:t>
            </a:r>
          </a:p>
          <a:p>
            <a:r>
              <a:t>Juste en dessous, ses six termes. Ce sont eux que je vais devoir tenir ensemble, et je les reprendrai un par un en conclusion.</a:t>
            </a:r>
          </a:p>
          <a:p>
            <a:r>
              <a:t>À gauche le contexte, ce que fait le produit, quel est le besoin, et surtout avec quelle méthode j’ai analysé la problématique, SWOT et PESTEL formalisés en étude d’opportunité.</a:t>
            </a:r>
          </a:p>
          <a:p>
            <a:r>
              <a:t>À droite le cadrage, ce qui est dans le périmètre et ce qui n’y est pas, les contraintes qui s’imposent et les acteurs.</a:t>
            </a:r>
          </a:p>
          <a:p>
            <a:r>
              <a:t>Et en bas la difficulté réelle. Ces exigences s’opposent deux à deux, c’est ce qui rend le sujet intéressant.</a:t>
            </a:r>
          </a:p>
          <a:p>
            <a:r>
              <a:t>Coche C10, analyse de la problématique.</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objectifs, et pour chacun un critère de réussite écrit à droite.</a:t>
            </a:r>
          </a:p>
          <a:p>
            <a:r>
              <a:t>Ce qui compte, c’est que ces critères sont binaires. Aucune ressource en dehors du code, c’est vrai ou c’est faux. Aucun déploiement si une porte échoue, pareil. Vous pouvez trancher sans interpréter.</a:t>
            </a:r>
          </a:p>
          <a:p>
            <a:r>
              <a:t>En bas, mes trois hypothèses de travail. Je les confirmerai ou je les nuancerai à la diapositive 28, avec des faits.</a:t>
            </a:r>
          </a:p>
          <a:p>
            <a:r>
              <a:t>Durée visée, 55 secondes.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gauche, mon dispositif de veille, ça se lit de haut en bas.</a:t>
            </a:r>
          </a:p>
          <a:p>
            <a:r>
              <a:t>Quatre familles de sources, les documentations officielles, les sources normatives comme l’ANSSI et l’OWASP, les sources prospectives et les sources communautaires.</a:t>
            </a:r>
          </a:p>
          <a:p>
            <a:r>
              <a:t>Elles passent toutes par la même grille, huit critères, et une règle simple, rien n’est retenu sans confirmation par deux sources indépendantes.</a:t>
            </a:r>
          </a:p>
          <a:p>
            <a:r>
              <a:t>En bas, ce que cette grille a réellement tranché. Bun et Swarm retenus, OpenTofu et Valkey inscrits en repli quand les licences ont changé, Datadog écarté sur le coût total.</a:t>
            </a:r>
          </a:p>
          <a:p>
            <a:r>
              <a:t>À droite, la veille réglementaire, et son effet concret. Le Cloud Act a déplacé mon hébergement en Europe. Le RGPD a imposé la minimisation. L’IA Act encadre l’usage que je fais de l’IA.</a:t>
            </a:r>
          </a:p>
          <a:p>
            <a:r>
              <a:t>Coches C1, C2 et C3.</a:t>
            </a:r>
          </a:p>
          <a:p>
            <a:r>
              <a:t>Durée visée, 64 secondes.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cartographie couvre les quatre niveaux fondamentaux exigés, métier, fonctionnel, applicatif, infrastructure.</a:t>
            </a:r>
          </a:p>
          <a:p>
            <a:r>
              <a:t>Chaque niveau a sa planche en annexe A, conformément au guide qui demande de séparer les schémas plutôt que de les surcharger.</a:t>
            </a:r>
          </a:p>
          <a:p>
            <a:r>
              <a:t>Insister sur l’usage, ce n’est pas décoratif. C’est l’inventaire d’actifs sur lequel l’analyse de risques de la diapositive suivante s’appuie. On ne cote un risque que sur un actif identifié.</a:t>
            </a:r>
          </a:p>
          <a:p>
            <a:r>
              <a:t>Coche C4, premier volet.</a:t>
            </a:r>
          </a:p>
          <a:p>
            <a:r>
              <a:t>Durée visée, 45 secondes.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lectures. À gauche le diagnostic, SWOT en interne et PESTEL en externe, pour ne pas juger le système sans regarder son environnement réglementaire et économique.</a:t>
            </a:r>
          </a:p>
          <a:p>
            <a:r>
              <a:t>À droite le registre, coté selon EBIOS Risk Manager et ISO 27005. L’axe horizontal est la gravité, l’axe vertical la vraisemblance, la couleur donne le niveau. Huit risques placés sur la grille.</a:t>
            </a:r>
          </a:p>
          <a:p>
            <a:r>
              <a:t>R1 en haut à droite, la perte du nœud de périphérie, cote quinze. C’est le plus critique et c’est assumé, ce nœud concentre le proxy, le cache et la supervision.</a:t>
            </a:r>
          </a:p>
          <a:p>
            <a:r>
              <a:t>La flèche en pointillés montre où R1 se retrouve après traitement, infrastructure entièrement reconstructible par le code. Au total la criticité cumulée passe de quatre-vingt-un à trente-sept.</a:t>
            </a:r>
          </a:p>
          <a:p>
            <a:r>
              <a:t>Point clé, les deux priorités du plan d’amélioration sont exactement les deux risques les plus critiques.</a:t>
            </a:r>
          </a:p>
          <a:p>
            <a:r>
              <a:t>Coches C4 et C17.</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styles d’architecture notés sur cinq critères, trois pastilles pleines valent la meilleure note.</a:t>
            </a:r>
          </a:p>
          <a:p>
            <a:r>
              <a:t>Le monolithe modulaire l’emporte non pas parce qu’il gagne partout, mais parce qu’il ne perd nulle part et qu’il gagne là où ça compte pour ce service, le coût d’exploitation et l’empreinte.</a:t>
            </a:r>
          </a:p>
          <a:p>
            <a:r>
              <a:t>Les microservices gagnent en scalabilité et perdent lourdement en coût et en énergie, disproportionné à cette taille. Le serverless est éliminé par une contrainte produit, le téléversement en flux.</a:t>
            </a:r>
          </a:p>
          <a:p>
            <a:r>
              <a:t>L’orienté événements n’est pas écarté, il est en cible pour le post-traitement des médias.</a:t>
            </a:r>
          </a:p>
          <a:p>
            <a:r>
              <a:t>Chaque arbitrage écarté est consigné en fiche de décision, vingt-quatre au total, avec les conséquences assumées.</a:t>
            </a:r>
          </a:p>
          <a:p>
            <a:r>
              <a:t>Coches C5 à C9.</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gauche la priorisation MoSCoW. Le fait marquant est que les Must pèsent soixante-dix-huit pour cent des points, ce qui veut dire que le périmètre était déjà réduit à son noyau avant même la priorisation. Le seul amortisseur réel reste les marges du PERT.</a:t>
            </a:r>
          </a:p>
          <a:p>
            <a:r>
              <a:t>À droite le croisement valeur sur effort. Chaque case porte le nombre de stories. La case encadrée en vert, valeur forte et effort faible, c’est ce qu’on livre en premier.</a:t>
            </a:r>
          </a:p>
          <a:p>
            <a:r>
              <a:t>En bas, les cinq contraintes structurantes, transformées en exigences techniques vérifiables et non en intentions. L’accessibilité des personnes en situation de handicap en fait partie.</a:t>
            </a:r>
          </a:p>
          <a:p>
            <a:r>
              <a:t>Elles ont été validées en trois revues, périmètre, exigences non fonctionnelles, conformité.</a:t>
            </a:r>
          </a:p>
          <a:p>
            <a:r>
              <a:t>Coches C10 à C13.</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structure de découpage donne huit lots, chacun valorisé au taux journalier de cinq cents euros. Le total fait deux cent sept jours-homme et cent trois mille cinq cents euros.</a:t>
            </a:r>
          </a:p>
          <a:p>
            <a:r>
              <a:t>Le fait marquant est en bas à gauche. Le non fonctionnel, quarante-six pour cent, pèse plus lourd que le fonctionnel, quarante-cinq. Sur un projet à dominante DevOps c’est logique, et c’est la décomposition qui le rend visible.</a:t>
            </a:r>
          </a:p>
          <a:p>
            <a:r>
              <a:t>Le chiffrage est fait aux trois niveaux exigés, global, conception et déploiement.</a:t>
            </a:r>
          </a:p>
          <a:p>
            <a:r>
              <a:t>Et l’exploitation récurrente, soixante et onze euros par mois, avec un garde-fou qui alerte avant le dépassement, pas après.</a:t>
            </a:r>
          </a:p>
          <a:p>
            <a:r>
              <a:t>Coches C14 et C15.</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PERT dit dans quel ordre et où sont les marges. La ligne du haut en violet plein est le chemin critique, cadrage, backend, chaîne CI/CD, observabilité, documentation. Cent vingt-deux jours ouvrés. Tout retard sur l’un de ces cinq lots décale la date de fin.</a:t>
            </a:r>
          </a:p>
          <a:p>
            <a:r>
              <a:t>Les trois lots en pointillés disposent d’une marge, six jours sur l’infrastructure, vingt-cinq sur le frontend, trente-quatre sur la sécurité. C’est une information décisive le jour où il faut arbitrer sous tension, on sait exactement où puiser.</a:t>
            </a:r>
          </a:p>
          <a:p>
            <a:r>
              <a:t>En bas le Gantt donne les dates, cinq phases et cinq jalons de janvier à juin 2026.</a:t>
            </a:r>
          </a:p>
          <a:p>
            <a:r>
              <a:t>Préciser que charge et durée diffèrent, la charge mesure l’effort, la durée mesure le délai, elles divergent quand deux acteurs travaillent en parallèle.</a:t>
            </a:r>
          </a:p>
          <a:p>
            <a:r>
              <a:t>Coches C15 et C16.</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matrice RACI, huit lots croisés avec six acteurs. La règle absolue est un seul A par lot, un seul décideur redevable, jamais deux.</a:t>
            </a:r>
          </a:p>
          <a:p>
            <a:r>
              <a:t>Lire une ligne pour montrer que ça tient. Lot 7, sécurité et conformité, le référent sécurité est A, il décide et répond du résultat, l’ingénieur DevOps est R, il réalise le durcissement.</a:t>
            </a:r>
          </a:p>
          <a:p>
            <a:r>
              <a:t>Lire une colonne pour montrer le point de vigilance. La colonne DevOps porte quatre R, deux A et deux A slash R, c’est la charge la plus lourde du projet. La matrice rend cette concentration visible plutôt que de la masquer.</a:t>
            </a:r>
          </a:p>
          <a:p>
            <a:r>
              <a:t>À droite la grille pouvoir sur intérêt, elle détermine la stratégie de communication. PP1, PP2 et PP4 sont à gérer de près, les utilisateurs bêta sont à faire monter en intérêt.</a:t>
            </a:r>
          </a:p>
          <a:p>
            <a:r>
              <a:t>En bas, aucune information de pilotage n’est transmise uniquement à l’oral, c’est une disposition d’accessibilité.</a:t>
            </a:r>
          </a:p>
          <a:p>
            <a:r>
              <a:t>Coches C17 à C20.</a:t>
            </a:r>
          </a:p>
          <a:p>
            <a:r>
              <a:t>Durée visée, 68 secondes.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écrans réels. Le référentiel demande des maquettes claires qui facilitent la validation et l’implémentation, les voici.</a:t>
            </a:r>
          </a:p>
          <a:p>
            <a:r>
              <a:t>Deux détails à montrer du doigt. Le badge privé par défaut apparaît dès l’écran de connexion, la promesse produit est visible dans l’interface, pas seulement dans le discours.</a:t>
            </a:r>
          </a:p>
          <a:p>
            <a:r>
              <a:t>Et sur l’écran réglages, la clé d’API, la suppression de compte et l’avertissement d’irréversibilité. Le RGPD est matérialisé dans l’écran.</a:t>
            </a:r>
          </a:p>
          <a:p>
            <a:r>
              <a:t>Point de méthode, ces maquettes sont dérivées du code frontend et non l’inverse, elles ne peuvent donc pas diverger de l’implémentation.</a:t>
            </a:r>
          </a:p>
          <a:p>
            <a:r>
              <a:t>Coches C11 et C21.</a:t>
            </a:r>
          </a:p>
          <a:p>
            <a:r>
              <a:t>Durée visée, 55 secondes.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schéma se lit de haut en bas. Deux publics, un point d’entrée unique qui termine le TLS, trois applications, trois dépendances de données.</a:t>
            </a:r>
          </a:p>
          <a:p>
            <a:r>
              <a:t>Le cadre en pointillés est le point important. Le monolithe modulaire découpe par domaine avec un contrôleur par domaine, six domaines testables isolément. Les frontières sont déjà tracées, l’extraction en services distincts reste donc possible sans réécriture. C’est de la réversibilité, pas de l’immobilisme.</a:t>
            </a:r>
          </a:p>
          <a:p>
            <a:r>
              <a:t>Le monorepo versionne ensemble le code, l’infrastructure et les pipelines. Un commit décrit un état complet du système, c’est la condition du GitOps.</a:t>
            </a:r>
          </a:p>
          <a:p>
            <a:r>
              <a:t>L’environnement est recommandé sur des critères comparés incluant la réduction de l’impact écologique.</a:t>
            </a:r>
          </a:p>
          <a:p>
            <a:r>
              <a:t>Coches C21 et C23.</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référentiel demande trois schémas de processus métier décrits avec justesse. Voici le premier en entier, le téléversement.</a:t>
            </a:r>
          </a:p>
          <a:p>
            <a:r>
              <a:t>Suivre les flèches. Le membre choisit un fichier, le frontend appelle l’API en multipart, l’API applique une garde de taille et un quota, puis pousse le flux vers le stockage objet en mémoire bornée, jamais de tampon complet. Ensuite seulement elle écrit la ligne en base, avec une date de publication nulle.</a:t>
            </a:r>
          </a:p>
          <a:p>
            <a:r>
              <a:t>C’est ce dernier point qui matérialise la promesse produit. Le média existe et il est privé, la publication est une décision séparée.</a:t>
            </a:r>
          </a:p>
          <a:p>
            <a:r>
              <a:t>Les deux autres processus sont en annexes I.2 et I.3, le plus intéressant pour un jury DevOps étant la session avec rotation de nonce et détection de rejeu.</a:t>
            </a:r>
          </a:p>
          <a:p>
            <a:r>
              <a:t>Les patterns sont justifiés en distinguant patterns logiciels et patterns de conception, comme le demande C24.</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tables, volontairement sobre. Le modèle tient sur une diapositive et c’est un choix, la minimisation des données est une exigence RGPD avant d’être une élégance technique.</a:t>
            </a:r>
          </a:p>
          <a:p>
            <a:r>
              <a:t>La flèche rouge est le point à faire entendre. Supprimer un compte efface en cascade les médias, les albums, les placements et les abonnements, en base comme sur le stockage objet. Le droit à l’effacement n’est pas une procédure manuelle, il est dans le schéma.</a:t>
            </a:r>
          </a:p>
          <a:p>
            <a:r>
              <a:t>À droite, les index partiels illustrent la thèse du dossier. N’indexer que les lignes publiées réduit la taille de l’index, accélère les lectures et consomme moins. Performance et sobriété vont dans le même sens.</a:t>
            </a:r>
          </a:p>
          <a:p>
            <a:r>
              <a:t>La méthode de gestion des données à fort volume est explicite, flux borné, pagination par curseur, CDN, cycle de vie du stockage.</a:t>
            </a:r>
          </a:p>
          <a:p>
            <a:r>
              <a:t>Coches C13 et C21.</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du haut est la seule route vers la production. Quatre portes bloquantes, aucune n’est contournable, c’est le critère de l’objectif O2.</a:t>
            </a:r>
          </a:p>
          <a:p>
            <a:r>
              <a:t>Deux cent dix-huit tests répartis en huit suites, tous au vert, exécutés en environnement hermétique avec Redis et la base doublés.</a:t>
            </a:r>
          </a:p>
          <a:p>
            <a:r>
              <a:t>Le point à souligner, le vol de session est un scénario d’attaque explicitement testé. La sécurité est testée comme une fonctionnalité, pas vérifiée à la main en fin de projet.</a:t>
            </a:r>
          </a:p>
          <a:p>
            <a:r>
              <a:t>À droite les six mesures de sécurité par construction, alignées OWASP, mises en place dès la conception.</a:t>
            </a:r>
          </a:p>
          <a:p>
            <a:r>
              <a:t>En bas la réponse au critère qui demande un code correctement commenté, avec des chiffres vérifiables plutôt qu’une affirmation.</a:t>
            </a:r>
          </a:p>
          <a:p>
            <a:r>
              <a:t>Coches C25 et C26.</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principes, et je les ai tous choisis pour répondre à un problème constaté sur l’existant, pas par mode.</a:t>
            </a:r>
          </a:p>
          <a:p>
            <a:r>
              <a:t>Le plus structurant est le deuxième, le GitOps. C’est Git qui fait autorité sur l’état du système, donc toute dérive est visible et réversible.</a:t>
            </a:r>
          </a:p>
          <a:p>
            <a:r>
              <a:t>Le quatrième explique tout le reste de la partie DevOps. Rien ne part en production si un contrôle échoue, et on ne peut pas contourner.</a:t>
            </a:r>
          </a:p>
          <a:p>
            <a:r>
              <a:t>Et en bas, le green IT et l’accessibilité. Ce ne sont pas deux chapitres ajoutés à la fin, ce sont deux critères qui ont pesé sur les choix.</a:t>
            </a:r>
          </a:p>
          <a:p>
            <a:r>
              <a:t>Coche C28.</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critère de l’option demande explicitement que le code d’infrastructure soit correctement versionné sur Git. Cette diapositive le démontre en un coup d’œil.</a:t>
            </a:r>
          </a:p>
          <a:p>
            <a:r>
              <a:t>À gauche le code, dans le même dépôt que l’application. Terraform provisionne, Ansible configure, et la séparation est stricte. À droite tout ce qui existe réellement, et rien n’existe en dehors de ce qui est déclaré à gauche.</a:t>
            </a:r>
          </a:p>
          <a:p>
            <a:r>
              <a:t>Trois fournisseurs, Hetzner pour le calcul en Europe, AWS confiné à Paris pour l’objet, Cloudflare en périphérie.</a:t>
            </a:r>
          </a:p>
          <a:p>
            <a:r>
              <a:t>Les trois chiffres du bas résument. Zéro opération manuelle, c’est le critère binaire de l’objectif O1.</a:t>
            </a:r>
          </a:p>
          <a:p>
            <a:r>
              <a:t>L’état distant chiffré et verrouillé n’est pas un détail, c’est ce qui rend le plan de reprise réellement exécutable.</a:t>
            </a:r>
          </a:p>
          <a:p>
            <a:r>
              <a:t>Coches C28 et C29.</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étapes, deux portes bloquantes. Rien ne part en production si une porte échoue, c’est le critère de l’objectif O2.</a:t>
            </a:r>
          </a:p>
          <a:p>
            <a:r>
              <a:t>À gauche ce qui bloque réellement une livraison. Ce ne sont pas des avertissements, ce sont des arrêts.</a:t>
            </a:r>
          </a:p>
          <a:p>
            <a:r>
              <a:t>À droite, et c’est le point moins évident, ce qui protège la chaîne elle-même. Le garde-fou le plus utile est le ciblage strict, le pipeline du CDN ne peut pas toucher les serveurs même en cas d’erreur humaine.</a:t>
            </a:r>
          </a:p>
          <a:p>
            <a:r>
              <a:t>Les exceptions ne sont pas interdites, elles sont tracées, justifiées et datées. C’est ce qui distingue une chaîne exploitable d’une chaîne qu’on contourne.</a:t>
            </a:r>
          </a:p>
          <a:p>
            <a:r>
              <a:t>Répondre par avance à Q2, contrôler ne ralentit pas, cela évite le retour arrière.</a:t>
            </a:r>
          </a:p>
          <a:p>
            <a:r>
              <a:t>Coche C29.</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cluster réel, quatre nœuds. Un manager qui porte l’entrée, le cache et toute la supervision, trois workers spécialisés par label de rôle.</a:t>
            </a:r>
          </a:p>
          <a:p>
            <a:r>
              <a:t>Le nœud proxy est aussi le point de vigilance identifié au registre de risques, R1. Il concentre beaucoup, sa mise en haute disponibilité est le palier suivant, déjà chiffré.</a:t>
            </a:r>
          </a:p>
          <a:p>
            <a:r>
              <a:t>Cinq réseaux overlay, dont deux strictement internes. Le réseau socket mérite un mot, l’API Docker n’est jamais montée dans Traefik, elle est médiée par un proxy en lecture seule.</a:t>
            </a:r>
          </a:p>
          <a:p>
            <a:r>
              <a:t>Le scaling est déclaratif, le nombre de répliques est dérivé de l’inventaire Terraform, il n’y a donc pas deux vérités.</a:t>
            </a:r>
          </a:p>
          <a:p>
            <a:r>
              <a:t>Et la réponse à Q3, Swarm contre Kubernetes est une décision de proportionnalité assumée, pas une facilité.</a:t>
            </a:r>
          </a:p>
          <a:p>
            <a:r>
              <a:t>Coche C30.</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chaîne d’observabilité, entièrement versionnée. Quatre étages, des sources jusqu’à la restitution.</a:t>
            </a:r>
          </a:p>
          <a:p>
            <a:r>
              <a:t>Dix règles d’alerte réparties en quatre familles. Le mot important est anticipation. Le disque n’alerte pas quand il est plein, il alerte sur une projection de saturation. La latence au quatre-vingt-quinzième centile alerte avant l’indisponibilité.</a:t>
            </a:r>
          </a:p>
          <a:p>
            <a:r>
              <a:t>Le routage est réellement configuré, deux canaux, courriel en SMTP authentifié et webhook Slack, avec les secrets hors du dépôt.</a:t>
            </a:r>
          </a:p>
          <a:p>
            <a:r>
              <a:t>Et la famille énergie, une règle dédiée, c’est ce qui fait le lien avec la diapositive suivante.</a:t>
            </a:r>
          </a:p>
          <a:p>
            <a:r>
              <a:t>Coche C31.</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Commencer par l’honnêteté méthodologique, c’est ce qui rend la réponse crédible. Les compteurs matériels RAPL ne sont pas exposés dans une machine virtuelle louée, la mesure directe est impossible.</a:t>
            </a:r>
          </a:p>
          <a:p>
            <a:r>
              <a:t>D’où un modèle d’estimation documenté et assumé, dérivé de l’utilisation CPU. La formule est simple, vérifiable et contestable, c’est ce qu’on attend d’une estimation.</a:t>
            </a:r>
          </a:p>
          <a:p>
            <a:r>
              <a:t>Elle produit trois indicateurs, puissance, énergie et empreinte carbone, plus une alerte dédiée au-delà de deux cents watts pendant quinze minutes.</a:t>
            </a:r>
          </a:p>
          <a:p>
            <a:r>
              <a:t>En bas la boucle se ferme. On mesure, on alerte, un modèle Claude analyse les séries et propose au plus cinq optimisations chiffrées, l’ingénieur valide, on optimise, et on remesure.</a:t>
            </a:r>
          </a:p>
          <a:p>
            <a:r>
              <a:t>C’est la réponse à Q4 et l’exigence du bloc option qui demande que l’IA serve à optimiser les ressources. C’est la contribution la plus distinctive du dossier.</a:t>
            </a:r>
          </a:p>
          <a:p>
            <a:r>
              <a:t>Durée visée, 70 secondes.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critères du bloc option sont visés ici, la documentation du wiki précise et adaptée aux utilisateurs, et la documentation des processus d’automatisation adaptée aux différents profils.</a:t>
            </a:r>
          </a:p>
          <a:p>
            <a:r>
              <a:t>À gauche trois niveaux de documentation qui ne se recouvrent pas. OpenAPI dit quoi, JSDoc dit comment, les fiches de décision disent pourquoi. C’est le pourquoi qui coûte le plus cher à reconstituer quand quelqu’un part.</a:t>
            </a:r>
          </a:p>
          <a:p>
            <a:r>
              <a:t>À droite le wiki, seize pages versionnées dans le dépôt, organisées par profil de lecteur et non par outil. L’accessibilité est un choix de forme, Markdown structuré plutôt que captures d’écran.</a:t>
            </a:r>
          </a:p>
          <a:p>
            <a:r>
              <a:t>En bas le plan d’amélioration continue, livrable exigé par le bloc. Priorisé par valeur sur effort, chiffré à vingt-neuf jours-homme. Aucun point n’est un impensé.</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répond à trois critères de trois blocs différents. Les KPI du projet doivent être définis, les critères de performance, sécurité et conformité doivent être exprimés en KPI, et les métriques de qualité doivent être pertinentes.</a:t>
            </a:r>
          </a:p>
          <a:p>
            <a:r>
              <a:t>Quatre domaines, trois indicateurs chacun, chaque barre montre la position par rapport à la cible affichée à droite.</a:t>
            </a:r>
          </a:p>
          <a:p>
            <a:r>
              <a:t>Le point à faire entendre est en dessous, chaque indicateur porte une source de mesure identifiée. Sans source de mesure, un indicateur n’est qu’une intention. Les indicateurs techniques sont relevés en continu par la pile d’observabilité, les indicateurs de conformité à échéance fixe lors des revues.</a:t>
            </a:r>
          </a:p>
          <a:p>
            <a:r>
              <a:t>En bas, les quatre métriques DORA, la référence du secteur. Elles ferment la boucle avec l’objectif O2 et l’hypothèse H1.</a:t>
            </a:r>
          </a:p>
          <a:p>
            <a:r>
              <a:t>Durée visée, 65 secondes.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défense en profondeur, quatre couches emboîtées de la périphérie jusqu’à la donnée. Le schéma dit l’essentiel, aucune couche ne suppose que la précédente a tenu.</a:t>
            </a:r>
          </a:p>
          <a:p>
            <a:r>
              <a:t>Si le pare-feu applicatif tombe, le cloisonnement réseau tient. Si le réseau est franchi, les sessions opaques et la limitation de débit tiennent. Si l’application est franchie, les données restent hachées et chiffrées.</a:t>
            </a:r>
          </a:p>
          <a:p>
            <a:r>
              <a:t>À droite la conformité est cartographiée, y compris ses écarts. C’est un choix assumé, un dossier qui prétend tout couvrir n’est pas crédible.</a:t>
            </a:r>
          </a:p>
          <a:p>
            <a:r>
              <a:t>La continuité est éprouvée et non déclarée. Le plan de reprise reconstruit par le code, ce qui n’est possible que parce que toute l’infrastructure est déclarée.</a:t>
            </a:r>
          </a:p>
          <a:p>
            <a:r>
              <a:t>Durée visée, 60 secondes.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Retour à la grille de la diapositive 5. Les cinq objectifs sont atteints, et chacun est prouvé par un fait vérifiable, pas par une affirmation.</a:t>
            </a:r>
          </a:p>
          <a:p>
            <a:r>
              <a:t>Les quatre questions de recherche sont refermées, une phrase chacune.</a:t>
            </a:r>
          </a:p>
          <a:p>
            <a:r>
              <a:t>À droite le retour d’expérience, honnête dans les deux sens. Ce qui a bien fonctionné, la cohérence de bout en bout, la sécurité intégrée dès le début, et la supervision énergétique qui reste rare dans des projets comparables.</a:t>
            </a:r>
          </a:p>
          <a:p>
            <a:r>
              <a:t>Ce qui reste à faire est nommé et chiffré, pas caché. Tous ces points sont au plan d’amélioration continue.</a:t>
            </a:r>
          </a:p>
          <a:p>
            <a:r>
              <a:t>Poser la réserve clairement, les résultats sont établis en conditions de validation et non sous charge réelle prolongée. Cette franchise est attendue.</a:t>
            </a:r>
          </a:p>
          <a:p>
            <a:r>
              <a:t>Durée visée, 70 secondes.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diapositive qui referme la question. Prendre le temps, ne pas la survoler.</a:t>
            </a:r>
          </a:p>
          <a:p>
            <a:r>
              <a:t>Reprendre les six exigences dans l’ordre exact de la problématique, chacune avec sa preuve et le numéro de la diapositive qui l’a montrée. Le jury voit que rien n’a été laissé de côté.</a:t>
            </a:r>
          </a:p>
          <a:p>
            <a:r>
              <a:t>Puis énoncer lentement les trois conditions, ce sont elles qui seront retenues.</a:t>
            </a:r>
          </a:p>
          <a:p>
            <a:r>
              <a:t>Ajouter que les trois hypothèses sont confirmées et que la trajectoire de consolidation est chiffrée à vingt-neuf jours-homme.</a:t>
            </a:r>
          </a:p>
          <a:p>
            <a:r>
              <a:t>Fermer sur le rôle de l’expert SI, puis enchaîner sur les remerciements.</a:t>
            </a:r>
          </a:p>
          <a:p>
            <a:r>
              <a:t>Durée visée, 70 secondes.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Remercier le jury et ouvrir les trente minutes de questions.</a:t>
            </a:r>
          </a:p>
          <a:p>
            <a:r>
              <a:t>Garder sous la main la table de correspondance du référentiel. Chaque diapositive porte déjà sa compétence, son bloc, sa section de mémoire et son annexe.</a:t>
            </a:r>
          </a:p>
          <a:p>
            <a:r>
              <a:t>Être prêt à montrer en direct le dépôt, un pipeline qui tourne, un tableau de bord Grafana et la suite de tests au vert.</a:t>
            </a:r>
          </a:p>
          <a:p>
            <a:r>
              <a:t>Sujets probables, pourquoi Swarm et pas Kubernetes, comment est validée l’estimation énergétique, que se passe-t-il si une porte bloque une livraison urgente, comment le RGPD est implémenté en base, pourquoi le non fonctionnel pèse plus lourd que le fonctionnel.</a:t>
            </a:r>
          </a:p>
          <a:p>
            <a:r>
              <a:t>Durée visée, 20 secondes puis échanges.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4630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97196"/>
            <a:ext cx="9144000" cy="14630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92608"/>
            <a:ext cx="694944" cy="420624"/>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38328"/>
            <a:ext cx="694944"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7" name="TextBox 6"/>
          <p:cNvSpPr txBox="1"/>
          <p:nvPr/>
        </p:nvSpPr>
        <p:spPr>
          <a:xfrm>
            <a:off x="429768" y="443484"/>
            <a:ext cx="749808"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8" name="Rounded Rectangle 7"/>
          <p:cNvSpPr/>
          <p:nvPr/>
        </p:nvSpPr>
        <p:spPr>
          <a:xfrm>
            <a:off x="7991856" y="292608"/>
            <a:ext cx="694944" cy="420624"/>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91856" y="338328"/>
            <a:ext cx="694944"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10" name="TextBox 9"/>
          <p:cNvSpPr txBox="1"/>
          <p:nvPr/>
        </p:nvSpPr>
        <p:spPr>
          <a:xfrm>
            <a:off x="7964424" y="443484"/>
            <a:ext cx="749808"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11" name="TextBox 10"/>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01 / 30</a:t>
            </a:r>
          </a:p>
        </p:txBody>
      </p:sp>
      <p:sp>
        <p:nvSpPr>
          <p:cNvPr id="12" name="TextBox 11"/>
          <p:cNvSpPr txBox="1"/>
          <p:nvPr/>
        </p:nvSpPr>
        <p:spPr>
          <a:xfrm>
            <a:off x="1325880" y="347472"/>
            <a:ext cx="6492240" cy="274320"/>
          </a:xfrm>
          <a:prstGeom prst="rect">
            <a:avLst/>
          </a:prstGeom>
          <a:noFill/>
        </p:spPr>
        <p:txBody>
          <a:bodyPr wrap="square" anchor="t" lIns="45720" rIns="45720" tIns="18288" bIns="18288">
            <a:spAutoFit/>
          </a:bodyPr>
          <a:lstStyle/>
          <a:p>
            <a:pPr algn="ctr">
              <a:lnSpc>
                <a:spcPct val="100000"/>
              </a:lnSpc>
            </a:pPr>
            <a:r>
              <a:rPr sz="1050" b="1" i="0">
                <a:solidFill>
                  <a:srgbClr val="2B8A3E"/>
                </a:solidFill>
                <a:latin typeface="Calibri"/>
              </a:rPr>
              <a:t>RNCP N° 40573   ·   RNCP40573BC06   ·   NIVEAU 7 (BAC+5)</a:t>
            </a:r>
          </a:p>
        </p:txBody>
      </p:sp>
      <p:sp>
        <p:nvSpPr>
          <p:cNvPr id="13" name="TextBox 12"/>
          <p:cNvSpPr txBox="1"/>
          <p:nvPr/>
        </p:nvSpPr>
        <p:spPr>
          <a:xfrm>
            <a:off x="1325880" y="585216"/>
            <a:ext cx="6492240" cy="219456"/>
          </a:xfrm>
          <a:prstGeom prst="rect">
            <a:avLst/>
          </a:prstGeom>
          <a:noFill/>
        </p:spPr>
        <p:txBody>
          <a:bodyPr wrap="square" anchor="t" lIns="45720" rIns="45720" tIns="18288" bIns="18288">
            <a:spAutoFit/>
          </a:bodyPr>
          <a:lstStyle/>
          <a:p>
            <a:pPr algn="ctr">
              <a:lnSpc>
                <a:spcPct val="100000"/>
              </a:lnSpc>
            </a:pPr>
            <a:r>
              <a:rPr sz="850" b="1" i="0">
                <a:solidFill>
                  <a:srgbClr val="495057"/>
                </a:solidFill>
                <a:latin typeface="Calibri"/>
              </a:rPr>
              <a:t>EXPERT EN INFORMATIQUE ET SYSTÈMES D’INFORMATION   ·   OPTION DEVOPS</a:t>
            </a:r>
          </a:p>
        </p:txBody>
      </p:sp>
      <p:sp>
        <p:nvSpPr>
          <p:cNvPr id="14" name="TextBox 13"/>
          <p:cNvSpPr txBox="1"/>
          <p:nvPr/>
        </p:nvSpPr>
        <p:spPr>
          <a:xfrm>
            <a:off x="640080" y="914400"/>
            <a:ext cx="7863840" cy="822960"/>
          </a:xfrm>
          <a:prstGeom prst="rect">
            <a:avLst/>
          </a:prstGeom>
          <a:noFill/>
        </p:spPr>
        <p:txBody>
          <a:bodyPr wrap="square" anchor="t" lIns="45720" rIns="45720" tIns="18288" bIns="18288">
            <a:spAutoFit/>
          </a:bodyPr>
          <a:lstStyle/>
          <a:p>
            <a:pPr algn="ctr">
              <a:lnSpc>
                <a:spcPct val="100000"/>
              </a:lnSpc>
            </a:pPr>
            <a:r>
              <a:rPr sz="4600" b="1" i="0">
                <a:solidFill>
                  <a:srgbClr val="212529"/>
                </a:solidFill>
                <a:latin typeface="Calibri"/>
              </a:rPr>
              <a:t>dropicture</a:t>
            </a:r>
          </a:p>
        </p:txBody>
      </p:sp>
      <p:sp>
        <p:nvSpPr>
          <p:cNvPr id="15" name="Rounded Rectangle 14"/>
          <p:cNvSpPr/>
          <p:nvPr/>
        </p:nvSpPr>
        <p:spPr>
          <a:xfrm>
            <a:off x="1051560" y="1792224"/>
            <a:ext cx="7040880" cy="1042415"/>
          </a:xfrm>
          <a:prstGeom prst="roundRect">
            <a:avLst>
              <a:gd name="adj" fmla="val 5000"/>
            </a:avLst>
          </a:prstGeom>
          <a:solidFill>
            <a:srgbClr val="F8F9FA"/>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51560" y="1792224"/>
            <a:ext cx="73152" cy="1042415"/>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98448" y="1874519"/>
            <a:ext cx="6675120" cy="914400"/>
          </a:xfrm>
          <a:prstGeom prst="rect">
            <a:avLst/>
          </a:prstGeom>
          <a:noFill/>
        </p:spPr>
        <p:txBody>
          <a:bodyPr wrap="square" anchor="t" lIns="45720" rIns="45720" tIns="18288" bIns="18288">
            <a:spAutoFit/>
          </a:bodyPr>
          <a:lstStyle/>
          <a:p>
            <a:pPr algn="l">
              <a:lnSpc>
                <a:spcPct val="105000"/>
              </a:lnSpc>
              <a:spcAft>
                <a:spcPts val="300"/>
              </a:spcAft>
            </a:pPr>
            <a:r>
              <a:rPr sz="1000" b="1" i="0">
                <a:solidFill>
                  <a:srgbClr val="2B8A3E"/>
                </a:solidFill>
                <a:latin typeface="Calibri"/>
              </a:rPr>
              <a:t>Problématique</a:t>
            </a:r>
          </a:p>
          <a:p>
            <a:pPr algn="l">
              <a:lnSpc>
                <a:spcPct val="105000"/>
              </a:lnSpc>
              <a:spcAft>
                <a:spcPts val="300"/>
              </a:spcAft>
            </a:pPr>
            <a:r>
              <a:rPr sz="1200" b="0" i="1">
                <a:solidFill>
                  <a:srgbClr val="212529"/>
                </a:solidFill>
                <a:latin typeface="Calibri"/>
              </a:rPr>
              <a:t>Comment concevoir et déployer une infrastructure DevOps entièrement automatisée, sécurisée et éco-responsable, permettant la livraison continue d’une plateforme SaaS de partage de médias tout en garantissant la qualité, l’observabilité et la maîtrise des coûts ?</a:t>
            </a:r>
          </a:p>
        </p:txBody>
      </p:sp>
      <p:sp>
        <p:nvSpPr>
          <p:cNvPr id="18" name="TextBox 17"/>
          <p:cNvSpPr txBox="1"/>
          <p:nvPr/>
        </p:nvSpPr>
        <p:spPr>
          <a:xfrm>
            <a:off x="640080" y="3072384"/>
            <a:ext cx="7863840" cy="274320"/>
          </a:xfrm>
          <a:prstGeom prst="rect">
            <a:avLst/>
          </a:prstGeom>
          <a:noFill/>
        </p:spPr>
        <p:txBody>
          <a:bodyPr wrap="square" anchor="t" lIns="45720" rIns="45720" tIns="18288" bIns="18288">
            <a:spAutoFit/>
          </a:bodyPr>
          <a:lstStyle/>
          <a:p>
            <a:pPr algn="ctr">
              <a:lnSpc>
                <a:spcPct val="100000"/>
              </a:lnSpc>
            </a:pPr>
            <a:r>
              <a:rPr sz="1400" b="1" i="0">
                <a:solidFill>
                  <a:srgbClr val="212529"/>
                </a:solidFill>
                <a:latin typeface="Calibri"/>
              </a:rPr>
              <a:t>Amir REDJEM</a:t>
            </a:r>
            <a:r>
              <a:rPr sz="1100" b="0" i="0">
                <a:solidFill>
                  <a:srgbClr val="495057"/>
                </a:solidFill>
                <a:latin typeface="Calibri"/>
              </a:rPr>
              <a:t>     Promotion 2024 / 2026     ·     Option DevOps (BC4C)</a:t>
            </a:r>
          </a:p>
        </p:txBody>
      </p:sp>
      <p:sp>
        <p:nvSpPr>
          <p:cNvPr id="19" name="TextBox 18"/>
          <p:cNvSpPr txBox="1"/>
          <p:nvPr/>
        </p:nvSpPr>
        <p:spPr>
          <a:xfrm>
            <a:off x="457200" y="3584448"/>
            <a:ext cx="4114800" cy="777240"/>
          </a:xfrm>
          <a:prstGeom prst="rect">
            <a:avLst/>
          </a:prstGeom>
          <a:noFill/>
        </p:spPr>
        <p:txBody>
          <a:bodyPr wrap="square" anchor="t" lIns="45720" rIns="45720" tIns="18288" bIns="18288">
            <a:spAutoFit/>
          </a:bodyPr>
          <a:lstStyle/>
          <a:p>
            <a:pPr algn="ctr">
              <a:lnSpc>
                <a:spcPct val="100000"/>
              </a:lnSpc>
              <a:spcAft>
                <a:spcPts val="200"/>
              </a:spcAft>
            </a:pPr>
            <a:r>
              <a:rPr sz="1050" b="1" i="0">
                <a:solidFill>
                  <a:srgbClr val="212529"/>
                </a:solidFill>
                <a:latin typeface="Calibri"/>
              </a:rPr>
              <a:t>École La Plateforme</a:t>
            </a:r>
          </a:p>
          <a:p>
            <a:pPr algn="ctr">
              <a:lnSpc>
                <a:spcPct val="100000"/>
              </a:lnSpc>
              <a:spcAft>
                <a:spcPts val="200"/>
              </a:spcAft>
            </a:pPr>
            <a:r>
              <a:rPr sz="1000" b="0" i="0">
                <a:solidFill>
                  <a:srgbClr val="495057"/>
                </a:solidFill>
                <a:latin typeface="Calibri"/>
              </a:rPr>
              <a:t>Marseille</a:t>
            </a:r>
          </a:p>
          <a:p>
            <a:pPr algn="ctr">
              <a:lnSpc>
                <a:spcPct val="100000"/>
              </a:lnSpc>
              <a:spcAft>
                <a:spcPts val="200"/>
              </a:spcAft>
            </a:pPr>
            <a:r>
              <a:rPr sz="900" b="0" i="0">
                <a:solidFill>
                  <a:srgbClr val="868E96"/>
                </a:solidFill>
                <a:latin typeface="Calibri"/>
              </a:rPr>
              <a:t>Référent  Joris VERGULDEZOONE</a:t>
            </a:r>
          </a:p>
        </p:txBody>
      </p:sp>
      <p:sp>
        <p:nvSpPr>
          <p:cNvPr id="20" name="TextBox 19"/>
          <p:cNvSpPr txBox="1"/>
          <p:nvPr/>
        </p:nvSpPr>
        <p:spPr>
          <a:xfrm>
            <a:off x="4572000" y="3584448"/>
            <a:ext cx="4114800" cy="777240"/>
          </a:xfrm>
          <a:prstGeom prst="rect">
            <a:avLst/>
          </a:prstGeom>
          <a:noFill/>
        </p:spPr>
        <p:txBody>
          <a:bodyPr wrap="square" anchor="t" lIns="45720" rIns="45720" tIns="18288" bIns="18288">
            <a:spAutoFit/>
          </a:bodyPr>
          <a:lstStyle/>
          <a:p>
            <a:pPr algn="ctr">
              <a:lnSpc>
                <a:spcPct val="100000"/>
              </a:lnSpc>
              <a:spcAft>
                <a:spcPts val="200"/>
              </a:spcAft>
            </a:pPr>
            <a:r>
              <a:rPr sz="1050" b="1" i="0">
                <a:solidFill>
                  <a:srgbClr val="212529"/>
                </a:solidFill>
                <a:latin typeface="Calibri"/>
              </a:rPr>
              <a:t>FDJ United</a:t>
            </a:r>
          </a:p>
          <a:p>
            <a:pPr algn="ctr">
              <a:lnSpc>
                <a:spcPct val="100000"/>
              </a:lnSpc>
              <a:spcAft>
                <a:spcPts val="200"/>
              </a:spcAft>
            </a:pPr>
            <a:r>
              <a:rPr sz="1000" b="0" i="0">
                <a:solidFill>
                  <a:srgbClr val="495057"/>
                </a:solidFill>
                <a:latin typeface="Calibri"/>
              </a:rPr>
              <a:t>Vitrolles</a:t>
            </a:r>
          </a:p>
          <a:p>
            <a:pPr algn="ctr">
              <a:lnSpc>
                <a:spcPct val="100000"/>
              </a:lnSpc>
              <a:spcAft>
                <a:spcPts val="200"/>
              </a:spcAft>
            </a:pPr>
            <a:r>
              <a:rPr sz="900" b="0" i="0">
                <a:solidFill>
                  <a:srgbClr val="868E96"/>
                </a:solidFill>
                <a:latin typeface="Calibri"/>
              </a:rPr>
              <a:t>Référent  Philippe AMERIO</a:t>
            </a:r>
          </a:p>
        </p:txBody>
      </p:sp>
      <p:sp>
        <p:nvSpPr>
          <p:cNvPr id="21" name="TextBox 20"/>
          <p:cNvSpPr txBox="1"/>
          <p:nvPr/>
        </p:nvSpPr>
        <p:spPr>
          <a:xfrm>
            <a:off x="640080" y="4498848"/>
            <a:ext cx="7863840" cy="274320"/>
          </a:xfrm>
          <a:prstGeom prst="rect">
            <a:avLst/>
          </a:prstGeom>
          <a:noFill/>
        </p:spPr>
        <p:txBody>
          <a:bodyPr wrap="square" anchor="t" lIns="45720" rIns="45720" tIns="18288" bIns="18288">
            <a:spAutoFit/>
          </a:bodyPr>
          <a:lstStyle/>
          <a:p>
            <a:pPr algn="ctr">
              <a:lnSpc>
                <a:spcPct val="100000"/>
              </a:lnSpc>
            </a:pPr>
            <a:r>
              <a:rPr sz="950" b="1" i="0">
                <a:solidFill>
                  <a:srgbClr val="2B8A3E"/>
                </a:solidFill>
                <a:latin typeface="Calibri"/>
              </a:rPr>
              <a:t>Soutenance du 03/08/2026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PLAN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Sommaire</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02 / 30</a:t>
            </a:r>
          </a:p>
        </p:txBody>
      </p:sp>
      <p:sp>
        <p:nvSpPr>
          <p:cNvPr id="13" name="Rounded Rectangle 12"/>
          <p:cNvSpPr/>
          <p:nvPr/>
        </p:nvSpPr>
        <p:spPr>
          <a:xfrm>
            <a:off x="457200"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444752"/>
            <a:ext cx="1335024" cy="51206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3776"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1 · Introduction</a:t>
            </a:r>
          </a:p>
        </p:txBody>
      </p:sp>
      <p:sp>
        <p:nvSpPr>
          <p:cNvPr id="16" name="TextBox 15"/>
          <p:cNvSpPr txBox="1"/>
          <p:nvPr/>
        </p:nvSpPr>
        <p:spPr>
          <a:xfrm>
            <a:off x="512064"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parcours, contexte,</a:t>
            </a:r>
          </a:p>
        </p:txBody>
      </p:sp>
      <p:sp>
        <p:nvSpPr>
          <p:cNvPr id="17" name="TextBox 16"/>
          <p:cNvSpPr txBox="1"/>
          <p:nvPr/>
        </p:nvSpPr>
        <p:spPr>
          <a:xfrm>
            <a:off x="512064"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problématique, objectifs</a:t>
            </a:r>
          </a:p>
        </p:txBody>
      </p:sp>
      <p:sp>
        <p:nvSpPr>
          <p:cNvPr id="18" name="Rounded Rectangle 17"/>
          <p:cNvSpPr/>
          <p:nvPr/>
        </p:nvSpPr>
        <p:spPr>
          <a:xfrm>
            <a:off x="667512" y="3090672"/>
            <a:ext cx="914400" cy="274320"/>
          </a:xfrm>
          <a:prstGeom prst="roundRect">
            <a:avLst>
              <a:gd name="adj" fmla="val 14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2B8A3E"/>
                </a:solidFill>
                <a:latin typeface="Calibri"/>
              </a:rPr>
              <a:t>03 à 05</a:t>
            </a:r>
          </a:p>
        </p:txBody>
      </p:sp>
      <p:sp>
        <p:nvSpPr>
          <p:cNvPr id="20" name="Rounded Rectangle 19"/>
          <p:cNvSpPr/>
          <p:nvPr/>
        </p:nvSpPr>
        <p:spPr>
          <a:xfrm>
            <a:off x="1847088"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47088" y="1444752"/>
            <a:ext cx="1335024" cy="51206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83664"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2 · Analyse et</a:t>
            </a:r>
          </a:p>
          <a:p>
            <a:pPr algn="ctr">
              <a:lnSpc>
                <a:spcPct val="98000"/>
              </a:lnSpc>
            </a:pPr>
            <a:r>
              <a:rPr sz="850" b="1" i="0">
                <a:solidFill>
                  <a:srgbClr val="FFFFFF"/>
                </a:solidFill>
                <a:latin typeface="Calibri"/>
              </a:rPr>
              <a:t>stratégie du SI</a:t>
            </a:r>
          </a:p>
        </p:txBody>
      </p:sp>
      <p:sp>
        <p:nvSpPr>
          <p:cNvPr id="23" name="TextBox 22"/>
          <p:cNvSpPr txBox="1"/>
          <p:nvPr/>
        </p:nvSpPr>
        <p:spPr>
          <a:xfrm>
            <a:off x="1901952"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veille, cartographie,</a:t>
            </a:r>
          </a:p>
        </p:txBody>
      </p:sp>
      <p:sp>
        <p:nvSpPr>
          <p:cNvPr id="24" name="TextBox 23"/>
          <p:cNvSpPr txBox="1"/>
          <p:nvPr/>
        </p:nvSpPr>
        <p:spPr>
          <a:xfrm>
            <a:off x="1901952"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risques, architecture</a:t>
            </a:r>
          </a:p>
        </p:txBody>
      </p:sp>
      <p:sp>
        <p:nvSpPr>
          <p:cNvPr id="25" name="Rounded Rectangle 24"/>
          <p:cNvSpPr/>
          <p:nvPr/>
        </p:nvSpPr>
        <p:spPr>
          <a:xfrm>
            <a:off x="2057400" y="3090672"/>
            <a:ext cx="914400" cy="274320"/>
          </a:xfrm>
          <a:prstGeom prst="roundRect">
            <a:avLst>
              <a:gd name="adj" fmla="val 14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57400"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1971C2"/>
                </a:solidFill>
                <a:latin typeface="Calibri"/>
              </a:rPr>
              <a:t>06 à 09</a:t>
            </a:r>
          </a:p>
        </p:txBody>
      </p:sp>
      <p:sp>
        <p:nvSpPr>
          <p:cNvPr id="27" name="Rounded Rectangle 26"/>
          <p:cNvSpPr/>
          <p:nvPr/>
        </p:nvSpPr>
        <p:spPr>
          <a:xfrm>
            <a:off x="3236976"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36976" y="1444752"/>
            <a:ext cx="1335024" cy="51206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73552"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3 · Gestion</a:t>
            </a:r>
          </a:p>
          <a:p>
            <a:pPr algn="ctr">
              <a:lnSpc>
                <a:spcPct val="98000"/>
              </a:lnSpc>
            </a:pPr>
            <a:r>
              <a:rPr sz="850" b="1" i="0">
                <a:solidFill>
                  <a:srgbClr val="FFFFFF"/>
                </a:solidFill>
                <a:latin typeface="Calibri"/>
              </a:rPr>
              <a:t>de projet</a:t>
            </a:r>
          </a:p>
        </p:txBody>
      </p:sp>
      <p:sp>
        <p:nvSpPr>
          <p:cNvPr id="30" name="TextBox 29"/>
          <p:cNvSpPr txBox="1"/>
          <p:nvPr/>
        </p:nvSpPr>
        <p:spPr>
          <a:xfrm>
            <a:off x="3291840"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besoins, budget,</a:t>
            </a:r>
          </a:p>
        </p:txBody>
      </p:sp>
      <p:sp>
        <p:nvSpPr>
          <p:cNvPr id="31" name="TextBox 30"/>
          <p:cNvSpPr txBox="1"/>
          <p:nvPr/>
        </p:nvSpPr>
        <p:spPr>
          <a:xfrm>
            <a:off x="3291840"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planning, RACI</a:t>
            </a:r>
          </a:p>
        </p:txBody>
      </p:sp>
      <p:sp>
        <p:nvSpPr>
          <p:cNvPr id="32" name="Rounded Rectangle 31"/>
          <p:cNvSpPr/>
          <p:nvPr/>
        </p:nvSpPr>
        <p:spPr>
          <a:xfrm>
            <a:off x="3447288" y="3090672"/>
            <a:ext cx="914400" cy="274320"/>
          </a:xfrm>
          <a:prstGeom prst="roundRect">
            <a:avLst>
              <a:gd name="adj" fmla="val 14000"/>
            </a:avLst>
          </a:prstGeom>
          <a:solidFill>
            <a:srgbClr val="ED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47288"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6741D9"/>
                </a:solidFill>
                <a:latin typeface="Calibri"/>
              </a:rPr>
              <a:t>10 à 13</a:t>
            </a:r>
          </a:p>
        </p:txBody>
      </p:sp>
      <p:sp>
        <p:nvSpPr>
          <p:cNvPr id="34" name="Rounded Rectangle 33"/>
          <p:cNvSpPr/>
          <p:nvPr/>
        </p:nvSpPr>
        <p:spPr>
          <a:xfrm>
            <a:off x="4626864"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26864" y="1444752"/>
            <a:ext cx="1335024" cy="512064"/>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4 · Conception et</a:t>
            </a:r>
          </a:p>
          <a:p>
            <a:pPr algn="ctr">
              <a:lnSpc>
                <a:spcPct val="98000"/>
              </a:lnSpc>
            </a:pPr>
            <a:r>
              <a:rPr sz="850" b="1" i="0">
                <a:solidFill>
                  <a:srgbClr val="FFFFFF"/>
                </a:solidFill>
                <a:latin typeface="Calibri"/>
              </a:rPr>
              <a:t>développement</a:t>
            </a:r>
          </a:p>
        </p:txBody>
      </p:sp>
      <p:sp>
        <p:nvSpPr>
          <p:cNvPr id="37" name="TextBox 36"/>
          <p:cNvSpPr txBox="1"/>
          <p:nvPr/>
        </p:nvSpPr>
        <p:spPr>
          <a:xfrm>
            <a:off x="4681728"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maquettes, UML,</a:t>
            </a:r>
          </a:p>
        </p:txBody>
      </p:sp>
      <p:sp>
        <p:nvSpPr>
          <p:cNvPr id="38" name="TextBox 37"/>
          <p:cNvSpPr txBox="1"/>
          <p:nvPr/>
        </p:nvSpPr>
        <p:spPr>
          <a:xfrm>
            <a:off x="4681728"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données, tests</a:t>
            </a:r>
          </a:p>
        </p:txBody>
      </p:sp>
      <p:sp>
        <p:nvSpPr>
          <p:cNvPr id="39" name="Rounded Rectangle 38"/>
          <p:cNvSpPr/>
          <p:nvPr/>
        </p:nvSpPr>
        <p:spPr>
          <a:xfrm>
            <a:off x="4837176" y="3090672"/>
            <a:ext cx="914400" cy="274320"/>
          </a:xfrm>
          <a:prstGeom prst="roundRect">
            <a:avLst>
              <a:gd name="adj" fmla="val 14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37176"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C2255C"/>
                </a:solidFill>
                <a:latin typeface="Calibri"/>
              </a:rPr>
              <a:t>14 à 18</a:t>
            </a:r>
          </a:p>
        </p:txBody>
      </p:sp>
      <p:sp>
        <p:nvSpPr>
          <p:cNvPr id="41" name="Rounded Rectangle 40"/>
          <p:cNvSpPr/>
          <p:nvPr/>
        </p:nvSpPr>
        <p:spPr>
          <a:xfrm>
            <a:off x="6016752"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016752" y="1444752"/>
            <a:ext cx="1335024" cy="5120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53328"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5 · Option</a:t>
            </a:r>
          </a:p>
          <a:p>
            <a:pPr algn="ctr">
              <a:lnSpc>
                <a:spcPct val="98000"/>
              </a:lnSpc>
            </a:pPr>
            <a:r>
              <a:rPr sz="850" b="1" i="0">
                <a:solidFill>
                  <a:srgbClr val="FFFFFF"/>
                </a:solidFill>
                <a:latin typeface="Calibri"/>
              </a:rPr>
              <a:t>DevOps</a:t>
            </a:r>
          </a:p>
        </p:txBody>
      </p:sp>
      <p:sp>
        <p:nvSpPr>
          <p:cNvPr id="44" name="TextBox 43"/>
          <p:cNvSpPr txBox="1"/>
          <p:nvPr/>
        </p:nvSpPr>
        <p:spPr>
          <a:xfrm>
            <a:off x="6071616"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IaC, CI/CD, cluster,</a:t>
            </a:r>
          </a:p>
        </p:txBody>
      </p:sp>
      <p:sp>
        <p:nvSpPr>
          <p:cNvPr id="45" name="TextBox 44"/>
          <p:cNvSpPr txBox="1"/>
          <p:nvPr/>
        </p:nvSpPr>
        <p:spPr>
          <a:xfrm>
            <a:off x="6071616"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observabilité, énergie</a:t>
            </a:r>
          </a:p>
        </p:txBody>
      </p:sp>
      <p:sp>
        <p:nvSpPr>
          <p:cNvPr id="46" name="Rounded Rectangle 45"/>
          <p:cNvSpPr/>
          <p:nvPr/>
        </p:nvSpPr>
        <p:spPr>
          <a:xfrm>
            <a:off x="6227064" y="3090672"/>
            <a:ext cx="914400" cy="274320"/>
          </a:xfrm>
          <a:prstGeom prst="roundRect">
            <a:avLst>
              <a:gd name="adj" fmla="val 14000"/>
            </a:avLst>
          </a:prstGeom>
          <a:solidFill>
            <a:srgbClr val="F8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27064"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C2410C"/>
                </a:solidFill>
                <a:latin typeface="Calibri"/>
              </a:rPr>
              <a:t>19 à 25</a:t>
            </a:r>
          </a:p>
        </p:txBody>
      </p:sp>
      <p:sp>
        <p:nvSpPr>
          <p:cNvPr id="48" name="Rounded Rectangle 47"/>
          <p:cNvSpPr/>
          <p:nvPr/>
        </p:nvSpPr>
        <p:spPr>
          <a:xfrm>
            <a:off x="7406640" y="1444752"/>
            <a:ext cx="1335024" cy="2084831"/>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406640" y="1444752"/>
            <a:ext cx="1335024" cy="51206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43215" y="1444752"/>
            <a:ext cx="1261872" cy="512064"/>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6 · Résultats et</a:t>
            </a:r>
          </a:p>
          <a:p>
            <a:pPr algn="ctr">
              <a:lnSpc>
                <a:spcPct val="98000"/>
              </a:lnSpc>
            </a:pPr>
            <a:r>
              <a:rPr sz="850" b="1" i="0">
                <a:solidFill>
                  <a:srgbClr val="FFFFFF"/>
                </a:solidFill>
                <a:latin typeface="Calibri"/>
              </a:rPr>
              <a:t>conclusion</a:t>
            </a:r>
          </a:p>
        </p:txBody>
      </p:sp>
      <p:sp>
        <p:nvSpPr>
          <p:cNvPr id="51" name="TextBox 50"/>
          <p:cNvSpPr txBox="1"/>
          <p:nvPr/>
        </p:nvSpPr>
        <p:spPr>
          <a:xfrm>
            <a:off x="7461504" y="2084831"/>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indicateurs, sécurité,</a:t>
            </a:r>
          </a:p>
        </p:txBody>
      </p:sp>
      <p:sp>
        <p:nvSpPr>
          <p:cNvPr id="52" name="TextBox 51"/>
          <p:cNvSpPr txBox="1"/>
          <p:nvPr/>
        </p:nvSpPr>
        <p:spPr>
          <a:xfrm>
            <a:off x="7461504" y="2304287"/>
            <a:ext cx="1225296" cy="201168"/>
          </a:xfrm>
          <a:prstGeom prst="rect">
            <a:avLst/>
          </a:prstGeom>
          <a:noFill/>
        </p:spPr>
        <p:txBody>
          <a:bodyPr wrap="square" anchor="t" lIns="45720" rIns="45720" tIns="18288" bIns="18288">
            <a:spAutoFit/>
          </a:bodyPr>
          <a:lstStyle/>
          <a:p>
            <a:pPr algn="ctr">
              <a:lnSpc>
                <a:spcPct val="100000"/>
              </a:lnSpc>
            </a:pPr>
            <a:r>
              <a:rPr sz="800" b="0" i="0">
                <a:solidFill>
                  <a:srgbClr val="495057"/>
                </a:solidFill>
                <a:latin typeface="Calibri"/>
              </a:rPr>
              <a:t>bilan, réponse</a:t>
            </a:r>
          </a:p>
        </p:txBody>
      </p:sp>
      <p:sp>
        <p:nvSpPr>
          <p:cNvPr id="53" name="Rounded Rectangle 52"/>
          <p:cNvSpPr/>
          <p:nvPr/>
        </p:nvSpPr>
        <p:spPr>
          <a:xfrm>
            <a:off x="7616952" y="3090672"/>
            <a:ext cx="914400" cy="274320"/>
          </a:xfrm>
          <a:prstGeom prst="roundRect">
            <a:avLst>
              <a:gd name="adj" fmla="val 14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16952" y="3090672"/>
            <a:ext cx="914400" cy="274320"/>
          </a:xfrm>
          <a:prstGeom prst="rect">
            <a:avLst/>
          </a:prstGeom>
          <a:noFill/>
        </p:spPr>
        <p:txBody>
          <a:bodyPr wrap="square" anchor="ctr" lIns="45720" rIns="45720" tIns="18288" bIns="18288">
            <a:spAutoFit/>
          </a:bodyPr>
          <a:lstStyle/>
          <a:p>
            <a:pPr algn="ctr">
              <a:lnSpc>
                <a:spcPct val="96000"/>
              </a:lnSpc>
            </a:pPr>
            <a:r>
              <a:rPr sz="800" b="1" i="0">
                <a:solidFill>
                  <a:srgbClr val="2B8A3E"/>
                </a:solidFill>
                <a:latin typeface="Calibri"/>
              </a:rPr>
              <a:t>26 à 30</a:t>
            </a:r>
          </a:p>
        </p:txBody>
      </p:sp>
      <p:sp>
        <p:nvSpPr>
          <p:cNvPr id="55" name="Rounded Rectangle 54"/>
          <p:cNvSpPr/>
          <p:nvPr/>
        </p:nvSpPr>
        <p:spPr>
          <a:xfrm>
            <a:off x="457200" y="3712463"/>
            <a:ext cx="8229600" cy="786384"/>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3712463"/>
            <a:ext cx="64008" cy="78638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 y="3794759"/>
            <a:ext cx="7882127" cy="640080"/>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2B8A3E"/>
                </a:solidFill>
                <a:latin typeface="Calibri"/>
              </a:rPr>
              <a:t>Où se joue l’évaluation  </a:t>
            </a:r>
          </a:p>
          <a:p>
            <a:pPr algn="l">
              <a:lnSpc>
                <a:spcPct val="105000"/>
              </a:lnSpc>
              <a:spcAft>
                <a:spcPts val="200"/>
              </a:spcAft>
            </a:pPr>
            <a:r>
              <a:rPr sz="900" b="0" i="0">
                <a:solidFill>
                  <a:srgbClr val="495057"/>
                </a:solidFill>
                <a:latin typeface="Calibri"/>
              </a:rPr>
              <a:t>Le bloc évalué est l’option DevOps, sept diapositives sur trente. Les trois blocs communs sont couverts par les parties 2, 3 et 4.</a:t>
            </a:r>
          </a:p>
          <a:p>
            <a:pPr algn="l">
              <a:lnSpc>
                <a:spcPct val="105000"/>
              </a:lnSpc>
              <a:spcAft>
                <a:spcPts val="200"/>
              </a:spcAft>
            </a:pPr>
            <a:r>
              <a:rPr sz="900" b="0" i="0">
                <a:solidFill>
                  <a:srgbClr val="495057"/>
                </a:solidFill>
                <a:latin typeface="Calibri"/>
              </a:rPr>
              <a:t>Chaque diapositive cite en bas à gauche sa compétence, son bloc, sa section de mémoire et son annexe. C1 à C31 sont couvertes.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1 · INTRODUCTION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Présentation personnelle</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03 / 30</a:t>
            </a:r>
          </a:p>
        </p:txBody>
      </p:sp>
      <p:sp>
        <p:nvSpPr>
          <p:cNvPr id="13" name="TextBox 12"/>
          <p:cNvSpPr txBox="1"/>
          <p:nvPr/>
        </p:nvSpPr>
        <p:spPr>
          <a:xfrm>
            <a:off x="457200" y="1188720"/>
            <a:ext cx="8229600" cy="256032"/>
          </a:xfrm>
          <a:prstGeom prst="rect">
            <a:avLst/>
          </a:prstGeom>
          <a:noFill/>
        </p:spPr>
        <p:txBody>
          <a:bodyPr wrap="square" anchor="t" lIns="45720" rIns="45720" tIns="18288" bIns="18288">
            <a:spAutoFit/>
          </a:bodyPr>
          <a:lstStyle/>
          <a:p>
            <a:pPr algn="l">
              <a:lnSpc>
                <a:spcPct val="100000"/>
              </a:lnSpc>
            </a:pPr>
            <a:r>
              <a:rPr sz="1100" b="1" i="0">
                <a:solidFill>
                  <a:srgbClr val="212529"/>
                </a:solidFill>
                <a:latin typeface="Calibri"/>
              </a:rPr>
              <a:t>Amir REDJEM   ·   28 ans   ·   Ingénieur DevOps en alternance chez FDJ United   ·   Marseille</a:t>
            </a:r>
          </a:p>
        </p:txBody>
      </p:sp>
      <p:cxnSp>
        <p:nvCxnSpPr>
          <p:cNvPr id="14" name="Connector 13"/>
          <p:cNvCxnSpPr/>
          <p:nvPr/>
        </p:nvCxnSpPr>
        <p:spPr>
          <a:xfrm>
            <a:off x="1097280" y="2377440"/>
            <a:ext cx="7498080" cy="0"/>
          </a:xfrm>
          <a:prstGeom prst="line">
            <a:avLst/>
          </a:prstGeom>
          <a:ln w="15875">
            <a:solidFill>
              <a:srgbClr val="DEE2E6"/>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133856" y="2331720"/>
            <a:ext cx="10972" cy="9144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 y="2450592"/>
            <a:ext cx="1005840" cy="164592"/>
          </a:xfrm>
          <a:prstGeom prst="rect">
            <a:avLst/>
          </a:prstGeom>
          <a:noFill/>
        </p:spPr>
        <p:txBody>
          <a:bodyPr wrap="square" anchor="t" lIns="45720" rIns="45720" tIns="18288" bIns="18288">
            <a:spAutoFit/>
          </a:bodyPr>
          <a:lstStyle/>
          <a:p>
            <a:pPr algn="ctr">
              <a:lnSpc>
                <a:spcPct val="100000"/>
              </a:lnSpc>
            </a:pPr>
            <a:r>
              <a:rPr sz="750" b="0" i="0">
                <a:solidFill>
                  <a:srgbClr val="868E96"/>
                </a:solidFill>
                <a:latin typeface="Calibri"/>
              </a:rPr>
              <a:t>sept. 2022</a:t>
            </a:r>
          </a:p>
        </p:txBody>
      </p:sp>
      <p:sp>
        <p:nvSpPr>
          <p:cNvPr id="17" name="Rectangle 16"/>
          <p:cNvSpPr/>
          <p:nvPr/>
        </p:nvSpPr>
        <p:spPr>
          <a:xfrm>
            <a:off x="2999232" y="2331720"/>
            <a:ext cx="10972" cy="9144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96311" y="2450592"/>
            <a:ext cx="1005840" cy="164592"/>
          </a:xfrm>
          <a:prstGeom prst="rect">
            <a:avLst/>
          </a:prstGeom>
          <a:noFill/>
        </p:spPr>
        <p:txBody>
          <a:bodyPr wrap="square" anchor="t" lIns="45720" rIns="45720" tIns="18288" bIns="18288">
            <a:spAutoFit/>
          </a:bodyPr>
          <a:lstStyle/>
          <a:p>
            <a:pPr algn="ctr">
              <a:lnSpc>
                <a:spcPct val="100000"/>
              </a:lnSpc>
            </a:pPr>
            <a:r>
              <a:rPr sz="750" b="0" i="0">
                <a:solidFill>
                  <a:srgbClr val="868E96"/>
                </a:solidFill>
                <a:latin typeface="Calibri"/>
              </a:rPr>
              <a:t>2023</a:t>
            </a:r>
          </a:p>
        </p:txBody>
      </p:sp>
      <p:sp>
        <p:nvSpPr>
          <p:cNvPr id="19" name="Rectangle 18"/>
          <p:cNvSpPr/>
          <p:nvPr/>
        </p:nvSpPr>
        <p:spPr>
          <a:xfrm>
            <a:off x="4864608" y="2331720"/>
            <a:ext cx="10972" cy="9144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1688" y="2450592"/>
            <a:ext cx="1005840" cy="164592"/>
          </a:xfrm>
          <a:prstGeom prst="rect">
            <a:avLst/>
          </a:prstGeom>
          <a:noFill/>
        </p:spPr>
        <p:txBody>
          <a:bodyPr wrap="square" anchor="t" lIns="45720" rIns="45720" tIns="18288" bIns="18288">
            <a:spAutoFit/>
          </a:bodyPr>
          <a:lstStyle/>
          <a:p>
            <a:pPr algn="ctr">
              <a:lnSpc>
                <a:spcPct val="100000"/>
              </a:lnSpc>
            </a:pPr>
            <a:r>
              <a:rPr sz="750" b="0" i="0">
                <a:solidFill>
                  <a:srgbClr val="868E96"/>
                </a:solidFill>
                <a:latin typeface="Calibri"/>
              </a:rPr>
              <a:t>2024</a:t>
            </a:r>
          </a:p>
        </p:txBody>
      </p:sp>
      <p:sp>
        <p:nvSpPr>
          <p:cNvPr id="21" name="Rectangle 20"/>
          <p:cNvSpPr/>
          <p:nvPr/>
        </p:nvSpPr>
        <p:spPr>
          <a:xfrm>
            <a:off x="6729984" y="2331720"/>
            <a:ext cx="10972" cy="9144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2450592"/>
            <a:ext cx="1005840" cy="164592"/>
          </a:xfrm>
          <a:prstGeom prst="rect">
            <a:avLst/>
          </a:prstGeom>
          <a:noFill/>
        </p:spPr>
        <p:txBody>
          <a:bodyPr wrap="square" anchor="t" lIns="45720" rIns="45720" tIns="18288" bIns="18288">
            <a:spAutoFit/>
          </a:bodyPr>
          <a:lstStyle/>
          <a:p>
            <a:pPr algn="ctr">
              <a:lnSpc>
                <a:spcPct val="100000"/>
              </a:lnSpc>
            </a:pPr>
            <a:r>
              <a:rPr sz="750" b="0" i="0">
                <a:solidFill>
                  <a:srgbClr val="868E96"/>
                </a:solidFill>
                <a:latin typeface="Calibri"/>
              </a:rPr>
              <a:t>2025</a:t>
            </a:r>
          </a:p>
        </p:txBody>
      </p:sp>
      <p:sp>
        <p:nvSpPr>
          <p:cNvPr id="23" name="Rectangle 22"/>
          <p:cNvSpPr/>
          <p:nvPr/>
        </p:nvSpPr>
        <p:spPr>
          <a:xfrm>
            <a:off x="8577072" y="2331720"/>
            <a:ext cx="10972" cy="9144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2450592"/>
            <a:ext cx="1005840" cy="164592"/>
          </a:xfrm>
          <a:prstGeom prst="rect">
            <a:avLst/>
          </a:prstGeom>
          <a:noFill/>
        </p:spPr>
        <p:txBody>
          <a:bodyPr wrap="square" anchor="t" lIns="45720" rIns="45720" tIns="18288" bIns="18288">
            <a:spAutoFit/>
          </a:bodyPr>
          <a:lstStyle/>
          <a:p>
            <a:pPr algn="ctr">
              <a:lnSpc>
                <a:spcPct val="100000"/>
              </a:lnSpc>
            </a:pPr>
            <a:r>
              <a:rPr sz="750" b="0" i="0">
                <a:solidFill>
                  <a:srgbClr val="868E96"/>
                </a:solidFill>
                <a:latin typeface="Calibri"/>
              </a:rPr>
              <a:t>août 2026</a:t>
            </a:r>
          </a:p>
        </p:txBody>
      </p:sp>
      <p:sp>
        <p:nvSpPr>
          <p:cNvPr id="25" name="TextBox 24"/>
          <p:cNvSpPr txBox="1"/>
          <p:nvPr/>
        </p:nvSpPr>
        <p:spPr>
          <a:xfrm>
            <a:off x="457200" y="1554480"/>
            <a:ext cx="1463040" cy="164592"/>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FORMATIONS</a:t>
            </a:r>
          </a:p>
        </p:txBody>
      </p:sp>
      <p:sp>
        <p:nvSpPr>
          <p:cNvPr id="26" name="Rounded Rectangle 25"/>
          <p:cNvSpPr/>
          <p:nvPr/>
        </p:nvSpPr>
        <p:spPr>
          <a:xfrm>
            <a:off x="457200" y="1755648"/>
            <a:ext cx="914400" cy="512064"/>
          </a:xfrm>
          <a:prstGeom prst="roundRect">
            <a:avLst>
              <a:gd name="adj" fmla="val 12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1810512"/>
            <a:ext cx="914400" cy="438912"/>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Bac+2</a:t>
            </a:r>
          </a:p>
          <a:p>
            <a:pPr algn="ctr">
              <a:lnSpc>
                <a:spcPct val="100000"/>
              </a:lnSpc>
            </a:pPr>
            <a:r>
              <a:rPr sz="750" b="0" i="0">
                <a:solidFill>
                  <a:srgbClr val="495057"/>
                </a:solidFill>
                <a:latin typeface="Calibri"/>
              </a:rPr>
              <a:t>AMU · 2022</a:t>
            </a:r>
          </a:p>
        </p:txBody>
      </p:sp>
      <p:sp>
        <p:nvSpPr>
          <p:cNvPr id="28" name="Rounded Rectangle 27"/>
          <p:cNvSpPr/>
          <p:nvPr/>
        </p:nvSpPr>
        <p:spPr>
          <a:xfrm>
            <a:off x="3017520" y="1755648"/>
            <a:ext cx="1737360" cy="512064"/>
          </a:xfrm>
          <a:prstGeom prst="roundRect">
            <a:avLst>
              <a:gd name="adj" fmla="val 12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1810512"/>
            <a:ext cx="1737360" cy="438912"/>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Licence · Bac+3</a:t>
            </a:r>
          </a:p>
          <a:p>
            <a:pPr algn="ctr">
              <a:lnSpc>
                <a:spcPct val="100000"/>
              </a:lnSpc>
            </a:pPr>
            <a:r>
              <a:rPr sz="750" b="0" i="0">
                <a:solidFill>
                  <a:srgbClr val="495057"/>
                </a:solidFill>
                <a:latin typeface="Calibri"/>
              </a:rPr>
              <a:t>Univ. Aix-Marseille</a:t>
            </a:r>
          </a:p>
        </p:txBody>
      </p:sp>
      <p:sp>
        <p:nvSpPr>
          <p:cNvPr id="30" name="Rounded Rectangle 29"/>
          <p:cNvSpPr/>
          <p:nvPr/>
        </p:nvSpPr>
        <p:spPr>
          <a:xfrm>
            <a:off x="4882896" y="1755648"/>
            <a:ext cx="3712463" cy="512064"/>
          </a:xfrm>
          <a:prstGeom prst="roundRect">
            <a:avLst>
              <a:gd name="adj" fmla="val 12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1810512"/>
            <a:ext cx="3712463" cy="438912"/>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Master’s Expert en Informatique · Bac+5</a:t>
            </a:r>
          </a:p>
          <a:p>
            <a:pPr algn="ctr">
              <a:lnSpc>
                <a:spcPct val="100000"/>
              </a:lnSpc>
            </a:pPr>
            <a:r>
              <a:rPr sz="750" b="0" i="0">
                <a:solidFill>
                  <a:srgbClr val="495057"/>
                </a:solidFill>
                <a:latin typeface="Calibri"/>
              </a:rPr>
              <a:t>École La Plateforme · alternance</a:t>
            </a:r>
          </a:p>
        </p:txBody>
      </p:sp>
      <p:sp>
        <p:nvSpPr>
          <p:cNvPr id="32" name="TextBox 31"/>
          <p:cNvSpPr txBox="1"/>
          <p:nvPr/>
        </p:nvSpPr>
        <p:spPr>
          <a:xfrm>
            <a:off x="457200" y="2834640"/>
            <a:ext cx="969264"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EXPÉRIENCES</a:t>
            </a:r>
          </a:p>
        </p:txBody>
      </p:sp>
      <p:sp>
        <p:nvSpPr>
          <p:cNvPr id="33" name="Rounded Rectangle 32"/>
          <p:cNvSpPr/>
          <p:nvPr/>
        </p:nvSpPr>
        <p:spPr>
          <a:xfrm>
            <a:off x="1133856" y="2688336"/>
            <a:ext cx="1828800" cy="548640"/>
          </a:xfrm>
          <a:prstGeom prst="roundRect">
            <a:avLst>
              <a:gd name="adj" fmla="val 12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2761488"/>
            <a:ext cx="1828800" cy="475488"/>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IT Remote · CDI 1 an</a:t>
            </a:r>
          </a:p>
          <a:p>
            <a:pPr algn="ctr">
              <a:lnSpc>
                <a:spcPct val="100000"/>
              </a:lnSpc>
            </a:pPr>
            <a:r>
              <a:rPr sz="750" b="0" i="0">
                <a:solidFill>
                  <a:srgbClr val="495057"/>
                </a:solidFill>
                <a:latin typeface="Calibri"/>
              </a:rPr>
              <a:t>Développeur Full Stack</a:t>
            </a:r>
          </a:p>
        </p:txBody>
      </p:sp>
      <p:sp>
        <p:nvSpPr>
          <p:cNvPr id="35" name="Rounded Rectangle 34"/>
          <p:cNvSpPr/>
          <p:nvPr/>
        </p:nvSpPr>
        <p:spPr>
          <a:xfrm>
            <a:off x="3017520" y="2688336"/>
            <a:ext cx="1828800" cy="548640"/>
          </a:xfrm>
          <a:prstGeom prst="roundRect">
            <a:avLst>
              <a:gd name="adj" fmla="val 12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17520" y="2761488"/>
            <a:ext cx="1828800" cy="475488"/>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Altares D&amp;B · alternance</a:t>
            </a:r>
          </a:p>
          <a:p>
            <a:pPr algn="ctr">
              <a:lnSpc>
                <a:spcPct val="100000"/>
              </a:lnSpc>
            </a:pPr>
            <a:r>
              <a:rPr sz="750" b="0" i="0">
                <a:solidFill>
                  <a:srgbClr val="495057"/>
                </a:solidFill>
                <a:latin typeface="Calibri"/>
              </a:rPr>
              <a:t>Développeur Full Stack</a:t>
            </a:r>
          </a:p>
        </p:txBody>
      </p:sp>
      <p:sp>
        <p:nvSpPr>
          <p:cNvPr id="37" name="Rounded Rectangle 36"/>
          <p:cNvSpPr/>
          <p:nvPr/>
        </p:nvSpPr>
        <p:spPr>
          <a:xfrm>
            <a:off x="4882896" y="2688336"/>
            <a:ext cx="3712463" cy="548640"/>
          </a:xfrm>
          <a:prstGeom prst="roundRect">
            <a:avLst>
              <a:gd name="adj" fmla="val 12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82896" y="2761488"/>
            <a:ext cx="3712463" cy="475488"/>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FDJ United · alternance 2 ans</a:t>
            </a:r>
          </a:p>
          <a:p>
            <a:pPr algn="ctr">
              <a:lnSpc>
                <a:spcPct val="100000"/>
              </a:lnSpc>
            </a:pPr>
            <a:r>
              <a:rPr sz="750" b="0" i="0">
                <a:solidFill>
                  <a:srgbClr val="495057"/>
                </a:solidFill>
                <a:latin typeface="Calibri"/>
              </a:rPr>
              <a:t>Ingénieur DevOps</a:t>
            </a:r>
          </a:p>
        </p:txBody>
      </p:sp>
      <p:sp>
        <p:nvSpPr>
          <p:cNvPr id="39" name="Rounded Rectangle 38"/>
          <p:cNvSpPr/>
          <p:nvPr/>
        </p:nvSpPr>
        <p:spPr>
          <a:xfrm>
            <a:off x="457200" y="3493008"/>
            <a:ext cx="8229600" cy="786384"/>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493008"/>
            <a:ext cx="64008" cy="78638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3575303"/>
            <a:ext cx="7882127" cy="640080"/>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B8A3E"/>
                </a:solidFill>
                <a:latin typeface="Calibri"/>
              </a:rPr>
              <a:t>Pourquoi ce sujet  </a:t>
            </a:r>
          </a:p>
          <a:p>
            <a:pPr algn="l">
              <a:lnSpc>
                <a:spcPct val="105000"/>
              </a:lnSpc>
              <a:spcAft>
                <a:spcPts val="200"/>
              </a:spcAft>
            </a:pPr>
            <a:r>
              <a:rPr sz="1000" b="0" i="0">
                <a:solidFill>
                  <a:srgbClr val="495057"/>
                </a:solidFill>
                <a:latin typeface="Calibri"/>
              </a:rPr>
              <a:t>Développer et exploiter au quotidien chez FDJ United, Kubernetes, IaC, CI/CD, Prometheus et Loki, m’a convaincu que le vrai enjeu n’est pas l’application mais la chaîne sûre et sobre qui la porte en production.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1 · INTRODUCTION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Contexte et problématique</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04 / 30</a:t>
            </a:r>
          </a:p>
        </p:txBody>
      </p:sp>
      <p:sp>
        <p:nvSpPr>
          <p:cNvPr id="13" name="Rounded Rectangle 12"/>
          <p:cNvSpPr/>
          <p:nvPr/>
        </p:nvSpPr>
        <p:spPr>
          <a:xfrm>
            <a:off x="457200" y="4818888"/>
            <a:ext cx="784555" cy="228600"/>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C10</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10.1, 10.2, 10.4</a:t>
            </a:r>
          </a:p>
        </p:txBody>
      </p:sp>
      <p:sp>
        <p:nvSpPr>
          <p:cNvPr id="16" name="Rounded Rectangle 15"/>
          <p:cNvSpPr/>
          <p:nvPr/>
        </p:nvSpPr>
        <p:spPr>
          <a:xfrm>
            <a:off x="457200" y="1261872"/>
            <a:ext cx="8229600" cy="658368"/>
          </a:xfrm>
          <a:prstGeom prst="roundRect">
            <a:avLst>
              <a:gd name="adj" fmla="val 7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261872"/>
            <a:ext cx="64008" cy="65836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1261872"/>
            <a:ext cx="7808975" cy="658368"/>
          </a:xfrm>
          <a:prstGeom prst="rect">
            <a:avLst/>
          </a:prstGeom>
          <a:noFill/>
        </p:spPr>
        <p:txBody>
          <a:bodyPr wrap="square" anchor="ctr" lIns="45720" rIns="45720" tIns="18288" bIns="18288">
            <a:spAutoFit/>
          </a:bodyPr>
          <a:lstStyle/>
          <a:p>
            <a:pPr algn="l">
              <a:lnSpc>
                <a:spcPct val="108000"/>
              </a:lnSpc>
            </a:pPr>
            <a:r>
              <a:rPr sz="950" b="1" i="0">
                <a:solidFill>
                  <a:srgbClr val="2B8A3E"/>
                </a:solidFill>
                <a:latin typeface="Calibri"/>
              </a:rPr>
              <a:t>Problématique   </a:t>
            </a:r>
            <a:r>
              <a:rPr sz="950" b="0" i="1">
                <a:solidFill>
                  <a:srgbClr val="212529"/>
                </a:solidFill>
                <a:latin typeface="Calibri"/>
              </a:rPr>
              <a:t>Comment concevoir et déployer une infrastructure DevOps entièrement automatisée, sécurisée et éco-responsable, permettant la livraison continue d’une plateforme SaaS de partage de médias tout en garantissant la qualité, l’observabilité et la maîtrise des coûts ?</a:t>
            </a:r>
          </a:p>
        </p:txBody>
      </p:sp>
      <p:sp>
        <p:nvSpPr>
          <p:cNvPr id="19" name="Rounded Rectangle 18"/>
          <p:cNvSpPr/>
          <p:nvPr/>
        </p:nvSpPr>
        <p:spPr>
          <a:xfrm>
            <a:off x="457200" y="2029968"/>
            <a:ext cx="1280160" cy="384048"/>
          </a:xfrm>
          <a:prstGeom prst="roundRect">
            <a:avLst>
              <a:gd name="adj" fmla="val 14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2B8A3E"/>
                </a:solidFill>
                <a:latin typeface="Calibri"/>
              </a:rPr>
              <a:t>Automatisation</a:t>
            </a:r>
          </a:p>
        </p:txBody>
      </p:sp>
      <p:sp>
        <p:nvSpPr>
          <p:cNvPr id="21" name="Rounded Rectangle 20"/>
          <p:cNvSpPr/>
          <p:nvPr/>
        </p:nvSpPr>
        <p:spPr>
          <a:xfrm>
            <a:off x="1847088" y="2029968"/>
            <a:ext cx="1280160" cy="384048"/>
          </a:xfrm>
          <a:prstGeom prst="roundRect">
            <a:avLst>
              <a:gd name="adj" fmla="val 14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47088"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1971C2"/>
                </a:solidFill>
                <a:latin typeface="Calibri"/>
              </a:rPr>
              <a:t>Sécurité</a:t>
            </a:r>
          </a:p>
        </p:txBody>
      </p:sp>
      <p:sp>
        <p:nvSpPr>
          <p:cNvPr id="23" name="Rounded Rectangle 22"/>
          <p:cNvSpPr/>
          <p:nvPr/>
        </p:nvSpPr>
        <p:spPr>
          <a:xfrm>
            <a:off x="3236976" y="2029968"/>
            <a:ext cx="1280160" cy="384048"/>
          </a:xfrm>
          <a:prstGeom prst="roundRect">
            <a:avLst>
              <a:gd name="adj" fmla="val 14000"/>
            </a:avLst>
          </a:prstGeom>
          <a:solidFill>
            <a:srgbClr val="E1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36976"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087F5B"/>
                </a:solidFill>
                <a:latin typeface="Calibri"/>
              </a:rPr>
              <a:t>Éco-responsabilité</a:t>
            </a:r>
          </a:p>
        </p:txBody>
      </p:sp>
      <p:sp>
        <p:nvSpPr>
          <p:cNvPr id="25" name="Rounded Rectangle 24"/>
          <p:cNvSpPr/>
          <p:nvPr/>
        </p:nvSpPr>
        <p:spPr>
          <a:xfrm>
            <a:off x="4626864" y="2029968"/>
            <a:ext cx="1280160" cy="384048"/>
          </a:xfrm>
          <a:prstGeom prst="roundRect">
            <a:avLst>
              <a:gd name="adj" fmla="val 14000"/>
            </a:avLst>
          </a:prstGeom>
          <a:solidFill>
            <a:srgbClr val="ED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6741D9"/>
                </a:solidFill>
                <a:latin typeface="Calibri"/>
              </a:rPr>
              <a:t>Qualité</a:t>
            </a:r>
          </a:p>
        </p:txBody>
      </p:sp>
      <p:sp>
        <p:nvSpPr>
          <p:cNvPr id="27" name="Rounded Rectangle 26"/>
          <p:cNvSpPr/>
          <p:nvPr/>
        </p:nvSpPr>
        <p:spPr>
          <a:xfrm>
            <a:off x="6016752" y="2029968"/>
            <a:ext cx="1280160" cy="384048"/>
          </a:xfrm>
          <a:prstGeom prst="roundRect">
            <a:avLst>
              <a:gd name="adj" fmla="val 14000"/>
            </a:avLst>
          </a:prstGeom>
          <a:solidFill>
            <a:srgbClr val="F8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16752"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C2410C"/>
                </a:solidFill>
                <a:latin typeface="Calibri"/>
              </a:rPr>
              <a:t>Observabilité</a:t>
            </a:r>
          </a:p>
        </p:txBody>
      </p:sp>
      <p:sp>
        <p:nvSpPr>
          <p:cNvPr id="29" name="Rounded Rectangle 28"/>
          <p:cNvSpPr/>
          <p:nvPr/>
        </p:nvSpPr>
        <p:spPr>
          <a:xfrm>
            <a:off x="7406640" y="2029968"/>
            <a:ext cx="1280160" cy="384048"/>
          </a:xfrm>
          <a:prstGeom prst="roundRect">
            <a:avLst>
              <a:gd name="adj" fmla="val 14000"/>
            </a:avLst>
          </a:prstGeom>
          <a:solidFill>
            <a:srgbClr val="F2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06640" y="2029968"/>
            <a:ext cx="1280160" cy="384048"/>
          </a:xfrm>
          <a:prstGeom prst="rect">
            <a:avLst/>
          </a:prstGeom>
          <a:noFill/>
        </p:spPr>
        <p:txBody>
          <a:bodyPr wrap="square" anchor="ctr" lIns="45720" rIns="45720" tIns="18288" bIns="18288">
            <a:spAutoFit/>
          </a:bodyPr>
          <a:lstStyle/>
          <a:p>
            <a:pPr algn="ctr">
              <a:lnSpc>
                <a:spcPct val="96000"/>
              </a:lnSpc>
            </a:pPr>
            <a:r>
              <a:rPr sz="800" b="1" i="0">
                <a:solidFill>
                  <a:srgbClr val="96590A"/>
                </a:solidFill>
                <a:latin typeface="Calibri"/>
              </a:rPr>
              <a:t>Maîtrise des coûts</a:t>
            </a:r>
          </a:p>
        </p:txBody>
      </p:sp>
      <p:sp>
        <p:nvSpPr>
          <p:cNvPr id="31" name="Rounded Rectangle 30"/>
          <p:cNvSpPr/>
          <p:nvPr/>
        </p:nvSpPr>
        <p:spPr>
          <a:xfrm>
            <a:off x="457200" y="2560320"/>
            <a:ext cx="3977639" cy="122529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2560320"/>
            <a:ext cx="64008" cy="12252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2615184"/>
            <a:ext cx="3703320" cy="237744"/>
          </a:xfrm>
          <a:prstGeom prst="rect">
            <a:avLst/>
          </a:prstGeom>
          <a:noFill/>
        </p:spPr>
        <p:txBody>
          <a:bodyPr wrap="square" anchor="t" lIns="45720" rIns="45720" tIns="18288" bIns="18288">
            <a:spAutoFit/>
          </a:bodyPr>
          <a:lstStyle/>
          <a:p>
            <a:pPr algn="l">
              <a:lnSpc>
                <a:spcPct val="100000"/>
              </a:lnSpc>
            </a:pPr>
            <a:r>
              <a:rPr sz="1050" b="1" i="0">
                <a:solidFill>
                  <a:srgbClr val="212529"/>
                </a:solidFill>
                <a:latin typeface="Calibri"/>
              </a:rPr>
              <a:t>Le contexte</a:t>
            </a:r>
          </a:p>
        </p:txBody>
      </p:sp>
      <p:sp>
        <p:nvSpPr>
          <p:cNvPr id="34" name="TextBox 33"/>
          <p:cNvSpPr txBox="1"/>
          <p:nvPr/>
        </p:nvSpPr>
        <p:spPr>
          <a:xfrm>
            <a:off x="640080" y="2871216"/>
            <a:ext cx="3703320" cy="841248"/>
          </a:xfrm>
          <a:prstGeom prst="rect">
            <a:avLst/>
          </a:prstGeom>
          <a:noFill/>
        </p:spPr>
        <p:txBody>
          <a:bodyPr wrap="square" anchor="t" lIns="45720" rIns="45720" tIns="18288" bIns="18288">
            <a:spAutoFit/>
          </a:bodyPr>
          <a:lstStyle/>
          <a:p>
            <a:pPr algn="l">
              <a:lnSpc>
                <a:spcPct val="102000"/>
              </a:lnSpc>
              <a:spcAft>
                <a:spcPts val="300"/>
              </a:spcAft>
            </a:pPr>
            <a:r>
              <a:rPr sz="850" b="1" i="0">
                <a:solidFill>
                  <a:srgbClr val="2B8A3E"/>
                </a:solidFill>
                <a:latin typeface="Calibri"/>
              </a:rPr>
              <a:t>·  </a:t>
            </a:r>
            <a:r>
              <a:rPr sz="850" b="1" i="0">
                <a:solidFill>
                  <a:srgbClr val="212529"/>
                </a:solidFill>
                <a:latin typeface="Calibri"/>
              </a:rPr>
              <a:t>Le produit  </a:t>
            </a:r>
            <a:r>
              <a:rPr sz="850" b="0" i="0">
                <a:solidFill>
                  <a:srgbClr val="495057"/>
                </a:solidFill>
                <a:latin typeface="Calibri"/>
              </a:rPr>
              <a:t>médias privés par défaut, publication révocable</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Le besoin  </a:t>
            </a:r>
            <a:r>
              <a:rPr sz="850" b="0" i="0">
                <a:solidFill>
                  <a:srgbClr val="495057"/>
                </a:solidFill>
                <a:latin typeface="Calibri"/>
              </a:rPr>
              <a:t>livrer souvent sans jamais exposer une donnée</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Le défi  </a:t>
            </a:r>
            <a:r>
              <a:rPr sz="850" b="0" i="0">
                <a:solidFill>
                  <a:srgbClr val="495057"/>
                </a:solidFill>
                <a:latin typeface="Calibri"/>
              </a:rPr>
              <a:t>six exigences qui s’opposent deux à deux</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La méthode  </a:t>
            </a:r>
            <a:r>
              <a:rPr sz="850" b="0" i="0">
                <a:solidFill>
                  <a:srgbClr val="495057"/>
                </a:solidFill>
                <a:latin typeface="Calibri"/>
              </a:rPr>
              <a:t>SWOT et PESTEL, en étude d’opportunité</a:t>
            </a:r>
          </a:p>
        </p:txBody>
      </p:sp>
      <p:sp>
        <p:nvSpPr>
          <p:cNvPr id="35" name="Rounded Rectangle 34"/>
          <p:cNvSpPr/>
          <p:nvPr/>
        </p:nvSpPr>
        <p:spPr>
          <a:xfrm>
            <a:off x="4709160" y="2560320"/>
            <a:ext cx="3977639" cy="122529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09160" y="2560320"/>
            <a:ext cx="64008" cy="12252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92040" y="2615184"/>
            <a:ext cx="3703320" cy="237744"/>
          </a:xfrm>
          <a:prstGeom prst="rect">
            <a:avLst/>
          </a:prstGeom>
          <a:noFill/>
        </p:spPr>
        <p:txBody>
          <a:bodyPr wrap="square" anchor="t" lIns="45720" rIns="45720" tIns="18288" bIns="18288">
            <a:spAutoFit/>
          </a:bodyPr>
          <a:lstStyle/>
          <a:p>
            <a:pPr algn="l">
              <a:lnSpc>
                <a:spcPct val="100000"/>
              </a:lnSpc>
            </a:pPr>
            <a:r>
              <a:rPr sz="1050" b="1" i="0">
                <a:solidFill>
                  <a:srgbClr val="212529"/>
                </a:solidFill>
                <a:latin typeface="Calibri"/>
              </a:rPr>
              <a:t>Le cadrage du projet</a:t>
            </a:r>
          </a:p>
        </p:txBody>
      </p:sp>
      <p:sp>
        <p:nvSpPr>
          <p:cNvPr id="38" name="TextBox 37"/>
          <p:cNvSpPr txBox="1"/>
          <p:nvPr/>
        </p:nvSpPr>
        <p:spPr>
          <a:xfrm>
            <a:off x="4892040" y="2871216"/>
            <a:ext cx="3703320" cy="841248"/>
          </a:xfrm>
          <a:prstGeom prst="rect">
            <a:avLst/>
          </a:prstGeom>
          <a:noFill/>
        </p:spPr>
        <p:txBody>
          <a:bodyPr wrap="square" anchor="t" lIns="45720" rIns="45720" tIns="18288" bIns="18288">
            <a:spAutoFit/>
          </a:bodyPr>
          <a:lstStyle/>
          <a:p>
            <a:pPr algn="l">
              <a:lnSpc>
                <a:spcPct val="102000"/>
              </a:lnSpc>
              <a:spcAft>
                <a:spcPts val="300"/>
              </a:spcAft>
            </a:pPr>
            <a:r>
              <a:rPr sz="850" b="1" i="0">
                <a:solidFill>
                  <a:srgbClr val="2B8A3E"/>
                </a:solidFill>
                <a:latin typeface="Calibri"/>
              </a:rPr>
              <a:t>·  </a:t>
            </a:r>
            <a:r>
              <a:rPr sz="850" b="1" i="0">
                <a:solidFill>
                  <a:srgbClr val="212529"/>
                </a:solidFill>
                <a:latin typeface="Calibri"/>
              </a:rPr>
              <a:t>Périmètre  </a:t>
            </a:r>
            <a:r>
              <a:rPr sz="850" b="0" i="0">
                <a:solidFill>
                  <a:srgbClr val="495057"/>
                </a:solidFill>
                <a:latin typeface="Calibri"/>
              </a:rPr>
              <a:t>infrastructure, chaîne de livraison, application</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Hors périmètre  </a:t>
            </a:r>
            <a:r>
              <a:rPr sz="850" b="0" i="0">
                <a:solidFill>
                  <a:srgbClr val="495057"/>
                </a:solidFill>
                <a:latin typeface="Calibri"/>
              </a:rPr>
              <a:t>application mobile, modération de contenu</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Contraintes  </a:t>
            </a:r>
            <a:r>
              <a:rPr sz="850" b="0" i="0">
                <a:solidFill>
                  <a:srgbClr val="495057"/>
                </a:solidFill>
                <a:latin typeface="Calibri"/>
              </a:rPr>
              <a:t>RGPD, ISO 27001, accessibilité, sobriété</a:t>
            </a:r>
          </a:p>
          <a:p>
            <a:pPr algn="l">
              <a:lnSpc>
                <a:spcPct val="102000"/>
              </a:lnSpc>
              <a:spcAft>
                <a:spcPts val="300"/>
              </a:spcAft>
            </a:pPr>
            <a:r>
              <a:rPr sz="850" b="1" i="0">
                <a:solidFill>
                  <a:srgbClr val="2B8A3E"/>
                </a:solidFill>
                <a:latin typeface="Calibri"/>
              </a:rPr>
              <a:t>·  </a:t>
            </a:r>
            <a:r>
              <a:rPr sz="850" b="1" i="0">
                <a:solidFill>
                  <a:srgbClr val="212529"/>
                </a:solidFill>
                <a:latin typeface="Calibri"/>
              </a:rPr>
              <a:t>Acteurs  </a:t>
            </a:r>
            <a:r>
              <a:rPr sz="850" b="0" i="0">
                <a:solidFill>
                  <a:srgbClr val="495057"/>
                </a:solidFill>
                <a:latin typeface="Calibri"/>
              </a:rPr>
              <a:t>8 parties prenantes, 6 porteuses d’un lot</a:t>
            </a:r>
          </a:p>
        </p:txBody>
      </p:sp>
      <p:sp>
        <p:nvSpPr>
          <p:cNvPr id="39" name="Rounded Rectangle 38"/>
          <p:cNvSpPr/>
          <p:nvPr/>
        </p:nvSpPr>
        <p:spPr>
          <a:xfrm>
            <a:off x="457200" y="3895344"/>
            <a:ext cx="8229600" cy="731520"/>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57200" y="3895344"/>
            <a:ext cx="64008" cy="731520"/>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3895344"/>
            <a:ext cx="7808975" cy="731520"/>
          </a:xfrm>
          <a:prstGeom prst="rect">
            <a:avLst/>
          </a:prstGeom>
          <a:noFill/>
        </p:spPr>
        <p:txBody>
          <a:bodyPr wrap="square" anchor="ctr" lIns="45720" rIns="45720" tIns="18288" bIns="18288">
            <a:spAutoFit/>
          </a:bodyPr>
          <a:lstStyle/>
          <a:p>
            <a:pPr algn="l">
              <a:lnSpc>
                <a:spcPct val="108000"/>
              </a:lnSpc>
            </a:pPr>
            <a:r>
              <a:rPr sz="950" b="1" i="0">
                <a:solidFill>
                  <a:srgbClr val="C92A2A"/>
                </a:solidFill>
                <a:latin typeface="Calibri"/>
              </a:rPr>
              <a:t>La difficulté   </a:t>
            </a:r>
            <a:r>
              <a:rPr sz="900" b="0" i="0">
                <a:solidFill>
                  <a:srgbClr val="495057"/>
                </a:solidFill>
                <a:latin typeface="Calibri"/>
              </a:rPr>
              <a:t>ces six exigences ne s’opposent pas par accident. Chiffrer et journaliser coûte, tout observer consomme, contrôler ralentit la livraison. Toute la valeur du travail est dans ces arbitrages, pas dans l’empilement d’outils.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1 · INTRODUCTION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Objectifs et hypothèses</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05 / 30</a:t>
            </a:r>
          </a:p>
        </p:txBody>
      </p:sp>
      <p:sp>
        <p:nvSpPr>
          <p:cNvPr id="13" name="Rounded Rectangle 12"/>
          <p:cNvSpPr/>
          <p:nvPr/>
        </p:nvSpPr>
        <p:spPr>
          <a:xfrm>
            <a:off x="457200" y="4818888"/>
            <a:ext cx="1124712" cy="228600"/>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C10 · C11</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10.3, 10.5</a:t>
            </a:r>
          </a:p>
        </p:txBody>
      </p:sp>
      <p:sp>
        <p:nvSpPr>
          <p:cNvPr id="16" name="TextBox 15"/>
          <p:cNvSpPr txBox="1"/>
          <p:nvPr/>
        </p:nvSpPr>
        <p:spPr>
          <a:xfrm>
            <a:off x="457200" y="1225296"/>
            <a:ext cx="822960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CINQ OBJECTIFS, CHACUN AVEC SON CRITÈRE DE RÉUSSITE</a:t>
            </a:r>
          </a:p>
        </p:txBody>
      </p:sp>
      <p:sp>
        <p:nvSpPr>
          <p:cNvPr id="17" name="Rounded Rectangle 16"/>
          <p:cNvSpPr/>
          <p:nvPr/>
        </p:nvSpPr>
        <p:spPr>
          <a:xfrm>
            <a:off x="457200" y="1463040"/>
            <a:ext cx="8229600" cy="438912"/>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1463040"/>
            <a:ext cx="457200" cy="438912"/>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463040"/>
            <a:ext cx="457200" cy="438912"/>
          </a:xfrm>
          <a:prstGeom prst="rect">
            <a:avLst/>
          </a:prstGeom>
          <a:noFill/>
        </p:spPr>
        <p:txBody>
          <a:bodyPr wrap="square" anchor="ctr" lIns="45720" rIns="45720" tIns="18288" bIns="18288">
            <a:spAutoFit/>
          </a:bodyPr>
          <a:lstStyle/>
          <a:p>
            <a:pPr algn="ctr">
              <a:lnSpc>
                <a:spcPct val="98000"/>
              </a:lnSpc>
            </a:pPr>
            <a:r>
              <a:rPr sz="1000" b="1" i="0">
                <a:solidFill>
                  <a:srgbClr val="FFFFFF"/>
                </a:solidFill>
                <a:latin typeface="Calibri"/>
              </a:rPr>
              <a:t>O1</a:t>
            </a:r>
          </a:p>
        </p:txBody>
      </p:sp>
      <p:sp>
        <p:nvSpPr>
          <p:cNvPr id="20" name="TextBox 19"/>
          <p:cNvSpPr txBox="1"/>
          <p:nvPr/>
        </p:nvSpPr>
        <p:spPr>
          <a:xfrm>
            <a:off x="1042415" y="1463040"/>
            <a:ext cx="2926080" cy="438912"/>
          </a:xfrm>
          <a:prstGeom prst="rect">
            <a:avLst/>
          </a:prstGeom>
          <a:noFill/>
        </p:spPr>
        <p:txBody>
          <a:bodyPr wrap="square" anchor="ctr" lIns="45720" rIns="45720" tIns="18288" bIns="18288">
            <a:spAutoFit/>
          </a:bodyPr>
          <a:lstStyle/>
          <a:p>
            <a:pPr algn="l">
              <a:lnSpc>
                <a:spcPct val="100000"/>
              </a:lnSpc>
            </a:pPr>
            <a:r>
              <a:rPr sz="1000" b="1" i="0">
                <a:solidFill>
                  <a:srgbClr val="212529"/>
                </a:solidFill>
                <a:latin typeface="Calibri"/>
              </a:rPr>
              <a:t>Tout décrire en code</a:t>
            </a:r>
          </a:p>
        </p:txBody>
      </p:sp>
      <p:sp>
        <p:nvSpPr>
          <p:cNvPr id="21" name="TextBox 20"/>
          <p:cNvSpPr txBox="1"/>
          <p:nvPr/>
        </p:nvSpPr>
        <p:spPr>
          <a:xfrm>
            <a:off x="4023360" y="1463040"/>
            <a:ext cx="4480560" cy="438912"/>
          </a:xfrm>
          <a:prstGeom prst="rect">
            <a:avLst/>
          </a:prstGeom>
          <a:noFill/>
        </p:spPr>
        <p:txBody>
          <a:bodyPr wrap="square" anchor="ctr" lIns="45720" rIns="45720" tIns="18288" bIns="18288">
            <a:spAutoFit/>
          </a:bodyPr>
          <a:lstStyle/>
          <a:p>
            <a:pPr algn="l">
              <a:lnSpc>
                <a:spcPct val="100000"/>
              </a:lnSpc>
            </a:pPr>
            <a:r>
              <a:rPr sz="800" b="1" i="0">
                <a:solidFill>
                  <a:srgbClr val="2B8A3E"/>
                </a:solidFill>
                <a:latin typeface="Calibri"/>
              </a:rPr>
              <a:t>critère   </a:t>
            </a:r>
            <a:r>
              <a:rPr sz="900" b="0" i="0">
                <a:solidFill>
                  <a:srgbClr val="495057"/>
                </a:solidFill>
                <a:latin typeface="Calibri"/>
              </a:rPr>
              <a:t>aucune ressource n’existe en dehors du code</a:t>
            </a:r>
          </a:p>
        </p:txBody>
      </p:sp>
      <p:sp>
        <p:nvSpPr>
          <p:cNvPr id="22" name="Rounded Rectangle 21"/>
          <p:cNvSpPr/>
          <p:nvPr/>
        </p:nvSpPr>
        <p:spPr>
          <a:xfrm>
            <a:off x="457200" y="1975104"/>
            <a:ext cx="8229600" cy="438912"/>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7200" y="1975104"/>
            <a:ext cx="457200" cy="438912"/>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1975104"/>
            <a:ext cx="457200" cy="438912"/>
          </a:xfrm>
          <a:prstGeom prst="rect">
            <a:avLst/>
          </a:prstGeom>
          <a:noFill/>
        </p:spPr>
        <p:txBody>
          <a:bodyPr wrap="square" anchor="ctr" lIns="45720" rIns="45720" tIns="18288" bIns="18288">
            <a:spAutoFit/>
          </a:bodyPr>
          <a:lstStyle/>
          <a:p>
            <a:pPr algn="ctr">
              <a:lnSpc>
                <a:spcPct val="98000"/>
              </a:lnSpc>
            </a:pPr>
            <a:r>
              <a:rPr sz="1000" b="1" i="0">
                <a:solidFill>
                  <a:srgbClr val="FFFFFF"/>
                </a:solidFill>
                <a:latin typeface="Calibri"/>
              </a:rPr>
              <a:t>O2</a:t>
            </a:r>
          </a:p>
        </p:txBody>
      </p:sp>
      <p:sp>
        <p:nvSpPr>
          <p:cNvPr id="25" name="TextBox 24"/>
          <p:cNvSpPr txBox="1"/>
          <p:nvPr/>
        </p:nvSpPr>
        <p:spPr>
          <a:xfrm>
            <a:off x="1042415" y="1975104"/>
            <a:ext cx="2926080" cy="438912"/>
          </a:xfrm>
          <a:prstGeom prst="rect">
            <a:avLst/>
          </a:prstGeom>
          <a:noFill/>
        </p:spPr>
        <p:txBody>
          <a:bodyPr wrap="square" anchor="ctr" lIns="45720" rIns="45720" tIns="18288" bIns="18288">
            <a:spAutoFit/>
          </a:bodyPr>
          <a:lstStyle/>
          <a:p>
            <a:pPr algn="l">
              <a:lnSpc>
                <a:spcPct val="100000"/>
              </a:lnSpc>
            </a:pPr>
            <a:r>
              <a:rPr sz="1000" b="1" i="0">
                <a:solidFill>
                  <a:srgbClr val="212529"/>
                </a:solidFill>
                <a:latin typeface="Calibri"/>
              </a:rPr>
              <a:t>Livrer en continu sous contrôle</a:t>
            </a:r>
          </a:p>
        </p:txBody>
      </p:sp>
      <p:sp>
        <p:nvSpPr>
          <p:cNvPr id="26" name="TextBox 25"/>
          <p:cNvSpPr txBox="1"/>
          <p:nvPr/>
        </p:nvSpPr>
        <p:spPr>
          <a:xfrm>
            <a:off x="4023360" y="1975104"/>
            <a:ext cx="4480560" cy="438912"/>
          </a:xfrm>
          <a:prstGeom prst="rect">
            <a:avLst/>
          </a:prstGeom>
          <a:noFill/>
        </p:spPr>
        <p:txBody>
          <a:bodyPr wrap="square" anchor="ctr" lIns="45720" rIns="45720" tIns="18288" bIns="18288">
            <a:spAutoFit/>
          </a:bodyPr>
          <a:lstStyle/>
          <a:p>
            <a:pPr algn="l">
              <a:lnSpc>
                <a:spcPct val="100000"/>
              </a:lnSpc>
            </a:pPr>
            <a:r>
              <a:rPr sz="800" b="1" i="0">
                <a:solidFill>
                  <a:srgbClr val="2B8A3E"/>
                </a:solidFill>
                <a:latin typeface="Calibri"/>
              </a:rPr>
              <a:t>critère   </a:t>
            </a:r>
            <a:r>
              <a:rPr sz="900" b="0" i="0">
                <a:solidFill>
                  <a:srgbClr val="495057"/>
                </a:solidFill>
                <a:latin typeface="Calibri"/>
              </a:rPr>
              <a:t>aucun déploiement si une porte échoue</a:t>
            </a:r>
          </a:p>
        </p:txBody>
      </p:sp>
      <p:sp>
        <p:nvSpPr>
          <p:cNvPr id="27" name="Rounded Rectangle 26"/>
          <p:cNvSpPr/>
          <p:nvPr/>
        </p:nvSpPr>
        <p:spPr>
          <a:xfrm>
            <a:off x="457200" y="2487168"/>
            <a:ext cx="8229600" cy="438912"/>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 y="2487168"/>
            <a:ext cx="457200" cy="438912"/>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2487168"/>
            <a:ext cx="457200" cy="438912"/>
          </a:xfrm>
          <a:prstGeom prst="rect">
            <a:avLst/>
          </a:prstGeom>
          <a:noFill/>
        </p:spPr>
        <p:txBody>
          <a:bodyPr wrap="square" anchor="ctr" lIns="45720" rIns="45720" tIns="18288" bIns="18288">
            <a:spAutoFit/>
          </a:bodyPr>
          <a:lstStyle/>
          <a:p>
            <a:pPr algn="ctr">
              <a:lnSpc>
                <a:spcPct val="98000"/>
              </a:lnSpc>
            </a:pPr>
            <a:r>
              <a:rPr sz="1000" b="1" i="0">
                <a:solidFill>
                  <a:srgbClr val="FFFFFF"/>
                </a:solidFill>
                <a:latin typeface="Calibri"/>
              </a:rPr>
              <a:t>O3</a:t>
            </a:r>
          </a:p>
        </p:txBody>
      </p:sp>
      <p:sp>
        <p:nvSpPr>
          <p:cNvPr id="30" name="TextBox 29"/>
          <p:cNvSpPr txBox="1"/>
          <p:nvPr/>
        </p:nvSpPr>
        <p:spPr>
          <a:xfrm>
            <a:off x="1042415" y="2487168"/>
            <a:ext cx="2926080" cy="438912"/>
          </a:xfrm>
          <a:prstGeom prst="rect">
            <a:avLst/>
          </a:prstGeom>
          <a:noFill/>
        </p:spPr>
        <p:txBody>
          <a:bodyPr wrap="square" anchor="ctr" lIns="45720" rIns="45720" tIns="18288" bIns="18288">
            <a:spAutoFit/>
          </a:bodyPr>
          <a:lstStyle/>
          <a:p>
            <a:pPr algn="l">
              <a:lnSpc>
                <a:spcPct val="100000"/>
              </a:lnSpc>
            </a:pPr>
            <a:r>
              <a:rPr sz="1000" b="1" i="0">
                <a:solidFill>
                  <a:srgbClr val="212529"/>
                </a:solidFill>
                <a:latin typeface="Calibri"/>
              </a:rPr>
              <a:t>Orchestrer les conteneurs</a:t>
            </a:r>
          </a:p>
        </p:txBody>
      </p:sp>
      <p:sp>
        <p:nvSpPr>
          <p:cNvPr id="31" name="TextBox 30"/>
          <p:cNvSpPr txBox="1"/>
          <p:nvPr/>
        </p:nvSpPr>
        <p:spPr>
          <a:xfrm>
            <a:off x="4023360" y="2487168"/>
            <a:ext cx="4480560" cy="438912"/>
          </a:xfrm>
          <a:prstGeom prst="rect">
            <a:avLst/>
          </a:prstGeom>
          <a:noFill/>
        </p:spPr>
        <p:txBody>
          <a:bodyPr wrap="square" anchor="ctr" lIns="45720" rIns="45720" tIns="18288" bIns="18288">
            <a:spAutoFit/>
          </a:bodyPr>
          <a:lstStyle/>
          <a:p>
            <a:pPr algn="l">
              <a:lnSpc>
                <a:spcPct val="100000"/>
              </a:lnSpc>
            </a:pPr>
            <a:r>
              <a:rPr sz="800" b="1" i="0">
                <a:solidFill>
                  <a:srgbClr val="2B8A3E"/>
                </a:solidFill>
                <a:latin typeface="Calibri"/>
              </a:rPr>
              <a:t>critère   </a:t>
            </a:r>
            <a:r>
              <a:rPr sz="900" b="0" i="0">
                <a:solidFill>
                  <a:srgbClr val="495057"/>
                </a:solidFill>
                <a:latin typeface="Calibri"/>
              </a:rPr>
              <a:t>aucune interruption perceptible en production</a:t>
            </a:r>
          </a:p>
        </p:txBody>
      </p:sp>
      <p:sp>
        <p:nvSpPr>
          <p:cNvPr id="32" name="Rounded Rectangle 31"/>
          <p:cNvSpPr/>
          <p:nvPr/>
        </p:nvSpPr>
        <p:spPr>
          <a:xfrm>
            <a:off x="457200" y="2999232"/>
            <a:ext cx="8229600" cy="438912"/>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 y="2999232"/>
            <a:ext cx="457200" cy="438912"/>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2999232"/>
            <a:ext cx="457200" cy="438912"/>
          </a:xfrm>
          <a:prstGeom prst="rect">
            <a:avLst/>
          </a:prstGeom>
          <a:noFill/>
        </p:spPr>
        <p:txBody>
          <a:bodyPr wrap="square" anchor="ctr" lIns="45720" rIns="45720" tIns="18288" bIns="18288">
            <a:spAutoFit/>
          </a:bodyPr>
          <a:lstStyle/>
          <a:p>
            <a:pPr algn="ctr">
              <a:lnSpc>
                <a:spcPct val="98000"/>
              </a:lnSpc>
            </a:pPr>
            <a:r>
              <a:rPr sz="1000" b="1" i="0">
                <a:solidFill>
                  <a:srgbClr val="FFFFFF"/>
                </a:solidFill>
                <a:latin typeface="Calibri"/>
              </a:rPr>
              <a:t>O4</a:t>
            </a:r>
          </a:p>
        </p:txBody>
      </p:sp>
      <p:sp>
        <p:nvSpPr>
          <p:cNvPr id="35" name="TextBox 34"/>
          <p:cNvSpPr txBox="1"/>
          <p:nvPr/>
        </p:nvSpPr>
        <p:spPr>
          <a:xfrm>
            <a:off x="1042415" y="2999232"/>
            <a:ext cx="2926080" cy="438912"/>
          </a:xfrm>
          <a:prstGeom prst="rect">
            <a:avLst/>
          </a:prstGeom>
          <a:noFill/>
        </p:spPr>
        <p:txBody>
          <a:bodyPr wrap="square" anchor="ctr" lIns="45720" rIns="45720" tIns="18288" bIns="18288">
            <a:spAutoFit/>
          </a:bodyPr>
          <a:lstStyle/>
          <a:p>
            <a:pPr algn="l">
              <a:lnSpc>
                <a:spcPct val="100000"/>
              </a:lnSpc>
            </a:pPr>
            <a:r>
              <a:rPr sz="1000" b="1" i="0">
                <a:solidFill>
                  <a:srgbClr val="212529"/>
                </a:solidFill>
                <a:latin typeface="Calibri"/>
              </a:rPr>
              <a:t>Rendre le système observable</a:t>
            </a:r>
          </a:p>
        </p:txBody>
      </p:sp>
      <p:sp>
        <p:nvSpPr>
          <p:cNvPr id="36" name="TextBox 35"/>
          <p:cNvSpPr txBox="1"/>
          <p:nvPr/>
        </p:nvSpPr>
        <p:spPr>
          <a:xfrm>
            <a:off x="4023360" y="2999232"/>
            <a:ext cx="4480560" cy="438912"/>
          </a:xfrm>
          <a:prstGeom prst="rect">
            <a:avLst/>
          </a:prstGeom>
          <a:noFill/>
        </p:spPr>
        <p:txBody>
          <a:bodyPr wrap="square" anchor="ctr" lIns="45720" rIns="45720" tIns="18288" bIns="18288">
            <a:spAutoFit/>
          </a:bodyPr>
          <a:lstStyle/>
          <a:p>
            <a:pPr algn="l">
              <a:lnSpc>
                <a:spcPct val="100000"/>
              </a:lnSpc>
            </a:pPr>
            <a:r>
              <a:rPr sz="800" b="1" i="0">
                <a:solidFill>
                  <a:srgbClr val="2B8A3E"/>
                </a:solidFill>
                <a:latin typeface="Calibri"/>
              </a:rPr>
              <a:t>critère   </a:t>
            </a:r>
            <a:r>
              <a:rPr sz="900" b="0" i="0">
                <a:solidFill>
                  <a:srgbClr val="495057"/>
                </a:solidFill>
                <a:latin typeface="Calibri"/>
              </a:rPr>
              <a:t>toute dérive vue avant l’utilisateur</a:t>
            </a:r>
          </a:p>
        </p:txBody>
      </p:sp>
      <p:sp>
        <p:nvSpPr>
          <p:cNvPr id="37" name="Rounded Rectangle 36"/>
          <p:cNvSpPr/>
          <p:nvPr/>
        </p:nvSpPr>
        <p:spPr>
          <a:xfrm>
            <a:off x="457200" y="3511296"/>
            <a:ext cx="8229600" cy="438912"/>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7200" y="3511296"/>
            <a:ext cx="457200" cy="438912"/>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511296"/>
            <a:ext cx="457200" cy="438912"/>
          </a:xfrm>
          <a:prstGeom prst="rect">
            <a:avLst/>
          </a:prstGeom>
          <a:noFill/>
        </p:spPr>
        <p:txBody>
          <a:bodyPr wrap="square" anchor="ctr" lIns="45720" rIns="45720" tIns="18288" bIns="18288">
            <a:spAutoFit/>
          </a:bodyPr>
          <a:lstStyle/>
          <a:p>
            <a:pPr algn="ctr">
              <a:lnSpc>
                <a:spcPct val="98000"/>
              </a:lnSpc>
            </a:pPr>
            <a:r>
              <a:rPr sz="1000" b="1" i="0">
                <a:solidFill>
                  <a:srgbClr val="FFFFFF"/>
                </a:solidFill>
                <a:latin typeface="Calibri"/>
              </a:rPr>
              <a:t>O5</a:t>
            </a:r>
          </a:p>
        </p:txBody>
      </p:sp>
      <p:sp>
        <p:nvSpPr>
          <p:cNvPr id="40" name="TextBox 39"/>
          <p:cNvSpPr txBox="1"/>
          <p:nvPr/>
        </p:nvSpPr>
        <p:spPr>
          <a:xfrm>
            <a:off x="1042415" y="3511296"/>
            <a:ext cx="2926080" cy="438912"/>
          </a:xfrm>
          <a:prstGeom prst="rect">
            <a:avLst/>
          </a:prstGeom>
          <a:noFill/>
        </p:spPr>
        <p:txBody>
          <a:bodyPr wrap="square" anchor="ctr" lIns="45720" rIns="45720" tIns="18288" bIns="18288">
            <a:spAutoFit/>
          </a:bodyPr>
          <a:lstStyle/>
          <a:p>
            <a:pPr algn="l">
              <a:lnSpc>
                <a:spcPct val="100000"/>
              </a:lnSpc>
            </a:pPr>
            <a:r>
              <a:rPr sz="1000" b="1" i="0">
                <a:solidFill>
                  <a:srgbClr val="212529"/>
                </a:solidFill>
                <a:latin typeface="Calibri"/>
              </a:rPr>
              <a:t>Sécurité, conformité, sobriété</a:t>
            </a:r>
          </a:p>
        </p:txBody>
      </p:sp>
      <p:sp>
        <p:nvSpPr>
          <p:cNvPr id="41" name="TextBox 40"/>
          <p:cNvSpPr txBox="1"/>
          <p:nvPr/>
        </p:nvSpPr>
        <p:spPr>
          <a:xfrm>
            <a:off x="4023360" y="3511296"/>
            <a:ext cx="4480560" cy="438912"/>
          </a:xfrm>
          <a:prstGeom prst="rect">
            <a:avLst/>
          </a:prstGeom>
          <a:noFill/>
        </p:spPr>
        <p:txBody>
          <a:bodyPr wrap="square" anchor="ctr" lIns="45720" rIns="45720" tIns="18288" bIns="18288">
            <a:spAutoFit/>
          </a:bodyPr>
          <a:lstStyle/>
          <a:p>
            <a:pPr algn="l">
              <a:lnSpc>
                <a:spcPct val="100000"/>
              </a:lnSpc>
            </a:pPr>
            <a:r>
              <a:rPr sz="800" b="1" i="0">
                <a:solidFill>
                  <a:srgbClr val="2B8A3E"/>
                </a:solidFill>
                <a:latin typeface="Calibri"/>
              </a:rPr>
              <a:t>critère   </a:t>
            </a:r>
            <a:r>
              <a:rPr sz="900" b="0" i="0">
                <a:solidFill>
                  <a:srgbClr val="495057"/>
                </a:solidFill>
                <a:latin typeface="Calibri"/>
              </a:rPr>
              <a:t>chaque exigence porte son indicateur</a:t>
            </a:r>
          </a:p>
        </p:txBody>
      </p:sp>
      <p:sp>
        <p:nvSpPr>
          <p:cNvPr id="42" name="Rounded Rectangle 41"/>
          <p:cNvSpPr/>
          <p:nvPr/>
        </p:nvSpPr>
        <p:spPr>
          <a:xfrm>
            <a:off x="457200" y="4114800"/>
            <a:ext cx="8229600" cy="60350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114800"/>
            <a:ext cx="64008" cy="60350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13232" y="4114800"/>
            <a:ext cx="7808975" cy="603504"/>
          </a:xfrm>
          <a:prstGeom prst="rect">
            <a:avLst/>
          </a:prstGeom>
          <a:noFill/>
        </p:spPr>
        <p:txBody>
          <a:bodyPr wrap="square" anchor="ctr" lIns="45720" rIns="45720" tIns="18288" bIns="18288">
            <a:spAutoFit/>
          </a:bodyPr>
          <a:lstStyle/>
          <a:p>
            <a:pPr algn="l">
              <a:lnSpc>
                <a:spcPct val="108000"/>
              </a:lnSpc>
            </a:pPr>
            <a:r>
              <a:rPr sz="950" b="1" i="0">
                <a:solidFill>
                  <a:srgbClr val="1971C2"/>
                </a:solidFill>
                <a:latin typeface="Calibri"/>
              </a:rPr>
              <a:t>Trois hypothèses à vérifier   </a:t>
            </a:r>
            <a:r>
              <a:rPr sz="900" b="0" i="0">
                <a:solidFill>
                  <a:srgbClr val="495057"/>
                </a:solidFill>
                <a:latin typeface="Calibri"/>
              </a:rPr>
              <a:t>l’infrastructure en code améliore ensemble fiabilité et vitesse   ·   un orchestrateur proportionné résiste à coût bien moindre   ·   une estimation logicielle de l’énergie suffit à piloter la sobriété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1971C2"/>
                </a:solidFill>
                <a:latin typeface="Calibri"/>
              </a:rPr>
              <a:t>2 · ANALYSE ET STRATÉGIE DU SI</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300" b="1" i="0">
                <a:solidFill>
                  <a:srgbClr val="212529"/>
                </a:solidFill>
                <a:latin typeface="Calibri"/>
              </a:rPr>
              <a:t>Veille technologique et réglementaire</a:t>
            </a:r>
          </a:p>
        </p:txBody>
      </p:sp>
      <p:sp>
        <p:nvSpPr>
          <p:cNvPr id="11" name="Rectangle 10"/>
          <p:cNvSpPr/>
          <p:nvPr/>
        </p:nvSpPr>
        <p:spPr>
          <a:xfrm>
            <a:off x="475488" y="1069848"/>
            <a:ext cx="1051560" cy="4114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06 / 30</a:t>
            </a:r>
          </a:p>
        </p:txBody>
      </p:sp>
      <p:sp>
        <p:nvSpPr>
          <p:cNvPr id="13" name="Rounded Rectangle 12"/>
          <p:cNvSpPr/>
          <p:nvPr/>
        </p:nvSpPr>
        <p:spPr>
          <a:xfrm>
            <a:off x="457200" y="4818888"/>
            <a:ext cx="1294790" cy="228600"/>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294790"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 · C2 · C3</a:t>
            </a:r>
          </a:p>
        </p:txBody>
      </p:sp>
      <p:sp>
        <p:nvSpPr>
          <p:cNvPr id="15" name="TextBox 14"/>
          <p:cNvSpPr txBox="1"/>
          <p:nvPr/>
        </p:nvSpPr>
        <p:spPr>
          <a:xfrm>
            <a:off x="1843430"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 mémoire 11.1 · annexe V</a:t>
            </a:r>
          </a:p>
        </p:txBody>
      </p:sp>
      <p:sp>
        <p:nvSpPr>
          <p:cNvPr id="16" name="TextBox 15"/>
          <p:cNvSpPr txBox="1"/>
          <p:nvPr/>
        </p:nvSpPr>
        <p:spPr>
          <a:xfrm>
            <a:off x="457200" y="1225296"/>
            <a:ext cx="530352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MON DISPOSITIF DE VEILLE</a:t>
            </a:r>
          </a:p>
        </p:txBody>
      </p:sp>
      <p:sp>
        <p:nvSpPr>
          <p:cNvPr id="17" name="Rounded Rectangle 16"/>
          <p:cNvSpPr/>
          <p:nvPr/>
        </p:nvSpPr>
        <p:spPr>
          <a:xfrm>
            <a:off x="457200" y="1444752"/>
            <a:ext cx="1261872" cy="457200"/>
          </a:xfrm>
          <a:prstGeom prst="roundRect">
            <a:avLst>
              <a:gd name="adj" fmla="val 12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44752"/>
            <a:ext cx="1261872" cy="457200"/>
          </a:xfrm>
          <a:prstGeom prst="rect">
            <a:avLst/>
          </a:prstGeom>
          <a:noFill/>
        </p:spPr>
        <p:txBody>
          <a:bodyPr wrap="square" anchor="ctr" lIns="45720" rIns="45720" tIns="18288" bIns="18288">
            <a:spAutoFit/>
          </a:bodyPr>
          <a:lstStyle/>
          <a:p>
            <a:pPr algn="ctr">
              <a:lnSpc>
                <a:spcPct val="96000"/>
              </a:lnSpc>
            </a:pPr>
            <a:r>
              <a:rPr sz="850" b="1" i="0">
                <a:solidFill>
                  <a:srgbClr val="1971C2"/>
                </a:solidFill>
                <a:latin typeface="Calibri"/>
              </a:rPr>
              <a:t>Officielles</a:t>
            </a:r>
          </a:p>
        </p:txBody>
      </p:sp>
      <p:sp>
        <p:nvSpPr>
          <p:cNvPr id="19" name="Rounded Rectangle 18"/>
          <p:cNvSpPr/>
          <p:nvPr/>
        </p:nvSpPr>
        <p:spPr>
          <a:xfrm>
            <a:off x="1783080" y="1444752"/>
            <a:ext cx="1261872" cy="457200"/>
          </a:xfrm>
          <a:prstGeom prst="roundRect">
            <a:avLst>
              <a:gd name="adj" fmla="val 12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83080" y="1444752"/>
            <a:ext cx="1261872" cy="457200"/>
          </a:xfrm>
          <a:prstGeom prst="rect">
            <a:avLst/>
          </a:prstGeom>
          <a:noFill/>
        </p:spPr>
        <p:txBody>
          <a:bodyPr wrap="square" anchor="ctr" lIns="45720" rIns="45720" tIns="18288" bIns="18288">
            <a:spAutoFit/>
          </a:bodyPr>
          <a:lstStyle/>
          <a:p>
            <a:pPr algn="ctr">
              <a:lnSpc>
                <a:spcPct val="96000"/>
              </a:lnSpc>
            </a:pPr>
            <a:r>
              <a:rPr sz="850" b="1" i="0">
                <a:solidFill>
                  <a:srgbClr val="1971C2"/>
                </a:solidFill>
                <a:latin typeface="Calibri"/>
              </a:rPr>
              <a:t>Normatives</a:t>
            </a:r>
          </a:p>
        </p:txBody>
      </p:sp>
      <p:sp>
        <p:nvSpPr>
          <p:cNvPr id="21" name="Rounded Rectangle 20"/>
          <p:cNvSpPr/>
          <p:nvPr/>
        </p:nvSpPr>
        <p:spPr>
          <a:xfrm>
            <a:off x="3108960" y="1444752"/>
            <a:ext cx="1261872" cy="457200"/>
          </a:xfrm>
          <a:prstGeom prst="roundRect">
            <a:avLst>
              <a:gd name="adj" fmla="val 12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08960" y="1444752"/>
            <a:ext cx="1261872" cy="457200"/>
          </a:xfrm>
          <a:prstGeom prst="rect">
            <a:avLst/>
          </a:prstGeom>
          <a:noFill/>
        </p:spPr>
        <p:txBody>
          <a:bodyPr wrap="square" anchor="ctr" lIns="45720" rIns="45720" tIns="18288" bIns="18288">
            <a:spAutoFit/>
          </a:bodyPr>
          <a:lstStyle/>
          <a:p>
            <a:pPr algn="ctr">
              <a:lnSpc>
                <a:spcPct val="96000"/>
              </a:lnSpc>
            </a:pPr>
            <a:r>
              <a:rPr sz="850" b="1" i="0">
                <a:solidFill>
                  <a:srgbClr val="1971C2"/>
                </a:solidFill>
                <a:latin typeface="Calibri"/>
              </a:rPr>
              <a:t>Prospectives</a:t>
            </a:r>
          </a:p>
        </p:txBody>
      </p:sp>
      <p:sp>
        <p:nvSpPr>
          <p:cNvPr id="23" name="Rounded Rectangle 22"/>
          <p:cNvSpPr/>
          <p:nvPr/>
        </p:nvSpPr>
        <p:spPr>
          <a:xfrm>
            <a:off x="4434840" y="1444752"/>
            <a:ext cx="1261872" cy="457200"/>
          </a:xfrm>
          <a:prstGeom prst="roundRect">
            <a:avLst>
              <a:gd name="adj" fmla="val 12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34840" y="1444752"/>
            <a:ext cx="1261872" cy="457200"/>
          </a:xfrm>
          <a:prstGeom prst="rect">
            <a:avLst/>
          </a:prstGeom>
          <a:noFill/>
        </p:spPr>
        <p:txBody>
          <a:bodyPr wrap="square" anchor="ctr" lIns="45720" rIns="45720" tIns="18288" bIns="18288">
            <a:spAutoFit/>
          </a:bodyPr>
          <a:lstStyle/>
          <a:p>
            <a:pPr algn="ctr">
              <a:lnSpc>
                <a:spcPct val="96000"/>
              </a:lnSpc>
            </a:pPr>
            <a:r>
              <a:rPr sz="850" b="1" i="0">
                <a:solidFill>
                  <a:srgbClr val="1971C2"/>
                </a:solidFill>
                <a:latin typeface="Calibri"/>
              </a:rPr>
              <a:t>Communautaires</a:t>
            </a:r>
          </a:p>
        </p:txBody>
      </p:sp>
      <p:sp>
        <p:nvSpPr>
          <p:cNvPr id="25" name="Down Arrow 24"/>
          <p:cNvSpPr/>
          <p:nvPr/>
        </p:nvSpPr>
        <p:spPr>
          <a:xfrm>
            <a:off x="3016422" y="1965960"/>
            <a:ext cx="111922" cy="164592"/>
          </a:xfrm>
          <a:prstGeom prst="down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rapezoid 25"/>
          <p:cNvSpPr/>
          <p:nvPr/>
        </p:nvSpPr>
        <p:spPr>
          <a:xfrm flipV="1">
            <a:off x="1005840" y="2194560"/>
            <a:ext cx="4142232" cy="512064"/>
          </a:xfrm>
          <a:prstGeom prst="trapezoid">
            <a:avLst>
              <a:gd name="adj" fmla="val 24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2194560"/>
            <a:ext cx="4142232" cy="512064"/>
          </a:xfrm>
          <a:prstGeom prst="rect">
            <a:avLst/>
          </a:prstGeom>
          <a:noFill/>
        </p:spPr>
        <p:txBody>
          <a:bodyPr wrap="square" anchor="ctr" lIns="45720" rIns="45720" tIns="18288" bIns="18288">
            <a:spAutoFit/>
          </a:bodyPr>
          <a:lstStyle/>
          <a:p>
            <a:pPr algn="ctr">
              <a:lnSpc>
                <a:spcPct val="98000"/>
              </a:lnSpc>
            </a:pPr>
            <a:r>
              <a:rPr sz="950" b="1" i="0">
                <a:solidFill>
                  <a:srgbClr val="FFFFFF"/>
                </a:solidFill>
                <a:latin typeface="Calibri"/>
              </a:rPr>
              <a:t>Grille de 8 critères  ·  2 sources indépendantes</a:t>
            </a:r>
          </a:p>
        </p:txBody>
      </p:sp>
      <p:sp>
        <p:nvSpPr>
          <p:cNvPr id="28" name="Down Arrow 27"/>
          <p:cNvSpPr/>
          <p:nvPr/>
        </p:nvSpPr>
        <p:spPr>
          <a:xfrm>
            <a:off x="3016422" y="2770632"/>
            <a:ext cx="111922" cy="164592"/>
          </a:xfrm>
          <a:prstGeom prst="downArrow">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2999232"/>
            <a:ext cx="530352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CE QUE LA GRILLE A TRANCHÉ</a:t>
            </a:r>
          </a:p>
        </p:txBody>
      </p:sp>
      <p:sp>
        <p:nvSpPr>
          <p:cNvPr id="30" name="Rounded Rectangle 29"/>
          <p:cNvSpPr/>
          <p:nvPr/>
        </p:nvSpPr>
        <p:spPr>
          <a:xfrm>
            <a:off x="457200" y="3218688"/>
            <a:ext cx="974750" cy="56692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273552"/>
            <a:ext cx="974750" cy="493776"/>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Bun</a:t>
            </a:r>
          </a:p>
          <a:p>
            <a:pPr algn="ctr">
              <a:lnSpc>
                <a:spcPct val="100000"/>
              </a:lnSpc>
            </a:pPr>
            <a:r>
              <a:rPr sz="700" b="1" i="0">
                <a:solidFill>
                  <a:srgbClr val="2B8A3E"/>
                </a:solidFill>
                <a:latin typeface="Calibri"/>
              </a:rPr>
              <a:t>retenu</a:t>
            </a:r>
          </a:p>
        </p:txBody>
      </p:sp>
      <p:sp>
        <p:nvSpPr>
          <p:cNvPr id="32" name="Rounded Rectangle 31"/>
          <p:cNvSpPr/>
          <p:nvPr/>
        </p:nvSpPr>
        <p:spPr>
          <a:xfrm>
            <a:off x="1523390" y="3218688"/>
            <a:ext cx="974750" cy="56692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3390" y="3273552"/>
            <a:ext cx="974750" cy="493776"/>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Swarm</a:t>
            </a:r>
          </a:p>
          <a:p>
            <a:pPr algn="ctr">
              <a:lnSpc>
                <a:spcPct val="100000"/>
              </a:lnSpc>
            </a:pPr>
            <a:r>
              <a:rPr sz="700" b="1" i="0">
                <a:solidFill>
                  <a:srgbClr val="2B8A3E"/>
                </a:solidFill>
                <a:latin typeface="Calibri"/>
              </a:rPr>
              <a:t>retenu</a:t>
            </a:r>
          </a:p>
        </p:txBody>
      </p:sp>
      <p:sp>
        <p:nvSpPr>
          <p:cNvPr id="34" name="Rounded Rectangle 33"/>
          <p:cNvSpPr/>
          <p:nvPr/>
        </p:nvSpPr>
        <p:spPr>
          <a:xfrm>
            <a:off x="2589580" y="3218688"/>
            <a:ext cx="974750" cy="56692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89580" y="3273552"/>
            <a:ext cx="974750" cy="493776"/>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Terraform</a:t>
            </a:r>
          </a:p>
          <a:p>
            <a:pPr algn="ctr">
              <a:lnSpc>
                <a:spcPct val="100000"/>
              </a:lnSpc>
            </a:pPr>
            <a:r>
              <a:rPr sz="700" b="1" i="0">
                <a:solidFill>
                  <a:srgbClr val="96590A"/>
                </a:solidFill>
                <a:latin typeface="Calibri"/>
              </a:rPr>
              <a:t>repli OpenTofu</a:t>
            </a:r>
          </a:p>
        </p:txBody>
      </p:sp>
      <p:sp>
        <p:nvSpPr>
          <p:cNvPr id="36" name="Rounded Rectangle 35"/>
          <p:cNvSpPr/>
          <p:nvPr/>
        </p:nvSpPr>
        <p:spPr>
          <a:xfrm>
            <a:off x="3655771" y="3218688"/>
            <a:ext cx="974750" cy="56692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5771" y="3273552"/>
            <a:ext cx="974750" cy="493776"/>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Redis</a:t>
            </a:r>
          </a:p>
          <a:p>
            <a:pPr algn="ctr">
              <a:lnSpc>
                <a:spcPct val="100000"/>
              </a:lnSpc>
            </a:pPr>
            <a:r>
              <a:rPr sz="700" b="1" i="0">
                <a:solidFill>
                  <a:srgbClr val="96590A"/>
                </a:solidFill>
                <a:latin typeface="Calibri"/>
              </a:rPr>
              <a:t>repli Valkey</a:t>
            </a:r>
          </a:p>
        </p:txBody>
      </p:sp>
      <p:sp>
        <p:nvSpPr>
          <p:cNvPr id="38" name="Rounded Rectangle 37"/>
          <p:cNvSpPr/>
          <p:nvPr/>
        </p:nvSpPr>
        <p:spPr>
          <a:xfrm>
            <a:off x="4721961" y="3218688"/>
            <a:ext cx="974750" cy="56692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1961" y="3273552"/>
            <a:ext cx="974750" cy="493776"/>
          </a:xfrm>
          <a:prstGeom prst="rect">
            <a:avLst/>
          </a:prstGeom>
          <a:noFill/>
        </p:spPr>
        <p:txBody>
          <a:bodyPr wrap="square" anchor="t" lIns="45720" rIns="45720" tIns="18288" bIns="18288">
            <a:spAutoFit/>
          </a:bodyPr>
          <a:lstStyle/>
          <a:p>
            <a:pPr algn="ctr">
              <a:lnSpc>
                <a:spcPct val="100000"/>
              </a:lnSpc>
            </a:pPr>
            <a:r>
              <a:rPr sz="850" b="1" i="0">
                <a:solidFill>
                  <a:srgbClr val="212529"/>
                </a:solidFill>
                <a:latin typeface="Calibri"/>
              </a:rPr>
              <a:t>Datadog</a:t>
            </a:r>
          </a:p>
          <a:p>
            <a:pPr algn="ctr">
              <a:lnSpc>
                <a:spcPct val="100000"/>
              </a:lnSpc>
            </a:pPr>
            <a:r>
              <a:rPr sz="700" b="1" i="0">
                <a:solidFill>
                  <a:srgbClr val="C92A2A"/>
                </a:solidFill>
                <a:latin typeface="Calibri"/>
              </a:rPr>
              <a:t>écarté</a:t>
            </a:r>
          </a:p>
        </p:txBody>
      </p:sp>
      <p:sp>
        <p:nvSpPr>
          <p:cNvPr id="40" name="TextBox 39"/>
          <p:cNvSpPr txBox="1"/>
          <p:nvPr/>
        </p:nvSpPr>
        <p:spPr>
          <a:xfrm>
            <a:off x="6035040" y="1225296"/>
            <a:ext cx="265176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CE QUE LA RÉGLEMENTATION A IMPOSÉ</a:t>
            </a:r>
          </a:p>
        </p:txBody>
      </p:sp>
      <p:sp>
        <p:nvSpPr>
          <p:cNvPr id="41" name="Rounded Rectangle 40"/>
          <p:cNvSpPr/>
          <p:nvPr/>
        </p:nvSpPr>
        <p:spPr>
          <a:xfrm>
            <a:off x="6035040" y="1444752"/>
            <a:ext cx="2651760" cy="804672"/>
          </a:xfrm>
          <a:prstGeom prst="roundRect">
            <a:avLst>
              <a:gd name="adj" fmla="val 9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199632" y="1517904"/>
            <a:ext cx="2377440" cy="694944"/>
          </a:xfrm>
          <a:prstGeom prst="rect">
            <a:avLst/>
          </a:prstGeom>
          <a:noFill/>
        </p:spPr>
        <p:txBody>
          <a:bodyPr wrap="square" anchor="t" lIns="45720" rIns="45720" tIns="18288" bIns="18288">
            <a:spAutoFit/>
          </a:bodyPr>
          <a:lstStyle/>
          <a:p>
            <a:pPr algn="l">
              <a:lnSpc>
                <a:spcPct val="105000"/>
              </a:lnSpc>
              <a:spcAft>
                <a:spcPts val="200"/>
              </a:spcAft>
            </a:pPr>
            <a:r>
              <a:rPr sz="900" b="1" i="0">
                <a:solidFill>
                  <a:srgbClr val="1971C2"/>
                </a:solidFill>
                <a:latin typeface="Calibri"/>
              </a:rPr>
              <a:t>Cloud Act</a:t>
            </a:r>
          </a:p>
          <a:p>
            <a:pPr algn="l">
              <a:lnSpc>
                <a:spcPct val="105000"/>
              </a:lnSpc>
              <a:spcAft>
                <a:spcPts val="200"/>
              </a:spcAft>
            </a:pPr>
            <a:r>
              <a:rPr sz="800" b="0" i="0">
                <a:solidFill>
                  <a:srgbClr val="495057"/>
                </a:solidFill>
                <a:latin typeface="Calibri"/>
              </a:rPr>
              <a:t>calcul hébergé en Europe, AWS confiné à Paris</a:t>
            </a:r>
          </a:p>
        </p:txBody>
      </p:sp>
      <p:sp>
        <p:nvSpPr>
          <p:cNvPr id="43" name="Rounded Rectangle 42"/>
          <p:cNvSpPr/>
          <p:nvPr/>
        </p:nvSpPr>
        <p:spPr>
          <a:xfrm>
            <a:off x="6035040" y="2322576"/>
            <a:ext cx="2651760" cy="804672"/>
          </a:xfrm>
          <a:prstGeom prst="roundRect">
            <a:avLst>
              <a:gd name="adj" fmla="val 9000"/>
            </a:avLst>
          </a:prstGeom>
          <a:solidFill>
            <a:srgbClr val="ED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2395728"/>
            <a:ext cx="2377440" cy="694944"/>
          </a:xfrm>
          <a:prstGeom prst="rect">
            <a:avLst/>
          </a:prstGeom>
          <a:noFill/>
        </p:spPr>
        <p:txBody>
          <a:bodyPr wrap="square" anchor="t" lIns="45720" rIns="45720" tIns="18288" bIns="18288">
            <a:spAutoFit/>
          </a:bodyPr>
          <a:lstStyle/>
          <a:p>
            <a:pPr algn="l">
              <a:lnSpc>
                <a:spcPct val="105000"/>
              </a:lnSpc>
              <a:spcAft>
                <a:spcPts val="200"/>
              </a:spcAft>
            </a:pPr>
            <a:r>
              <a:rPr sz="900" b="1" i="0">
                <a:solidFill>
                  <a:srgbClr val="6741D9"/>
                </a:solidFill>
                <a:latin typeface="Calibri"/>
              </a:rPr>
              <a:t>RGPD · NIS 2</a:t>
            </a:r>
          </a:p>
          <a:p>
            <a:pPr algn="l">
              <a:lnSpc>
                <a:spcPct val="105000"/>
              </a:lnSpc>
              <a:spcAft>
                <a:spcPts val="200"/>
              </a:spcAft>
            </a:pPr>
            <a:r>
              <a:rPr sz="800" b="0" i="0">
                <a:solidFill>
                  <a:srgbClr val="495057"/>
                </a:solidFill>
                <a:latin typeface="Calibri"/>
              </a:rPr>
              <a:t>minimisation des données, effacement en cascade</a:t>
            </a:r>
          </a:p>
        </p:txBody>
      </p:sp>
      <p:sp>
        <p:nvSpPr>
          <p:cNvPr id="45" name="Rounded Rectangle 44"/>
          <p:cNvSpPr/>
          <p:nvPr/>
        </p:nvSpPr>
        <p:spPr>
          <a:xfrm>
            <a:off x="6035040" y="3200400"/>
            <a:ext cx="2651760" cy="804672"/>
          </a:xfrm>
          <a:prstGeom prst="roundRect">
            <a:avLst>
              <a:gd name="adj" fmla="val 9000"/>
            </a:avLst>
          </a:prstGeom>
          <a:solidFill>
            <a:srgbClr val="F8E8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99632" y="3273552"/>
            <a:ext cx="2377440" cy="694944"/>
          </a:xfrm>
          <a:prstGeom prst="rect">
            <a:avLst/>
          </a:prstGeom>
          <a:noFill/>
        </p:spPr>
        <p:txBody>
          <a:bodyPr wrap="square" anchor="t" lIns="45720" rIns="45720" tIns="18288" bIns="18288">
            <a:spAutoFit/>
          </a:bodyPr>
          <a:lstStyle/>
          <a:p>
            <a:pPr algn="l">
              <a:lnSpc>
                <a:spcPct val="105000"/>
              </a:lnSpc>
              <a:spcAft>
                <a:spcPts val="200"/>
              </a:spcAft>
            </a:pPr>
            <a:r>
              <a:rPr sz="900" b="1" i="0">
                <a:solidFill>
                  <a:srgbClr val="C2410C"/>
                </a:solidFill>
                <a:latin typeface="Calibri"/>
              </a:rPr>
              <a:t>IA Act</a:t>
            </a:r>
          </a:p>
          <a:p>
            <a:pPr algn="l">
              <a:lnSpc>
                <a:spcPct val="105000"/>
              </a:lnSpc>
              <a:spcAft>
                <a:spcPts val="200"/>
              </a:spcAft>
            </a:pPr>
            <a:r>
              <a:rPr sz="800" b="0" i="0">
                <a:solidFill>
                  <a:srgbClr val="495057"/>
                </a:solidFill>
                <a:latin typeface="Calibri"/>
              </a:rPr>
              <a:t>usage de l’IA sous revue humaine</a:t>
            </a:r>
          </a:p>
        </p:txBody>
      </p:sp>
      <p:sp>
        <p:nvSpPr>
          <p:cNvPr id="47" name="TextBox 46"/>
          <p:cNvSpPr txBox="1"/>
          <p:nvPr/>
        </p:nvSpPr>
        <p:spPr>
          <a:xfrm>
            <a:off x="457200" y="3968496"/>
            <a:ext cx="8229600" cy="219456"/>
          </a:xfrm>
          <a:prstGeom prst="rect">
            <a:avLst/>
          </a:prstGeom>
          <a:noFill/>
        </p:spPr>
        <p:txBody>
          <a:bodyPr wrap="square" anchor="t" lIns="45720" rIns="45720" tIns="18288" bIns="18288">
            <a:spAutoFit/>
          </a:bodyPr>
          <a:lstStyle/>
          <a:p>
            <a:pPr algn="l">
              <a:lnSpc>
                <a:spcPct val="100000"/>
              </a:lnSpc>
            </a:pPr>
            <a:r>
              <a:rPr sz="950" b="1" i="0">
                <a:solidFill>
                  <a:srgbClr val="212529"/>
                </a:solidFill>
                <a:latin typeface="Calibri"/>
              </a:rPr>
              <a:t>Une décision d’architecture qui n’est pas adossée à une veille reste un pari.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1971C2"/>
                </a:solidFill>
                <a:latin typeface="Calibri"/>
              </a:rPr>
              <a:t>2 · ANALYSE ET STRATÉGIE DU SI</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300" b="1" i="0">
                <a:solidFill>
                  <a:srgbClr val="212529"/>
                </a:solidFill>
                <a:latin typeface="Calibri"/>
              </a:rPr>
              <a:t>Cartographie du système d’information</a:t>
            </a:r>
          </a:p>
        </p:txBody>
      </p:sp>
      <p:sp>
        <p:nvSpPr>
          <p:cNvPr id="11" name="Rectangle 10"/>
          <p:cNvSpPr/>
          <p:nvPr/>
        </p:nvSpPr>
        <p:spPr>
          <a:xfrm>
            <a:off x="475488" y="1069848"/>
            <a:ext cx="1051560" cy="4114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07 / 30</a:t>
            </a:r>
          </a:p>
        </p:txBody>
      </p:sp>
      <p:sp>
        <p:nvSpPr>
          <p:cNvPr id="13" name="Rounded Rectangle 12"/>
          <p:cNvSpPr/>
          <p:nvPr/>
        </p:nvSpPr>
        <p:spPr>
          <a:xfrm>
            <a:off x="457200" y="4818888"/>
            <a:ext cx="727862" cy="228600"/>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2786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C4</a:t>
            </a:r>
          </a:p>
        </p:txBody>
      </p:sp>
      <p:sp>
        <p:nvSpPr>
          <p:cNvPr id="15" name="TextBox 14"/>
          <p:cNvSpPr txBox="1"/>
          <p:nvPr/>
        </p:nvSpPr>
        <p:spPr>
          <a:xfrm>
            <a:off x="127650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 mémoire 11.3.2 · annexe A, 4 planches</a:t>
            </a:r>
          </a:p>
        </p:txBody>
      </p:sp>
      <p:sp>
        <p:nvSpPr>
          <p:cNvPr id="16" name="Rounded Rectangle 15"/>
          <p:cNvSpPr/>
          <p:nvPr/>
        </p:nvSpPr>
        <p:spPr>
          <a:xfrm>
            <a:off x="457200" y="1353312"/>
            <a:ext cx="6903720" cy="621792"/>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1353312"/>
            <a:ext cx="1965960" cy="621792"/>
          </a:xfrm>
          <a:prstGeom prst="roundRect">
            <a:avLst>
              <a:gd name="adj" fmla="val 7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74519" y="1353312"/>
            <a:ext cx="109728" cy="62179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353312"/>
            <a:ext cx="1965960" cy="621792"/>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MÉTIER</a:t>
            </a:r>
          </a:p>
        </p:txBody>
      </p:sp>
      <p:sp>
        <p:nvSpPr>
          <p:cNvPr id="20" name="TextBox 19"/>
          <p:cNvSpPr txBox="1"/>
          <p:nvPr/>
        </p:nvSpPr>
        <p:spPr>
          <a:xfrm>
            <a:off x="2560320" y="1353312"/>
            <a:ext cx="4709160" cy="621792"/>
          </a:xfrm>
          <a:prstGeom prst="rect">
            <a:avLst/>
          </a:prstGeom>
          <a:noFill/>
        </p:spPr>
        <p:txBody>
          <a:bodyPr wrap="square" anchor="ctr" lIns="45720" rIns="45720" tIns="18288" bIns="18288">
            <a:spAutoFit/>
          </a:bodyPr>
          <a:lstStyle/>
          <a:p>
            <a:pPr algn="l">
              <a:lnSpc>
                <a:spcPct val="100000"/>
              </a:lnSpc>
            </a:pPr>
            <a:r>
              <a:rPr sz="850" b="0" i="0">
                <a:solidFill>
                  <a:srgbClr val="495057"/>
                </a:solidFill>
                <a:latin typeface="Calibri"/>
              </a:rPr>
              <a:t>identité · bibliothèque privée · publication · réseau social léger</a:t>
            </a:r>
          </a:p>
        </p:txBody>
      </p:sp>
      <p:sp>
        <p:nvSpPr>
          <p:cNvPr id="21" name="Down Arrow 20"/>
          <p:cNvSpPr/>
          <p:nvPr/>
        </p:nvSpPr>
        <p:spPr>
          <a:xfrm>
            <a:off x="1139342" y="1975104"/>
            <a:ext cx="62179" cy="91440"/>
          </a:xfrm>
          <a:prstGeom prst="down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57200" y="2066543"/>
            <a:ext cx="6903720" cy="621792"/>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7200" y="2066543"/>
            <a:ext cx="1965960" cy="621792"/>
          </a:xfrm>
          <a:prstGeom prst="roundRect">
            <a:avLst>
              <a:gd name="adj" fmla="val 7000"/>
            </a:avLst>
          </a:prstGeom>
          <a:solidFill>
            <a:srgbClr val="1A6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74519" y="2066543"/>
            <a:ext cx="109728" cy="621792"/>
          </a:xfrm>
          <a:prstGeom prst="rect">
            <a:avLst/>
          </a:prstGeom>
          <a:solidFill>
            <a:srgbClr val="1A6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066543"/>
            <a:ext cx="1965960" cy="621792"/>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FONCTIONNEL</a:t>
            </a:r>
          </a:p>
        </p:txBody>
      </p:sp>
      <p:sp>
        <p:nvSpPr>
          <p:cNvPr id="26" name="TextBox 25"/>
          <p:cNvSpPr txBox="1"/>
          <p:nvPr/>
        </p:nvSpPr>
        <p:spPr>
          <a:xfrm>
            <a:off x="2560320" y="2066543"/>
            <a:ext cx="4709160" cy="621792"/>
          </a:xfrm>
          <a:prstGeom prst="rect">
            <a:avLst/>
          </a:prstGeom>
          <a:noFill/>
        </p:spPr>
        <p:txBody>
          <a:bodyPr wrap="square" anchor="ctr" lIns="45720" rIns="45720" tIns="18288" bIns="18288">
            <a:spAutoFit/>
          </a:bodyPr>
          <a:lstStyle/>
          <a:p>
            <a:pPr algn="l">
              <a:lnSpc>
                <a:spcPct val="100000"/>
              </a:lnSpc>
            </a:pPr>
            <a:r>
              <a:rPr sz="850" b="0" i="0">
                <a:solidFill>
                  <a:srgbClr val="495057"/>
                </a:solidFill>
                <a:latin typeface="Calibri"/>
              </a:rPr>
              <a:t>auth &amp; sessions · médias &amp; albums · profil public · découverte</a:t>
            </a:r>
          </a:p>
        </p:txBody>
      </p:sp>
      <p:sp>
        <p:nvSpPr>
          <p:cNvPr id="27" name="Down Arrow 26"/>
          <p:cNvSpPr/>
          <p:nvPr/>
        </p:nvSpPr>
        <p:spPr>
          <a:xfrm>
            <a:off x="1139342" y="2688336"/>
            <a:ext cx="62179" cy="91440"/>
          </a:xfrm>
          <a:prstGeom prst="down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 y="2779776"/>
            <a:ext cx="6903720" cy="621792"/>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57200" y="2779776"/>
            <a:ext cx="1965960" cy="621792"/>
          </a:xfrm>
          <a:prstGeom prst="roundRect">
            <a:avLst>
              <a:gd name="adj" fmla="val 7000"/>
            </a:avLst>
          </a:prstGeom>
          <a:solidFill>
            <a:srgbClr val="1C5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74519" y="2779776"/>
            <a:ext cx="109728" cy="621792"/>
          </a:xfrm>
          <a:prstGeom prst="rect">
            <a:avLst/>
          </a:prstGeom>
          <a:solidFill>
            <a:srgbClr val="1C59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779776"/>
            <a:ext cx="1965960" cy="621792"/>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APPLICATIF</a:t>
            </a:r>
          </a:p>
        </p:txBody>
      </p:sp>
      <p:sp>
        <p:nvSpPr>
          <p:cNvPr id="32" name="TextBox 31"/>
          <p:cNvSpPr txBox="1"/>
          <p:nvPr/>
        </p:nvSpPr>
        <p:spPr>
          <a:xfrm>
            <a:off x="2560320" y="2779776"/>
            <a:ext cx="4709160" cy="621792"/>
          </a:xfrm>
          <a:prstGeom prst="rect">
            <a:avLst/>
          </a:prstGeom>
          <a:noFill/>
        </p:spPr>
        <p:txBody>
          <a:bodyPr wrap="square" anchor="ctr" lIns="45720" rIns="45720" tIns="18288" bIns="18288">
            <a:spAutoFit/>
          </a:bodyPr>
          <a:lstStyle/>
          <a:p>
            <a:pPr algn="l">
              <a:lnSpc>
                <a:spcPct val="100000"/>
              </a:lnSpc>
            </a:pPr>
            <a:r>
              <a:rPr sz="850" b="0" i="0">
                <a:solidFill>
                  <a:srgbClr val="495057"/>
                </a:solidFill>
                <a:latin typeface="Calibri"/>
              </a:rPr>
              <a:t>NestJS/Bun · Next.js · TypeORM · API REST OpenAPI · 6 domaines</a:t>
            </a:r>
          </a:p>
        </p:txBody>
      </p:sp>
      <p:sp>
        <p:nvSpPr>
          <p:cNvPr id="33" name="Down Arrow 32"/>
          <p:cNvSpPr/>
          <p:nvPr/>
        </p:nvSpPr>
        <p:spPr>
          <a:xfrm>
            <a:off x="1139342" y="3401568"/>
            <a:ext cx="62179" cy="91440"/>
          </a:xfrm>
          <a:prstGeom prst="down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7200" y="3493008"/>
            <a:ext cx="6903720" cy="621792"/>
          </a:xfrm>
          <a:prstGeom prst="roundRect">
            <a:avLst>
              <a:gd name="adj" fmla="val 7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57200" y="3493008"/>
            <a:ext cx="1965960" cy="621792"/>
          </a:xfrm>
          <a:prstGeom prst="roundRect">
            <a:avLst>
              <a:gd name="adj" fmla="val 7000"/>
            </a:avLst>
          </a:prstGeom>
          <a:solidFill>
            <a:srgbClr val="1D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874519" y="3493008"/>
            <a:ext cx="109728" cy="621792"/>
          </a:xfrm>
          <a:prstGeom prst="rect">
            <a:avLst/>
          </a:prstGeom>
          <a:solidFill>
            <a:srgbClr val="1D4D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3493008"/>
            <a:ext cx="1965960" cy="621792"/>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INFRASTRUCTURE</a:t>
            </a:r>
          </a:p>
        </p:txBody>
      </p:sp>
      <p:sp>
        <p:nvSpPr>
          <p:cNvPr id="38" name="TextBox 37"/>
          <p:cNvSpPr txBox="1"/>
          <p:nvPr/>
        </p:nvSpPr>
        <p:spPr>
          <a:xfrm>
            <a:off x="2560320" y="3493008"/>
            <a:ext cx="4709160" cy="621792"/>
          </a:xfrm>
          <a:prstGeom prst="rect">
            <a:avLst/>
          </a:prstGeom>
          <a:noFill/>
        </p:spPr>
        <p:txBody>
          <a:bodyPr wrap="square" anchor="ctr" lIns="45720" rIns="45720" tIns="18288" bIns="18288">
            <a:spAutoFit/>
          </a:bodyPr>
          <a:lstStyle/>
          <a:p>
            <a:pPr algn="l">
              <a:lnSpc>
                <a:spcPct val="100000"/>
              </a:lnSpc>
            </a:pPr>
            <a:r>
              <a:rPr sz="850" b="0" i="0">
                <a:solidFill>
                  <a:srgbClr val="495057"/>
                </a:solidFill>
                <a:latin typeface="Calibri"/>
              </a:rPr>
              <a:t>Swarm · Traefik · PostgreSQL · Redis · Hetzner · AWS · Cloudflare</a:t>
            </a:r>
          </a:p>
        </p:txBody>
      </p:sp>
      <p:sp>
        <p:nvSpPr>
          <p:cNvPr id="39" name="Rounded Rectangle 38"/>
          <p:cNvSpPr/>
          <p:nvPr/>
        </p:nvSpPr>
        <p:spPr>
          <a:xfrm>
            <a:off x="7543800" y="1353312"/>
            <a:ext cx="1143000" cy="2724912"/>
          </a:xfrm>
          <a:prstGeom prst="roundRect">
            <a:avLst>
              <a:gd name="adj" fmla="val 6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16952" y="1481328"/>
            <a:ext cx="996696" cy="2468880"/>
          </a:xfrm>
          <a:prstGeom prst="rect">
            <a:avLst/>
          </a:prstGeom>
          <a:noFill/>
        </p:spPr>
        <p:txBody>
          <a:bodyPr wrap="square" anchor="t" lIns="45720" rIns="45720" tIns="18288" bIns="18288">
            <a:spAutoFit/>
          </a:bodyPr>
          <a:lstStyle/>
          <a:p>
            <a:pPr algn="ctr">
              <a:lnSpc>
                <a:spcPct val="105000"/>
              </a:lnSpc>
              <a:spcAft>
                <a:spcPts val="600"/>
              </a:spcAft>
            </a:pPr>
            <a:r>
              <a:rPr sz="900" b="1" i="0">
                <a:solidFill>
                  <a:srgbClr val="1971C2"/>
                </a:solidFill>
                <a:latin typeface="Calibri"/>
              </a:rPr>
              <a:t>Inventaire des actifs</a:t>
            </a:r>
          </a:p>
          <a:p>
            <a:pPr algn="ctr">
              <a:lnSpc>
                <a:spcPct val="105000"/>
              </a:lnSpc>
              <a:spcAft>
                <a:spcPts val="600"/>
              </a:spcAft>
            </a:pPr>
            <a:r>
              <a:rPr sz="800" b="0" i="0">
                <a:solidFill>
                  <a:srgbClr val="495057"/>
                </a:solidFill>
                <a:latin typeface="Calibri"/>
              </a:rPr>
              <a:t>support direct de l’analyse de risques, diapositive 8.</a:t>
            </a:r>
          </a:p>
        </p:txBody>
      </p:sp>
      <p:sp>
        <p:nvSpPr>
          <p:cNvPr id="41" name="Down Arrow 40"/>
          <p:cNvSpPr/>
          <p:nvPr/>
        </p:nvSpPr>
        <p:spPr>
          <a:xfrm>
            <a:off x="8048548" y="4114800"/>
            <a:ext cx="124358" cy="182880"/>
          </a:xfrm>
          <a:prstGeom prst="downArrow">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4315968"/>
            <a:ext cx="6903720" cy="256032"/>
          </a:xfrm>
          <a:prstGeom prst="rect">
            <a:avLst/>
          </a:prstGeom>
          <a:noFill/>
        </p:spPr>
        <p:txBody>
          <a:bodyPr wrap="square" anchor="t" lIns="45720" rIns="45720" tIns="18288" bIns="18288">
            <a:spAutoFit/>
          </a:bodyPr>
          <a:lstStyle/>
          <a:p>
            <a:pPr algn="l">
              <a:lnSpc>
                <a:spcPct val="100000"/>
              </a:lnSpc>
            </a:pPr>
            <a:r>
              <a:rPr sz="900" b="0" i="0">
                <a:solidFill>
                  <a:srgbClr val="868E96"/>
                </a:solidFill>
                <a:latin typeface="Calibri"/>
              </a:rPr>
              <a:t>Les quatre niveaux fondamentaux exigés, instruits sur quatre planches séparées pour rester lisibles.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1971C2"/>
                </a:solidFill>
                <a:latin typeface="Calibri"/>
              </a:rPr>
              <a:t>2 · ANALYSE ET STRATÉGIE DU SI</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Diagnostic et analyse des risques</a:t>
            </a:r>
          </a:p>
        </p:txBody>
      </p:sp>
      <p:sp>
        <p:nvSpPr>
          <p:cNvPr id="11" name="Rectangle 10"/>
          <p:cNvSpPr/>
          <p:nvPr/>
        </p:nvSpPr>
        <p:spPr>
          <a:xfrm>
            <a:off x="475488" y="1069848"/>
            <a:ext cx="1051560" cy="4114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08 / 30</a:t>
            </a:r>
          </a:p>
        </p:txBody>
      </p:sp>
      <p:sp>
        <p:nvSpPr>
          <p:cNvPr id="13" name="Rounded Rectangle 12"/>
          <p:cNvSpPr/>
          <p:nvPr/>
        </p:nvSpPr>
        <p:spPr>
          <a:xfrm>
            <a:off x="457200" y="4818888"/>
            <a:ext cx="1068019" cy="228600"/>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068019"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C4 · C17</a:t>
            </a:r>
          </a:p>
        </p:txBody>
      </p:sp>
      <p:sp>
        <p:nvSpPr>
          <p:cNvPr id="15" name="TextBox 14"/>
          <p:cNvSpPr txBox="1"/>
          <p:nvPr/>
        </p:nvSpPr>
        <p:spPr>
          <a:xfrm>
            <a:off x="1616659"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BC2 · mémoire 11.3.2, 11.3.3 · annexe O</a:t>
            </a:r>
          </a:p>
        </p:txBody>
      </p:sp>
      <p:sp>
        <p:nvSpPr>
          <p:cNvPr id="16" name="TextBox 15"/>
          <p:cNvSpPr txBox="1"/>
          <p:nvPr/>
        </p:nvSpPr>
        <p:spPr>
          <a:xfrm>
            <a:off x="457200" y="1225296"/>
            <a:ext cx="365760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SWOT INTERNE ET PESTEL EXTERNE</a:t>
            </a:r>
          </a:p>
        </p:txBody>
      </p:sp>
      <p:sp>
        <p:nvSpPr>
          <p:cNvPr id="17" name="Rounded Rectangle 16"/>
          <p:cNvSpPr/>
          <p:nvPr/>
        </p:nvSpPr>
        <p:spPr>
          <a:xfrm>
            <a:off x="457200" y="1444752"/>
            <a:ext cx="1828800" cy="841248"/>
          </a:xfrm>
          <a:prstGeom prst="roundRect">
            <a:avLst>
              <a:gd name="adj" fmla="val 8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1499616"/>
            <a:ext cx="1645920" cy="201168"/>
          </a:xfrm>
          <a:prstGeom prst="rect">
            <a:avLst/>
          </a:prstGeom>
          <a:noFill/>
        </p:spPr>
        <p:txBody>
          <a:bodyPr wrap="square" anchor="t" lIns="45720" rIns="45720" tIns="18288" bIns="18288">
            <a:spAutoFit/>
          </a:bodyPr>
          <a:lstStyle/>
          <a:p>
            <a:pPr algn="l">
              <a:lnSpc>
                <a:spcPct val="100000"/>
              </a:lnSpc>
            </a:pPr>
            <a:r>
              <a:rPr sz="800" b="1" i="0">
                <a:solidFill>
                  <a:srgbClr val="2B8A3E"/>
                </a:solidFill>
                <a:latin typeface="Calibri"/>
              </a:rPr>
              <a:t>FORCES</a:t>
            </a:r>
          </a:p>
        </p:txBody>
      </p:sp>
      <p:sp>
        <p:nvSpPr>
          <p:cNvPr id="19" name="TextBox 18"/>
          <p:cNvSpPr txBox="1"/>
          <p:nvPr/>
        </p:nvSpPr>
        <p:spPr>
          <a:xfrm>
            <a:off x="548640" y="1700784"/>
            <a:ext cx="1645920" cy="548640"/>
          </a:xfrm>
          <a:prstGeom prst="rect">
            <a:avLst/>
          </a:prstGeom>
          <a:noFill/>
        </p:spPr>
        <p:txBody>
          <a:bodyPr wrap="square" anchor="t" lIns="45720" rIns="45720" tIns="18288" bIns="18288">
            <a:spAutoFit/>
          </a:bodyPr>
          <a:lstStyle/>
          <a:p>
            <a:pPr algn="l">
              <a:lnSpc>
                <a:spcPct val="98000"/>
              </a:lnSpc>
            </a:pPr>
            <a:r>
              <a:rPr sz="750" b="0" i="0">
                <a:solidFill>
                  <a:srgbClr val="495057"/>
                </a:solidFill>
                <a:latin typeface="Calibri"/>
              </a:rPr>
              <a:t>tout en code, sécurité en profondeur, observabilité mature</a:t>
            </a:r>
          </a:p>
        </p:txBody>
      </p:sp>
      <p:sp>
        <p:nvSpPr>
          <p:cNvPr id="20" name="Rounded Rectangle 19"/>
          <p:cNvSpPr/>
          <p:nvPr/>
        </p:nvSpPr>
        <p:spPr>
          <a:xfrm>
            <a:off x="2377440" y="1444752"/>
            <a:ext cx="1828800" cy="841248"/>
          </a:xfrm>
          <a:prstGeom prst="roundRect">
            <a:avLst>
              <a:gd name="adj" fmla="val 8000"/>
            </a:avLst>
          </a:prstGeom>
          <a:solidFill>
            <a:srgbClr val="F2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68880" y="1499616"/>
            <a:ext cx="1645920" cy="201168"/>
          </a:xfrm>
          <a:prstGeom prst="rect">
            <a:avLst/>
          </a:prstGeom>
          <a:noFill/>
        </p:spPr>
        <p:txBody>
          <a:bodyPr wrap="square" anchor="t" lIns="45720" rIns="45720" tIns="18288" bIns="18288">
            <a:spAutoFit/>
          </a:bodyPr>
          <a:lstStyle/>
          <a:p>
            <a:pPr algn="l">
              <a:lnSpc>
                <a:spcPct val="100000"/>
              </a:lnSpc>
            </a:pPr>
            <a:r>
              <a:rPr sz="800" b="1" i="0">
                <a:solidFill>
                  <a:srgbClr val="96590A"/>
                </a:solidFill>
                <a:latin typeface="Calibri"/>
              </a:rPr>
              <a:t>VIGILANCE</a:t>
            </a:r>
          </a:p>
        </p:txBody>
      </p:sp>
      <p:sp>
        <p:nvSpPr>
          <p:cNvPr id="22" name="TextBox 21"/>
          <p:cNvSpPr txBox="1"/>
          <p:nvPr/>
        </p:nvSpPr>
        <p:spPr>
          <a:xfrm>
            <a:off x="2468880" y="1700784"/>
            <a:ext cx="1645920" cy="548640"/>
          </a:xfrm>
          <a:prstGeom prst="rect">
            <a:avLst/>
          </a:prstGeom>
          <a:noFill/>
        </p:spPr>
        <p:txBody>
          <a:bodyPr wrap="square" anchor="t" lIns="45720" rIns="45720" tIns="18288" bIns="18288">
            <a:spAutoFit/>
          </a:bodyPr>
          <a:lstStyle/>
          <a:p>
            <a:pPr algn="l">
              <a:lnSpc>
                <a:spcPct val="98000"/>
              </a:lnSpc>
            </a:pPr>
            <a:r>
              <a:rPr sz="750" b="0" i="0">
                <a:solidFill>
                  <a:srgbClr val="495057"/>
                </a:solidFill>
                <a:latin typeface="Calibri"/>
              </a:rPr>
              <a:t>nœud de périphérie unique, secrets sur 3 fournisseurs</a:t>
            </a:r>
          </a:p>
        </p:txBody>
      </p:sp>
      <p:sp>
        <p:nvSpPr>
          <p:cNvPr id="23" name="Rounded Rectangle 22"/>
          <p:cNvSpPr/>
          <p:nvPr/>
        </p:nvSpPr>
        <p:spPr>
          <a:xfrm>
            <a:off x="457200" y="2359152"/>
            <a:ext cx="1828800" cy="841248"/>
          </a:xfrm>
          <a:prstGeom prst="roundRect">
            <a:avLst>
              <a:gd name="adj" fmla="val 8000"/>
            </a:avLst>
          </a:prstGeom>
          <a:solidFill>
            <a:srgbClr val="E3EE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414016"/>
            <a:ext cx="1645920" cy="201168"/>
          </a:xfrm>
          <a:prstGeom prst="rect">
            <a:avLst/>
          </a:prstGeom>
          <a:noFill/>
        </p:spPr>
        <p:txBody>
          <a:bodyPr wrap="square" anchor="t" lIns="45720" rIns="45720" tIns="18288" bIns="18288">
            <a:spAutoFit/>
          </a:bodyPr>
          <a:lstStyle/>
          <a:p>
            <a:pPr algn="l">
              <a:lnSpc>
                <a:spcPct val="100000"/>
              </a:lnSpc>
            </a:pPr>
            <a:r>
              <a:rPr sz="800" b="1" i="0">
                <a:solidFill>
                  <a:srgbClr val="1971C2"/>
                </a:solidFill>
                <a:latin typeface="Calibri"/>
              </a:rPr>
              <a:t>OPPORTUNITÉS</a:t>
            </a:r>
          </a:p>
        </p:txBody>
      </p:sp>
      <p:sp>
        <p:nvSpPr>
          <p:cNvPr id="25" name="TextBox 24"/>
          <p:cNvSpPr txBox="1"/>
          <p:nvPr/>
        </p:nvSpPr>
        <p:spPr>
          <a:xfrm>
            <a:off x="548640" y="2615184"/>
            <a:ext cx="1645920" cy="548640"/>
          </a:xfrm>
          <a:prstGeom prst="rect">
            <a:avLst/>
          </a:prstGeom>
          <a:noFill/>
        </p:spPr>
        <p:txBody>
          <a:bodyPr wrap="square" anchor="t" lIns="45720" rIns="45720" tIns="18288" bIns="18288">
            <a:spAutoFit/>
          </a:bodyPr>
          <a:lstStyle/>
          <a:p>
            <a:pPr algn="l">
              <a:lnSpc>
                <a:spcPct val="98000"/>
              </a:lnSpc>
            </a:pPr>
            <a:r>
              <a:rPr sz="750" b="0" i="0">
                <a:solidFill>
                  <a:srgbClr val="495057"/>
                </a:solidFill>
                <a:latin typeface="Calibri"/>
              </a:rPr>
              <a:t>RAPL bare-metal, SBOM exploitées, IA d’exploitation</a:t>
            </a:r>
          </a:p>
        </p:txBody>
      </p:sp>
      <p:sp>
        <p:nvSpPr>
          <p:cNvPr id="26" name="Rounded Rectangle 25"/>
          <p:cNvSpPr/>
          <p:nvPr/>
        </p:nvSpPr>
        <p:spPr>
          <a:xfrm>
            <a:off x="2377440" y="2359152"/>
            <a:ext cx="1828800" cy="841248"/>
          </a:xfrm>
          <a:prstGeom prst="roundRect">
            <a:avLst>
              <a:gd name="adj" fmla="val 8000"/>
            </a:avLst>
          </a:prstGeom>
          <a:solidFill>
            <a:srgbClr val="F9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2414016"/>
            <a:ext cx="1645920" cy="201168"/>
          </a:xfrm>
          <a:prstGeom prst="rect">
            <a:avLst/>
          </a:prstGeom>
          <a:noFill/>
        </p:spPr>
        <p:txBody>
          <a:bodyPr wrap="square" anchor="t" lIns="45720" rIns="45720" tIns="18288" bIns="18288">
            <a:spAutoFit/>
          </a:bodyPr>
          <a:lstStyle/>
          <a:p>
            <a:pPr algn="l">
              <a:lnSpc>
                <a:spcPct val="100000"/>
              </a:lnSpc>
            </a:pPr>
            <a:r>
              <a:rPr sz="800" b="1" i="0">
                <a:solidFill>
                  <a:srgbClr val="C92A2A"/>
                </a:solidFill>
                <a:latin typeface="Calibri"/>
              </a:rPr>
              <a:t>MENACES</a:t>
            </a:r>
          </a:p>
        </p:txBody>
      </p:sp>
      <p:sp>
        <p:nvSpPr>
          <p:cNvPr id="28" name="TextBox 27"/>
          <p:cNvSpPr txBox="1"/>
          <p:nvPr/>
        </p:nvSpPr>
        <p:spPr>
          <a:xfrm>
            <a:off x="2468880" y="2615184"/>
            <a:ext cx="1645920" cy="548640"/>
          </a:xfrm>
          <a:prstGeom prst="rect">
            <a:avLst/>
          </a:prstGeom>
          <a:noFill/>
        </p:spPr>
        <p:txBody>
          <a:bodyPr wrap="square" anchor="t" lIns="45720" rIns="45720" tIns="18288" bIns="18288">
            <a:spAutoFit/>
          </a:bodyPr>
          <a:lstStyle/>
          <a:p>
            <a:pPr algn="l">
              <a:lnSpc>
                <a:spcPct val="98000"/>
              </a:lnSpc>
            </a:pPr>
            <a:r>
              <a:rPr sz="750" b="0" i="0">
                <a:solidFill>
                  <a:srgbClr val="495057"/>
                </a:solidFill>
                <a:latin typeface="Calibri"/>
              </a:rPr>
              <a:t>licences, durcissement RGPD, NIS 2, IA Act</a:t>
            </a:r>
          </a:p>
        </p:txBody>
      </p:sp>
      <p:sp>
        <p:nvSpPr>
          <p:cNvPr id="29" name="Rounded Rectangle 28"/>
          <p:cNvSpPr/>
          <p:nvPr/>
        </p:nvSpPr>
        <p:spPr>
          <a:xfrm>
            <a:off x="457200" y="3310128"/>
            <a:ext cx="3749039" cy="950976"/>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310128"/>
            <a:ext cx="64008" cy="950976"/>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 y="3392424"/>
            <a:ext cx="3456431" cy="804672"/>
          </a:xfrm>
          <a:prstGeom prst="rect">
            <a:avLst/>
          </a:prstGeom>
          <a:noFill/>
        </p:spPr>
        <p:txBody>
          <a:bodyPr wrap="square" anchor="t" lIns="45720" rIns="45720" tIns="18288" bIns="18288">
            <a:spAutoFit/>
          </a:bodyPr>
          <a:lstStyle/>
          <a:p>
            <a:pPr algn="l">
              <a:lnSpc>
                <a:spcPct val="105000"/>
              </a:lnSpc>
              <a:spcAft>
                <a:spcPts val="200"/>
              </a:spcAft>
            </a:pPr>
            <a:r>
              <a:rPr sz="900" b="1" i="0">
                <a:solidFill>
                  <a:srgbClr val="1971C2"/>
                </a:solidFill>
                <a:latin typeface="Calibri"/>
              </a:rPr>
              <a:t>Convergence  </a:t>
            </a:r>
          </a:p>
          <a:p>
            <a:pPr algn="l">
              <a:lnSpc>
                <a:spcPct val="105000"/>
              </a:lnSpc>
              <a:spcAft>
                <a:spcPts val="200"/>
              </a:spcAft>
            </a:pPr>
            <a:r>
              <a:rPr sz="850" b="0" i="0">
                <a:solidFill>
                  <a:srgbClr val="495057"/>
                </a:solidFill>
                <a:latin typeface="Calibri"/>
              </a:rPr>
              <a:t>Les deux priorités du plan d’amélioration sont exactement les deux risques les plus critiques. La feuille de route suit le registre.</a:t>
            </a:r>
          </a:p>
        </p:txBody>
      </p:sp>
      <p:sp>
        <p:nvSpPr>
          <p:cNvPr id="32" name="TextBox 31"/>
          <p:cNvSpPr txBox="1"/>
          <p:nvPr/>
        </p:nvSpPr>
        <p:spPr>
          <a:xfrm>
            <a:off x="4663440" y="1225296"/>
            <a:ext cx="402336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REGISTRE COTÉ EBIOS RISK MANAGER · ISO 27005</a:t>
            </a:r>
          </a:p>
        </p:txBody>
      </p:sp>
      <p:sp>
        <p:nvSpPr>
          <p:cNvPr id="33" name="Rectangle 32"/>
          <p:cNvSpPr/>
          <p:nvPr/>
        </p:nvSpPr>
        <p:spPr>
          <a:xfrm>
            <a:off x="5394960" y="3236976"/>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394960" y="2798064"/>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394960" y="2359152"/>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394960" y="1920240"/>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94960" y="1481328"/>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980176" y="3236976"/>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80176" y="2798064"/>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80176" y="2359152"/>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980176" y="1920240"/>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80176" y="1481328"/>
            <a:ext cx="585216" cy="438912"/>
          </a:xfrm>
          <a:prstGeom prst="rect">
            <a:avLst/>
          </a:prstGeom>
          <a:solidFill>
            <a:srgbClr val="F5B15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65392" y="3236976"/>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65392" y="2798064"/>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65392" y="2359152"/>
            <a:ext cx="585216" cy="438912"/>
          </a:xfrm>
          <a:prstGeom prst="rect">
            <a:avLst/>
          </a:prstGeom>
          <a:solidFill>
            <a:srgbClr val="F5B15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65392" y="1920240"/>
            <a:ext cx="585216" cy="438912"/>
          </a:xfrm>
          <a:prstGeom prst="rect">
            <a:avLst/>
          </a:prstGeom>
          <a:solidFill>
            <a:srgbClr val="F5B15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65392" y="1481328"/>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150608" y="3236976"/>
            <a:ext cx="585216" cy="438912"/>
          </a:xfrm>
          <a:prstGeom prst="rect">
            <a:avLst/>
          </a:prstGeom>
          <a:solidFill>
            <a:srgbClr val="C4DEC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150608" y="2798064"/>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50608" y="2359152"/>
            <a:ext cx="585216" cy="438912"/>
          </a:xfrm>
          <a:prstGeom prst="rect">
            <a:avLst/>
          </a:prstGeom>
          <a:solidFill>
            <a:srgbClr val="F5B15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150608" y="1920240"/>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50608" y="1481328"/>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35824" y="3236976"/>
            <a:ext cx="585216" cy="438912"/>
          </a:xfrm>
          <a:prstGeom prst="rect">
            <a:avLst/>
          </a:prstGeom>
          <a:solidFill>
            <a:srgbClr val="FAD8A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735824" y="2798064"/>
            <a:ext cx="585216" cy="438912"/>
          </a:xfrm>
          <a:prstGeom prst="rect">
            <a:avLst/>
          </a:prstGeom>
          <a:solidFill>
            <a:srgbClr val="F5B152"/>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735824" y="2359152"/>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35824" y="1920240"/>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735824" y="1481328"/>
            <a:ext cx="585216" cy="438912"/>
          </a:xfrm>
          <a:prstGeom prst="rect">
            <a:avLst/>
          </a:prstGeom>
          <a:solidFill>
            <a:srgbClr val="D96A6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394960" y="3712463"/>
            <a:ext cx="2926080" cy="182880"/>
          </a:xfrm>
          <a:prstGeom prst="rect">
            <a:avLst/>
          </a:prstGeom>
          <a:noFill/>
        </p:spPr>
        <p:txBody>
          <a:bodyPr wrap="square" anchor="t" lIns="45720" rIns="45720" tIns="18288" bIns="18288">
            <a:spAutoFit/>
          </a:bodyPr>
          <a:lstStyle/>
          <a:p>
            <a:pPr algn="ctr">
              <a:lnSpc>
                <a:spcPct val="100000"/>
              </a:lnSpc>
            </a:pPr>
            <a:r>
              <a:rPr sz="700" b="1" i="0">
                <a:solidFill>
                  <a:srgbClr val="868E96"/>
                </a:solidFill>
                <a:latin typeface="Calibri"/>
              </a:rPr>
              <a:t>GRAVITÉ  1 → 5</a:t>
            </a:r>
          </a:p>
        </p:txBody>
      </p:sp>
      <p:sp>
        <p:nvSpPr>
          <p:cNvPr id="59" name="TextBox 58"/>
          <p:cNvSpPr txBox="1"/>
          <p:nvPr/>
        </p:nvSpPr>
        <p:spPr>
          <a:xfrm>
            <a:off x="4828032" y="2468880"/>
            <a:ext cx="530352" cy="219456"/>
          </a:xfrm>
          <a:prstGeom prst="rect">
            <a:avLst/>
          </a:prstGeom>
          <a:noFill/>
        </p:spPr>
        <p:txBody>
          <a:bodyPr wrap="square" anchor="t" lIns="45720" rIns="45720" tIns="18288" bIns="18288">
            <a:spAutoFit/>
          </a:bodyPr>
          <a:lstStyle/>
          <a:p>
            <a:pPr algn="r">
              <a:lnSpc>
                <a:spcPct val="100000"/>
              </a:lnSpc>
            </a:pPr>
            <a:r>
              <a:rPr sz="700" b="1" i="0">
                <a:solidFill>
                  <a:srgbClr val="868E96"/>
                </a:solidFill>
                <a:latin typeface="Calibri"/>
              </a:rPr>
              <a:t>VRAI-
SEM-
BLANCE</a:t>
            </a:r>
          </a:p>
        </p:txBody>
      </p:sp>
      <p:sp>
        <p:nvSpPr>
          <p:cNvPr id="60" name="Oval 59"/>
          <p:cNvSpPr/>
          <p:nvPr/>
        </p:nvSpPr>
        <p:spPr>
          <a:xfrm>
            <a:off x="7900416" y="2450592"/>
            <a:ext cx="256032" cy="256032"/>
          </a:xfrm>
          <a:prstGeom prst="ellipse">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00416" y="2450592"/>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R1</a:t>
            </a:r>
          </a:p>
        </p:txBody>
      </p:sp>
      <p:sp>
        <p:nvSpPr>
          <p:cNvPr id="62" name="Oval 61"/>
          <p:cNvSpPr/>
          <p:nvPr/>
        </p:nvSpPr>
        <p:spPr>
          <a:xfrm>
            <a:off x="7315200" y="2450592"/>
            <a:ext cx="256032" cy="256032"/>
          </a:xfrm>
          <a:prstGeom prst="ellipse">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0" y="2450592"/>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R3</a:t>
            </a:r>
          </a:p>
        </p:txBody>
      </p:sp>
      <p:sp>
        <p:nvSpPr>
          <p:cNvPr id="64" name="Oval 63"/>
          <p:cNvSpPr/>
          <p:nvPr/>
        </p:nvSpPr>
        <p:spPr>
          <a:xfrm>
            <a:off x="7763256" y="2889503"/>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763256" y="2889503"/>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R2</a:t>
            </a:r>
          </a:p>
        </p:txBody>
      </p:sp>
      <p:sp>
        <p:nvSpPr>
          <p:cNvPr id="66" name="Oval 65"/>
          <p:cNvSpPr/>
          <p:nvPr/>
        </p:nvSpPr>
        <p:spPr>
          <a:xfrm>
            <a:off x="8037576" y="2889503"/>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037576" y="2889503"/>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R5</a:t>
            </a:r>
          </a:p>
        </p:txBody>
      </p:sp>
      <p:sp>
        <p:nvSpPr>
          <p:cNvPr id="68" name="Oval 67"/>
          <p:cNvSpPr/>
          <p:nvPr/>
        </p:nvSpPr>
        <p:spPr>
          <a:xfrm>
            <a:off x="6592824" y="2450592"/>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92824" y="2450592"/>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R7</a:t>
            </a:r>
          </a:p>
        </p:txBody>
      </p:sp>
      <p:sp>
        <p:nvSpPr>
          <p:cNvPr id="70" name="Oval 69"/>
          <p:cNvSpPr/>
          <p:nvPr/>
        </p:nvSpPr>
        <p:spPr>
          <a:xfrm>
            <a:off x="6867144" y="2450592"/>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867144" y="2450592"/>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R4</a:t>
            </a:r>
          </a:p>
        </p:txBody>
      </p:sp>
      <p:sp>
        <p:nvSpPr>
          <p:cNvPr id="72" name="Oval 71"/>
          <p:cNvSpPr/>
          <p:nvPr/>
        </p:nvSpPr>
        <p:spPr>
          <a:xfrm>
            <a:off x="7178040" y="2889503"/>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78040" y="2889503"/>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R6</a:t>
            </a:r>
          </a:p>
        </p:txBody>
      </p:sp>
      <p:sp>
        <p:nvSpPr>
          <p:cNvPr id="74" name="Oval 73"/>
          <p:cNvSpPr/>
          <p:nvPr/>
        </p:nvSpPr>
        <p:spPr>
          <a:xfrm>
            <a:off x="7452360" y="2889503"/>
            <a:ext cx="256032" cy="256032"/>
          </a:xfrm>
          <a:prstGeom prst="ellipse">
            <a:avLst/>
          </a:prstGeom>
          <a:solidFill>
            <a:srgbClr val="F0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52360" y="2889503"/>
            <a:ext cx="256032" cy="256032"/>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R8</a:t>
            </a:r>
          </a:p>
        </p:txBody>
      </p:sp>
      <p:sp>
        <p:nvSpPr>
          <p:cNvPr id="76" name="TextBox 75"/>
          <p:cNvSpPr txBox="1"/>
          <p:nvPr/>
        </p:nvSpPr>
        <p:spPr>
          <a:xfrm>
            <a:off x="4663440" y="3913631"/>
            <a:ext cx="1188720" cy="182880"/>
          </a:xfrm>
          <a:prstGeom prst="rect">
            <a:avLst/>
          </a:prstGeom>
          <a:noFill/>
        </p:spPr>
        <p:txBody>
          <a:bodyPr wrap="square" anchor="t" lIns="45720" rIns="45720" tIns="18288" bIns="18288">
            <a:spAutoFit/>
          </a:bodyPr>
          <a:lstStyle/>
          <a:p>
            <a:pPr algn="l">
              <a:lnSpc>
                <a:spcPct val="100000"/>
              </a:lnSpc>
            </a:pPr>
            <a:r>
              <a:rPr sz="700" b="1" i="0">
                <a:solidFill>
                  <a:srgbClr val="868E96"/>
                </a:solidFill>
                <a:latin typeface="Calibri"/>
              </a:rPr>
              <a:t>CRITICITÉ</a:t>
            </a:r>
          </a:p>
        </p:txBody>
      </p:sp>
      <p:sp>
        <p:nvSpPr>
          <p:cNvPr id="77" name="TextBox 76"/>
          <p:cNvSpPr txBox="1"/>
          <p:nvPr/>
        </p:nvSpPr>
        <p:spPr>
          <a:xfrm>
            <a:off x="4663440" y="4114799"/>
            <a:ext cx="822960" cy="201168"/>
          </a:xfrm>
          <a:prstGeom prst="rect">
            <a:avLst/>
          </a:prstGeom>
          <a:noFill/>
        </p:spPr>
        <p:txBody>
          <a:bodyPr wrap="square" anchor="t" lIns="45720" rIns="45720" tIns="18288" bIns="18288">
            <a:spAutoFit/>
          </a:bodyPr>
          <a:lstStyle/>
          <a:p>
            <a:pPr algn="l">
              <a:lnSpc>
                <a:spcPct val="100000"/>
              </a:lnSpc>
            </a:pPr>
            <a:r>
              <a:rPr sz="750" b="1" i="0">
                <a:solidFill>
                  <a:srgbClr val="495057"/>
                </a:solidFill>
                <a:latin typeface="Calibri"/>
              </a:rPr>
              <a:t>brute</a:t>
            </a:r>
          </a:p>
        </p:txBody>
      </p:sp>
      <p:sp>
        <p:nvSpPr>
          <p:cNvPr id="78" name="Rounded Rectangle 77"/>
          <p:cNvSpPr/>
          <p:nvPr/>
        </p:nvSpPr>
        <p:spPr>
          <a:xfrm>
            <a:off x="5532120" y="4151375"/>
            <a:ext cx="2468880" cy="146304"/>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5532120" y="4151375"/>
            <a:ext cx="2468880" cy="146304"/>
          </a:xfrm>
          <a:prstGeom prst="roundRect">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092440" y="4114799"/>
            <a:ext cx="594360" cy="201168"/>
          </a:xfrm>
          <a:prstGeom prst="rect">
            <a:avLst/>
          </a:prstGeom>
          <a:noFill/>
        </p:spPr>
        <p:txBody>
          <a:bodyPr wrap="square" anchor="t" lIns="45720" rIns="45720" tIns="18288" bIns="18288">
            <a:spAutoFit/>
          </a:bodyPr>
          <a:lstStyle/>
          <a:p>
            <a:pPr algn="l">
              <a:lnSpc>
                <a:spcPct val="100000"/>
              </a:lnSpc>
            </a:pPr>
            <a:r>
              <a:rPr sz="900" b="1" i="0">
                <a:solidFill>
                  <a:srgbClr val="C92A2A"/>
                </a:solidFill>
                <a:latin typeface="Calibri"/>
              </a:rPr>
              <a:t>81</a:t>
            </a:r>
          </a:p>
        </p:txBody>
      </p:sp>
      <p:sp>
        <p:nvSpPr>
          <p:cNvPr id="81" name="TextBox 80"/>
          <p:cNvSpPr txBox="1"/>
          <p:nvPr/>
        </p:nvSpPr>
        <p:spPr>
          <a:xfrm>
            <a:off x="4663440" y="4389119"/>
            <a:ext cx="822960" cy="201168"/>
          </a:xfrm>
          <a:prstGeom prst="rect">
            <a:avLst/>
          </a:prstGeom>
          <a:noFill/>
        </p:spPr>
        <p:txBody>
          <a:bodyPr wrap="square" anchor="t" lIns="45720" rIns="45720" tIns="18288" bIns="18288">
            <a:spAutoFit/>
          </a:bodyPr>
          <a:lstStyle/>
          <a:p>
            <a:pPr algn="l">
              <a:lnSpc>
                <a:spcPct val="100000"/>
              </a:lnSpc>
            </a:pPr>
            <a:r>
              <a:rPr sz="750" b="1" i="0">
                <a:solidFill>
                  <a:srgbClr val="495057"/>
                </a:solidFill>
                <a:latin typeface="Calibri"/>
              </a:rPr>
              <a:t>résiduelle</a:t>
            </a:r>
          </a:p>
        </p:txBody>
      </p:sp>
      <p:sp>
        <p:nvSpPr>
          <p:cNvPr id="82" name="Rounded Rectangle 81"/>
          <p:cNvSpPr/>
          <p:nvPr/>
        </p:nvSpPr>
        <p:spPr>
          <a:xfrm>
            <a:off x="5532120" y="4425695"/>
            <a:ext cx="2468880" cy="146304"/>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5532120" y="4425695"/>
            <a:ext cx="1127760" cy="146304"/>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092440" y="4389119"/>
            <a:ext cx="594360" cy="201168"/>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37</a:t>
            </a:r>
          </a:p>
        </p:txBody>
      </p:sp>
      <p:sp>
        <p:nvSpPr>
          <p:cNvPr id="85" name="TextBox 84"/>
          <p:cNvSpPr txBox="1"/>
          <p:nvPr/>
        </p:nvSpPr>
        <p:spPr>
          <a:xfrm>
            <a:off x="4663440" y="4681727"/>
            <a:ext cx="4023360" cy="201168"/>
          </a:xfrm>
          <a:prstGeom prst="rect">
            <a:avLst/>
          </a:prstGeom>
          <a:noFill/>
        </p:spPr>
        <p:txBody>
          <a:bodyPr wrap="square" anchor="t" lIns="45720" rIns="45720" tIns="18288" bIns="18288">
            <a:spAutoFit/>
          </a:bodyPr>
          <a:lstStyle/>
          <a:p>
            <a:pPr algn="l">
              <a:lnSpc>
                <a:spcPct val="100000"/>
              </a:lnSpc>
            </a:pPr>
            <a:r>
              <a:rPr sz="800" b="1" i="0">
                <a:solidFill>
                  <a:srgbClr val="212529"/>
                </a:solidFill>
                <a:latin typeface="Calibri"/>
              </a:rPr>
              <a:t>Après traitement, plus aucun risque en zone critique.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1971C2"/>
                </a:solidFill>
                <a:latin typeface="Calibri"/>
              </a:rPr>
              <a:t>2 · ANALYSE ET STRATÉGIE DU SI</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Choix de l’architecture</a:t>
            </a:r>
          </a:p>
        </p:txBody>
      </p:sp>
      <p:sp>
        <p:nvSpPr>
          <p:cNvPr id="11" name="Rectangle 10"/>
          <p:cNvSpPr/>
          <p:nvPr/>
        </p:nvSpPr>
        <p:spPr>
          <a:xfrm>
            <a:off x="475488" y="1069848"/>
            <a:ext cx="1051560" cy="4114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09 / 30</a:t>
            </a:r>
          </a:p>
        </p:txBody>
      </p:sp>
      <p:sp>
        <p:nvSpPr>
          <p:cNvPr id="13" name="Rounded Rectangle 12"/>
          <p:cNvSpPr/>
          <p:nvPr/>
        </p:nvSpPr>
        <p:spPr>
          <a:xfrm>
            <a:off x="457200" y="4818888"/>
            <a:ext cx="1011326" cy="228600"/>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011326"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C5 → C9</a:t>
            </a:r>
          </a:p>
        </p:txBody>
      </p:sp>
      <p:sp>
        <p:nvSpPr>
          <p:cNvPr id="15" name="TextBox 14"/>
          <p:cNvSpPr txBox="1"/>
          <p:nvPr/>
        </p:nvSpPr>
        <p:spPr>
          <a:xfrm>
            <a:off x="1559966"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 mémoire 11.3.4, 11.3.5 · annexes J, W</a:t>
            </a:r>
          </a:p>
        </p:txBody>
      </p:sp>
      <p:sp>
        <p:nvSpPr>
          <p:cNvPr id="16" name="Rounded Rectangle 15"/>
          <p:cNvSpPr/>
          <p:nvPr/>
        </p:nvSpPr>
        <p:spPr>
          <a:xfrm>
            <a:off x="457200" y="1280160"/>
            <a:ext cx="8229600" cy="402336"/>
          </a:xfrm>
          <a:prstGeom prst="roundRect">
            <a:avLst>
              <a:gd name="adj" fmla="val 8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481328"/>
            <a:ext cx="8229600" cy="20116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280160"/>
            <a:ext cx="1737360" cy="40233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Style d’architecture</a:t>
            </a:r>
          </a:p>
        </p:txBody>
      </p:sp>
      <p:sp>
        <p:nvSpPr>
          <p:cNvPr id="19" name="TextBox 18"/>
          <p:cNvSpPr txBox="1"/>
          <p:nvPr/>
        </p:nvSpPr>
        <p:spPr>
          <a:xfrm>
            <a:off x="2194560" y="1280160"/>
            <a:ext cx="896112" cy="402336"/>
          </a:xfrm>
          <a:prstGeom prst="rect">
            <a:avLst/>
          </a:prstGeom>
          <a:noFill/>
        </p:spPr>
        <p:txBody>
          <a:bodyPr wrap="square" anchor="ctr" lIns="45720" rIns="45720" tIns="18288" bIns="18288">
            <a:spAutoFit/>
          </a:bodyPr>
          <a:lstStyle/>
          <a:p>
            <a:pPr algn="ctr">
              <a:lnSpc>
                <a:spcPct val="95000"/>
              </a:lnSpc>
            </a:pPr>
            <a:r>
              <a:rPr sz="650" b="1" i="0">
                <a:solidFill>
                  <a:srgbClr val="FFFFFF"/>
                </a:solidFill>
                <a:latin typeface="Calibri"/>
              </a:rPr>
              <a:t>Perfor-</a:t>
            </a:r>
          </a:p>
          <a:p>
            <a:pPr algn="ctr">
              <a:lnSpc>
                <a:spcPct val="95000"/>
              </a:lnSpc>
            </a:pPr>
            <a:r>
              <a:rPr sz="650" b="1" i="0">
                <a:solidFill>
                  <a:srgbClr val="FFFFFF"/>
                </a:solidFill>
                <a:latin typeface="Calibri"/>
              </a:rPr>
              <a:t>mance</a:t>
            </a:r>
          </a:p>
        </p:txBody>
      </p:sp>
      <p:sp>
        <p:nvSpPr>
          <p:cNvPr id="20" name="TextBox 19"/>
          <p:cNvSpPr txBox="1"/>
          <p:nvPr/>
        </p:nvSpPr>
        <p:spPr>
          <a:xfrm>
            <a:off x="3090672" y="1280160"/>
            <a:ext cx="896112" cy="402336"/>
          </a:xfrm>
          <a:prstGeom prst="rect">
            <a:avLst/>
          </a:prstGeom>
          <a:noFill/>
        </p:spPr>
        <p:txBody>
          <a:bodyPr wrap="square" anchor="ctr" lIns="45720" rIns="45720" tIns="18288" bIns="18288">
            <a:spAutoFit/>
          </a:bodyPr>
          <a:lstStyle/>
          <a:p>
            <a:pPr algn="ctr">
              <a:lnSpc>
                <a:spcPct val="95000"/>
              </a:lnSpc>
            </a:pPr>
            <a:r>
              <a:rPr sz="650" b="1" i="0">
                <a:solidFill>
                  <a:srgbClr val="FFFFFF"/>
                </a:solidFill>
                <a:latin typeface="Calibri"/>
              </a:rPr>
              <a:t>Scalabi-</a:t>
            </a:r>
          </a:p>
          <a:p>
            <a:pPr algn="ctr">
              <a:lnSpc>
                <a:spcPct val="95000"/>
              </a:lnSpc>
            </a:pPr>
            <a:r>
              <a:rPr sz="650" b="1" i="0">
                <a:solidFill>
                  <a:srgbClr val="FFFFFF"/>
                </a:solidFill>
                <a:latin typeface="Calibri"/>
              </a:rPr>
              <a:t>lité</a:t>
            </a:r>
          </a:p>
        </p:txBody>
      </p:sp>
      <p:sp>
        <p:nvSpPr>
          <p:cNvPr id="21" name="TextBox 20"/>
          <p:cNvSpPr txBox="1"/>
          <p:nvPr/>
        </p:nvSpPr>
        <p:spPr>
          <a:xfrm>
            <a:off x="3986783" y="1280160"/>
            <a:ext cx="896112" cy="402336"/>
          </a:xfrm>
          <a:prstGeom prst="rect">
            <a:avLst/>
          </a:prstGeom>
          <a:noFill/>
        </p:spPr>
        <p:txBody>
          <a:bodyPr wrap="square" anchor="ctr" lIns="45720" rIns="45720" tIns="18288" bIns="18288">
            <a:spAutoFit/>
          </a:bodyPr>
          <a:lstStyle/>
          <a:p>
            <a:pPr algn="ctr">
              <a:lnSpc>
                <a:spcPct val="95000"/>
              </a:lnSpc>
            </a:pPr>
            <a:r>
              <a:rPr sz="650" b="1" i="0">
                <a:solidFill>
                  <a:srgbClr val="FFFFFF"/>
                </a:solidFill>
                <a:latin typeface="Calibri"/>
              </a:rPr>
              <a:t>Sécurité</a:t>
            </a:r>
          </a:p>
        </p:txBody>
      </p:sp>
      <p:sp>
        <p:nvSpPr>
          <p:cNvPr id="22" name="TextBox 21"/>
          <p:cNvSpPr txBox="1"/>
          <p:nvPr/>
        </p:nvSpPr>
        <p:spPr>
          <a:xfrm>
            <a:off x="4882896" y="1280160"/>
            <a:ext cx="896112" cy="402336"/>
          </a:xfrm>
          <a:prstGeom prst="rect">
            <a:avLst/>
          </a:prstGeom>
          <a:noFill/>
        </p:spPr>
        <p:txBody>
          <a:bodyPr wrap="square" anchor="ctr" lIns="45720" rIns="45720" tIns="18288" bIns="18288">
            <a:spAutoFit/>
          </a:bodyPr>
          <a:lstStyle/>
          <a:p>
            <a:pPr algn="ctr">
              <a:lnSpc>
                <a:spcPct val="95000"/>
              </a:lnSpc>
            </a:pPr>
            <a:r>
              <a:rPr sz="650" b="1" i="0">
                <a:solidFill>
                  <a:srgbClr val="FFFFFF"/>
                </a:solidFill>
                <a:latin typeface="Calibri"/>
              </a:rPr>
              <a:t>Coût</a:t>
            </a:r>
          </a:p>
          <a:p>
            <a:pPr algn="ctr">
              <a:lnSpc>
                <a:spcPct val="95000"/>
              </a:lnSpc>
            </a:pPr>
            <a:r>
              <a:rPr sz="650" b="1" i="0">
                <a:solidFill>
                  <a:srgbClr val="FFFFFF"/>
                </a:solidFill>
                <a:latin typeface="Calibri"/>
              </a:rPr>
              <a:t>d’exploit.</a:t>
            </a:r>
          </a:p>
        </p:txBody>
      </p:sp>
      <p:sp>
        <p:nvSpPr>
          <p:cNvPr id="23" name="TextBox 22"/>
          <p:cNvSpPr txBox="1"/>
          <p:nvPr/>
        </p:nvSpPr>
        <p:spPr>
          <a:xfrm>
            <a:off x="5779008" y="1280160"/>
            <a:ext cx="896112" cy="402336"/>
          </a:xfrm>
          <a:prstGeom prst="rect">
            <a:avLst/>
          </a:prstGeom>
          <a:noFill/>
        </p:spPr>
        <p:txBody>
          <a:bodyPr wrap="square" anchor="ctr" lIns="45720" rIns="45720" tIns="18288" bIns="18288">
            <a:spAutoFit/>
          </a:bodyPr>
          <a:lstStyle/>
          <a:p>
            <a:pPr algn="ctr">
              <a:lnSpc>
                <a:spcPct val="95000"/>
              </a:lnSpc>
            </a:pPr>
            <a:r>
              <a:rPr sz="650" b="1" i="0">
                <a:solidFill>
                  <a:srgbClr val="FFFFFF"/>
                </a:solidFill>
                <a:latin typeface="Calibri"/>
              </a:rPr>
              <a:t>Empreinte</a:t>
            </a:r>
          </a:p>
        </p:txBody>
      </p:sp>
      <p:sp>
        <p:nvSpPr>
          <p:cNvPr id="24" name="TextBox 23"/>
          <p:cNvSpPr txBox="1"/>
          <p:nvPr/>
        </p:nvSpPr>
        <p:spPr>
          <a:xfrm>
            <a:off x="6675120" y="1280160"/>
            <a:ext cx="2011680" cy="40233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Verdict pour dropicture</a:t>
            </a:r>
          </a:p>
        </p:txBody>
      </p:sp>
      <p:sp>
        <p:nvSpPr>
          <p:cNvPr id="25" name="Rectangle 24"/>
          <p:cNvSpPr/>
          <p:nvPr/>
        </p:nvSpPr>
        <p:spPr>
          <a:xfrm>
            <a:off x="457200" y="1682496"/>
            <a:ext cx="8229600" cy="603504"/>
          </a:xfrm>
          <a:prstGeom prst="rect">
            <a:avLst/>
          </a:prstGeom>
          <a:solidFill>
            <a:srgbClr val="E1EFE4"/>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1682496"/>
            <a:ext cx="1609343" cy="603504"/>
          </a:xfrm>
          <a:prstGeom prst="rect">
            <a:avLst/>
          </a:prstGeom>
          <a:noFill/>
        </p:spPr>
        <p:txBody>
          <a:bodyPr wrap="square" anchor="ctr" lIns="45720" rIns="45720" tIns="18288" bIns="18288">
            <a:spAutoFit/>
          </a:bodyPr>
          <a:lstStyle/>
          <a:p>
            <a:pPr algn="l">
              <a:lnSpc>
                <a:spcPct val="95000"/>
              </a:lnSpc>
            </a:pPr>
            <a:r>
              <a:rPr sz="850" b="1" i="0">
                <a:solidFill>
                  <a:srgbClr val="212529"/>
                </a:solidFill>
                <a:latin typeface="Calibri"/>
              </a:rPr>
              <a:t>Monolithe modulaire</a:t>
            </a:r>
          </a:p>
        </p:txBody>
      </p:sp>
      <p:sp>
        <p:nvSpPr>
          <p:cNvPr id="27" name="Oval 26"/>
          <p:cNvSpPr/>
          <p:nvPr/>
        </p:nvSpPr>
        <p:spPr>
          <a:xfrm>
            <a:off x="2368296"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564891"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761488"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264408"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461003"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657600" y="1906524"/>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160520"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357116"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53712"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056632"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253228"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449824"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952744"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149340"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345936" y="1906524"/>
            <a:ext cx="155448" cy="155448"/>
          </a:xfrm>
          <a:prstGeom prst="ellipse">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84848" y="1728216"/>
            <a:ext cx="1828800" cy="512064"/>
          </a:xfrm>
          <a:prstGeom prst="rect">
            <a:avLst/>
          </a:prstGeom>
          <a:noFill/>
        </p:spPr>
        <p:txBody>
          <a:bodyPr wrap="square" anchor="t" lIns="45720" rIns="45720" tIns="18288" bIns="18288">
            <a:spAutoFit/>
          </a:bodyPr>
          <a:lstStyle/>
          <a:p>
            <a:pPr algn="l">
              <a:lnSpc>
                <a:spcPct val="100000"/>
              </a:lnSpc>
            </a:pPr>
            <a:r>
              <a:rPr sz="800" b="1" i="0">
                <a:solidFill>
                  <a:srgbClr val="2B8A3E"/>
                </a:solidFill>
                <a:latin typeface="Calibri"/>
              </a:rPr>
              <a:t>RETENU</a:t>
            </a:r>
          </a:p>
          <a:p>
            <a:pPr algn="l">
              <a:lnSpc>
                <a:spcPct val="100000"/>
              </a:lnSpc>
            </a:pPr>
            <a:r>
              <a:rPr sz="700" b="0" i="0">
                <a:solidFill>
                  <a:srgbClr val="495057"/>
                </a:solidFill>
                <a:latin typeface="Calibri"/>
              </a:rPr>
              <a:t>modularité par domaine sans le coût du distribué</a:t>
            </a:r>
          </a:p>
        </p:txBody>
      </p:sp>
      <p:sp>
        <p:nvSpPr>
          <p:cNvPr id="43" name="Rectangle 42"/>
          <p:cNvSpPr/>
          <p:nvPr/>
        </p:nvSpPr>
        <p:spPr>
          <a:xfrm>
            <a:off x="457200" y="2286000"/>
            <a:ext cx="8229600" cy="603504"/>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2286000"/>
            <a:ext cx="1609343" cy="603504"/>
          </a:xfrm>
          <a:prstGeom prst="rect">
            <a:avLst/>
          </a:prstGeom>
          <a:noFill/>
        </p:spPr>
        <p:txBody>
          <a:bodyPr wrap="square" anchor="ctr" lIns="45720" rIns="45720" tIns="18288" bIns="18288">
            <a:spAutoFit/>
          </a:bodyPr>
          <a:lstStyle/>
          <a:p>
            <a:pPr algn="l">
              <a:lnSpc>
                <a:spcPct val="95000"/>
              </a:lnSpc>
            </a:pPr>
            <a:r>
              <a:rPr sz="850" b="1" i="0">
                <a:solidFill>
                  <a:srgbClr val="212529"/>
                </a:solidFill>
                <a:latin typeface="Calibri"/>
              </a:rPr>
              <a:t>Microservices</a:t>
            </a:r>
          </a:p>
        </p:txBody>
      </p:sp>
      <p:sp>
        <p:nvSpPr>
          <p:cNvPr id="45" name="Oval 44"/>
          <p:cNvSpPr/>
          <p:nvPr/>
        </p:nvSpPr>
        <p:spPr>
          <a:xfrm>
            <a:off x="2368296"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564891"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761488"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64408"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61003"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657600"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160520"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357116"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4553712" y="2510028"/>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056632"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5253228" y="2510028"/>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449824" y="2510028"/>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952744" y="2510028"/>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149340" y="2510028"/>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45936" y="2510028"/>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784848" y="2331720"/>
            <a:ext cx="1828800" cy="512064"/>
          </a:xfrm>
          <a:prstGeom prst="rect">
            <a:avLst/>
          </a:prstGeom>
          <a:noFill/>
        </p:spPr>
        <p:txBody>
          <a:bodyPr wrap="square" anchor="t" lIns="45720" rIns="45720" tIns="18288" bIns="18288">
            <a:spAutoFit/>
          </a:bodyPr>
          <a:lstStyle/>
          <a:p>
            <a:pPr algn="l">
              <a:lnSpc>
                <a:spcPct val="100000"/>
              </a:lnSpc>
            </a:pPr>
            <a:r>
              <a:rPr sz="800" b="1" i="0">
                <a:solidFill>
                  <a:srgbClr val="C92A2A"/>
                </a:solidFill>
                <a:latin typeface="Calibri"/>
              </a:rPr>
              <a:t>écarté</a:t>
            </a:r>
          </a:p>
          <a:p>
            <a:pPr algn="l">
              <a:lnSpc>
                <a:spcPct val="100000"/>
              </a:lnSpc>
            </a:pPr>
            <a:r>
              <a:rPr sz="700" b="0" i="0">
                <a:solidFill>
                  <a:srgbClr val="495057"/>
                </a:solidFill>
                <a:latin typeface="Calibri"/>
              </a:rPr>
              <a:t>surcoût opérationnel et énergétique disproportionné</a:t>
            </a:r>
          </a:p>
        </p:txBody>
      </p:sp>
      <p:sp>
        <p:nvSpPr>
          <p:cNvPr id="61" name="Rectangle 60"/>
          <p:cNvSpPr/>
          <p:nvPr/>
        </p:nvSpPr>
        <p:spPr>
          <a:xfrm>
            <a:off x="457200" y="2889504"/>
            <a:ext cx="8229600" cy="603504"/>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2889504"/>
            <a:ext cx="1609343" cy="603504"/>
          </a:xfrm>
          <a:prstGeom prst="rect">
            <a:avLst/>
          </a:prstGeom>
          <a:noFill/>
        </p:spPr>
        <p:txBody>
          <a:bodyPr wrap="square" anchor="ctr" lIns="45720" rIns="45720" tIns="18288" bIns="18288">
            <a:spAutoFit/>
          </a:bodyPr>
          <a:lstStyle/>
          <a:p>
            <a:pPr algn="l">
              <a:lnSpc>
                <a:spcPct val="95000"/>
              </a:lnSpc>
            </a:pPr>
            <a:r>
              <a:rPr sz="850" b="1" i="0">
                <a:solidFill>
                  <a:srgbClr val="212529"/>
                </a:solidFill>
                <a:latin typeface="Calibri"/>
              </a:rPr>
              <a:t>Serverless (FaaS)</a:t>
            </a:r>
          </a:p>
        </p:txBody>
      </p:sp>
      <p:sp>
        <p:nvSpPr>
          <p:cNvPr id="63" name="Oval 62"/>
          <p:cNvSpPr/>
          <p:nvPr/>
        </p:nvSpPr>
        <p:spPr>
          <a:xfrm>
            <a:off x="2368296"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564891"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761488" y="3113532"/>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264408"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461003"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657600"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160520"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357116"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553712" y="3113532"/>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056632"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253228"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449824" y="3113532"/>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52744"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149340" y="3113532"/>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5936" y="3113532"/>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784848" y="2935224"/>
            <a:ext cx="1828800" cy="512064"/>
          </a:xfrm>
          <a:prstGeom prst="rect">
            <a:avLst/>
          </a:prstGeom>
          <a:noFill/>
        </p:spPr>
        <p:txBody>
          <a:bodyPr wrap="square" anchor="t" lIns="45720" rIns="45720" tIns="18288" bIns="18288">
            <a:spAutoFit/>
          </a:bodyPr>
          <a:lstStyle/>
          <a:p>
            <a:pPr algn="l">
              <a:lnSpc>
                <a:spcPct val="100000"/>
              </a:lnSpc>
            </a:pPr>
            <a:r>
              <a:rPr sz="800" b="1" i="0">
                <a:solidFill>
                  <a:srgbClr val="C92A2A"/>
                </a:solidFill>
                <a:latin typeface="Calibri"/>
              </a:rPr>
              <a:t>écarté</a:t>
            </a:r>
          </a:p>
          <a:p>
            <a:pPr algn="l">
              <a:lnSpc>
                <a:spcPct val="100000"/>
              </a:lnSpc>
            </a:pPr>
            <a:r>
              <a:rPr sz="700" b="0" i="0">
                <a:solidFill>
                  <a:srgbClr val="495057"/>
                </a:solidFill>
                <a:latin typeface="Calibri"/>
              </a:rPr>
              <a:t>incompatible avec le téléversement en flux</a:t>
            </a:r>
          </a:p>
        </p:txBody>
      </p:sp>
      <p:sp>
        <p:nvSpPr>
          <p:cNvPr id="79" name="Rectangle 78"/>
          <p:cNvSpPr/>
          <p:nvPr/>
        </p:nvSpPr>
        <p:spPr>
          <a:xfrm>
            <a:off x="457200" y="3493008"/>
            <a:ext cx="8229600" cy="603504"/>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8640" y="3493008"/>
            <a:ext cx="1609343" cy="603504"/>
          </a:xfrm>
          <a:prstGeom prst="rect">
            <a:avLst/>
          </a:prstGeom>
          <a:noFill/>
        </p:spPr>
        <p:txBody>
          <a:bodyPr wrap="square" anchor="ctr" lIns="45720" rIns="45720" tIns="18288" bIns="18288">
            <a:spAutoFit/>
          </a:bodyPr>
          <a:lstStyle/>
          <a:p>
            <a:pPr algn="l">
              <a:lnSpc>
                <a:spcPct val="95000"/>
              </a:lnSpc>
            </a:pPr>
            <a:r>
              <a:rPr sz="850" b="1" i="0">
                <a:solidFill>
                  <a:srgbClr val="212529"/>
                </a:solidFill>
                <a:latin typeface="Calibri"/>
              </a:rPr>
              <a:t>Orienté événements</a:t>
            </a:r>
          </a:p>
        </p:txBody>
      </p:sp>
      <p:sp>
        <p:nvSpPr>
          <p:cNvPr id="81" name="Oval 80"/>
          <p:cNvSpPr/>
          <p:nvPr/>
        </p:nvSpPr>
        <p:spPr>
          <a:xfrm>
            <a:off x="2368296"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2564891"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761488"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3264408"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461003"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657600"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160520"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357116"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4553712" y="3717036"/>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056632"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253228"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5449824" y="3717036"/>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5952744"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6149340" y="3717036"/>
            <a:ext cx="155448" cy="155448"/>
          </a:xfrm>
          <a:prstGeom prst="ellipse">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345936" y="3717036"/>
            <a:ext cx="155448" cy="155448"/>
          </a:xfrm>
          <a:prstGeom prst="ellipse">
            <a:avLst/>
          </a:prstGeom>
          <a:solidFill>
            <a:srgbClr val="FFFFFF"/>
          </a:solidFill>
          <a:ln w="9525">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6784848" y="3538728"/>
            <a:ext cx="1828800" cy="512064"/>
          </a:xfrm>
          <a:prstGeom prst="rect">
            <a:avLst/>
          </a:prstGeom>
          <a:noFill/>
        </p:spPr>
        <p:txBody>
          <a:bodyPr wrap="square" anchor="t" lIns="45720" rIns="45720" tIns="18288" bIns="18288">
            <a:spAutoFit/>
          </a:bodyPr>
          <a:lstStyle/>
          <a:p>
            <a:pPr algn="l">
              <a:lnSpc>
                <a:spcPct val="100000"/>
              </a:lnSpc>
            </a:pPr>
            <a:r>
              <a:rPr sz="800" b="1" i="0">
                <a:solidFill>
                  <a:srgbClr val="96590A"/>
                </a:solidFill>
                <a:latin typeface="Calibri"/>
              </a:rPr>
              <a:t>en cible</a:t>
            </a:r>
          </a:p>
          <a:p>
            <a:pPr algn="l">
              <a:lnSpc>
                <a:spcPct val="100000"/>
              </a:lnSpc>
            </a:pPr>
            <a:r>
              <a:rPr sz="700" b="0" i="0">
                <a:solidFill>
                  <a:srgbClr val="495057"/>
                </a:solidFill>
                <a:latin typeface="Calibri"/>
              </a:rPr>
              <a:t>post-traitement des médias, étape suivante</a:t>
            </a:r>
          </a:p>
        </p:txBody>
      </p:sp>
      <p:sp>
        <p:nvSpPr>
          <p:cNvPr id="97" name="Rounded Rectangle 96"/>
          <p:cNvSpPr/>
          <p:nvPr/>
        </p:nvSpPr>
        <p:spPr>
          <a:xfrm>
            <a:off x="457200" y="4224528"/>
            <a:ext cx="4023360" cy="51206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457200" y="4224528"/>
            <a:ext cx="64008" cy="512064"/>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40080" y="4224528"/>
            <a:ext cx="3794760" cy="512064"/>
          </a:xfrm>
          <a:prstGeom prst="rect">
            <a:avLst/>
          </a:prstGeom>
          <a:noFill/>
        </p:spPr>
        <p:txBody>
          <a:bodyPr wrap="square" anchor="ctr" lIns="45720" rIns="45720" tIns="18288" bIns="18288">
            <a:spAutoFit/>
          </a:bodyPr>
          <a:lstStyle/>
          <a:p>
            <a:pPr algn="l">
              <a:lnSpc>
                <a:spcPct val="100000"/>
              </a:lnSpc>
            </a:pPr>
            <a:r>
              <a:rPr sz="900" b="1" i="0">
                <a:solidFill>
                  <a:srgbClr val="1971C2"/>
                </a:solidFill>
                <a:latin typeface="Calibri"/>
              </a:rPr>
              <a:t>24 fiches de décision  </a:t>
            </a:r>
            <a:r>
              <a:rPr sz="850" b="0" i="0">
                <a:solidFill>
                  <a:srgbClr val="495057"/>
                </a:solidFill>
                <a:latin typeface="Calibri"/>
              </a:rPr>
              <a:t>contexte, alternatives, conséquences assumées</a:t>
            </a:r>
          </a:p>
        </p:txBody>
      </p:sp>
      <p:sp>
        <p:nvSpPr>
          <p:cNvPr id="100" name="Rounded Rectangle 99"/>
          <p:cNvSpPr/>
          <p:nvPr/>
        </p:nvSpPr>
        <p:spPr>
          <a:xfrm>
            <a:off x="4663440" y="4224528"/>
            <a:ext cx="4023360" cy="51206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4663440" y="4224528"/>
            <a:ext cx="64008" cy="51206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846320" y="4224528"/>
            <a:ext cx="3794760" cy="512064"/>
          </a:xfrm>
          <a:prstGeom prst="rect">
            <a:avLst/>
          </a:prstGeom>
          <a:noFill/>
        </p:spPr>
        <p:txBody>
          <a:bodyPr wrap="square" anchor="ctr" lIns="45720" rIns="45720" tIns="18288" bIns="18288">
            <a:spAutoFit/>
          </a:bodyPr>
          <a:lstStyle/>
          <a:p>
            <a:pPr algn="l">
              <a:lnSpc>
                <a:spcPct val="100000"/>
              </a:lnSpc>
            </a:pPr>
            <a:r>
              <a:rPr sz="900" b="1" i="0">
                <a:solidFill>
                  <a:srgbClr val="2B8A3E"/>
                </a:solidFill>
                <a:latin typeface="Calibri"/>
              </a:rPr>
              <a:t>7 préconisations chiffrées  </a:t>
            </a:r>
            <a:r>
              <a:rPr sz="850" b="0" i="0">
                <a:solidFill>
                  <a:srgbClr val="495057"/>
                </a:solidFill>
                <a:latin typeface="Calibri"/>
              </a:rPr>
              <a:t>29 j-h et 14 500 €, ordonnancées par le registre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6741D9"/>
                </a:solidFill>
                <a:latin typeface="Calibri"/>
              </a:rPr>
              <a:t>3 · GESTION DE PROJET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Besoins et priorisation</a:t>
            </a:r>
          </a:p>
        </p:txBody>
      </p:sp>
      <p:sp>
        <p:nvSpPr>
          <p:cNvPr id="11" name="Rectangle 10"/>
          <p:cNvSpPr/>
          <p:nvPr/>
        </p:nvSpPr>
        <p:spPr>
          <a:xfrm>
            <a:off x="475488" y="1069848"/>
            <a:ext cx="1051560" cy="4114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10 / 30</a:t>
            </a:r>
          </a:p>
        </p:txBody>
      </p:sp>
      <p:sp>
        <p:nvSpPr>
          <p:cNvPr id="13" name="Rounded Rectangle 12"/>
          <p:cNvSpPr/>
          <p:nvPr/>
        </p:nvSpPr>
        <p:spPr>
          <a:xfrm>
            <a:off x="457200" y="4818888"/>
            <a:ext cx="1124712" cy="228600"/>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C10 → C13</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11.2 · annexes W, X, G</a:t>
            </a:r>
          </a:p>
        </p:txBody>
      </p:sp>
      <p:sp>
        <p:nvSpPr>
          <p:cNvPr id="16" name="TextBox 15"/>
          <p:cNvSpPr txBox="1"/>
          <p:nvPr/>
        </p:nvSpPr>
        <p:spPr>
          <a:xfrm>
            <a:off x="457200" y="1225296"/>
            <a:ext cx="393192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PRIORISATION MoSCoW  ·  24 STORIES, 121 POINTS</a:t>
            </a:r>
          </a:p>
        </p:txBody>
      </p:sp>
      <p:sp>
        <p:nvSpPr>
          <p:cNvPr id="17" name="Rectangle 16"/>
          <p:cNvSpPr/>
          <p:nvPr/>
        </p:nvSpPr>
        <p:spPr>
          <a:xfrm>
            <a:off x="457200" y="1463040"/>
            <a:ext cx="3066897" cy="29260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24097" y="1463040"/>
            <a:ext cx="511149" cy="292608"/>
          </a:xfrm>
          <a:prstGeom prst="rect">
            <a:avLst/>
          </a:prstGeom>
          <a:solidFill>
            <a:srgbClr val="9C8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035247" y="1463040"/>
            <a:ext cx="353872" cy="292608"/>
          </a:xfrm>
          <a:prstGeom prst="rect">
            <a:avLst/>
          </a:prstGeom>
          <a:solidFill>
            <a:srgbClr val="C5B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7200" y="1463040"/>
            <a:ext cx="3931920" cy="292608"/>
          </a:xfrm>
          <a:prstGeom prst="roundRect">
            <a:avLst>
              <a:gd name="adj" fmla="val 50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1956816"/>
            <a:ext cx="164592" cy="164592"/>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1865376"/>
            <a:ext cx="914400" cy="347472"/>
          </a:xfrm>
          <a:prstGeom prst="rect">
            <a:avLst/>
          </a:prstGeom>
          <a:noFill/>
        </p:spPr>
        <p:txBody>
          <a:bodyPr wrap="square" anchor="ctr" lIns="45720" rIns="45720" tIns="18288" bIns="18288">
            <a:spAutoFit/>
          </a:bodyPr>
          <a:lstStyle/>
          <a:p>
            <a:pPr algn="l">
              <a:lnSpc>
                <a:spcPct val="100000"/>
              </a:lnSpc>
            </a:pPr>
            <a:r>
              <a:rPr sz="850" b="1" i="0">
                <a:solidFill>
                  <a:srgbClr val="212529"/>
                </a:solidFill>
                <a:latin typeface="Calibri"/>
              </a:rPr>
              <a:t>Must</a:t>
            </a:r>
          </a:p>
        </p:txBody>
      </p:sp>
      <p:sp>
        <p:nvSpPr>
          <p:cNvPr id="23" name="TextBox 22"/>
          <p:cNvSpPr txBox="1"/>
          <p:nvPr/>
        </p:nvSpPr>
        <p:spPr>
          <a:xfrm>
            <a:off x="1591056" y="1865376"/>
            <a:ext cx="1481328" cy="347472"/>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17 stories · 94 pts</a:t>
            </a:r>
          </a:p>
        </p:txBody>
      </p:sp>
      <p:sp>
        <p:nvSpPr>
          <p:cNvPr id="24" name="TextBox 23"/>
          <p:cNvSpPr txBox="1"/>
          <p:nvPr/>
        </p:nvSpPr>
        <p:spPr>
          <a:xfrm>
            <a:off x="3054096" y="1865376"/>
            <a:ext cx="475488" cy="347472"/>
          </a:xfrm>
          <a:prstGeom prst="rect">
            <a:avLst/>
          </a:prstGeom>
          <a:noFill/>
        </p:spPr>
        <p:txBody>
          <a:bodyPr wrap="square" anchor="ctr" lIns="45720" rIns="45720" tIns="18288" bIns="18288">
            <a:spAutoFit/>
          </a:bodyPr>
          <a:lstStyle/>
          <a:p>
            <a:pPr algn="r">
              <a:lnSpc>
                <a:spcPct val="100000"/>
              </a:lnSpc>
            </a:pPr>
            <a:r>
              <a:rPr sz="850" b="1" i="0">
                <a:solidFill>
                  <a:srgbClr val="6741D9"/>
                </a:solidFill>
                <a:latin typeface="Calibri"/>
              </a:rPr>
              <a:t>78 %</a:t>
            </a:r>
          </a:p>
        </p:txBody>
      </p:sp>
      <p:sp>
        <p:nvSpPr>
          <p:cNvPr id="25" name="TextBox 24"/>
          <p:cNvSpPr txBox="1"/>
          <p:nvPr/>
        </p:nvSpPr>
        <p:spPr>
          <a:xfrm>
            <a:off x="3602736" y="1865376"/>
            <a:ext cx="822960" cy="347472"/>
          </a:xfrm>
          <a:prstGeom prst="rect">
            <a:avLst/>
          </a:prstGeom>
          <a:noFill/>
        </p:spPr>
        <p:txBody>
          <a:bodyPr wrap="square" anchor="ctr" lIns="45720" rIns="45720" tIns="18288" bIns="18288">
            <a:spAutoFit/>
          </a:bodyPr>
          <a:lstStyle/>
          <a:p>
            <a:pPr algn="l">
              <a:lnSpc>
                <a:spcPct val="95000"/>
              </a:lnSpc>
            </a:pPr>
            <a:r>
              <a:rPr sz="700" b="0" i="0">
                <a:solidFill>
                  <a:srgbClr val="868E96"/>
                </a:solidFill>
                <a:latin typeface="Calibri"/>
              </a:rPr>
              <a:t>non négociable</a:t>
            </a:r>
          </a:p>
        </p:txBody>
      </p:sp>
      <p:sp>
        <p:nvSpPr>
          <p:cNvPr id="26" name="Rectangle 25"/>
          <p:cNvSpPr/>
          <p:nvPr/>
        </p:nvSpPr>
        <p:spPr>
          <a:xfrm>
            <a:off x="457200" y="2359152"/>
            <a:ext cx="164592" cy="164592"/>
          </a:xfrm>
          <a:prstGeom prst="rect">
            <a:avLst/>
          </a:prstGeom>
          <a:solidFill>
            <a:srgbClr val="9C8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 y="2267712"/>
            <a:ext cx="914400" cy="347472"/>
          </a:xfrm>
          <a:prstGeom prst="rect">
            <a:avLst/>
          </a:prstGeom>
          <a:noFill/>
        </p:spPr>
        <p:txBody>
          <a:bodyPr wrap="square" anchor="ctr" lIns="45720" rIns="45720" tIns="18288" bIns="18288">
            <a:spAutoFit/>
          </a:bodyPr>
          <a:lstStyle/>
          <a:p>
            <a:pPr algn="l">
              <a:lnSpc>
                <a:spcPct val="100000"/>
              </a:lnSpc>
            </a:pPr>
            <a:r>
              <a:rPr sz="850" b="1" i="0">
                <a:solidFill>
                  <a:srgbClr val="212529"/>
                </a:solidFill>
                <a:latin typeface="Calibri"/>
              </a:rPr>
              <a:t>Should</a:t>
            </a:r>
          </a:p>
        </p:txBody>
      </p:sp>
      <p:sp>
        <p:nvSpPr>
          <p:cNvPr id="28" name="TextBox 27"/>
          <p:cNvSpPr txBox="1"/>
          <p:nvPr/>
        </p:nvSpPr>
        <p:spPr>
          <a:xfrm>
            <a:off x="1591056" y="2267712"/>
            <a:ext cx="1481328" cy="347472"/>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4 stories · 16 pts</a:t>
            </a:r>
          </a:p>
        </p:txBody>
      </p:sp>
      <p:sp>
        <p:nvSpPr>
          <p:cNvPr id="29" name="TextBox 28"/>
          <p:cNvSpPr txBox="1"/>
          <p:nvPr/>
        </p:nvSpPr>
        <p:spPr>
          <a:xfrm>
            <a:off x="3054096" y="2267712"/>
            <a:ext cx="475488" cy="347472"/>
          </a:xfrm>
          <a:prstGeom prst="rect">
            <a:avLst/>
          </a:prstGeom>
          <a:noFill/>
        </p:spPr>
        <p:txBody>
          <a:bodyPr wrap="square" anchor="ctr" lIns="45720" rIns="45720" tIns="18288" bIns="18288">
            <a:spAutoFit/>
          </a:bodyPr>
          <a:lstStyle/>
          <a:p>
            <a:pPr algn="r">
              <a:lnSpc>
                <a:spcPct val="100000"/>
              </a:lnSpc>
            </a:pPr>
            <a:r>
              <a:rPr sz="850" b="1" i="0">
                <a:solidFill>
                  <a:srgbClr val="6741D9"/>
                </a:solidFill>
                <a:latin typeface="Calibri"/>
              </a:rPr>
              <a:t>13 %</a:t>
            </a:r>
          </a:p>
        </p:txBody>
      </p:sp>
      <p:sp>
        <p:nvSpPr>
          <p:cNvPr id="30" name="TextBox 29"/>
          <p:cNvSpPr txBox="1"/>
          <p:nvPr/>
        </p:nvSpPr>
        <p:spPr>
          <a:xfrm>
            <a:off x="3602736" y="2267712"/>
            <a:ext cx="822960" cy="347472"/>
          </a:xfrm>
          <a:prstGeom prst="rect">
            <a:avLst/>
          </a:prstGeom>
          <a:noFill/>
        </p:spPr>
        <p:txBody>
          <a:bodyPr wrap="square" anchor="ctr" lIns="45720" rIns="45720" tIns="18288" bIns="18288">
            <a:spAutoFit/>
          </a:bodyPr>
          <a:lstStyle/>
          <a:p>
            <a:pPr algn="l">
              <a:lnSpc>
                <a:spcPct val="95000"/>
              </a:lnSpc>
            </a:pPr>
            <a:r>
              <a:rPr sz="700" b="0" i="0">
                <a:solidFill>
                  <a:srgbClr val="868E96"/>
                </a:solidFill>
                <a:latin typeface="Calibri"/>
              </a:rPr>
              <a:t>reportée si tension</a:t>
            </a:r>
          </a:p>
        </p:txBody>
      </p:sp>
      <p:sp>
        <p:nvSpPr>
          <p:cNvPr id="31" name="Rectangle 30"/>
          <p:cNvSpPr/>
          <p:nvPr/>
        </p:nvSpPr>
        <p:spPr>
          <a:xfrm>
            <a:off x="457200" y="2761488"/>
            <a:ext cx="164592" cy="164592"/>
          </a:xfrm>
          <a:prstGeom prst="rect">
            <a:avLst/>
          </a:prstGeom>
          <a:solidFill>
            <a:srgbClr val="C5B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 y="2670048"/>
            <a:ext cx="914400" cy="347472"/>
          </a:xfrm>
          <a:prstGeom prst="rect">
            <a:avLst/>
          </a:prstGeom>
          <a:noFill/>
        </p:spPr>
        <p:txBody>
          <a:bodyPr wrap="square" anchor="ctr" lIns="45720" rIns="45720" tIns="18288" bIns="18288">
            <a:spAutoFit/>
          </a:bodyPr>
          <a:lstStyle/>
          <a:p>
            <a:pPr algn="l">
              <a:lnSpc>
                <a:spcPct val="100000"/>
              </a:lnSpc>
            </a:pPr>
            <a:r>
              <a:rPr sz="850" b="1" i="0">
                <a:solidFill>
                  <a:srgbClr val="212529"/>
                </a:solidFill>
                <a:latin typeface="Calibri"/>
              </a:rPr>
              <a:t>Could</a:t>
            </a:r>
          </a:p>
        </p:txBody>
      </p:sp>
      <p:sp>
        <p:nvSpPr>
          <p:cNvPr id="33" name="TextBox 32"/>
          <p:cNvSpPr txBox="1"/>
          <p:nvPr/>
        </p:nvSpPr>
        <p:spPr>
          <a:xfrm>
            <a:off x="1591056" y="2670048"/>
            <a:ext cx="1481328" cy="347472"/>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3 stories · 11 pts</a:t>
            </a:r>
          </a:p>
        </p:txBody>
      </p:sp>
      <p:sp>
        <p:nvSpPr>
          <p:cNvPr id="34" name="TextBox 33"/>
          <p:cNvSpPr txBox="1"/>
          <p:nvPr/>
        </p:nvSpPr>
        <p:spPr>
          <a:xfrm>
            <a:off x="3054096" y="2670048"/>
            <a:ext cx="475488" cy="347472"/>
          </a:xfrm>
          <a:prstGeom prst="rect">
            <a:avLst/>
          </a:prstGeom>
          <a:noFill/>
        </p:spPr>
        <p:txBody>
          <a:bodyPr wrap="square" anchor="ctr" lIns="45720" rIns="45720" tIns="18288" bIns="18288">
            <a:spAutoFit/>
          </a:bodyPr>
          <a:lstStyle/>
          <a:p>
            <a:pPr algn="r">
              <a:lnSpc>
                <a:spcPct val="100000"/>
              </a:lnSpc>
            </a:pPr>
            <a:r>
              <a:rPr sz="850" b="1" i="0">
                <a:solidFill>
                  <a:srgbClr val="6741D9"/>
                </a:solidFill>
                <a:latin typeface="Calibri"/>
              </a:rPr>
              <a:t>9 %</a:t>
            </a:r>
          </a:p>
        </p:txBody>
      </p:sp>
      <p:sp>
        <p:nvSpPr>
          <p:cNvPr id="35" name="TextBox 34"/>
          <p:cNvSpPr txBox="1"/>
          <p:nvPr/>
        </p:nvSpPr>
        <p:spPr>
          <a:xfrm>
            <a:off x="3602736" y="2670048"/>
            <a:ext cx="822960" cy="347472"/>
          </a:xfrm>
          <a:prstGeom prst="rect">
            <a:avLst/>
          </a:prstGeom>
          <a:noFill/>
        </p:spPr>
        <p:txBody>
          <a:bodyPr wrap="square" anchor="ctr" lIns="45720" rIns="45720" tIns="18288" bIns="18288">
            <a:spAutoFit/>
          </a:bodyPr>
          <a:lstStyle/>
          <a:p>
            <a:pPr algn="l">
              <a:lnSpc>
                <a:spcPct val="95000"/>
              </a:lnSpc>
            </a:pPr>
            <a:r>
              <a:rPr sz="700" b="0" i="0">
                <a:solidFill>
                  <a:srgbClr val="868E96"/>
                </a:solidFill>
                <a:latin typeface="Calibri"/>
              </a:rPr>
              <a:t>abandonnée sans arbitrage</a:t>
            </a:r>
          </a:p>
        </p:txBody>
      </p:sp>
      <p:sp>
        <p:nvSpPr>
          <p:cNvPr id="36" name="Rectangle 35"/>
          <p:cNvSpPr/>
          <p:nvPr/>
        </p:nvSpPr>
        <p:spPr>
          <a:xfrm>
            <a:off x="457200" y="3163824"/>
            <a:ext cx="164592" cy="164592"/>
          </a:xfrm>
          <a:prstGeom prst="rect">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 y="3072384"/>
            <a:ext cx="914400" cy="347472"/>
          </a:xfrm>
          <a:prstGeom prst="rect">
            <a:avLst/>
          </a:prstGeom>
          <a:noFill/>
        </p:spPr>
        <p:txBody>
          <a:bodyPr wrap="square" anchor="ctr" lIns="45720" rIns="45720" tIns="18288" bIns="18288">
            <a:spAutoFit/>
          </a:bodyPr>
          <a:lstStyle/>
          <a:p>
            <a:pPr algn="l">
              <a:lnSpc>
                <a:spcPct val="100000"/>
              </a:lnSpc>
            </a:pPr>
            <a:r>
              <a:rPr sz="850" b="1" i="0">
                <a:solidFill>
                  <a:srgbClr val="212529"/>
                </a:solidFill>
                <a:latin typeface="Calibri"/>
              </a:rPr>
              <a:t>Won’t</a:t>
            </a:r>
          </a:p>
        </p:txBody>
      </p:sp>
      <p:sp>
        <p:nvSpPr>
          <p:cNvPr id="38" name="TextBox 37"/>
          <p:cNvSpPr txBox="1"/>
          <p:nvPr/>
        </p:nvSpPr>
        <p:spPr>
          <a:xfrm>
            <a:off x="1591056" y="3072384"/>
            <a:ext cx="1481328" cy="347472"/>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2 stories, hors périmètre</a:t>
            </a:r>
          </a:p>
        </p:txBody>
      </p:sp>
      <p:sp>
        <p:nvSpPr>
          <p:cNvPr id="39" name="TextBox 38"/>
          <p:cNvSpPr txBox="1"/>
          <p:nvPr/>
        </p:nvSpPr>
        <p:spPr>
          <a:xfrm>
            <a:off x="3054096" y="3072384"/>
            <a:ext cx="475488" cy="347472"/>
          </a:xfrm>
          <a:prstGeom prst="rect">
            <a:avLst/>
          </a:prstGeom>
          <a:noFill/>
        </p:spPr>
        <p:txBody>
          <a:bodyPr wrap="square" anchor="ctr" lIns="45720" rIns="45720" tIns="18288" bIns="18288">
            <a:spAutoFit/>
          </a:bodyPr>
          <a:lstStyle/>
          <a:p>
            <a:pPr algn="r">
              <a:lnSpc>
                <a:spcPct val="100000"/>
              </a:lnSpc>
            </a:pPr>
            <a:r>
              <a:rPr sz="850" b="1" i="0">
                <a:solidFill>
                  <a:srgbClr val="6741D9"/>
                </a:solidFill>
                <a:latin typeface="Calibri"/>
              </a:rPr>
              <a:t/>
            </a:r>
          </a:p>
        </p:txBody>
      </p:sp>
      <p:sp>
        <p:nvSpPr>
          <p:cNvPr id="40" name="TextBox 39"/>
          <p:cNvSpPr txBox="1"/>
          <p:nvPr/>
        </p:nvSpPr>
        <p:spPr>
          <a:xfrm>
            <a:off x="3602736" y="3072384"/>
            <a:ext cx="822960" cy="347472"/>
          </a:xfrm>
          <a:prstGeom prst="rect">
            <a:avLst/>
          </a:prstGeom>
          <a:noFill/>
        </p:spPr>
        <p:txBody>
          <a:bodyPr wrap="square" anchor="ctr" lIns="45720" rIns="45720" tIns="18288" bIns="18288">
            <a:spAutoFit/>
          </a:bodyPr>
          <a:lstStyle/>
          <a:p>
            <a:pPr algn="l">
              <a:lnSpc>
                <a:spcPct val="95000"/>
              </a:lnSpc>
            </a:pPr>
            <a:r>
              <a:rPr sz="700" b="0" i="0">
                <a:solidFill>
                  <a:srgbClr val="868E96"/>
                </a:solidFill>
                <a:latin typeface="Calibri"/>
              </a:rPr>
              <a:t>au plan d’amélioration</a:t>
            </a:r>
          </a:p>
        </p:txBody>
      </p:sp>
      <p:sp>
        <p:nvSpPr>
          <p:cNvPr id="41" name="TextBox 40"/>
          <p:cNvSpPr txBox="1"/>
          <p:nvPr/>
        </p:nvSpPr>
        <p:spPr>
          <a:xfrm>
            <a:off x="457200" y="3529584"/>
            <a:ext cx="3931920" cy="219456"/>
          </a:xfrm>
          <a:prstGeom prst="rect">
            <a:avLst/>
          </a:prstGeom>
          <a:noFill/>
        </p:spPr>
        <p:txBody>
          <a:bodyPr wrap="square" anchor="t" lIns="45720" rIns="45720" tIns="18288" bIns="18288">
            <a:spAutoFit/>
          </a:bodyPr>
          <a:lstStyle/>
          <a:p>
            <a:pPr algn="l">
              <a:lnSpc>
                <a:spcPct val="100000"/>
              </a:lnSpc>
            </a:pPr>
            <a:r>
              <a:rPr sz="850" b="1" i="0">
                <a:solidFill>
                  <a:srgbClr val="212529"/>
                </a:solidFill>
                <a:latin typeface="Calibri"/>
              </a:rPr>
              <a:t>78 % de Must, le périmètre était déjà réduit à son noyau.</a:t>
            </a:r>
          </a:p>
        </p:txBody>
      </p:sp>
      <p:sp>
        <p:nvSpPr>
          <p:cNvPr id="42" name="TextBox 41"/>
          <p:cNvSpPr txBox="1"/>
          <p:nvPr/>
        </p:nvSpPr>
        <p:spPr>
          <a:xfrm>
            <a:off x="4709160" y="1225296"/>
            <a:ext cx="3977639"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CROISEMENT VALEUR × EFFORT</a:t>
            </a:r>
          </a:p>
        </p:txBody>
      </p:sp>
      <p:sp>
        <p:nvSpPr>
          <p:cNvPr id="43" name="Rectangle 42"/>
          <p:cNvSpPr/>
          <p:nvPr/>
        </p:nvSpPr>
        <p:spPr>
          <a:xfrm>
            <a:off x="5577840" y="1463040"/>
            <a:ext cx="1005840" cy="566928"/>
          </a:xfrm>
          <a:prstGeom prst="rect">
            <a:avLst/>
          </a:prstGeom>
          <a:solidFill>
            <a:srgbClr val="DBD1F6"/>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77840" y="1463040"/>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6741D9"/>
                </a:solidFill>
                <a:latin typeface="Calibri"/>
              </a:rPr>
              <a:t>3</a:t>
            </a:r>
          </a:p>
        </p:txBody>
      </p:sp>
      <p:sp>
        <p:nvSpPr>
          <p:cNvPr id="45" name="Rectangle 44"/>
          <p:cNvSpPr/>
          <p:nvPr/>
        </p:nvSpPr>
        <p:spPr>
          <a:xfrm>
            <a:off x="6583679" y="1463040"/>
            <a:ext cx="1005840" cy="566928"/>
          </a:xfrm>
          <a:prstGeom prst="rect">
            <a:avLst/>
          </a:prstGeom>
          <a:solidFill>
            <a:srgbClr val="E1D9F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79" y="1463040"/>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6741D9"/>
                </a:solidFill>
                <a:latin typeface="Calibri"/>
              </a:rPr>
              <a:t>5</a:t>
            </a:r>
          </a:p>
        </p:txBody>
      </p:sp>
      <p:sp>
        <p:nvSpPr>
          <p:cNvPr id="47" name="Rectangle 46"/>
          <p:cNvSpPr/>
          <p:nvPr/>
        </p:nvSpPr>
        <p:spPr>
          <a:xfrm>
            <a:off x="7589520" y="1463040"/>
            <a:ext cx="1005840" cy="566928"/>
          </a:xfrm>
          <a:prstGeom prst="rect">
            <a:avLst/>
          </a:prstGeom>
          <a:solidFill>
            <a:srgbClr val="E7E1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0" y="1463040"/>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6741D9"/>
                </a:solidFill>
                <a:latin typeface="Calibri"/>
              </a:rPr>
              <a:t>6</a:t>
            </a:r>
          </a:p>
        </p:txBody>
      </p:sp>
      <p:sp>
        <p:nvSpPr>
          <p:cNvPr id="49" name="TextBox 48"/>
          <p:cNvSpPr txBox="1"/>
          <p:nvPr/>
        </p:nvSpPr>
        <p:spPr>
          <a:xfrm>
            <a:off x="4846320" y="1463040"/>
            <a:ext cx="676656" cy="566928"/>
          </a:xfrm>
          <a:prstGeom prst="rect">
            <a:avLst/>
          </a:prstGeom>
          <a:noFill/>
        </p:spPr>
        <p:txBody>
          <a:bodyPr wrap="square" anchor="ctr" lIns="45720" rIns="45720" tIns="18288" bIns="18288">
            <a:spAutoFit/>
          </a:bodyPr>
          <a:lstStyle/>
          <a:p>
            <a:pPr algn="r">
              <a:lnSpc>
                <a:spcPct val="100000"/>
              </a:lnSpc>
            </a:pPr>
            <a:r>
              <a:rPr sz="750" b="1" i="0">
                <a:solidFill>
                  <a:srgbClr val="868E96"/>
                </a:solidFill>
                <a:latin typeface="Calibri"/>
              </a:rPr>
              <a:t>forte</a:t>
            </a:r>
          </a:p>
        </p:txBody>
      </p:sp>
      <p:sp>
        <p:nvSpPr>
          <p:cNvPr id="50" name="Rectangle 49"/>
          <p:cNvSpPr/>
          <p:nvPr/>
        </p:nvSpPr>
        <p:spPr>
          <a:xfrm>
            <a:off x="5577840" y="2029968"/>
            <a:ext cx="1005840" cy="566928"/>
          </a:xfrm>
          <a:prstGeom prst="rect">
            <a:avLst/>
          </a:prstGeom>
          <a:solidFill>
            <a:srgbClr val="E8E2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77840" y="2029968"/>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6741D9"/>
                </a:solidFill>
                <a:latin typeface="Calibri"/>
              </a:rPr>
              <a:t>5</a:t>
            </a:r>
          </a:p>
        </p:txBody>
      </p:sp>
      <p:sp>
        <p:nvSpPr>
          <p:cNvPr id="52" name="Rectangle 51"/>
          <p:cNvSpPr/>
          <p:nvPr/>
        </p:nvSpPr>
        <p:spPr>
          <a:xfrm>
            <a:off x="6583679" y="2029968"/>
            <a:ext cx="1005840" cy="566928"/>
          </a:xfrm>
          <a:prstGeom prst="rect">
            <a:avLst/>
          </a:prstGeom>
          <a:solidFill>
            <a:srgbClr val="EEEAF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583679" y="2029968"/>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6741D9"/>
                </a:solidFill>
                <a:latin typeface="Calibri"/>
              </a:rPr>
              <a:t>4</a:t>
            </a:r>
          </a:p>
        </p:txBody>
      </p:sp>
      <p:sp>
        <p:nvSpPr>
          <p:cNvPr id="54" name="Rectangle 53"/>
          <p:cNvSpPr/>
          <p:nvPr/>
        </p:nvSpPr>
        <p:spPr>
          <a:xfrm>
            <a:off x="7589520" y="2029968"/>
            <a:ext cx="1005840" cy="566928"/>
          </a:xfrm>
          <a:prstGeom prst="rect">
            <a:avLst/>
          </a:prstGeom>
          <a:solidFill>
            <a:srgbClr val="F8F9F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46320" y="2029968"/>
            <a:ext cx="676656" cy="566928"/>
          </a:xfrm>
          <a:prstGeom prst="rect">
            <a:avLst/>
          </a:prstGeom>
          <a:noFill/>
        </p:spPr>
        <p:txBody>
          <a:bodyPr wrap="square" anchor="ctr" lIns="45720" rIns="45720" tIns="18288" bIns="18288">
            <a:spAutoFit/>
          </a:bodyPr>
          <a:lstStyle/>
          <a:p>
            <a:pPr algn="r">
              <a:lnSpc>
                <a:spcPct val="100000"/>
              </a:lnSpc>
            </a:pPr>
            <a:r>
              <a:rPr sz="750" b="1" i="0">
                <a:solidFill>
                  <a:srgbClr val="868E96"/>
                </a:solidFill>
                <a:latin typeface="Calibri"/>
              </a:rPr>
              <a:t>moyenne</a:t>
            </a:r>
          </a:p>
        </p:txBody>
      </p:sp>
      <p:sp>
        <p:nvSpPr>
          <p:cNvPr id="56" name="Rectangle 55"/>
          <p:cNvSpPr/>
          <p:nvPr/>
        </p:nvSpPr>
        <p:spPr>
          <a:xfrm>
            <a:off x="5577840" y="2596896"/>
            <a:ext cx="1005840" cy="566928"/>
          </a:xfrm>
          <a:prstGeom prst="rect">
            <a:avLst/>
          </a:prstGeom>
          <a:solidFill>
            <a:srgbClr val="F8F9F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583679" y="2596896"/>
            <a:ext cx="1005840" cy="566928"/>
          </a:xfrm>
          <a:prstGeom prst="rect">
            <a:avLst/>
          </a:prstGeom>
          <a:solidFill>
            <a:srgbClr val="F8F9F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589520" y="2596896"/>
            <a:ext cx="1005840" cy="566928"/>
          </a:xfrm>
          <a:prstGeom prst="rect">
            <a:avLst/>
          </a:prstGeom>
          <a:solidFill>
            <a:srgbClr val="FFFFFF"/>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589520" y="2596896"/>
            <a:ext cx="1005840" cy="566928"/>
          </a:xfrm>
          <a:prstGeom prst="rect">
            <a:avLst/>
          </a:prstGeom>
          <a:noFill/>
        </p:spPr>
        <p:txBody>
          <a:bodyPr wrap="square" anchor="ctr" lIns="45720" rIns="45720" tIns="18288" bIns="18288">
            <a:spAutoFit/>
          </a:bodyPr>
          <a:lstStyle/>
          <a:p>
            <a:pPr algn="ctr">
              <a:lnSpc>
                <a:spcPct val="98000"/>
              </a:lnSpc>
            </a:pPr>
            <a:r>
              <a:rPr sz="1300" b="1" i="0">
                <a:solidFill>
                  <a:srgbClr val="868E96"/>
                </a:solidFill>
                <a:latin typeface="Calibri"/>
              </a:rPr>
              <a:t>2</a:t>
            </a:r>
          </a:p>
        </p:txBody>
      </p:sp>
      <p:sp>
        <p:nvSpPr>
          <p:cNvPr id="60" name="TextBox 59"/>
          <p:cNvSpPr txBox="1"/>
          <p:nvPr/>
        </p:nvSpPr>
        <p:spPr>
          <a:xfrm>
            <a:off x="4846320" y="2596896"/>
            <a:ext cx="676656" cy="566928"/>
          </a:xfrm>
          <a:prstGeom prst="rect">
            <a:avLst/>
          </a:prstGeom>
          <a:noFill/>
        </p:spPr>
        <p:txBody>
          <a:bodyPr wrap="square" anchor="ctr" lIns="45720" rIns="45720" tIns="18288" bIns="18288">
            <a:spAutoFit/>
          </a:bodyPr>
          <a:lstStyle/>
          <a:p>
            <a:pPr algn="r">
              <a:lnSpc>
                <a:spcPct val="100000"/>
              </a:lnSpc>
            </a:pPr>
            <a:r>
              <a:rPr sz="750" b="1" i="0">
                <a:solidFill>
                  <a:srgbClr val="868E96"/>
                </a:solidFill>
                <a:latin typeface="Calibri"/>
              </a:rPr>
              <a:t>faible</a:t>
            </a:r>
          </a:p>
        </p:txBody>
      </p:sp>
      <p:sp>
        <p:nvSpPr>
          <p:cNvPr id="61" name="TextBox 60"/>
          <p:cNvSpPr txBox="1"/>
          <p:nvPr/>
        </p:nvSpPr>
        <p:spPr>
          <a:xfrm>
            <a:off x="5577840" y="3200400"/>
            <a:ext cx="1005840" cy="182880"/>
          </a:xfrm>
          <a:prstGeom prst="rect">
            <a:avLst/>
          </a:prstGeom>
          <a:noFill/>
        </p:spPr>
        <p:txBody>
          <a:bodyPr wrap="square" anchor="t" lIns="45720" rIns="45720" tIns="18288" bIns="18288">
            <a:spAutoFit/>
          </a:bodyPr>
          <a:lstStyle/>
          <a:p>
            <a:pPr algn="ctr">
              <a:lnSpc>
                <a:spcPct val="100000"/>
              </a:lnSpc>
            </a:pPr>
            <a:r>
              <a:rPr sz="700" b="1" i="0">
                <a:solidFill>
                  <a:srgbClr val="868E96"/>
                </a:solidFill>
                <a:latin typeface="Calibri"/>
              </a:rPr>
              <a:t>faible</a:t>
            </a:r>
          </a:p>
        </p:txBody>
      </p:sp>
      <p:sp>
        <p:nvSpPr>
          <p:cNvPr id="62" name="TextBox 61"/>
          <p:cNvSpPr txBox="1"/>
          <p:nvPr/>
        </p:nvSpPr>
        <p:spPr>
          <a:xfrm>
            <a:off x="6583679" y="3200400"/>
            <a:ext cx="1005840" cy="182880"/>
          </a:xfrm>
          <a:prstGeom prst="rect">
            <a:avLst/>
          </a:prstGeom>
          <a:noFill/>
        </p:spPr>
        <p:txBody>
          <a:bodyPr wrap="square" anchor="t" lIns="45720" rIns="45720" tIns="18288" bIns="18288">
            <a:spAutoFit/>
          </a:bodyPr>
          <a:lstStyle/>
          <a:p>
            <a:pPr algn="ctr">
              <a:lnSpc>
                <a:spcPct val="100000"/>
              </a:lnSpc>
            </a:pPr>
            <a:r>
              <a:rPr sz="700" b="1" i="0">
                <a:solidFill>
                  <a:srgbClr val="868E96"/>
                </a:solidFill>
                <a:latin typeface="Calibri"/>
              </a:rPr>
              <a:t>moyen</a:t>
            </a:r>
          </a:p>
        </p:txBody>
      </p:sp>
      <p:sp>
        <p:nvSpPr>
          <p:cNvPr id="63" name="TextBox 62"/>
          <p:cNvSpPr txBox="1"/>
          <p:nvPr/>
        </p:nvSpPr>
        <p:spPr>
          <a:xfrm>
            <a:off x="7589520" y="3200400"/>
            <a:ext cx="1005840" cy="182880"/>
          </a:xfrm>
          <a:prstGeom prst="rect">
            <a:avLst/>
          </a:prstGeom>
          <a:noFill/>
        </p:spPr>
        <p:txBody>
          <a:bodyPr wrap="square" anchor="t" lIns="45720" rIns="45720" tIns="18288" bIns="18288">
            <a:spAutoFit/>
          </a:bodyPr>
          <a:lstStyle/>
          <a:p>
            <a:pPr algn="ctr">
              <a:lnSpc>
                <a:spcPct val="100000"/>
              </a:lnSpc>
            </a:pPr>
            <a:r>
              <a:rPr sz="700" b="1" i="0">
                <a:solidFill>
                  <a:srgbClr val="868E96"/>
                </a:solidFill>
                <a:latin typeface="Calibri"/>
              </a:rPr>
              <a:t>élevé</a:t>
            </a:r>
          </a:p>
        </p:txBody>
      </p:sp>
      <p:sp>
        <p:nvSpPr>
          <p:cNvPr id="64" name="TextBox 63"/>
          <p:cNvSpPr txBox="1"/>
          <p:nvPr/>
        </p:nvSpPr>
        <p:spPr>
          <a:xfrm>
            <a:off x="4709160" y="3200400"/>
            <a:ext cx="731520" cy="182880"/>
          </a:xfrm>
          <a:prstGeom prst="rect">
            <a:avLst/>
          </a:prstGeom>
          <a:noFill/>
        </p:spPr>
        <p:txBody>
          <a:bodyPr wrap="square" anchor="t" lIns="45720" rIns="45720" tIns="18288" bIns="18288">
            <a:spAutoFit/>
          </a:bodyPr>
          <a:lstStyle/>
          <a:p>
            <a:pPr algn="r">
              <a:lnSpc>
                <a:spcPct val="100000"/>
              </a:lnSpc>
            </a:pPr>
            <a:r>
              <a:rPr sz="700" b="1" i="0">
                <a:solidFill>
                  <a:srgbClr val="868E96"/>
                </a:solidFill>
                <a:latin typeface="Calibri"/>
              </a:rPr>
              <a:t>VALEUR</a:t>
            </a:r>
          </a:p>
        </p:txBody>
      </p:sp>
      <p:sp>
        <p:nvSpPr>
          <p:cNvPr id="65" name="TextBox 64"/>
          <p:cNvSpPr txBox="1"/>
          <p:nvPr/>
        </p:nvSpPr>
        <p:spPr>
          <a:xfrm>
            <a:off x="5577840" y="3383280"/>
            <a:ext cx="3017520" cy="182880"/>
          </a:xfrm>
          <a:prstGeom prst="rect">
            <a:avLst/>
          </a:prstGeom>
          <a:noFill/>
        </p:spPr>
        <p:txBody>
          <a:bodyPr wrap="square" anchor="t" lIns="45720" rIns="45720" tIns="18288" bIns="18288">
            <a:spAutoFit/>
          </a:bodyPr>
          <a:lstStyle/>
          <a:p>
            <a:pPr algn="ctr">
              <a:lnSpc>
                <a:spcPct val="100000"/>
              </a:lnSpc>
            </a:pPr>
            <a:r>
              <a:rPr sz="700" b="1" i="0">
                <a:solidFill>
                  <a:srgbClr val="868E96"/>
                </a:solidFill>
                <a:latin typeface="Calibri"/>
              </a:rPr>
              <a:t>EFFORT ESTIMÉ  →</a:t>
            </a:r>
          </a:p>
        </p:txBody>
      </p:sp>
      <p:sp>
        <p:nvSpPr>
          <p:cNvPr id="66" name="Rounded Rectangle 65"/>
          <p:cNvSpPr/>
          <p:nvPr/>
        </p:nvSpPr>
        <p:spPr>
          <a:xfrm>
            <a:off x="5504688" y="1389888"/>
            <a:ext cx="1152144" cy="713232"/>
          </a:xfrm>
          <a:prstGeom prst="roundRect">
            <a:avLst>
              <a:gd name="adj" fmla="val 8000"/>
            </a:avLst>
          </a:prstGeom>
          <a:noFill/>
          <a:ln w="22225">
            <a:solidFill>
              <a:srgbClr val="2B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709160" y="3529584"/>
            <a:ext cx="3977639" cy="219456"/>
          </a:xfrm>
          <a:prstGeom prst="rect">
            <a:avLst/>
          </a:prstGeom>
          <a:noFill/>
        </p:spPr>
        <p:txBody>
          <a:bodyPr wrap="square" anchor="t" lIns="45720" rIns="45720" tIns="18288" bIns="18288">
            <a:spAutoFit/>
          </a:bodyPr>
          <a:lstStyle/>
          <a:p>
            <a:pPr algn="r">
              <a:lnSpc>
                <a:spcPct val="100000"/>
              </a:lnSpc>
            </a:pPr>
            <a:r>
              <a:rPr sz="850" b="1" i="0">
                <a:solidFill>
                  <a:srgbClr val="2B8A3E"/>
                </a:solidFill>
                <a:latin typeface="Calibri"/>
              </a:rPr>
              <a:t>à faire d’abord, valeur forte et effort faible</a:t>
            </a:r>
          </a:p>
        </p:txBody>
      </p:sp>
      <p:sp>
        <p:nvSpPr>
          <p:cNvPr id="68" name="Rounded Rectangle 67"/>
          <p:cNvSpPr/>
          <p:nvPr/>
        </p:nvSpPr>
        <p:spPr>
          <a:xfrm>
            <a:off x="457200" y="3840480"/>
            <a:ext cx="8229600" cy="877824"/>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57200" y="3840480"/>
            <a:ext cx="64008" cy="87782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8368" y="3922776"/>
            <a:ext cx="7882127" cy="731519"/>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6741D9"/>
                </a:solidFill>
                <a:latin typeface="Calibri"/>
              </a:rPr>
              <a:t>Cinq contraintes converties en exigences vérifiables  </a:t>
            </a:r>
          </a:p>
          <a:p>
            <a:pPr algn="l">
              <a:lnSpc>
                <a:spcPct val="105000"/>
              </a:lnSpc>
              <a:spcAft>
                <a:spcPts val="200"/>
              </a:spcAft>
            </a:pPr>
            <a:r>
              <a:rPr sz="900" b="0" i="0">
                <a:solidFill>
                  <a:srgbClr val="495057"/>
                </a:solidFill>
                <a:latin typeface="Calibri"/>
              </a:rPr>
              <a:t>Confidentialité par défaut  ·  RGPD, minimisation et effacement  ·  ISO 27001, défense en profondeur  ·  accessibilité PSH, WCAG 2.2 et RGAA 4  ·  éco-responsabilité mesurable.</a:t>
            </a:r>
          </a:p>
          <a:p>
            <a:pPr algn="l">
              <a:lnSpc>
                <a:spcPct val="105000"/>
              </a:lnSpc>
              <a:spcAft>
                <a:spcPts val="200"/>
              </a:spcAft>
            </a:pPr>
            <a:r>
              <a:rPr sz="900" b="0" i="0">
                <a:solidFill>
                  <a:srgbClr val="495057"/>
                </a:solidFill>
                <a:latin typeface="Calibri"/>
              </a:rPr>
              <a:t>Validées en trois revues avec quatre des huit parties prenantes, décisions écrites au journal d’architecture.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6741D9"/>
                </a:solidFill>
                <a:latin typeface="Calibri"/>
              </a:rPr>
              <a:t>3 · GESTION DE PROJET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Découpage du projet et budget</a:t>
            </a:r>
          </a:p>
        </p:txBody>
      </p:sp>
      <p:sp>
        <p:nvSpPr>
          <p:cNvPr id="11" name="Rectangle 10"/>
          <p:cNvSpPr/>
          <p:nvPr/>
        </p:nvSpPr>
        <p:spPr>
          <a:xfrm>
            <a:off x="475488" y="1069848"/>
            <a:ext cx="1051560" cy="4114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11 / 30</a:t>
            </a:r>
          </a:p>
        </p:txBody>
      </p:sp>
      <p:sp>
        <p:nvSpPr>
          <p:cNvPr id="13" name="Rounded Rectangle 12"/>
          <p:cNvSpPr/>
          <p:nvPr/>
        </p:nvSpPr>
        <p:spPr>
          <a:xfrm>
            <a:off x="457200" y="4818888"/>
            <a:ext cx="1124712" cy="228600"/>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C14 · C15</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13.1, 13.5.5 · annexes L, Y</a:t>
            </a:r>
          </a:p>
        </p:txBody>
      </p:sp>
      <p:sp>
        <p:nvSpPr>
          <p:cNvPr id="16" name="Rounded Rectangle 15"/>
          <p:cNvSpPr/>
          <p:nvPr/>
        </p:nvSpPr>
        <p:spPr>
          <a:xfrm>
            <a:off x="3108960" y="1261872"/>
            <a:ext cx="2926080" cy="402336"/>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0" y="1261872"/>
            <a:ext cx="2926080" cy="402336"/>
          </a:xfrm>
          <a:prstGeom prst="rect">
            <a:avLst/>
          </a:prstGeom>
          <a:noFill/>
        </p:spPr>
        <p:txBody>
          <a:bodyPr wrap="square" anchor="ctr" lIns="45720" rIns="45720" tIns="18288" bIns="18288">
            <a:spAutoFit/>
          </a:bodyPr>
          <a:lstStyle/>
          <a:p>
            <a:pPr algn="ctr">
              <a:lnSpc>
                <a:spcPct val="95000"/>
              </a:lnSpc>
            </a:pPr>
            <a:r>
              <a:rPr sz="800" b="1" i="0">
                <a:solidFill>
                  <a:srgbClr val="FFFFFF"/>
                </a:solidFill>
                <a:latin typeface="Calibri"/>
              </a:rPr>
              <a:t>dropicture · infrastructure DevOps automatisée</a:t>
            </a:r>
            <a:r>
              <a:rPr sz="850" b="1" i="0">
                <a:solidFill>
                  <a:srgbClr val="AB96EA"/>
                </a:solidFill>
                <a:latin typeface="Calibri"/>
              </a:rPr>
              <a:t>   207 j-h · 103 500 €</a:t>
            </a:r>
          </a:p>
        </p:txBody>
      </p:sp>
      <p:cxnSp>
        <p:nvCxnSpPr>
          <p:cNvPr id="18" name="Connector 17"/>
          <p:cNvCxnSpPr/>
          <p:nvPr/>
        </p:nvCxnSpPr>
        <p:spPr>
          <a:xfrm>
            <a:off x="4572000" y="1664208"/>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9536" y="1828800"/>
            <a:ext cx="7424928" cy="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59536"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57200"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1993392"/>
            <a:ext cx="932688" cy="5486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1 Cadrage</a:t>
            </a:r>
          </a:p>
          <a:p>
            <a:pPr algn="ctr">
              <a:lnSpc>
                <a:spcPct val="105000"/>
              </a:lnSpc>
              <a:spcAft>
                <a:spcPts val="200"/>
              </a:spcAft>
            </a:pPr>
            <a:r>
              <a:rPr sz="850" b="1" i="0">
                <a:solidFill>
                  <a:srgbClr val="6741D9"/>
                </a:solidFill>
                <a:latin typeface="Calibri"/>
              </a:rPr>
              <a:t>24 j-h</a:t>
            </a:r>
          </a:p>
        </p:txBody>
      </p:sp>
      <p:cxnSp>
        <p:nvCxnSpPr>
          <p:cNvPr id="24" name="Connector 23"/>
          <p:cNvCxnSpPr/>
          <p:nvPr/>
        </p:nvCxnSpPr>
        <p:spPr>
          <a:xfrm>
            <a:off x="1892807"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490472"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90472" y="1993392"/>
            <a:ext cx="932688"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517904"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2 Infra IaC</a:t>
            </a:r>
          </a:p>
          <a:p>
            <a:pPr algn="ctr">
              <a:lnSpc>
                <a:spcPct val="105000"/>
              </a:lnSpc>
              <a:spcAft>
                <a:spcPts val="200"/>
              </a:spcAft>
            </a:pPr>
            <a:r>
              <a:rPr sz="850" b="1" i="0">
                <a:solidFill>
                  <a:srgbClr val="C2410C"/>
                </a:solidFill>
                <a:latin typeface="Calibri"/>
              </a:rPr>
              <a:t>30 j-h</a:t>
            </a:r>
          </a:p>
        </p:txBody>
      </p:sp>
      <p:cxnSp>
        <p:nvCxnSpPr>
          <p:cNvPr id="28" name="Connector 27"/>
          <p:cNvCxnSpPr/>
          <p:nvPr/>
        </p:nvCxnSpPr>
        <p:spPr>
          <a:xfrm>
            <a:off x="2926079"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523744"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23744" y="1993392"/>
            <a:ext cx="932688" cy="5486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51175"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3 Backend API</a:t>
            </a:r>
          </a:p>
          <a:p>
            <a:pPr algn="ctr">
              <a:lnSpc>
                <a:spcPct val="105000"/>
              </a:lnSpc>
              <a:spcAft>
                <a:spcPts val="200"/>
              </a:spcAft>
            </a:pPr>
            <a:r>
              <a:rPr sz="850" b="1" i="0">
                <a:solidFill>
                  <a:srgbClr val="6741D9"/>
                </a:solidFill>
                <a:latin typeface="Calibri"/>
              </a:rPr>
              <a:t>42 j-h</a:t>
            </a:r>
          </a:p>
        </p:txBody>
      </p:sp>
      <p:cxnSp>
        <p:nvCxnSpPr>
          <p:cNvPr id="32" name="Connector 31"/>
          <p:cNvCxnSpPr/>
          <p:nvPr/>
        </p:nvCxnSpPr>
        <p:spPr>
          <a:xfrm>
            <a:off x="3959352"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557015"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557015" y="1993392"/>
            <a:ext cx="932688" cy="5486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84447"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4 Frontend &amp; site</a:t>
            </a:r>
          </a:p>
          <a:p>
            <a:pPr algn="ctr">
              <a:lnSpc>
                <a:spcPct val="105000"/>
              </a:lnSpc>
              <a:spcAft>
                <a:spcPts val="200"/>
              </a:spcAft>
            </a:pPr>
            <a:r>
              <a:rPr sz="850" b="1" i="0">
                <a:solidFill>
                  <a:srgbClr val="6741D9"/>
                </a:solidFill>
                <a:latin typeface="Calibri"/>
              </a:rPr>
              <a:t>27 j-h</a:t>
            </a:r>
          </a:p>
        </p:txBody>
      </p:sp>
      <p:cxnSp>
        <p:nvCxnSpPr>
          <p:cNvPr id="36" name="Connector 35"/>
          <p:cNvCxnSpPr/>
          <p:nvPr/>
        </p:nvCxnSpPr>
        <p:spPr>
          <a:xfrm>
            <a:off x="4992624"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590288"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590288" y="1993392"/>
            <a:ext cx="932688"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617720"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5 Chaîne CI/CD</a:t>
            </a:r>
          </a:p>
          <a:p>
            <a:pPr algn="ctr">
              <a:lnSpc>
                <a:spcPct val="105000"/>
              </a:lnSpc>
              <a:spcAft>
                <a:spcPts val="200"/>
              </a:spcAft>
            </a:pPr>
            <a:r>
              <a:rPr sz="850" b="1" i="0">
                <a:solidFill>
                  <a:srgbClr val="C2410C"/>
                </a:solidFill>
                <a:latin typeface="Calibri"/>
              </a:rPr>
              <a:t>24 j-h</a:t>
            </a:r>
          </a:p>
        </p:txBody>
      </p:sp>
      <p:cxnSp>
        <p:nvCxnSpPr>
          <p:cNvPr id="40" name="Connector 39"/>
          <p:cNvCxnSpPr/>
          <p:nvPr/>
        </p:nvCxnSpPr>
        <p:spPr>
          <a:xfrm>
            <a:off x="6025896"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623559"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23559" y="1993392"/>
            <a:ext cx="932688"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50992"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6 Observabilité</a:t>
            </a:r>
          </a:p>
          <a:p>
            <a:pPr algn="ctr">
              <a:lnSpc>
                <a:spcPct val="105000"/>
              </a:lnSpc>
              <a:spcAft>
                <a:spcPts val="200"/>
              </a:spcAft>
            </a:pPr>
            <a:r>
              <a:rPr sz="850" b="1" i="0">
                <a:solidFill>
                  <a:srgbClr val="C2410C"/>
                </a:solidFill>
                <a:latin typeface="Calibri"/>
              </a:rPr>
              <a:t>21 j-h</a:t>
            </a:r>
          </a:p>
        </p:txBody>
      </p:sp>
      <p:cxnSp>
        <p:nvCxnSpPr>
          <p:cNvPr id="44" name="Connector 43"/>
          <p:cNvCxnSpPr/>
          <p:nvPr/>
        </p:nvCxnSpPr>
        <p:spPr>
          <a:xfrm>
            <a:off x="7059168"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6656831"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656831" y="1993392"/>
            <a:ext cx="932688" cy="548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84264"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7 Sécurité</a:t>
            </a:r>
          </a:p>
          <a:p>
            <a:pPr algn="ctr">
              <a:lnSpc>
                <a:spcPct val="105000"/>
              </a:lnSpc>
              <a:spcAft>
                <a:spcPts val="200"/>
              </a:spcAft>
            </a:pPr>
            <a:r>
              <a:rPr sz="850" b="1" i="0">
                <a:solidFill>
                  <a:srgbClr val="C2410C"/>
                </a:solidFill>
                <a:latin typeface="Calibri"/>
              </a:rPr>
              <a:t>21 j-h</a:t>
            </a:r>
          </a:p>
        </p:txBody>
      </p:sp>
      <p:cxnSp>
        <p:nvCxnSpPr>
          <p:cNvPr id="48" name="Connector 47"/>
          <p:cNvCxnSpPr/>
          <p:nvPr/>
        </p:nvCxnSpPr>
        <p:spPr>
          <a:xfrm>
            <a:off x="8092440" y="1828800"/>
            <a:ext cx="0" cy="16459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690104" y="1993392"/>
            <a:ext cx="932688" cy="658368"/>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690104" y="1993392"/>
            <a:ext cx="932688" cy="54864"/>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17536" y="2066543"/>
            <a:ext cx="877824" cy="566928"/>
          </a:xfrm>
          <a:prstGeom prst="rect">
            <a:avLst/>
          </a:prstGeom>
          <a:noFill/>
        </p:spPr>
        <p:txBody>
          <a:bodyPr wrap="square" anchor="t" lIns="45720" rIns="45720" tIns="18288" bIns="18288">
            <a:spAutoFit/>
          </a:bodyPr>
          <a:lstStyle/>
          <a:p>
            <a:pPr algn="ctr">
              <a:lnSpc>
                <a:spcPct val="105000"/>
              </a:lnSpc>
              <a:spcAft>
                <a:spcPts val="200"/>
              </a:spcAft>
            </a:pPr>
            <a:r>
              <a:rPr sz="750" b="1" i="0">
                <a:solidFill>
                  <a:srgbClr val="212529"/>
                </a:solidFill>
                <a:latin typeface="Calibri"/>
              </a:rPr>
              <a:t>8 Doc &amp; soutenance</a:t>
            </a:r>
          </a:p>
          <a:p>
            <a:pPr algn="ctr">
              <a:lnSpc>
                <a:spcPct val="105000"/>
              </a:lnSpc>
              <a:spcAft>
                <a:spcPts val="200"/>
              </a:spcAft>
            </a:pPr>
            <a:r>
              <a:rPr sz="850" b="1" i="0">
                <a:solidFill>
                  <a:srgbClr val="868E96"/>
                </a:solidFill>
                <a:latin typeface="Calibri"/>
              </a:rPr>
              <a:t>18 j-h</a:t>
            </a:r>
          </a:p>
        </p:txBody>
      </p:sp>
      <p:sp>
        <p:nvSpPr>
          <p:cNvPr id="52" name="TextBox 51"/>
          <p:cNvSpPr txBox="1"/>
          <p:nvPr/>
        </p:nvSpPr>
        <p:spPr>
          <a:xfrm>
            <a:off x="457200" y="2798064"/>
            <a:ext cx="4023360"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RÉPARTITION DE LA CHARGE</a:t>
            </a:r>
          </a:p>
        </p:txBody>
      </p:sp>
      <p:sp>
        <p:nvSpPr>
          <p:cNvPr id="53" name="Rectangle 52"/>
          <p:cNvSpPr/>
          <p:nvPr/>
        </p:nvSpPr>
        <p:spPr>
          <a:xfrm>
            <a:off x="457200" y="2999232"/>
            <a:ext cx="1810512" cy="27432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267712" y="2999232"/>
            <a:ext cx="1850745" cy="27432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18457" y="2999232"/>
            <a:ext cx="362102" cy="274320"/>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457200" y="2999232"/>
            <a:ext cx="4023360" cy="274320"/>
          </a:xfrm>
          <a:prstGeom prst="roundRect">
            <a:avLst>
              <a:gd name="adj" fmla="val 50000"/>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57200" y="3429000"/>
            <a:ext cx="146304" cy="14630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76656" y="3364992"/>
            <a:ext cx="1463040" cy="274320"/>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Fonctionnel</a:t>
            </a:r>
          </a:p>
        </p:txBody>
      </p:sp>
      <p:sp>
        <p:nvSpPr>
          <p:cNvPr id="59" name="TextBox 58"/>
          <p:cNvSpPr txBox="1"/>
          <p:nvPr/>
        </p:nvSpPr>
        <p:spPr>
          <a:xfrm>
            <a:off x="2139696" y="3364992"/>
            <a:ext cx="1463040" cy="274320"/>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93 j-h · 45 %</a:t>
            </a:r>
          </a:p>
        </p:txBody>
      </p:sp>
      <p:sp>
        <p:nvSpPr>
          <p:cNvPr id="60" name="Rectangle 59"/>
          <p:cNvSpPr/>
          <p:nvPr/>
        </p:nvSpPr>
        <p:spPr>
          <a:xfrm>
            <a:off x="457200" y="3721608"/>
            <a:ext cx="146304" cy="14630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76656" y="3657600"/>
            <a:ext cx="1463040" cy="274320"/>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Non fonctionnel</a:t>
            </a:r>
          </a:p>
        </p:txBody>
      </p:sp>
      <p:sp>
        <p:nvSpPr>
          <p:cNvPr id="62" name="TextBox 61"/>
          <p:cNvSpPr txBox="1"/>
          <p:nvPr/>
        </p:nvSpPr>
        <p:spPr>
          <a:xfrm>
            <a:off x="2139696" y="3657600"/>
            <a:ext cx="1463040" cy="274320"/>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96 j-h · 46 %</a:t>
            </a:r>
          </a:p>
        </p:txBody>
      </p:sp>
      <p:sp>
        <p:nvSpPr>
          <p:cNvPr id="63" name="Rectangle 62"/>
          <p:cNvSpPr/>
          <p:nvPr/>
        </p:nvSpPr>
        <p:spPr>
          <a:xfrm>
            <a:off x="457200" y="4014216"/>
            <a:ext cx="146304" cy="146304"/>
          </a:xfrm>
          <a:prstGeom prst="rect">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6656" y="3950208"/>
            <a:ext cx="1463040" cy="274320"/>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Support</a:t>
            </a:r>
          </a:p>
        </p:txBody>
      </p:sp>
      <p:sp>
        <p:nvSpPr>
          <p:cNvPr id="65" name="TextBox 64"/>
          <p:cNvSpPr txBox="1"/>
          <p:nvPr/>
        </p:nvSpPr>
        <p:spPr>
          <a:xfrm>
            <a:off x="2139696" y="3950208"/>
            <a:ext cx="1463040" cy="274320"/>
          </a:xfrm>
          <a:prstGeom prst="rect">
            <a:avLst/>
          </a:prstGeom>
          <a:noFill/>
        </p:spPr>
        <p:txBody>
          <a:bodyPr wrap="square" anchor="ctr" lIns="45720" rIns="45720" tIns="18288" bIns="18288">
            <a:spAutoFit/>
          </a:bodyPr>
          <a:lstStyle/>
          <a:p>
            <a:pPr algn="l">
              <a:lnSpc>
                <a:spcPct val="100000"/>
              </a:lnSpc>
            </a:pPr>
            <a:r>
              <a:rPr sz="800" b="0" i="0">
                <a:solidFill>
                  <a:srgbClr val="495057"/>
                </a:solidFill>
                <a:latin typeface="Calibri"/>
              </a:rPr>
              <a:t>18 j-h · 9 %</a:t>
            </a:r>
          </a:p>
        </p:txBody>
      </p:sp>
      <p:sp>
        <p:nvSpPr>
          <p:cNvPr id="66" name="TextBox 65"/>
          <p:cNvSpPr txBox="1"/>
          <p:nvPr/>
        </p:nvSpPr>
        <p:spPr>
          <a:xfrm>
            <a:off x="457200" y="4297680"/>
            <a:ext cx="4023360" cy="219456"/>
          </a:xfrm>
          <a:prstGeom prst="rect">
            <a:avLst/>
          </a:prstGeom>
          <a:noFill/>
        </p:spPr>
        <p:txBody>
          <a:bodyPr wrap="square" anchor="t" lIns="45720" rIns="45720" tIns="18288" bIns="18288">
            <a:spAutoFit/>
          </a:bodyPr>
          <a:lstStyle/>
          <a:p>
            <a:pPr algn="l">
              <a:lnSpc>
                <a:spcPct val="100000"/>
              </a:lnSpc>
            </a:pPr>
            <a:r>
              <a:rPr sz="800" b="1" i="0">
                <a:solidFill>
                  <a:srgbClr val="212529"/>
                </a:solidFill>
                <a:latin typeface="Calibri"/>
              </a:rPr>
              <a:t>Sur un projet DevOps, le non fonctionnel pèse plus lourd que le fonctionnel.</a:t>
            </a:r>
          </a:p>
        </p:txBody>
      </p:sp>
      <p:sp>
        <p:nvSpPr>
          <p:cNvPr id="67" name="TextBox 66"/>
          <p:cNvSpPr txBox="1"/>
          <p:nvPr/>
        </p:nvSpPr>
        <p:spPr>
          <a:xfrm>
            <a:off x="4754880" y="2798064"/>
            <a:ext cx="3931920"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CHIFFRAGE À TROIS NIVEAUX  ·  TJM 500 €</a:t>
            </a:r>
          </a:p>
        </p:txBody>
      </p:sp>
      <p:sp>
        <p:nvSpPr>
          <p:cNvPr id="68" name="Rounded Rectangle 67"/>
          <p:cNvSpPr/>
          <p:nvPr/>
        </p:nvSpPr>
        <p:spPr>
          <a:xfrm>
            <a:off x="4754880" y="2999232"/>
            <a:ext cx="1243584" cy="841248"/>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4754880" y="2999232"/>
            <a:ext cx="1243584" cy="18288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754880" y="2999232"/>
            <a:ext cx="1243584" cy="182880"/>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Global</a:t>
            </a:r>
          </a:p>
        </p:txBody>
      </p:sp>
      <p:sp>
        <p:nvSpPr>
          <p:cNvPr id="71" name="TextBox 70"/>
          <p:cNvSpPr txBox="1"/>
          <p:nvPr/>
        </p:nvSpPr>
        <p:spPr>
          <a:xfrm>
            <a:off x="4754880" y="3218688"/>
            <a:ext cx="1243584" cy="566928"/>
          </a:xfrm>
          <a:prstGeom prst="rect">
            <a:avLst/>
          </a:prstGeom>
          <a:noFill/>
        </p:spPr>
        <p:txBody>
          <a:bodyPr wrap="square" anchor="t" lIns="45720" rIns="45720" tIns="18288" bIns="18288">
            <a:spAutoFit/>
          </a:bodyPr>
          <a:lstStyle/>
          <a:p>
            <a:pPr algn="ctr">
              <a:lnSpc>
                <a:spcPct val="105000"/>
              </a:lnSpc>
              <a:spcAft>
                <a:spcPts val="100"/>
              </a:spcAft>
            </a:pPr>
            <a:r>
              <a:rPr sz="1100" b="1" i="0">
                <a:solidFill>
                  <a:srgbClr val="212529"/>
                </a:solidFill>
                <a:latin typeface="Calibri"/>
              </a:rPr>
              <a:t>103 500 €</a:t>
            </a:r>
          </a:p>
          <a:p>
            <a:pPr algn="ctr">
              <a:lnSpc>
                <a:spcPct val="105000"/>
              </a:lnSpc>
              <a:spcAft>
                <a:spcPts val="100"/>
              </a:spcAft>
            </a:pPr>
            <a:r>
              <a:rPr sz="750" b="0" i="0">
                <a:solidFill>
                  <a:srgbClr val="495057"/>
                </a:solidFill>
                <a:latin typeface="Calibri"/>
              </a:rPr>
              <a:t>207 j-h</a:t>
            </a:r>
          </a:p>
        </p:txBody>
      </p:sp>
      <p:sp>
        <p:nvSpPr>
          <p:cNvPr id="72" name="Rounded Rectangle 71"/>
          <p:cNvSpPr/>
          <p:nvPr/>
        </p:nvSpPr>
        <p:spPr>
          <a:xfrm>
            <a:off x="6089904" y="2999232"/>
            <a:ext cx="1243584" cy="841248"/>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089904" y="2999232"/>
            <a:ext cx="1243584" cy="182880"/>
          </a:xfrm>
          <a:prstGeom prst="rect">
            <a:avLst/>
          </a:prstGeom>
          <a:solidFill>
            <a:srgbClr val="927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089904" y="2999232"/>
            <a:ext cx="1243584" cy="182880"/>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Conception</a:t>
            </a:r>
          </a:p>
        </p:txBody>
      </p:sp>
      <p:sp>
        <p:nvSpPr>
          <p:cNvPr id="75" name="TextBox 74"/>
          <p:cNvSpPr txBox="1"/>
          <p:nvPr/>
        </p:nvSpPr>
        <p:spPr>
          <a:xfrm>
            <a:off x="6089904" y="3218688"/>
            <a:ext cx="1243584" cy="566928"/>
          </a:xfrm>
          <a:prstGeom prst="rect">
            <a:avLst/>
          </a:prstGeom>
          <a:noFill/>
        </p:spPr>
        <p:txBody>
          <a:bodyPr wrap="square" anchor="t" lIns="45720" rIns="45720" tIns="18288" bIns="18288">
            <a:spAutoFit/>
          </a:bodyPr>
          <a:lstStyle/>
          <a:p>
            <a:pPr algn="ctr">
              <a:lnSpc>
                <a:spcPct val="105000"/>
              </a:lnSpc>
              <a:spcAft>
                <a:spcPts val="100"/>
              </a:spcAft>
            </a:pPr>
            <a:r>
              <a:rPr sz="1100" b="1" i="0">
                <a:solidFill>
                  <a:srgbClr val="212529"/>
                </a:solidFill>
                <a:latin typeface="Calibri"/>
              </a:rPr>
              <a:t>33 000 €</a:t>
            </a:r>
          </a:p>
          <a:p>
            <a:pPr algn="ctr">
              <a:lnSpc>
                <a:spcPct val="105000"/>
              </a:lnSpc>
              <a:spcAft>
                <a:spcPts val="100"/>
              </a:spcAft>
            </a:pPr>
            <a:r>
              <a:rPr sz="750" b="0" i="0">
                <a:solidFill>
                  <a:srgbClr val="495057"/>
                </a:solidFill>
                <a:latin typeface="Calibri"/>
              </a:rPr>
              <a:t>66 j-h</a:t>
            </a:r>
          </a:p>
        </p:txBody>
      </p:sp>
      <p:sp>
        <p:nvSpPr>
          <p:cNvPr id="76" name="Rounded Rectangle 75"/>
          <p:cNvSpPr/>
          <p:nvPr/>
        </p:nvSpPr>
        <p:spPr>
          <a:xfrm>
            <a:off x="7424928" y="2999232"/>
            <a:ext cx="1243584" cy="841248"/>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424928" y="2999232"/>
            <a:ext cx="1243584" cy="182880"/>
          </a:xfrm>
          <a:prstGeom prst="rect">
            <a:avLst/>
          </a:prstGeom>
          <a:solidFill>
            <a:srgbClr val="927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424928" y="2999232"/>
            <a:ext cx="1243584" cy="182880"/>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Déploiement</a:t>
            </a:r>
          </a:p>
        </p:txBody>
      </p:sp>
      <p:sp>
        <p:nvSpPr>
          <p:cNvPr id="79" name="TextBox 78"/>
          <p:cNvSpPr txBox="1"/>
          <p:nvPr/>
        </p:nvSpPr>
        <p:spPr>
          <a:xfrm>
            <a:off x="7424928" y="3218688"/>
            <a:ext cx="1243584" cy="566928"/>
          </a:xfrm>
          <a:prstGeom prst="rect">
            <a:avLst/>
          </a:prstGeom>
          <a:noFill/>
        </p:spPr>
        <p:txBody>
          <a:bodyPr wrap="square" anchor="t" lIns="45720" rIns="45720" tIns="18288" bIns="18288">
            <a:spAutoFit/>
          </a:bodyPr>
          <a:lstStyle/>
          <a:p>
            <a:pPr algn="ctr">
              <a:lnSpc>
                <a:spcPct val="105000"/>
              </a:lnSpc>
              <a:spcAft>
                <a:spcPts val="100"/>
              </a:spcAft>
            </a:pPr>
            <a:r>
              <a:rPr sz="1100" b="1" i="0">
                <a:solidFill>
                  <a:srgbClr val="212529"/>
                </a:solidFill>
                <a:latin typeface="Calibri"/>
              </a:rPr>
              <a:t>70 500 €</a:t>
            </a:r>
          </a:p>
          <a:p>
            <a:pPr algn="ctr">
              <a:lnSpc>
                <a:spcPct val="105000"/>
              </a:lnSpc>
              <a:spcAft>
                <a:spcPts val="100"/>
              </a:spcAft>
            </a:pPr>
            <a:r>
              <a:rPr sz="750" b="0" i="0">
                <a:solidFill>
                  <a:srgbClr val="495057"/>
                </a:solidFill>
                <a:latin typeface="Calibri"/>
              </a:rPr>
              <a:t>141 j-h</a:t>
            </a:r>
          </a:p>
        </p:txBody>
      </p:sp>
      <p:sp>
        <p:nvSpPr>
          <p:cNvPr id="80" name="Rounded Rectangle 79"/>
          <p:cNvSpPr/>
          <p:nvPr/>
        </p:nvSpPr>
        <p:spPr>
          <a:xfrm>
            <a:off x="4754880" y="3950208"/>
            <a:ext cx="3931920" cy="76809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4754880" y="3950208"/>
            <a:ext cx="64008" cy="7680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956048" y="4005072"/>
            <a:ext cx="3657600" cy="658368"/>
          </a:xfrm>
          <a:prstGeom prst="rect">
            <a:avLst/>
          </a:prstGeom>
          <a:noFill/>
        </p:spPr>
        <p:txBody>
          <a:bodyPr wrap="square" anchor="t" lIns="45720" rIns="45720" tIns="18288" bIns="18288">
            <a:spAutoFit/>
          </a:bodyPr>
          <a:lstStyle/>
          <a:p>
            <a:pPr algn="l">
              <a:lnSpc>
                <a:spcPct val="105000"/>
              </a:lnSpc>
              <a:spcAft>
                <a:spcPts val="100"/>
              </a:spcAft>
            </a:pPr>
            <a:r>
              <a:rPr sz="950" b="1" i="0">
                <a:solidFill>
                  <a:srgbClr val="2B8A3E"/>
                </a:solidFill>
                <a:latin typeface="Calibri"/>
              </a:rPr>
              <a:t>Exploitation  ≈ 71 € / mois, 852 € par an</a:t>
            </a:r>
          </a:p>
          <a:p>
            <a:pPr algn="l">
              <a:lnSpc>
                <a:spcPct val="105000"/>
              </a:lnSpc>
              <a:spcAft>
                <a:spcPts val="100"/>
              </a:spcAft>
            </a:pPr>
            <a:r>
              <a:rPr sz="800" b="0" i="0">
                <a:solidFill>
                  <a:srgbClr val="495057"/>
                </a:solidFill>
                <a:latin typeface="Calibri"/>
              </a:rPr>
              <a:t>AWS Budgets alerte à 50, 80 et 100 % du seuil. Provision pour aléas cotée au registre de risques.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6741D9"/>
                </a:solidFill>
                <a:latin typeface="Calibri"/>
              </a:rPr>
              <a:t>3 · GESTION DE PROJET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Planification, PERT et Gantt</a:t>
            </a:r>
          </a:p>
        </p:txBody>
      </p:sp>
      <p:sp>
        <p:nvSpPr>
          <p:cNvPr id="11" name="Rectangle 10"/>
          <p:cNvSpPr/>
          <p:nvPr/>
        </p:nvSpPr>
        <p:spPr>
          <a:xfrm>
            <a:off x="475488" y="1069848"/>
            <a:ext cx="1051560" cy="4114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12 / 30</a:t>
            </a:r>
          </a:p>
        </p:txBody>
      </p:sp>
      <p:sp>
        <p:nvSpPr>
          <p:cNvPr id="13" name="Rounded Rectangle 12"/>
          <p:cNvSpPr/>
          <p:nvPr/>
        </p:nvSpPr>
        <p:spPr>
          <a:xfrm>
            <a:off x="457200" y="4818888"/>
            <a:ext cx="1124712" cy="228600"/>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C15 · C16</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13.1.1 · annexes M, N</a:t>
            </a:r>
          </a:p>
        </p:txBody>
      </p:sp>
      <p:sp>
        <p:nvSpPr>
          <p:cNvPr id="16" name="TextBox 15"/>
          <p:cNvSpPr txBox="1"/>
          <p:nvPr/>
        </p:nvSpPr>
        <p:spPr>
          <a:xfrm>
            <a:off x="457200" y="1207008"/>
            <a:ext cx="8229600" cy="182880"/>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PERT  ·  CHEMIN CRITIQUE A → C → D → F → H = 122 JOURS OUVRÉS</a:t>
            </a:r>
          </a:p>
        </p:txBody>
      </p:sp>
      <p:sp>
        <p:nvSpPr>
          <p:cNvPr id="17" name="Rounded Rectangle 16"/>
          <p:cNvSpPr/>
          <p:nvPr/>
        </p:nvSpPr>
        <p:spPr>
          <a:xfrm>
            <a:off x="502920" y="1463040"/>
            <a:ext cx="1042415" cy="530352"/>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 y="149961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FFFFFF"/>
                </a:solidFill>
                <a:latin typeface="Calibri"/>
              </a:rPr>
              <a:t>A  Cadrage</a:t>
            </a:r>
          </a:p>
          <a:p>
            <a:pPr algn="ctr">
              <a:lnSpc>
                <a:spcPct val="100000"/>
              </a:lnSpc>
            </a:pPr>
            <a:r>
              <a:rPr sz="650" b="0" i="0">
                <a:solidFill>
                  <a:srgbClr val="AB96EA"/>
                </a:solidFill>
                <a:latin typeface="Calibri"/>
              </a:rPr>
              <a:t>24 j</a:t>
            </a:r>
          </a:p>
        </p:txBody>
      </p:sp>
      <p:sp>
        <p:nvSpPr>
          <p:cNvPr id="19" name="Rounded Rectangle 18"/>
          <p:cNvSpPr/>
          <p:nvPr/>
        </p:nvSpPr>
        <p:spPr>
          <a:xfrm>
            <a:off x="1861028" y="1463040"/>
            <a:ext cx="1042415" cy="530352"/>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88460" y="149961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FFFFFF"/>
                </a:solidFill>
                <a:latin typeface="Calibri"/>
              </a:rPr>
              <a:t>C  Backend</a:t>
            </a:r>
          </a:p>
          <a:p>
            <a:pPr algn="ctr">
              <a:lnSpc>
                <a:spcPct val="100000"/>
              </a:lnSpc>
            </a:pPr>
            <a:r>
              <a:rPr sz="650" b="0" i="0">
                <a:solidFill>
                  <a:srgbClr val="AB96EA"/>
                </a:solidFill>
                <a:latin typeface="Calibri"/>
              </a:rPr>
              <a:t>37 j</a:t>
            </a:r>
          </a:p>
        </p:txBody>
      </p:sp>
      <p:sp>
        <p:nvSpPr>
          <p:cNvPr id="21" name="Rounded Rectangle 20"/>
          <p:cNvSpPr/>
          <p:nvPr/>
        </p:nvSpPr>
        <p:spPr>
          <a:xfrm>
            <a:off x="3954780" y="1463040"/>
            <a:ext cx="1042415" cy="530352"/>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82212" y="149961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FFFFFF"/>
                </a:solidFill>
                <a:latin typeface="Calibri"/>
              </a:rPr>
              <a:t>D  CI/CD</a:t>
            </a:r>
          </a:p>
          <a:p>
            <a:pPr algn="ctr">
              <a:lnSpc>
                <a:spcPct val="100000"/>
              </a:lnSpc>
            </a:pPr>
            <a:r>
              <a:rPr sz="650" b="0" i="0">
                <a:solidFill>
                  <a:srgbClr val="AB96EA"/>
                </a:solidFill>
                <a:latin typeface="Calibri"/>
              </a:rPr>
              <a:t>25 j</a:t>
            </a:r>
          </a:p>
        </p:txBody>
      </p:sp>
      <p:sp>
        <p:nvSpPr>
          <p:cNvPr id="23" name="Rounded Rectangle 22"/>
          <p:cNvSpPr/>
          <p:nvPr/>
        </p:nvSpPr>
        <p:spPr>
          <a:xfrm>
            <a:off x="5369476" y="1463040"/>
            <a:ext cx="1042415" cy="530352"/>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6908" y="149961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FFFFFF"/>
                </a:solidFill>
                <a:latin typeface="Calibri"/>
              </a:rPr>
              <a:t>F  Observab.</a:t>
            </a:r>
          </a:p>
          <a:p>
            <a:pPr algn="ctr">
              <a:lnSpc>
                <a:spcPct val="100000"/>
              </a:lnSpc>
            </a:pPr>
            <a:r>
              <a:rPr sz="650" b="0" i="0">
                <a:solidFill>
                  <a:srgbClr val="AB96EA"/>
                </a:solidFill>
                <a:latin typeface="Calibri"/>
              </a:rPr>
              <a:t>21 j</a:t>
            </a:r>
          </a:p>
        </p:txBody>
      </p:sp>
      <p:sp>
        <p:nvSpPr>
          <p:cNvPr id="25" name="Rounded Rectangle 24"/>
          <p:cNvSpPr/>
          <p:nvPr/>
        </p:nvSpPr>
        <p:spPr>
          <a:xfrm>
            <a:off x="6557821" y="1463040"/>
            <a:ext cx="1042415" cy="530352"/>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5253" y="149961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FFFFFF"/>
                </a:solidFill>
                <a:latin typeface="Calibri"/>
              </a:rPr>
              <a:t>H  Doc &amp; REX</a:t>
            </a:r>
          </a:p>
          <a:p>
            <a:pPr algn="ctr">
              <a:lnSpc>
                <a:spcPct val="100000"/>
              </a:lnSpc>
            </a:pPr>
            <a:r>
              <a:rPr sz="650" b="0" i="0">
                <a:solidFill>
                  <a:srgbClr val="AB96EA"/>
                </a:solidFill>
                <a:latin typeface="Calibri"/>
              </a:rPr>
              <a:t>15 j</a:t>
            </a:r>
          </a:p>
        </p:txBody>
      </p:sp>
      <p:sp>
        <p:nvSpPr>
          <p:cNvPr id="27" name="Rounded Rectangle 26"/>
          <p:cNvSpPr/>
          <p:nvPr/>
        </p:nvSpPr>
        <p:spPr>
          <a:xfrm>
            <a:off x="1861028" y="2103120"/>
            <a:ext cx="1042415" cy="530352"/>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888460" y="213969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B  Infra IaC</a:t>
            </a:r>
          </a:p>
          <a:p>
            <a:pPr algn="ctr">
              <a:lnSpc>
                <a:spcPct val="100000"/>
              </a:lnSpc>
            </a:pPr>
            <a:r>
              <a:rPr sz="650" b="0" i="0">
                <a:solidFill>
                  <a:srgbClr val="495057"/>
                </a:solidFill>
                <a:latin typeface="Calibri"/>
              </a:rPr>
              <a:t>31 j  ·  marge 6 j</a:t>
            </a:r>
          </a:p>
        </p:txBody>
      </p:sp>
      <p:sp>
        <p:nvSpPr>
          <p:cNvPr id="29" name="Rounded Rectangle 28"/>
          <p:cNvSpPr/>
          <p:nvPr/>
        </p:nvSpPr>
        <p:spPr>
          <a:xfrm>
            <a:off x="3954780" y="2103120"/>
            <a:ext cx="1042415" cy="530352"/>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982212" y="213969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E  Frontend</a:t>
            </a:r>
          </a:p>
          <a:p>
            <a:pPr algn="ctr">
              <a:lnSpc>
                <a:spcPct val="100000"/>
              </a:lnSpc>
            </a:pPr>
            <a:r>
              <a:rPr sz="650" b="0" i="0">
                <a:solidFill>
                  <a:srgbClr val="495057"/>
                </a:solidFill>
                <a:latin typeface="Calibri"/>
              </a:rPr>
              <a:t>21 j  ·  marge 25 j</a:t>
            </a:r>
          </a:p>
        </p:txBody>
      </p:sp>
      <p:sp>
        <p:nvSpPr>
          <p:cNvPr id="31" name="Rounded Rectangle 30"/>
          <p:cNvSpPr/>
          <p:nvPr/>
        </p:nvSpPr>
        <p:spPr>
          <a:xfrm>
            <a:off x="3615252" y="2743200"/>
            <a:ext cx="1042415" cy="530352"/>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42684" y="2779776"/>
            <a:ext cx="987552" cy="457200"/>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G  Sécurité</a:t>
            </a:r>
          </a:p>
          <a:p>
            <a:pPr algn="ctr">
              <a:lnSpc>
                <a:spcPct val="100000"/>
              </a:lnSpc>
            </a:pPr>
            <a:r>
              <a:rPr sz="650" b="0" i="0">
                <a:solidFill>
                  <a:srgbClr val="495057"/>
                </a:solidFill>
                <a:latin typeface="Calibri"/>
              </a:rPr>
              <a:t>18 j  ·  marge 34 j</a:t>
            </a:r>
          </a:p>
        </p:txBody>
      </p:sp>
      <p:cxnSp>
        <p:nvCxnSpPr>
          <p:cNvPr id="33" name="Connector 32"/>
          <p:cNvCxnSpPr/>
          <p:nvPr/>
        </p:nvCxnSpPr>
        <p:spPr>
          <a:xfrm>
            <a:off x="1545336" y="1728216"/>
            <a:ext cx="315692" cy="0"/>
          </a:xfrm>
          <a:prstGeom prst="line">
            <a:avLst/>
          </a:prstGeom>
          <a:ln w="22225">
            <a:solidFill>
              <a:srgbClr val="6741D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03444" y="1728216"/>
            <a:ext cx="1051336" cy="0"/>
          </a:xfrm>
          <a:prstGeom prst="line">
            <a:avLst/>
          </a:prstGeom>
          <a:ln w="22225">
            <a:solidFill>
              <a:srgbClr val="6741D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997196" y="1728216"/>
            <a:ext cx="372280" cy="0"/>
          </a:xfrm>
          <a:prstGeom prst="line">
            <a:avLst/>
          </a:prstGeom>
          <a:ln w="22225">
            <a:solidFill>
              <a:srgbClr val="6741D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411892" y="1728216"/>
            <a:ext cx="145929" cy="0"/>
          </a:xfrm>
          <a:prstGeom prst="line">
            <a:avLst/>
          </a:prstGeom>
          <a:ln w="22225">
            <a:solidFill>
              <a:srgbClr val="6741D9"/>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545336" y="1728216"/>
            <a:ext cx="315692" cy="640080"/>
          </a:xfrm>
          <a:prstGeom prst="line">
            <a:avLst/>
          </a:prstGeom>
          <a:ln w="12700">
            <a:solidFill>
              <a:srgbClr val="DEE2E6"/>
            </a:solidFill>
            <a:prstDash val="sysDash"/>
            <a:tailEnd type="triangle" w="sm" len="sm"/>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903444" y="1728216"/>
            <a:ext cx="1051336" cy="640080"/>
          </a:xfrm>
          <a:prstGeom prst="line">
            <a:avLst/>
          </a:prstGeom>
          <a:ln w="12700">
            <a:solidFill>
              <a:srgbClr val="DEE2E6"/>
            </a:solidFill>
            <a:prstDash val="sysDash"/>
            <a:tailEnd type="triangle" w="sm" len="sm"/>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903444" y="2368296"/>
            <a:ext cx="711808" cy="640080"/>
          </a:xfrm>
          <a:prstGeom prst="line">
            <a:avLst/>
          </a:prstGeom>
          <a:ln w="12700">
            <a:solidFill>
              <a:srgbClr val="DEE2E6"/>
            </a:solidFill>
            <a:prstDash val="sysDash"/>
            <a:tailEnd type="triangle" w="sm" len="sm"/>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997196" y="1728216"/>
            <a:ext cx="1560625" cy="640080"/>
          </a:xfrm>
          <a:prstGeom prst="line">
            <a:avLst/>
          </a:prstGeom>
          <a:ln w="12700">
            <a:solidFill>
              <a:srgbClr val="DEE2E6"/>
            </a:solidFill>
            <a:prstDash val="sysDash"/>
            <a:tailEnd type="triangle" w="sm" len="sm"/>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657668" y="1728216"/>
            <a:ext cx="1900153" cy="1280160"/>
          </a:xfrm>
          <a:prstGeom prst="line">
            <a:avLst/>
          </a:prstGeom>
          <a:ln w="12700">
            <a:solidFill>
              <a:srgbClr val="DEE2E6"/>
            </a:solidFill>
            <a:prstDash val="sysDash"/>
            <a:tailEnd type="triangle" w="sm" len="sm"/>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3346704"/>
            <a:ext cx="8229600" cy="182880"/>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GANTT  ·  1ER JANVIER → 30 JUIN 2026  ·  5 PHASES, 5 JALONS</a:t>
            </a:r>
          </a:p>
        </p:txBody>
      </p:sp>
      <p:sp>
        <p:nvSpPr>
          <p:cNvPr id="43" name="TextBox 42"/>
          <p:cNvSpPr txBox="1"/>
          <p:nvPr/>
        </p:nvSpPr>
        <p:spPr>
          <a:xfrm>
            <a:off x="502920"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JANV.</a:t>
            </a:r>
          </a:p>
        </p:txBody>
      </p:sp>
      <p:cxnSp>
        <p:nvCxnSpPr>
          <p:cNvPr id="44" name="Connector 43"/>
          <p:cNvCxnSpPr/>
          <p:nvPr/>
        </p:nvCxnSpPr>
        <p:spPr>
          <a:xfrm>
            <a:off x="502920"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655064"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FÉVR.</a:t>
            </a:r>
          </a:p>
        </p:txBody>
      </p:sp>
      <p:cxnSp>
        <p:nvCxnSpPr>
          <p:cNvPr id="46" name="Connector 45"/>
          <p:cNvCxnSpPr/>
          <p:nvPr/>
        </p:nvCxnSpPr>
        <p:spPr>
          <a:xfrm>
            <a:off x="1655064"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07208"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MARS</a:t>
            </a:r>
          </a:p>
        </p:txBody>
      </p:sp>
      <p:cxnSp>
        <p:nvCxnSpPr>
          <p:cNvPr id="48" name="Connector 47"/>
          <p:cNvCxnSpPr/>
          <p:nvPr/>
        </p:nvCxnSpPr>
        <p:spPr>
          <a:xfrm>
            <a:off x="2807208"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959352"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AVRIL</a:t>
            </a:r>
          </a:p>
        </p:txBody>
      </p:sp>
      <p:cxnSp>
        <p:nvCxnSpPr>
          <p:cNvPr id="50" name="Connector 49"/>
          <p:cNvCxnSpPr/>
          <p:nvPr/>
        </p:nvCxnSpPr>
        <p:spPr>
          <a:xfrm>
            <a:off x="3959352"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111496"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MAI</a:t>
            </a:r>
          </a:p>
        </p:txBody>
      </p:sp>
      <p:cxnSp>
        <p:nvCxnSpPr>
          <p:cNvPr id="52" name="Connector 51"/>
          <p:cNvCxnSpPr/>
          <p:nvPr/>
        </p:nvCxnSpPr>
        <p:spPr>
          <a:xfrm>
            <a:off x="5111496"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63640" y="3547872"/>
            <a:ext cx="1152144"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JUIN</a:t>
            </a:r>
          </a:p>
        </p:txBody>
      </p:sp>
      <p:cxnSp>
        <p:nvCxnSpPr>
          <p:cNvPr id="54" name="Connector 53"/>
          <p:cNvCxnSpPr/>
          <p:nvPr/>
        </p:nvCxnSpPr>
        <p:spPr>
          <a:xfrm>
            <a:off x="6263640" y="3712463"/>
            <a:ext cx="0" cy="749809"/>
          </a:xfrm>
          <a:prstGeom prst="line">
            <a:avLst/>
          </a:prstGeom>
          <a:ln w="9525">
            <a:solidFill>
              <a:srgbClr val="DEE2E6"/>
            </a:solidFill>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502920" y="3767328"/>
            <a:ext cx="1358108" cy="114300"/>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915892" y="3730752"/>
            <a:ext cx="1554480" cy="164592"/>
          </a:xfrm>
          <a:prstGeom prst="rect">
            <a:avLst/>
          </a:prstGeom>
          <a:noFill/>
        </p:spPr>
        <p:txBody>
          <a:bodyPr wrap="square" anchor="t" lIns="45720" rIns="45720" tIns="18288" bIns="18288">
            <a:spAutoFit/>
          </a:bodyPr>
          <a:lstStyle/>
          <a:p>
            <a:pPr algn="l">
              <a:lnSpc>
                <a:spcPct val="100000"/>
              </a:lnSpc>
            </a:pPr>
            <a:r>
              <a:rPr sz="650" b="1" i="0">
                <a:solidFill>
                  <a:srgbClr val="495057"/>
                </a:solidFill>
                <a:latin typeface="Calibri"/>
              </a:rPr>
              <a:t>Conception</a:t>
            </a:r>
          </a:p>
        </p:txBody>
      </p:sp>
      <p:sp>
        <p:nvSpPr>
          <p:cNvPr id="57" name="Rounded Rectangle 56"/>
          <p:cNvSpPr/>
          <p:nvPr/>
        </p:nvSpPr>
        <p:spPr>
          <a:xfrm>
            <a:off x="1861028" y="3909060"/>
            <a:ext cx="2093751" cy="114300"/>
          </a:xfrm>
          <a:prstGeom prst="roundRect">
            <a:avLst>
              <a:gd name="adj" fmla="val 50000"/>
            </a:avLst>
          </a:prstGeom>
          <a:solidFill>
            <a:srgbClr val="795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009644" y="3872484"/>
            <a:ext cx="1554480" cy="164592"/>
          </a:xfrm>
          <a:prstGeom prst="rect">
            <a:avLst/>
          </a:prstGeom>
          <a:noFill/>
        </p:spPr>
        <p:txBody>
          <a:bodyPr wrap="square" anchor="t" lIns="45720" rIns="45720" tIns="18288" bIns="18288">
            <a:spAutoFit/>
          </a:bodyPr>
          <a:lstStyle/>
          <a:p>
            <a:pPr algn="l">
              <a:lnSpc>
                <a:spcPct val="100000"/>
              </a:lnSpc>
            </a:pPr>
            <a:r>
              <a:rPr sz="650" b="1" i="0">
                <a:solidFill>
                  <a:srgbClr val="495057"/>
                </a:solidFill>
                <a:latin typeface="Calibri"/>
              </a:rPr>
              <a:t>Réalisation</a:t>
            </a:r>
          </a:p>
        </p:txBody>
      </p:sp>
      <p:sp>
        <p:nvSpPr>
          <p:cNvPr id="59" name="Rounded Rectangle 58"/>
          <p:cNvSpPr/>
          <p:nvPr/>
        </p:nvSpPr>
        <p:spPr>
          <a:xfrm>
            <a:off x="3954780" y="4050791"/>
            <a:ext cx="1414696" cy="114300"/>
          </a:xfrm>
          <a:prstGeom prst="roundRect">
            <a:avLst>
              <a:gd name="adj" fmla="val 50000"/>
            </a:avLst>
          </a:prstGeom>
          <a:solidFill>
            <a:srgbClr val="8B6F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424340" y="4014215"/>
            <a:ext cx="1554480" cy="164592"/>
          </a:xfrm>
          <a:prstGeom prst="rect">
            <a:avLst/>
          </a:prstGeom>
          <a:noFill/>
        </p:spPr>
        <p:txBody>
          <a:bodyPr wrap="square" anchor="t" lIns="45720" rIns="45720" tIns="18288" bIns="18288">
            <a:spAutoFit/>
          </a:bodyPr>
          <a:lstStyle/>
          <a:p>
            <a:pPr algn="l">
              <a:lnSpc>
                <a:spcPct val="100000"/>
              </a:lnSpc>
            </a:pPr>
            <a:r>
              <a:rPr sz="650" b="1" i="0">
                <a:solidFill>
                  <a:srgbClr val="495057"/>
                </a:solidFill>
                <a:latin typeface="Calibri"/>
              </a:rPr>
              <a:t>Industrialisation</a:t>
            </a:r>
          </a:p>
        </p:txBody>
      </p:sp>
      <p:sp>
        <p:nvSpPr>
          <p:cNvPr id="61" name="Rounded Rectangle 60"/>
          <p:cNvSpPr/>
          <p:nvPr/>
        </p:nvSpPr>
        <p:spPr>
          <a:xfrm>
            <a:off x="5369476" y="4192524"/>
            <a:ext cx="1188345" cy="114300"/>
          </a:xfrm>
          <a:prstGeom prst="roundRect">
            <a:avLst>
              <a:gd name="adj" fmla="val 50000"/>
            </a:avLst>
          </a:prstGeom>
          <a:solidFill>
            <a:srgbClr val="9E8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12685" y="4155948"/>
            <a:ext cx="1554480" cy="164592"/>
          </a:xfrm>
          <a:prstGeom prst="rect">
            <a:avLst/>
          </a:prstGeom>
          <a:noFill/>
        </p:spPr>
        <p:txBody>
          <a:bodyPr wrap="square" anchor="t" lIns="45720" rIns="45720" tIns="18288" bIns="18288">
            <a:spAutoFit/>
          </a:bodyPr>
          <a:lstStyle/>
          <a:p>
            <a:pPr algn="l">
              <a:lnSpc>
                <a:spcPct val="100000"/>
              </a:lnSpc>
            </a:pPr>
            <a:r>
              <a:rPr sz="650" b="1" i="0">
                <a:solidFill>
                  <a:srgbClr val="495057"/>
                </a:solidFill>
                <a:latin typeface="Calibri"/>
              </a:rPr>
              <a:t>Fiabilisation</a:t>
            </a:r>
          </a:p>
        </p:txBody>
      </p:sp>
      <p:sp>
        <p:nvSpPr>
          <p:cNvPr id="63" name="Rounded Rectangle 62"/>
          <p:cNvSpPr/>
          <p:nvPr/>
        </p:nvSpPr>
        <p:spPr>
          <a:xfrm>
            <a:off x="6557821" y="4334256"/>
            <a:ext cx="848818" cy="114300"/>
          </a:xfrm>
          <a:prstGeom prst="roundRect">
            <a:avLst>
              <a:gd name="adj" fmla="val 50000"/>
            </a:avLst>
          </a:prstGeom>
          <a:solidFill>
            <a:srgbClr val="B09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61504" y="4297680"/>
            <a:ext cx="1554480" cy="164592"/>
          </a:xfrm>
          <a:prstGeom prst="rect">
            <a:avLst/>
          </a:prstGeom>
          <a:noFill/>
        </p:spPr>
        <p:txBody>
          <a:bodyPr wrap="square" anchor="t" lIns="45720" rIns="45720" tIns="18288" bIns="18288">
            <a:spAutoFit/>
          </a:bodyPr>
          <a:lstStyle/>
          <a:p>
            <a:pPr algn="l">
              <a:lnSpc>
                <a:spcPct val="100000"/>
              </a:lnSpc>
            </a:pPr>
            <a:r>
              <a:rPr sz="650" b="1" i="0">
                <a:solidFill>
                  <a:srgbClr val="495057"/>
                </a:solidFill>
                <a:latin typeface="Calibri"/>
              </a:rPr>
              <a:t>Clôture</a:t>
            </a:r>
          </a:p>
        </p:txBody>
      </p:sp>
      <p:sp>
        <p:nvSpPr>
          <p:cNvPr id="65" name="Diamond 64"/>
          <p:cNvSpPr/>
          <p:nvPr/>
        </p:nvSpPr>
        <p:spPr>
          <a:xfrm>
            <a:off x="1810736" y="4498848"/>
            <a:ext cx="100584" cy="100584"/>
          </a:xfrm>
          <a:prstGeom prst="diamond">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678148" y="4590288"/>
            <a:ext cx="365760" cy="146304"/>
          </a:xfrm>
          <a:prstGeom prst="rect">
            <a:avLst/>
          </a:prstGeom>
          <a:noFill/>
        </p:spPr>
        <p:txBody>
          <a:bodyPr wrap="square" anchor="t" lIns="45720" rIns="45720" tIns="18288" bIns="18288">
            <a:spAutoFit/>
          </a:bodyPr>
          <a:lstStyle/>
          <a:p>
            <a:pPr algn="ctr">
              <a:lnSpc>
                <a:spcPct val="100000"/>
              </a:lnSpc>
            </a:pPr>
            <a:r>
              <a:rPr sz="600" b="1" i="0">
                <a:solidFill>
                  <a:srgbClr val="2B8A3E"/>
                </a:solidFill>
                <a:latin typeface="Calibri"/>
              </a:rPr>
              <a:t>M1</a:t>
            </a:r>
          </a:p>
        </p:txBody>
      </p:sp>
      <p:sp>
        <p:nvSpPr>
          <p:cNvPr id="67" name="Diamond 66"/>
          <p:cNvSpPr/>
          <p:nvPr/>
        </p:nvSpPr>
        <p:spPr>
          <a:xfrm>
            <a:off x="3904488" y="4498848"/>
            <a:ext cx="100584" cy="100584"/>
          </a:xfrm>
          <a:prstGeom prst="diamond">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771900" y="4590288"/>
            <a:ext cx="365760" cy="146304"/>
          </a:xfrm>
          <a:prstGeom prst="rect">
            <a:avLst/>
          </a:prstGeom>
          <a:noFill/>
        </p:spPr>
        <p:txBody>
          <a:bodyPr wrap="square" anchor="t" lIns="45720" rIns="45720" tIns="18288" bIns="18288">
            <a:spAutoFit/>
          </a:bodyPr>
          <a:lstStyle/>
          <a:p>
            <a:pPr algn="ctr">
              <a:lnSpc>
                <a:spcPct val="100000"/>
              </a:lnSpc>
            </a:pPr>
            <a:r>
              <a:rPr sz="600" b="1" i="0">
                <a:solidFill>
                  <a:srgbClr val="2B8A3E"/>
                </a:solidFill>
                <a:latin typeface="Calibri"/>
              </a:rPr>
              <a:t>M2</a:t>
            </a:r>
          </a:p>
        </p:txBody>
      </p:sp>
      <p:sp>
        <p:nvSpPr>
          <p:cNvPr id="69" name="Diamond 68"/>
          <p:cNvSpPr/>
          <p:nvPr/>
        </p:nvSpPr>
        <p:spPr>
          <a:xfrm>
            <a:off x="5319184" y="4498848"/>
            <a:ext cx="100584" cy="100584"/>
          </a:xfrm>
          <a:prstGeom prst="diamond">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186596" y="4590288"/>
            <a:ext cx="365760" cy="146304"/>
          </a:xfrm>
          <a:prstGeom prst="rect">
            <a:avLst/>
          </a:prstGeom>
          <a:noFill/>
        </p:spPr>
        <p:txBody>
          <a:bodyPr wrap="square" anchor="t" lIns="45720" rIns="45720" tIns="18288" bIns="18288">
            <a:spAutoFit/>
          </a:bodyPr>
          <a:lstStyle/>
          <a:p>
            <a:pPr algn="ctr">
              <a:lnSpc>
                <a:spcPct val="100000"/>
              </a:lnSpc>
            </a:pPr>
            <a:r>
              <a:rPr sz="600" b="1" i="0">
                <a:solidFill>
                  <a:srgbClr val="2B8A3E"/>
                </a:solidFill>
                <a:latin typeface="Calibri"/>
              </a:rPr>
              <a:t>M3</a:t>
            </a:r>
          </a:p>
        </p:txBody>
      </p:sp>
      <p:sp>
        <p:nvSpPr>
          <p:cNvPr id="71" name="Diamond 70"/>
          <p:cNvSpPr/>
          <p:nvPr/>
        </p:nvSpPr>
        <p:spPr>
          <a:xfrm>
            <a:off x="6507529" y="4498848"/>
            <a:ext cx="100584" cy="100584"/>
          </a:xfrm>
          <a:prstGeom prst="diamond">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74941" y="4590288"/>
            <a:ext cx="365760" cy="146304"/>
          </a:xfrm>
          <a:prstGeom prst="rect">
            <a:avLst/>
          </a:prstGeom>
          <a:noFill/>
        </p:spPr>
        <p:txBody>
          <a:bodyPr wrap="square" anchor="t" lIns="45720" rIns="45720" tIns="18288" bIns="18288">
            <a:spAutoFit/>
          </a:bodyPr>
          <a:lstStyle/>
          <a:p>
            <a:pPr algn="ctr">
              <a:lnSpc>
                <a:spcPct val="100000"/>
              </a:lnSpc>
            </a:pPr>
            <a:r>
              <a:rPr sz="600" b="1" i="0">
                <a:solidFill>
                  <a:srgbClr val="2B8A3E"/>
                </a:solidFill>
                <a:latin typeface="Calibri"/>
              </a:rPr>
              <a:t>M4</a:t>
            </a:r>
          </a:p>
        </p:txBody>
      </p:sp>
      <p:sp>
        <p:nvSpPr>
          <p:cNvPr id="73" name="Diamond 72"/>
          <p:cNvSpPr/>
          <p:nvPr/>
        </p:nvSpPr>
        <p:spPr>
          <a:xfrm>
            <a:off x="7356348" y="4498848"/>
            <a:ext cx="100584" cy="100584"/>
          </a:xfrm>
          <a:prstGeom prst="diamond">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223759" y="4590288"/>
            <a:ext cx="365760" cy="146304"/>
          </a:xfrm>
          <a:prstGeom prst="rect">
            <a:avLst/>
          </a:prstGeom>
          <a:noFill/>
        </p:spPr>
        <p:txBody>
          <a:bodyPr wrap="square" anchor="t" lIns="45720" rIns="45720" tIns="18288" bIns="18288">
            <a:spAutoFit/>
          </a:bodyPr>
          <a:lstStyle/>
          <a:p>
            <a:pPr algn="ctr">
              <a:lnSpc>
                <a:spcPct val="100000"/>
              </a:lnSpc>
            </a:pPr>
            <a:r>
              <a:rPr sz="600" b="1" i="0">
                <a:solidFill>
                  <a:srgbClr val="2B8A3E"/>
                </a:solidFill>
                <a:latin typeface="Calibri"/>
              </a:rPr>
              <a:t>M5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6741D9"/>
                </a:solidFill>
                <a:latin typeface="Calibri"/>
              </a:rPr>
              <a:t>3 · GESTION DE PROJET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Matrice RACI et parties prenantes</a:t>
            </a:r>
          </a:p>
        </p:txBody>
      </p:sp>
      <p:sp>
        <p:nvSpPr>
          <p:cNvPr id="11" name="Rectangle 10"/>
          <p:cNvSpPr/>
          <p:nvPr/>
        </p:nvSpPr>
        <p:spPr>
          <a:xfrm>
            <a:off x="475488" y="1069848"/>
            <a:ext cx="1051560" cy="4114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13 / 30</a:t>
            </a:r>
          </a:p>
        </p:txBody>
      </p:sp>
      <p:sp>
        <p:nvSpPr>
          <p:cNvPr id="13" name="Rounded Rectangle 12"/>
          <p:cNvSpPr/>
          <p:nvPr/>
        </p:nvSpPr>
        <p:spPr>
          <a:xfrm>
            <a:off x="457200" y="4818888"/>
            <a:ext cx="1124712" cy="228600"/>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C17 → C20</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 mémoire 13.2 → 13.4 · annexes L bis, O, O bis</a:t>
            </a:r>
          </a:p>
        </p:txBody>
      </p:sp>
      <p:sp>
        <p:nvSpPr>
          <p:cNvPr id="16" name="Rounded Rectangle 15"/>
          <p:cNvSpPr/>
          <p:nvPr/>
        </p:nvSpPr>
        <p:spPr>
          <a:xfrm>
            <a:off x="457200" y="1298448"/>
            <a:ext cx="3712464" cy="384048"/>
          </a:xfrm>
          <a:prstGeom prst="roundRect">
            <a:avLst>
              <a:gd name="adj" fmla="val 1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1490472"/>
            <a:ext cx="3712464" cy="192024"/>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55648"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Spon-
sor</a:t>
            </a:r>
          </a:p>
        </p:txBody>
      </p:sp>
      <p:sp>
        <p:nvSpPr>
          <p:cNvPr id="19" name="TextBox 18"/>
          <p:cNvSpPr txBox="1"/>
          <p:nvPr/>
        </p:nvSpPr>
        <p:spPr>
          <a:xfrm>
            <a:off x="2157984"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Dev
Ops</a:t>
            </a:r>
          </a:p>
        </p:txBody>
      </p:sp>
      <p:sp>
        <p:nvSpPr>
          <p:cNvPr id="20" name="TextBox 19"/>
          <p:cNvSpPr txBox="1"/>
          <p:nvPr/>
        </p:nvSpPr>
        <p:spPr>
          <a:xfrm>
            <a:off x="2560320"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Déve-
lopp.</a:t>
            </a:r>
          </a:p>
        </p:txBody>
      </p:sp>
      <p:sp>
        <p:nvSpPr>
          <p:cNvPr id="21" name="TextBox 20"/>
          <p:cNvSpPr txBox="1"/>
          <p:nvPr/>
        </p:nvSpPr>
        <p:spPr>
          <a:xfrm>
            <a:off x="2962656"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Sécu-
rité</a:t>
            </a:r>
          </a:p>
        </p:txBody>
      </p:sp>
      <p:sp>
        <p:nvSpPr>
          <p:cNvPr id="22" name="TextBox 21"/>
          <p:cNvSpPr txBox="1"/>
          <p:nvPr/>
        </p:nvSpPr>
        <p:spPr>
          <a:xfrm>
            <a:off x="3364991"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Péda-
gogie</a:t>
            </a:r>
          </a:p>
        </p:txBody>
      </p:sp>
      <p:sp>
        <p:nvSpPr>
          <p:cNvPr id="23" name="TextBox 22"/>
          <p:cNvSpPr txBox="1"/>
          <p:nvPr/>
        </p:nvSpPr>
        <p:spPr>
          <a:xfrm>
            <a:off x="3767328" y="1298448"/>
            <a:ext cx="402336" cy="384048"/>
          </a:xfrm>
          <a:prstGeom prst="rect">
            <a:avLst/>
          </a:prstGeom>
          <a:noFill/>
        </p:spPr>
        <p:txBody>
          <a:bodyPr wrap="square" anchor="ctr" lIns="45720" rIns="45720" tIns="18288" bIns="18288">
            <a:spAutoFit/>
          </a:bodyPr>
          <a:lstStyle/>
          <a:p>
            <a:pPr algn="ctr">
              <a:lnSpc>
                <a:spcPct val="92000"/>
              </a:lnSpc>
            </a:pPr>
            <a:r>
              <a:rPr sz="600" b="1" i="0">
                <a:solidFill>
                  <a:srgbClr val="FFFFFF"/>
                </a:solidFill>
                <a:latin typeface="Calibri"/>
              </a:rPr>
              <a:t>Bêta</a:t>
            </a:r>
          </a:p>
        </p:txBody>
      </p:sp>
      <p:sp>
        <p:nvSpPr>
          <p:cNvPr id="24" name="Rectangle 23"/>
          <p:cNvSpPr/>
          <p:nvPr/>
        </p:nvSpPr>
        <p:spPr>
          <a:xfrm>
            <a:off x="457200" y="1682495"/>
            <a:ext cx="1298448"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1682495"/>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1 Cadrage</a:t>
            </a:r>
          </a:p>
        </p:txBody>
      </p:sp>
      <p:sp>
        <p:nvSpPr>
          <p:cNvPr id="26" name="Rectangle 25"/>
          <p:cNvSpPr/>
          <p:nvPr/>
        </p:nvSpPr>
        <p:spPr>
          <a:xfrm>
            <a:off x="1755648" y="1682495"/>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55648" y="1682495"/>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28" name="Rectangle 27"/>
          <p:cNvSpPr/>
          <p:nvPr/>
        </p:nvSpPr>
        <p:spPr>
          <a:xfrm>
            <a:off x="2157984" y="1682495"/>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57984" y="1682495"/>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30" name="Rectangle 29"/>
          <p:cNvSpPr/>
          <p:nvPr/>
        </p:nvSpPr>
        <p:spPr>
          <a:xfrm>
            <a:off x="2560320" y="1682495"/>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560320" y="1682495"/>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32" name="Rectangle 31"/>
          <p:cNvSpPr/>
          <p:nvPr/>
        </p:nvSpPr>
        <p:spPr>
          <a:xfrm>
            <a:off x="2962656" y="1682495"/>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62656" y="1682495"/>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34" name="Rectangle 33"/>
          <p:cNvSpPr/>
          <p:nvPr/>
        </p:nvSpPr>
        <p:spPr>
          <a:xfrm>
            <a:off x="3364991" y="1682495"/>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64991" y="1682495"/>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36" name="Rectangle 35"/>
          <p:cNvSpPr/>
          <p:nvPr/>
        </p:nvSpPr>
        <p:spPr>
          <a:xfrm>
            <a:off x="3767328" y="1682495"/>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67328" y="1682495"/>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38" name="Rectangle 37"/>
          <p:cNvSpPr/>
          <p:nvPr/>
        </p:nvSpPr>
        <p:spPr>
          <a:xfrm>
            <a:off x="457200" y="1970531"/>
            <a:ext cx="1298448"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1970531"/>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2 Infra IaC</a:t>
            </a:r>
          </a:p>
        </p:txBody>
      </p:sp>
      <p:sp>
        <p:nvSpPr>
          <p:cNvPr id="40" name="Rectangle 39"/>
          <p:cNvSpPr/>
          <p:nvPr/>
        </p:nvSpPr>
        <p:spPr>
          <a:xfrm>
            <a:off x="1755648" y="1970531"/>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755648" y="1970531"/>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42" name="Rectangle 41"/>
          <p:cNvSpPr/>
          <p:nvPr/>
        </p:nvSpPr>
        <p:spPr>
          <a:xfrm>
            <a:off x="2157984" y="1970531"/>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57984" y="1970531"/>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44" name="Rectangle 43"/>
          <p:cNvSpPr/>
          <p:nvPr/>
        </p:nvSpPr>
        <p:spPr>
          <a:xfrm>
            <a:off x="2560320" y="1970531"/>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60320" y="1970531"/>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46" name="Rectangle 45"/>
          <p:cNvSpPr/>
          <p:nvPr/>
        </p:nvSpPr>
        <p:spPr>
          <a:xfrm>
            <a:off x="2962656" y="1970531"/>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62656" y="1970531"/>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48" name="Rectangle 47"/>
          <p:cNvSpPr/>
          <p:nvPr/>
        </p:nvSpPr>
        <p:spPr>
          <a:xfrm>
            <a:off x="3364991" y="1970531"/>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64991" y="1970531"/>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50" name="Rectangle 49"/>
          <p:cNvSpPr/>
          <p:nvPr/>
        </p:nvSpPr>
        <p:spPr>
          <a:xfrm>
            <a:off x="3767328" y="1970531"/>
            <a:ext cx="402336"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67328" y="1970531"/>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DEE2E6"/>
                </a:solidFill>
                <a:latin typeface="Calibri"/>
              </a:rPr>
              <a:t>–</a:t>
            </a:r>
          </a:p>
        </p:txBody>
      </p:sp>
      <p:sp>
        <p:nvSpPr>
          <p:cNvPr id="52" name="Rectangle 51"/>
          <p:cNvSpPr/>
          <p:nvPr/>
        </p:nvSpPr>
        <p:spPr>
          <a:xfrm>
            <a:off x="457200" y="2258568"/>
            <a:ext cx="1298448"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0352" y="2258568"/>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3 Backend API</a:t>
            </a:r>
          </a:p>
        </p:txBody>
      </p:sp>
      <p:sp>
        <p:nvSpPr>
          <p:cNvPr id="54" name="Rectangle 53"/>
          <p:cNvSpPr/>
          <p:nvPr/>
        </p:nvSpPr>
        <p:spPr>
          <a:xfrm>
            <a:off x="1755648" y="2258568"/>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755648" y="225856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56" name="Rectangle 55"/>
          <p:cNvSpPr/>
          <p:nvPr/>
        </p:nvSpPr>
        <p:spPr>
          <a:xfrm>
            <a:off x="2157984" y="2258568"/>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157984" y="2258568"/>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58" name="Rectangle 57"/>
          <p:cNvSpPr/>
          <p:nvPr/>
        </p:nvSpPr>
        <p:spPr>
          <a:xfrm>
            <a:off x="2560320" y="2258568"/>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60320" y="2258568"/>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60" name="Rectangle 59"/>
          <p:cNvSpPr/>
          <p:nvPr/>
        </p:nvSpPr>
        <p:spPr>
          <a:xfrm>
            <a:off x="2962656" y="2258568"/>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962656" y="225856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62" name="Rectangle 61"/>
          <p:cNvSpPr/>
          <p:nvPr/>
        </p:nvSpPr>
        <p:spPr>
          <a:xfrm>
            <a:off x="3364991" y="2258568"/>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64991" y="225856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64" name="Rectangle 63"/>
          <p:cNvSpPr/>
          <p:nvPr/>
        </p:nvSpPr>
        <p:spPr>
          <a:xfrm>
            <a:off x="3767328" y="2258568"/>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767328" y="225856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66" name="Rectangle 65"/>
          <p:cNvSpPr/>
          <p:nvPr/>
        </p:nvSpPr>
        <p:spPr>
          <a:xfrm>
            <a:off x="457200" y="2546604"/>
            <a:ext cx="1298448"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30352" y="2546604"/>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4 Frontend &amp; site</a:t>
            </a:r>
          </a:p>
        </p:txBody>
      </p:sp>
      <p:sp>
        <p:nvSpPr>
          <p:cNvPr id="68" name="Rectangle 67"/>
          <p:cNvSpPr/>
          <p:nvPr/>
        </p:nvSpPr>
        <p:spPr>
          <a:xfrm>
            <a:off x="1755648" y="2546604"/>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755648" y="2546604"/>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70" name="Rectangle 69"/>
          <p:cNvSpPr/>
          <p:nvPr/>
        </p:nvSpPr>
        <p:spPr>
          <a:xfrm>
            <a:off x="2157984" y="2546604"/>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157984" y="2546604"/>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72" name="Rectangle 71"/>
          <p:cNvSpPr/>
          <p:nvPr/>
        </p:nvSpPr>
        <p:spPr>
          <a:xfrm>
            <a:off x="2560320" y="2546604"/>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560320" y="2546604"/>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74" name="Rectangle 73"/>
          <p:cNvSpPr/>
          <p:nvPr/>
        </p:nvSpPr>
        <p:spPr>
          <a:xfrm>
            <a:off x="2962656" y="2546604"/>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962656" y="2546604"/>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76" name="Rectangle 75"/>
          <p:cNvSpPr/>
          <p:nvPr/>
        </p:nvSpPr>
        <p:spPr>
          <a:xfrm>
            <a:off x="3364991" y="2546604"/>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364991" y="2546604"/>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78" name="Rectangle 77"/>
          <p:cNvSpPr/>
          <p:nvPr/>
        </p:nvSpPr>
        <p:spPr>
          <a:xfrm>
            <a:off x="3767328" y="2546604"/>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67328" y="2546604"/>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80" name="Rectangle 79"/>
          <p:cNvSpPr/>
          <p:nvPr/>
        </p:nvSpPr>
        <p:spPr>
          <a:xfrm>
            <a:off x="457200" y="2834639"/>
            <a:ext cx="1298448"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30352" y="2834639"/>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5 Chaîne CI/CD</a:t>
            </a:r>
          </a:p>
        </p:txBody>
      </p:sp>
      <p:sp>
        <p:nvSpPr>
          <p:cNvPr id="82" name="Rectangle 81"/>
          <p:cNvSpPr/>
          <p:nvPr/>
        </p:nvSpPr>
        <p:spPr>
          <a:xfrm>
            <a:off x="1755648" y="2834639"/>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755648" y="2834639"/>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84" name="Rectangle 83"/>
          <p:cNvSpPr/>
          <p:nvPr/>
        </p:nvSpPr>
        <p:spPr>
          <a:xfrm>
            <a:off x="2157984" y="2834639"/>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57984" y="2834639"/>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A/R</a:t>
            </a:r>
          </a:p>
        </p:txBody>
      </p:sp>
      <p:sp>
        <p:nvSpPr>
          <p:cNvPr id="86" name="Rectangle 85"/>
          <p:cNvSpPr/>
          <p:nvPr/>
        </p:nvSpPr>
        <p:spPr>
          <a:xfrm>
            <a:off x="2560320" y="2834639"/>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560320" y="2834639"/>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88" name="Rectangle 87"/>
          <p:cNvSpPr/>
          <p:nvPr/>
        </p:nvSpPr>
        <p:spPr>
          <a:xfrm>
            <a:off x="2962656" y="2834639"/>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962656" y="2834639"/>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90" name="Rectangle 89"/>
          <p:cNvSpPr/>
          <p:nvPr/>
        </p:nvSpPr>
        <p:spPr>
          <a:xfrm>
            <a:off x="3364991" y="2834639"/>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364991" y="2834639"/>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92" name="Rectangle 91"/>
          <p:cNvSpPr/>
          <p:nvPr/>
        </p:nvSpPr>
        <p:spPr>
          <a:xfrm>
            <a:off x="3767328" y="2834639"/>
            <a:ext cx="402336"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767328" y="2834639"/>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DEE2E6"/>
                </a:solidFill>
                <a:latin typeface="Calibri"/>
              </a:rPr>
              <a:t>–</a:t>
            </a:r>
          </a:p>
        </p:txBody>
      </p:sp>
      <p:sp>
        <p:nvSpPr>
          <p:cNvPr id="94" name="Rectangle 93"/>
          <p:cNvSpPr/>
          <p:nvPr/>
        </p:nvSpPr>
        <p:spPr>
          <a:xfrm>
            <a:off x="457200" y="3122676"/>
            <a:ext cx="1298448"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30352" y="3122676"/>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6 Observabilité</a:t>
            </a:r>
          </a:p>
        </p:txBody>
      </p:sp>
      <p:sp>
        <p:nvSpPr>
          <p:cNvPr id="96" name="Rectangle 95"/>
          <p:cNvSpPr/>
          <p:nvPr/>
        </p:nvSpPr>
        <p:spPr>
          <a:xfrm>
            <a:off x="1755648" y="3122676"/>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755648" y="3122676"/>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98" name="Rectangle 97"/>
          <p:cNvSpPr/>
          <p:nvPr/>
        </p:nvSpPr>
        <p:spPr>
          <a:xfrm>
            <a:off x="2157984" y="3122676"/>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157984" y="3122676"/>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A/R</a:t>
            </a:r>
          </a:p>
        </p:txBody>
      </p:sp>
      <p:sp>
        <p:nvSpPr>
          <p:cNvPr id="100" name="Rectangle 99"/>
          <p:cNvSpPr/>
          <p:nvPr/>
        </p:nvSpPr>
        <p:spPr>
          <a:xfrm>
            <a:off x="2560320" y="3122676"/>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560320" y="3122676"/>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102" name="Rectangle 101"/>
          <p:cNvSpPr/>
          <p:nvPr/>
        </p:nvSpPr>
        <p:spPr>
          <a:xfrm>
            <a:off x="2962656" y="3122676"/>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962656" y="3122676"/>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104" name="Rectangle 103"/>
          <p:cNvSpPr/>
          <p:nvPr/>
        </p:nvSpPr>
        <p:spPr>
          <a:xfrm>
            <a:off x="3364991" y="3122676"/>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3364991" y="3122676"/>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106" name="Rectangle 105"/>
          <p:cNvSpPr/>
          <p:nvPr/>
        </p:nvSpPr>
        <p:spPr>
          <a:xfrm>
            <a:off x="3767328" y="3122676"/>
            <a:ext cx="402336"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767328" y="3122676"/>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DEE2E6"/>
                </a:solidFill>
                <a:latin typeface="Calibri"/>
              </a:rPr>
              <a:t>–</a:t>
            </a:r>
          </a:p>
        </p:txBody>
      </p:sp>
      <p:sp>
        <p:nvSpPr>
          <p:cNvPr id="108" name="Rectangle 107"/>
          <p:cNvSpPr/>
          <p:nvPr/>
        </p:nvSpPr>
        <p:spPr>
          <a:xfrm>
            <a:off x="457200" y="3410712"/>
            <a:ext cx="1298448"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30352" y="3410712"/>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7 Sécurité</a:t>
            </a:r>
          </a:p>
        </p:txBody>
      </p:sp>
      <p:sp>
        <p:nvSpPr>
          <p:cNvPr id="110" name="Rectangle 109"/>
          <p:cNvSpPr/>
          <p:nvPr/>
        </p:nvSpPr>
        <p:spPr>
          <a:xfrm>
            <a:off x="1755648" y="3410712"/>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755648" y="3410712"/>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112" name="Rectangle 111"/>
          <p:cNvSpPr/>
          <p:nvPr/>
        </p:nvSpPr>
        <p:spPr>
          <a:xfrm>
            <a:off x="2157984" y="3410712"/>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157984" y="3410712"/>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114" name="Rectangle 113"/>
          <p:cNvSpPr/>
          <p:nvPr/>
        </p:nvSpPr>
        <p:spPr>
          <a:xfrm>
            <a:off x="2560320" y="3410712"/>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560320" y="3410712"/>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116" name="Rectangle 115"/>
          <p:cNvSpPr/>
          <p:nvPr/>
        </p:nvSpPr>
        <p:spPr>
          <a:xfrm>
            <a:off x="2962656" y="3410712"/>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2962656" y="3410712"/>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118" name="Rectangle 117"/>
          <p:cNvSpPr/>
          <p:nvPr/>
        </p:nvSpPr>
        <p:spPr>
          <a:xfrm>
            <a:off x="3364991" y="3410712"/>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364991" y="3410712"/>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120" name="Rectangle 119"/>
          <p:cNvSpPr/>
          <p:nvPr/>
        </p:nvSpPr>
        <p:spPr>
          <a:xfrm>
            <a:off x="3767328" y="3410712"/>
            <a:ext cx="402336"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767328" y="3410712"/>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DEE2E6"/>
                </a:solidFill>
                <a:latin typeface="Calibri"/>
              </a:rPr>
              <a:t>–</a:t>
            </a:r>
          </a:p>
        </p:txBody>
      </p:sp>
      <p:sp>
        <p:nvSpPr>
          <p:cNvPr id="122" name="Rectangle 121"/>
          <p:cNvSpPr/>
          <p:nvPr/>
        </p:nvSpPr>
        <p:spPr>
          <a:xfrm>
            <a:off x="457200" y="3698748"/>
            <a:ext cx="1298448"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30352" y="3698748"/>
            <a:ext cx="1188719" cy="288036"/>
          </a:xfrm>
          <a:prstGeom prst="rect">
            <a:avLst/>
          </a:prstGeom>
          <a:noFill/>
        </p:spPr>
        <p:txBody>
          <a:bodyPr wrap="square" anchor="ctr" lIns="45720" rIns="45720" tIns="18288" bIns="18288">
            <a:spAutoFit/>
          </a:bodyPr>
          <a:lstStyle/>
          <a:p>
            <a:pPr algn="l">
              <a:lnSpc>
                <a:spcPct val="92000"/>
              </a:lnSpc>
            </a:pPr>
            <a:r>
              <a:rPr sz="700" b="1" i="0">
                <a:solidFill>
                  <a:srgbClr val="212529"/>
                </a:solidFill>
                <a:latin typeface="Calibri"/>
              </a:rPr>
              <a:t>8 Documentation</a:t>
            </a:r>
          </a:p>
        </p:txBody>
      </p:sp>
      <p:sp>
        <p:nvSpPr>
          <p:cNvPr id="124" name="Rectangle 123"/>
          <p:cNvSpPr/>
          <p:nvPr/>
        </p:nvSpPr>
        <p:spPr>
          <a:xfrm>
            <a:off x="1755648" y="3698748"/>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755648" y="369874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126" name="Rectangle 125"/>
          <p:cNvSpPr/>
          <p:nvPr/>
        </p:nvSpPr>
        <p:spPr>
          <a:xfrm>
            <a:off x="2157984" y="3698748"/>
            <a:ext cx="402336" cy="288036"/>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2157984" y="3698748"/>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6741D9"/>
                </a:solidFill>
                <a:latin typeface="Calibri"/>
              </a:rPr>
              <a:t>R</a:t>
            </a:r>
          </a:p>
        </p:txBody>
      </p:sp>
      <p:sp>
        <p:nvSpPr>
          <p:cNvPr id="128" name="Rectangle 127"/>
          <p:cNvSpPr/>
          <p:nvPr/>
        </p:nvSpPr>
        <p:spPr>
          <a:xfrm>
            <a:off x="2560320" y="3698748"/>
            <a:ext cx="402336" cy="288036"/>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2560320" y="369874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868E96"/>
                </a:solidFill>
                <a:latin typeface="Calibri"/>
              </a:rPr>
              <a:t>I</a:t>
            </a:r>
          </a:p>
        </p:txBody>
      </p:sp>
      <p:sp>
        <p:nvSpPr>
          <p:cNvPr id="130" name="Rectangle 129"/>
          <p:cNvSpPr/>
          <p:nvPr/>
        </p:nvSpPr>
        <p:spPr>
          <a:xfrm>
            <a:off x="2962656" y="3698748"/>
            <a:ext cx="402336" cy="288036"/>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2962656" y="369874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495057"/>
                </a:solidFill>
                <a:latin typeface="Calibri"/>
              </a:rPr>
              <a:t>C</a:t>
            </a:r>
          </a:p>
        </p:txBody>
      </p:sp>
      <p:sp>
        <p:nvSpPr>
          <p:cNvPr id="132" name="Rectangle 131"/>
          <p:cNvSpPr/>
          <p:nvPr/>
        </p:nvSpPr>
        <p:spPr>
          <a:xfrm>
            <a:off x="3364991" y="3698748"/>
            <a:ext cx="402336" cy="288036"/>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3364991" y="3698748"/>
            <a:ext cx="402336" cy="288036"/>
          </a:xfrm>
          <a:prstGeom prst="rect">
            <a:avLst/>
          </a:prstGeom>
          <a:noFill/>
        </p:spPr>
        <p:txBody>
          <a:bodyPr wrap="square" anchor="ctr" lIns="45720" rIns="45720" tIns="18288" bIns="18288">
            <a:spAutoFit/>
          </a:bodyPr>
          <a:lstStyle/>
          <a:p>
            <a:pPr algn="ctr">
              <a:lnSpc>
                <a:spcPct val="98000"/>
              </a:lnSpc>
            </a:pPr>
            <a:r>
              <a:rPr sz="700" b="1" i="0">
                <a:solidFill>
                  <a:srgbClr val="FFFFFF"/>
                </a:solidFill>
                <a:latin typeface="Calibri"/>
              </a:rPr>
              <a:t>A</a:t>
            </a:r>
          </a:p>
        </p:txBody>
      </p:sp>
      <p:sp>
        <p:nvSpPr>
          <p:cNvPr id="134" name="Rectangle 133"/>
          <p:cNvSpPr/>
          <p:nvPr/>
        </p:nvSpPr>
        <p:spPr>
          <a:xfrm>
            <a:off x="3767328" y="3698748"/>
            <a:ext cx="402336" cy="288036"/>
          </a:xfrm>
          <a:prstGeom prst="rect">
            <a:avLst/>
          </a:prstGeom>
          <a:solidFill>
            <a:srgbClr val="FFFFFF"/>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767328" y="3698748"/>
            <a:ext cx="402336" cy="288036"/>
          </a:xfrm>
          <a:prstGeom prst="rect">
            <a:avLst/>
          </a:prstGeom>
          <a:noFill/>
        </p:spPr>
        <p:txBody>
          <a:bodyPr wrap="square" anchor="ctr" lIns="45720" rIns="45720" tIns="18288" bIns="18288">
            <a:spAutoFit/>
          </a:bodyPr>
          <a:lstStyle/>
          <a:p>
            <a:pPr algn="ctr">
              <a:lnSpc>
                <a:spcPct val="98000"/>
              </a:lnSpc>
            </a:pPr>
            <a:r>
              <a:rPr sz="700" b="0" i="0">
                <a:solidFill>
                  <a:srgbClr val="DEE2E6"/>
                </a:solidFill>
                <a:latin typeface="Calibri"/>
              </a:rPr>
              <a:t>–</a:t>
            </a:r>
          </a:p>
        </p:txBody>
      </p:sp>
      <p:sp>
        <p:nvSpPr>
          <p:cNvPr id="136" name="Rectangle 135"/>
          <p:cNvSpPr/>
          <p:nvPr/>
        </p:nvSpPr>
        <p:spPr>
          <a:xfrm>
            <a:off x="457200" y="4105656"/>
            <a:ext cx="201168" cy="182880"/>
          </a:xfrm>
          <a:prstGeom prst="rect">
            <a:avLst/>
          </a:prstGeom>
          <a:solidFill>
            <a:srgbClr val="6741D9"/>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57200" y="4105656"/>
            <a:ext cx="201168" cy="182880"/>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A</a:t>
            </a:r>
          </a:p>
        </p:txBody>
      </p:sp>
      <p:sp>
        <p:nvSpPr>
          <p:cNvPr id="138" name="TextBox 137"/>
          <p:cNvSpPr txBox="1"/>
          <p:nvPr/>
        </p:nvSpPr>
        <p:spPr>
          <a:xfrm>
            <a:off x="713232" y="4078224"/>
            <a:ext cx="1572768" cy="237744"/>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décide, un seul par lot</a:t>
            </a:r>
          </a:p>
        </p:txBody>
      </p:sp>
      <p:sp>
        <p:nvSpPr>
          <p:cNvPr id="139" name="Rectangle 138"/>
          <p:cNvSpPr/>
          <p:nvPr/>
        </p:nvSpPr>
        <p:spPr>
          <a:xfrm>
            <a:off x="2331720" y="4105656"/>
            <a:ext cx="201168" cy="182880"/>
          </a:xfrm>
          <a:prstGeom prst="rect">
            <a:avLst/>
          </a:prstGeom>
          <a:solidFill>
            <a:srgbClr val="C2B3F0"/>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331720" y="4105656"/>
            <a:ext cx="201168" cy="182880"/>
          </a:xfrm>
          <a:prstGeom prst="rect">
            <a:avLst/>
          </a:prstGeom>
          <a:noFill/>
        </p:spPr>
        <p:txBody>
          <a:bodyPr wrap="square" anchor="ctr" lIns="45720" rIns="45720" tIns="18288" bIns="18288">
            <a:spAutoFit/>
          </a:bodyPr>
          <a:lstStyle/>
          <a:p>
            <a:pPr algn="ctr">
              <a:lnSpc>
                <a:spcPct val="98000"/>
              </a:lnSpc>
            </a:pPr>
            <a:r>
              <a:rPr sz="650" b="1" i="0">
                <a:solidFill>
                  <a:srgbClr val="6741D9"/>
                </a:solidFill>
                <a:latin typeface="Calibri"/>
              </a:rPr>
              <a:t>R</a:t>
            </a:r>
          </a:p>
        </p:txBody>
      </p:sp>
      <p:sp>
        <p:nvSpPr>
          <p:cNvPr id="141" name="TextBox 140"/>
          <p:cNvSpPr txBox="1"/>
          <p:nvPr/>
        </p:nvSpPr>
        <p:spPr>
          <a:xfrm>
            <a:off x="2587752" y="4078224"/>
            <a:ext cx="1572768" cy="237744"/>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exécute</a:t>
            </a:r>
          </a:p>
        </p:txBody>
      </p:sp>
      <p:sp>
        <p:nvSpPr>
          <p:cNvPr id="142" name="Rectangle 141"/>
          <p:cNvSpPr/>
          <p:nvPr/>
        </p:nvSpPr>
        <p:spPr>
          <a:xfrm>
            <a:off x="457200" y="4361688"/>
            <a:ext cx="201168" cy="182880"/>
          </a:xfrm>
          <a:prstGeom prst="rect">
            <a:avLst/>
          </a:prstGeom>
          <a:solidFill>
            <a:srgbClr val="F0ECFB"/>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57200" y="4361688"/>
            <a:ext cx="201168" cy="182880"/>
          </a:xfrm>
          <a:prstGeom prst="rect">
            <a:avLst/>
          </a:prstGeom>
          <a:noFill/>
        </p:spPr>
        <p:txBody>
          <a:bodyPr wrap="square" anchor="ctr" lIns="45720" rIns="45720" tIns="18288" bIns="18288">
            <a:spAutoFit/>
          </a:bodyPr>
          <a:lstStyle/>
          <a:p>
            <a:pPr algn="ctr">
              <a:lnSpc>
                <a:spcPct val="98000"/>
              </a:lnSpc>
            </a:pPr>
            <a:r>
              <a:rPr sz="650" b="1" i="0">
                <a:solidFill>
                  <a:srgbClr val="495057"/>
                </a:solidFill>
                <a:latin typeface="Calibri"/>
              </a:rPr>
              <a:t>C</a:t>
            </a:r>
          </a:p>
        </p:txBody>
      </p:sp>
      <p:sp>
        <p:nvSpPr>
          <p:cNvPr id="144" name="TextBox 143"/>
          <p:cNvSpPr txBox="1"/>
          <p:nvPr/>
        </p:nvSpPr>
        <p:spPr>
          <a:xfrm>
            <a:off x="713232" y="4334256"/>
            <a:ext cx="1572768" cy="237744"/>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consulté avant</a:t>
            </a:r>
          </a:p>
        </p:txBody>
      </p:sp>
      <p:sp>
        <p:nvSpPr>
          <p:cNvPr id="145" name="Rectangle 144"/>
          <p:cNvSpPr/>
          <p:nvPr/>
        </p:nvSpPr>
        <p:spPr>
          <a:xfrm>
            <a:off x="2331720" y="4361688"/>
            <a:ext cx="201168" cy="182880"/>
          </a:xfrm>
          <a:prstGeom prst="rect">
            <a:avLst/>
          </a:prstGeom>
          <a:solidFill>
            <a:srgbClr val="F8F9FA"/>
          </a:solidFill>
          <a:ln w="635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331720" y="4361688"/>
            <a:ext cx="201168" cy="182880"/>
          </a:xfrm>
          <a:prstGeom prst="rect">
            <a:avLst/>
          </a:prstGeom>
          <a:noFill/>
        </p:spPr>
        <p:txBody>
          <a:bodyPr wrap="square" anchor="ctr" lIns="45720" rIns="45720" tIns="18288" bIns="18288">
            <a:spAutoFit/>
          </a:bodyPr>
          <a:lstStyle/>
          <a:p>
            <a:pPr algn="ctr">
              <a:lnSpc>
                <a:spcPct val="98000"/>
              </a:lnSpc>
            </a:pPr>
            <a:r>
              <a:rPr sz="650" b="1" i="0">
                <a:solidFill>
                  <a:srgbClr val="868E96"/>
                </a:solidFill>
                <a:latin typeface="Calibri"/>
              </a:rPr>
              <a:t>I</a:t>
            </a:r>
          </a:p>
        </p:txBody>
      </p:sp>
      <p:sp>
        <p:nvSpPr>
          <p:cNvPr id="147" name="TextBox 146"/>
          <p:cNvSpPr txBox="1"/>
          <p:nvPr/>
        </p:nvSpPr>
        <p:spPr>
          <a:xfrm>
            <a:off x="2587752" y="4334256"/>
            <a:ext cx="1572768" cy="237744"/>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informé après</a:t>
            </a:r>
          </a:p>
        </p:txBody>
      </p:sp>
      <p:sp>
        <p:nvSpPr>
          <p:cNvPr id="148" name="TextBox 147"/>
          <p:cNvSpPr txBox="1"/>
          <p:nvPr/>
        </p:nvSpPr>
        <p:spPr>
          <a:xfrm>
            <a:off x="4297680" y="1225296"/>
            <a:ext cx="4389120" cy="182880"/>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PARTIES PRENANTES  ·  POUVOIR × INTÉRÊT</a:t>
            </a:r>
          </a:p>
        </p:txBody>
      </p:sp>
      <p:sp>
        <p:nvSpPr>
          <p:cNvPr id="149" name="Rectangle 148"/>
          <p:cNvSpPr/>
          <p:nvPr/>
        </p:nvSpPr>
        <p:spPr>
          <a:xfrm>
            <a:off x="4846320" y="1444752"/>
            <a:ext cx="1874519" cy="768096"/>
          </a:xfrm>
          <a:prstGeom prst="rect">
            <a:avLst/>
          </a:prstGeom>
          <a:solidFill>
            <a:srgbClr val="F8F9F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937759" y="1517904"/>
            <a:ext cx="1691639" cy="621792"/>
          </a:xfrm>
          <a:prstGeom prst="rect">
            <a:avLst/>
          </a:prstGeom>
          <a:noFill/>
        </p:spPr>
        <p:txBody>
          <a:bodyPr wrap="square" anchor="t" lIns="45720" rIns="45720" tIns="18288" bIns="18288">
            <a:spAutoFit/>
          </a:bodyPr>
          <a:lstStyle/>
          <a:p>
            <a:pPr algn="l">
              <a:lnSpc>
                <a:spcPct val="105000"/>
              </a:lnSpc>
              <a:spcAft>
                <a:spcPts val="300"/>
              </a:spcAft>
            </a:pPr>
            <a:r>
              <a:rPr sz="750" b="1" i="0">
                <a:solidFill>
                  <a:srgbClr val="868E96"/>
                </a:solidFill>
                <a:latin typeface="Calibri"/>
              </a:rPr>
              <a:t>Maintenir satisfait</a:t>
            </a:r>
          </a:p>
          <a:p>
            <a:pPr algn="l">
              <a:lnSpc>
                <a:spcPct val="105000"/>
              </a:lnSpc>
              <a:spcAft>
                <a:spcPts val="300"/>
              </a:spcAft>
            </a:pPr>
            <a:r>
              <a:rPr sz="850" b="1" i="0">
                <a:solidFill>
                  <a:srgbClr val="212529"/>
                </a:solidFill>
                <a:latin typeface="Calibri"/>
              </a:rPr>
              <a:t>aucune</a:t>
            </a:r>
          </a:p>
        </p:txBody>
      </p:sp>
      <p:sp>
        <p:nvSpPr>
          <p:cNvPr id="151" name="Rectangle 150"/>
          <p:cNvSpPr/>
          <p:nvPr/>
        </p:nvSpPr>
        <p:spPr>
          <a:xfrm>
            <a:off x="6720840" y="1444752"/>
            <a:ext cx="1874519" cy="768096"/>
          </a:xfrm>
          <a:prstGeom prst="rect">
            <a:avLst/>
          </a:prstGeom>
          <a:solidFill>
            <a:srgbClr val="F0ECFB"/>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6812279" y="1517904"/>
            <a:ext cx="1691639" cy="621792"/>
          </a:xfrm>
          <a:prstGeom prst="rect">
            <a:avLst/>
          </a:prstGeom>
          <a:noFill/>
        </p:spPr>
        <p:txBody>
          <a:bodyPr wrap="square" anchor="t" lIns="45720" rIns="45720" tIns="18288" bIns="18288">
            <a:spAutoFit/>
          </a:bodyPr>
          <a:lstStyle/>
          <a:p>
            <a:pPr algn="l">
              <a:lnSpc>
                <a:spcPct val="105000"/>
              </a:lnSpc>
              <a:spcAft>
                <a:spcPts val="300"/>
              </a:spcAft>
            </a:pPr>
            <a:r>
              <a:rPr sz="750" b="1" i="0">
                <a:solidFill>
                  <a:srgbClr val="6741D9"/>
                </a:solidFill>
                <a:latin typeface="Calibri"/>
              </a:rPr>
              <a:t>Gérer de près</a:t>
            </a:r>
          </a:p>
          <a:p>
            <a:pPr algn="l">
              <a:lnSpc>
                <a:spcPct val="105000"/>
              </a:lnSpc>
              <a:spcAft>
                <a:spcPts val="300"/>
              </a:spcAft>
            </a:pPr>
            <a:r>
              <a:rPr sz="850" b="1" i="0">
                <a:solidFill>
                  <a:srgbClr val="212529"/>
                </a:solidFill>
                <a:latin typeface="Calibri"/>
              </a:rPr>
              <a:t>PP1 · PP2 · PP4</a:t>
            </a:r>
          </a:p>
        </p:txBody>
      </p:sp>
      <p:sp>
        <p:nvSpPr>
          <p:cNvPr id="153" name="Rectangle 152"/>
          <p:cNvSpPr/>
          <p:nvPr/>
        </p:nvSpPr>
        <p:spPr>
          <a:xfrm>
            <a:off x="4846320" y="2212848"/>
            <a:ext cx="1874519" cy="768096"/>
          </a:xfrm>
          <a:prstGeom prst="rect">
            <a:avLst/>
          </a:prstGeom>
          <a:solidFill>
            <a:srgbClr val="F3F4F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4937759" y="2286000"/>
            <a:ext cx="1691639" cy="621792"/>
          </a:xfrm>
          <a:prstGeom prst="rect">
            <a:avLst/>
          </a:prstGeom>
          <a:noFill/>
        </p:spPr>
        <p:txBody>
          <a:bodyPr wrap="square" anchor="t" lIns="45720" rIns="45720" tIns="18288" bIns="18288">
            <a:spAutoFit/>
          </a:bodyPr>
          <a:lstStyle/>
          <a:p>
            <a:pPr algn="l">
              <a:lnSpc>
                <a:spcPct val="105000"/>
              </a:lnSpc>
              <a:spcAft>
                <a:spcPts val="300"/>
              </a:spcAft>
            </a:pPr>
            <a:r>
              <a:rPr sz="750" b="1" i="0">
                <a:solidFill>
                  <a:srgbClr val="868E96"/>
                </a:solidFill>
                <a:latin typeface="Calibri"/>
              </a:rPr>
              <a:t>Surveiller</a:t>
            </a:r>
          </a:p>
          <a:p>
            <a:pPr algn="l">
              <a:lnSpc>
                <a:spcPct val="105000"/>
              </a:lnSpc>
              <a:spcAft>
                <a:spcPts val="300"/>
              </a:spcAft>
            </a:pPr>
            <a:r>
              <a:rPr sz="850" b="1" i="0">
                <a:solidFill>
                  <a:srgbClr val="212529"/>
                </a:solidFill>
                <a:latin typeface="Calibri"/>
              </a:rPr>
              <a:t>PP7</a:t>
            </a:r>
          </a:p>
        </p:txBody>
      </p:sp>
      <p:sp>
        <p:nvSpPr>
          <p:cNvPr id="155" name="Rectangle 154"/>
          <p:cNvSpPr/>
          <p:nvPr/>
        </p:nvSpPr>
        <p:spPr>
          <a:xfrm>
            <a:off x="6720840" y="2212848"/>
            <a:ext cx="1874519" cy="768096"/>
          </a:xfrm>
          <a:prstGeom prst="rect">
            <a:avLst/>
          </a:prstGeom>
          <a:solidFill>
            <a:srgbClr val="E8F1F9"/>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6812279" y="2286000"/>
            <a:ext cx="1691639" cy="621792"/>
          </a:xfrm>
          <a:prstGeom prst="rect">
            <a:avLst/>
          </a:prstGeom>
          <a:noFill/>
        </p:spPr>
        <p:txBody>
          <a:bodyPr wrap="square" anchor="t" lIns="45720" rIns="45720" tIns="18288" bIns="18288">
            <a:spAutoFit/>
          </a:bodyPr>
          <a:lstStyle/>
          <a:p>
            <a:pPr algn="l">
              <a:lnSpc>
                <a:spcPct val="105000"/>
              </a:lnSpc>
              <a:spcAft>
                <a:spcPts val="300"/>
              </a:spcAft>
            </a:pPr>
            <a:r>
              <a:rPr sz="750" b="1" i="0">
                <a:solidFill>
                  <a:srgbClr val="1971C2"/>
                </a:solidFill>
                <a:latin typeface="Calibri"/>
              </a:rPr>
              <a:t>Tenir informé</a:t>
            </a:r>
          </a:p>
          <a:p>
            <a:pPr algn="l">
              <a:lnSpc>
                <a:spcPct val="105000"/>
              </a:lnSpc>
              <a:spcAft>
                <a:spcPts val="300"/>
              </a:spcAft>
            </a:pPr>
            <a:r>
              <a:rPr sz="850" b="1" i="0">
                <a:solidFill>
                  <a:srgbClr val="212529"/>
                </a:solidFill>
                <a:latin typeface="Calibri"/>
              </a:rPr>
              <a:t>PP3 · PP5 · PP6 · PP8</a:t>
            </a:r>
          </a:p>
        </p:txBody>
      </p:sp>
      <p:sp>
        <p:nvSpPr>
          <p:cNvPr id="157" name="TextBox 156"/>
          <p:cNvSpPr txBox="1"/>
          <p:nvPr/>
        </p:nvSpPr>
        <p:spPr>
          <a:xfrm>
            <a:off x="4224528" y="1444752"/>
            <a:ext cx="566928" cy="1536192"/>
          </a:xfrm>
          <a:prstGeom prst="rect">
            <a:avLst/>
          </a:prstGeom>
          <a:noFill/>
        </p:spPr>
        <p:txBody>
          <a:bodyPr wrap="square" anchor="ctr" lIns="45720" rIns="45720" tIns="18288" bIns="18288">
            <a:spAutoFit/>
          </a:bodyPr>
          <a:lstStyle/>
          <a:p>
            <a:pPr algn="r">
              <a:lnSpc>
                <a:spcPct val="100000"/>
              </a:lnSpc>
            </a:pPr>
            <a:r>
              <a:rPr sz="650" b="1" i="0">
                <a:solidFill>
                  <a:srgbClr val="868E96"/>
                </a:solidFill>
                <a:latin typeface="Calibri"/>
              </a:rPr>
              <a:t>POUVOIR</a:t>
            </a:r>
          </a:p>
        </p:txBody>
      </p:sp>
      <p:sp>
        <p:nvSpPr>
          <p:cNvPr id="158" name="TextBox 157"/>
          <p:cNvSpPr txBox="1"/>
          <p:nvPr/>
        </p:nvSpPr>
        <p:spPr>
          <a:xfrm>
            <a:off x="4846320" y="3017520"/>
            <a:ext cx="3749039"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INTÉRÊT  →</a:t>
            </a:r>
          </a:p>
        </p:txBody>
      </p:sp>
      <p:sp>
        <p:nvSpPr>
          <p:cNvPr id="159" name="Rounded Rectangle 158"/>
          <p:cNvSpPr/>
          <p:nvPr/>
        </p:nvSpPr>
        <p:spPr>
          <a:xfrm>
            <a:off x="4297680" y="3273552"/>
            <a:ext cx="4389120" cy="658368"/>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4297680" y="3273552"/>
            <a:ext cx="64008" cy="65836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498848" y="3328416"/>
            <a:ext cx="4114800" cy="566928"/>
          </a:xfrm>
          <a:prstGeom prst="rect">
            <a:avLst/>
          </a:prstGeom>
          <a:noFill/>
        </p:spPr>
        <p:txBody>
          <a:bodyPr wrap="square" anchor="t" lIns="45720" rIns="45720" tIns="18288" bIns="18288">
            <a:spAutoFit/>
          </a:bodyPr>
          <a:lstStyle/>
          <a:p>
            <a:pPr algn="l">
              <a:lnSpc>
                <a:spcPct val="105000"/>
              </a:lnSpc>
            </a:pPr>
            <a:r>
              <a:rPr sz="900" b="1" i="0">
                <a:solidFill>
                  <a:srgbClr val="6741D9"/>
                </a:solidFill>
                <a:latin typeface="Calibri"/>
              </a:rPr>
              <a:t>Contrôle d’équilibre  </a:t>
            </a:r>
            <a:r>
              <a:rPr sz="800" b="0" i="0">
                <a:solidFill>
                  <a:srgbClr val="495057"/>
                </a:solidFill>
                <a:latin typeface="Calibri"/>
              </a:rPr>
              <a:t>8 lots, 8 décideurs, 4 acteurs distincts porteurs d’au moins un A. Aucun lot sans décideur, aucun à deux décideurs.</a:t>
            </a:r>
          </a:p>
        </p:txBody>
      </p:sp>
      <p:sp>
        <p:nvSpPr>
          <p:cNvPr id="162" name="Rounded Rectangle 161"/>
          <p:cNvSpPr/>
          <p:nvPr/>
        </p:nvSpPr>
        <p:spPr>
          <a:xfrm>
            <a:off x="4297680" y="4023360"/>
            <a:ext cx="4389120" cy="69494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4297680" y="4023360"/>
            <a:ext cx="64008" cy="69494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4498848" y="4078224"/>
            <a:ext cx="4114800" cy="603504"/>
          </a:xfrm>
          <a:prstGeom prst="rect">
            <a:avLst/>
          </a:prstGeom>
          <a:noFill/>
        </p:spPr>
        <p:txBody>
          <a:bodyPr wrap="square" anchor="t" lIns="45720" rIns="45720" tIns="18288" bIns="18288">
            <a:spAutoFit/>
          </a:bodyPr>
          <a:lstStyle/>
          <a:p>
            <a:pPr algn="l">
              <a:lnSpc>
                <a:spcPct val="105000"/>
              </a:lnSpc>
            </a:pPr>
            <a:r>
              <a:rPr sz="900" b="1" i="0">
                <a:solidFill>
                  <a:srgbClr val="2B8A3E"/>
                </a:solidFill>
                <a:latin typeface="Calibri"/>
              </a:rPr>
              <a:t>Accessibilité de la participation  </a:t>
            </a:r>
            <a:r>
              <a:rPr sz="800" b="0" i="0">
                <a:solidFill>
                  <a:srgbClr val="495057"/>
                </a:solidFill>
                <a:latin typeface="Calibri"/>
              </a:rPr>
              <a:t>comptes rendus écrits systématiques, aucune information de pilotage transmise uniquement à l’oral, WCAG 2.2 et RGAA 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255C"/>
                </a:solidFill>
                <a:latin typeface="Calibri"/>
              </a:rPr>
              <a:t>4 · CONCEPTION ET DÉVELOPPEMENT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Maquettes des interfaces</a:t>
            </a:r>
          </a:p>
        </p:txBody>
      </p:sp>
      <p:sp>
        <p:nvSpPr>
          <p:cNvPr id="11" name="Rectangle 10"/>
          <p:cNvSpPr/>
          <p:nvPr/>
        </p:nvSpPr>
        <p:spPr>
          <a:xfrm>
            <a:off x="475488" y="1069848"/>
            <a:ext cx="1051560" cy="411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14 / 30</a:t>
            </a:r>
          </a:p>
        </p:txBody>
      </p:sp>
      <p:sp>
        <p:nvSpPr>
          <p:cNvPr id="13" name="Rounded Rectangle 12"/>
          <p:cNvSpPr/>
          <p:nvPr/>
        </p:nvSpPr>
        <p:spPr>
          <a:xfrm>
            <a:off x="457200" y="4818888"/>
            <a:ext cx="1124712" cy="228600"/>
          </a:xfrm>
          <a:prstGeom prst="roundRect">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C11 · C21</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BC3 · mémoire 14.1 · annexes F.1, F.2, F.3</a:t>
            </a:r>
          </a:p>
        </p:txBody>
      </p:sp>
      <p:sp>
        <p:nvSpPr>
          <p:cNvPr id="16" name="Rounded Rectangle 15"/>
          <p:cNvSpPr/>
          <p:nvPr/>
        </p:nvSpPr>
        <p:spPr>
          <a:xfrm>
            <a:off x="420624" y="1261872"/>
            <a:ext cx="5650992" cy="2745493"/>
          </a:xfrm>
          <a:prstGeom prst="roundRect">
            <a:avLst>
              <a:gd name="adj" fmla="val 2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outenance-maquettes.png"/>
          <p:cNvPicPr>
            <a:picLocks noChangeAspect="1"/>
          </p:cNvPicPr>
          <p:nvPr/>
        </p:nvPicPr>
        <p:blipFill>
          <a:blip r:embed="rId2"/>
          <a:stretch>
            <a:fillRect/>
          </a:stretch>
        </p:blipFill>
        <p:spPr>
          <a:xfrm>
            <a:off x="457200" y="1298448"/>
            <a:ext cx="5577840" cy="2672341"/>
          </a:xfrm>
          <a:prstGeom prst="rect">
            <a:avLst/>
          </a:prstGeom>
        </p:spPr>
      </p:pic>
      <p:sp>
        <p:nvSpPr>
          <p:cNvPr id="18" name="TextBox 17"/>
          <p:cNvSpPr txBox="1"/>
          <p:nvPr/>
        </p:nvSpPr>
        <p:spPr>
          <a:xfrm>
            <a:off x="457200" y="4062229"/>
            <a:ext cx="5577840" cy="201168"/>
          </a:xfrm>
          <a:prstGeom prst="rect">
            <a:avLst/>
          </a:prstGeom>
          <a:noFill/>
        </p:spPr>
        <p:txBody>
          <a:bodyPr wrap="square" anchor="t" lIns="45720" rIns="45720" tIns="18288" bIns="18288">
            <a:spAutoFit/>
          </a:bodyPr>
          <a:lstStyle/>
          <a:p>
            <a:pPr algn="l">
              <a:lnSpc>
                <a:spcPct val="100000"/>
              </a:lnSpc>
            </a:pPr>
            <a:r>
              <a:rPr sz="750" b="0" i="0">
                <a:solidFill>
                  <a:srgbClr val="868E96"/>
                </a:solidFill>
                <a:latin typeface="Calibri"/>
              </a:rPr>
              <a:t>connexion · inscription · bibliothèque · profil · réglages · profil public</a:t>
            </a:r>
          </a:p>
        </p:txBody>
      </p:sp>
      <p:sp>
        <p:nvSpPr>
          <p:cNvPr id="19" name="Rounded Rectangle 18"/>
          <p:cNvSpPr/>
          <p:nvPr/>
        </p:nvSpPr>
        <p:spPr>
          <a:xfrm>
            <a:off x="6217920" y="1298448"/>
            <a:ext cx="2468880" cy="1005840"/>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298448"/>
            <a:ext cx="64008" cy="100584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1371600"/>
            <a:ext cx="2212848" cy="877824"/>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Valider avant de coder</a:t>
            </a:r>
          </a:p>
          <a:p>
            <a:pPr algn="l">
              <a:lnSpc>
                <a:spcPct val="105000"/>
              </a:lnSpc>
              <a:spcAft>
                <a:spcPts val="200"/>
              </a:spcAft>
            </a:pPr>
            <a:r>
              <a:rPr sz="800" b="0" i="0">
                <a:solidFill>
                  <a:srgbClr val="495057"/>
                </a:solidFill>
                <a:latin typeface="Calibri"/>
              </a:rPr>
              <a:t>discuter un écran coûte des minutes, le recoder coûte des jours. Les maquettes suivent le code réel.</a:t>
            </a:r>
          </a:p>
        </p:txBody>
      </p:sp>
      <p:sp>
        <p:nvSpPr>
          <p:cNvPr id="22" name="Rounded Rectangle 21"/>
          <p:cNvSpPr/>
          <p:nvPr/>
        </p:nvSpPr>
        <p:spPr>
          <a:xfrm>
            <a:off x="6217920" y="2395728"/>
            <a:ext cx="2468880" cy="1005840"/>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2395728"/>
            <a:ext cx="64008" cy="100584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2468880"/>
            <a:ext cx="2212848" cy="877824"/>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Le RGPD dans l’écran</a:t>
            </a:r>
          </a:p>
          <a:p>
            <a:pPr algn="l">
              <a:lnSpc>
                <a:spcPct val="105000"/>
              </a:lnSpc>
              <a:spcAft>
                <a:spcPts val="200"/>
              </a:spcAft>
            </a:pPr>
            <a:r>
              <a:rPr sz="800" b="0" i="0">
                <a:solidFill>
                  <a:srgbClr val="495057"/>
                </a:solidFill>
                <a:latin typeface="Calibri"/>
              </a:rPr>
              <a:t>clé d’API, suppression de compte et mention d’irréversibilité.</a:t>
            </a:r>
          </a:p>
        </p:txBody>
      </p:sp>
      <p:sp>
        <p:nvSpPr>
          <p:cNvPr id="25" name="Rounded Rectangle 24"/>
          <p:cNvSpPr/>
          <p:nvPr/>
        </p:nvSpPr>
        <p:spPr>
          <a:xfrm>
            <a:off x="6217920" y="3493008"/>
            <a:ext cx="2468880" cy="1005840"/>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493008"/>
            <a:ext cx="64008" cy="100584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82512" y="3566160"/>
            <a:ext cx="2212848" cy="877824"/>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Flux de données</a:t>
            </a:r>
          </a:p>
          <a:p>
            <a:pPr algn="l">
              <a:lnSpc>
                <a:spcPct val="105000"/>
              </a:lnSpc>
              <a:spcAft>
                <a:spcPts val="200"/>
              </a:spcAft>
            </a:pPr>
            <a:r>
              <a:rPr sz="800" b="0" i="0">
                <a:solidFill>
                  <a:srgbClr val="495057"/>
                </a:solidFill>
                <a:latin typeface="Calibri"/>
              </a:rPr>
              <a:t>par module en annexe F.2, données personnelles en annexe F.3.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255C"/>
                </a:solidFill>
                <a:latin typeface="Calibri"/>
              </a:rPr>
              <a:t>4 · CONCEPTION ET DÉVELOPPEMENT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Architecture applicative</a:t>
            </a:r>
          </a:p>
        </p:txBody>
      </p:sp>
      <p:sp>
        <p:nvSpPr>
          <p:cNvPr id="11" name="Rectangle 10"/>
          <p:cNvSpPr/>
          <p:nvPr/>
        </p:nvSpPr>
        <p:spPr>
          <a:xfrm>
            <a:off x="475488" y="1069848"/>
            <a:ext cx="1051560" cy="411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15 / 30</a:t>
            </a:r>
          </a:p>
        </p:txBody>
      </p:sp>
      <p:sp>
        <p:nvSpPr>
          <p:cNvPr id="13" name="Rounded Rectangle 12"/>
          <p:cNvSpPr/>
          <p:nvPr/>
        </p:nvSpPr>
        <p:spPr>
          <a:xfrm>
            <a:off x="457200" y="4818888"/>
            <a:ext cx="1124712" cy="228600"/>
          </a:xfrm>
          <a:prstGeom prst="roundRect">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C21 · C23</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BC3 · mémoire 14.1.2, 14.1.5 · annexes B, H</a:t>
            </a:r>
          </a:p>
        </p:txBody>
      </p:sp>
      <p:sp>
        <p:nvSpPr>
          <p:cNvPr id="16" name="Rounded Rectangle 15"/>
          <p:cNvSpPr/>
          <p:nvPr/>
        </p:nvSpPr>
        <p:spPr>
          <a:xfrm>
            <a:off x="457200" y="1298448"/>
            <a:ext cx="1417320" cy="475488"/>
          </a:xfrm>
          <a:prstGeom prst="roundRect">
            <a:avLst>
              <a:gd name="adj" fmla="val 10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335024"/>
            <a:ext cx="1325880" cy="402336"/>
          </a:xfrm>
          <a:prstGeom prst="rect">
            <a:avLst/>
          </a:prstGeom>
          <a:noFill/>
        </p:spPr>
        <p:txBody>
          <a:bodyPr wrap="square" anchor="ctr" lIns="45720" rIns="45720" tIns="18288" bIns="18288">
            <a:spAutoFit/>
          </a:bodyPr>
          <a:lstStyle/>
          <a:p>
            <a:pPr algn="ctr">
              <a:lnSpc>
                <a:spcPct val="100000"/>
              </a:lnSpc>
            </a:pPr>
            <a:r>
              <a:rPr sz="850" b="1" i="0">
                <a:solidFill>
                  <a:srgbClr val="C2255C"/>
                </a:solidFill>
                <a:latin typeface="Calibri"/>
              </a:rPr>
              <a:t>Membre</a:t>
            </a:r>
          </a:p>
          <a:p>
            <a:pPr algn="ctr">
              <a:lnSpc>
                <a:spcPct val="100000"/>
              </a:lnSpc>
            </a:pPr>
            <a:r>
              <a:rPr sz="700" b="0" i="0">
                <a:solidFill>
                  <a:srgbClr val="DD87A5"/>
                </a:solidFill>
                <a:latin typeface="Calibri"/>
              </a:rPr>
              <a:t>app.dropicture.com</a:t>
            </a:r>
          </a:p>
        </p:txBody>
      </p:sp>
      <p:sp>
        <p:nvSpPr>
          <p:cNvPr id="18" name="Rounded Rectangle 17"/>
          <p:cNvSpPr/>
          <p:nvPr/>
        </p:nvSpPr>
        <p:spPr>
          <a:xfrm>
            <a:off x="2011680" y="1298448"/>
            <a:ext cx="1417320" cy="475488"/>
          </a:xfrm>
          <a:prstGeom prst="roundRect">
            <a:avLst>
              <a:gd name="adj" fmla="val 10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57400" y="1335024"/>
            <a:ext cx="1325880" cy="402336"/>
          </a:xfrm>
          <a:prstGeom prst="rect">
            <a:avLst/>
          </a:prstGeom>
          <a:noFill/>
        </p:spPr>
        <p:txBody>
          <a:bodyPr wrap="square" anchor="ctr" lIns="45720" rIns="45720" tIns="18288" bIns="18288">
            <a:spAutoFit/>
          </a:bodyPr>
          <a:lstStyle/>
          <a:p>
            <a:pPr algn="ctr">
              <a:lnSpc>
                <a:spcPct val="100000"/>
              </a:lnSpc>
            </a:pPr>
            <a:r>
              <a:rPr sz="850" b="1" i="0">
                <a:solidFill>
                  <a:srgbClr val="C2255C"/>
                </a:solidFill>
                <a:latin typeface="Calibri"/>
              </a:rPr>
              <a:t>Visiteur</a:t>
            </a:r>
          </a:p>
          <a:p>
            <a:pPr algn="ctr">
              <a:lnSpc>
                <a:spcPct val="100000"/>
              </a:lnSpc>
            </a:pPr>
            <a:r>
              <a:rPr sz="700" b="0" i="0">
                <a:solidFill>
                  <a:srgbClr val="DD87A5"/>
                </a:solidFill>
                <a:latin typeface="Calibri"/>
              </a:rPr>
              <a:t>dropicture.com</a:t>
            </a:r>
          </a:p>
        </p:txBody>
      </p:sp>
      <p:sp>
        <p:nvSpPr>
          <p:cNvPr id="20" name="Rounded Rectangle 19"/>
          <p:cNvSpPr/>
          <p:nvPr/>
        </p:nvSpPr>
        <p:spPr>
          <a:xfrm>
            <a:off x="457200" y="2011680"/>
            <a:ext cx="2971800" cy="402336"/>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011680"/>
            <a:ext cx="2971800" cy="402336"/>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Traefik  ·  TLS, routage</a:t>
            </a:r>
          </a:p>
        </p:txBody>
      </p:sp>
      <p:cxnSp>
        <p:nvCxnSpPr>
          <p:cNvPr id="22" name="Connector 21"/>
          <p:cNvCxnSpPr/>
          <p:nvPr/>
        </p:nvCxnSpPr>
        <p:spPr>
          <a:xfrm>
            <a:off x="1170432" y="1773936"/>
            <a:ext cx="0" cy="237744"/>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724912" y="1773936"/>
            <a:ext cx="0" cy="237744"/>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57200" y="2688336"/>
            <a:ext cx="1325880" cy="512064"/>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724912"/>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Frontend</a:t>
            </a:r>
          </a:p>
          <a:p>
            <a:pPr algn="ctr">
              <a:lnSpc>
                <a:spcPct val="100000"/>
              </a:lnSpc>
            </a:pPr>
            <a:r>
              <a:rPr sz="700" b="0" i="0">
                <a:solidFill>
                  <a:srgbClr val="495057"/>
                </a:solidFill>
                <a:latin typeface="Calibri"/>
              </a:rPr>
              <a:t>Next.js 16 · SSR</a:t>
            </a:r>
          </a:p>
        </p:txBody>
      </p:sp>
      <p:cxnSp>
        <p:nvCxnSpPr>
          <p:cNvPr id="26" name="Connector 25"/>
          <p:cNvCxnSpPr/>
          <p:nvPr/>
        </p:nvCxnSpPr>
        <p:spPr>
          <a:xfrm>
            <a:off x="1115568" y="2414016"/>
            <a:ext cx="0"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874519" y="2688336"/>
            <a:ext cx="1325880" cy="512064"/>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920239" y="2724912"/>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Backend API</a:t>
            </a:r>
          </a:p>
          <a:p>
            <a:pPr algn="ctr">
              <a:lnSpc>
                <a:spcPct val="100000"/>
              </a:lnSpc>
            </a:pPr>
            <a:r>
              <a:rPr sz="700" b="0" i="0">
                <a:solidFill>
                  <a:srgbClr val="495057"/>
                </a:solidFill>
                <a:latin typeface="Calibri"/>
              </a:rPr>
              <a:t>NestJS 11 · Bun</a:t>
            </a:r>
          </a:p>
        </p:txBody>
      </p:sp>
      <p:cxnSp>
        <p:nvCxnSpPr>
          <p:cNvPr id="29" name="Connector 28"/>
          <p:cNvCxnSpPr/>
          <p:nvPr/>
        </p:nvCxnSpPr>
        <p:spPr>
          <a:xfrm>
            <a:off x="1938528" y="2414016"/>
            <a:ext cx="594359"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291840" y="2688336"/>
            <a:ext cx="1325880" cy="512064"/>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37560" y="2724912"/>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Site vitrine</a:t>
            </a:r>
          </a:p>
          <a:p>
            <a:pPr algn="ctr">
              <a:lnSpc>
                <a:spcPct val="100000"/>
              </a:lnSpc>
            </a:pPr>
            <a:r>
              <a:rPr sz="700" b="0" i="0">
                <a:solidFill>
                  <a:srgbClr val="495057"/>
                </a:solidFill>
                <a:latin typeface="Calibri"/>
              </a:rPr>
              <a:t>export statique</a:t>
            </a:r>
          </a:p>
        </p:txBody>
      </p:sp>
      <p:cxnSp>
        <p:nvCxnSpPr>
          <p:cNvPr id="32" name="Connector 31"/>
          <p:cNvCxnSpPr/>
          <p:nvPr/>
        </p:nvCxnSpPr>
        <p:spPr>
          <a:xfrm>
            <a:off x="1938528" y="2414016"/>
            <a:ext cx="2011680"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57200" y="3474720"/>
            <a:ext cx="1325880" cy="512064"/>
          </a:xfrm>
          <a:prstGeom prst="roundRect">
            <a:avLst>
              <a:gd name="adj" fmla="val 10000"/>
            </a:avLst>
          </a:prstGeom>
          <a:solidFill>
            <a:srgbClr val="E1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3511296"/>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087F5B"/>
                </a:solidFill>
                <a:latin typeface="Calibri"/>
              </a:rPr>
              <a:t>PostgreSQL</a:t>
            </a:r>
          </a:p>
          <a:p>
            <a:pPr algn="ctr">
              <a:lnSpc>
                <a:spcPct val="100000"/>
              </a:lnSpc>
            </a:pPr>
            <a:r>
              <a:rPr sz="700" b="0" i="0">
                <a:solidFill>
                  <a:srgbClr val="77B9A5"/>
                </a:solidFill>
                <a:latin typeface="Calibri"/>
              </a:rPr>
              <a:t>5 tables</a:t>
            </a:r>
          </a:p>
        </p:txBody>
      </p:sp>
      <p:cxnSp>
        <p:nvCxnSpPr>
          <p:cNvPr id="35" name="Connector 34"/>
          <p:cNvCxnSpPr/>
          <p:nvPr/>
        </p:nvCxnSpPr>
        <p:spPr>
          <a:xfrm flipH="1">
            <a:off x="1115568" y="3200400"/>
            <a:ext cx="1417320"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874519" y="3474720"/>
            <a:ext cx="1325880" cy="512064"/>
          </a:xfrm>
          <a:prstGeom prst="roundRect">
            <a:avLst>
              <a:gd name="adj" fmla="val 10000"/>
            </a:avLst>
          </a:prstGeom>
          <a:solidFill>
            <a:srgbClr val="E1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20239" y="3511296"/>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087F5B"/>
                </a:solidFill>
                <a:latin typeface="Calibri"/>
              </a:rPr>
              <a:t>Redis</a:t>
            </a:r>
          </a:p>
          <a:p>
            <a:pPr algn="ctr">
              <a:lnSpc>
                <a:spcPct val="100000"/>
              </a:lnSpc>
            </a:pPr>
            <a:r>
              <a:rPr sz="700" b="0" i="0">
                <a:solidFill>
                  <a:srgbClr val="77B9A5"/>
                </a:solidFill>
                <a:latin typeface="Calibri"/>
              </a:rPr>
              <a:t>sessions, débit</a:t>
            </a:r>
          </a:p>
        </p:txBody>
      </p:sp>
      <p:cxnSp>
        <p:nvCxnSpPr>
          <p:cNvPr id="38" name="Connector 37"/>
          <p:cNvCxnSpPr/>
          <p:nvPr/>
        </p:nvCxnSpPr>
        <p:spPr>
          <a:xfrm flipH="1">
            <a:off x="2532887" y="3200400"/>
            <a:ext cx="1"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291840" y="3474720"/>
            <a:ext cx="1325880" cy="512064"/>
          </a:xfrm>
          <a:prstGeom prst="roundRect">
            <a:avLst>
              <a:gd name="adj" fmla="val 10000"/>
            </a:avLst>
          </a:prstGeom>
          <a:solidFill>
            <a:srgbClr val="E1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337560" y="3511296"/>
            <a:ext cx="1234439" cy="438912"/>
          </a:xfrm>
          <a:prstGeom prst="rect">
            <a:avLst/>
          </a:prstGeom>
          <a:noFill/>
        </p:spPr>
        <p:txBody>
          <a:bodyPr wrap="square" anchor="ctr" lIns="45720" rIns="45720" tIns="18288" bIns="18288">
            <a:spAutoFit/>
          </a:bodyPr>
          <a:lstStyle/>
          <a:p>
            <a:pPr algn="ctr">
              <a:lnSpc>
                <a:spcPct val="100000"/>
              </a:lnSpc>
            </a:pPr>
            <a:r>
              <a:rPr sz="850" b="1" i="0">
                <a:solidFill>
                  <a:srgbClr val="087F5B"/>
                </a:solidFill>
                <a:latin typeface="Calibri"/>
              </a:rPr>
              <a:t>S3 · CloudFront</a:t>
            </a:r>
          </a:p>
          <a:p>
            <a:pPr algn="ctr">
              <a:lnSpc>
                <a:spcPct val="100000"/>
              </a:lnSpc>
            </a:pPr>
            <a:r>
              <a:rPr sz="700" b="0" i="0">
                <a:solidFill>
                  <a:srgbClr val="77B9A5"/>
                </a:solidFill>
                <a:latin typeface="Calibri"/>
              </a:rPr>
              <a:t>médias signés</a:t>
            </a:r>
          </a:p>
        </p:txBody>
      </p:sp>
      <p:cxnSp>
        <p:nvCxnSpPr>
          <p:cNvPr id="41" name="Connector 40"/>
          <p:cNvCxnSpPr/>
          <p:nvPr/>
        </p:nvCxnSpPr>
        <p:spPr>
          <a:xfrm>
            <a:off x="2532888" y="3200400"/>
            <a:ext cx="1417320" cy="27432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384048" y="2596896"/>
            <a:ext cx="4709160" cy="694944"/>
          </a:xfrm>
          <a:prstGeom prst="roundRect">
            <a:avLst>
              <a:gd name="adj" fmla="val 4000"/>
            </a:avLst>
          </a:prstGeom>
          <a:noFill/>
          <a:ln w="12700">
            <a:solidFill>
              <a:srgbClr val="C2255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2642615"/>
            <a:ext cx="4489704" cy="182880"/>
          </a:xfrm>
          <a:prstGeom prst="rect">
            <a:avLst/>
          </a:prstGeom>
          <a:noFill/>
        </p:spPr>
        <p:txBody>
          <a:bodyPr wrap="square" anchor="t" lIns="45720" rIns="45720" tIns="18288" bIns="18288">
            <a:spAutoFit/>
          </a:bodyPr>
          <a:lstStyle/>
          <a:p>
            <a:pPr algn="l">
              <a:lnSpc>
                <a:spcPct val="100000"/>
              </a:lnSpc>
            </a:pPr>
            <a:r>
              <a:rPr sz="750" b="1" i="0">
                <a:solidFill>
                  <a:srgbClr val="C2255C"/>
                </a:solidFill>
                <a:latin typeface="Calibri"/>
              </a:rPr>
              <a:t>monolithe modulaire · 6 domaines, 1 contrôleur par domaine</a:t>
            </a:r>
          </a:p>
        </p:txBody>
      </p:sp>
      <p:sp>
        <p:nvSpPr>
          <p:cNvPr id="44" name="Rounded Rectangle 43"/>
          <p:cNvSpPr/>
          <p:nvPr/>
        </p:nvSpPr>
        <p:spPr>
          <a:xfrm>
            <a:off x="5303520" y="1298448"/>
            <a:ext cx="3383280" cy="106070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303520" y="1298448"/>
            <a:ext cx="64008" cy="1060704"/>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0" y="1371600"/>
            <a:ext cx="3127248" cy="932688"/>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Monorepo, un commit décrit tout</a:t>
            </a:r>
          </a:p>
          <a:p>
            <a:pPr algn="l">
              <a:lnSpc>
                <a:spcPct val="105000"/>
              </a:lnSpc>
              <a:spcAft>
                <a:spcPts val="200"/>
              </a:spcAft>
            </a:pPr>
            <a:r>
              <a:rPr sz="800" b="0" i="0">
                <a:solidFill>
                  <a:srgbClr val="495057"/>
                </a:solidFill>
                <a:latin typeface="Calibri"/>
              </a:rPr>
              <a:t>apps/saas/backend · apps/saas/frontend · apps/website · infra/saas · infra/website</a:t>
            </a:r>
          </a:p>
        </p:txBody>
      </p:sp>
      <p:sp>
        <p:nvSpPr>
          <p:cNvPr id="47" name="Rounded Rectangle 46"/>
          <p:cNvSpPr/>
          <p:nvPr/>
        </p:nvSpPr>
        <p:spPr>
          <a:xfrm>
            <a:off x="5303520" y="2450591"/>
            <a:ext cx="3383280" cy="106070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303520" y="2450591"/>
            <a:ext cx="64008" cy="1060704"/>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2523744"/>
            <a:ext cx="3127248" cy="932688"/>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Réversible par construction</a:t>
            </a:r>
          </a:p>
          <a:p>
            <a:pPr algn="l">
              <a:lnSpc>
                <a:spcPct val="105000"/>
              </a:lnSpc>
              <a:spcAft>
                <a:spcPts val="200"/>
              </a:spcAft>
            </a:pPr>
            <a:r>
              <a:rPr sz="800" b="0" i="0">
                <a:solidFill>
                  <a:srgbClr val="495057"/>
                </a:solidFill>
                <a:latin typeface="Calibri"/>
              </a:rPr>
              <a:t>les frontières entre domaines sont déjà matérialisées, l’extraction en services reste possible sans réécriture.</a:t>
            </a:r>
          </a:p>
        </p:txBody>
      </p:sp>
      <p:sp>
        <p:nvSpPr>
          <p:cNvPr id="50" name="Rounded Rectangle 49"/>
          <p:cNvSpPr/>
          <p:nvPr/>
        </p:nvSpPr>
        <p:spPr>
          <a:xfrm>
            <a:off x="5303520" y="3602736"/>
            <a:ext cx="3383280" cy="1060704"/>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303520" y="3602736"/>
            <a:ext cx="64008" cy="1060704"/>
          </a:xfrm>
          <a:prstGeom prst="rect">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0" y="3675887"/>
            <a:ext cx="3127248" cy="932688"/>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087F5B"/>
                </a:solidFill>
                <a:latin typeface="Calibri"/>
              </a:rPr>
              <a:t>Éco-conception du socle</a:t>
            </a:r>
          </a:p>
          <a:p>
            <a:pPr algn="l">
              <a:lnSpc>
                <a:spcPct val="105000"/>
              </a:lnSpc>
              <a:spcAft>
                <a:spcPts val="200"/>
              </a:spcAft>
            </a:pPr>
            <a:r>
              <a:rPr sz="800" b="0" i="0">
                <a:solidFill>
                  <a:srgbClr val="495057"/>
                </a:solidFill>
                <a:latin typeface="Calibri"/>
              </a:rPr>
              <a:t>cloud européen, right-sizing service par service, aucune primitive propriétaire bloquante.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255C"/>
                </a:solidFill>
                <a:latin typeface="Calibri"/>
              </a:rPr>
              <a:t>4 · CONCEPTION ET DÉVELOPPEMENT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Processus métier et patterns</a:t>
            </a:r>
          </a:p>
        </p:txBody>
      </p:sp>
      <p:sp>
        <p:nvSpPr>
          <p:cNvPr id="11" name="Rectangle 10"/>
          <p:cNvSpPr/>
          <p:nvPr/>
        </p:nvSpPr>
        <p:spPr>
          <a:xfrm>
            <a:off x="475488" y="1069848"/>
            <a:ext cx="1051560" cy="411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16 / 30</a:t>
            </a:r>
          </a:p>
        </p:txBody>
      </p:sp>
      <p:sp>
        <p:nvSpPr>
          <p:cNvPr id="13" name="Rounded Rectangle 12"/>
          <p:cNvSpPr/>
          <p:nvPr/>
        </p:nvSpPr>
        <p:spPr>
          <a:xfrm>
            <a:off x="457200" y="4818888"/>
            <a:ext cx="1124712" cy="228600"/>
          </a:xfrm>
          <a:prstGeom prst="roundRect">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C22 · C24</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BC3 · mémoire 14.1.3 · annexes G, H, I.1 → I.3</a:t>
            </a:r>
          </a:p>
        </p:txBody>
      </p:sp>
      <p:sp>
        <p:nvSpPr>
          <p:cNvPr id="16" name="TextBox 15"/>
          <p:cNvSpPr txBox="1"/>
          <p:nvPr/>
        </p:nvSpPr>
        <p:spPr>
          <a:xfrm>
            <a:off x="457200" y="1207008"/>
            <a:ext cx="8229600" cy="182880"/>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PROCESSUS 1  ·  TÉLÉVERSEMENT D’UN MÉDIA  (ANNEXE I.1)</a:t>
            </a:r>
          </a:p>
        </p:txBody>
      </p:sp>
      <p:sp>
        <p:nvSpPr>
          <p:cNvPr id="17" name="Rounded Rectangle 16"/>
          <p:cNvSpPr/>
          <p:nvPr/>
        </p:nvSpPr>
        <p:spPr>
          <a:xfrm>
            <a:off x="457200" y="1408176"/>
            <a:ext cx="1371600" cy="310896"/>
          </a:xfrm>
          <a:prstGeom prst="roundRect">
            <a:avLst>
              <a:gd name="adj" fmla="val 12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08176"/>
            <a:ext cx="1371600"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Membre</a:t>
            </a:r>
          </a:p>
        </p:txBody>
      </p:sp>
      <p:cxnSp>
        <p:nvCxnSpPr>
          <p:cNvPr id="19" name="Connector 18"/>
          <p:cNvCxnSpPr/>
          <p:nvPr/>
        </p:nvCxnSpPr>
        <p:spPr>
          <a:xfrm>
            <a:off x="1143000" y="1719072"/>
            <a:ext cx="0" cy="1810512"/>
          </a:xfrm>
          <a:prstGeom prst="line">
            <a:avLst/>
          </a:prstGeom>
          <a:ln w="12700">
            <a:solidFill>
              <a:srgbClr val="DEE2E6"/>
            </a:solidFill>
            <a:prstDash val="sys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057400" y="1408176"/>
            <a:ext cx="1371600" cy="310896"/>
          </a:xfrm>
          <a:prstGeom prst="roundRect">
            <a:avLst>
              <a:gd name="adj" fmla="val 12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57400" y="1408176"/>
            <a:ext cx="1371600"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Frontend</a:t>
            </a:r>
          </a:p>
        </p:txBody>
      </p:sp>
      <p:cxnSp>
        <p:nvCxnSpPr>
          <p:cNvPr id="22" name="Connector 21"/>
          <p:cNvCxnSpPr/>
          <p:nvPr/>
        </p:nvCxnSpPr>
        <p:spPr>
          <a:xfrm>
            <a:off x="2743200" y="1719072"/>
            <a:ext cx="0" cy="1810512"/>
          </a:xfrm>
          <a:prstGeom prst="line">
            <a:avLst/>
          </a:prstGeom>
          <a:ln w="12700">
            <a:solidFill>
              <a:srgbClr val="DEE2E6"/>
            </a:solidFill>
            <a:prstDash val="sysDash"/>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0" y="1408176"/>
            <a:ext cx="1371600" cy="310896"/>
          </a:xfrm>
          <a:prstGeom prst="roundRect">
            <a:avLst>
              <a:gd name="adj" fmla="val 12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0" y="1408176"/>
            <a:ext cx="1371600"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API NestJS</a:t>
            </a:r>
          </a:p>
        </p:txBody>
      </p:sp>
      <p:cxnSp>
        <p:nvCxnSpPr>
          <p:cNvPr id="25" name="Connector 24"/>
          <p:cNvCxnSpPr/>
          <p:nvPr/>
        </p:nvCxnSpPr>
        <p:spPr>
          <a:xfrm>
            <a:off x="4343400" y="1719072"/>
            <a:ext cx="0" cy="1810512"/>
          </a:xfrm>
          <a:prstGeom prst="line">
            <a:avLst/>
          </a:prstGeom>
          <a:ln w="12700">
            <a:solidFill>
              <a:srgbClr val="DEE2E6"/>
            </a:solidFill>
            <a:prstDash val="sysDash"/>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257800" y="1408176"/>
            <a:ext cx="1371600" cy="310896"/>
          </a:xfrm>
          <a:prstGeom prst="roundRect">
            <a:avLst>
              <a:gd name="adj" fmla="val 12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57800" y="1408176"/>
            <a:ext cx="1371600"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PostgreSQL</a:t>
            </a:r>
          </a:p>
        </p:txBody>
      </p:sp>
      <p:cxnSp>
        <p:nvCxnSpPr>
          <p:cNvPr id="28" name="Connector 27"/>
          <p:cNvCxnSpPr/>
          <p:nvPr/>
        </p:nvCxnSpPr>
        <p:spPr>
          <a:xfrm>
            <a:off x="5943600" y="1719072"/>
            <a:ext cx="0" cy="1810512"/>
          </a:xfrm>
          <a:prstGeom prst="line">
            <a:avLst/>
          </a:prstGeom>
          <a:ln w="12700">
            <a:solidFill>
              <a:srgbClr val="DEE2E6"/>
            </a:solidFill>
            <a:prstDash val="sysDash"/>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858000" y="1408176"/>
            <a:ext cx="1371600" cy="310896"/>
          </a:xfrm>
          <a:prstGeom prst="roundRect">
            <a:avLst>
              <a:gd name="adj" fmla="val 12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0" y="1408176"/>
            <a:ext cx="1371600"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S3</a:t>
            </a:r>
          </a:p>
        </p:txBody>
      </p:sp>
      <p:cxnSp>
        <p:nvCxnSpPr>
          <p:cNvPr id="31" name="Connector 30"/>
          <p:cNvCxnSpPr/>
          <p:nvPr/>
        </p:nvCxnSpPr>
        <p:spPr>
          <a:xfrm>
            <a:off x="7543800" y="1719072"/>
            <a:ext cx="0" cy="1810512"/>
          </a:xfrm>
          <a:prstGeom prst="line">
            <a:avLst/>
          </a:prstGeom>
          <a:ln w="12700">
            <a:solidFill>
              <a:srgbClr val="DEE2E6"/>
            </a:solidFill>
            <a:prstDash val="sys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43000" y="1938528"/>
            <a:ext cx="1600200" cy="0"/>
          </a:xfrm>
          <a:prstGeom prst="line">
            <a:avLst/>
          </a:prstGeom>
          <a:ln w="15875">
            <a:solidFill>
              <a:srgbClr val="C2255C"/>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143000" y="1719072"/>
            <a:ext cx="1600200" cy="201168"/>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sélectionne un fichier</a:t>
            </a:r>
          </a:p>
        </p:txBody>
      </p:sp>
      <p:cxnSp>
        <p:nvCxnSpPr>
          <p:cNvPr id="34" name="Connector 33"/>
          <p:cNvCxnSpPr/>
          <p:nvPr/>
        </p:nvCxnSpPr>
        <p:spPr>
          <a:xfrm>
            <a:off x="2743200" y="2249424"/>
            <a:ext cx="1600200" cy="0"/>
          </a:xfrm>
          <a:prstGeom prst="line">
            <a:avLst/>
          </a:prstGeom>
          <a:ln w="15875">
            <a:solidFill>
              <a:srgbClr val="C2255C"/>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743200" y="2029967"/>
            <a:ext cx="1600200" cy="201168"/>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POST /library/media  ·  multipart</a:t>
            </a:r>
          </a:p>
        </p:txBody>
      </p:sp>
      <p:sp>
        <p:nvSpPr>
          <p:cNvPr id="36" name="Rounded Rectangle 35"/>
          <p:cNvSpPr/>
          <p:nvPr/>
        </p:nvSpPr>
        <p:spPr>
          <a:xfrm>
            <a:off x="4389120" y="2432303"/>
            <a:ext cx="1417320" cy="237744"/>
          </a:xfrm>
          <a:prstGeom prst="roundRect">
            <a:avLst>
              <a:gd name="adj" fmla="val 20000"/>
            </a:avLst>
          </a:prstGeom>
          <a:solidFill>
            <a:srgbClr val="F2CF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0" y="2432303"/>
            <a:ext cx="1417320" cy="237744"/>
          </a:xfrm>
          <a:prstGeom prst="rect">
            <a:avLst/>
          </a:prstGeom>
          <a:noFill/>
        </p:spPr>
        <p:txBody>
          <a:bodyPr wrap="square" anchor="ctr" lIns="45720" rIns="45720" tIns="18288" bIns="18288">
            <a:spAutoFit/>
          </a:bodyPr>
          <a:lstStyle/>
          <a:p>
            <a:pPr algn="ctr">
              <a:lnSpc>
                <a:spcPct val="98000"/>
              </a:lnSpc>
            </a:pPr>
            <a:r>
              <a:rPr sz="700" b="1" i="0">
                <a:solidFill>
                  <a:srgbClr val="C2255C"/>
                </a:solidFill>
                <a:latin typeface="Calibri"/>
              </a:rPr>
              <a:t>garde de taille + quota</a:t>
            </a:r>
          </a:p>
        </p:txBody>
      </p:sp>
      <p:cxnSp>
        <p:nvCxnSpPr>
          <p:cNvPr id="38" name="Connector 37"/>
          <p:cNvCxnSpPr/>
          <p:nvPr/>
        </p:nvCxnSpPr>
        <p:spPr>
          <a:xfrm>
            <a:off x="4343400" y="2871216"/>
            <a:ext cx="3200400" cy="0"/>
          </a:xfrm>
          <a:prstGeom prst="line">
            <a:avLst/>
          </a:prstGeom>
          <a:ln w="15875">
            <a:solidFill>
              <a:srgbClr val="C2255C"/>
            </a:solidFill>
            <a:tailEnd type="triangle" w="sm" len="sm"/>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343400" y="2651760"/>
            <a:ext cx="3200400" cy="201168"/>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flux borné en mémoire  ·  objet privé</a:t>
            </a:r>
          </a:p>
        </p:txBody>
      </p:sp>
      <p:cxnSp>
        <p:nvCxnSpPr>
          <p:cNvPr id="40" name="Connector 39"/>
          <p:cNvCxnSpPr/>
          <p:nvPr/>
        </p:nvCxnSpPr>
        <p:spPr>
          <a:xfrm>
            <a:off x="4343400" y="3182112"/>
            <a:ext cx="1600200" cy="0"/>
          </a:xfrm>
          <a:prstGeom prst="line">
            <a:avLst/>
          </a:prstGeom>
          <a:ln w="15875">
            <a:solidFill>
              <a:srgbClr val="C2255C"/>
            </a:solidFill>
            <a:tailEnd type="triangle" w="sm" len="sm"/>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343400" y="2962656"/>
            <a:ext cx="1600200" cy="201168"/>
          </a:xfrm>
          <a:prstGeom prst="rect">
            <a:avLst/>
          </a:prstGeom>
          <a:noFill/>
        </p:spPr>
        <p:txBody>
          <a:bodyPr wrap="square" anchor="t" lIns="45720" rIns="45720" tIns="18288" bIns="18288">
            <a:spAutoFit/>
          </a:bodyPr>
          <a:lstStyle/>
          <a:p>
            <a:pPr algn="ctr">
              <a:lnSpc>
                <a:spcPct val="100000"/>
              </a:lnSpc>
            </a:pPr>
            <a:r>
              <a:rPr sz="750" b="1" i="0">
                <a:solidFill>
                  <a:srgbClr val="212529"/>
                </a:solidFill>
                <a:latin typeface="Calibri"/>
              </a:rPr>
              <a:t>INSERT media  ·  publishedAt = null</a:t>
            </a:r>
          </a:p>
        </p:txBody>
      </p:sp>
      <p:cxnSp>
        <p:nvCxnSpPr>
          <p:cNvPr id="42" name="Connector 41"/>
          <p:cNvCxnSpPr/>
          <p:nvPr/>
        </p:nvCxnSpPr>
        <p:spPr>
          <a:xfrm flipH="1">
            <a:off x="2743200" y="3493008"/>
            <a:ext cx="1600200" cy="0"/>
          </a:xfrm>
          <a:prstGeom prst="line">
            <a:avLst/>
          </a:prstGeom>
          <a:ln w="15875">
            <a:solidFill>
              <a:srgbClr val="868E96"/>
            </a:solidFill>
            <a:prstDash val="sysDash"/>
            <a:tailEnd type="triangle" w="sm" len="sm"/>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743200" y="3273552"/>
            <a:ext cx="1600200" cy="201168"/>
          </a:xfrm>
          <a:prstGeom prst="rect">
            <a:avLst/>
          </a:prstGeom>
          <a:noFill/>
        </p:spPr>
        <p:txBody>
          <a:bodyPr wrap="square" anchor="t" lIns="45720" rIns="45720" tIns="18288" bIns="18288">
            <a:spAutoFit/>
          </a:bodyPr>
          <a:lstStyle/>
          <a:p>
            <a:pPr algn="ctr">
              <a:lnSpc>
                <a:spcPct val="100000"/>
              </a:lnSpc>
            </a:pPr>
            <a:r>
              <a:rPr sz="750" b="0" i="0">
                <a:solidFill>
                  <a:srgbClr val="495057"/>
                </a:solidFill>
                <a:latin typeface="Calibri"/>
              </a:rPr>
              <a:t>201 Created</a:t>
            </a:r>
          </a:p>
        </p:txBody>
      </p:sp>
      <p:sp>
        <p:nvSpPr>
          <p:cNvPr id="44" name="Rounded Rectangle 43"/>
          <p:cNvSpPr/>
          <p:nvPr/>
        </p:nvSpPr>
        <p:spPr>
          <a:xfrm>
            <a:off x="6858000" y="3657600"/>
            <a:ext cx="1828800" cy="256032"/>
          </a:xfrm>
          <a:prstGeom prst="roundRect">
            <a:avLst>
              <a:gd name="adj" fmla="val 14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0" y="3657600"/>
            <a:ext cx="1828800" cy="256032"/>
          </a:xfrm>
          <a:prstGeom prst="rect">
            <a:avLst/>
          </a:prstGeom>
          <a:noFill/>
        </p:spPr>
        <p:txBody>
          <a:bodyPr wrap="square" anchor="ctr" lIns="45720" rIns="45720" tIns="18288" bIns="18288">
            <a:spAutoFit/>
          </a:bodyPr>
          <a:lstStyle/>
          <a:p>
            <a:pPr algn="ctr">
              <a:lnSpc>
                <a:spcPct val="96000"/>
              </a:lnSpc>
            </a:pPr>
            <a:r>
              <a:rPr sz="800" b="1" i="0">
                <a:solidFill>
                  <a:srgbClr val="FFFFFF"/>
                </a:solidFill>
                <a:latin typeface="Calibri"/>
              </a:rPr>
              <a:t>privé par défaut</a:t>
            </a:r>
          </a:p>
        </p:txBody>
      </p:sp>
      <p:sp>
        <p:nvSpPr>
          <p:cNvPr id="46" name="TextBox 45"/>
          <p:cNvSpPr txBox="1"/>
          <p:nvPr/>
        </p:nvSpPr>
        <p:spPr>
          <a:xfrm>
            <a:off x="457200" y="4005072"/>
            <a:ext cx="3931920"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DEUX AUTRES PROCESSUS MODÉLISÉS</a:t>
            </a:r>
          </a:p>
        </p:txBody>
      </p:sp>
      <p:sp>
        <p:nvSpPr>
          <p:cNvPr id="47" name="Rectangle 46"/>
          <p:cNvSpPr/>
          <p:nvPr/>
        </p:nvSpPr>
        <p:spPr>
          <a:xfrm>
            <a:off x="457200" y="4242816"/>
            <a:ext cx="292608" cy="18288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4242816"/>
            <a:ext cx="292608" cy="182880"/>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I.2</a:t>
            </a:r>
          </a:p>
        </p:txBody>
      </p:sp>
      <p:sp>
        <p:nvSpPr>
          <p:cNvPr id="49" name="TextBox 48"/>
          <p:cNvSpPr txBox="1"/>
          <p:nvPr/>
        </p:nvSpPr>
        <p:spPr>
          <a:xfrm>
            <a:off x="804672" y="4206240"/>
            <a:ext cx="3657600" cy="256032"/>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Publication, partage, retrait  </a:t>
            </a:r>
            <a:r>
              <a:rPr sz="750" b="0" i="0">
                <a:solidFill>
                  <a:srgbClr val="495057"/>
                </a:solidFill>
                <a:latin typeface="Calibri"/>
              </a:rPr>
              <a:t>datation atomique, index partiel, cache invalidé</a:t>
            </a:r>
          </a:p>
        </p:txBody>
      </p:sp>
      <p:sp>
        <p:nvSpPr>
          <p:cNvPr id="50" name="Rectangle 49"/>
          <p:cNvSpPr/>
          <p:nvPr/>
        </p:nvSpPr>
        <p:spPr>
          <a:xfrm>
            <a:off x="457200" y="4517136"/>
            <a:ext cx="292608" cy="18288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517136"/>
            <a:ext cx="292608" cy="182880"/>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I.3</a:t>
            </a:r>
          </a:p>
        </p:txBody>
      </p:sp>
      <p:sp>
        <p:nvSpPr>
          <p:cNvPr id="52" name="TextBox 51"/>
          <p:cNvSpPr txBox="1"/>
          <p:nvPr/>
        </p:nvSpPr>
        <p:spPr>
          <a:xfrm>
            <a:off x="804672" y="4480559"/>
            <a:ext cx="3657600" cy="256032"/>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Session sécurisée  </a:t>
            </a:r>
            <a:r>
              <a:rPr sz="750" b="0" i="0">
                <a:solidFill>
                  <a:srgbClr val="495057"/>
                </a:solidFill>
                <a:latin typeface="Calibri"/>
              </a:rPr>
              <a:t>rotation par nonce, détection de rejeu, verrou</a:t>
            </a:r>
          </a:p>
        </p:txBody>
      </p:sp>
      <p:sp>
        <p:nvSpPr>
          <p:cNvPr id="53" name="Rounded Rectangle 52"/>
          <p:cNvSpPr/>
          <p:nvPr/>
        </p:nvSpPr>
        <p:spPr>
          <a:xfrm>
            <a:off x="4663440" y="3968496"/>
            <a:ext cx="4023360" cy="76809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663440" y="3968496"/>
            <a:ext cx="64008" cy="76809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46320" y="4023360"/>
            <a:ext cx="3749039" cy="658368"/>
          </a:xfrm>
          <a:prstGeom prst="rect">
            <a:avLst/>
          </a:prstGeom>
          <a:noFill/>
        </p:spPr>
        <p:txBody>
          <a:bodyPr wrap="square" anchor="t" lIns="45720" rIns="45720" tIns="18288" bIns="18288">
            <a:spAutoFit/>
          </a:bodyPr>
          <a:lstStyle/>
          <a:p>
            <a:pPr algn="l">
              <a:lnSpc>
                <a:spcPct val="105000"/>
              </a:lnSpc>
            </a:pPr>
            <a:r>
              <a:rPr sz="850" b="1" i="0">
                <a:solidFill>
                  <a:srgbClr val="C2255C"/>
                </a:solidFill>
                <a:latin typeface="Calibri"/>
              </a:rPr>
              <a:t>Patterns justifiés  </a:t>
            </a:r>
            <a:r>
              <a:rPr sz="750" b="0" i="0">
                <a:solidFill>
                  <a:srgbClr val="495057"/>
                </a:solidFill>
                <a:latin typeface="Calibri"/>
              </a:rPr>
              <a:t>logiciels, monolithe modulaire, API REST par ressources, GitOps.  De conception, injection de dépendances, repository, DTO validé, stratégies Passport, pagination par curseur.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255C"/>
                </a:solidFill>
                <a:latin typeface="Calibri"/>
              </a:rPr>
              <a:t>4 · CONCEPTION ET DÉVELOPPEMENT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Modèle de données</a:t>
            </a:r>
          </a:p>
        </p:txBody>
      </p:sp>
      <p:sp>
        <p:nvSpPr>
          <p:cNvPr id="11" name="Rectangle 10"/>
          <p:cNvSpPr/>
          <p:nvPr/>
        </p:nvSpPr>
        <p:spPr>
          <a:xfrm>
            <a:off x="475488" y="1069848"/>
            <a:ext cx="1051560" cy="411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17 / 30</a:t>
            </a:r>
          </a:p>
        </p:txBody>
      </p:sp>
      <p:sp>
        <p:nvSpPr>
          <p:cNvPr id="13" name="Rounded Rectangle 12"/>
          <p:cNvSpPr/>
          <p:nvPr/>
        </p:nvSpPr>
        <p:spPr>
          <a:xfrm>
            <a:off x="457200" y="4818888"/>
            <a:ext cx="1124712" cy="228600"/>
          </a:xfrm>
          <a:prstGeom prst="roundRect">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C13 · C21</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BC3 · mémoire 14.1.4, 12.2.3 · annexes D, E, E bis</a:t>
            </a:r>
          </a:p>
        </p:txBody>
      </p:sp>
      <p:sp>
        <p:nvSpPr>
          <p:cNvPr id="16" name="Rounded Rectangle 15"/>
          <p:cNvSpPr/>
          <p:nvPr/>
        </p:nvSpPr>
        <p:spPr>
          <a:xfrm>
            <a:off x="548640" y="2048256"/>
            <a:ext cx="1691640" cy="832104"/>
          </a:xfrm>
          <a:prstGeom prst="roundRect">
            <a:avLst>
              <a:gd name="adj" fmla="val 6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2048256"/>
            <a:ext cx="1691640" cy="256032"/>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176272"/>
            <a:ext cx="1691640" cy="12801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048256"/>
            <a:ext cx="1691640" cy="256032"/>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comptes</a:t>
            </a:r>
          </a:p>
        </p:txBody>
      </p:sp>
      <p:sp>
        <p:nvSpPr>
          <p:cNvPr id="20" name="TextBox 19"/>
          <p:cNvSpPr txBox="1"/>
          <p:nvPr/>
        </p:nvSpPr>
        <p:spPr>
          <a:xfrm>
            <a:off x="640080" y="2340864"/>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identifiant public</a:t>
            </a:r>
          </a:p>
        </p:txBody>
      </p:sp>
      <p:sp>
        <p:nvSpPr>
          <p:cNvPr id="21" name="TextBox 20"/>
          <p:cNvSpPr txBox="1"/>
          <p:nvPr/>
        </p:nvSpPr>
        <p:spPr>
          <a:xfrm>
            <a:off x="640080" y="2514600"/>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empreinte Argon2id</a:t>
            </a:r>
          </a:p>
        </p:txBody>
      </p:sp>
      <p:sp>
        <p:nvSpPr>
          <p:cNvPr id="22" name="TextBox 21"/>
          <p:cNvSpPr txBox="1"/>
          <p:nvPr/>
        </p:nvSpPr>
        <p:spPr>
          <a:xfrm>
            <a:off x="640080" y="2688336"/>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clé d’API</a:t>
            </a:r>
          </a:p>
        </p:txBody>
      </p:sp>
      <p:sp>
        <p:nvSpPr>
          <p:cNvPr id="23" name="Rounded Rectangle 22"/>
          <p:cNvSpPr/>
          <p:nvPr/>
        </p:nvSpPr>
        <p:spPr>
          <a:xfrm>
            <a:off x="2926080" y="1371600"/>
            <a:ext cx="1691640" cy="832104"/>
          </a:xfrm>
          <a:prstGeom prst="roundRect">
            <a:avLst>
              <a:gd name="adj" fmla="val 6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926080" y="1371600"/>
            <a:ext cx="1691640" cy="256032"/>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926080" y="1499616"/>
            <a:ext cx="1691640" cy="12801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0" y="1371600"/>
            <a:ext cx="1691640" cy="256032"/>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médias</a:t>
            </a:r>
          </a:p>
        </p:txBody>
      </p:sp>
      <p:sp>
        <p:nvSpPr>
          <p:cNvPr id="27" name="TextBox 26"/>
          <p:cNvSpPr txBox="1"/>
          <p:nvPr/>
        </p:nvSpPr>
        <p:spPr>
          <a:xfrm>
            <a:off x="3017520" y="1664208"/>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rôle</a:t>
            </a:r>
          </a:p>
        </p:txBody>
      </p:sp>
      <p:sp>
        <p:nvSpPr>
          <p:cNvPr id="28" name="TextBox 27"/>
          <p:cNvSpPr txBox="1"/>
          <p:nvPr/>
        </p:nvSpPr>
        <p:spPr>
          <a:xfrm>
            <a:off x="3017520" y="1837944"/>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date de publication</a:t>
            </a:r>
          </a:p>
        </p:txBody>
      </p:sp>
      <p:sp>
        <p:nvSpPr>
          <p:cNvPr id="29" name="TextBox 28"/>
          <p:cNvSpPr txBox="1"/>
          <p:nvPr/>
        </p:nvSpPr>
        <p:spPr>
          <a:xfrm>
            <a:off x="3017520" y="2011680"/>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propriétaire</a:t>
            </a:r>
          </a:p>
        </p:txBody>
      </p:sp>
      <p:sp>
        <p:nvSpPr>
          <p:cNvPr id="30" name="Rounded Rectangle 29"/>
          <p:cNvSpPr/>
          <p:nvPr/>
        </p:nvSpPr>
        <p:spPr>
          <a:xfrm>
            <a:off x="2926080" y="2926080"/>
            <a:ext cx="1691640" cy="658368"/>
          </a:xfrm>
          <a:prstGeom prst="roundRect">
            <a:avLst>
              <a:gd name="adj" fmla="val 6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926080" y="2926080"/>
            <a:ext cx="1691640" cy="256032"/>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26080" y="3054096"/>
            <a:ext cx="1691640" cy="12801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6080" y="2926080"/>
            <a:ext cx="1691640" cy="256032"/>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albums</a:t>
            </a:r>
          </a:p>
        </p:txBody>
      </p:sp>
      <p:sp>
        <p:nvSpPr>
          <p:cNvPr id="34" name="TextBox 33"/>
          <p:cNvSpPr txBox="1"/>
          <p:nvPr/>
        </p:nvSpPr>
        <p:spPr>
          <a:xfrm>
            <a:off x="3017520" y="3218688"/>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titre</a:t>
            </a:r>
          </a:p>
        </p:txBody>
      </p:sp>
      <p:sp>
        <p:nvSpPr>
          <p:cNvPr id="35" name="TextBox 34"/>
          <p:cNvSpPr txBox="1"/>
          <p:nvPr/>
        </p:nvSpPr>
        <p:spPr>
          <a:xfrm>
            <a:off x="3017520" y="3392424"/>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propriétaire</a:t>
            </a:r>
          </a:p>
        </p:txBody>
      </p:sp>
      <p:sp>
        <p:nvSpPr>
          <p:cNvPr id="36" name="Rounded Rectangle 35"/>
          <p:cNvSpPr/>
          <p:nvPr/>
        </p:nvSpPr>
        <p:spPr>
          <a:xfrm>
            <a:off x="5303520" y="2139696"/>
            <a:ext cx="1691640" cy="832104"/>
          </a:xfrm>
          <a:prstGeom prst="roundRect">
            <a:avLst>
              <a:gd name="adj" fmla="val 6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303520" y="2139696"/>
            <a:ext cx="1691640" cy="256032"/>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0" y="2267712"/>
            <a:ext cx="1691640" cy="12801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0" y="2139696"/>
            <a:ext cx="1691640" cy="256032"/>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placements</a:t>
            </a:r>
          </a:p>
        </p:txBody>
      </p:sp>
      <p:sp>
        <p:nvSpPr>
          <p:cNvPr id="40" name="TextBox 39"/>
          <p:cNvSpPr txBox="1"/>
          <p:nvPr/>
        </p:nvSpPr>
        <p:spPr>
          <a:xfrm>
            <a:off x="5394959" y="2432303"/>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position</a:t>
            </a:r>
          </a:p>
        </p:txBody>
      </p:sp>
      <p:sp>
        <p:nvSpPr>
          <p:cNvPr id="41" name="TextBox 40"/>
          <p:cNvSpPr txBox="1"/>
          <p:nvPr/>
        </p:nvSpPr>
        <p:spPr>
          <a:xfrm>
            <a:off x="5394959" y="2606039"/>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album</a:t>
            </a:r>
          </a:p>
        </p:txBody>
      </p:sp>
      <p:sp>
        <p:nvSpPr>
          <p:cNvPr id="42" name="TextBox 41"/>
          <p:cNvSpPr txBox="1"/>
          <p:nvPr/>
        </p:nvSpPr>
        <p:spPr>
          <a:xfrm>
            <a:off x="5394959" y="2779775"/>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média</a:t>
            </a:r>
          </a:p>
        </p:txBody>
      </p:sp>
      <p:sp>
        <p:nvSpPr>
          <p:cNvPr id="43" name="Rounded Rectangle 42"/>
          <p:cNvSpPr/>
          <p:nvPr/>
        </p:nvSpPr>
        <p:spPr>
          <a:xfrm>
            <a:off x="548640" y="3310128"/>
            <a:ext cx="1691640" cy="658368"/>
          </a:xfrm>
          <a:prstGeom prst="roundRect">
            <a:avLst>
              <a:gd name="adj" fmla="val 6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48640" y="3310128"/>
            <a:ext cx="1691640" cy="256032"/>
          </a:xfrm>
          <a:prstGeom prst="roundRect">
            <a:avLst>
              <a:gd name="adj" fmla="val 1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3438144"/>
            <a:ext cx="1691640" cy="128016"/>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3310128"/>
            <a:ext cx="1691640" cy="256032"/>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abonnements</a:t>
            </a:r>
          </a:p>
        </p:txBody>
      </p:sp>
      <p:sp>
        <p:nvSpPr>
          <p:cNvPr id="47" name="TextBox 46"/>
          <p:cNvSpPr txBox="1"/>
          <p:nvPr/>
        </p:nvSpPr>
        <p:spPr>
          <a:xfrm>
            <a:off x="640080" y="3602736"/>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suiveur</a:t>
            </a:r>
          </a:p>
        </p:txBody>
      </p:sp>
      <p:sp>
        <p:nvSpPr>
          <p:cNvPr id="48" name="TextBox 47"/>
          <p:cNvSpPr txBox="1"/>
          <p:nvPr/>
        </p:nvSpPr>
        <p:spPr>
          <a:xfrm>
            <a:off x="640080" y="3776472"/>
            <a:ext cx="1545336" cy="15544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suivi</a:t>
            </a:r>
          </a:p>
        </p:txBody>
      </p:sp>
      <p:cxnSp>
        <p:nvCxnSpPr>
          <p:cNvPr id="49" name="Connector 48"/>
          <p:cNvCxnSpPr/>
          <p:nvPr/>
        </p:nvCxnSpPr>
        <p:spPr>
          <a:xfrm flipV="1">
            <a:off x="2240280" y="1874519"/>
            <a:ext cx="685800" cy="457201"/>
          </a:xfrm>
          <a:prstGeom prst="line">
            <a:avLst/>
          </a:prstGeom>
          <a:ln w="12700">
            <a:solidFill>
              <a:srgbClr val="868E9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2212848" y="1920240"/>
            <a:ext cx="731520"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1 · n</a:t>
            </a:r>
          </a:p>
        </p:txBody>
      </p:sp>
      <p:cxnSp>
        <p:nvCxnSpPr>
          <p:cNvPr id="51" name="Connector 50"/>
          <p:cNvCxnSpPr/>
          <p:nvPr/>
        </p:nvCxnSpPr>
        <p:spPr>
          <a:xfrm>
            <a:off x="2240280" y="2651760"/>
            <a:ext cx="685800" cy="530352"/>
          </a:xfrm>
          <a:prstGeom prst="line">
            <a:avLst/>
          </a:prstGeom>
          <a:ln w="12700">
            <a:solidFill>
              <a:srgbClr val="868E96"/>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212848" y="2834640"/>
            <a:ext cx="731520"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1 · n</a:t>
            </a:r>
          </a:p>
        </p:txBody>
      </p:sp>
      <p:cxnSp>
        <p:nvCxnSpPr>
          <p:cNvPr id="53" name="Connector 52"/>
          <p:cNvCxnSpPr/>
          <p:nvPr/>
        </p:nvCxnSpPr>
        <p:spPr>
          <a:xfrm>
            <a:off x="4617720" y="1920240"/>
            <a:ext cx="685800" cy="475488"/>
          </a:xfrm>
          <a:prstGeom prst="line">
            <a:avLst/>
          </a:prstGeom>
          <a:ln w="12700">
            <a:solidFill>
              <a:srgbClr val="868E9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17720" y="2706624"/>
            <a:ext cx="685800" cy="475488"/>
          </a:xfrm>
          <a:prstGeom prst="line">
            <a:avLst/>
          </a:prstGeom>
          <a:ln w="12700">
            <a:solidFill>
              <a:srgbClr val="868E96"/>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626864" y="2432304"/>
            <a:ext cx="658368" cy="164592"/>
          </a:xfrm>
          <a:prstGeom prst="rect">
            <a:avLst/>
          </a:prstGeom>
          <a:noFill/>
        </p:spPr>
        <p:txBody>
          <a:bodyPr wrap="square" anchor="t" lIns="45720" rIns="45720" tIns="18288" bIns="18288">
            <a:spAutoFit/>
          </a:bodyPr>
          <a:lstStyle/>
          <a:p>
            <a:pPr algn="ctr">
              <a:lnSpc>
                <a:spcPct val="100000"/>
              </a:lnSpc>
            </a:pPr>
            <a:r>
              <a:rPr sz="650" b="1" i="0">
                <a:solidFill>
                  <a:srgbClr val="868E96"/>
                </a:solidFill>
                <a:latin typeface="Calibri"/>
              </a:rPr>
              <a:t>n · n</a:t>
            </a:r>
          </a:p>
        </p:txBody>
      </p:sp>
      <p:cxnSp>
        <p:nvCxnSpPr>
          <p:cNvPr id="56" name="Connector 55"/>
          <p:cNvCxnSpPr/>
          <p:nvPr/>
        </p:nvCxnSpPr>
        <p:spPr>
          <a:xfrm>
            <a:off x="1389888" y="2962656"/>
            <a:ext cx="0" cy="347472"/>
          </a:xfrm>
          <a:prstGeom prst="line">
            <a:avLst/>
          </a:prstGeom>
          <a:ln w="12700">
            <a:solidFill>
              <a:srgbClr val="868E96"/>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444752" y="3017520"/>
            <a:ext cx="822960" cy="164592"/>
          </a:xfrm>
          <a:prstGeom prst="rect">
            <a:avLst/>
          </a:prstGeom>
          <a:noFill/>
        </p:spPr>
        <p:txBody>
          <a:bodyPr wrap="square" anchor="t" lIns="45720" rIns="45720" tIns="18288" bIns="18288">
            <a:spAutoFit/>
          </a:bodyPr>
          <a:lstStyle/>
          <a:p>
            <a:pPr algn="l">
              <a:lnSpc>
                <a:spcPct val="100000"/>
              </a:lnSpc>
            </a:pPr>
            <a:r>
              <a:rPr sz="650" b="1" i="0">
                <a:solidFill>
                  <a:srgbClr val="868E96"/>
                </a:solidFill>
                <a:latin typeface="Calibri"/>
              </a:rPr>
              <a:t>réflexive</a:t>
            </a:r>
          </a:p>
        </p:txBody>
      </p:sp>
      <p:sp>
        <p:nvSpPr>
          <p:cNvPr id="58" name="Right Arrow 57"/>
          <p:cNvSpPr/>
          <p:nvPr/>
        </p:nvSpPr>
        <p:spPr>
          <a:xfrm>
            <a:off x="2304288" y="3877056"/>
            <a:ext cx="4663440" cy="274320"/>
          </a:xfrm>
          <a:prstGeom prst="rightArrow">
            <a:avLst/>
          </a:prstGeom>
          <a:solidFill>
            <a:srgbClr val="EAAE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04288" y="3877056"/>
            <a:ext cx="4663440" cy="274320"/>
          </a:xfrm>
          <a:prstGeom prst="rect">
            <a:avLst/>
          </a:prstGeom>
          <a:noFill/>
        </p:spPr>
        <p:txBody>
          <a:bodyPr wrap="square" anchor="ctr" lIns="45720" rIns="45720" tIns="18288" bIns="18288">
            <a:spAutoFit/>
          </a:bodyPr>
          <a:lstStyle/>
          <a:p>
            <a:pPr algn="ctr">
              <a:lnSpc>
                <a:spcPct val="98000"/>
              </a:lnSpc>
            </a:pPr>
            <a:r>
              <a:rPr sz="750" b="1" i="0">
                <a:solidFill>
                  <a:srgbClr val="C92A2A"/>
                </a:solidFill>
                <a:latin typeface="Calibri"/>
              </a:rPr>
              <a:t>supprimer un compte efface en cascade médias, albums, placements et abonnements</a:t>
            </a:r>
          </a:p>
        </p:txBody>
      </p:sp>
      <p:sp>
        <p:nvSpPr>
          <p:cNvPr id="60" name="Rounded Rectangle 59"/>
          <p:cNvSpPr/>
          <p:nvPr/>
        </p:nvSpPr>
        <p:spPr>
          <a:xfrm>
            <a:off x="7223760" y="1298448"/>
            <a:ext cx="1463040" cy="1463040"/>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223760" y="1298448"/>
            <a:ext cx="64008" cy="1463040"/>
          </a:xfrm>
          <a:prstGeom prst="rect">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370064" y="1371600"/>
            <a:ext cx="1261872" cy="1335024"/>
          </a:xfrm>
          <a:prstGeom prst="rect">
            <a:avLst/>
          </a:prstGeom>
          <a:noFill/>
        </p:spPr>
        <p:txBody>
          <a:bodyPr wrap="square" anchor="t" lIns="45720" rIns="45720" tIns="18288" bIns="18288">
            <a:spAutoFit/>
          </a:bodyPr>
          <a:lstStyle/>
          <a:p>
            <a:pPr algn="l">
              <a:lnSpc>
                <a:spcPct val="105000"/>
              </a:lnSpc>
              <a:spcAft>
                <a:spcPts val="200"/>
              </a:spcAft>
            </a:pPr>
            <a:r>
              <a:rPr sz="850" b="1" i="0">
                <a:solidFill>
                  <a:srgbClr val="087F5B"/>
                </a:solidFill>
                <a:latin typeface="Calibri"/>
              </a:rPr>
              <a:t>Index partiels</a:t>
            </a:r>
          </a:p>
          <a:p>
            <a:pPr algn="l">
              <a:lnSpc>
                <a:spcPct val="105000"/>
              </a:lnSpc>
              <a:spcAft>
                <a:spcPts val="200"/>
              </a:spcAft>
            </a:pPr>
            <a:r>
              <a:rPr sz="750" b="0" i="0">
                <a:solidFill>
                  <a:srgbClr val="495057"/>
                </a:solidFill>
                <a:latin typeface="Calibri"/>
              </a:rPr>
              <a:t>le fil public n’indexe que les lignes publiées. Index compact, lectures accélérées, moins d’énergie.</a:t>
            </a:r>
          </a:p>
        </p:txBody>
      </p:sp>
      <p:sp>
        <p:nvSpPr>
          <p:cNvPr id="63" name="Rounded Rectangle 62"/>
          <p:cNvSpPr/>
          <p:nvPr/>
        </p:nvSpPr>
        <p:spPr>
          <a:xfrm>
            <a:off x="7223760" y="2852928"/>
            <a:ext cx="1463040" cy="126187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223760" y="2852928"/>
            <a:ext cx="64008" cy="1261872"/>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70064" y="2926080"/>
            <a:ext cx="1261872" cy="1133856"/>
          </a:xfrm>
          <a:prstGeom prst="rect">
            <a:avLst/>
          </a:prstGeom>
          <a:noFill/>
        </p:spPr>
        <p:txBody>
          <a:bodyPr wrap="square" anchor="t" lIns="45720" rIns="45720" tIns="18288" bIns="18288">
            <a:spAutoFit/>
          </a:bodyPr>
          <a:lstStyle/>
          <a:p>
            <a:pPr algn="l">
              <a:lnSpc>
                <a:spcPct val="105000"/>
              </a:lnSpc>
              <a:spcAft>
                <a:spcPts val="200"/>
              </a:spcAft>
            </a:pPr>
            <a:r>
              <a:rPr sz="850" b="1" i="0">
                <a:solidFill>
                  <a:srgbClr val="C2255C"/>
                </a:solidFill>
                <a:latin typeface="Calibri"/>
              </a:rPr>
              <a:t>Fort volume</a:t>
            </a:r>
          </a:p>
          <a:p>
            <a:pPr algn="l">
              <a:lnSpc>
                <a:spcPct val="105000"/>
              </a:lnSpc>
              <a:spcAft>
                <a:spcPts val="200"/>
              </a:spcAft>
            </a:pPr>
            <a:r>
              <a:rPr sz="750" b="0" i="0">
                <a:solidFill>
                  <a:srgbClr val="495057"/>
                </a:solidFill>
                <a:latin typeface="Calibri"/>
              </a:rPr>
              <a:t>flux borné, pagination par curseur, CDN, cycle de vie S3.</a:t>
            </a:r>
          </a:p>
        </p:txBody>
      </p:sp>
      <p:sp>
        <p:nvSpPr>
          <p:cNvPr id="66" name="TextBox 65"/>
          <p:cNvSpPr txBox="1"/>
          <p:nvPr/>
        </p:nvSpPr>
        <p:spPr>
          <a:xfrm>
            <a:off x="457200" y="4297680"/>
            <a:ext cx="6492240" cy="219456"/>
          </a:xfrm>
          <a:prstGeom prst="rect">
            <a:avLst/>
          </a:prstGeom>
          <a:noFill/>
        </p:spPr>
        <p:txBody>
          <a:bodyPr wrap="square" anchor="t" lIns="45720" rIns="45720" tIns="18288" bIns="18288">
            <a:spAutoFit/>
          </a:bodyPr>
          <a:lstStyle/>
          <a:p>
            <a:pPr algn="l">
              <a:lnSpc>
                <a:spcPct val="100000"/>
              </a:lnSpc>
            </a:pPr>
            <a:r>
              <a:rPr sz="800" b="0" i="0">
                <a:solidFill>
                  <a:srgbClr val="868E96"/>
                </a:solidFill>
                <a:latin typeface="Calibri"/>
              </a:rPr>
              <a:t>Migrations TypeORM versionnées, structure reproductible et rejouable. MCD et MLD complets en annexes D et 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255C"/>
                </a:solidFill>
                <a:latin typeface="Calibri"/>
              </a:rPr>
              <a:t>4 · CONCEPTION ET DÉVELOPPEMENT</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Sécurité et stratégie de tests</a:t>
            </a:r>
          </a:p>
        </p:txBody>
      </p:sp>
      <p:sp>
        <p:nvSpPr>
          <p:cNvPr id="11" name="Rectangle 10"/>
          <p:cNvSpPr/>
          <p:nvPr/>
        </p:nvSpPr>
        <p:spPr>
          <a:xfrm>
            <a:off x="475488" y="1069848"/>
            <a:ext cx="1051560" cy="411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18 / 30</a:t>
            </a:r>
          </a:p>
        </p:txBody>
      </p:sp>
      <p:sp>
        <p:nvSpPr>
          <p:cNvPr id="13" name="Rounded Rectangle 12"/>
          <p:cNvSpPr/>
          <p:nvPr/>
        </p:nvSpPr>
        <p:spPr>
          <a:xfrm>
            <a:off x="457200" y="4818888"/>
            <a:ext cx="1124712" cy="228600"/>
          </a:xfrm>
          <a:prstGeom prst="roundRect">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C25 · C26</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BC3 · mémoire 12.3, 14.1.6, 14.2 · annexes R, S, Z</a:t>
            </a:r>
          </a:p>
        </p:txBody>
      </p:sp>
      <p:sp>
        <p:nvSpPr>
          <p:cNvPr id="16" name="Chevron 15"/>
          <p:cNvSpPr/>
          <p:nvPr/>
        </p:nvSpPr>
        <p:spPr>
          <a:xfrm>
            <a:off x="457200" y="1335024"/>
            <a:ext cx="1298448" cy="530352"/>
          </a:xfrm>
          <a:prstGeom prst="chevron">
            <a:avLst>
              <a:gd name="adj" fmla="val 50000"/>
            </a:avLst>
          </a:prstGeom>
          <a:solidFill>
            <a:srgbClr val="868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commit</a:t>
            </a:r>
          </a:p>
        </p:txBody>
      </p:sp>
      <p:sp>
        <p:nvSpPr>
          <p:cNvPr id="18" name="Chevron 17"/>
          <p:cNvSpPr/>
          <p:nvPr/>
        </p:nvSpPr>
        <p:spPr>
          <a:xfrm>
            <a:off x="1874519" y="1335024"/>
            <a:ext cx="1298448" cy="530352"/>
          </a:xfrm>
          <a:prstGeom prst="chevron">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19"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lint &amp; types</a:t>
            </a:r>
          </a:p>
        </p:txBody>
      </p:sp>
      <p:sp>
        <p:nvSpPr>
          <p:cNvPr id="20" name="TextBox 19"/>
          <p:cNvSpPr txBox="1"/>
          <p:nvPr/>
        </p:nvSpPr>
        <p:spPr>
          <a:xfrm>
            <a:off x="1828799" y="1920240"/>
            <a:ext cx="1389888" cy="182880"/>
          </a:xfrm>
          <a:prstGeom prst="rect">
            <a:avLst/>
          </a:prstGeom>
          <a:noFill/>
        </p:spPr>
        <p:txBody>
          <a:bodyPr wrap="square" anchor="t" lIns="45720" rIns="45720" tIns="18288" bIns="18288">
            <a:spAutoFit/>
          </a:bodyPr>
          <a:lstStyle/>
          <a:p>
            <a:pPr algn="ctr">
              <a:lnSpc>
                <a:spcPct val="100000"/>
              </a:lnSpc>
            </a:pPr>
            <a:r>
              <a:rPr sz="650" b="1" i="0">
                <a:solidFill>
                  <a:srgbClr val="C92A2A"/>
                </a:solidFill>
                <a:latin typeface="Calibri"/>
              </a:rPr>
              <a:t>bloquante</a:t>
            </a:r>
          </a:p>
        </p:txBody>
      </p:sp>
      <p:sp>
        <p:nvSpPr>
          <p:cNvPr id="21" name="Chevron 20"/>
          <p:cNvSpPr/>
          <p:nvPr/>
        </p:nvSpPr>
        <p:spPr>
          <a:xfrm>
            <a:off x="3291840" y="1335024"/>
            <a:ext cx="1298448" cy="530352"/>
          </a:xfrm>
          <a:prstGeom prst="chevron">
            <a:avLst>
              <a:gd name="adj" fmla="val 50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0"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218 tests</a:t>
            </a:r>
          </a:p>
        </p:txBody>
      </p:sp>
      <p:sp>
        <p:nvSpPr>
          <p:cNvPr id="23" name="TextBox 22"/>
          <p:cNvSpPr txBox="1"/>
          <p:nvPr/>
        </p:nvSpPr>
        <p:spPr>
          <a:xfrm>
            <a:off x="3246120" y="1920240"/>
            <a:ext cx="1389888" cy="182880"/>
          </a:xfrm>
          <a:prstGeom prst="rect">
            <a:avLst/>
          </a:prstGeom>
          <a:noFill/>
        </p:spPr>
        <p:txBody>
          <a:bodyPr wrap="square" anchor="t" lIns="45720" rIns="45720" tIns="18288" bIns="18288">
            <a:spAutoFit/>
          </a:bodyPr>
          <a:lstStyle/>
          <a:p>
            <a:pPr algn="ctr">
              <a:lnSpc>
                <a:spcPct val="100000"/>
              </a:lnSpc>
            </a:pPr>
            <a:r>
              <a:rPr sz="650" b="1" i="0">
                <a:solidFill>
                  <a:srgbClr val="C92A2A"/>
                </a:solidFill>
                <a:latin typeface="Calibri"/>
              </a:rPr>
              <a:t>bloquante</a:t>
            </a:r>
          </a:p>
        </p:txBody>
      </p:sp>
      <p:sp>
        <p:nvSpPr>
          <p:cNvPr id="24" name="Chevron 23"/>
          <p:cNvSpPr/>
          <p:nvPr/>
        </p:nvSpPr>
        <p:spPr>
          <a:xfrm>
            <a:off x="4709160" y="1335024"/>
            <a:ext cx="1298448" cy="530352"/>
          </a:xfrm>
          <a:prstGeom prst="chevron">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60"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secrets &amp; deps</a:t>
            </a:r>
          </a:p>
        </p:txBody>
      </p:sp>
      <p:sp>
        <p:nvSpPr>
          <p:cNvPr id="26" name="TextBox 25"/>
          <p:cNvSpPr txBox="1"/>
          <p:nvPr/>
        </p:nvSpPr>
        <p:spPr>
          <a:xfrm>
            <a:off x="4663440" y="1920240"/>
            <a:ext cx="1389888" cy="182880"/>
          </a:xfrm>
          <a:prstGeom prst="rect">
            <a:avLst/>
          </a:prstGeom>
          <a:noFill/>
        </p:spPr>
        <p:txBody>
          <a:bodyPr wrap="square" anchor="t" lIns="45720" rIns="45720" tIns="18288" bIns="18288">
            <a:spAutoFit/>
          </a:bodyPr>
          <a:lstStyle/>
          <a:p>
            <a:pPr algn="ctr">
              <a:lnSpc>
                <a:spcPct val="100000"/>
              </a:lnSpc>
            </a:pPr>
            <a:r>
              <a:rPr sz="650" b="1" i="0">
                <a:solidFill>
                  <a:srgbClr val="C92A2A"/>
                </a:solidFill>
                <a:latin typeface="Calibri"/>
              </a:rPr>
              <a:t>bloquante</a:t>
            </a:r>
          </a:p>
        </p:txBody>
      </p:sp>
      <p:sp>
        <p:nvSpPr>
          <p:cNvPr id="27" name="Chevron 26"/>
          <p:cNvSpPr/>
          <p:nvPr/>
        </p:nvSpPr>
        <p:spPr>
          <a:xfrm>
            <a:off x="6126480" y="1335024"/>
            <a:ext cx="1298448" cy="530352"/>
          </a:xfrm>
          <a:prstGeom prst="chevron">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image scannée</a:t>
            </a:r>
          </a:p>
        </p:txBody>
      </p:sp>
      <p:sp>
        <p:nvSpPr>
          <p:cNvPr id="29" name="TextBox 28"/>
          <p:cNvSpPr txBox="1"/>
          <p:nvPr/>
        </p:nvSpPr>
        <p:spPr>
          <a:xfrm>
            <a:off x="6080760" y="1920240"/>
            <a:ext cx="1389888" cy="182880"/>
          </a:xfrm>
          <a:prstGeom prst="rect">
            <a:avLst/>
          </a:prstGeom>
          <a:noFill/>
        </p:spPr>
        <p:txBody>
          <a:bodyPr wrap="square" anchor="t" lIns="45720" rIns="45720" tIns="18288" bIns="18288">
            <a:spAutoFit/>
          </a:bodyPr>
          <a:lstStyle/>
          <a:p>
            <a:pPr algn="ctr">
              <a:lnSpc>
                <a:spcPct val="100000"/>
              </a:lnSpc>
            </a:pPr>
            <a:r>
              <a:rPr sz="650" b="1" i="0">
                <a:solidFill>
                  <a:srgbClr val="C92A2A"/>
                </a:solidFill>
                <a:latin typeface="Calibri"/>
              </a:rPr>
              <a:t>bloquante</a:t>
            </a:r>
          </a:p>
        </p:txBody>
      </p:sp>
      <p:sp>
        <p:nvSpPr>
          <p:cNvPr id="30" name="Chevron 29"/>
          <p:cNvSpPr/>
          <p:nvPr/>
        </p:nvSpPr>
        <p:spPr>
          <a:xfrm>
            <a:off x="7543800" y="1335024"/>
            <a:ext cx="1298448" cy="530352"/>
          </a:xfrm>
          <a:prstGeom prst="chevron">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43800" y="1335024"/>
            <a:ext cx="1298448" cy="530352"/>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production</a:t>
            </a:r>
          </a:p>
        </p:txBody>
      </p:sp>
      <p:sp>
        <p:nvSpPr>
          <p:cNvPr id="32" name="TextBox 31"/>
          <p:cNvSpPr txBox="1"/>
          <p:nvPr/>
        </p:nvSpPr>
        <p:spPr>
          <a:xfrm>
            <a:off x="457200" y="221284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LE FILET DE LA LIVRAISON CONTINUE</a:t>
            </a:r>
          </a:p>
        </p:txBody>
      </p:sp>
      <p:sp>
        <p:nvSpPr>
          <p:cNvPr id="33" name="Rounded Rectangle 32"/>
          <p:cNvSpPr/>
          <p:nvPr/>
        </p:nvSpPr>
        <p:spPr>
          <a:xfrm>
            <a:off x="457200" y="2414016"/>
            <a:ext cx="1243584" cy="676656"/>
          </a:xfrm>
          <a:prstGeom prst="roundRect">
            <a:avLst>
              <a:gd name="adj" fmla="val 10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2468880"/>
            <a:ext cx="1243584" cy="585216"/>
          </a:xfrm>
          <a:prstGeom prst="rect">
            <a:avLst/>
          </a:prstGeom>
          <a:noFill/>
        </p:spPr>
        <p:txBody>
          <a:bodyPr wrap="square" anchor="t" lIns="45720" rIns="45720" tIns="18288" bIns="18288">
            <a:spAutoFit/>
          </a:bodyPr>
          <a:lstStyle/>
          <a:p>
            <a:pPr algn="ctr">
              <a:lnSpc>
                <a:spcPct val="100000"/>
              </a:lnSpc>
            </a:pPr>
            <a:r>
              <a:rPr sz="1500" b="1" i="0">
                <a:solidFill>
                  <a:srgbClr val="212529"/>
                </a:solidFill>
                <a:latin typeface="Calibri"/>
              </a:rPr>
              <a:t>218</a:t>
            </a:r>
          </a:p>
          <a:p>
            <a:pPr algn="ctr">
              <a:lnSpc>
                <a:spcPct val="100000"/>
              </a:lnSpc>
            </a:pPr>
            <a:r>
              <a:rPr sz="700" b="1" i="0">
                <a:solidFill>
                  <a:srgbClr val="C2255C"/>
                </a:solidFill>
                <a:latin typeface="Calibri"/>
              </a:rPr>
              <a:t>cas Jest</a:t>
            </a:r>
          </a:p>
        </p:txBody>
      </p:sp>
      <p:sp>
        <p:nvSpPr>
          <p:cNvPr id="35" name="Rounded Rectangle 34"/>
          <p:cNvSpPr/>
          <p:nvPr/>
        </p:nvSpPr>
        <p:spPr>
          <a:xfrm>
            <a:off x="1828800" y="2414016"/>
            <a:ext cx="1243584" cy="676656"/>
          </a:xfrm>
          <a:prstGeom prst="roundRect">
            <a:avLst>
              <a:gd name="adj" fmla="val 10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28800" y="2468880"/>
            <a:ext cx="1243584" cy="585216"/>
          </a:xfrm>
          <a:prstGeom prst="rect">
            <a:avLst/>
          </a:prstGeom>
          <a:noFill/>
        </p:spPr>
        <p:txBody>
          <a:bodyPr wrap="square" anchor="t" lIns="45720" rIns="45720" tIns="18288" bIns="18288">
            <a:spAutoFit/>
          </a:bodyPr>
          <a:lstStyle/>
          <a:p>
            <a:pPr algn="ctr">
              <a:lnSpc>
                <a:spcPct val="100000"/>
              </a:lnSpc>
            </a:pPr>
            <a:r>
              <a:rPr sz="1500" b="1" i="0">
                <a:solidFill>
                  <a:srgbClr val="212529"/>
                </a:solidFill>
                <a:latin typeface="Calibri"/>
              </a:rPr>
              <a:t>8</a:t>
            </a:r>
          </a:p>
          <a:p>
            <a:pPr algn="ctr">
              <a:lnSpc>
                <a:spcPct val="100000"/>
              </a:lnSpc>
            </a:pPr>
            <a:r>
              <a:rPr sz="700" b="1" i="0">
                <a:solidFill>
                  <a:srgbClr val="C2255C"/>
                </a:solidFill>
                <a:latin typeface="Calibri"/>
              </a:rPr>
              <a:t>suites</a:t>
            </a:r>
          </a:p>
        </p:txBody>
      </p:sp>
      <p:sp>
        <p:nvSpPr>
          <p:cNvPr id="37" name="Rounded Rectangle 36"/>
          <p:cNvSpPr/>
          <p:nvPr/>
        </p:nvSpPr>
        <p:spPr>
          <a:xfrm>
            <a:off x="3200400" y="2414016"/>
            <a:ext cx="1243584" cy="676656"/>
          </a:xfrm>
          <a:prstGeom prst="roundRect">
            <a:avLst>
              <a:gd name="adj" fmla="val 10000"/>
            </a:avLst>
          </a:prstGeom>
          <a:solidFill>
            <a:srgbClr val="F8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00400" y="2468880"/>
            <a:ext cx="1243584" cy="585216"/>
          </a:xfrm>
          <a:prstGeom prst="rect">
            <a:avLst/>
          </a:prstGeom>
          <a:noFill/>
        </p:spPr>
        <p:txBody>
          <a:bodyPr wrap="square" anchor="t" lIns="45720" rIns="45720" tIns="18288" bIns="18288">
            <a:spAutoFit/>
          </a:bodyPr>
          <a:lstStyle/>
          <a:p>
            <a:pPr algn="ctr">
              <a:lnSpc>
                <a:spcPct val="100000"/>
              </a:lnSpc>
            </a:pPr>
            <a:r>
              <a:rPr sz="1500" b="1" i="0">
                <a:solidFill>
                  <a:srgbClr val="212529"/>
                </a:solidFill>
                <a:latin typeface="Calibri"/>
              </a:rPr>
              <a:t>0</a:t>
            </a:r>
          </a:p>
          <a:p>
            <a:pPr algn="ctr">
              <a:lnSpc>
                <a:spcPct val="100000"/>
              </a:lnSpc>
            </a:pPr>
            <a:r>
              <a:rPr sz="700" b="1" i="0">
                <a:solidFill>
                  <a:srgbClr val="C2255C"/>
                </a:solidFill>
                <a:latin typeface="Calibri"/>
              </a:rPr>
              <a:t>échec</a:t>
            </a:r>
          </a:p>
        </p:txBody>
      </p:sp>
      <p:sp>
        <p:nvSpPr>
          <p:cNvPr id="39" name="TextBox 38"/>
          <p:cNvSpPr txBox="1"/>
          <p:nvPr/>
        </p:nvSpPr>
        <p:spPr>
          <a:xfrm>
            <a:off x="457200" y="3182112"/>
            <a:ext cx="3977639" cy="548640"/>
          </a:xfrm>
          <a:prstGeom prst="rect">
            <a:avLst/>
          </a:prstGeom>
          <a:noFill/>
        </p:spPr>
        <p:txBody>
          <a:bodyPr wrap="square" anchor="t" lIns="45720" rIns="45720" tIns="18288" bIns="18288">
            <a:spAutoFit/>
          </a:bodyPr>
          <a:lstStyle/>
          <a:p>
            <a:pPr algn="l">
              <a:lnSpc>
                <a:spcPct val="105000"/>
              </a:lnSpc>
              <a:spcAft>
                <a:spcPts val="200"/>
              </a:spcAft>
            </a:pPr>
            <a:r>
              <a:rPr sz="800" b="0" i="0">
                <a:solidFill>
                  <a:srgbClr val="495057"/>
                </a:solidFill>
                <a:latin typeface="Calibri"/>
              </a:rPr>
              <a:t>Couvre services, contrôleurs HTTP, validation et limitation de débit.</a:t>
            </a:r>
          </a:p>
          <a:p>
            <a:pPr algn="l">
              <a:lnSpc>
                <a:spcPct val="105000"/>
              </a:lnSpc>
              <a:spcAft>
                <a:spcPts val="200"/>
              </a:spcAft>
            </a:pPr>
            <a:r>
              <a:rPr sz="800" b="1" i="0">
                <a:solidFill>
                  <a:srgbClr val="212529"/>
                </a:solidFill>
                <a:latin typeface="Calibri"/>
              </a:rPr>
              <a:t>Le vol de session est un scénario d’attaque explicitement testé.</a:t>
            </a:r>
          </a:p>
        </p:txBody>
      </p:sp>
      <p:sp>
        <p:nvSpPr>
          <p:cNvPr id="40" name="TextBox 39"/>
          <p:cNvSpPr txBox="1"/>
          <p:nvPr/>
        </p:nvSpPr>
        <p:spPr>
          <a:xfrm>
            <a:off x="4709160" y="221284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SÉCURITÉ PAR CONSTRUCTION, ALIGNÉE OWASP</a:t>
            </a:r>
          </a:p>
        </p:txBody>
      </p:sp>
      <p:sp>
        <p:nvSpPr>
          <p:cNvPr id="41" name="Rounded Rectangle 40"/>
          <p:cNvSpPr/>
          <p:nvPr/>
        </p:nvSpPr>
        <p:spPr>
          <a:xfrm>
            <a:off x="4709160" y="2414016"/>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00600" y="2414016"/>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Argon2id  </a:t>
            </a:r>
            <a:r>
              <a:rPr sz="650" b="0" i="0">
                <a:solidFill>
                  <a:srgbClr val="495057"/>
                </a:solidFill>
                <a:latin typeface="Calibri"/>
              </a:rPr>
              <a:t>hachage memory-hard</a:t>
            </a:r>
          </a:p>
        </p:txBody>
      </p:sp>
      <p:sp>
        <p:nvSpPr>
          <p:cNvPr id="43" name="Rounded Rectangle 42"/>
          <p:cNvSpPr/>
          <p:nvPr/>
        </p:nvSpPr>
        <p:spPr>
          <a:xfrm>
            <a:off x="6720840" y="2414016"/>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12280" y="2414016"/>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Sessions opaques  </a:t>
            </a:r>
            <a:r>
              <a:rPr sz="650" b="0" i="0">
                <a:solidFill>
                  <a:srgbClr val="495057"/>
                </a:solidFill>
                <a:latin typeface="Calibri"/>
              </a:rPr>
              <a:t>rien d’exploitable côté client</a:t>
            </a:r>
          </a:p>
        </p:txBody>
      </p:sp>
      <p:sp>
        <p:nvSpPr>
          <p:cNvPr id="45" name="Rounded Rectangle 44"/>
          <p:cNvSpPr/>
          <p:nvPr/>
        </p:nvSpPr>
        <p:spPr>
          <a:xfrm>
            <a:off x="4709160" y="2798064"/>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00600" y="2798064"/>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Rotation + rejeu  </a:t>
            </a:r>
            <a:r>
              <a:rPr sz="650" b="0" i="0">
                <a:solidFill>
                  <a:srgbClr val="495057"/>
                </a:solidFill>
                <a:latin typeface="Calibri"/>
              </a:rPr>
              <a:t>révocation de la lignée</a:t>
            </a:r>
          </a:p>
        </p:txBody>
      </p:sp>
      <p:sp>
        <p:nvSpPr>
          <p:cNvPr id="47" name="Rounded Rectangle 46"/>
          <p:cNvSpPr/>
          <p:nvPr/>
        </p:nvSpPr>
        <p:spPr>
          <a:xfrm>
            <a:off x="6720840" y="2798064"/>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12280" y="2798064"/>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Rate limiting  </a:t>
            </a:r>
            <a:r>
              <a:rPr sz="650" b="0" i="0">
                <a:solidFill>
                  <a:srgbClr val="495057"/>
                </a:solidFill>
                <a:latin typeface="Calibri"/>
              </a:rPr>
              <a:t>adossé à Redis, par route</a:t>
            </a:r>
          </a:p>
        </p:txBody>
      </p:sp>
      <p:sp>
        <p:nvSpPr>
          <p:cNvPr id="49" name="Rounded Rectangle 48"/>
          <p:cNvSpPr/>
          <p:nvPr/>
        </p:nvSpPr>
        <p:spPr>
          <a:xfrm>
            <a:off x="4709160" y="3182112"/>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00600" y="3182112"/>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HSTS · CORS  </a:t>
            </a:r>
            <a:r>
              <a:rPr sz="650" b="0" i="0">
                <a:solidFill>
                  <a:srgbClr val="495057"/>
                </a:solidFill>
                <a:latin typeface="Calibri"/>
              </a:rPr>
              <a:t>liste blanche stricte</a:t>
            </a:r>
          </a:p>
        </p:txBody>
      </p:sp>
      <p:sp>
        <p:nvSpPr>
          <p:cNvPr id="51" name="Rounded Rectangle 50"/>
          <p:cNvSpPr/>
          <p:nvPr/>
        </p:nvSpPr>
        <p:spPr>
          <a:xfrm>
            <a:off x="6720840" y="3182112"/>
            <a:ext cx="1920240" cy="329184"/>
          </a:xfrm>
          <a:prstGeom prst="roundRect">
            <a:avLst>
              <a:gd name="adj" fmla="val 12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12280" y="3182112"/>
            <a:ext cx="1755648" cy="329184"/>
          </a:xfrm>
          <a:prstGeom prst="rect">
            <a:avLst/>
          </a:prstGeom>
          <a:noFill/>
        </p:spPr>
        <p:txBody>
          <a:bodyPr wrap="square" anchor="ctr" lIns="45720" rIns="45720" tIns="18288" bIns="18288">
            <a:spAutoFit/>
          </a:bodyPr>
          <a:lstStyle/>
          <a:p>
            <a:pPr algn="l">
              <a:lnSpc>
                <a:spcPct val="95000"/>
              </a:lnSpc>
            </a:pPr>
            <a:r>
              <a:rPr sz="750" b="1" i="0">
                <a:solidFill>
                  <a:srgbClr val="212529"/>
                </a:solidFill>
                <a:latin typeface="Calibri"/>
              </a:rPr>
              <a:t>Secrets  </a:t>
            </a:r>
            <a:r>
              <a:rPr sz="650" b="0" i="0">
                <a:solidFill>
                  <a:srgbClr val="495057"/>
                </a:solidFill>
                <a:latin typeface="Calibri"/>
              </a:rPr>
              <a:t>exclus des lectures</a:t>
            </a:r>
          </a:p>
        </p:txBody>
      </p:sp>
      <p:sp>
        <p:nvSpPr>
          <p:cNvPr id="53" name="Rounded Rectangle 52"/>
          <p:cNvSpPr/>
          <p:nvPr/>
        </p:nvSpPr>
        <p:spPr>
          <a:xfrm>
            <a:off x="457200" y="3877056"/>
            <a:ext cx="82296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3877056"/>
            <a:ext cx="64008" cy="841248"/>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3959352"/>
            <a:ext cx="7882127" cy="694944"/>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255C"/>
                </a:solidFill>
                <a:latin typeface="Calibri"/>
              </a:rPr>
              <a:t>Le code se documente là où il est lu  </a:t>
            </a:r>
          </a:p>
          <a:p>
            <a:pPr algn="l">
              <a:lnSpc>
                <a:spcPct val="105000"/>
              </a:lnSpc>
              <a:spcAft>
                <a:spcPts val="200"/>
              </a:spcAft>
            </a:pPr>
            <a:r>
              <a:rPr sz="900" b="0" i="0">
                <a:solidFill>
                  <a:srgbClr val="495057"/>
                </a:solidFill>
                <a:latin typeface="Calibri"/>
              </a:rPr>
              <a:t>46 routes sur 46 documentées, 228 blocs JSDoc. Chaque bloc dit le contrat HTTP, le garde exigé, la limitation appliquée et les exceptions levées.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Stratégie DevOps</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19 / 30</a:t>
            </a:r>
          </a:p>
        </p:txBody>
      </p:sp>
      <p:sp>
        <p:nvSpPr>
          <p:cNvPr id="13" name="Rounded Rectangle 12"/>
          <p:cNvSpPr/>
          <p:nvPr/>
        </p:nvSpPr>
        <p:spPr>
          <a:xfrm>
            <a:off x="457200" y="4818888"/>
            <a:ext cx="784555"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C28</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BC4C · mémoire 17.1 · annexes B, J · wiki 06</a:t>
            </a:r>
          </a:p>
        </p:txBody>
      </p:sp>
      <p:sp>
        <p:nvSpPr>
          <p:cNvPr id="16" name="TextBox 15"/>
          <p:cNvSpPr txBox="1"/>
          <p:nvPr/>
        </p:nvSpPr>
        <p:spPr>
          <a:xfrm>
            <a:off x="457200" y="1225296"/>
            <a:ext cx="8229600" cy="201168"/>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SIX PRINCIPES QUI STRUCTURENT TOUTE LA CHAÎNE</a:t>
            </a:r>
          </a:p>
        </p:txBody>
      </p:sp>
      <p:sp>
        <p:nvSpPr>
          <p:cNvPr id="17" name="Rounded Rectangle 16"/>
          <p:cNvSpPr/>
          <p:nvPr/>
        </p:nvSpPr>
        <p:spPr>
          <a:xfrm>
            <a:off x="457200" y="14630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14630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4630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1</a:t>
            </a:r>
          </a:p>
        </p:txBody>
      </p:sp>
      <p:sp>
        <p:nvSpPr>
          <p:cNvPr id="20" name="TextBox 19"/>
          <p:cNvSpPr txBox="1"/>
          <p:nvPr/>
        </p:nvSpPr>
        <p:spPr>
          <a:xfrm>
            <a:off x="1060704" y="15544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Tout en code</a:t>
            </a:r>
          </a:p>
          <a:p>
            <a:pPr algn="l">
              <a:lnSpc>
                <a:spcPct val="105000"/>
              </a:lnSpc>
              <a:spcAft>
                <a:spcPts val="200"/>
              </a:spcAft>
            </a:pPr>
            <a:r>
              <a:rPr sz="850" b="0" i="0">
                <a:solidFill>
                  <a:srgbClr val="495057"/>
                </a:solidFill>
                <a:latin typeface="Calibri"/>
              </a:rPr>
              <a:t>aucune ressource créée à la main, infrastructure comprise</a:t>
            </a:r>
          </a:p>
        </p:txBody>
      </p:sp>
      <p:sp>
        <p:nvSpPr>
          <p:cNvPr id="21" name="Rounded Rectangle 20"/>
          <p:cNvSpPr/>
          <p:nvPr/>
        </p:nvSpPr>
        <p:spPr>
          <a:xfrm>
            <a:off x="4709160" y="14630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709160" y="14630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14630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2</a:t>
            </a:r>
          </a:p>
        </p:txBody>
      </p:sp>
      <p:sp>
        <p:nvSpPr>
          <p:cNvPr id="24" name="TextBox 23"/>
          <p:cNvSpPr txBox="1"/>
          <p:nvPr/>
        </p:nvSpPr>
        <p:spPr>
          <a:xfrm>
            <a:off x="5312664" y="15544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GitOps</a:t>
            </a:r>
          </a:p>
          <a:p>
            <a:pPr algn="l">
              <a:lnSpc>
                <a:spcPct val="105000"/>
              </a:lnSpc>
              <a:spcAft>
                <a:spcPts val="200"/>
              </a:spcAft>
            </a:pPr>
            <a:r>
              <a:rPr sz="850" b="0" i="0">
                <a:solidFill>
                  <a:srgbClr val="495057"/>
                </a:solidFill>
                <a:latin typeface="Calibri"/>
              </a:rPr>
              <a:t>Git fait autorité sur l’état attendu du système</a:t>
            </a:r>
          </a:p>
        </p:txBody>
      </p:sp>
      <p:sp>
        <p:nvSpPr>
          <p:cNvPr id="25" name="Rounded Rectangle 24"/>
          <p:cNvSpPr/>
          <p:nvPr/>
        </p:nvSpPr>
        <p:spPr>
          <a:xfrm>
            <a:off x="457200" y="23774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7200" y="23774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3774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3</a:t>
            </a:r>
          </a:p>
        </p:txBody>
      </p:sp>
      <p:sp>
        <p:nvSpPr>
          <p:cNvPr id="28" name="TextBox 27"/>
          <p:cNvSpPr txBox="1"/>
          <p:nvPr/>
        </p:nvSpPr>
        <p:spPr>
          <a:xfrm>
            <a:off x="1060704" y="24688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Immutabilité</a:t>
            </a:r>
          </a:p>
          <a:p>
            <a:pPr algn="l">
              <a:lnSpc>
                <a:spcPct val="105000"/>
              </a:lnSpc>
              <a:spcAft>
                <a:spcPts val="200"/>
              </a:spcAft>
            </a:pPr>
            <a:r>
              <a:rPr sz="850" b="0" i="0">
                <a:solidFill>
                  <a:srgbClr val="495057"/>
                </a:solidFill>
                <a:latin typeface="Calibri"/>
              </a:rPr>
              <a:t>images étiquetées par empreinte, jamais modifiées</a:t>
            </a:r>
          </a:p>
        </p:txBody>
      </p:sp>
      <p:sp>
        <p:nvSpPr>
          <p:cNvPr id="29" name="Rounded Rectangle 28"/>
          <p:cNvSpPr/>
          <p:nvPr/>
        </p:nvSpPr>
        <p:spPr>
          <a:xfrm>
            <a:off x="4709160" y="23774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709160" y="23774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9160" y="23774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4</a:t>
            </a:r>
          </a:p>
        </p:txBody>
      </p:sp>
      <p:sp>
        <p:nvSpPr>
          <p:cNvPr id="32" name="TextBox 31"/>
          <p:cNvSpPr txBox="1"/>
          <p:nvPr/>
        </p:nvSpPr>
        <p:spPr>
          <a:xfrm>
            <a:off x="5312664" y="24688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Portes bloquantes</a:t>
            </a:r>
          </a:p>
          <a:p>
            <a:pPr algn="l">
              <a:lnSpc>
                <a:spcPct val="105000"/>
              </a:lnSpc>
              <a:spcAft>
                <a:spcPts val="200"/>
              </a:spcAft>
            </a:pPr>
            <a:r>
              <a:rPr sz="850" b="0" i="0">
                <a:solidFill>
                  <a:srgbClr val="495057"/>
                </a:solidFill>
                <a:latin typeface="Calibri"/>
              </a:rPr>
              <a:t>rien ne part en production si un contrôle échoue</a:t>
            </a:r>
          </a:p>
        </p:txBody>
      </p:sp>
      <p:sp>
        <p:nvSpPr>
          <p:cNvPr id="33" name="Rounded Rectangle 32"/>
          <p:cNvSpPr/>
          <p:nvPr/>
        </p:nvSpPr>
        <p:spPr>
          <a:xfrm>
            <a:off x="457200" y="32918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7200" y="32918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2918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5</a:t>
            </a:r>
          </a:p>
        </p:txBody>
      </p:sp>
      <p:sp>
        <p:nvSpPr>
          <p:cNvPr id="36" name="TextBox 35"/>
          <p:cNvSpPr txBox="1"/>
          <p:nvPr/>
        </p:nvSpPr>
        <p:spPr>
          <a:xfrm>
            <a:off x="1060704" y="33832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Shift-left sécurité</a:t>
            </a:r>
          </a:p>
          <a:p>
            <a:pPr algn="l">
              <a:lnSpc>
                <a:spcPct val="105000"/>
              </a:lnSpc>
              <a:spcAft>
                <a:spcPts val="200"/>
              </a:spcAft>
            </a:pPr>
            <a:r>
              <a:rPr sz="850" b="0" i="0">
                <a:solidFill>
                  <a:srgbClr val="495057"/>
                </a:solidFill>
                <a:latin typeface="Calibri"/>
              </a:rPr>
              <a:t>dépendances, secrets et images analysés avant la fusion</a:t>
            </a:r>
          </a:p>
        </p:txBody>
      </p:sp>
      <p:sp>
        <p:nvSpPr>
          <p:cNvPr id="37" name="Rounded Rectangle 36"/>
          <p:cNvSpPr/>
          <p:nvPr/>
        </p:nvSpPr>
        <p:spPr>
          <a:xfrm>
            <a:off x="4709160" y="3291840"/>
            <a:ext cx="3977639" cy="804672"/>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709160" y="3291840"/>
            <a:ext cx="475488" cy="8046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09160" y="3291840"/>
            <a:ext cx="475488" cy="804672"/>
          </a:xfrm>
          <a:prstGeom prst="rect">
            <a:avLst/>
          </a:prstGeom>
          <a:noFill/>
        </p:spPr>
        <p:txBody>
          <a:bodyPr wrap="square" anchor="ctr" lIns="45720" rIns="45720" tIns="18288" bIns="18288">
            <a:spAutoFit/>
          </a:bodyPr>
          <a:lstStyle/>
          <a:p>
            <a:pPr algn="ctr">
              <a:lnSpc>
                <a:spcPct val="98000"/>
              </a:lnSpc>
            </a:pPr>
            <a:r>
              <a:rPr sz="1500" b="1" i="0">
                <a:solidFill>
                  <a:srgbClr val="FFFFFF"/>
                </a:solidFill>
                <a:latin typeface="Calibri"/>
              </a:rPr>
              <a:t>6</a:t>
            </a:r>
          </a:p>
        </p:txBody>
      </p:sp>
      <p:sp>
        <p:nvSpPr>
          <p:cNvPr id="40" name="TextBox 39"/>
          <p:cNvSpPr txBox="1"/>
          <p:nvPr/>
        </p:nvSpPr>
        <p:spPr>
          <a:xfrm>
            <a:off x="5312664" y="3383280"/>
            <a:ext cx="3273552" cy="658368"/>
          </a:xfrm>
          <a:prstGeom prst="rect">
            <a:avLst/>
          </a:prstGeom>
          <a:noFill/>
        </p:spPr>
        <p:txBody>
          <a:bodyPr wrap="square" anchor="t" lIns="45720" rIns="45720" tIns="18288" bIns="18288">
            <a:spAutoFit/>
          </a:bodyPr>
          <a:lstStyle/>
          <a:p>
            <a:pPr algn="l">
              <a:lnSpc>
                <a:spcPct val="105000"/>
              </a:lnSpc>
              <a:spcAft>
                <a:spcPts val="200"/>
              </a:spcAft>
            </a:pPr>
            <a:r>
              <a:rPr sz="1050" b="1" i="0">
                <a:solidFill>
                  <a:srgbClr val="212529"/>
                </a:solidFill>
                <a:latin typeface="Calibri"/>
              </a:rPr>
              <a:t>Observabilité de 1er ordre</a:t>
            </a:r>
          </a:p>
          <a:p>
            <a:pPr algn="l">
              <a:lnSpc>
                <a:spcPct val="105000"/>
              </a:lnSpc>
              <a:spcAft>
                <a:spcPts val="200"/>
              </a:spcAft>
            </a:pPr>
            <a:r>
              <a:rPr sz="850" b="0" i="0">
                <a:solidFill>
                  <a:srgbClr val="495057"/>
                </a:solidFill>
                <a:latin typeface="Calibri"/>
              </a:rPr>
              <a:t>métriques, journaux et énergie dès la conception</a:t>
            </a:r>
          </a:p>
        </p:txBody>
      </p:sp>
      <p:sp>
        <p:nvSpPr>
          <p:cNvPr id="41" name="Rounded Rectangle 40"/>
          <p:cNvSpPr/>
          <p:nvPr/>
        </p:nvSpPr>
        <p:spPr>
          <a:xfrm>
            <a:off x="457200" y="4224528"/>
            <a:ext cx="8229600" cy="49377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57200" y="4224528"/>
            <a:ext cx="64008" cy="493776"/>
          </a:xfrm>
          <a:prstGeom prst="rect">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3232" y="4224528"/>
            <a:ext cx="7808975" cy="493776"/>
          </a:xfrm>
          <a:prstGeom prst="rect">
            <a:avLst/>
          </a:prstGeom>
          <a:noFill/>
        </p:spPr>
        <p:txBody>
          <a:bodyPr wrap="square" anchor="ctr" lIns="45720" rIns="45720" tIns="18288" bIns="18288">
            <a:spAutoFit/>
          </a:bodyPr>
          <a:lstStyle/>
          <a:p>
            <a:pPr algn="l">
              <a:lnSpc>
                <a:spcPct val="108000"/>
              </a:lnSpc>
            </a:pPr>
            <a:r>
              <a:rPr sz="950" b="1" i="0">
                <a:solidFill>
                  <a:srgbClr val="087F5B"/>
                </a:solidFill>
                <a:latin typeface="Calibri"/>
              </a:rPr>
              <a:t>Deux critères d’ingénierie, pas un chapitre à part   </a:t>
            </a:r>
            <a:r>
              <a:rPr sz="900" b="0" i="0">
                <a:solidFill>
                  <a:srgbClr val="495057"/>
                </a:solidFill>
                <a:latin typeface="Calibri"/>
              </a:rPr>
              <a:t>green IT, right-sizing et énergie mesurée   ·   accessibilité, schémas doublés d’une description, aucun statut porté par la seule couleur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Infrastructure as code</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20 / 30</a:t>
            </a:r>
          </a:p>
        </p:txBody>
      </p:sp>
      <p:sp>
        <p:nvSpPr>
          <p:cNvPr id="13" name="Rounded Rectangle 12"/>
          <p:cNvSpPr/>
          <p:nvPr/>
        </p:nvSpPr>
        <p:spPr>
          <a:xfrm>
            <a:off x="457200" y="4818888"/>
            <a:ext cx="1124712"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124712"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C28 · C29</a:t>
            </a:r>
          </a:p>
        </p:txBody>
      </p:sp>
      <p:sp>
        <p:nvSpPr>
          <p:cNvPr id="15" name="TextBox 14"/>
          <p:cNvSpPr txBox="1"/>
          <p:nvPr/>
        </p:nvSpPr>
        <p:spPr>
          <a:xfrm>
            <a:off x="1673352"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BC4C · mémoire 17.1 · annexe B · wiki 07</a:t>
            </a:r>
          </a:p>
        </p:txBody>
      </p:sp>
      <p:sp>
        <p:nvSpPr>
          <p:cNvPr id="16" name="Rounded Rectangle 15"/>
          <p:cNvSpPr/>
          <p:nvPr/>
        </p:nvSpPr>
        <p:spPr>
          <a:xfrm>
            <a:off x="475488" y="1463040"/>
            <a:ext cx="1517904" cy="53035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8" y="1499616"/>
            <a:ext cx="1426463" cy="457199"/>
          </a:xfrm>
          <a:prstGeom prst="rect">
            <a:avLst/>
          </a:prstGeom>
          <a:noFill/>
        </p:spPr>
        <p:txBody>
          <a:bodyPr wrap="square" anchor="ctr" lIns="45720" rIns="45720" tIns="18288" bIns="18288">
            <a:spAutoFit/>
          </a:bodyPr>
          <a:lstStyle/>
          <a:p>
            <a:pPr algn="ctr">
              <a:lnSpc>
                <a:spcPct val="100000"/>
              </a:lnSpc>
            </a:pPr>
            <a:r>
              <a:rPr sz="950" b="1" i="0">
                <a:solidFill>
                  <a:srgbClr val="FFFFFF"/>
                </a:solidFill>
                <a:latin typeface="Calibri"/>
              </a:rPr>
              <a:t>Terraform</a:t>
            </a:r>
          </a:p>
          <a:p>
            <a:pPr algn="ctr">
              <a:lnSpc>
                <a:spcPct val="100000"/>
              </a:lnSpc>
            </a:pPr>
            <a:r>
              <a:rPr sz="800" b="0" i="0">
                <a:solidFill>
                  <a:srgbClr val="FFFFFF"/>
                </a:solidFill>
                <a:latin typeface="Calibri"/>
              </a:rPr>
              <a:t>provisionne</a:t>
            </a:r>
          </a:p>
        </p:txBody>
      </p:sp>
      <p:sp>
        <p:nvSpPr>
          <p:cNvPr id="18" name="Rounded Rectangle 17"/>
          <p:cNvSpPr/>
          <p:nvPr/>
        </p:nvSpPr>
        <p:spPr>
          <a:xfrm>
            <a:off x="475488" y="2121408"/>
            <a:ext cx="1517904" cy="530352"/>
          </a:xfrm>
          <a:prstGeom prst="roundRect">
            <a:avLst>
              <a:gd name="adj" fmla="val 10000"/>
            </a:avLst>
          </a:prstGeom>
          <a:solidFill>
            <a:srgbClr val="D170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 y="2157984"/>
            <a:ext cx="1426463" cy="457199"/>
          </a:xfrm>
          <a:prstGeom prst="rect">
            <a:avLst/>
          </a:prstGeom>
          <a:noFill/>
        </p:spPr>
        <p:txBody>
          <a:bodyPr wrap="square" anchor="ctr" lIns="45720" rIns="45720" tIns="18288" bIns="18288">
            <a:spAutoFit/>
          </a:bodyPr>
          <a:lstStyle/>
          <a:p>
            <a:pPr algn="ctr">
              <a:lnSpc>
                <a:spcPct val="100000"/>
              </a:lnSpc>
            </a:pPr>
            <a:r>
              <a:rPr sz="950" b="1" i="0">
                <a:solidFill>
                  <a:srgbClr val="FFFFFF"/>
                </a:solidFill>
                <a:latin typeface="Calibri"/>
              </a:rPr>
              <a:t>Ansible</a:t>
            </a:r>
          </a:p>
          <a:p>
            <a:pPr algn="ctr">
              <a:lnSpc>
                <a:spcPct val="100000"/>
              </a:lnSpc>
            </a:pPr>
            <a:r>
              <a:rPr sz="800" b="0" i="0">
                <a:solidFill>
                  <a:srgbClr val="FFFFFF"/>
                </a:solidFill>
                <a:latin typeface="Calibri"/>
              </a:rPr>
              <a:t>configure</a:t>
            </a:r>
          </a:p>
        </p:txBody>
      </p:sp>
      <p:sp>
        <p:nvSpPr>
          <p:cNvPr id="20" name="Rounded Rectangle 19"/>
          <p:cNvSpPr/>
          <p:nvPr/>
        </p:nvSpPr>
        <p:spPr>
          <a:xfrm>
            <a:off x="475488" y="2779776"/>
            <a:ext cx="1517904" cy="530352"/>
          </a:xfrm>
          <a:prstGeom prst="roundRect">
            <a:avLst>
              <a:gd name="adj" fmla="val 10000"/>
            </a:avLst>
          </a:prstGeom>
          <a:solidFill>
            <a:srgbClr val="7A34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816352"/>
            <a:ext cx="1426463" cy="457199"/>
          </a:xfrm>
          <a:prstGeom prst="rect">
            <a:avLst/>
          </a:prstGeom>
          <a:noFill/>
        </p:spPr>
        <p:txBody>
          <a:bodyPr wrap="square" anchor="ctr" lIns="45720" rIns="45720" tIns="18288" bIns="18288">
            <a:spAutoFit/>
          </a:bodyPr>
          <a:lstStyle/>
          <a:p>
            <a:pPr algn="ctr">
              <a:lnSpc>
                <a:spcPct val="100000"/>
              </a:lnSpc>
            </a:pPr>
            <a:r>
              <a:rPr sz="900" b="1" i="0">
                <a:solidFill>
                  <a:srgbClr val="FFFFFF"/>
                </a:solidFill>
                <a:latin typeface="Calibri"/>
              </a:rPr>
              <a:t>État distant</a:t>
            </a:r>
          </a:p>
          <a:p>
            <a:pPr algn="ctr">
              <a:lnSpc>
                <a:spcPct val="100000"/>
              </a:lnSpc>
            </a:pPr>
            <a:r>
              <a:rPr sz="750" b="0" i="0">
                <a:solidFill>
                  <a:srgbClr val="FFFFFF"/>
                </a:solidFill>
                <a:latin typeface="Calibri"/>
              </a:rPr>
              <a:t>chiffré, verrouillé</a:t>
            </a:r>
          </a:p>
        </p:txBody>
      </p:sp>
      <p:sp>
        <p:nvSpPr>
          <p:cNvPr id="22" name="Rounded Rectangle 21"/>
          <p:cNvSpPr/>
          <p:nvPr/>
        </p:nvSpPr>
        <p:spPr>
          <a:xfrm>
            <a:off x="402336" y="1298448"/>
            <a:ext cx="1682496" cy="2157984"/>
          </a:xfrm>
          <a:prstGeom prst="roundRect">
            <a:avLst>
              <a:gd name="adj" fmla="val 4000"/>
            </a:avLst>
          </a:prstGeom>
          <a:noFill/>
          <a:ln w="12700">
            <a:solidFill>
              <a:srgbClr val="C2410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 y="1344168"/>
            <a:ext cx="1463040" cy="182880"/>
          </a:xfrm>
          <a:prstGeom prst="rect">
            <a:avLst/>
          </a:prstGeom>
          <a:noFill/>
        </p:spPr>
        <p:txBody>
          <a:bodyPr wrap="square" anchor="t" lIns="45720" rIns="45720" tIns="18288" bIns="18288">
            <a:spAutoFit/>
          </a:bodyPr>
          <a:lstStyle/>
          <a:p>
            <a:pPr algn="l">
              <a:lnSpc>
                <a:spcPct val="100000"/>
              </a:lnSpc>
            </a:pPr>
            <a:r>
              <a:rPr sz="750" b="1" i="0">
                <a:solidFill>
                  <a:srgbClr val="C2410C"/>
                </a:solidFill>
                <a:latin typeface="Calibri"/>
              </a:rPr>
              <a:t>monorepo, versionné sur Git</a:t>
            </a:r>
          </a:p>
        </p:txBody>
      </p:sp>
      <p:cxnSp>
        <p:nvCxnSpPr>
          <p:cNvPr id="24" name="Connector 23"/>
          <p:cNvCxnSpPr/>
          <p:nvPr/>
        </p:nvCxnSpPr>
        <p:spPr>
          <a:xfrm>
            <a:off x="2084831" y="1728216"/>
            <a:ext cx="457201" cy="0"/>
          </a:xfrm>
          <a:prstGeom prst="line">
            <a:avLst/>
          </a:prstGeom>
          <a:ln w="22225">
            <a:solidFill>
              <a:srgbClr val="C2410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084831" y="2386584"/>
            <a:ext cx="457201" cy="0"/>
          </a:xfrm>
          <a:prstGeom prst="line">
            <a:avLst/>
          </a:prstGeom>
          <a:ln w="22225">
            <a:solidFill>
              <a:srgbClr val="C2410C"/>
            </a:solidFill>
            <a:tailEnd type="triangle" w="sm" len="sm"/>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560320" y="1298448"/>
            <a:ext cx="3566160" cy="2157984"/>
          </a:xfrm>
          <a:prstGeom prst="roundRect">
            <a:avLst>
              <a:gd name="adj" fmla="val 4000"/>
            </a:avLst>
          </a:prstGeom>
          <a:noFill/>
          <a:ln w="12700">
            <a:solidFill>
              <a:srgbClr val="1971C2"/>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670048" y="1344168"/>
            <a:ext cx="3346704" cy="182880"/>
          </a:xfrm>
          <a:prstGeom prst="rect">
            <a:avLst/>
          </a:prstGeom>
          <a:noFill/>
        </p:spPr>
        <p:txBody>
          <a:bodyPr wrap="square" anchor="t" lIns="45720" rIns="45720" tIns="18288" bIns="18288">
            <a:spAutoFit/>
          </a:bodyPr>
          <a:lstStyle/>
          <a:p>
            <a:pPr algn="l">
              <a:lnSpc>
                <a:spcPct val="100000"/>
              </a:lnSpc>
            </a:pPr>
            <a:r>
              <a:rPr sz="750" b="1" i="0">
                <a:solidFill>
                  <a:srgbClr val="1971C2"/>
                </a:solidFill>
                <a:latin typeface="Calibri"/>
              </a:rPr>
              <a:t>Hetzner · réseau privé, pare-feu de projet</a:t>
            </a:r>
          </a:p>
        </p:txBody>
      </p:sp>
      <p:sp>
        <p:nvSpPr>
          <p:cNvPr id="28" name="Rounded Rectangle 27"/>
          <p:cNvSpPr/>
          <p:nvPr/>
        </p:nvSpPr>
        <p:spPr>
          <a:xfrm>
            <a:off x="2670048" y="1536192"/>
            <a:ext cx="1609344" cy="731520"/>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15768" y="1572768"/>
            <a:ext cx="1517904" cy="658368"/>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proxy-1</a:t>
            </a:r>
          </a:p>
          <a:p>
            <a:pPr algn="ctr">
              <a:lnSpc>
                <a:spcPct val="100000"/>
              </a:lnSpc>
            </a:pPr>
            <a:r>
              <a:rPr sz="700" b="0" i="0">
                <a:solidFill>
                  <a:srgbClr val="495057"/>
                </a:solidFill>
                <a:latin typeface="Calibri"/>
              </a:rPr>
              <a:t>Traefik · Redis · supervision</a:t>
            </a:r>
          </a:p>
        </p:txBody>
      </p:sp>
      <p:sp>
        <p:nvSpPr>
          <p:cNvPr id="30" name="Rounded Rectangle 29"/>
          <p:cNvSpPr/>
          <p:nvPr/>
        </p:nvSpPr>
        <p:spPr>
          <a:xfrm>
            <a:off x="4370832" y="1536192"/>
            <a:ext cx="1609344" cy="731520"/>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16552" y="1572768"/>
            <a:ext cx="1517904" cy="658368"/>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db-1</a:t>
            </a:r>
          </a:p>
          <a:p>
            <a:pPr algn="ctr">
              <a:lnSpc>
                <a:spcPct val="100000"/>
              </a:lnSpc>
            </a:pPr>
            <a:r>
              <a:rPr sz="700" b="0" i="0">
                <a:solidFill>
                  <a:srgbClr val="495057"/>
                </a:solidFill>
                <a:latin typeface="Calibri"/>
              </a:rPr>
              <a:t>PostgreSQL · PgBouncer</a:t>
            </a:r>
          </a:p>
        </p:txBody>
      </p:sp>
      <p:sp>
        <p:nvSpPr>
          <p:cNvPr id="32" name="Rounded Rectangle 31"/>
          <p:cNvSpPr/>
          <p:nvPr/>
        </p:nvSpPr>
        <p:spPr>
          <a:xfrm>
            <a:off x="2670048" y="2377440"/>
            <a:ext cx="1609344" cy="731520"/>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715768" y="2414016"/>
            <a:ext cx="1517904" cy="658368"/>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backend-1</a:t>
            </a:r>
          </a:p>
          <a:p>
            <a:pPr algn="ctr">
              <a:lnSpc>
                <a:spcPct val="100000"/>
              </a:lnSpc>
            </a:pPr>
            <a:r>
              <a:rPr sz="700" b="0" i="0">
                <a:solidFill>
                  <a:srgbClr val="495057"/>
                </a:solidFill>
                <a:latin typeface="Calibri"/>
              </a:rPr>
              <a:t>API NestJS</a:t>
            </a:r>
          </a:p>
        </p:txBody>
      </p:sp>
      <p:sp>
        <p:nvSpPr>
          <p:cNvPr id="34" name="Rounded Rectangle 33"/>
          <p:cNvSpPr/>
          <p:nvPr/>
        </p:nvSpPr>
        <p:spPr>
          <a:xfrm>
            <a:off x="4370832" y="2377440"/>
            <a:ext cx="1609344" cy="731520"/>
          </a:xfrm>
          <a:prstGeom prst="roundRect">
            <a:avLst>
              <a:gd name="adj" fmla="val 10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16552" y="2414016"/>
            <a:ext cx="1517904" cy="658368"/>
          </a:xfrm>
          <a:prstGeom prst="rect">
            <a:avLst/>
          </a:prstGeom>
          <a:noFill/>
        </p:spPr>
        <p:txBody>
          <a:bodyPr wrap="square" anchor="ctr" lIns="45720" rIns="45720" tIns="18288" bIns="18288">
            <a:spAutoFit/>
          </a:bodyPr>
          <a:lstStyle/>
          <a:p>
            <a:pPr algn="ctr">
              <a:lnSpc>
                <a:spcPct val="100000"/>
              </a:lnSpc>
            </a:pPr>
            <a:r>
              <a:rPr sz="850" b="1" i="0">
                <a:solidFill>
                  <a:srgbClr val="212529"/>
                </a:solidFill>
                <a:latin typeface="Calibri"/>
              </a:rPr>
              <a:t>frontend-1</a:t>
            </a:r>
          </a:p>
          <a:p>
            <a:pPr algn="ctr">
              <a:lnSpc>
                <a:spcPct val="100000"/>
              </a:lnSpc>
            </a:pPr>
            <a:r>
              <a:rPr sz="700" b="0" i="0">
                <a:solidFill>
                  <a:srgbClr val="495057"/>
                </a:solidFill>
                <a:latin typeface="Calibri"/>
              </a:rPr>
              <a:t>Next.js SSR</a:t>
            </a:r>
          </a:p>
        </p:txBody>
      </p:sp>
      <p:sp>
        <p:nvSpPr>
          <p:cNvPr id="36" name="Rounded Rectangle 35"/>
          <p:cNvSpPr/>
          <p:nvPr/>
        </p:nvSpPr>
        <p:spPr>
          <a:xfrm>
            <a:off x="6236208" y="1298448"/>
            <a:ext cx="2450592" cy="1024128"/>
          </a:xfrm>
          <a:prstGeom prst="roundRect">
            <a:avLst>
              <a:gd name="adj" fmla="val 4000"/>
            </a:avLst>
          </a:prstGeom>
          <a:noFill/>
          <a:ln w="12700">
            <a:solidFill>
              <a:srgbClr val="087F5B"/>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1344168"/>
            <a:ext cx="2231136" cy="182880"/>
          </a:xfrm>
          <a:prstGeom prst="rect">
            <a:avLst/>
          </a:prstGeom>
          <a:noFill/>
        </p:spPr>
        <p:txBody>
          <a:bodyPr wrap="square" anchor="t" lIns="45720" rIns="45720" tIns="18288" bIns="18288">
            <a:spAutoFit/>
          </a:bodyPr>
          <a:lstStyle/>
          <a:p>
            <a:pPr algn="l">
              <a:lnSpc>
                <a:spcPct val="100000"/>
              </a:lnSpc>
            </a:pPr>
            <a:r>
              <a:rPr sz="750" b="1" i="0">
                <a:solidFill>
                  <a:srgbClr val="087F5B"/>
                </a:solidFill>
                <a:latin typeface="Calibri"/>
              </a:rPr>
              <a:t>AWS · eu-west-3</a:t>
            </a:r>
          </a:p>
        </p:txBody>
      </p:sp>
      <p:sp>
        <p:nvSpPr>
          <p:cNvPr id="38" name="Rounded Rectangle 37"/>
          <p:cNvSpPr/>
          <p:nvPr/>
        </p:nvSpPr>
        <p:spPr>
          <a:xfrm>
            <a:off x="6345936" y="1517904"/>
            <a:ext cx="2231136" cy="694944"/>
          </a:xfrm>
          <a:prstGeom prst="roundRect">
            <a:avLst>
              <a:gd name="adj" fmla="val 10000"/>
            </a:avLst>
          </a:prstGeom>
          <a:solidFill>
            <a:srgbClr val="E1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91656" y="1554480"/>
            <a:ext cx="2139696" cy="621792"/>
          </a:xfrm>
          <a:prstGeom prst="rect">
            <a:avLst/>
          </a:prstGeom>
          <a:noFill/>
        </p:spPr>
        <p:txBody>
          <a:bodyPr wrap="square" anchor="ctr" lIns="45720" rIns="45720" tIns="18288" bIns="18288">
            <a:spAutoFit/>
          </a:bodyPr>
          <a:lstStyle/>
          <a:p>
            <a:pPr algn="ctr">
              <a:lnSpc>
                <a:spcPct val="100000"/>
              </a:lnSpc>
            </a:pPr>
            <a:r>
              <a:rPr sz="850" b="1" i="0">
                <a:solidFill>
                  <a:srgbClr val="087F5B"/>
                </a:solidFill>
                <a:latin typeface="Calibri"/>
              </a:rPr>
              <a:t>S3  ·  CloudFront  ·  WAF</a:t>
            </a:r>
          </a:p>
          <a:p>
            <a:pPr algn="ctr">
              <a:lnSpc>
                <a:spcPct val="100000"/>
              </a:lnSpc>
            </a:pPr>
            <a:r>
              <a:rPr sz="700" b="0" i="0">
                <a:solidFill>
                  <a:srgbClr val="77B9A5"/>
                </a:solidFill>
                <a:latin typeface="Calibri"/>
              </a:rPr>
              <a:t>médias signés, sauvegardes verrouillées</a:t>
            </a:r>
          </a:p>
        </p:txBody>
      </p:sp>
      <p:sp>
        <p:nvSpPr>
          <p:cNvPr id="40" name="Rounded Rectangle 39"/>
          <p:cNvSpPr/>
          <p:nvPr/>
        </p:nvSpPr>
        <p:spPr>
          <a:xfrm>
            <a:off x="6236208" y="2395728"/>
            <a:ext cx="2450592" cy="1060704"/>
          </a:xfrm>
          <a:prstGeom prst="roundRect">
            <a:avLst>
              <a:gd name="adj" fmla="val 4000"/>
            </a:avLst>
          </a:prstGeom>
          <a:noFill/>
          <a:ln w="12700">
            <a:solidFill>
              <a:srgbClr val="6741D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45936" y="2441448"/>
            <a:ext cx="2231136" cy="182880"/>
          </a:xfrm>
          <a:prstGeom prst="rect">
            <a:avLst/>
          </a:prstGeom>
          <a:noFill/>
        </p:spPr>
        <p:txBody>
          <a:bodyPr wrap="square" anchor="t" lIns="45720" rIns="45720" tIns="18288" bIns="18288">
            <a:spAutoFit/>
          </a:bodyPr>
          <a:lstStyle/>
          <a:p>
            <a:pPr algn="l">
              <a:lnSpc>
                <a:spcPct val="100000"/>
              </a:lnSpc>
            </a:pPr>
            <a:r>
              <a:rPr sz="750" b="1" i="0">
                <a:solidFill>
                  <a:srgbClr val="6741D9"/>
                </a:solidFill>
                <a:latin typeface="Calibri"/>
              </a:rPr>
              <a:t>Cloudflare</a:t>
            </a:r>
          </a:p>
        </p:txBody>
      </p:sp>
      <p:sp>
        <p:nvSpPr>
          <p:cNvPr id="42" name="Rounded Rectangle 41"/>
          <p:cNvSpPr/>
          <p:nvPr/>
        </p:nvSpPr>
        <p:spPr>
          <a:xfrm>
            <a:off x="6345936" y="2633472"/>
            <a:ext cx="2231136" cy="694944"/>
          </a:xfrm>
          <a:prstGeom prst="roundRect">
            <a:avLst>
              <a:gd name="adj" fmla="val 10000"/>
            </a:avLst>
          </a:prstGeom>
          <a:solidFill>
            <a:srgbClr val="ED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91656" y="2670048"/>
            <a:ext cx="2139696" cy="621792"/>
          </a:xfrm>
          <a:prstGeom prst="rect">
            <a:avLst/>
          </a:prstGeom>
          <a:noFill/>
        </p:spPr>
        <p:txBody>
          <a:bodyPr wrap="square" anchor="ctr" lIns="45720" rIns="45720" tIns="18288" bIns="18288">
            <a:spAutoFit/>
          </a:bodyPr>
          <a:lstStyle/>
          <a:p>
            <a:pPr algn="ctr">
              <a:lnSpc>
                <a:spcPct val="100000"/>
              </a:lnSpc>
            </a:pPr>
            <a:r>
              <a:rPr sz="850" b="1" i="0">
                <a:solidFill>
                  <a:srgbClr val="6741D9"/>
                </a:solidFill>
                <a:latin typeface="Calibri"/>
              </a:rPr>
              <a:t>DNS  ·  WAF  ·  TLS strict</a:t>
            </a:r>
          </a:p>
          <a:p>
            <a:pPr algn="ctr">
              <a:lnSpc>
                <a:spcPct val="100000"/>
              </a:lnSpc>
            </a:pPr>
            <a:r>
              <a:rPr sz="700" b="0" i="0">
                <a:solidFill>
                  <a:srgbClr val="AB96EA"/>
                </a:solidFill>
                <a:latin typeface="Calibri"/>
              </a:rPr>
              <a:t>anti-volumétrique, terminaison en périphérie</a:t>
            </a:r>
          </a:p>
        </p:txBody>
      </p:sp>
      <p:sp>
        <p:nvSpPr>
          <p:cNvPr id="44" name="Rounded Rectangle 43"/>
          <p:cNvSpPr/>
          <p:nvPr/>
        </p:nvSpPr>
        <p:spPr>
          <a:xfrm>
            <a:off x="457200" y="3602736"/>
            <a:ext cx="2651760" cy="676656"/>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3657600"/>
            <a:ext cx="2432304" cy="585216"/>
          </a:xfrm>
          <a:prstGeom prst="rect">
            <a:avLst/>
          </a:prstGeom>
          <a:noFill/>
        </p:spPr>
        <p:txBody>
          <a:bodyPr wrap="square" anchor="t" lIns="45720" rIns="45720" tIns="18288" bIns="18288">
            <a:spAutoFit/>
          </a:bodyPr>
          <a:lstStyle/>
          <a:p>
            <a:pPr algn="l">
              <a:lnSpc>
                <a:spcPct val="100000"/>
              </a:lnSpc>
              <a:spcAft>
                <a:spcPts val="100"/>
              </a:spcAft>
            </a:pPr>
            <a:r>
              <a:rPr sz="1500" b="1" i="0">
                <a:solidFill>
                  <a:srgbClr val="C2410C"/>
                </a:solidFill>
                <a:latin typeface="Calibri"/>
              </a:rPr>
              <a:t>6   </a:t>
            </a:r>
            <a:r>
              <a:rPr sz="850" b="1" i="0">
                <a:solidFill>
                  <a:srgbClr val="212529"/>
                </a:solidFill>
                <a:latin typeface="Calibri"/>
              </a:rPr>
              <a:t>modules Terraform</a:t>
            </a:r>
          </a:p>
          <a:p>
            <a:pPr algn="l">
              <a:lnSpc>
                <a:spcPct val="100000"/>
              </a:lnSpc>
              <a:spcAft>
                <a:spcPts val="100"/>
              </a:spcAft>
            </a:pPr>
            <a:r>
              <a:rPr sz="750" b="0" i="0">
                <a:solidFill>
                  <a:srgbClr val="495057"/>
                </a:solidFill>
                <a:latin typeface="Calibri"/>
              </a:rPr>
              <a:t>calcul, réseau, DNS, S3, sauvegardes</a:t>
            </a:r>
          </a:p>
        </p:txBody>
      </p:sp>
      <p:sp>
        <p:nvSpPr>
          <p:cNvPr id="46" name="Rounded Rectangle 45"/>
          <p:cNvSpPr/>
          <p:nvPr/>
        </p:nvSpPr>
        <p:spPr>
          <a:xfrm>
            <a:off x="3246120" y="3602736"/>
            <a:ext cx="2651760" cy="676656"/>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55848" y="3657600"/>
            <a:ext cx="2432304" cy="585216"/>
          </a:xfrm>
          <a:prstGeom prst="rect">
            <a:avLst/>
          </a:prstGeom>
          <a:noFill/>
        </p:spPr>
        <p:txBody>
          <a:bodyPr wrap="square" anchor="t" lIns="45720" rIns="45720" tIns="18288" bIns="18288">
            <a:spAutoFit/>
          </a:bodyPr>
          <a:lstStyle/>
          <a:p>
            <a:pPr algn="l">
              <a:lnSpc>
                <a:spcPct val="100000"/>
              </a:lnSpc>
              <a:spcAft>
                <a:spcPts val="100"/>
              </a:spcAft>
            </a:pPr>
            <a:r>
              <a:rPr sz="1500" b="1" i="0">
                <a:solidFill>
                  <a:srgbClr val="C2410C"/>
                </a:solidFill>
                <a:latin typeface="Calibri"/>
              </a:rPr>
              <a:t>4   </a:t>
            </a:r>
            <a:r>
              <a:rPr sz="850" b="1" i="0">
                <a:solidFill>
                  <a:srgbClr val="212529"/>
                </a:solidFill>
                <a:latin typeface="Calibri"/>
              </a:rPr>
              <a:t>playbooks Ansible</a:t>
            </a:r>
          </a:p>
          <a:p>
            <a:pPr algn="l">
              <a:lnSpc>
                <a:spcPct val="100000"/>
              </a:lnSpc>
              <a:spcAft>
                <a:spcPts val="100"/>
              </a:spcAft>
            </a:pPr>
            <a:r>
              <a:rPr sz="750" b="0" i="0">
                <a:solidFill>
                  <a:srgbClr val="495057"/>
                </a:solidFill>
                <a:latin typeface="Calibri"/>
              </a:rPr>
              <a:t>idempotents, rejouables</a:t>
            </a:r>
          </a:p>
        </p:txBody>
      </p:sp>
      <p:sp>
        <p:nvSpPr>
          <p:cNvPr id="48" name="Rounded Rectangle 47"/>
          <p:cNvSpPr/>
          <p:nvPr/>
        </p:nvSpPr>
        <p:spPr>
          <a:xfrm>
            <a:off x="6035040" y="3602736"/>
            <a:ext cx="2651760" cy="676656"/>
          </a:xfrm>
          <a:prstGeom prst="roundRect">
            <a:avLst>
              <a:gd name="adj" fmla="val 9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44768" y="3657600"/>
            <a:ext cx="2432304" cy="585216"/>
          </a:xfrm>
          <a:prstGeom prst="rect">
            <a:avLst/>
          </a:prstGeom>
          <a:noFill/>
        </p:spPr>
        <p:txBody>
          <a:bodyPr wrap="square" anchor="t" lIns="45720" rIns="45720" tIns="18288" bIns="18288">
            <a:spAutoFit/>
          </a:bodyPr>
          <a:lstStyle/>
          <a:p>
            <a:pPr algn="l">
              <a:lnSpc>
                <a:spcPct val="100000"/>
              </a:lnSpc>
              <a:spcAft>
                <a:spcPts val="100"/>
              </a:spcAft>
            </a:pPr>
            <a:r>
              <a:rPr sz="1500" b="1" i="0">
                <a:solidFill>
                  <a:srgbClr val="C2410C"/>
                </a:solidFill>
                <a:latin typeface="Calibri"/>
              </a:rPr>
              <a:t>0   </a:t>
            </a:r>
            <a:r>
              <a:rPr sz="850" b="1" i="0">
                <a:solidFill>
                  <a:srgbClr val="212529"/>
                </a:solidFill>
                <a:latin typeface="Calibri"/>
              </a:rPr>
              <a:t>opération manuelle</a:t>
            </a:r>
          </a:p>
          <a:p>
            <a:pPr algn="l">
              <a:lnSpc>
                <a:spcPct val="100000"/>
              </a:lnSpc>
              <a:spcAft>
                <a:spcPts val="100"/>
              </a:spcAft>
            </a:pPr>
            <a:r>
              <a:rPr sz="750" b="0" i="0">
                <a:solidFill>
                  <a:srgbClr val="495057"/>
                </a:solidFill>
                <a:latin typeface="Calibri"/>
              </a:rPr>
              <a:t>reconstruction intégrale par le code</a:t>
            </a:r>
          </a:p>
        </p:txBody>
      </p:sp>
      <p:sp>
        <p:nvSpPr>
          <p:cNvPr id="50" name="TextBox 49"/>
          <p:cNvSpPr txBox="1"/>
          <p:nvPr/>
        </p:nvSpPr>
        <p:spPr>
          <a:xfrm>
            <a:off x="457200" y="4389120"/>
            <a:ext cx="8229600" cy="219456"/>
          </a:xfrm>
          <a:prstGeom prst="rect">
            <a:avLst/>
          </a:prstGeom>
          <a:noFill/>
        </p:spPr>
        <p:txBody>
          <a:bodyPr wrap="square" anchor="t" lIns="45720" rIns="45720" tIns="18288" bIns="18288">
            <a:spAutoFit/>
          </a:bodyPr>
          <a:lstStyle/>
          <a:p>
            <a:pPr algn="l">
              <a:lnSpc>
                <a:spcPct val="100000"/>
              </a:lnSpc>
            </a:pPr>
            <a:r>
              <a:rPr sz="850" b="1" i="0">
                <a:solidFill>
                  <a:srgbClr val="212529"/>
                </a:solidFill>
                <a:latin typeface="Calibri"/>
              </a:rPr>
              <a:t>Rien n’existe en dehors du code. Un commit décrit un état complet du système, et l’état distant chiffré et verrouillé rend le plan de reprise exécutable.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Chaîne CI/CD et DevSecOps</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21 / 30</a:t>
            </a:r>
          </a:p>
        </p:txBody>
      </p:sp>
      <p:sp>
        <p:nvSpPr>
          <p:cNvPr id="13" name="Rounded Rectangle 12"/>
          <p:cNvSpPr/>
          <p:nvPr/>
        </p:nvSpPr>
        <p:spPr>
          <a:xfrm>
            <a:off x="457200" y="4818888"/>
            <a:ext cx="784555"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C29</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BC4C · mémoire 17.2 · annexes K, S · wiki 09</a:t>
            </a:r>
          </a:p>
        </p:txBody>
      </p:sp>
      <p:sp>
        <p:nvSpPr>
          <p:cNvPr id="16" name="Chevron 15"/>
          <p:cNvSpPr/>
          <p:nvPr/>
        </p:nvSpPr>
        <p:spPr>
          <a:xfrm>
            <a:off x="457200" y="1572768"/>
            <a:ext cx="1298448" cy="548640"/>
          </a:xfrm>
          <a:prstGeom prst="chevron">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checks</a:t>
            </a:r>
          </a:p>
        </p:txBody>
      </p:sp>
      <p:sp>
        <p:nvSpPr>
          <p:cNvPr id="18" name="TextBox 17"/>
          <p:cNvSpPr txBox="1"/>
          <p:nvPr/>
        </p:nvSpPr>
        <p:spPr>
          <a:xfrm>
            <a:off x="4114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218 tests + IaC</a:t>
            </a:r>
          </a:p>
        </p:txBody>
      </p:sp>
      <p:sp>
        <p:nvSpPr>
          <p:cNvPr id="19" name="Chevron 18"/>
          <p:cNvSpPr/>
          <p:nvPr/>
        </p:nvSpPr>
        <p:spPr>
          <a:xfrm>
            <a:off x="1828800" y="1572768"/>
            <a:ext cx="1298448" cy="548640"/>
          </a:xfrm>
          <a:prstGeom prst="chevron">
            <a:avLst>
              <a:gd name="adj" fmla="val 50000"/>
            </a:avLst>
          </a:prstGeom>
          <a:solidFill>
            <a:srgbClr val="A2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versions</a:t>
            </a:r>
          </a:p>
        </p:txBody>
      </p:sp>
      <p:sp>
        <p:nvSpPr>
          <p:cNvPr id="21" name="TextBox 20"/>
          <p:cNvSpPr txBox="1"/>
          <p:nvPr/>
        </p:nvSpPr>
        <p:spPr>
          <a:xfrm>
            <a:off x="17830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SHA par service</a:t>
            </a:r>
          </a:p>
        </p:txBody>
      </p:sp>
      <p:sp>
        <p:nvSpPr>
          <p:cNvPr id="22" name="Chevron 21"/>
          <p:cNvSpPr/>
          <p:nvPr/>
        </p:nvSpPr>
        <p:spPr>
          <a:xfrm>
            <a:off x="3200400" y="1572768"/>
            <a:ext cx="1298448" cy="548640"/>
          </a:xfrm>
          <a:prstGeom prst="chevron">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terraform</a:t>
            </a:r>
          </a:p>
        </p:txBody>
      </p:sp>
      <p:sp>
        <p:nvSpPr>
          <p:cNvPr id="24" name="TextBox 23"/>
          <p:cNvSpPr txBox="1"/>
          <p:nvPr/>
        </p:nvSpPr>
        <p:spPr>
          <a:xfrm>
            <a:off x="31546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plan puis apply</a:t>
            </a:r>
          </a:p>
        </p:txBody>
      </p:sp>
      <p:sp>
        <p:nvSpPr>
          <p:cNvPr id="25" name="Chevron 24"/>
          <p:cNvSpPr/>
          <p:nvPr/>
        </p:nvSpPr>
        <p:spPr>
          <a:xfrm>
            <a:off x="4572000" y="1572768"/>
            <a:ext cx="1298448" cy="548640"/>
          </a:xfrm>
          <a:prstGeom prst="chevron">
            <a:avLst>
              <a:gd name="adj" fmla="val 50000"/>
            </a:avLst>
          </a:prstGeom>
          <a:solidFill>
            <a:srgbClr val="A2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build</a:t>
            </a:r>
          </a:p>
        </p:txBody>
      </p:sp>
      <p:sp>
        <p:nvSpPr>
          <p:cNvPr id="27" name="TextBox 26"/>
          <p:cNvSpPr txBox="1"/>
          <p:nvPr/>
        </p:nvSpPr>
        <p:spPr>
          <a:xfrm>
            <a:off x="45262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idempotent, caché</a:t>
            </a:r>
          </a:p>
        </p:txBody>
      </p:sp>
      <p:sp>
        <p:nvSpPr>
          <p:cNvPr id="28" name="Chevron 27"/>
          <p:cNvSpPr/>
          <p:nvPr/>
        </p:nvSpPr>
        <p:spPr>
          <a:xfrm>
            <a:off x="5943600" y="1572768"/>
            <a:ext cx="1298448" cy="548640"/>
          </a:xfrm>
          <a:prstGeom prst="chevron">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scan</a:t>
            </a:r>
          </a:p>
        </p:txBody>
      </p:sp>
      <p:sp>
        <p:nvSpPr>
          <p:cNvPr id="30" name="TextBox 29"/>
          <p:cNvSpPr txBox="1"/>
          <p:nvPr/>
        </p:nvSpPr>
        <p:spPr>
          <a:xfrm>
            <a:off x="58978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Trivy + SBOM</a:t>
            </a:r>
          </a:p>
        </p:txBody>
      </p:sp>
      <p:sp>
        <p:nvSpPr>
          <p:cNvPr id="31" name="Chevron 30"/>
          <p:cNvSpPr/>
          <p:nvPr/>
        </p:nvSpPr>
        <p:spPr>
          <a:xfrm>
            <a:off x="7315200" y="1572768"/>
            <a:ext cx="1298448" cy="548640"/>
          </a:xfrm>
          <a:prstGeom prst="chevron">
            <a:avLst>
              <a:gd name="adj" fmla="val 50000"/>
            </a:avLst>
          </a:prstGeom>
          <a:solidFill>
            <a:srgbClr val="A23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0" y="1572768"/>
            <a:ext cx="1298448" cy="548640"/>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deploy</a:t>
            </a:r>
          </a:p>
        </p:txBody>
      </p:sp>
      <p:sp>
        <p:nvSpPr>
          <p:cNvPr id="33" name="TextBox 32"/>
          <p:cNvSpPr txBox="1"/>
          <p:nvPr/>
        </p:nvSpPr>
        <p:spPr>
          <a:xfrm>
            <a:off x="7269480" y="2157984"/>
            <a:ext cx="1389888" cy="182880"/>
          </a:xfrm>
          <a:prstGeom prst="rect">
            <a:avLst/>
          </a:prstGeom>
          <a:noFill/>
        </p:spPr>
        <p:txBody>
          <a:bodyPr wrap="square" anchor="t" lIns="45720" rIns="45720" tIns="18288" bIns="18288">
            <a:spAutoFit/>
          </a:bodyPr>
          <a:lstStyle/>
          <a:p>
            <a:pPr algn="ctr">
              <a:lnSpc>
                <a:spcPct val="100000"/>
              </a:lnSpc>
            </a:pPr>
            <a:r>
              <a:rPr sz="700" b="0" i="0">
                <a:solidFill>
                  <a:srgbClr val="495057"/>
                </a:solidFill>
                <a:latin typeface="Calibri"/>
              </a:rPr>
              <a:t>rolling + migrations</a:t>
            </a:r>
          </a:p>
        </p:txBody>
      </p:sp>
      <p:sp>
        <p:nvSpPr>
          <p:cNvPr id="34" name="Rounded Rectangle 33"/>
          <p:cNvSpPr/>
          <p:nvPr/>
        </p:nvSpPr>
        <p:spPr>
          <a:xfrm>
            <a:off x="457200" y="1261872"/>
            <a:ext cx="1600200" cy="237744"/>
          </a:xfrm>
          <a:prstGeom prst="roundRect">
            <a:avLst>
              <a:gd name="adj" fmla="val 14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1261872"/>
            <a:ext cx="1600200" cy="237744"/>
          </a:xfrm>
          <a:prstGeom prst="rect">
            <a:avLst/>
          </a:prstGeom>
          <a:noFill/>
        </p:spPr>
        <p:txBody>
          <a:bodyPr wrap="square" anchor="ctr" lIns="45720" rIns="45720" tIns="18288" bIns="18288">
            <a:spAutoFit/>
          </a:bodyPr>
          <a:lstStyle/>
          <a:p>
            <a:pPr algn="ctr">
              <a:lnSpc>
                <a:spcPct val="96000"/>
              </a:lnSpc>
            </a:pPr>
            <a:r>
              <a:rPr sz="700" b="1" i="0">
                <a:solidFill>
                  <a:srgbClr val="FFFFFF"/>
                </a:solidFill>
                <a:latin typeface="Calibri"/>
              </a:rPr>
              <a:t>PORTE 1  ·  qualité</a:t>
            </a:r>
          </a:p>
        </p:txBody>
      </p:sp>
      <p:cxnSp>
        <p:nvCxnSpPr>
          <p:cNvPr id="36" name="Connector 35"/>
          <p:cNvCxnSpPr/>
          <p:nvPr/>
        </p:nvCxnSpPr>
        <p:spPr>
          <a:xfrm>
            <a:off x="1252728" y="1499616"/>
            <a:ext cx="0" cy="73152"/>
          </a:xfrm>
          <a:prstGeom prst="line">
            <a:avLst/>
          </a:prstGeom>
          <a:ln w="15875">
            <a:solidFill>
              <a:srgbClr val="C92A2A"/>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577840" y="1261872"/>
            <a:ext cx="1600200" cy="237744"/>
          </a:xfrm>
          <a:prstGeom prst="roundRect">
            <a:avLst>
              <a:gd name="adj" fmla="val 14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577840" y="1261872"/>
            <a:ext cx="1600200" cy="237744"/>
          </a:xfrm>
          <a:prstGeom prst="rect">
            <a:avLst/>
          </a:prstGeom>
          <a:noFill/>
        </p:spPr>
        <p:txBody>
          <a:bodyPr wrap="square" anchor="ctr" lIns="45720" rIns="45720" tIns="18288" bIns="18288">
            <a:spAutoFit/>
          </a:bodyPr>
          <a:lstStyle/>
          <a:p>
            <a:pPr algn="ctr">
              <a:lnSpc>
                <a:spcPct val="96000"/>
              </a:lnSpc>
            </a:pPr>
            <a:r>
              <a:rPr sz="700" b="1" i="0">
                <a:solidFill>
                  <a:srgbClr val="FFFFFF"/>
                </a:solidFill>
                <a:latin typeface="Calibri"/>
              </a:rPr>
              <a:t>PORTE 2  ·  sécurité</a:t>
            </a:r>
          </a:p>
        </p:txBody>
      </p:sp>
      <p:cxnSp>
        <p:nvCxnSpPr>
          <p:cNvPr id="39" name="Connector 38"/>
          <p:cNvCxnSpPr/>
          <p:nvPr/>
        </p:nvCxnSpPr>
        <p:spPr>
          <a:xfrm>
            <a:off x="6373368" y="1499616"/>
            <a:ext cx="0" cy="73152"/>
          </a:xfrm>
          <a:prstGeom prst="line">
            <a:avLst/>
          </a:prstGeom>
          <a:ln w="15875">
            <a:solidFill>
              <a:srgbClr val="C92A2A"/>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7200" y="2505456"/>
            <a:ext cx="3977639" cy="182880"/>
          </a:xfrm>
          <a:prstGeom prst="rect">
            <a:avLst/>
          </a:prstGeom>
          <a:noFill/>
        </p:spPr>
        <p:txBody>
          <a:bodyPr wrap="square" anchor="t" lIns="45720" rIns="45720" tIns="18288" bIns="18288">
            <a:spAutoFit/>
          </a:bodyPr>
          <a:lstStyle/>
          <a:p>
            <a:pPr algn="l">
              <a:lnSpc>
                <a:spcPct val="100000"/>
              </a:lnSpc>
            </a:pPr>
            <a:r>
              <a:rPr sz="750" b="1" i="0">
                <a:solidFill>
                  <a:srgbClr val="C92A2A"/>
                </a:solidFill>
                <a:latin typeface="Calibri"/>
              </a:rPr>
              <a:t>CE QUI BLOQUE UNE LIVRAISON</a:t>
            </a:r>
          </a:p>
        </p:txBody>
      </p:sp>
      <p:sp>
        <p:nvSpPr>
          <p:cNvPr id="41" name="Rectangle 40"/>
          <p:cNvSpPr/>
          <p:nvPr/>
        </p:nvSpPr>
        <p:spPr>
          <a:xfrm>
            <a:off x="457200" y="2770632"/>
            <a:ext cx="164592" cy="16459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4944" y="2706624"/>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Dépendance vulnérable  </a:t>
            </a:r>
            <a:r>
              <a:rPr sz="750" b="0" i="0">
                <a:solidFill>
                  <a:srgbClr val="495057"/>
                </a:solidFill>
                <a:latin typeface="Calibri"/>
              </a:rPr>
              <a:t>analyse en porte</a:t>
            </a:r>
          </a:p>
        </p:txBody>
      </p:sp>
      <p:sp>
        <p:nvSpPr>
          <p:cNvPr id="43" name="Rectangle 42"/>
          <p:cNvSpPr/>
          <p:nvPr/>
        </p:nvSpPr>
        <p:spPr>
          <a:xfrm>
            <a:off x="457200" y="3099815"/>
            <a:ext cx="164592" cy="16459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4944" y="3035808"/>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Secret dans le dépôt  </a:t>
            </a:r>
            <a:r>
              <a:rPr sz="750" b="0" i="0">
                <a:solidFill>
                  <a:srgbClr val="495057"/>
                </a:solidFill>
                <a:latin typeface="Calibri"/>
              </a:rPr>
              <a:t>détection bloquante</a:t>
            </a:r>
          </a:p>
        </p:txBody>
      </p:sp>
      <p:sp>
        <p:nvSpPr>
          <p:cNvPr id="45" name="Rectangle 44"/>
          <p:cNvSpPr/>
          <p:nvPr/>
        </p:nvSpPr>
        <p:spPr>
          <a:xfrm>
            <a:off x="457200" y="3428999"/>
            <a:ext cx="164592" cy="16459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 y="3364991"/>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IaC non conforme  </a:t>
            </a:r>
            <a:r>
              <a:rPr sz="750" b="0" i="0">
                <a:solidFill>
                  <a:srgbClr val="495057"/>
                </a:solidFill>
                <a:latin typeface="Calibri"/>
              </a:rPr>
              <a:t>contrôle statique</a:t>
            </a:r>
          </a:p>
        </p:txBody>
      </p:sp>
      <p:sp>
        <p:nvSpPr>
          <p:cNvPr id="47" name="Rectangle 46"/>
          <p:cNvSpPr/>
          <p:nvPr/>
        </p:nvSpPr>
        <p:spPr>
          <a:xfrm>
            <a:off x="457200" y="3758184"/>
            <a:ext cx="164592" cy="164592"/>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3694176"/>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Image vulnérable  </a:t>
            </a:r>
            <a:r>
              <a:rPr sz="750" b="0" i="0">
                <a:solidFill>
                  <a:srgbClr val="495057"/>
                </a:solidFill>
                <a:latin typeface="Calibri"/>
              </a:rPr>
              <a:t>Trivy + SBOM CycloneDX</a:t>
            </a:r>
          </a:p>
        </p:txBody>
      </p:sp>
      <p:sp>
        <p:nvSpPr>
          <p:cNvPr id="49" name="TextBox 48"/>
          <p:cNvSpPr txBox="1"/>
          <p:nvPr/>
        </p:nvSpPr>
        <p:spPr>
          <a:xfrm>
            <a:off x="4709160" y="2505456"/>
            <a:ext cx="3977639" cy="182880"/>
          </a:xfrm>
          <a:prstGeom prst="rect">
            <a:avLst/>
          </a:prstGeom>
          <a:noFill/>
        </p:spPr>
        <p:txBody>
          <a:bodyPr wrap="square" anchor="t" lIns="45720" rIns="45720" tIns="18288" bIns="18288">
            <a:spAutoFit/>
          </a:bodyPr>
          <a:lstStyle/>
          <a:p>
            <a:pPr algn="l">
              <a:lnSpc>
                <a:spcPct val="100000"/>
              </a:lnSpc>
            </a:pPr>
            <a:r>
              <a:rPr sz="750" b="1" i="0">
                <a:solidFill>
                  <a:srgbClr val="2B8A3E"/>
                </a:solidFill>
                <a:latin typeface="Calibri"/>
              </a:rPr>
              <a:t>CE QUI PROTÈGE LA CHAÎNE ELLE-MÊME</a:t>
            </a:r>
          </a:p>
        </p:txBody>
      </p:sp>
      <p:sp>
        <p:nvSpPr>
          <p:cNvPr id="50" name="Rectangle 49"/>
          <p:cNvSpPr/>
          <p:nvPr/>
        </p:nvSpPr>
        <p:spPr>
          <a:xfrm>
            <a:off x="4709160" y="2770632"/>
            <a:ext cx="164592" cy="1645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46904" y="2706624"/>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8 workflows  </a:t>
            </a:r>
            <a:r>
              <a:rPr sz="750" b="0" i="0">
                <a:solidFill>
                  <a:srgbClr val="495057"/>
                </a:solidFill>
                <a:latin typeface="Calibri"/>
              </a:rPr>
              <a:t>SaaS, site, CDN, sauvegarde, reprise, IA</a:t>
            </a:r>
          </a:p>
        </p:txBody>
      </p:sp>
      <p:sp>
        <p:nvSpPr>
          <p:cNvPr id="52" name="Rectangle 51"/>
          <p:cNvSpPr/>
          <p:nvPr/>
        </p:nvSpPr>
        <p:spPr>
          <a:xfrm>
            <a:off x="4709160" y="3099815"/>
            <a:ext cx="164592" cy="1645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46904" y="3035808"/>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Ciblage strict  </a:t>
            </a:r>
            <a:r>
              <a:rPr sz="750" b="0" i="0">
                <a:solidFill>
                  <a:srgbClr val="495057"/>
                </a:solidFill>
                <a:latin typeface="Calibri"/>
              </a:rPr>
              <a:t>le pipeline CDN ne peut pas toucher Hetzner</a:t>
            </a:r>
          </a:p>
        </p:txBody>
      </p:sp>
      <p:sp>
        <p:nvSpPr>
          <p:cNvPr id="54" name="Rectangle 53"/>
          <p:cNvSpPr/>
          <p:nvPr/>
        </p:nvSpPr>
        <p:spPr>
          <a:xfrm>
            <a:off x="4709160" y="3428999"/>
            <a:ext cx="164592" cy="1645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946904" y="3364991"/>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Permissions minimales  </a:t>
            </a:r>
            <a:r>
              <a:rPr sz="750" b="0" i="0">
                <a:solidFill>
                  <a:srgbClr val="495057"/>
                </a:solidFill>
                <a:latin typeface="Calibri"/>
              </a:rPr>
              <a:t>concurrence sérialisée</a:t>
            </a:r>
          </a:p>
        </p:txBody>
      </p:sp>
      <p:sp>
        <p:nvSpPr>
          <p:cNvPr id="56" name="Rectangle 55"/>
          <p:cNvSpPr/>
          <p:nvPr/>
        </p:nvSpPr>
        <p:spPr>
          <a:xfrm>
            <a:off x="4709160" y="3758184"/>
            <a:ext cx="164592" cy="1645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46904" y="3694176"/>
            <a:ext cx="3749039" cy="292608"/>
          </a:xfrm>
          <a:prstGeom prst="rect">
            <a:avLst/>
          </a:prstGeom>
          <a:noFill/>
        </p:spPr>
        <p:txBody>
          <a:bodyPr wrap="square" anchor="ctr" lIns="45720" rIns="45720" tIns="18288" bIns="18288">
            <a:spAutoFit/>
          </a:bodyPr>
          <a:lstStyle/>
          <a:p>
            <a:pPr algn="l">
              <a:lnSpc>
                <a:spcPct val="100000"/>
              </a:lnSpc>
            </a:pPr>
            <a:r>
              <a:rPr sz="800" b="1" i="0">
                <a:solidFill>
                  <a:srgbClr val="212529"/>
                </a:solidFill>
                <a:latin typeface="Calibri"/>
              </a:rPr>
              <a:t>Exceptions  </a:t>
            </a:r>
            <a:r>
              <a:rPr sz="750" b="0" i="0">
                <a:solidFill>
                  <a:srgbClr val="495057"/>
                </a:solidFill>
                <a:latin typeface="Calibri"/>
              </a:rPr>
              <a:t>tracées, justifiées, datées</a:t>
            </a:r>
          </a:p>
        </p:txBody>
      </p:sp>
      <p:sp>
        <p:nvSpPr>
          <p:cNvPr id="58" name="Rounded Rectangle 57"/>
          <p:cNvSpPr/>
          <p:nvPr/>
        </p:nvSpPr>
        <p:spPr>
          <a:xfrm>
            <a:off x="457200" y="4059936"/>
            <a:ext cx="8229600" cy="676656"/>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7200" y="4059936"/>
            <a:ext cx="64008" cy="676656"/>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8368" y="4142232"/>
            <a:ext cx="7882127" cy="530352"/>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410C"/>
                </a:solidFill>
                <a:latin typeface="Calibri"/>
              </a:rPr>
              <a:t>Le compromis résolu  </a:t>
            </a:r>
          </a:p>
          <a:p>
            <a:pPr algn="l">
              <a:lnSpc>
                <a:spcPct val="105000"/>
              </a:lnSpc>
              <a:spcAft>
                <a:spcPts val="200"/>
              </a:spcAft>
            </a:pPr>
            <a:r>
              <a:rPr sz="900" b="0" i="0">
                <a:solidFill>
                  <a:srgbClr val="495057"/>
                </a:solidFill>
                <a:latin typeface="Calibri"/>
              </a:rPr>
              <a:t>Les portes ne ralentissent pas la livraison, elles évitent le retour arrière. Une SBOM CycloneDX par image, rapports historisés.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Orchestration des conteneurs</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22 / 30</a:t>
            </a:r>
          </a:p>
        </p:txBody>
      </p:sp>
      <p:sp>
        <p:nvSpPr>
          <p:cNvPr id="13" name="Rounded Rectangle 12"/>
          <p:cNvSpPr/>
          <p:nvPr/>
        </p:nvSpPr>
        <p:spPr>
          <a:xfrm>
            <a:off x="457200" y="4818888"/>
            <a:ext cx="784555"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C30</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BC4C · mémoire 17.3 · annexe C · wiki 08</a:t>
            </a:r>
          </a:p>
        </p:txBody>
      </p:sp>
      <p:sp>
        <p:nvSpPr>
          <p:cNvPr id="16" name="Rounded Rectangle 15"/>
          <p:cNvSpPr/>
          <p:nvPr/>
        </p:nvSpPr>
        <p:spPr>
          <a:xfrm>
            <a:off x="457200" y="1298448"/>
            <a:ext cx="8229600" cy="34747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1298448"/>
            <a:ext cx="8229600" cy="347472"/>
          </a:xfrm>
          <a:prstGeom prst="rect">
            <a:avLst/>
          </a:prstGeom>
          <a:noFill/>
        </p:spPr>
        <p:txBody>
          <a:bodyPr wrap="square" anchor="ctr" lIns="45720" rIns="45720" tIns="18288" bIns="18288">
            <a:spAutoFit/>
          </a:bodyPr>
          <a:lstStyle/>
          <a:p>
            <a:pPr algn="ctr">
              <a:lnSpc>
                <a:spcPct val="98000"/>
              </a:lnSpc>
            </a:pPr>
            <a:r>
              <a:rPr sz="900" b="1" i="0">
                <a:solidFill>
                  <a:srgbClr val="FFFFFF"/>
                </a:solidFill>
                <a:latin typeface="Calibri"/>
              </a:rPr>
              <a:t>Traefik  ·  point d’entrée unique, terminaison TLS</a:t>
            </a:r>
          </a:p>
        </p:txBody>
      </p:sp>
      <p:sp>
        <p:nvSpPr>
          <p:cNvPr id="18" name="Rounded Rectangle 17"/>
          <p:cNvSpPr/>
          <p:nvPr/>
        </p:nvSpPr>
        <p:spPr>
          <a:xfrm>
            <a:off x="457200" y="1883664"/>
            <a:ext cx="1975104" cy="1426464"/>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7200" y="1883664"/>
            <a:ext cx="1975104" cy="329184"/>
          </a:xfrm>
          <a:prstGeom prst="roundRect">
            <a:avLst>
              <a:gd name="adj" fmla="val 9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2048256"/>
            <a:ext cx="1975104" cy="164592"/>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1883664"/>
            <a:ext cx="1975104" cy="329184"/>
          </a:xfrm>
          <a:prstGeom prst="rect">
            <a:avLst/>
          </a:prstGeom>
          <a:noFill/>
        </p:spPr>
        <p:txBody>
          <a:bodyPr wrap="square" anchor="ctr" lIns="45720" rIns="45720" tIns="18288" bIns="18288">
            <a:spAutoFit/>
          </a:bodyPr>
          <a:lstStyle/>
          <a:p>
            <a:pPr algn="ctr">
              <a:lnSpc>
                <a:spcPct val="100000"/>
              </a:lnSpc>
            </a:pPr>
            <a:r>
              <a:rPr sz="850" b="1" i="0">
                <a:solidFill>
                  <a:srgbClr val="FFFFFF"/>
                </a:solidFill>
                <a:latin typeface="Calibri"/>
              </a:rPr>
              <a:t>proxy-1  </a:t>
            </a:r>
            <a:r>
              <a:rPr sz="650" b="1" i="0">
                <a:solidFill>
                  <a:srgbClr val="AB96EA"/>
                </a:solidFill>
                <a:latin typeface="Calibri"/>
              </a:rPr>
              <a:t>MANAGER</a:t>
            </a:r>
          </a:p>
        </p:txBody>
      </p:sp>
      <p:sp>
        <p:nvSpPr>
          <p:cNvPr id="22" name="Rounded Rectangle 21"/>
          <p:cNvSpPr/>
          <p:nvPr/>
        </p:nvSpPr>
        <p:spPr>
          <a:xfrm>
            <a:off x="548640" y="2286000"/>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2286000"/>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Traefik</a:t>
            </a:r>
          </a:p>
        </p:txBody>
      </p:sp>
      <p:sp>
        <p:nvSpPr>
          <p:cNvPr id="24" name="Rounded Rectangle 23"/>
          <p:cNvSpPr/>
          <p:nvPr/>
        </p:nvSpPr>
        <p:spPr>
          <a:xfrm>
            <a:off x="548640" y="2596896"/>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2596896"/>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Redis</a:t>
            </a:r>
          </a:p>
        </p:txBody>
      </p:sp>
      <p:sp>
        <p:nvSpPr>
          <p:cNvPr id="26" name="Rounded Rectangle 25"/>
          <p:cNvSpPr/>
          <p:nvPr/>
        </p:nvSpPr>
        <p:spPr>
          <a:xfrm>
            <a:off x="548640" y="2907792"/>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2907792"/>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Prometheus · Loki · Grafana</a:t>
            </a:r>
          </a:p>
        </p:txBody>
      </p:sp>
      <p:cxnSp>
        <p:nvCxnSpPr>
          <p:cNvPr id="28" name="Connector 27"/>
          <p:cNvCxnSpPr/>
          <p:nvPr/>
        </p:nvCxnSpPr>
        <p:spPr>
          <a:xfrm>
            <a:off x="1444752" y="1645920"/>
            <a:ext cx="0"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542032" y="1883664"/>
            <a:ext cx="1975104" cy="1426464"/>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42032" y="1883664"/>
            <a:ext cx="1975104" cy="329184"/>
          </a:xfrm>
          <a:prstGeom prst="roundRect">
            <a:avLst>
              <a:gd name="adj" fmla="val 9000"/>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42032" y="2048256"/>
            <a:ext cx="1975104" cy="164592"/>
          </a:xfrm>
          <a:prstGeom prst="rect">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2032" y="1883664"/>
            <a:ext cx="1975104" cy="329184"/>
          </a:xfrm>
          <a:prstGeom prst="rect">
            <a:avLst/>
          </a:prstGeom>
          <a:noFill/>
        </p:spPr>
        <p:txBody>
          <a:bodyPr wrap="square" anchor="ctr" lIns="45720" rIns="45720" tIns="18288" bIns="18288">
            <a:spAutoFit/>
          </a:bodyPr>
          <a:lstStyle/>
          <a:p>
            <a:pPr algn="ctr">
              <a:lnSpc>
                <a:spcPct val="100000"/>
              </a:lnSpc>
            </a:pPr>
            <a:r>
              <a:rPr sz="850" b="1" i="0">
                <a:solidFill>
                  <a:srgbClr val="FFFFFF"/>
                </a:solidFill>
                <a:latin typeface="Calibri"/>
              </a:rPr>
              <a:t>db-1  </a:t>
            </a:r>
            <a:r>
              <a:rPr sz="650" b="1" i="0">
                <a:solidFill>
                  <a:srgbClr val="77B9A5"/>
                </a:solidFill>
                <a:latin typeface="Calibri"/>
              </a:rPr>
              <a:t>worker</a:t>
            </a:r>
          </a:p>
        </p:txBody>
      </p:sp>
      <p:sp>
        <p:nvSpPr>
          <p:cNvPr id="33" name="Rounded Rectangle 32"/>
          <p:cNvSpPr/>
          <p:nvPr/>
        </p:nvSpPr>
        <p:spPr>
          <a:xfrm>
            <a:off x="2633472" y="2286000"/>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33472" y="2286000"/>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PostgreSQL 18</a:t>
            </a:r>
          </a:p>
        </p:txBody>
      </p:sp>
      <p:sp>
        <p:nvSpPr>
          <p:cNvPr id="35" name="Rounded Rectangle 34"/>
          <p:cNvSpPr/>
          <p:nvPr/>
        </p:nvSpPr>
        <p:spPr>
          <a:xfrm>
            <a:off x="2633472" y="2596896"/>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633472" y="2596896"/>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PgBouncer</a:t>
            </a:r>
          </a:p>
        </p:txBody>
      </p:sp>
      <p:cxnSp>
        <p:nvCxnSpPr>
          <p:cNvPr id="37" name="Connector 36"/>
          <p:cNvCxnSpPr/>
          <p:nvPr/>
        </p:nvCxnSpPr>
        <p:spPr>
          <a:xfrm>
            <a:off x="3529584" y="1645920"/>
            <a:ext cx="0"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4626864" y="1883664"/>
            <a:ext cx="1975104" cy="1426464"/>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626864" y="1883664"/>
            <a:ext cx="1975104" cy="329184"/>
          </a:xfrm>
          <a:prstGeom prst="roundRect">
            <a:avLst>
              <a:gd name="adj" fmla="val 9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26864" y="2048256"/>
            <a:ext cx="1975104" cy="164592"/>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26864" y="1883664"/>
            <a:ext cx="1975104" cy="329184"/>
          </a:xfrm>
          <a:prstGeom prst="rect">
            <a:avLst/>
          </a:prstGeom>
          <a:noFill/>
        </p:spPr>
        <p:txBody>
          <a:bodyPr wrap="square" anchor="ctr" lIns="45720" rIns="45720" tIns="18288" bIns="18288">
            <a:spAutoFit/>
          </a:bodyPr>
          <a:lstStyle/>
          <a:p>
            <a:pPr algn="ctr">
              <a:lnSpc>
                <a:spcPct val="100000"/>
              </a:lnSpc>
            </a:pPr>
            <a:r>
              <a:rPr sz="850" b="1" i="0">
                <a:solidFill>
                  <a:srgbClr val="FFFFFF"/>
                </a:solidFill>
                <a:latin typeface="Calibri"/>
              </a:rPr>
              <a:t>backend-1  </a:t>
            </a:r>
            <a:r>
              <a:rPr sz="650" b="1" i="0">
                <a:solidFill>
                  <a:srgbClr val="80B1DD"/>
                </a:solidFill>
                <a:latin typeface="Calibri"/>
              </a:rPr>
              <a:t>worker</a:t>
            </a:r>
          </a:p>
        </p:txBody>
      </p:sp>
      <p:sp>
        <p:nvSpPr>
          <p:cNvPr id="42" name="Rounded Rectangle 41"/>
          <p:cNvSpPr/>
          <p:nvPr/>
        </p:nvSpPr>
        <p:spPr>
          <a:xfrm>
            <a:off x="4718303" y="2286000"/>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18303" y="2286000"/>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API NestJS</a:t>
            </a:r>
          </a:p>
        </p:txBody>
      </p:sp>
      <p:sp>
        <p:nvSpPr>
          <p:cNvPr id="44" name="Rounded Rectangle 43"/>
          <p:cNvSpPr/>
          <p:nvPr/>
        </p:nvSpPr>
        <p:spPr>
          <a:xfrm>
            <a:off x="4718303" y="2596896"/>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18303" y="2596896"/>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réplicas = nœuds backend</a:t>
            </a:r>
          </a:p>
        </p:txBody>
      </p:sp>
      <p:cxnSp>
        <p:nvCxnSpPr>
          <p:cNvPr id="46" name="Connector 45"/>
          <p:cNvCxnSpPr/>
          <p:nvPr/>
        </p:nvCxnSpPr>
        <p:spPr>
          <a:xfrm>
            <a:off x="5614416" y="1645920"/>
            <a:ext cx="0"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711696" y="1883664"/>
            <a:ext cx="1975104" cy="1426464"/>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711696" y="1883664"/>
            <a:ext cx="1975104" cy="329184"/>
          </a:xfrm>
          <a:prstGeom prst="roundRect">
            <a:avLst>
              <a:gd name="adj" fmla="val 9000"/>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711696" y="2048256"/>
            <a:ext cx="1975104" cy="164592"/>
          </a:xfrm>
          <a:prstGeom prst="rect">
            <a:avLst/>
          </a:prstGeom>
          <a:solidFill>
            <a:srgbClr val="C225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11696" y="1883664"/>
            <a:ext cx="1975104" cy="329184"/>
          </a:xfrm>
          <a:prstGeom prst="rect">
            <a:avLst/>
          </a:prstGeom>
          <a:noFill/>
        </p:spPr>
        <p:txBody>
          <a:bodyPr wrap="square" anchor="ctr" lIns="45720" rIns="45720" tIns="18288" bIns="18288">
            <a:spAutoFit/>
          </a:bodyPr>
          <a:lstStyle/>
          <a:p>
            <a:pPr algn="ctr">
              <a:lnSpc>
                <a:spcPct val="100000"/>
              </a:lnSpc>
            </a:pPr>
            <a:r>
              <a:rPr sz="850" b="1" i="0">
                <a:solidFill>
                  <a:srgbClr val="FFFFFF"/>
                </a:solidFill>
                <a:latin typeface="Calibri"/>
              </a:rPr>
              <a:t>frontend-1  </a:t>
            </a:r>
            <a:r>
              <a:rPr sz="650" b="1" i="0">
                <a:solidFill>
                  <a:srgbClr val="DD87A5"/>
                </a:solidFill>
                <a:latin typeface="Calibri"/>
              </a:rPr>
              <a:t>worker</a:t>
            </a:r>
          </a:p>
        </p:txBody>
      </p:sp>
      <p:sp>
        <p:nvSpPr>
          <p:cNvPr id="51" name="Rounded Rectangle 50"/>
          <p:cNvSpPr/>
          <p:nvPr/>
        </p:nvSpPr>
        <p:spPr>
          <a:xfrm>
            <a:off x="6803136" y="2286000"/>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03136" y="2286000"/>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Next.js SSR</a:t>
            </a:r>
          </a:p>
        </p:txBody>
      </p:sp>
      <p:sp>
        <p:nvSpPr>
          <p:cNvPr id="53" name="Rounded Rectangle 52"/>
          <p:cNvSpPr/>
          <p:nvPr/>
        </p:nvSpPr>
        <p:spPr>
          <a:xfrm>
            <a:off x="6803136" y="2596896"/>
            <a:ext cx="1792224" cy="256032"/>
          </a:xfrm>
          <a:prstGeom prst="roundRect">
            <a:avLst>
              <a:gd name="adj" fmla="val 1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803136" y="2596896"/>
            <a:ext cx="1792224" cy="256032"/>
          </a:xfrm>
          <a:prstGeom prst="rect">
            <a:avLst/>
          </a:prstGeom>
          <a:noFill/>
        </p:spPr>
        <p:txBody>
          <a:bodyPr wrap="square" anchor="ctr" lIns="45720" rIns="45720" tIns="18288" bIns="18288">
            <a:spAutoFit/>
          </a:bodyPr>
          <a:lstStyle/>
          <a:p>
            <a:pPr algn="ctr">
              <a:lnSpc>
                <a:spcPct val="98000"/>
              </a:lnSpc>
            </a:pPr>
            <a:r>
              <a:rPr sz="700" b="1" i="0">
                <a:solidFill>
                  <a:srgbClr val="212529"/>
                </a:solidFill>
                <a:latin typeface="Calibri"/>
              </a:rPr>
              <a:t>réplicas = nœuds frontend</a:t>
            </a:r>
          </a:p>
        </p:txBody>
      </p:sp>
      <p:cxnSp>
        <p:nvCxnSpPr>
          <p:cNvPr id="55" name="Connector 54"/>
          <p:cNvCxnSpPr/>
          <p:nvPr/>
        </p:nvCxnSpPr>
        <p:spPr>
          <a:xfrm>
            <a:off x="7699248" y="1645920"/>
            <a:ext cx="0"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384048" y="1700784"/>
            <a:ext cx="8375904" cy="1664208"/>
          </a:xfrm>
          <a:prstGeom prst="roundRect">
            <a:avLst>
              <a:gd name="adj" fmla="val 4000"/>
            </a:avLst>
          </a:prstGeom>
          <a:noFill/>
          <a:ln w="12700">
            <a:solidFill>
              <a:srgbClr val="C2410C"/>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3776" y="1746504"/>
            <a:ext cx="8156448" cy="182880"/>
          </a:xfrm>
          <a:prstGeom prst="rect">
            <a:avLst/>
          </a:prstGeom>
          <a:noFill/>
        </p:spPr>
        <p:txBody>
          <a:bodyPr wrap="square" anchor="t" lIns="45720" rIns="45720" tIns="18288" bIns="18288">
            <a:spAutoFit/>
          </a:bodyPr>
          <a:lstStyle/>
          <a:p>
            <a:pPr algn="l">
              <a:lnSpc>
                <a:spcPct val="100000"/>
              </a:lnSpc>
            </a:pPr>
            <a:r>
              <a:rPr sz="750" b="1" i="0">
                <a:solidFill>
                  <a:srgbClr val="C2410C"/>
                </a:solidFill>
                <a:latin typeface="Calibri"/>
              </a:rPr>
              <a:t>cluster Docker Swarm · placement par label de rôle</a:t>
            </a:r>
          </a:p>
        </p:txBody>
      </p:sp>
      <p:sp>
        <p:nvSpPr>
          <p:cNvPr id="58" name="TextBox 57"/>
          <p:cNvSpPr txBox="1"/>
          <p:nvPr/>
        </p:nvSpPr>
        <p:spPr>
          <a:xfrm>
            <a:off x="457200" y="3438144"/>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5 RÉSEAUX OVERLAY, MOINDRE PRIVILÈGE</a:t>
            </a:r>
          </a:p>
        </p:txBody>
      </p:sp>
      <p:sp>
        <p:nvSpPr>
          <p:cNvPr id="59" name="Rectangle 58"/>
          <p:cNvSpPr/>
          <p:nvPr/>
        </p:nvSpPr>
        <p:spPr>
          <a:xfrm>
            <a:off x="457200" y="3666744"/>
            <a:ext cx="841248" cy="173736"/>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3666744"/>
            <a:ext cx="841248" cy="173736"/>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frontend</a:t>
            </a:r>
          </a:p>
        </p:txBody>
      </p:sp>
      <p:sp>
        <p:nvSpPr>
          <p:cNvPr id="61" name="TextBox 60"/>
          <p:cNvSpPr txBox="1"/>
          <p:nvPr/>
        </p:nvSpPr>
        <p:spPr>
          <a:xfrm>
            <a:off x="1371600" y="3639312"/>
            <a:ext cx="3090672" cy="219456"/>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proxy → applications</a:t>
            </a:r>
            <a:r>
              <a:rPr sz="700" b="1" i="0">
                <a:solidFill>
                  <a:srgbClr val="C92A2A"/>
                </a:solidFill>
                <a:latin typeface="Calibri"/>
              </a:rPr>
              <a:t/>
            </a:r>
          </a:p>
        </p:txBody>
      </p:sp>
      <p:sp>
        <p:nvSpPr>
          <p:cNvPr id="62" name="Rectangle 61"/>
          <p:cNvSpPr/>
          <p:nvPr/>
        </p:nvSpPr>
        <p:spPr>
          <a:xfrm>
            <a:off x="457200" y="3886200"/>
            <a:ext cx="841248" cy="173736"/>
          </a:xfrm>
          <a:prstGeom prst="rect">
            <a:avLst/>
          </a:prstGeom>
          <a:solidFill>
            <a:srgbClr val="AF3E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3886200"/>
            <a:ext cx="841248" cy="173736"/>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backend</a:t>
            </a:r>
          </a:p>
        </p:txBody>
      </p:sp>
      <p:sp>
        <p:nvSpPr>
          <p:cNvPr id="64" name="TextBox 63"/>
          <p:cNvSpPr txBox="1"/>
          <p:nvPr/>
        </p:nvSpPr>
        <p:spPr>
          <a:xfrm>
            <a:off x="1371600" y="3858768"/>
            <a:ext cx="3090672" cy="219456"/>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API → base et cache</a:t>
            </a:r>
            <a:r>
              <a:rPr sz="700" b="1" i="0">
                <a:solidFill>
                  <a:srgbClr val="C92A2A"/>
                </a:solidFill>
                <a:latin typeface="Calibri"/>
              </a:rPr>
              <a:t>   interne</a:t>
            </a:r>
          </a:p>
        </p:txBody>
      </p:sp>
      <p:sp>
        <p:nvSpPr>
          <p:cNvPr id="65" name="Rectangle 64"/>
          <p:cNvSpPr/>
          <p:nvPr/>
        </p:nvSpPr>
        <p:spPr>
          <a:xfrm>
            <a:off x="457200" y="4105656"/>
            <a:ext cx="841248" cy="173736"/>
          </a:xfrm>
          <a:prstGeom prst="rect">
            <a:avLst/>
          </a:prstGeom>
          <a:solidFill>
            <a:srgbClr val="9B3A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4105656"/>
            <a:ext cx="841248" cy="173736"/>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socket</a:t>
            </a:r>
          </a:p>
        </p:txBody>
      </p:sp>
      <p:sp>
        <p:nvSpPr>
          <p:cNvPr id="67" name="TextBox 66"/>
          <p:cNvSpPr txBox="1"/>
          <p:nvPr/>
        </p:nvSpPr>
        <p:spPr>
          <a:xfrm>
            <a:off x="1371600" y="4078224"/>
            <a:ext cx="3090672" cy="219456"/>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API Docker filtrée</a:t>
            </a:r>
            <a:r>
              <a:rPr sz="700" b="1" i="0">
                <a:solidFill>
                  <a:srgbClr val="C92A2A"/>
                </a:solidFill>
                <a:latin typeface="Calibri"/>
              </a:rPr>
              <a:t>   interne</a:t>
            </a:r>
          </a:p>
        </p:txBody>
      </p:sp>
      <p:sp>
        <p:nvSpPr>
          <p:cNvPr id="68" name="Rectangle 67"/>
          <p:cNvSpPr/>
          <p:nvPr/>
        </p:nvSpPr>
        <p:spPr>
          <a:xfrm>
            <a:off x="457200" y="4325112"/>
            <a:ext cx="841248" cy="173736"/>
          </a:xfrm>
          <a:prstGeom prst="rect">
            <a:avLst/>
          </a:prstGeom>
          <a:solidFill>
            <a:srgbClr val="8837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4325112"/>
            <a:ext cx="841248" cy="173736"/>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egress</a:t>
            </a:r>
          </a:p>
        </p:txBody>
      </p:sp>
      <p:sp>
        <p:nvSpPr>
          <p:cNvPr id="70" name="TextBox 69"/>
          <p:cNvSpPr txBox="1"/>
          <p:nvPr/>
        </p:nvSpPr>
        <p:spPr>
          <a:xfrm>
            <a:off x="1371600" y="4297680"/>
            <a:ext cx="3090672" cy="219456"/>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sorties Internet et AWS</a:t>
            </a:r>
            <a:r>
              <a:rPr sz="700" b="1" i="0">
                <a:solidFill>
                  <a:srgbClr val="C92A2A"/>
                </a:solidFill>
                <a:latin typeface="Calibri"/>
              </a:rPr>
              <a:t/>
            </a:r>
          </a:p>
        </p:txBody>
      </p:sp>
      <p:sp>
        <p:nvSpPr>
          <p:cNvPr id="71" name="Rectangle 70"/>
          <p:cNvSpPr/>
          <p:nvPr/>
        </p:nvSpPr>
        <p:spPr>
          <a:xfrm>
            <a:off x="457200" y="4544568"/>
            <a:ext cx="841248" cy="173736"/>
          </a:xfrm>
          <a:prstGeom prst="rect">
            <a:avLst/>
          </a:prstGeom>
          <a:solidFill>
            <a:srgbClr val="7534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457200" y="4544568"/>
            <a:ext cx="841248" cy="173736"/>
          </a:xfrm>
          <a:prstGeom prst="rect">
            <a:avLst/>
          </a:prstGeom>
          <a:noFill/>
        </p:spPr>
        <p:txBody>
          <a:bodyPr wrap="square" anchor="ctr" lIns="45720" rIns="45720" tIns="18288" bIns="18288">
            <a:spAutoFit/>
          </a:bodyPr>
          <a:lstStyle/>
          <a:p>
            <a:pPr algn="ctr">
              <a:lnSpc>
                <a:spcPct val="98000"/>
              </a:lnSpc>
            </a:pPr>
            <a:r>
              <a:rPr sz="600" b="1" i="0">
                <a:solidFill>
                  <a:srgbClr val="FFFFFF"/>
                </a:solidFill>
                <a:latin typeface="Calibri"/>
              </a:rPr>
              <a:t>monitoring</a:t>
            </a:r>
          </a:p>
        </p:txBody>
      </p:sp>
      <p:sp>
        <p:nvSpPr>
          <p:cNvPr id="73" name="TextBox 72"/>
          <p:cNvSpPr txBox="1"/>
          <p:nvPr/>
        </p:nvSpPr>
        <p:spPr>
          <a:xfrm>
            <a:off x="1371600" y="4517136"/>
            <a:ext cx="3090672" cy="219456"/>
          </a:xfrm>
          <a:prstGeom prst="rect">
            <a:avLst/>
          </a:prstGeom>
          <a:noFill/>
        </p:spPr>
        <p:txBody>
          <a:bodyPr wrap="square" anchor="ctr" lIns="45720" rIns="45720" tIns="18288" bIns="18288">
            <a:spAutoFit/>
          </a:bodyPr>
          <a:lstStyle/>
          <a:p>
            <a:pPr algn="l">
              <a:lnSpc>
                <a:spcPct val="100000"/>
              </a:lnSpc>
            </a:pPr>
            <a:r>
              <a:rPr sz="700" b="0" i="0">
                <a:solidFill>
                  <a:srgbClr val="495057"/>
                </a:solidFill>
                <a:latin typeface="Calibri"/>
              </a:rPr>
              <a:t>télémétrie</a:t>
            </a:r>
            <a:r>
              <a:rPr sz="700" b="1" i="0">
                <a:solidFill>
                  <a:srgbClr val="C92A2A"/>
                </a:solidFill>
                <a:latin typeface="Calibri"/>
              </a:rPr>
              <a:t/>
            </a:r>
          </a:p>
        </p:txBody>
      </p:sp>
      <p:sp>
        <p:nvSpPr>
          <p:cNvPr id="74" name="Rounded Rectangle 73"/>
          <p:cNvSpPr/>
          <p:nvPr/>
        </p:nvSpPr>
        <p:spPr>
          <a:xfrm>
            <a:off x="4709160" y="3419856"/>
            <a:ext cx="3977639" cy="62179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4709160" y="3419856"/>
            <a:ext cx="64008" cy="621792"/>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892040" y="3474720"/>
            <a:ext cx="3703320" cy="530352"/>
          </a:xfrm>
          <a:prstGeom prst="rect">
            <a:avLst/>
          </a:prstGeom>
          <a:noFill/>
        </p:spPr>
        <p:txBody>
          <a:bodyPr wrap="square" anchor="t" lIns="45720" rIns="45720" tIns="18288" bIns="18288">
            <a:spAutoFit/>
          </a:bodyPr>
          <a:lstStyle/>
          <a:p>
            <a:pPr algn="l">
              <a:lnSpc>
                <a:spcPct val="105000"/>
              </a:lnSpc>
            </a:pPr>
            <a:r>
              <a:rPr sz="850" b="1" i="0">
                <a:solidFill>
                  <a:srgbClr val="C2410C"/>
                </a:solidFill>
                <a:latin typeface="Calibri"/>
              </a:rPr>
              <a:t>Continuité pendant les mises à jour  </a:t>
            </a:r>
            <a:r>
              <a:rPr sz="750" b="0" i="0">
                <a:solidFill>
                  <a:srgbClr val="495057"/>
                </a:solidFill>
                <a:latin typeface="Calibri"/>
              </a:rPr>
              <a:t>rolling start-first sans état, stop-first à état, retour arrière automatique en cas d’échec.</a:t>
            </a:r>
          </a:p>
        </p:txBody>
      </p:sp>
      <p:sp>
        <p:nvSpPr>
          <p:cNvPr id="77" name="Rounded Rectangle 76"/>
          <p:cNvSpPr/>
          <p:nvPr/>
        </p:nvSpPr>
        <p:spPr>
          <a:xfrm>
            <a:off x="4709160" y="4114800"/>
            <a:ext cx="3977639" cy="62179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709160" y="4114800"/>
            <a:ext cx="64008" cy="6217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892040" y="4169663"/>
            <a:ext cx="3703320" cy="530352"/>
          </a:xfrm>
          <a:prstGeom prst="rect">
            <a:avLst/>
          </a:prstGeom>
          <a:noFill/>
        </p:spPr>
        <p:txBody>
          <a:bodyPr wrap="square" anchor="t" lIns="45720" rIns="45720" tIns="18288" bIns="18288">
            <a:spAutoFit/>
          </a:bodyPr>
          <a:lstStyle/>
          <a:p>
            <a:pPr algn="l">
              <a:lnSpc>
                <a:spcPct val="105000"/>
              </a:lnSpc>
            </a:pPr>
            <a:r>
              <a:rPr sz="850" b="1" i="0">
                <a:solidFill>
                  <a:srgbClr val="2B8A3E"/>
                </a:solidFill>
                <a:latin typeface="Calibri"/>
              </a:rPr>
              <a:t>Swarm plutôt que Kubernetes  </a:t>
            </a:r>
            <a:r>
              <a:rPr sz="750" b="0" i="0">
                <a:solidFill>
                  <a:srgbClr val="495057"/>
                </a:solidFill>
                <a:latin typeface="Calibri"/>
              </a:rPr>
              <a:t>les primitives nécessaires sont là pour une surface d’exploitation bien moindre. K8s reste la cible documentée.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Observabilité et alerting</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23 / 30</a:t>
            </a:r>
          </a:p>
        </p:txBody>
      </p:sp>
      <p:sp>
        <p:nvSpPr>
          <p:cNvPr id="13" name="Rounded Rectangle 12"/>
          <p:cNvSpPr/>
          <p:nvPr/>
        </p:nvSpPr>
        <p:spPr>
          <a:xfrm>
            <a:off x="457200" y="4818888"/>
            <a:ext cx="784555"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C31</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BC4C · mémoire 17.4 · annexe P · wiki 10</a:t>
            </a:r>
          </a:p>
        </p:txBody>
      </p:sp>
      <p:sp>
        <p:nvSpPr>
          <p:cNvPr id="16" name="Rounded Rectangle 15"/>
          <p:cNvSpPr/>
          <p:nvPr/>
        </p:nvSpPr>
        <p:spPr>
          <a:xfrm>
            <a:off x="457200" y="1298448"/>
            <a:ext cx="1920240"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1298448"/>
            <a:ext cx="1920240" cy="274320"/>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435608"/>
            <a:ext cx="1920240" cy="1371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298448"/>
            <a:ext cx="1920240" cy="274320"/>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Sources</a:t>
            </a:r>
          </a:p>
        </p:txBody>
      </p:sp>
      <p:sp>
        <p:nvSpPr>
          <p:cNvPr id="20" name="TextBox 19"/>
          <p:cNvSpPr txBox="1"/>
          <p:nvPr/>
        </p:nvSpPr>
        <p:spPr>
          <a:xfrm>
            <a:off x="512064" y="1609344"/>
            <a:ext cx="1810512" cy="475488"/>
          </a:xfrm>
          <a:prstGeom prst="rect">
            <a:avLst/>
          </a:prstGeom>
          <a:noFill/>
        </p:spPr>
        <p:txBody>
          <a:bodyPr wrap="square" anchor="t" lIns="45720" rIns="45720" tIns="18288" bIns="18288">
            <a:spAutoFit/>
          </a:bodyPr>
          <a:lstStyle/>
          <a:p>
            <a:pPr algn="ctr">
              <a:lnSpc>
                <a:spcPct val="105000"/>
              </a:lnSpc>
            </a:pPr>
            <a:r>
              <a:rPr sz="750" b="0" i="0">
                <a:solidFill>
                  <a:srgbClr val="495057"/>
                </a:solidFill>
                <a:latin typeface="Calibri"/>
              </a:rPr>
              <a:t>Traefik · node-exporter</a:t>
            </a:r>
          </a:p>
          <a:p>
            <a:pPr algn="ctr">
              <a:lnSpc>
                <a:spcPct val="105000"/>
              </a:lnSpc>
            </a:pPr>
            <a:r>
              <a:rPr sz="750" b="0" i="0">
                <a:solidFill>
                  <a:srgbClr val="495057"/>
                </a:solidFill>
                <a:latin typeface="Calibri"/>
              </a:rPr>
              <a:t>cAdvisor · WAF</a:t>
            </a:r>
          </a:p>
        </p:txBody>
      </p:sp>
      <p:sp>
        <p:nvSpPr>
          <p:cNvPr id="21" name="Right Arrow 20"/>
          <p:cNvSpPr/>
          <p:nvPr/>
        </p:nvSpPr>
        <p:spPr>
          <a:xfrm>
            <a:off x="2395728" y="1653966"/>
            <a:ext cx="164592" cy="111922"/>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78608" y="1298448"/>
            <a:ext cx="1920240"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78608" y="1298448"/>
            <a:ext cx="1920240" cy="274320"/>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578608" y="1435608"/>
            <a:ext cx="1920240" cy="1371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78608" y="1298448"/>
            <a:ext cx="1920240" cy="274320"/>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Collecte</a:t>
            </a:r>
          </a:p>
        </p:txBody>
      </p:sp>
      <p:sp>
        <p:nvSpPr>
          <p:cNvPr id="26" name="TextBox 25"/>
          <p:cNvSpPr txBox="1"/>
          <p:nvPr/>
        </p:nvSpPr>
        <p:spPr>
          <a:xfrm>
            <a:off x="2633472" y="1609344"/>
            <a:ext cx="1810512" cy="475488"/>
          </a:xfrm>
          <a:prstGeom prst="rect">
            <a:avLst/>
          </a:prstGeom>
          <a:noFill/>
        </p:spPr>
        <p:txBody>
          <a:bodyPr wrap="square" anchor="t" lIns="45720" rIns="45720" tIns="18288" bIns="18288">
            <a:spAutoFit/>
          </a:bodyPr>
          <a:lstStyle/>
          <a:p>
            <a:pPr algn="ctr">
              <a:lnSpc>
                <a:spcPct val="105000"/>
              </a:lnSpc>
            </a:pPr>
            <a:r>
              <a:rPr sz="750" b="0" i="0">
                <a:solidFill>
                  <a:srgbClr val="495057"/>
                </a:solidFill>
                <a:latin typeface="Calibri"/>
              </a:rPr>
              <a:t>Prometheus 15 s</a:t>
            </a:r>
          </a:p>
          <a:p>
            <a:pPr algn="ctr">
              <a:lnSpc>
                <a:spcPct val="105000"/>
              </a:lnSpc>
            </a:pPr>
            <a:r>
              <a:rPr sz="750" b="0" i="0">
                <a:solidFill>
                  <a:srgbClr val="495057"/>
                </a:solidFill>
                <a:latin typeface="Calibri"/>
              </a:rPr>
              <a:t>Alloy</a:t>
            </a:r>
          </a:p>
        </p:txBody>
      </p:sp>
      <p:sp>
        <p:nvSpPr>
          <p:cNvPr id="27" name="Right Arrow 26"/>
          <p:cNvSpPr/>
          <p:nvPr/>
        </p:nvSpPr>
        <p:spPr>
          <a:xfrm>
            <a:off x="4517136" y="1653966"/>
            <a:ext cx="164592" cy="111922"/>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700016" y="1298448"/>
            <a:ext cx="1920240"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700016" y="1298448"/>
            <a:ext cx="1920240" cy="274320"/>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0016" y="1435608"/>
            <a:ext cx="1920240" cy="1371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0016" y="1298448"/>
            <a:ext cx="1920240" cy="274320"/>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Stockage</a:t>
            </a:r>
          </a:p>
        </p:txBody>
      </p:sp>
      <p:sp>
        <p:nvSpPr>
          <p:cNvPr id="32" name="TextBox 31"/>
          <p:cNvSpPr txBox="1"/>
          <p:nvPr/>
        </p:nvSpPr>
        <p:spPr>
          <a:xfrm>
            <a:off x="4754879" y="1609344"/>
            <a:ext cx="1810512" cy="475488"/>
          </a:xfrm>
          <a:prstGeom prst="rect">
            <a:avLst/>
          </a:prstGeom>
          <a:noFill/>
        </p:spPr>
        <p:txBody>
          <a:bodyPr wrap="square" anchor="t" lIns="45720" rIns="45720" tIns="18288" bIns="18288">
            <a:spAutoFit/>
          </a:bodyPr>
          <a:lstStyle/>
          <a:p>
            <a:pPr algn="ctr">
              <a:lnSpc>
                <a:spcPct val="105000"/>
              </a:lnSpc>
            </a:pPr>
            <a:r>
              <a:rPr sz="750" b="0" i="0">
                <a:solidFill>
                  <a:srgbClr val="495057"/>
                </a:solidFill>
                <a:latin typeface="Calibri"/>
              </a:rPr>
              <a:t>TSDB · Loki</a:t>
            </a:r>
          </a:p>
          <a:p>
            <a:pPr algn="ctr">
              <a:lnSpc>
                <a:spcPct val="105000"/>
              </a:lnSpc>
            </a:pPr>
            <a:r>
              <a:rPr sz="750" b="0" i="0">
                <a:solidFill>
                  <a:srgbClr val="495057"/>
                </a:solidFill>
                <a:latin typeface="Calibri"/>
              </a:rPr>
              <a:t>Alertmanager</a:t>
            </a:r>
          </a:p>
        </p:txBody>
      </p:sp>
      <p:sp>
        <p:nvSpPr>
          <p:cNvPr id="33" name="Right Arrow 32"/>
          <p:cNvSpPr/>
          <p:nvPr/>
        </p:nvSpPr>
        <p:spPr>
          <a:xfrm>
            <a:off x="6638544" y="1653966"/>
            <a:ext cx="164592" cy="111922"/>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821423" y="1298448"/>
            <a:ext cx="1920240"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821423" y="1298448"/>
            <a:ext cx="1920240" cy="274320"/>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821423" y="1435608"/>
            <a:ext cx="1920240" cy="13716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21423" y="1298448"/>
            <a:ext cx="1920240" cy="274320"/>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Restitution</a:t>
            </a:r>
          </a:p>
        </p:txBody>
      </p:sp>
      <p:sp>
        <p:nvSpPr>
          <p:cNvPr id="38" name="TextBox 37"/>
          <p:cNvSpPr txBox="1"/>
          <p:nvPr/>
        </p:nvSpPr>
        <p:spPr>
          <a:xfrm>
            <a:off x="6876287" y="1609344"/>
            <a:ext cx="1810512" cy="475488"/>
          </a:xfrm>
          <a:prstGeom prst="rect">
            <a:avLst/>
          </a:prstGeom>
          <a:noFill/>
        </p:spPr>
        <p:txBody>
          <a:bodyPr wrap="square" anchor="t" lIns="45720" rIns="45720" tIns="18288" bIns="18288">
            <a:spAutoFit/>
          </a:bodyPr>
          <a:lstStyle/>
          <a:p>
            <a:pPr algn="ctr">
              <a:lnSpc>
                <a:spcPct val="105000"/>
              </a:lnSpc>
            </a:pPr>
            <a:r>
              <a:rPr sz="750" b="0" i="0">
                <a:solidFill>
                  <a:srgbClr val="495057"/>
                </a:solidFill>
                <a:latin typeface="Calibri"/>
              </a:rPr>
              <a:t>Grafana</a:t>
            </a:r>
          </a:p>
          <a:p>
            <a:pPr algn="ctr">
              <a:lnSpc>
                <a:spcPct val="105000"/>
              </a:lnSpc>
            </a:pPr>
            <a:r>
              <a:rPr sz="750" b="0" i="0">
                <a:solidFill>
                  <a:srgbClr val="495057"/>
                </a:solidFill>
                <a:latin typeface="Calibri"/>
              </a:rPr>
              <a:t>3 tableaux de bord</a:t>
            </a:r>
          </a:p>
        </p:txBody>
      </p:sp>
      <p:sp>
        <p:nvSpPr>
          <p:cNvPr id="39" name="TextBox 38"/>
          <p:cNvSpPr txBox="1"/>
          <p:nvPr/>
        </p:nvSpPr>
        <p:spPr>
          <a:xfrm>
            <a:off x="457200" y="2286000"/>
            <a:ext cx="8229600" cy="182880"/>
          </a:xfrm>
          <a:prstGeom prst="rect">
            <a:avLst/>
          </a:prstGeom>
          <a:noFill/>
        </p:spPr>
        <p:txBody>
          <a:bodyPr wrap="square" anchor="t" lIns="45720" rIns="45720" tIns="18288" bIns="18288">
            <a:spAutoFit/>
          </a:bodyPr>
          <a:lstStyle/>
          <a:p>
            <a:pPr algn="l">
              <a:lnSpc>
                <a:spcPct val="100000"/>
              </a:lnSpc>
            </a:pPr>
            <a:r>
              <a:rPr sz="800" b="1" i="0">
                <a:solidFill>
                  <a:srgbClr val="868E96"/>
                </a:solidFill>
                <a:latin typeface="Calibri"/>
              </a:rPr>
              <a:t>10 RÈGLES D’ALERTE, ORIENTÉES ANTICIPATION</a:t>
            </a:r>
          </a:p>
        </p:txBody>
      </p:sp>
      <p:sp>
        <p:nvSpPr>
          <p:cNvPr id="40" name="Rounded Rectangle 39"/>
          <p:cNvSpPr/>
          <p:nvPr/>
        </p:nvSpPr>
        <p:spPr>
          <a:xfrm>
            <a:off x="457200" y="2487168"/>
            <a:ext cx="1975104" cy="658368"/>
          </a:xfrm>
          <a:prstGeom prst="roundRect">
            <a:avLst>
              <a:gd name="adj" fmla="val 9000"/>
            </a:avLst>
          </a:prstGeom>
          <a:solidFill>
            <a:srgbClr val="F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2542032"/>
            <a:ext cx="1792224" cy="566928"/>
          </a:xfrm>
          <a:prstGeom prst="rect">
            <a:avLst/>
          </a:prstGeom>
          <a:noFill/>
        </p:spPr>
        <p:txBody>
          <a:bodyPr wrap="square" anchor="t" lIns="45720" rIns="45720" tIns="18288" bIns="18288">
            <a:spAutoFit/>
          </a:bodyPr>
          <a:lstStyle/>
          <a:p>
            <a:pPr algn="l">
              <a:lnSpc>
                <a:spcPct val="100000"/>
              </a:lnSpc>
              <a:spcAft>
                <a:spcPts val="100"/>
              </a:spcAft>
            </a:pPr>
            <a:r>
              <a:rPr sz="1100" b="1" i="0">
                <a:solidFill>
                  <a:srgbClr val="C92A2A"/>
                </a:solidFill>
                <a:latin typeface="Calibri"/>
              </a:rPr>
              <a:t>2  </a:t>
            </a:r>
            <a:r>
              <a:rPr sz="800" b="1" i="0">
                <a:solidFill>
                  <a:srgbClr val="212529"/>
                </a:solidFill>
                <a:latin typeface="Calibri"/>
              </a:rPr>
              <a:t>Disponibilité</a:t>
            </a:r>
          </a:p>
          <a:p>
            <a:pPr algn="l">
              <a:lnSpc>
                <a:spcPct val="100000"/>
              </a:lnSpc>
              <a:spcAft>
                <a:spcPts val="100"/>
              </a:spcAft>
            </a:pPr>
            <a:r>
              <a:rPr sz="700" b="0" i="0">
                <a:solidFill>
                  <a:srgbClr val="495057"/>
                </a:solidFill>
                <a:latin typeface="Calibri"/>
              </a:rPr>
              <a:t>cible ou nœud absent 5 min</a:t>
            </a:r>
          </a:p>
        </p:txBody>
      </p:sp>
      <p:cxnSp>
        <p:nvCxnSpPr>
          <p:cNvPr id="42" name="Connector 41"/>
          <p:cNvCxnSpPr/>
          <p:nvPr/>
        </p:nvCxnSpPr>
        <p:spPr>
          <a:xfrm>
            <a:off x="1444752" y="3145536"/>
            <a:ext cx="3127248"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2542032" y="2487168"/>
            <a:ext cx="1975104" cy="658368"/>
          </a:xfrm>
          <a:prstGeom prst="roundRect">
            <a:avLst>
              <a:gd name="adj" fmla="val 9000"/>
            </a:avLst>
          </a:prstGeom>
          <a:solidFill>
            <a:srgbClr val="F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33472" y="2542032"/>
            <a:ext cx="1792224" cy="566928"/>
          </a:xfrm>
          <a:prstGeom prst="rect">
            <a:avLst/>
          </a:prstGeom>
          <a:noFill/>
        </p:spPr>
        <p:txBody>
          <a:bodyPr wrap="square" anchor="t" lIns="45720" rIns="45720" tIns="18288" bIns="18288">
            <a:spAutoFit/>
          </a:bodyPr>
          <a:lstStyle/>
          <a:p>
            <a:pPr algn="l">
              <a:lnSpc>
                <a:spcPct val="100000"/>
              </a:lnSpc>
              <a:spcAft>
                <a:spcPts val="100"/>
              </a:spcAft>
            </a:pPr>
            <a:r>
              <a:rPr sz="1100" b="1" i="0">
                <a:solidFill>
                  <a:srgbClr val="96590A"/>
                </a:solidFill>
                <a:latin typeface="Calibri"/>
              </a:rPr>
              <a:t>4  </a:t>
            </a:r>
            <a:r>
              <a:rPr sz="800" b="1" i="0">
                <a:solidFill>
                  <a:srgbClr val="212529"/>
                </a:solidFill>
                <a:latin typeface="Calibri"/>
              </a:rPr>
              <a:t>Saturation</a:t>
            </a:r>
          </a:p>
          <a:p>
            <a:pPr algn="l">
              <a:lnSpc>
                <a:spcPct val="100000"/>
              </a:lnSpc>
              <a:spcAft>
                <a:spcPts val="100"/>
              </a:spcAft>
            </a:pPr>
            <a:r>
              <a:rPr sz="700" b="0" i="0">
                <a:solidFill>
                  <a:srgbClr val="495057"/>
                </a:solidFill>
                <a:latin typeface="Calibri"/>
              </a:rPr>
              <a:t>CPU 90 %, mémoire, disque projeté</a:t>
            </a:r>
          </a:p>
        </p:txBody>
      </p:sp>
      <p:cxnSp>
        <p:nvCxnSpPr>
          <p:cNvPr id="45" name="Connector 44"/>
          <p:cNvCxnSpPr/>
          <p:nvPr/>
        </p:nvCxnSpPr>
        <p:spPr>
          <a:xfrm>
            <a:off x="3529584" y="3145536"/>
            <a:ext cx="1042416"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626864" y="2487168"/>
            <a:ext cx="1975104" cy="658368"/>
          </a:xfrm>
          <a:prstGeom prst="roundRect">
            <a:avLst>
              <a:gd name="adj" fmla="val 9000"/>
            </a:avLst>
          </a:prstGeom>
          <a:solidFill>
            <a:srgbClr val="F0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718303" y="2542032"/>
            <a:ext cx="1792224" cy="566928"/>
          </a:xfrm>
          <a:prstGeom prst="rect">
            <a:avLst/>
          </a:prstGeom>
          <a:noFill/>
        </p:spPr>
        <p:txBody>
          <a:bodyPr wrap="square" anchor="t" lIns="45720" rIns="45720" tIns="18288" bIns="18288">
            <a:spAutoFit/>
          </a:bodyPr>
          <a:lstStyle/>
          <a:p>
            <a:pPr algn="l">
              <a:lnSpc>
                <a:spcPct val="100000"/>
              </a:lnSpc>
              <a:spcAft>
                <a:spcPts val="100"/>
              </a:spcAft>
            </a:pPr>
            <a:r>
              <a:rPr sz="1100" b="1" i="0">
                <a:solidFill>
                  <a:srgbClr val="6741D9"/>
                </a:solidFill>
                <a:latin typeface="Calibri"/>
              </a:rPr>
              <a:t>3  </a:t>
            </a:r>
            <a:r>
              <a:rPr sz="800" b="1" i="0">
                <a:solidFill>
                  <a:srgbClr val="212529"/>
                </a:solidFill>
                <a:latin typeface="Calibri"/>
              </a:rPr>
              <a:t>Applicatif</a:t>
            </a:r>
          </a:p>
          <a:p>
            <a:pPr algn="l">
              <a:lnSpc>
                <a:spcPct val="100000"/>
              </a:lnSpc>
              <a:spcAft>
                <a:spcPts val="100"/>
              </a:spcAft>
            </a:pPr>
            <a:r>
              <a:rPr sz="700" b="0" i="0">
                <a:solidFill>
                  <a:srgbClr val="495057"/>
                </a:solidFill>
                <a:latin typeface="Calibri"/>
              </a:rPr>
              <a:t>5xx &gt; 5 %, latence p95, redémarrages</a:t>
            </a:r>
          </a:p>
        </p:txBody>
      </p:sp>
      <p:cxnSp>
        <p:nvCxnSpPr>
          <p:cNvPr id="48" name="Connector 47"/>
          <p:cNvCxnSpPr/>
          <p:nvPr/>
        </p:nvCxnSpPr>
        <p:spPr>
          <a:xfrm flipH="1">
            <a:off x="4572000" y="3145536"/>
            <a:ext cx="1042416"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711696" y="2487168"/>
            <a:ext cx="1975104" cy="658368"/>
          </a:xfrm>
          <a:prstGeom prst="roundRect">
            <a:avLst>
              <a:gd name="adj" fmla="val 9000"/>
            </a:avLst>
          </a:prstGeom>
          <a:solidFill>
            <a:srgbClr val="E6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03136" y="2542032"/>
            <a:ext cx="1792224" cy="566928"/>
          </a:xfrm>
          <a:prstGeom prst="rect">
            <a:avLst/>
          </a:prstGeom>
          <a:noFill/>
        </p:spPr>
        <p:txBody>
          <a:bodyPr wrap="square" anchor="t" lIns="45720" rIns="45720" tIns="18288" bIns="18288">
            <a:spAutoFit/>
          </a:bodyPr>
          <a:lstStyle/>
          <a:p>
            <a:pPr algn="l">
              <a:lnSpc>
                <a:spcPct val="100000"/>
              </a:lnSpc>
              <a:spcAft>
                <a:spcPts val="100"/>
              </a:spcAft>
            </a:pPr>
            <a:r>
              <a:rPr sz="1100" b="1" i="0">
                <a:solidFill>
                  <a:srgbClr val="087F5B"/>
                </a:solidFill>
                <a:latin typeface="Calibri"/>
              </a:rPr>
              <a:t>1  </a:t>
            </a:r>
            <a:r>
              <a:rPr sz="800" b="1" i="0">
                <a:solidFill>
                  <a:srgbClr val="212529"/>
                </a:solidFill>
                <a:latin typeface="Calibri"/>
              </a:rPr>
              <a:t>Énergie</a:t>
            </a:r>
          </a:p>
          <a:p>
            <a:pPr algn="l">
              <a:lnSpc>
                <a:spcPct val="100000"/>
              </a:lnSpc>
              <a:spcAft>
                <a:spcPts val="100"/>
              </a:spcAft>
            </a:pPr>
            <a:r>
              <a:rPr sz="700" b="0" i="0">
                <a:solidFill>
                  <a:srgbClr val="495057"/>
                </a:solidFill>
                <a:latin typeface="Calibri"/>
              </a:rPr>
              <a:t>consommation estimée &gt; 200 W</a:t>
            </a:r>
          </a:p>
        </p:txBody>
      </p:sp>
      <p:cxnSp>
        <p:nvCxnSpPr>
          <p:cNvPr id="51" name="Connector 50"/>
          <p:cNvCxnSpPr/>
          <p:nvPr/>
        </p:nvCxnSpPr>
        <p:spPr>
          <a:xfrm flipH="1">
            <a:off x="4572000" y="3145536"/>
            <a:ext cx="3127248" cy="237744"/>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3291840" y="3383280"/>
            <a:ext cx="2560320" cy="365760"/>
          </a:xfrm>
          <a:prstGeom prst="roundRect">
            <a:avLst>
              <a:gd name="adj" fmla="val 10000"/>
            </a:avLst>
          </a:prstGeom>
          <a:solidFill>
            <a:srgbClr val="9239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291840" y="3383280"/>
            <a:ext cx="2560320" cy="365760"/>
          </a:xfrm>
          <a:prstGeom prst="rect">
            <a:avLst/>
          </a:prstGeom>
          <a:noFill/>
        </p:spPr>
        <p:txBody>
          <a:bodyPr wrap="square" anchor="ctr" lIns="45720" rIns="45720" tIns="18288" bIns="18288">
            <a:spAutoFit/>
          </a:bodyPr>
          <a:lstStyle/>
          <a:p>
            <a:pPr algn="ctr">
              <a:lnSpc>
                <a:spcPct val="98000"/>
              </a:lnSpc>
            </a:pPr>
            <a:r>
              <a:rPr sz="850" b="1" i="0">
                <a:solidFill>
                  <a:srgbClr val="FFFFFF"/>
                </a:solidFill>
                <a:latin typeface="Calibri"/>
              </a:rPr>
              <a:t>Alertmanager  ·  routage et regroupement</a:t>
            </a:r>
          </a:p>
        </p:txBody>
      </p:sp>
      <p:cxnSp>
        <p:nvCxnSpPr>
          <p:cNvPr id="54" name="Connector 53"/>
          <p:cNvCxnSpPr/>
          <p:nvPr/>
        </p:nvCxnSpPr>
        <p:spPr>
          <a:xfrm flipH="1">
            <a:off x="3337560" y="3749039"/>
            <a:ext cx="1234440" cy="201169"/>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55" name="Rounded Rectangle 54"/>
          <p:cNvSpPr/>
          <p:nvPr/>
        </p:nvSpPr>
        <p:spPr>
          <a:xfrm>
            <a:off x="2651760" y="3950208"/>
            <a:ext cx="1371600" cy="384048"/>
          </a:xfrm>
          <a:prstGeom prst="roundRect">
            <a:avLst>
              <a:gd name="adj" fmla="val 10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97479" y="3986784"/>
            <a:ext cx="1280160" cy="310896"/>
          </a:xfrm>
          <a:prstGeom prst="rect">
            <a:avLst/>
          </a:prstGeom>
          <a:noFill/>
        </p:spPr>
        <p:txBody>
          <a:bodyPr wrap="square" anchor="ctr" lIns="45720" rIns="45720" tIns="18288" bIns="18288">
            <a:spAutoFit/>
          </a:bodyPr>
          <a:lstStyle/>
          <a:p>
            <a:pPr algn="ctr">
              <a:lnSpc>
                <a:spcPct val="100000"/>
              </a:lnSpc>
            </a:pPr>
            <a:r>
              <a:rPr sz="800" b="1" i="0">
                <a:solidFill>
                  <a:srgbClr val="2B8A3E"/>
                </a:solidFill>
                <a:latin typeface="Calibri"/>
              </a:rPr>
              <a:t>Courriel</a:t>
            </a:r>
          </a:p>
          <a:p>
            <a:pPr algn="ctr">
              <a:lnSpc>
                <a:spcPct val="100000"/>
              </a:lnSpc>
            </a:pPr>
            <a:r>
              <a:rPr sz="650" b="0" i="0">
                <a:solidFill>
                  <a:srgbClr val="8ABF95"/>
                </a:solidFill>
                <a:latin typeface="Calibri"/>
              </a:rPr>
              <a:t>SMTP authentifié</a:t>
            </a:r>
          </a:p>
        </p:txBody>
      </p:sp>
      <p:cxnSp>
        <p:nvCxnSpPr>
          <p:cNvPr id="57" name="Connector 56"/>
          <p:cNvCxnSpPr/>
          <p:nvPr/>
        </p:nvCxnSpPr>
        <p:spPr>
          <a:xfrm>
            <a:off x="4572000" y="3749039"/>
            <a:ext cx="1143000" cy="201169"/>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029200" y="3950208"/>
            <a:ext cx="1371600" cy="384048"/>
          </a:xfrm>
          <a:prstGeom prst="roundRect">
            <a:avLst>
              <a:gd name="adj" fmla="val 10000"/>
            </a:avLst>
          </a:prstGeom>
          <a:solidFill>
            <a:srgbClr val="E6F1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74920" y="3986784"/>
            <a:ext cx="1280160" cy="310896"/>
          </a:xfrm>
          <a:prstGeom prst="rect">
            <a:avLst/>
          </a:prstGeom>
          <a:noFill/>
        </p:spPr>
        <p:txBody>
          <a:bodyPr wrap="square" anchor="ctr" lIns="45720" rIns="45720" tIns="18288" bIns="18288">
            <a:spAutoFit/>
          </a:bodyPr>
          <a:lstStyle/>
          <a:p>
            <a:pPr algn="ctr">
              <a:lnSpc>
                <a:spcPct val="100000"/>
              </a:lnSpc>
            </a:pPr>
            <a:r>
              <a:rPr sz="800" b="1" i="0">
                <a:solidFill>
                  <a:srgbClr val="2B8A3E"/>
                </a:solidFill>
                <a:latin typeface="Calibri"/>
              </a:rPr>
              <a:t>Slack</a:t>
            </a:r>
          </a:p>
          <a:p>
            <a:pPr algn="ctr">
              <a:lnSpc>
                <a:spcPct val="100000"/>
              </a:lnSpc>
            </a:pPr>
            <a:r>
              <a:rPr sz="650" b="0" i="0">
                <a:solidFill>
                  <a:srgbClr val="8ABF95"/>
                </a:solidFill>
                <a:latin typeface="Calibri"/>
              </a:rPr>
              <a:t>webhook</a:t>
            </a:r>
          </a:p>
        </p:txBody>
      </p:sp>
      <p:sp>
        <p:nvSpPr>
          <p:cNvPr id="60" name="Rounded Rectangle 59"/>
          <p:cNvSpPr/>
          <p:nvPr/>
        </p:nvSpPr>
        <p:spPr>
          <a:xfrm>
            <a:off x="6629400" y="3895344"/>
            <a:ext cx="2057400" cy="493776"/>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629400" y="3895344"/>
            <a:ext cx="64008" cy="493776"/>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793992" y="3895344"/>
            <a:ext cx="1828800" cy="493776"/>
          </a:xfrm>
          <a:prstGeom prst="rect">
            <a:avLst/>
          </a:prstGeom>
          <a:noFill/>
        </p:spPr>
        <p:txBody>
          <a:bodyPr wrap="square" anchor="ctr" lIns="45720" rIns="45720" tIns="18288" bIns="18288">
            <a:spAutoFit/>
          </a:bodyPr>
          <a:lstStyle/>
          <a:p>
            <a:pPr algn="l">
              <a:lnSpc>
                <a:spcPct val="105000"/>
              </a:lnSpc>
            </a:pPr>
            <a:r>
              <a:rPr sz="750" b="1" i="0">
                <a:solidFill>
                  <a:srgbClr val="C2410C"/>
                </a:solidFill>
                <a:latin typeface="Calibri"/>
              </a:rPr>
              <a:t>Tout provisionné par code, </a:t>
            </a:r>
            <a:r>
              <a:rPr sz="750" b="0" i="0">
                <a:solidFill>
                  <a:srgbClr val="495057"/>
                </a:solidFill>
                <a:latin typeface="Calibri"/>
              </a:rPr>
              <a:t>rien n’est cliqué dans Grafana.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Green IT et optimisation par IA</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24 / 30</a:t>
            </a:r>
          </a:p>
        </p:txBody>
      </p:sp>
      <p:sp>
        <p:nvSpPr>
          <p:cNvPr id="13" name="Rounded Rectangle 12"/>
          <p:cNvSpPr/>
          <p:nvPr/>
        </p:nvSpPr>
        <p:spPr>
          <a:xfrm>
            <a:off x="457200" y="4818888"/>
            <a:ext cx="1408176"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408176"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C31 · C3 · C23</a:t>
            </a:r>
          </a:p>
        </p:txBody>
      </p:sp>
      <p:sp>
        <p:nvSpPr>
          <p:cNvPr id="15" name="TextBox 14"/>
          <p:cNvSpPr txBox="1"/>
          <p:nvPr/>
        </p:nvSpPr>
        <p:spPr>
          <a:xfrm>
            <a:off x="1956816"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BC3, BC4C · mémoire 11.1.4, 17.4 · annexe P</a:t>
            </a:r>
          </a:p>
        </p:txBody>
      </p:sp>
      <p:sp>
        <p:nvSpPr>
          <p:cNvPr id="16" name="Rounded Rectangle 15"/>
          <p:cNvSpPr/>
          <p:nvPr/>
        </p:nvSpPr>
        <p:spPr>
          <a:xfrm>
            <a:off x="457200" y="1280160"/>
            <a:ext cx="8229600" cy="457200"/>
          </a:xfrm>
          <a:prstGeom prst="roundRect">
            <a:avLst>
              <a:gd name="adj" fmla="val 8000"/>
            </a:avLst>
          </a:prstGeom>
          <a:solidFill>
            <a:srgbClr val="FA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1280160"/>
            <a:ext cx="7863840" cy="457200"/>
          </a:xfrm>
          <a:prstGeom prst="rect">
            <a:avLst/>
          </a:prstGeom>
          <a:noFill/>
        </p:spPr>
        <p:txBody>
          <a:bodyPr wrap="square" anchor="ctr" lIns="45720" rIns="45720" tIns="18288" bIns="18288">
            <a:spAutoFit/>
          </a:bodyPr>
          <a:lstStyle/>
          <a:p>
            <a:pPr algn="l">
              <a:lnSpc>
                <a:spcPct val="100000"/>
              </a:lnSpc>
            </a:pPr>
            <a:r>
              <a:rPr sz="900" b="1" i="0">
                <a:solidFill>
                  <a:srgbClr val="C92A2A"/>
                </a:solidFill>
                <a:latin typeface="Calibri"/>
              </a:rPr>
              <a:t>Le problème   </a:t>
            </a:r>
            <a:r>
              <a:rPr sz="850" b="0" i="0">
                <a:solidFill>
                  <a:srgbClr val="212529"/>
                </a:solidFill>
                <a:latin typeface="Calibri"/>
              </a:rPr>
              <a:t>les compteurs matériels RAPL ne sont pas exposés dans une machine virtuelle louée. La mesure directe est impossible.</a:t>
            </a:r>
          </a:p>
        </p:txBody>
      </p:sp>
      <p:sp>
        <p:nvSpPr>
          <p:cNvPr id="18" name="Rounded Rectangle 17"/>
          <p:cNvSpPr/>
          <p:nvPr/>
        </p:nvSpPr>
        <p:spPr>
          <a:xfrm>
            <a:off x="457200" y="1847088"/>
            <a:ext cx="8229600" cy="512064"/>
          </a:xfrm>
          <a:prstGeom prst="roundRect">
            <a:avLst>
              <a:gd name="adj" fmla="val 8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1847088"/>
            <a:ext cx="64008" cy="512064"/>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1847088"/>
            <a:ext cx="7808975" cy="512064"/>
          </a:xfrm>
          <a:prstGeom prst="rect">
            <a:avLst/>
          </a:prstGeom>
          <a:noFill/>
        </p:spPr>
        <p:txBody>
          <a:bodyPr wrap="square" anchor="ctr" lIns="45720" rIns="45720" tIns="18288" bIns="18288">
            <a:spAutoFit/>
          </a:bodyPr>
          <a:lstStyle/>
          <a:p>
            <a:pPr algn="l">
              <a:lnSpc>
                <a:spcPct val="100000"/>
              </a:lnSpc>
            </a:pPr>
            <a:r>
              <a:rPr sz="900" b="1" i="0">
                <a:solidFill>
                  <a:srgbClr val="C2410C"/>
                </a:solidFill>
                <a:latin typeface="Calibri"/>
              </a:rPr>
              <a:t>La réponse assumée   </a:t>
            </a:r>
            <a:r>
              <a:rPr sz="1000" b="1" i="0">
                <a:solidFill>
                  <a:srgbClr val="212529"/>
                </a:solidFill>
                <a:latin typeface="Calibri"/>
              </a:rPr>
              <a:t>P(nœud) = nb_vCPU × ( P_idle + (P_max − P_idle) × utilisation )</a:t>
            </a:r>
            <a:r>
              <a:rPr sz="800" b="0" i="0">
                <a:solidFill>
                  <a:srgbClr val="495057"/>
                </a:solidFill>
                <a:latin typeface="Calibri"/>
              </a:rPr>
              <a:t>   P_idle 1,5 W · P_max 6 W par vCPU · cadres RGESN et GreenIT</a:t>
            </a:r>
          </a:p>
        </p:txBody>
      </p:sp>
      <p:sp>
        <p:nvSpPr>
          <p:cNvPr id="21" name="Rounded Rectangle 20"/>
          <p:cNvSpPr/>
          <p:nvPr/>
        </p:nvSpPr>
        <p:spPr>
          <a:xfrm>
            <a:off x="457200" y="2487168"/>
            <a:ext cx="1975104"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542032"/>
            <a:ext cx="1975104" cy="731520"/>
          </a:xfrm>
          <a:prstGeom prst="rect">
            <a:avLst/>
          </a:prstGeom>
          <a:noFill/>
        </p:spPr>
        <p:txBody>
          <a:bodyPr wrap="square" anchor="t" lIns="45720" rIns="45720" tIns="18288" bIns="18288">
            <a:spAutoFit/>
          </a:bodyPr>
          <a:lstStyle/>
          <a:p>
            <a:pPr algn="ctr">
              <a:lnSpc>
                <a:spcPct val="100000"/>
              </a:lnSpc>
              <a:spcAft>
                <a:spcPts val="100"/>
              </a:spcAft>
            </a:pPr>
            <a:r>
              <a:rPr sz="1500" b="1" i="0">
                <a:solidFill>
                  <a:srgbClr val="212529"/>
                </a:solidFill>
                <a:latin typeface="Calibri"/>
              </a:rPr>
              <a:t>W</a:t>
            </a:r>
          </a:p>
          <a:p>
            <a:pPr algn="ctr">
              <a:lnSpc>
                <a:spcPct val="100000"/>
              </a:lnSpc>
              <a:spcAft>
                <a:spcPts val="100"/>
              </a:spcAft>
            </a:pPr>
            <a:r>
              <a:rPr sz="700" b="1" i="0">
                <a:solidFill>
                  <a:srgbClr val="087F5B"/>
                </a:solidFill>
                <a:latin typeface="Calibri"/>
              </a:rPr>
              <a:t>PUISSANCE PAR NŒUD</a:t>
            </a:r>
          </a:p>
          <a:p>
            <a:pPr algn="ctr">
              <a:lnSpc>
                <a:spcPct val="100000"/>
              </a:lnSpc>
              <a:spcAft>
                <a:spcPts val="100"/>
              </a:spcAft>
            </a:pPr>
            <a:r>
              <a:rPr sz="700" b="0" i="0">
                <a:solidFill>
                  <a:srgbClr val="495057"/>
                </a:solidFill>
                <a:latin typeface="Calibri"/>
              </a:rPr>
              <a:t>règle Prometheus</a:t>
            </a:r>
          </a:p>
        </p:txBody>
      </p:sp>
      <p:sp>
        <p:nvSpPr>
          <p:cNvPr id="23" name="Rounded Rectangle 22"/>
          <p:cNvSpPr/>
          <p:nvPr/>
        </p:nvSpPr>
        <p:spPr>
          <a:xfrm>
            <a:off x="2542032" y="2487168"/>
            <a:ext cx="1975104"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42032" y="2542032"/>
            <a:ext cx="1975104" cy="731520"/>
          </a:xfrm>
          <a:prstGeom prst="rect">
            <a:avLst/>
          </a:prstGeom>
          <a:noFill/>
        </p:spPr>
        <p:txBody>
          <a:bodyPr wrap="square" anchor="t" lIns="45720" rIns="45720" tIns="18288" bIns="18288">
            <a:spAutoFit/>
          </a:bodyPr>
          <a:lstStyle/>
          <a:p>
            <a:pPr algn="ctr">
              <a:lnSpc>
                <a:spcPct val="100000"/>
              </a:lnSpc>
              <a:spcAft>
                <a:spcPts val="100"/>
              </a:spcAft>
            </a:pPr>
            <a:r>
              <a:rPr sz="1500" b="1" i="0">
                <a:solidFill>
                  <a:srgbClr val="212529"/>
                </a:solidFill>
                <a:latin typeface="Calibri"/>
              </a:rPr>
              <a:t>kWh/j</a:t>
            </a:r>
          </a:p>
          <a:p>
            <a:pPr algn="ctr">
              <a:lnSpc>
                <a:spcPct val="100000"/>
              </a:lnSpc>
              <a:spcAft>
                <a:spcPts val="100"/>
              </a:spcAft>
            </a:pPr>
            <a:r>
              <a:rPr sz="700" b="1" i="0">
                <a:solidFill>
                  <a:srgbClr val="087F5B"/>
                </a:solidFill>
                <a:latin typeface="Calibri"/>
              </a:rPr>
              <a:t>ÉNERGIE DU CLUSTER</a:t>
            </a:r>
          </a:p>
          <a:p>
            <a:pPr algn="ctr">
              <a:lnSpc>
                <a:spcPct val="100000"/>
              </a:lnSpc>
              <a:spcAft>
                <a:spcPts val="100"/>
              </a:spcAft>
            </a:pPr>
            <a:r>
              <a:rPr sz="700" b="0" i="0">
                <a:solidFill>
                  <a:srgbClr val="495057"/>
                </a:solidFill>
                <a:latin typeface="Calibri"/>
              </a:rPr>
              <a:t>agrégée et projetée</a:t>
            </a:r>
          </a:p>
        </p:txBody>
      </p:sp>
      <p:sp>
        <p:nvSpPr>
          <p:cNvPr id="25" name="Rounded Rectangle 24"/>
          <p:cNvSpPr/>
          <p:nvPr/>
        </p:nvSpPr>
        <p:spPr>
          <a:xfrm>
            <a:off x="4626864" y="2487168"/>
            <a:ext cx="1975104"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6864" y="2542032"/>
            <a:ext cx="1975104" cy="731520"/>
          </a:xfrm>
          <a:prstGeom prst="rect">
            <a:avLst/>
          </a:prstGeom>
          <a:noFill/>
        </p:spPr>
        <p:txBody>
          <a:bodyPr wrap="square" anchor="t" lIns="45720" rIns="45720" tIns="18288" bIns="18288">
            <a:spAutoFit/>
          </a:bodyPr>
          <a:lstStyle/>
          <a:p>
            <a:pPr algn="ctr">
              <a:lnSpc>
                <a:spcPct val="100000"/>
              </a:lnSpc>
              <a:spcAft>
                <a:spcPts val="100"/>
              </a:spcAft>
            </a:pPr>
            <a:r>
              <a:rPr sz="1500" b="1" i="0">
                <a:solidFill>
                  <a:srgbClr val="212529"/>
                </a:solidFill>
                <a:latin typeface="Calibri"/>
              </a:rPr>
              <a:t>gCO₂</a:t>
            </a:r>
          </a:p>
          <a:p>
            <a:pPr algn="ctr">
              <a:lnSpc>
                <a:spcPct val="100000"/>
              </a:lnSpc>
              <a:spcAft>
                <a:spcPts val="100"/>
              </a:spcAft>
            </a:pPr>
            <a:r>
              <a:rPr sz="700" b="1" i="0">
                <a:solidFill>
                  <a:srgbClr val="087F5B"/>
                </a:solidFill>
                <a:latin typeface="Calibri"/>
              </a:rPr>
              <a:t>EMPREINTE</a:t>
            </a:r>
          </a:p>
          <a:p>
            <a:pPr algn="ctr">
              <a:lnSpc>
                <a:spcPct val="100000"/>
              </a:lnSpc>
              <a:spcAft>
                <a:spcPts val="100"/>
              </a:spcAft>
            </a:pPr>
            <a:r>
              <a:rPr sz="700" b="0" i="0">
                <a:solidFill>
                  <a:srgbClr val="495057"/>
                </a:solidFill>
                <a:latin typeface="Calibri"/>
              </a:rPr>
              <a:t>380 gCO₂eq / kWh</a:t>
            </a:r>
          </a:p>
        </p:txBody>
      </p:sp>
      <p:sp>
        <p:nvSpPr>
          <p:cNvPr id="27" name="Rounded Rectangle 26"/>
          <p:cNvSpPr/>
          <p:nvPr/>
        </p:nvSpPr>
        <p:spPr>
          <a:xfrm>
            <a:off x="6711696" y="2487168"/>
            <a:ext cx="1975104" cy="822960"/>
          </a:xfrm>
          <a:prstGeom prst="roundRect">
            <a:avLst>
              <a:gd name="adj" fmla="val 8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11696" y="2542032"/>
            <a:ext cx="1975104" cy="731520"/>
          </a:xfrm>
          <a:prstGeom prst="rect">
            <a:avLst/>
          </a:prstGeom>
          <a:noFill/>
        </p:spPr>
        <p:txBody>
          <a:bodyPr wrap="square" anchor="t" lIns="45720" rIns="45720" tIns="18288" bIns="18288">
            <a:spAutoFit/>
          </a:bodyPr>
          <a:lstStyle/>
          <a:p>
            <a:pPr algn="ctr">
              <a:lnSpc>
                <a:spcPct val="100000"/>
              </a:lnSpc>
              <a:spcAft>
                <a:spcPts val="100"/>
              </a:spcAft>
            </a:pPr>
            <a:r>
              <a:rPr sz="1500" b="1" i="0">
                <a:solidFill>
                  <a:srgbClr val="212529"/>
                </a:solidFill>
                <a:latin typeface="Calibri"/>
              </a:rPr>
              <a:t>200 W</a:t>
            </a:r>
          </a:p>
          <a:p>
            <a:pPr algn="ctr">
              <a:lnSpc>
                <a:spcPct val="100000"/>
              </a:lnSpc>
              <a:spcAft>
                <a:spcPts val="100"/>
              </a:spcAft>
            </a:pPr>
            <a:r>
              <a:rPr sz="700" b="1" i="0">
                <a:solidFill>
                  <a:srgbClr val="C92A2A"/>
                </a:solidFill>
                <a:latin typeface="Calibri"/>
              </a:rPr>
              <a:t>SEUIL D’ALERTE</a:t>
            </a:r>
          </a:p>
          <a:p>
            <a:pPr algn="ctr">
              <a:lnSpc>
                <a:spcPct val="100000"/>
              </a:lnSpc>
              <a:spcAft>
                <a:spcPts val="100"/>
              </a:spcAft>
            </a:pPr>
            <a:r>
              <a:rPr sz="700" b="0" i="0">
                <a:solidFill>
                  <a:srgbClr val="495057"/>
                </a:solidFill>
                <a:latin typeface="Calibri"/>
              </a:rPr>
              <a:t>15 min puis action</a:t>
            </a:r>
          </a:p>
        </p:txBody>
      </p:sp>
      <p:sp>
        <p:nvSpPr>
          <p:cNvPr id="29" name="TextBox 28"/>
          <p:cNvSpPr txBox="1"/>
          <p:nvPr/>
        </p:nvSpPr>
        <p:spPr>
          <a:xfrm>
            <a:off x="457200" y="3438144"/>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LA BOUCLE QUI SE FERME</a:t>
            </a:r>
          </a:p>
        </p:txBody>
      </p:sp>
      <p:sp>
        <p:nvSpPr>
          <p:cNvPr id="30" name="Rounded Rectangle 29"/>
          <p:cNvSpPr/>
          <p:nvPr/>
        </p:nvSpPr>
        <p:spPr>
          <a:xfrm>
            <a:off x="457200" y="3639312"/>
            <a:ext cx="896112" cy="402336"/>
          </a:xfrm>
          <a:prstGeom prst="roundRect">
            <a:avLst>
              <a:gd name="adj" fmla="val 14000"/>
            </a:avLst>
          </a:prstGeom>
          <a:solidFill>
            <a:srgbClr val="DCED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3639312"/>
            <a:ext cx="896112" cy="402336"/>
          </a:xfrm>
          <a:prstGeom prst="rect">
            <a:avLst/>
          </a:prstGeom>
          <a:noFill/>
        </p:spPr>
        <p:txBody>
          <a:bodyPr wrap="square" anchor="ctr" lIns="45720" rIns="45720" tIns="18288" bIns="18288">
            <a:spAutoFit/>
          </a:bodyPr>
          <a:lstStyle/>
          <a:p>
            <a:pPr algn="ctr">
              <a:lnSpc>
                <a:spcPct val="98000"/>
              </a:lnSpc>
            </a:pPr>
            <a:r>
              <a:rPr sz="750" b="1" i="0">
                <a:solidFill>
                  <a:srgbClr val="087F5B"/>
                </a:solidFill>
                <a:latin typeface="Calibri"/>
              </a:rPr>
              <a:t>mesurer</a:t>
            </a:r>
          </a:p>
        </p:txBody>
      </p:sp>
      <p:sp>
        <p:nvSpPr>
          <p:cNvPr id="32" name="Right Arrow 31"/>
          <p:cNvSpPr/>
          <p:nvPr/>
        </p:nvSpPr>
        <p:spPr>
          <a:xfrm>
            <a:off x="1353312" y="3796954"/>
            <a:ext cx="128016" cy="87050"/>
          </a:xfrm>
          <a:prstGeom prst="right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481328" y="3639312"/>
            <a:ext cx="896112" cy="402336"/>
          </a:xfrm>
          <a:prstGeom prst="roundRect">
            <a:avLst>
              <a:gd name="adj" fmla="val 14000"/>
            </a:avLst>
          </a:prstGeom>
          <a:solidFill>
            <a:srgbClr val="F7E1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81328" y="3639312"/>
            <a:ext cx="896112" cy="402336"/>
          </a:xfrm>
          <a:prstGeom prst="rect">
            <a:avLst/>
          </a:prstGeom>
          <a:noFill/>
        </p:spPr>
        <p:txBody>
          <a:bodyPr wrap="square" anchor="ctr" lIns="45720" rIns="45720" tIns="18288" bIns="18288">
            <a:spAutoFit/>
          </a:bodyPr>
          <a:lstStyle/>
          <a:p>
            <a:pPr algn="ctr">
              <a:lnSpc>
                <a:spcPct val="98000"/>
              </a:lnSpc>
            </a:pPr>
            <a:r>
              <a:rPr sz="750" b="1" i="0">
                <a:solidFill>
                  <a:srgbClr val="C92A2A"/>
                </a:solidFill>
                <a:latin typeface="Calibri"/>
              </a:rPr>
              <a:t>alerter</a:t>
            </a:r>
          </a:p>
        </p:txBody>
      </p:sp>
      <p:sp>
        <p:nvSpPr>
          <p:cNvPr id="35" name="Right Arrow 34"/>
          <p:cNvSpPr/>
          <p:nvPr/>
        </p:nvSpPr>
        <p:spPr>
          <a:xfrm>
            <a:off x="2377440" y="3796954"/>
            <a:ext cx="128016" cy="87050"/>
          </a:xfrm>
          <a:prstGeom prst="right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505456" y="3639312"/>
            <a:ext cx="896112" cy="402336"/>
          </a:xfrm>
          <a:prstGeom prst="roundRect">
            <a:avLst>
              <a:gd name="adj" fmla="val 14000"/>
            </a:avLst>
          </a:prstGeom>
          <a:solidFill>
            <a:srgbClr val="F6E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05456" y="3639312"/>
            <a:ext cx="896112" cy="402336"/>
          </a:xfrm>
          <a:prstGeom prst="rect">
            <a:avLst/>
          </a:prstGeom>
          <a:noFill/>
        </p:spPr>
        <p:txBody>
          <a:bodyPr wrap="square" anchor="ctr" lIns="45720" rIns="45720" tIns="18288" bIns="18288">
            <a:spAutoFit/>
          </a:bodyPr>
          <a:lstStyle/>
          <a:p>
            <a:pPr algn="ctr">
              <a:lnSpc>
                <a:spcPct val="98000"/>
              </a:lnSpc>
            </a:pPr>
            <a:r>
              <a:rPr sz="750" b="1" i="0">
                <a:solidFill>
                  <a:srgbClr val="C2410C"/>
                </a:solidFill>
                <a:latin typeface="Calibri"/>
              </a:rPr>
              <a:t>analyser par IA</a:t>
            </a:r>
          </a:p>
        </p:txBody>
      </p:sp>
      <p:sp>
        <p:nvSpPr>
          <p:cNvPr id="38" name="Right Arrow 37"/>
          <p:cNvSpPr/>
          <p:nvPr/>
        </p:nvSpPr>
        <p:spPr>
          <a:xfrm>
            <a:off x="3401568" y="3796954"/>
            <a:ext cx="128016" cy="87050"/>
          </a:xfrm>
          <a:prstGeom prst="rightArrow">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529584" y="3639312"/>
            <a:ext cx="896112" cy="402336"/>
          </a:xfrm>
          <a:prstGeom prst="roundRect">
            <a:avLst>
              <a:gd name="adj" fmla="val 14000"/>
            </a:avLst>
          </a:prstGeom>
          <a:solidFill>
            <a:srgbClr val="E1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29584" y="3639312"/>
            <a:ext cx="896112" cy="402336"/>
          </a:xfrm>
          <a:prstGeom prst="rect">
            <a:avLst/>
          </a:prstGeom>
          <a:noFill/>
        </p:spPr>
        <p:txBody>
          <a:bodyPr wrap="square" anchor="ctr" lIns="45720" rIns="45720" tIns="18288" bIns="18288">
            <a:spAutoFit/>
          </a:bodyPr>
          <a:lstStyle/>
          <a:p>
            <a:pPr algn="ctr">
              <a:lnSpc>
                <a:spcPct val="98000"/>
              </a:lnSpc>
            </a:pPr>
            <a:r>
              <a:rPr sz="750" b="1" i="0">
                <a:solidFill>
                  <a:srgbClr val="2B8A3E"/>
                </a:solidFill>
                <a:latin typeface="Calibri"/>
              </a:rPr>
              <a:t>optimiser</a:t>
            </a:r>
          </a:p>
        </p:txBody>
      </p:sp>
      <p:cxnSp>
        <p:nvCxnSpPr>
          <p:cNvPr id="41" name="Connector 40"/>
          <p:cNvCxnSpPr/>
          <p:nvPr/>
        </p:nvCxnSpPr>
        <p:spPr>
          <a:xfrm>
            <a:off x="905256" y="4096512"/>
            <a:ext cx="0" cy="18288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05256" y="4279392"/>
            <a:ext cx="3081528" cy="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986784" y="4096512"/>
            <a:ext cx="0" cy="182880"/>
          </a:xfrm>
          <a:prstGeom prst="line">
            <a:avLst/>
          </a:prstGeom>
          <a:ln w="12700">
            <a:solidFill>
              <a:srgbClr val="DEE2E6"/>
            </a:solidFill>
            <a:tailEnd type="triangle" w="sm" len="sm"/>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709160" y="3419856"/>
            <a:ext cx="3977639" cy="1298448"/>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709160" y="3419856"/>
            <a:ext cx="64008" cy="12984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92040" y="3493008"/>
            <a:ext cx="3703320" cy="1170432"/>
          </a:xfrm>
          <a:prstGeom prst="rect">
            <a:avLst/>
          </a:prstGeom>
          <a:noFill/>
        </p:spPr>
        <p:txBody>
          <a:bodyPr wrap="square" anchor="t" lIns="45720" rIns="45720" tIns="18288" bIns="18288">
            <a:spAutoFit/>
          </a:bodyPr>
          <a:lstStyle/>
          <a:p>
            <a:pPr algn="l">
              <a:lnSpc>
                <a:spcPct val="105000"/>
              </a:lnSpc>
              <a:spcAft>
                <a:spcPts val="200"/>
              </a:spcAft>
            </a:pPr>
            <a:r>
              <a:rPr sz="950" b="1" i="0">
                <a:solidFill>
                  <a:srgbClr val="C2410C"/>
                </a:solidFill>
                <a:latin typeface="Calibri"/>
              </a:rPr>
              <a:t>ai-rightsizing</a:t>
            </a:r>
          </a:p>
          <a:p>
            <a:pPr algn="l">
              <a:lnSpc>
                <a:spcPct val="105000"/>
              </a:lnSpc>
              <a:spcAft>
                <a:spcPts val="200"/>
              </a:spcAft>
            </a:pPr>
            <a:r>
              <a:rPr sz="800" b="0" i="0">
                <a:solidFill>
                  <a:srgbClr val="495057"/>
                </a:solidFill>
                <a:latin typeface="Calibri"/>
              </a:rPr>
              <a:t>Un workflow soumet les séries de consommation à un modèle Claude, qui propose au plus cinq optimisations chiffrées. L’ingénieur valide avant application.</a:t>
            </a:r>
          </a:p>
          <a:p>
            <a:pPr algn="l">
              <a:lnSpc>
                <a:spcPct val="105000"/>
              </a:lnSpc>
              <a:spcAft>
                <a:spcPts val="200"/>
              </a:spcAft>
            </a:pPr>
            <a:r>
              <a:rPr sz="800" b="1" i="0">
                <a:solidFill>
                  <a:srgbClr val="212529"/>
                </a:solidFill>
                <a:latin typeface="Calibri"/>
              </a:rPr>
              <a:t>L’IA sert à optimiser les ressources, exigence du bloc option.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C2410C"/>
                </a:solidFill>
                <a:latin typeface="Calibri"/>
              </a:rPr>
              <a:t>5 · OPTION DEVOPS</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200" b="1" i="0">
                <a:solidFill>
                  <a:srgbClr val="212529"/>
                </a:solidFill>
                <a:latin typeface="Calibri"/>
              </a:rPr>
              <a:t>Documentation et amélioration continue</a:t>
            </a:r>
          </a:p>
        </p:txBody>
      </p:sp>
      <p:sp>
        <p:nvSpPr>
          <p:cNvPr id="11" name="Rectangle 10"/>
          <p:cNvSpPr/>
          <p:nvPr/>
        </p:nvSpPr>
        <p:spPr>
          <a:xfrm>
            <a:off x="475488" y="1069848"/>
            <a:ext cx="1051560" cy="4114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25 / 30</a:t>
            </a:r>
          </a:p>
        </p:txBody>
      </p:sp>
      <p:sp>
        <p:nvSpPr>
          <p:cNvPr id="13" name="Rounded Rectangle 12"/>
          <p:cNvSpPr/>
          <p:nvPr/>
        </p:nvSpPr>
        <p:spPr>
          <a:xfrm>
            <a:off x="457200" y="4818888"/>
            <a:ext cx="1408176" cy="228600"/>
          </a:xfrm>
          <a:prstGeom prst="roundRect">
            <a:avLst>
              <a:gd name="adj" fmla="val 5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408176"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 · C20 · C28</a:t>
            </a:r>
          </a:p>
        </p:txBody>
      </p:sp>
      <p:sp>
        <p:nvSpPr>
          <p:cNvPr id="15" name="TextBox 14"/>
          <p:cNvSpPr txBox="1"/>
          <p:nvPr/>
        </p:nvSpPr>
        <p:spPr>
          <a:xfrm>
            <a:off x="1956816"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BC1, BC2, BC4C · mémoire 18.2.2 · docs/wiki, 16 pages</a:t>
            </a:r>
          </a:p>
        </p:txBody>
      </p:sp>
      <p:sp>
        <p:nvSpPr>
          <p:cNvPr id="16" name="TextBox 15"/>
          <p:cNvSpPr txBox="1"/>
          <p:nvPr/>
        </p:nvSpPr>
        <p:spPr>
          <a:xfrm>
            <a:off x="457200" y="1225296"/>
            <a:ext cx="3840480"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TROIS NIVEAUX QUI NE SE RECOUVRENT PAS</a:t>
            </a:r>
          </a:p>
        </p:txBody>
      </p:sp>
      <p:sp>
        <p:nvSpPr>
          <p:cNvPr id="17" name="Rounded Rectangle 16"/>
          <p:cNvSpPr/>
          <p:nvPr/>
        </p:nvSpPr>
        <p:spPr>
          <a:xfrm>
            <a:off x="1371600" y="1444752"/>
            <a:ext cx="2103120" cy="438912"/>
          </a:xfrm>
          <a:prstGeom prst="roundRect">
            <a:avLst>
              <a:gd name="adj" fmla="val 10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1444752"/>
            <a:ext cx="2103120" cy="438912"/>
          </a:xfrm>
          <a:prstGeom prst="rect">
            <a:avLst/>
          </a:prstGeom>
          <a:noFill/>
        </p:spPr>
        <p:txBody>
          <a:bodyPr wrap="square" anchor="ctr" lIns="45720" rIns="45720" tIns="18288" bIns="18288">
            <a:spAutoFit/>
          </a:bodyPr>
          <a:lstStyle/>
          <a:p>
            <a:pPr algn="ctr">
              <a:lnSpc>
                <a:spcPct val="95000"/>
              </a:lnSpc>
            </a:pPr>
            <a:r>
              <a:rPr sz="850" b="1" i="0">
                <a:solidFill>
                  <a:srgbClr val="FFFFFF"/>
                </a:solidFill>
                <a:latin typeface="Calibri"/>
              </a:rPr>
              <a:t>OpenAPI  </a:t>
            </a:r>
            <a:r>
              <a:rPr sz="750" b="0" i="0">
                <a:solidFill>
                  <a:srgbClr val="DD9679"/>
                </a:solidFill>
                <a:latin typeface="Calibri"/>
              </a:rPr>
              <a:t>ce que l’API expose</a:t>
            </a:r>
          </a:p>
        </p:txBody>
      </p:sp>
      <p:sp>
        <p:nvSpPr>
          <p:cNvPr id="19" name="Rounded Rectangle 18"/>
          <p:cNvSpPr/>
          <p:nvPr/>
        </p:nvSpPr>
        <p:spPr>
          <a:xfrm>
            <a:off x="1005840" y="1956816"/>
            <a:ext cx="2834639" cy="438912"/>
          </a:xfrm>
          <a:prstGeom prst="roundRect">
            <a:avLst>
              <a:gd name="adj" fmla="val 10000"/>
            </a:avLst>
          </a:prstGeom>
          <a:solidFill>
            <a:srgbClr val="A53C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1956816"/>
            <a:ext cx="2834639" cy="438912"/>
          </a:xfrm>
          <a:prstGeom prst="rect">
            <a:avLst/>
          </a:prstGeom>
          <a:noFill/>
        </p:spPr>
        <p:txBody>
          <a:bodyPr wrap="square" anchor="ctr" lIns="45720" rIns="45720" tIns="18288" bIns="18288">
            <a:spAutoFit/>
          </a:bodyPr>
          <a:lstStyle/>
          <a:p>
            <a:pPr algn="ctr">
              <a:lnSpc>
                <a:spcPct val="95000"/>
              </a:lnSpc>
            </a:pPr>
            <a:r>
              <a:rPr sz="850" b="1" i="0">
                <a:solidFill>
                  <a:srgbClr val="FFFFFF"/>
                </a:solidFill>
                <a:latin typeface="Calibri"/>
              </a:rPr>
              <a:t>JSDoc  </a:t>
            </a:r>
            <a:r>
              <a:rPr sz="750" b="0" i="0">
                <a:solidFill>
                  <a:srgbClr val="CE947C"/>
                </a:solidFill>
                <a:latin typeface="Calibri"/>
              </a:rPr>
              <a:t>comment chaque route se comporte</a:t>
            </a:r>
          </a:p>
        </p:txBody>
      </p:sp>
      <p:sp>
        <p:nvSpPr>
          <p:cNvPr id="21" name="Rounded Rectangle 20"/>
          <p:cNvSpPr/>
          <p:nvPr/>
        </p:nvSpPr>
        <p:spPr>
          <a:xfrm>
            <a:off x="640080" y="2468880"/>
            <a:ext cx="3566160" cy="438912"/>
          </a:xfrm>
          <a:prstGeom prst="roundRect">
            <a:avLst>
              <a:gd name="adj" fmla="val 10000"/>
            </a:avLst>
          </a:prstGeom>
          <a:solidFill>
            <a:srgbClr val="7E35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468880"/>
            <a:ext cx="3566160" cy="438912"/>
          </a:xfrm>
          <a:prstGeom prst="rect">
            <a:avLst/>
          </a:prstGeom>
          <a:noFill/>
        </p:spPr>
        <p:txBody>
          <a:bodyPr wrap="square" anchor="ctr" lIns="45720" rIns="45720" tIns="18288" bIns="18288">
            <a:spAutoFit/>
          </a:bodyPr>
          <a:lstStyle/>
          <a:p>
            <a:pPr algn="ctr">
              <a:lnSpc>
                <a:spcPct val="95000"/>
              </a:lnSpc>
            </a:pPr>
            <a:r>
              <a:rPr sz="850" b="1" i="0">
                <a:solidFill>
                  <a:srgbClr val="FFFFFF"/>
                </a:solidFill>
                <a:latin typeface="Calibri"/>
              </a:rPr>
              <a:t>Fiches ADR  </a:t>
            </a:r>
            <a:r>
              <a:rPr sz="750" b="0" i="0">
                <a:solidFill>
                  <a:srgbClr val="B89080"/>
                </a:solidFill>
                <a:latin typeface="Calibri"/>
              </a:rPr>
              <a:t>pourquoi les arbitrages ont été retenus</a:t>
            </a:r>
          </a:p>
        </p:txBody>
      </p:sp>
      <p:sp>
        <p:nvSpPr>
          <p:cNvPr id="23" name="TextBox 22"/>
          <p:cNvSpPr txBox="1"/>
          <p:nvPr/>
        </p:nvSpPr>
        <p:spPr>
          <a:xfrm>
            <a:off x="457200" y="2999232"/>
            <a:ext cx="4389120" cy="219456"/>
          </a:xfrm>
          <a:prstGeom prst="rect">
            <a:avLst/>
          </a:prstGeom>
          <a:noFill/>
        </p:spPr>
        <p:txBody>
          <a:bodyPr wrap="square" anchor="t" lIns="45720" rIns="45720" tIns="18288" bIns="18288">
            <a:spAutoFit/>
          </a:bodyPr>
          <a:lstStyle/>
          <a:p>
            <a:pPr algn="l">
              <a:lnSpc>
                <a:spcPct val="100000"/>
              </a:lnSpc>
            </a:pPr>
            <a:r>
              <a:rPr sz="800" b="1" i="0">
                <a:solidFill>
                  <a:srgbClr val="212529"/>
                </a:solidFill>
                <a:latin typeface="Calibri"/>
              </a:rPr>
              <a:t>Le pourquoi est ce qui coûte le plus cher à reconstituer.</a:t>
            </a:r>
          </a:p>
        </p:txBody>
      </p:sp>
      <p:sp>
        <p:nvSpPr>
          <p:cNvPr id="24" name="TextBox 23"/>
          <p:cNvSpPr txBox="1"/>
          <p:nvPr/>
        </p:nvSpPr>
        <p:spPr>
          <a:xfrm>
            <a:off x="4709160" y="1225296"/>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WIKI DE 16 PAGES, ORGANISÉ PAR LECTEUR</a:t>
            </a:r>
          </a:p>
        </p:txBody>
      </p:sp>
      <p:sp>
        <p:nvSpPr>
          <p:cNvPr id="25" name="Rounded Rectangle 24"/>
          <p:cNvSpPr/>
          <p:nvPr/>
        </p:nvSpPr>
        <p:spPr>
          <a:xfrm>
            <a:off x="4709160" y="1444752"/>
            <a:ext cx="3977639" cy="438912"/>
          </a:xfrm>
          <a:prstGeom prst="roundRect">
            <a:avLst>
              <a:gd name="adj" fmla="val 10000"/>
            </a:avLst>
          </a:prstGeom>
          <a:solidFill>
            <a:srgbClr val="F0E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64608" y="1444752"/>
            <a:ext cx="3703320" cy="438912"/>
          </a:xfrm>
          <a:prstGeom prst="rect">
            <a:avLst/>
          </a:prstGeom>
          <a:noFill/>
        </p:spPr>
        <p:txBody>
          <a:bodyPr wrap="square" anchor="ctr" lIns="45720" rIns="45720" tIns="18288" bIns="18288">
            <a:spAutoFit/>
          </a:bodyPr>
          <a:lstStyle/>
          <a:p>
            <a:pPr algn="l">
              <a:lnSpc>
                <a:spcPct val="100000"/>
              </a:lnSpc>
            </a:pPr>
            <a:r>
              <a:rPr sz="850" b="1" i="0">
                <a:solidFill>
                  <a:srgbClr val="6741D9"/>
                </a:solidFill>
                <a:latin typeface="Calibri"/>
              </a:rPr>
              <a:t>Exploitant  </a:t>
            </a:r>
            <a:r>
              <a:rPr sz="750" b="0" i="0">
                <a:solidFill>
                  <a:srgbClr val="495057"/>
                </a:solidFill>
                <a:latin typeface="Calibri"/>
              </a:rPr>
              <a:t>runbooks, procédures de reprise</a:t>
            </a:r>
          </a:p>
        </p:txBody>
      </p:sp>
      <p:sp>
        <p:nvSpPr>
          <p:cNvPr id="27" name="Rounded Rectangle 26"/>
          <p:cNvSpPr/>
          <p:nvPr/>
        </p:nvSpPr>
        <p:spPr>
          <a:xfrm>
            <a:off x="4709160" y="1956816"/>
            <a:ext cx="3977639" cy="438912"/>
          </a:xfrm>
          <a:prstGeom prst="roundRect">
            <a:avLst>
              <a:gd name="adj" fmla="val 10000"/>
            </a:avLst>
          </a:prstGeom>
          <a:solidFill>
            <a:srgbClr val="E8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4608" y="1956816"/>
            <a:ext cx="3703320" cy="438912"/>
          </a:xfrm>
          <a:prstGeom prst="rect">
            <a:avLst/>
          </a:prstGeom>
          <a:noFill/>
        </p:spPr>
        <p:txBody>
          <a:bodyPr wrap="square" anchor="ctr" lIns="45720" rIns="45720" tIns="18288" bIns="18288">
            <a:spAutoFit/>
          </a:bodyPr>
          <a:lstStyle/>
          <a:p>
            <a:pPr algn="l">
              <a:lnSpc>
                <a:spcPct val="100000"/>
              </a:lnSpc>
            </a:pPr>
            <a:r>
              <a:rPr sz="850" b="1" i="0">
                <a:solidFill>
                  <a:srgbClr val="1971C2"/>
                </a:solidFill>
                <a:latin typeface="Calibri"/>
              </a:rPr>
              <a:t>Développeur  </a:t>
            </a:r>
            <a:r>
              <a:rPr sz="750" b="0" i="0">
                <a:solidFill>
                  <a:srgbClr val="495057"/>
                </a:solidFill>
                <a:latin typeface="Calibri"/>
              </a:rPr>
              <a:t>conventions, contrat d’interface</a:t>
            </a:r>
          </a:p>
        </p:txBody>
      </p:sp>
      <p:sp>
        <p:nvSpPr>
          <p:cNvPr id="29" name="Rounded Rectangle 28"/>
          <p:cNvSpPr/>
          <p:nvPr/>
        </p:nvSpPr>
        <p:spPr>
          <a:xfrm>
            <a:off x="4709160" y="2468880"/>
            <a:ext cx="3977639" cy="438912"/>
          </a:xfrm>
          <a:prstGeom prst="roundRect">
            <a:avLst>
              <a:gd name="adj" fmla="val 1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64608" y="2468880"/>
            <a:ext cx="3703320" cy="438912"/>
          </a:xfrm>
          <a:prstGeom prst="rect">
            <a:avLst/>
          </a:prstGeom>
          <a:noFill/>
        </p:spPr>
        <p:txBody>
          <a:bodyPr wrap="square" anchor="ctr" lIns="45720" rIns="45720" tIns="18288" bIns="18288">
            <a:spAutoFit/>
          </a:bodyPr>
          <a:lstStyle/>
          <a:p>
            <a:pPr algn="l">
              <a:lnSpc>
                <a:spcPct val="100000"/>
              </a:lnSpc>
            </a:pPr>
            <a:r>
              <a:rPr sz="850" b="1" i="0">
                <a:solidFill>
                  <a:srgbClr val="2B8A3E"/>
                </a:solidFill>
                <a:latin typeface="Calibri"/>
              </a:rPr>
              <a:t>Décideur  </a:t>
            </a:r>
            <a:r>
              <a:rPr sz="750" b="0" i="0">
                <a:solidFill>
                  <a:srgbClr val="495057"/>
                </a:solidFill>
                <a:latin typeface="Calibri"/>
              </a:rPr>
              <a:t>synthèse des choix et conséquences</a:t>
            </a:r>
          </a:p>
        </p:txBody>
      </p:sp>
      <p:sp>
        <p:nvSpPr>
          <p:cNvPr id="31" name="TextBox 30"/>
          <p:cNvSpPr txBox="1"/>
          <p:nvPr/>
        </p:nvSpPr>
        <p:spPr>
          <a:xfrm>
            <a:off x="4709160" y="2999232"/>
            <a:ext cx="3977639" cy="219456"/>
          </a:xfrm>
          <a:prstGeom prst="rect">
            <a:avLst/>
          </a:prstGeom>
          <a:noFill/>
        </p:spPr>
        <p:txBody>
          <a:bodyPr wrap="square" anchor="t" lIns="45720" rIns="45720" tIns="18288" bIns="18288">
            <a:spAutoFit/>
          </a:bodyPr>
          <a:lstStyle/>
          <a:p>
            <a:pPr algn="l">
              <a:lnSpc>
                <a:spcPct val="100000"/>
              </a:lnSpc>
            </a:pPr>
            <a:r>
              <a:rPr sz="800" b="1" i="0">
                <a:solidFill>
                  <a:srgbClr val="212529"/>
                </a:solidFill>
                <a:latin typeface="Calibri"/>
              </a:rPr>
              <a:t>Markdown structuré, chaque schéma doublé d’une description, WCAG 2.2.</a:t>
            </a:r>
          </a:p>
        </p:txBody>
      </p:sp>
      <p:sp>
        <p:nvSpPr>
          <p:cNvPr id="32" name="TextBox 31"/>
          <p:cNvSpPr txBox="1"/>
          <p:nvPr/>
        </p:nvSpPr>
        <p:spPr>
          <a:xfrm>
            <a:off x="457200" y="3328416"/>
            <a:ext cx="8229600"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PLAN D’AMÉLIORATION CONTINUE, PRIORISÉ PAR VALEUR SUR EFFORT</a:t>
            </a:r>
          </a:p>
        </p:txBody>
      </p:sp>
      <p:sp>
        <p:nvSpPr>
          <p:cNvPr id="33" name="Rounded Rectangle 32"/>
          <p:cNvSpPr/>
          <p:nvPr/>
        </p:nvSpPr>
        <p:spPr>
          <a:xfrm>
            <a:off x="457200" y="3547872"/>
            <a:ext cx="6309360" cy="329184"/>
          </a:xfrm>
          <a:prstGeom prst="roundRect">
            <a:avLst>
              <a:gd name="adj" fmla="val 14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57200" y="3547872"/>
            <a:ext cx="1280160" cy="329184"/>
          </a:xfrm>
          <a:prstGeom prst="roundRect">
            <a:avLst>
              <a:gd name="adj" fmla="val 14000"/>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3547872"/>
            <a:ext cx="1280160" cy="329184"/>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Court terme</a:t>
            </a:r>
          </a:p>
        </p:txBody>
      </p:sp>
      <p:sp>
        <p:nvSpPr>
          <p:cNvPr id="36" name="TextBox 35"/>
          <p:cNvSpPr txBox="1"/>
          <p:nvPr/>
        </p:nvSpPr>
        <p:spPr>
          <a:xfrm>
            <a:off x="1847088" y="3547872"/>
            <a:ext cx="4846320" cy="329184"/>
          </a:xfrm>
          <a:prstGeom prst="rect">
            <a:avLst/>
          </a:prstGeom>
          <a:noFill/>
        </p:spPr>
        <p:txBody>
          <a:bodyPr wrap="square" anchor="ctr" lIns="45720" rIns="45720" tIns="18288" bIns="18288">
            <a:spAutoFit/>
          </a:bodyPr>
          <a:lstStyle/>
          <a:p>
            <a:pPr algn="l">
              <a:lnSpc>
                <a:spcPct val="100000"/>
              </a:lnSpc>
            </a:pPr>
            <a:r>
              <a:rPr sz="750" b="0" i="0">
                <a:solidFill>
                  <a:srgbClr val="495057"/>
                </a:solidFill>
                <a:latin typeface="Calibri"/>
              </a:rPr>
              <a:t>escalade fine des alertes · couverture de tests publiée avec seuil bloquant</a:t>
            </a:r>
          </a:p>
        </p:txBody>
      </p:sp>
      <p:sp>
        <p:nvSpPr>
          <p:cNvPr id="37" name="Rounded Rectangle 36"/>
          <p:cNvSpPr/>
          <p:nvPr/>
        </p:nvSpPr>
        <p:spPr>
          <a:xfrm>
            <a:off x="457200" y="3931920"/>
            <a:ext cx="6309360" cy="329184"/>
          </a:xfrm>
          <a:prstGeom prst="roundRect">
            <a:avLst>
              <a:gd name="adj" fmla="val 14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457200" y="3931920"/>
            <a:ext cx="1280160" cy="329184"/>
          </a:xfrm>
          <a:prstGeom prst="roundRect">
            <a:avLst>
              <a:gd name="adj" fmla="val 14000"/>
            </a:avLst>
          </a:prstGeom>
          <a:solidFill>
            <a:srgbClr val="A53C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3931920"/>
            <a:ext cx="1280160" cy="329184"/>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Moyen terme</a:t>
            </a:r>
          </a:p>
        </p:txBody>
      </p:sp>
      <p:sp>
        <p:nvSpPr>
          <p:cNvPr id="40" name="TextBox 39"/>
          <p:cNvSpPr txBox="1"/>
          <p:nvPr/>
        </p:nvSpPr>
        <p:spPr>
          <a:xfrm>
            <a:off x="1847088" y="3931920"/>
            <a:ext cx="4846320" cy="329184"/>
          </a:xfrm>
          <a:prstGeom prst="rect">
            <a:avLst/>
          </a:prstGeom>
          <a:noFill/>
        </p:spPr>
        <p:txBody>
          <a:bodyPr wrap="square" anchor="ctr" lIns="45720" rIns="45720" tIns="18288" bIns="18288">
            <a:spAutoFit/>
          </a:bodyPr>
          <a:lstStyle/>
          <a:p>
            <a:pPr algn="l">
              <a:lnSpc>
                <a:spcPct val="100000"/>
              </a:lnSpc>
            </a:pPr>
            <a:r>
              <a:rPr sz="750" b="0" i="0">
                <a:solidFill>
                  <a:srgbClr val="495057"/>
                </a:solidFill>
                <a:latin typeface="Calibri"/>
              </a:rPr>
              <a:t>HA supervision · exercice de reprise réel · contrôle d’accessibilité · mesure RAPL</a:t>
            </a:r>
          </a:p>
        </p:txBody>
      </p:sp>
      <p:sp>
        <p:nvSpPr>
          <p:cNvPr id="41" name="Rounded Rectangle 40"/>
          <p:cNvSpPr/>
          <p:nvPr/>
        </p:nvSpPr>
        <p:spPr>
          <a:xfrm>
            <a:off x="457200" y="4315968"/>
            <a:ext cx="6309360" cy="329184"/>
          </a:xfrm>
          <a:prstGeom prst="roundRect">
            <a:avLst>
              <a:gd name="adj" fmla="val 14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 y="4315968"/>
            <a:ext cx="1280160" cy="329184"/>
          </a:xfrm>
          <a:prstGeom prst="roundRect">
            <a:avLst>
              <a:gd name="adj" fmla="val 14000"/>
            </a:avLst>
          </a:prstGeom>
          <a:solidFill>
            <a:srgbClr val="8837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4315968"/>
            <a:ext cx="1280160" cy="329184"/>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Long terme</a:t>
            </a:r>
          </a:p>
        </p:txBody>
      </p:sp>
      <p:sp>
        <p:nvSpPr>
          <p:cNvPr id="44" name="TextBox 43"/>
          <p:cNvSpPr txBox="1"/>
          <p:nvPr/>
        </p:nvSpPr>
        <p:spPr>
          <a:xfrm>
            <a:off x="1847088" y="4315968"/>
            <a:ext cx="4846320" cy="329184"/>
          </a:xfrm>
          <a:prstGeom prst="rect">
            <a:avLst/>
          </a:prstGeom>
          <a:noFill/>
        </p:spPr>
        <p:txBody>
          <a:bodyPr wrap="square" anchor="ctr" lIns="45720" rIns="45720" tIns="18288" bIns="18288">
            <a:spAutoFit/>
          </a:bodyPr>
          <a:lstStyle/>
          <a:p>
            <a:pPr algn="l">
              <a:lnSpc>
                <a:spcPct val="100000"/>
              </a:lnSpc>
            </a:pPr>
            <a:r>
              <a:rPr sz="750" b="0" i="0">
                <a:solidFill>
                  <a:srgbClr val="495057"/>
                </a:solidFill>
                <a:latin typeface="Calibri"/>
              </a:rPr>
              <a:t>déploiement canari ou bleu-vert · IA de prédiction d’incidents</a:t>
            </a:r>
          </a:p>
        </p:txBody>
      </p:sp>
      <p:sp>
        <p:nvSpPr>
          <p:cNvPr id="45" name="Rounded Rectangle 44"/>
          <p:cNvSpPr/>
          <p:nvPr/>
        </p:nvSpPr>
        <p:spPr>
          <a:xfrm>
            <a:off x="6949440" y="3547872"/>
            <a:ext cx="1737360" cy="1097280"/>
          </a:xfrm>
          <a:prstGeom prst="roundRect">
            <a:avLst>
              <a:gd name="adj" fmla="val 8000"/>
            </a:avLst>
          </a:prstGeom>
          <a:solidFill>
            <a:srgbClr val="F6E4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9440" y="3657600"/>
            <a:ext cx="1737360" cy="914400"/>
          </a:xfrm>
          <a:prstGeom prst="rect">
            <a:avLst/>
          </a:prstGeom>
          <a:noFill/>
        </p:spPr>
        <p:txBody>
          <a:bodyPr wrap="square" anchor="t" lIns="45720" rIns="45720" tIns="18288" bIns="18288">
            <a:spAutoFit/>
          </a:bodyPr>
          <a:lstStyle/>
          <a:p>
            <a:pPr algn="ctr">
              <a:lnSpc>
                <a:spcPct val="100000"/>
              </a:lnSpc>
              <a:spcAft>
                <a:spcPts val="200"/>
              </a:spcAft>
            </a:pPr>
            <a:r>
              <a:rPr sz="1600" b="1" i="0">
                <a:solidFill>
                  <a:srgbClr val="212529"/>
                </a:solidFill>
                <a:latin typeface="Calibri"/>
              </a:rPr>
              <a:t>29 j-h</a:t>
            </a:r>
          </a:p>
          <a:p>
            <a:pPr algn="ctr">
              <a:lnSpc>
                <a:spcPct val="100000"/>
              </a:lnSpc>
              <a:spcAft>
                <a:spcPts val="200"/>
              </a:spcAft>
            </a:pPr>
            <a:r>
              <a:rPr sz="1050" b="1" i="0">
                <a:solidFill>
                  <a:srgbClr val="C2410C"/>
                </a:solidFill>
                <a:latin typeface="Calibri"/>
              </a:rPr>
              <a:t>14 500 €</a:t>
            </a:r>
          </a:p>
          <a:p>
            <a:pPr algn="ctr">
              <a:lnSpc>
                <a:spcPct val="100000"/>
              </a:lnSpc>
              <a:spcAft>
                <a:spcPts val="200"/>
              </a:spcAft>
            </a:pPr>
            <a:r>
              <a:rPr sz="750" b="0" i="0">
                <a:solidFill>
                  <a:srgbClr val="495057"/>
                </a:solidFill>
                <a:latin typeface="Calibri"/>
              </a:rPr>
              <a:t>trajectoire chiffrée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6 · RÉSULTATS ET CONCLUSION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Indicateurs de pilotage</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26 / 30</a:t>
            </a:r>
          </a:p>
        </p:txBody>
      </p:sp>
      <p:sp>
        <p:nvSpPr>
          <p:cNvPr id="13" name="Rounded Rectangle 12"/>
          <p:cNvSpPr/>
          <p:nvPr/>
        </p:nvSpPr>
        <p:spPr>
          <a:xfrm>
            <a:off x="457200" y="4818888"/>
            <a:ext cx="1464868" cy="228600"/>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464868"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C15 · C27 · C31</a:t>
            </a:r>
          </a:p>
        </p:txBody>
      </p:sp>
      <p:sp>
        <p:nvSpPr>
          <p:cNvPr id="15" name="TextBox 14"/>
          <p:cNvSpPr txBox="1"/>
          <p:nvPr/>
        </p:nvSpPr>
        <p:spPr>
          <a:xfrm>
            <a:off x="2013508"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BC2, BC3, BC4C · mémoire 13.2.1, 14.1.6 · annexe P</a:t>
            </a:r>
          </a:p>
        </p:txBody>
      </p:sp>
      <p:sp>
        <p:nvSpPr>
          <p:cNvPr id="16" name="Rounded Rectangle 15"/>
          <p:cNvSpPr/>
          <p:nvPr/>
        </p:nvSpPr>
        <p:spPr>
          <a:xfrm>
            <a:off x="457200" y="1280160"/>
            <a:ext cx="1975104" cy="1920240"/>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 y="1280160"/>
            <a:ext cx="1975104" cy="310896"/>
          </a:xfrm>
          <a:prstGeom prst="roundRect">
            <a:avLst>
              <a:gd name="adj" fmla="val 9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1435608"/>
            <a:ext cx="1975104" cy="155448"/>
          </a:xfrm>
          <a:prstGeom prst="rect">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280160"/>
            <a:ext cx="1975104"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PERFORMANCE</a:t>
            </a:r>
          </a:p>
        </p:txBody>
      </p:sp>
      <p:sp>
        <p:nvSpPr>
          <p:cNvPr id="20" name="TextBox 19"/>
          <p:cNvSpPr txBox="1"/>
          <p:nvPr/>
        </p:nvSpPr>
        <p:spPr>
          <a:xfrm>
            <a:off x="566928" y="1682496"/>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Disponibilité</a:t>
            </a:r>
          </a:p>
        </p:txBody>
      </p:sp>
      <p:sp>
        <p:nvSpPr>
          <p:cNvPr id="21" name="Rounded Rectangle 20"/>
          <p:cNvSpPr/>
          <p:nvPr/>
        </p:nvSpPr>
        <p:spPr>
          <a:xfrm>
            <a:off x="566928" y="1883664"/>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6928" y="1883664"/>
            <a:ext cx="1122517" cy="109728"/>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55648" y="1828800"/>
            <a:ext cx="585216" cy="201168"/>
          </a:xfrm>
          <a:prstGeom prst="rect">
            <a:avLst/>
          </a:prstGeom>
          <a:noFill/>
        </p:spPr>
        <p:txBody>
          <a:bodyPr wrap="square" anchor="t" lIns="45720" rIns="45720" tIns="18288" bIns="18288">
            <a:spAutoFit/>
          </a:bodyPr>
          <a:lstStyle/>
          <a:p>
            <a:pPr algn="r">
              <a:lnSpc>
                <a:spcPct val="100000"/>
              </a:lnSpc>
            </a:pPr>
            <a:r>
              <a:rPr sz="700" b="1" i="0">
                <a:solidFill>
                  <a:srgbClr val="1971C2"/>
                </a:solidFill>
                <a:latin typeface="Calibri"/>
              </a:rPr>
              <a:t>≥ 99,5 %</a:t>
            </a:r>
          </a:p>
        </p:txBody>
      </p:sp>
      <p:sp>
        <p:nvSpPr>
          <p:cNvPr id="24" name="TextBox 23"/>
          <p:cNvSpPr txBox="1"/>
          <p:nvPr/>
        </p:nvSpPr>
        <p:spPr>
          <a:xfrm>
            <a:off x="566928" y="2167128"/>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Latence p95</a:t>
            </a:r>
          </a:p>
        </p:txBody>
      </p:sp>
      <p:sp>
        <p:nvSpPr>
          <p:cNvPr id="25" name="Rounded Rectangle 24"/>
          <p:cNvSpPr/>
          <p:nvPr/>
        </p:nvSpPr>
        <p:spPr>
          <a:xfrm>
            <a:off x="566928" y="2368296"/>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66928" y="2368296"/>
            <a:ext cx="975116" cy="109728"/>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55648" y="2313432"/>
            <a:ext cx="585216" cy="201168"/>
          </a:xfrm>
          <a:prstGeom prst="rect">
            <a:avLst/>
          </a:prstGeom>
          <a:noFill/>
        </p:spPr>
        <p:txBody>
          <a:bodyPr wrap="square" anchor="t" lIns="45720" rIns="45720" tIns="18288" bIns="18288">
            <a:spAutoFit/>
          </a:bodyPr>
          <a:lstStyle/>
          <a:p>
            <a:pPr algn="r">
              <a:lnSpc>
                <a:spcPct val="100000"/>
              </a:lnSpc>
            </a:pPr>
            <a:r>
              <a:rPr sz="700" b="1" i="0">
                <a:solidFill>
                  <a:srgbClr val="1971C2"/>
                </a:solidFill>
                <a:latin typeface="Calibri"/>
              </a:rPr>
              <a:t>&lt; 1 s</a:t>
            </a:r>
          </a:p>
        </p:txBody>
      </p:sp>
      <p:sp>
        <p:nvSpPr>
          <p:cNvPr id="28" name="TextBox 27"/>
          <p:cNvSpPr txBox="1"/>
          <p:nvPr/>
        </p:nvSpPr>
        <p:spPr>
          <a:xfrm>
            <a:off x="566928" y="2651760"/>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Erreurs 5xx</a:t>
            </a:r>
          </a:p>
        </p:txBody>
      </p:sp>
      <p:sp>
        <p:nvSpPr>
          <p:cNvPr id="29" name="Rounded Rectangle 28"/>
          <p:cNvSpPr/>
          <p:nvPr/>
        </p:nvSpPr>
        <p:spPr>
          <a:xfrm>
            <a:off x="566928" y="2852928"/>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66928" y="2852928"/>
            <a:ext cx="1065824" cy="109728"/>
          </a:xfrm>
          <a:prstGeom prst="roundRect">
            <a:avLst>
              <a:gd name="adj" fmla="val 50000"/>
            </a:avLst>
          </a:prstGeom>
          <a:solidFill>
            <a:srgbClr val="1971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55648" y="2798064"/>
            <a:ext cx="585216" cy="201168"/>
          </a:xfrm>
          <a:prstGeom prst="rect">
            <a:avLst/>
          </a:prstGeom>
          <a:noFill/>
        </p:spPr>
        <p:txBody>
          <a:bodyPr wrap="square" anchor="t" lIns="45720" rIns="45720" tIns="18288" bIns="18288">
            <a:spAutoFit/>
          </a:bodyPr>
          <a:lstStyle/>
          <a:p>
            <a:pPr algn="r">
              <a:lnSpc>
                <a:spcPct val="100000"/>
              </a:lnSpc>
            </a:pPr>
            <a:r>
              <a:rPr sz="700" b="1" i="0">
                <a:solidFill>
                  <a:srgbClr val="1971C2"/>
                </a:solidFill>
                <a:latin typeface="Calibri"/>
              </a:rPr>
              <a:t>&lt; 1 %</a:t>
            </a:r>
          </a:p>
        </p:txBody>
      </p:sp>
      <p:sp>
        <p:nvSpPr>
          <p:cNvPr id="32" name="Rounded Rectangle 31"/>
          <p:cNvSpPr/>
          <p:nvPr/>
        </p:nvSpPr>
        <p:spPr>
          <a:xfrm>
            <a:off x="2542032" y="1280160"/>
            <a:ext cx="1975104" cy="1920240"/>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542032" y="1280160"/>
            <a:ext cx="1975104" cy="310896"/>
          </a:xfrm>
          <a:prstGeom prst="roundRect">
            <a:avLst>
              <a:gd name="adj" fmla="val 9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542032" y="1435608"/>
            <a:ext cx="1975104" cy="155448"/>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42032" y="1280160"/>
            <a:ext cx="1975104"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SÉCURITÉ</a:t>
            </a:r>
          </a:p>
        </p:txBody>
      </p:sp>
      <p:sp>
        <p:nvSpPr>
          <p:cNvPr id="36" name="TextBox 35"/>
          <p:cNvSpPr txBox="1"/>
          <p:nvPr/>
        </p:nvSpPr>
        <p:spPr>
          <a:xfrm>
            <a:off x="2651760" y="1682496"/>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Vulnérab. critiques</a:t>
            </a:r>
          </a:p>
        </p:txBody>
      </p:sp>
      <p:sp>
        <p:nvSpPr>
          <p:cNvPr id="37" name="Rounded Rectangle 36"/>
          <p:cNvSpPr/>
          <p:nvPr/>
        </p:nvSpPr>
        <p:spPr>
          <a:xfrm>
            <a:off x="2651760" y="1883664"/>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2651760" y="1883664"/>
            <a:ext cx="1133856" cy="109728"/>
          </a:xfrm>
          <a:prstGeom prst="roundRect">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40479" y="1828800"/>
            <a:ext cx="585216" cy="201168"/>
          </a:xfrm>
          <a:prstGeom prst="rect">
            <a:avLst/>
          </a:prstGeom>
          <a:noFill/>
        </p:spPr>
        <p:txBody>
          <a:bodyPr wrap="square" anchor="t" lIns="45720" rIns="45720" tIns="18288" bIns="18288">
            <a:spAutoFit/>
          </a:bodyPr>
          <a:lstStyle/>
          <a:p>
            <a:pPr algn="r">
              <a:lnSpc>
                <a:spcPct val="100000"/>
              </a:lnSpc>
            </a:pPr>
            <a:r>
              <a:rPr sz="700" b="1" i="0">
                <a:solidFill>
                  <a:srgbClr val="C92A2A"/>
                </a:solidFill>
                <a:latin typeface="Calibri"/>
              </a:rPr>
              <a:t>0</a:t>
            </a:r>
          </a:p>
        </p:txBody>
      </p:sp>
      <p:sp>
        <p:nvSpPr>
          <p:cNvPr id="40" name="TextBox 39"/>
          <p:cNvSpPr txBox="1"/>
          <p:nvPr/>
        </p:nvSpPr>
        <p:spPr>
          <a:xfrm>
            <a:off x="2651760" y="2167128"/>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Secrets au dépôt</a:t>
            </a:r>
          </a:p>
        </p:txBody>
      </p:sp>
      <p:sp>
        <p:nvSpPr>
          <p:cNvPr id="41" name="Rounded Rectangle 40"/>
          <p:cNvSpPr/>
          <p:nvPr/>
        </p:nvSpPr>
        <p:spPr>
          <a:xfrm>
            <a:off x="2651760" y="2368296"/>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651760" y="2368296"/>
            <a:ext cx="1133856" cy="109728"/>
          </a:xfrm>
          <a:prstGeom prst="roundRect">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40479" y="2313432"/>
            <a:ext cx="585216" cy="201168"/>
          </a:xfrm>
          <a:prstGeom prst="rect">
            <a:avLst/>
          </a:prstGeom>
          <a:noFill/>
        </p:spPr>
        <p:txBody>
          <a:bodyPr wrap="square" anchor="t" lIns="45720" rIns="45720" tIns="18288" bIns="18288">
            <a:spAutoFit/>
          </a:bodyPr>
          <a:lstStyle/>
          <a:p>
            <a:pPr algn="r">
              <a:lnSpc>
                <a:spcPct val="100000"/>
              </a:lnSpc>
            </a:pPr>
            <a:r>
              <a:rPr sz="700" b="1" i="0">
                <a:solidFill>
                  <a:srgbClr val="C92A2A"/>
                </a:solidFill>
                <a:latin typeface="Calibri"/>
              </a:rPr>
              <a:t>0</a:t>
            </a:r>
          </a:p>
        </p:txBody>
      </p:sp>
      <p:sp>
        <p:nvSpPr>
          <p:cNvPr id="44" name="TextBox 43"/>
          <p:cNvSpPr txBox="1"/>
          <p:nvPr/>
        </p:nvSpPr>
        <p:spPr>
          <a:xfrm>
            <a:off x="2651760" y="2651760"/>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Tests au vert</a:t>
            </a:r>
          </a:p>
        </p:txBody>
      </p:sp>
      <p:sp>
        <p:nvSpPr>
          <p:cNvPr id="45" name="Rounded Rectangle 44"/>
          <p:cNvSpPr/>
          <p:nvPr/>
        </p:nvSpPr>
        <p:spPr>
          <a:xfrm>
            <a:off x="2651760" y="2852928"/>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651760" y="2852928"/>
            <a:ext cx="1133856" cy="109728"/>
          </a:xfrm>
          <a:prstGeom prst="roundRect">
            <a:avLst>
              <a:gd name="adj" fmla="val 50000"/>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79" y="2798064"/>
            <a:ext cx="585216" cy="201168"/>
          </a:xfrm>
          <a:prstGeom prst="rect">
            <a:avLst/>
          </a:prstGeom>
          <a:noFill/>
        </p:spPr>
        <p:txBody>
          <a:bodyPr wrap="square" anchor="t" lIns="45720" rIns="45720" tIns="18288" bIns="18288">
            <a:spAutoFit/>
          </a:bodyPr>
          <a:lstStyle/>
          <a:p>
            <a:pPr algn="r">
              <a:lnSpc>
                <a:spcPct val="100000"/>
              </a:lnSpc>
            </a:pPr>
            <a:r>
              <a:rPr sz="700" b="1" i="0">
                <a:solidFill>
                  <a:srgbClr val="C92A2A"/>
                </a:solidFill>
                <a:latin typeface="Calibri"/>
              </a:rPr>
              <a:t>218 / 218</a:t>
            </a:r>
          </a:p>
        </p:txBody>
      </p:sp>
      <p:sp>
        <p:nvSpPr>
          <p:cNvPr id="48" name="Rounded Rectangle 47"/>
          <p:cNvSpPr/>
          <p:nvPr/>
        </p:nvSpPr>
        <p:spPr>
          <a:xfrm>
            <a:off x="4626864" y="1280160"/>
            <a:ext cx="1975104" cy="1920240"/>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4626864" y="1280160"/>
            <a:ext cx="1975104" cy="310896"/>
          </a:xfrm>
          <a:prstGeom prst="roundRect">
            <a:avLst>
              <a:gd name="adj" fmla="val 9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626864" y="1435608"/>
            <a:ext cx="1975104" cy="155448"/>
          </a:xfrm>
          <a:prstGeom prst="rect">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26864" y="1280160"/>
            <a:ext cx="1975104"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CONFORMITÉ</a:t>
            </a:r>
          </a:p>
        </p:txBody>
      </p:sp>
      <p:sp>
        <p:nvSpPr>
          <p:cNvPr id="52" name="TextBox 51"/>
          <p:cNvSpPr txBox="1"/>
          <p:nvPr/>
        </p:nvSpPr>
        <p:spPr>
          <a:xfrm>
            <a:off x="4736592" y="1682496"/>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Contrôles ISO</a:t>
            </a:r>
          </a:p>
        </p:txBody>
      </p:sp>
      <p:sp>
        <p:nvSpPr>
          <p:cNvPr id="53" name="Rounded Rectangle 52"/>
          <p:cNvSpPr/>
          <p:nvPr/>
        </p:nvSpPr>
        <p:spPr>
          <a:xfrm>
            <a:off x="4736592" y="1883664"/>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4736592" y="1883664"/>
            <a:ext cx="1020470" cy="109728"/>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925312" y="1828800"/>
            <a:ext cx="585216" cy="201168"/>
          </a:xfrm>
          <a:prstGeom prst="rect">
            <a:avLst/>
          </a:prstGeom>
          <a:noFill/>
        </p:spPr>
        <p:txBody>
          <a:bodyPr wrap="square" anchor="t" lIns="45720" rIns="45720" tIns="18288" bIns="18288">
            <a:spAutoFit/>
          </a:bodyPr>
          <a:lstStyle/>
          <a:p>
            <a:pPr algn="r">
              <a:lnSpc>
                <a:spcPct val="100000"/>
              </a:lnSpc>
            </a:pPr>
            <a:r>
              <a:rPr sz="700" b="1" i="0">
                <a:solidFill>
                  <a:srgbClr val="6741D9"/>
                </a:solidFill>
                <a:latin typeface="Calibri"/>
              </a:rPr>
              <a:t>≥ 90 %</a:t>
            </a:r>
          </a:p>
        </p:txBody>
      </p:sp>
      <p:sp>
        <p:nvSpPr>
          <p:cNvPr id="56" name="TextBox 55"/>
          <p:cNvSpPr txBox="1"/>
          <p:nvPr/>
        </p:nvSpPr>
        <p:spPr>
          <a:xfrm>
            <a:off x="4736592" y="2167128"/>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Demande RGPD</a:t>
            </a:r>
          </a:p>
        </p:txBody>
      </p:sp>
      <p:sp>
        <p:nvSpPr>
          <p:cNvPr id="57" name="Rounded Rectangle 56"/>
          <p:cNvSpPr/>
          <p:nvPr/>
        </p:nvSpPr>
        <p:spPr>
          <a:xfrm>
            <a:off x="4736592" y="2368296"/>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736592" y="2368296"/>
            <a:ext cx="907084" cy="109728"/>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25312" y="2313432"/>
            <a:ext cx="585216" cy="201168"/>
          </a:xfrm>
          <a:prstGeom prst="rect">
            <a:avLst/>
          </a:prstGeom>
          <a:noFill/>
        </p:spPr>
        <p:txBody>
          <a:bodyPr wrap="square" anchor="t" lIns="45720" rIns="45720" tIns="18288" bIns="18288">
            <a:spAutoFit/>
          </a:bodyPr>
          <a:lstStyle/>
          <a:p>
            <a:pPr algn="r">
              <a:lnSpc>
                <a:spcPct val="100000"/>
              </a:lnSpc>
            </a:pPr>
            <a:r>
              <a:rPr sz="700" b="1" i="0">
                <a:solidFill>
                  <a:srgbClr val="6741D9"/>
                </a:solidFill>
                <a:latin typeface="Calibri"/>
              </a:rPr>
              <a:t>&lt; 30 j</a:t>
            </a:r>
          </a:p>
        </p:txBody>
      </p:sp>
      <p:sp>
        <p:nvSpPr>
          <p:cNvPr id="60" name="TextBox 59"/>
          <p:cNvSpPr txBox="1"/>
          <p:nvPr/>
        </p:nvSpPr>
        <p:spPr>
          <a:xfrm>
            <a:off x="4736592" y="2651760"/>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Chiffrement</a:t>
            </a:r>
          </a:p>
        </p:txBody>
      </p:sp>
      <p:sp>
        <p:nvSpPr>
          <p:cNvPr id="61" name="Rounded Rectangle 60"/>
          <p:cNvSpPr/>
          <p:nvPr/>
        </p:nvSpPr>
        <p:spPr>
          <a:xfrm>
            <a:off x="4736592" y="2852928"/>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4736592" y="2852928"/>
            <a:ext cx="1133856" cy="109728"/>
          </a:xfrm>
          <a:prstGeom prst="roundRect">
            <a:avLst>
              <a:gd name="adj" fmla="val 50000"/>
            </a:avLst>
          </a:prstGeom>
          <a:solidFill>
            <a:srgbClr val="674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25312" y="2798064"/>
            <a:ext cx="585216" cy="201168"/>
          </a:xfrm>
          <a:prstGeom prst="rect">
            <a:avLst/>
          </a:prstGeom>
          <a:noFill/>
        </p:spPr>
        <p:txBody>
          <a:bodyPr wrap="square" anchor="t" lIns="45720" rIns="45720" tIns="18288" bIns="18288">
            <a:spAutoFit/>
          </a:bodyPr>
          <a:lstStyle/>
          <a:p>
            <a:pPr algn="r">
              <a:lnSpc>
                <a:spcPct val="100000"/>
              </a:lnSpc>
            </a:pPr>
            <a:r>
              <a:rPr sz="700" b="1" i="0">
                <a:solidFill>
                  <a:srgbClr val="6741D9"/>
                </a:solidFill>
                <a:latin typeface="Calibri"/>
              </a:rPr>
              <a:t>100 %</a:t>
            </a:r>
          </a:p>
        </p:txBody>
      </p:sp>
      <p:sp>
        <p:nvSpPr>
          <p:cNvPr id="64" name="Rounded Rectangle 63"/>
          <p:cNvSpPr/>
          <p:nvPr/>
        </p:nvSpPr>
        <p:spPr>
          <a:xfrm>
            <a:off x="6711696" y="1280160"/>
            <a:ext cx="1975104" cy="1920240"/>
          </a:xfrm>
          <a:prstGeom prst="roundRect">
            <a:avLst>
              <a:gd name="adj" fmla="val 7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711696" y="1280160"/>
            <a:ext cx="1975104" cy="310896"/>
          </a:xfrm>
          <a:prstGeom prst="roundRect">
            <a:avLst>
              <a:gd name="adj" fmla="val 9000"/>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711696" y="1435608"/>
            <a:ext cx="1975104" cy="155448"/>
          </a:xfrm>
          <a:prstGeom prst="rect">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711696" y="1280160"/>
            <a:ext cx="1975104" cy="310896"/>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SOBRIÉTÉ &amp; COÛT</a:t>
            </a:r>
          </a:p>
        </p:txBody>
      </p:sp>
      <p:sp>
        <p:nvSpPr>
          <p:cNvPr id="68" name="TextBox 67"/>
          <p:cNvSpPr txBox="1"/>
          <p:nvPr/>
        </p:nvSpPr>
        <p:spPr>
          <a:xfrm>
            <a:off x="6821424" y="1682496"/>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Puissance cluster</a:t>
            </a:r>
          </a:p>
        </p:txBody>
      </p:sp>
      <p:sp>
        <p:nvSpPr>
          <p:cNvPr id="69" name="Rounded Rectangle 68"/>
          <p:cNvSpPr/>
          <p:nvPr/>
        </p:nvSpPr>
        <p:spPr>
          <a:xfrm>
            <a:off x="6821424" y="1883664"/>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821424" y="1883664"/>
            <a:ext cx="816376" cy="109728"/>
          </a:xfrm>
          <a:prstGeom prst="roundRect">
            <a:avLst>
              <a:gd name="adj" fmla="val 50000"/>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010144" y="1828800"/>
            <a:ext cx="585216" cy="201168"/>
          </a:xfrm>
          <a:prstGeom prst="rect">
            <a:avLst/>
          </a:prstGeom>
          <a:noFill/>
        </p:spPr>
        <p:txBody>
          <a:bodyPr wrap="square" anchor="t" lIns="45720" rIns="45720" tIns="18288" bIns="18288">
            <a:spAutoFit/>
          </a:bodyPr>
          <a:lstStyle/>
          <a:p>
            <a:pPr algn="r">
              <a:lnSpc>
                <a:spcPct val="100000"/>
              </a:lnSpc>
            </a:pPr>
            <a:r>
              <a:rPr sz="700" b="1" i="0">
                <a:solidFill>
                  <a:srgbClr val="087F5B"/>
                </a:solidFill>
                <a:latin typeface="Calibri"/>
              </a:rPr>
              <a:t>&lt; 200 W</a:t>
            </a:r>
          </a:p>
        </p:txBody>
      </p:sp>
      <p:sp>
        <p:nvSpPr>
          <p:cNvPr id="72" name="TextBox 71"/>
          <p:cNvSpPr txBox="1"/>
          <p:nvPr/>
        </p:nvSpPr>
        <p:spPr>
          <a:xfrm>
            <a:off x="6821424" y="2167128"/>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Coût mensuel</a:t>
            </a:r>
          </a:p>
        </p:txBody>
      </p:sp>
      <p:sp>
        <p:nvSpPr>
          <p:cNvPr id="73" name="Rounded Rectangle 72"/>
          <p:cNvSpPr/>
          <p:nvPr/>
        </p:nvSpPr>
        <p:spPr>
          <a:xfrm>
            <a:off x="6821424" y="2368296"/>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821424" y="2368296"/>
            <a:ext cx="884407" cy="109728"/>
          </a:xfrm>
          <a:prstGeom prst="roundRect">
            <a:avLst>
              <a:gd name="adj" fmla="val 50000"/>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010144" y="2313432"/>
            <a:ext cx="585216" cy="201168"/>
          </a:xfrm>
          <a:prstGeom prst="rect">
            <a:avLst/>
          </a:prstGeom>
          <a:noFill/>
        </p:spPr>
        <p:txBody>
          <a:bodyPr wrap="square" anchor="t" lIns="45720" rIns="45720" tIns="18288" bIns="18288">
            <a:spAutoFit/>
          </a:bodyPr>
          <a:lstStyle/>
          <a:p>
            <a:pPr algn="r">
              <a:lnSpc>
                <a:spcPct val="100000"/>
              </a:lnSpc>
            </a:pPr>
            <a:r>
              <a:rPr sz="700" b="1" i="0">
                <a:solidFill>
                  <a:srgbClr val="087F5B"/>
                </a:solidFill>
                <a:latin typeface="Calibri"/>
              </a:rPr>
              <a:t>≤ 71 €</a:t>
            </a:r>
          </a:p>
        </p:txBody>
      </p:sp>
      <p:sp>
        <p:nvSpPr>
          <p:cNvPr id="76" name="TextBox 75"/>
          <p:cNvSpPr txBox="1"/>
          <p:nvPr/>
        </p:nvSpPr>
        <p:spPr>
          <a:xfrm>
            <a:off x="6821424" y="2651760"/>
            <a:ext cx="1755648" cy="182880"/>
          </a:xfrm>
          <a:prstGeom prst="rect">
            <a:avLst/>
          </a:prstGeom>
          <a:noFill/>
        </p:spPr>
        <p:txBody>
          <a:bodyPr wrap="square" anchor="t" lIns="45720" rIns="45720" tIns="18288" bIns="18288">
            <a:spAutoFit/>
          </a:bodyPr>
          <a:lstStyle/>
          <a:p>
            <a:pPr algn="l">
              <a:lnSpc>
                <a:spcPct val="100000"/>
              </a:lnSpc>
            </a:pPr>
            <a:r>
              <a:rPr sz="750" b="1" i="0">
                <a:solidFill>
                  <a:srgbClr val="212529"/>
                </a:solidFill>
                <a:latin typeface="Calibri"/>
              </a:rPr>
              <a:t>Empreinte</a:t>
            </a:r>
          </a:p>
        </p:txBody>
      </p:sp>
      <p:sp>
        <p:nvSpPr>
          <p:cNvPr id="77" name="Rounded Rectangle 76"/>
          <p:cNvSpPr/>
          <p:nvPr/>
        </p:nvSpPr>
        <p:spPr>
          <a:xfrm>
            <a:off x="6821424" y="2852928"/>
            <a:ext cx="1133856" cy="109728"/>
          </a:xfrm>
          <a:prstGeom prst="roundRect">
            <a:avLst>
              <a:gd name="adj" fmla="val 50000"/>
            </a:avLst>
          </a:prstGeom>
          <a:solidFill>
            <a:srgbClr val="DE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6821424" y="2852928"/>
            <a:ext cx="737006" cy="109728"/>
          </a:xfrm>
          <a:prstGeom prst="roundRect">
            <a:avLst>
              <a:gd name="adj" fmla="val 50000"/>
            </a:avLst>
          </a:prstGeom>
          <a:solidFill>
            <a:srgbClr val="08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010144" y="2798064"/>
            <a:ext cx="585216" cy="201168"/>
          </a:xfrm>
          <a:prstGeom prst="rect">
            <a:avLst/>
          </a:prstGeom>
          <a:noFill/>
        </p:spPr>
        <p:txBody>
          <a:bodyPr wrap="square" anchor="t" lIns="45720" rIns="45720" tIns="18288" bIns="18288">
            <a:spAutoFit/>
          </a:bodyPr>
          <a:lstStyle/>
          <a:p>
            <a:pPr algn="r">
              <a:lnSpc>
                <a:spcPct val="100000"/>
              </a:lnSpc>
            </a:pPr>
            <a:r>
              <a:rPr sz="700" b="1" i="0">
                <a:solidFill>
                  <a:srgbClr val="087F5B"/>
                </a:solidFill>
                <a:latin typeface="Calibri"/>
              </a:rPr>
              <a:t>380 g/kWh</a:t>
            </a:r>
          </a:p>
        </p:txBody>
      </p:sp>
      <p:sp>
        <p:nvSpPr>
          <p:cNvPr id="80" name="TextBox 79"/>
          <p:cNvSpPr txBox="1"/>
          <p:nvPr/>
        </p:nvSpPr>
        <p:spPr>
          <a:xfrm>
            <a:off x="457200" y="3273552"/>
            <a:ext cx="8229600" cy="201168"/>
          </a:xfrm>
          <a:prstGeom prst="rect">
            <a:avLst/>
          </a:prstGeom>
          <a:noFill/>
        </p:spPr>
        <p:txBody>
          <a:bodyPr wrap="square" anchor="t" lIns="45720" rIns="45720" tIns="18288" bIns="18288">
            <a:spAutoFit/>
          </a:bodyPr>
          <a:lstStyle/>
          <a:p>
            <a:pPr algn="l">
              <a:lnSpc>
                <a:spcPct val="100000"/>
              </a:lnSpc>
            </a:pPr>
            <a:r>
              <a:rPr sz="850" b="0" i="0">
                <a:solidFill>
                  <a:srgbClr val="868E96"/>
                </a:solidFill>
                <a:latin typeface="Calibri"/>
              </a:rPr>
              <a:t>Cible, seuil de déclenchement et source de mesure pour chacun. Un indicateur sans source de mesure est une intention.</a:t>
            </a:r>
          </a:p>
        </p:txBody>
      </p:sp>
      <p:sp>
        <p:nvSpPr>
          <p:cNvPr id="81" name="Rounded Rectangle 80"/>
          <p:cNvSpPr/>
          <p:nvPr/>
        </p:nvSpPr>
        <p:spPr>
          <a:xfrm>
            <a:off x="457200" y="3566160"/>
            <a:ext cx="8229600" cy="1152144"/>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457200" y="3566160"/>
            <a:ext cx="64008" cy="115214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8368" y="3648456"/>
            <a:ext cx="7882127" cy="1005840"/>
          </a:xfrm>
          <a:prstGeom prst="rect">
            <a:avLst/>
          </a:prstGeom>
          <a:noFill/>
        </p:spPr>
        <p:txBody>
          <a:bodyPr wrap="square" anchor="t" lIns="45720" rIns="45720" tIns="18288" bIns="18288">
            <a:spAutoFit/>
          </a:bodyPr>
          <a:lstStyle/>
          <a:p>
            <a:pPr algn="l">
              <a:lnSpc>
                <a:spcPct val="105000"/>
              </a:lnSpc>
              <a:spcAft>
                <a:spcPts val="200"/>
              </a:spcAft>
            </a:pPr>
            <a:r>
              <a:rPr sz="1000" b="1" i="0">
                <a:solidFill>
                  <a:srgbClr val="2B8A3E"/>
                </a:solidFill>
                <a:latin typeface="Calibri"/>
              </a:rPr>
              <a:t>Métriques DORA, la performance de la chaîne de livraison  </a:t>
            </a:r>
          </a:p>
          <a:p>
            <a:pPr algn="l">
              <a:lnSpc>
                <a:spcPct val="105000"/>
              </a:lnSpc>
              <a:spcAft>
                <a:spcPts val="200"/>
              </a:spcAft>
            </a:pPr>
            <a:r>
              <a:rPr sz="950" b="0" i="0">
                <a:solidFill>
                  <a:srgbClr val="495057"/>
                </a:solidFill>
                <a:latin typeface="Calibri"/>
              </a:rPr>
              <a:t>Fréquence de déploiement, cible au moins un par semaine.   Délai de livraison d’un changement, du commit à la production.</a:t>
            </a:r>
          </a:p>
          <a:p>
            <a:pPr algn="l">
              <a:lnSpc>
                <a:spcPct val="105000"/>
              </a:lnSpc>
              <a:spcAft>
                <a:spcPts val="200"/>
              </a:spcAft>
            </a:pPr>
            <a:r>
              <a:rPr sz="950" b="0" i="0">
                <a:solidFill>
                  <a:srgbClr val="495057"/>
                </a:solidFill>
                <a:latin typeface="Calibri"/>
              </a:rPr>
              <a:t>Taux d’échec des changements, mesuré par les retours arrière.   Délai moyen de rétablissement, cible sous une heure.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6 · RÉSULTATS ET CONCLUSION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Sécurité, conformité et continuité</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27 / 30</a:t>
            </a:r>
          </a:p>
        </p:txBody>
      </p:sp>
      <p:sp>
        <p:nvSpPr>
          <p:cNvPr id="13" name="Rounded Rectangle 12"/>
          <p:cNvSpPr/>
          <p:nvPr/>
        </p:nvSpPr>
        <p:spPr>
          <a:xfrm>
            <a:off x="457200" y="4818888"/>
            <a:ext cx="1464868" cy="228600"/>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1464868"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C25 · C29 · C31</a:t>
            </a:r>
          </a:p>
        </p:txBody>
      </p:sp>
      <p:sp>
        <p:nvSpPr>
          <p:cNvPr id="15" name="TextBox 14"/>
          <p:cNvSpPr txBox="1"/>
          <p:nvPr/>
        </p:nvSpPr>
        <p:spPr>
          <a:xfrm>
            <a:off x="2013508"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BC3, BC4C · mémoire 12.3, 12.4 · annexes R, S, U</a:t>
            </a:r>
          </a:p>
        </p:txBody>
      </p:sp>
      <p:sp>
        <p:nvSpPr>
          <p:cNvPr id="16" name="Rounded Rectangle 15"/>
          <p:cNvSpPr/>
          <p:nvPr/>
        </p:nvSpPr>
        <p:spPr>
          <a:xfrm>
            <a:off x="457200" y="1298448"/>
            <a:ext cx="4206240" cy="2798064"/>
          </a:xfrm>
          <a:prstGeom prst="roundRect">
            <a:avLst>
              <a:gd name="adj" fmla="val 5000"/>
            </a:avLst>
          </a:prstGeom>
          <a:noFill/>
          <a:ln w="19050">
            <a:solidFill>
              <a:srgbClr val="2B8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66928" y="1353312"/>
            <a:ext cx="1417320" cy="201168"/>
          </a:xfrm>
          <a:prstGeom prst="roundRect">
            <a:avLst>
              <a:gd name="adj" fmla="val 3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1353312"/>
            <a:ext cx="1417320" cy="201168"/>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PÉRIPHÉRIE</a:t>
            </a:r>
          </a:p>
        </p:txBody>
      </p:sp>
      <p:sp>
        <p:nvSpPr>
          <p:cNvPr id="19" name="TextBox 18"/>
          <p:cNvSpPr txBox="1"/>
          <p:nvPr/>
        </p:nvSpPr>
        <p:spPr>
          <a:xfrm>
            <a:off x="603504" y="1554480"/>
            <a:ext cx="3877056" cy="20116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Cloudflare WAF · TLS strict · anti-volumétrique</a:t>
            </a:r>
          </a:p>
        </p:txBody>
      </p:sp>
      <p:sp>
        <p:nvSpPr>
          <p:cNvPr id="20" name="Rounded Rectangle 19"/>
          <p:cNvSpPr/>
          <p:nvPr/>
        </p:nvSpPr>
        <p:spPr>
          <a:xfrm>
            <a:off x="768096" y="1755648"/>
            <a:ext cx="3584447" cy="2340864"/>
          </a:xfrm>
          <a:prstGeom prst="roundRect">
            <a:avLst>
              <a:gd name="adj" fmla="val 5000"/>
            </a:avLst>
          </a:prstGeom>
          <a:noFill/>
          <a:ln w="19050">
            <a:solidFill>
              <a:srgbClr val="2978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77824" y="1810512"/>
            <a:ext cx="1417320" cy="201168"/>
          </a:xfrm>
          <a:prstGeom prst="roundRect">
            <a:avLst>
              <a:gd name="adj" fmla="val 30000"/>
            </a:avLst>
          </a:prstGeom>
          <a:solidFill>
            <a:srgbClr val="297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1810512"/>
            <a:ext cx="1417320" cy="201168"/>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RÉSEAU</a:t>
            </a:r>
          </a:p>
        </p:txBody>
      </p:sp>
      <p:sp>
        <p:nvSpPr>
          <p:cNvPr id="23" name="TextBox 22"/>
          <p:cNvSpPr txBox="1"/>
          <p:nvPr/>
        </p:nvSpPr>
        <p:spPr>
          <a:xfrm>
            <a:off x="914400" y="2011680"/>
            <a:ext cx="3255264" cy="20116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5 overlays cloisonnés · socket Docker filtré</a:t>
            </a:r>
          </a:p>
        </p:txBody>
      </p:sp>
      <p:sp>
        <p:nvSpPr>
          <p:cNvPr id="24" name="Rounded Rectangle 23"/>
          <p:cNvSpPr/>
          <p:nvPr/>
        </p:nvSpPr>
        <p:spPr>
          <a:xfrm>
            <a:off x="1078992" y="2212848"/>
            <a:ext cx="2962655" cy="1883664"/>
          </a:xfrm>
          <a:prstGeom prst="roundRect">
            <a:avLst>
              <a:gd name="adj" fmla="val 5000"/>
            </a:avLst>
          </a:prstGeom>
          <a:noFill/>
          <a:ln w="19050">
            <a:solidFill>
              <a:srgbClr val="2766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188720" y="2267712"/>
            <a:ext cx="1417320" cy="201168"/>
          </a:xfrm>
          <a:prstGeom prst="roundRect">
            <a:avLst>
              <a:gd name="adj" fmla="val 30000"/>
            </a:avLst>
          </a:prstGeom>
          <a:solidFill>
            <a:srgbClr val="276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2267712"/>
            <a:ext cx="1417320" cy="201168"/>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APPLICATION</a:t>
            </a:r>
          </a:p>
        </p:txBody>
      </p:sp>
      <p:sp>
        <p:nvSpPr>
          <p:cNvPr id="27" name="TextBox 26"/>
          <p:cNvSpPr txBox="1"/>
          <p:nvPr/>
        </p:nvSpPr>
        <p:spPr>
          <a:xfrm>
            <a:off x="1225296" y="2468880"/>
            <a:ext cx="2633472" cy="201168"/>
          </a:xfrm>
          <a:prstGeom prst="rect">
            <a:avLst/>
          </a:prstGeom>
          <a:noFill/>
        </p:spPr>
        <p:txBody>
          <a:bodyPr wrap="square" anchor="t" lIns="45720" rIns="45720" tIns="18288" bIns="18288">
            <a:spAutoFit/>
          </a:bodyPr>
          <a:lstStyle/>
          <a:p>
            <a:pPr algn="l">
              <a:lnSpc>
                <a:spcPct val="100000"/>
              </a:lnSpc>
            </a:pPr>
            <a:r>
              <a:rPr sz="700" b="0" i="0">
                <a:solidFill>
                  <a:srgbClr val="495057"/>
                </a:solidFill>
                <a:latin typeface="Calibri"/>
              </a:rPr>
              <a:t>OWASP · sessions opaques · rate limiting</a:t>
            </a:r>
          </a:p>
        </p:txBody>
      </p:sp>
      <p:sp>
        <p:nvSpPr>
          <p:cNvPr id="28" name="Rounded Rectangle 27"/>
          <p:cNvSpPr/>
          <p:nvPr/>
        </p:nvSpPr>
        <p:spPr>
          <a:xfrm>
            <a:off x="1389888" y="2670048"/>
            <a:ext cx="2340863" cy="1426464"/>
          </a:xfrm>
          <a:prstGeom prst="roundRect">
            <a:avLst>
              <a:gd name="adj" fmla="val 5000"/>
            </a:avLst>
          </a:prstGeom>
          <a:solidFill>
            <a:srgbClr val="265333"/>
          </a:solidFill>
          <a:ln w="19050">
            <a:solidFill>
              <a:srgbClr val="265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499616" y="2724912"/>
            <a:ext cx="1417320" cy="201168"/>
          </a:xfrm>
          <a:prstGeom prst="roundRect">
            <a:avLst>
              <a:gd name="adj" fmla="val 30000"/>
            </a:avLst>
          </a:prstGeom>
          <a:solidFill>
            <a:srgbClr val="265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99616" y="2724912"/>
            <a:ext cx="1417320" cy="201168"/>
          </a:xfrm>
          <a:prstGeom prst="rect">
            <a:avLst/>
          </a:prstGeom>
          <a:noFill/>
        </p:spPr>
        <p:txBody>
          <a:bodyPr wrap="square" anchor="ctr" lIns="45720" rIns="45720" tIns="18288" bIns="18288">
            <a:spAutoFit/>
          </a:bodyPr>
          <a:lstStyle/>
          <a:p>
            <a:pPr algn="ctr">
              <a:lnSpc>
                <a:spcPct val="98000"/>
              </a:lnSpc>
            </a:pPr>
            <a:r>
              <a:rPr sz="650" b="1" i="0">
                <a:solidFill>
                  <a:srgbClr val="FFFFFF"/>
                </a:solidFill>
                <a:latin typeface="Calibri"/>
              </a:rPr>
              <a:t>DONNÉES</a:t>
            </a:r>
          </a:p>
        </p:txBody>
      </p:sp>
      <p:sp>
        <p:nvSpPr>
          <p:cNvPr id="31" name="TextBox 30"/>
          <p:cNvSpPr txBox="1"/>
          <p:nvPr/>
        </p:nvSpPr>
        <p:spPr>
          <a:xfrm>
            <a:off x="1536192" y="2926080"/>
            <a:ext cx="2011680" cy="201168"/>
          </a:xfrm>
          <a:prstGeom prst="rect">
            <a:avLst/>
          </a:prstGeom>
          <a:noFill/>
        </p:spPr>
        <p:txBody>
          <a:bodyPr wrap="square" anchor="t" lIns="45720" rIns="45720" tIns="18288" bIns="18288">
            <a:spAutoFit/>
          </a:bodyPr>
          <a:lstStyle/>
          <a:p>
            <a:pPr algn="l">
              <a:lnSpc>
                <a:spcPct val="100000"/>
              </a:lnSpc>
            </a:pPr>
            <a:r>
              <a:rPr sz="700" b="0" i="0">
                <a:solidFill>
                  <a:srgbClr val="FFFFFF"/>
                </a:solidFill>
                <a:latin typeface="Calibri"/>
              </a:rPr>
              <a:t>Argon2id · AES-256 · cascade RGPD</a:t>
            </a:r>
          </a:p>
        </p:txBody>
      </p:sp>
      <p:sp>
        <p:nvSpPr>
          <p:cNvPr id="32" name="TextBox 31"/>
          <p:cNvSpPr txBox="1"/>
          <p:nvPr/>
        </p:nvSpPr>
        <p:spPr>
          <a:xfrm>
            <a:off x="457200" y="4206240"/>
            <a:ext cx="4206240" cy="219456"/>
          </a:xfrm>
          <a:prstGeom prst="rect">
            <a:avLst/>
          </a:prstGeom>
          <a:noFill/>
        </p:spPr>
        <p:txBody>
          <a:bodyPr wrap="square" anchor="t" lIns="45720" rIns="45720" tIns="18288" bIns="18288">
            <a:spAutoFit/>
          </a:bodyPr>
          <a:lstStyle/>
          <a:p>
            <a:pPr algn="l">
              <a:lnSpc>
                <a:spcPct val="100000"/>
              </a:lnSpc>
            </a:pPr>
            <a:r>
              <a:rPr sz="850" b="1" i="0">
                <a:solidFill>
                  <a:srgbClr val="212529"/>
                </a:solidFill>
                <a:latin typeface="Calibri"/>
              </a:rPr>
              <a:t>Aucune couche ne suppose que la précédente a tenu.</a:t>
            </a:r>
          </a:p>
        </p:txBody>
      </p:sp>
      <p:sp>
        <p:nvSpPr>
          <p:cNvPr id="33" name="Rounded Rectangle 32"/>
          <p:cNvSpPr/>
          <p:nvPr/>
        </p:nvSpPr>
        <p:spPr>
          <a:xfrm>
            <a:off x="4892040" y="1298448"/>
            <a:ext cx="3794760" cy="1481328"/>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92040" y="1298448"/>
            <a:ext cx="64008" cy="148132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74920" y="1371600"/>
            <a:ext cx="3520440" cy="1353312"/>
          </a:xfrm>
          <a:prstGeom prst="rect">
            <a:avLst/>
          </a:prstGeom>
          <a:noFill/>
        </p:spPr>
        <p:txBody>
          <a:bodyPr wrap="square" anchor="t" lIns="45720" rIns="45720" tIns="18288" bIns="18288">
            <a:spAutoFit/>
          </a:bodyPr>
          <a:lstStyle/>
          <a:p>
            <a:pPr algn="l">
              <a:lnSpc>
                <a:spcPct val="105000"/>
              </a:lnSpc>
              <a:spcAft>
                <a:spcPts val="300"/>
              </a:spcAft>
            </a:pPr>
            <a:r>
              <a:rPr sz="950" b="1" i="0">
                <a:solidFill>
                  <a:srgbClr val="2B8A3E"/>
                </a:solidFill>
                <a:latin typeface="Calibri"/>
              </a:rPr>
              <a:t>Conformité documentée, écarts assumés</a:t>
            </a:r>
          </a:p>
          <a:p>
            <a:pPr algn="l">
              <a:lnSpc>
                <a:spcPct val="105000"/>
              </a:lnSpc>
              <a:spcAft>
                <a:spcPts val="300"/>
              </a:spcAft>
            </a:pPr>
            <a:r>
              <a:rPr sz="800" b="0" i="0">
                <a:solidFill>
                  <a:srgbClr val="495057"/>
                </a:solidFill>
                <a:latin typeface="Calibri"/>
              </a:rPr>
              <a:t>ISO 27001:2022, contrôles couverts, partiels et hors périmètre.</a:t>
            </a:r>
          </a:p>
          <a:p>
            <a:pPr algn="l">
              <a:lnSpc>
                <a:spcPct val="105000"/>
              </a:lnSpc>
              <a:spcAft>
                <a:spcPts val="300"/>
              </a:spcAft>
            </a:pPr>
            <a:r>
              <a:rPr sz="800" b="0" i="0">
                <a:solidFill>
                  <a:srgbClr val="495057"/>
                </a:solidFill>
                <a:latin typeface="Calibri"/>
              </a:rPr>
              <a:t>RGPD, minimisation, effacement, hébergement UE.  NIS 2 et IA Act en veille permanente.</a:t>
            </a:r>
          </a:p>
        </p:txBody>
      </p:sp>
      <p:sp>
        <p:nvSpPr>
          <p:cNvPr id="36" name="Rounded Rectangle 35"/>
          <p:cNvSpPr/>
          <p:nvPr/>
        </p:nvSpPr>
        <p:spPr>
          <a:xfrm>
            <a:off x="4892040" y="2889504"/>
            <a:ext cx="3794760" cy="1481328"/>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92040" y="2889504"/>
            <a:ext cx="64008" cy="148132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74920" y="2962656"/>
            <a:ext cx="3520440" cy="1353312"/>
          </a:xfrm>
          <a:prstGeom prst="rect">
            <a:avLst/>
          </a:prstGeom>
          <a:noFill/>
        </p:spPr>
        <p:txBody>
          <a:bodyPr wrap="square" anchor="t" lIns="45720" rIns="45720" tIns="18288" bIns="18288">
            <a:spAutoFit/>
          </a:bodyPr>
          <a:lstStyle/>
          <a:p>
            <a:pPr algn="l">
              <a:lnSpc>
                <a:spcPct val="105000"/>
              </a:lnSpc>
              <a:spcAft>
                <a:spcPts val="300"/>
              </a:spcAft>
            </a:pPr>
            <a:r>
              <a:rPr sz="950" b="1" i="0">
                <a:solidFill>
                  <a:srgbClr val="2B8A3E"/>
                </a:solidFill>
                <a:latin typeface="Calibri"/>
              </a:rPr>
              <a:t>Continuité éprouvée</a:t>
            </a:r>
          </a:p>
          <a:p>
            <a:pPr algn="l">
              <a:lnSpc>
                <a:spcPct val="105000"/>
              </a:lnSpc>
              <a:spcAft>
                <a:spcPts val="300"/>
              </a:spcAft>
            </a:pPr>
            <a:r>
              <a:rPr sz="800" b="0" i="0">
                <a:solidFill>
                  <a:srgbClr val="495057"/>
                </a:solidFill>
                <a:latin typeface="Calibri"/>
              </a:rPr>
              <a:t>Sauvegardes toutes les 6 h, empreinte SHA-256, Object Lock.</a:t>
            </a:r>
          </a:p>
          <a:p>
            <a:pPr algn="l">
              <a:lnSpc>
                <a:spcPct val="105000"/>
              </a:lnSpc>
              <a:spcAft>
                <a:spcPts val="300"/>
              </a:spcAft>
            </a:pPr>
            <a:r>
              <a:rPr sz="800" b="0" i="0">
                <a:solidFill>
                  <a:srgbClr val="495057"/>
                </a:solidFill>
                <a:latin typeface="Calibri"/>
              </a:rPr>
              <a:t>Restauration transactionnelle précédée d’un cliché de sécurité. PRA qui reconstruit par le code, RTO et RPO définis.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6 · RÉSULTATS ET CONCLUSION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Résultats et retour d’expérience</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28 / 30</a:t>
            </a:r>
          </a:p>
        </p:txBody>
      </p:sp>
      <p:sp>
        <p:nvSpPr>
          <p:cNvPr id="13" name="Rounded Rectangle 12"/>
          <p:cNvSpPr/>
          <p:nvPr/>
        </p:nvSpPr>
        <p:spPr>
          <a:xfrm>
            <a:off x="457200" y="4818888"/>
            <a:ext cx="784555" cy="228600"/>
          </a:xfrm>
          <a:prstGeom prst="roundRect">
            <a:avLst>
              <a:gd name="adj" fmla="val 50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18888"/>
            <a:ext cx="784555" cy="228600"/>
          </a:xfrm>
          <a:prstGeom prst="rect">
            <a:avLst/>
          </a:prstGeom>
          <a:noFill/>
        </p:spPr>
        <p:txBody>
          <a:bodyPr wrap="square" anchor="ctr" lIns="45720" rIns="45720" tIns="18288" bIns="18288">
            <a:spAutoFit/>
          </a:bodyPr>
          <a:lstStyle/>
          <a:p>
            <a:pPr algn="ctr">
              <a:lnSpc>
                <a:spcPct val="98000"/>
              </a:lnSpc>
            </a:pPr>
            <a:r>
              <a:rPr sz="800" b="1" i="0">
                <a:solidFill>
                  <a:srgbClr val="FFFFFF"/>
                </a:solidFill>
                <a:latin typeface="Calibri"/>
              </a:rPr>
              <a:t>Réf.  C27</a:t>
            </a:r>
          </a:p>
        </p:txBody>
      </p:sp>
      <p:sp>
        <p:nvSpPr>
          <p:cNvPr id="15" name="TextBox 14"/>
          <p:cNvSpPr txBox="1"/>
          <p:nvPr/>
        </p:nvSpPr>
        <p:spPr>
          <a:xfrm>
            <a:off x="1333195" y="4818888"/>
            <a:ext cx="5852160" cy="228600"/>
          </a:xfrm>
          <a:prstGeom prst="rect">
            <a:avLst/>
          </a:prstGeom>
          <a:noFill/>
        </p:spPr>
        <p:txBody>
          <a:bodyPr wrap="square" anchor="ctr" lIns="45720" rIns="45720" tIns="18288" bIns="18288">
            <a:spAutoFit/>
          </a:bodyPr>
          <a:lstStyle/>
          <a:p>
            <a:pPr algn="l">
              <a:lnSpc>
                <a:spcPct val="100000"/>
              </a:lnSpc>
            </a:pPr>
            <a:r>
              <a:rPr sz="750" b="0" i="0">
                <a:solidFill>
                  <a:srgbClr val="868E96"/>
                </a:solidFill>
                <a:latin typeface="Calibri"/>
              </a:rPr>
              <a:t>BC3 · mémoire 18.1, 18.2</a:t>
            </a:r>
          </a:p>
        </p:txBody>
      </p:sp>
      <p:sp>
        <p:nvSpPr>
          <p:cNvPr id="16" name="TextBox 15"/>
          <p:cNvSpPr txBox="1"/>
          <p:nvPr/>
        </p:nvSpPr>
        <p:spPr>
          <a:xfrm>
            <a:off x="457200" y="120700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LES 5 OBJECTIFS ET LEUR PREUVE</a:t>
            </a:r>
          </a:p>
        </p:txBody>
      </p:sp>
      <p:sp>
        <p:nvSpPr>
          <p:cNvPr id="17" name="Rounded Rectangle 16"/>
          <p:cNvSpPr/>
          <p:nvPr/>
        </p:nvSpPr>
        <p:spPr>
          <a:xfrm>
            <a:off x="457200" y="1408176"/>
            <a:ext cx="3977639" cy="365760"/>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57200" y="1408176"/>
            <a:ext cx="329184" cy="365760"/>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408176"/>
            <a:ext cx="329184" cy="365760"/>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O1</a:t>
            </a:r>
          </a:p>
        </p:txBody>
      </p:sp>
      <p:sp>
        <p:nvSpPr>
          <p:cNvPr id="20" name="TextBox 19"/>
          <p:cNvSpPr txBox="1"/>
          <p:nvPr/>
        </p:nvSpPr>
        <p:spPr>
          <a:xfrm>
            <a:off x="859536" y="1408176"/>
            <a:ext cx="1426464" cy="365760"/>
          </a:xfrm>
          <a:prstGeom prst="rect">
            <a:avLst/>
          </a:prstGeom>
          <a:noFill/>
        </p:spPr>
        <p:txBody>
          <a:bodyPr wrap="square" anchor="ctr" lIns="45720" rIns="45720" tIns="18288" bIns="18288">
            <a:spAutoFit/>
          </a:bodyPr>
          <a:lstStyle/>
          <a:p>
            <a:pPr algn="l">
              <a:lnSpc>
                <a:spcPct val="95000"/>
              </a:lnSpc>
            </a:pPr>
            <a:r>
              <a:rPr sz="800" b="1" i="0">
                <a:solidFill>
                  <a:srgbClr val="212529"/>
                </a:solidFill>
                <a:latin typeface="Calibri"/>
              </a:rPr>
              <a:t>Tout en code</a:t>
            </a:r>
          </a:p>
        </p:txBody>
      </p:sp>
      <p:sp>
        <p:nvSpPr>
          <p:cNvPr id="21" name="TextBox 20"/>
          <p:cNvSpPr txBox="1"/>
          <p:nvPr/>
        </p:nvSpPr>
        <p:spPr>
          <a:xfrm>
            <a:off x="2286000" y="1408176"/>
            <a:ext cx="1700784" cy="365760"/>
          </a:xfrm>
          <a:prstGeom prst="rect">
            <a:avLst/>
          </a:prstGeom>
          <a:noFill/>
        </p:spPr>
        <p:txBody>
          <a:bodyPr wrap="square" anchor="ctr" lIns="45720" rIns="45720" tIns="18288" bIns="18288">
            <a:spAutoFit/>
          </a:bodyPr>
          <a:lstStyle/>
          <a:p>
            <a:pPr algn="l">
              <a:lnSpc>
                <a:spcPct val="95000"/>
              </a:lnSpc>
            </a:pPr>
            <a:r>
              <a:rPr sz="750" b="0" i="0">
                <a:solidFill>
                  <a:srgbClr val="495057"/>
                </a:solidFill>
                <a:latin typeface="Calibri"/>
              </a:rPr>
              <a:t>0 ressource hors du code</a:t>
            </a:r>
          </a:p>
        </p:txBody>
      </p:sp>
      <p:sp>
        <p:nvSpPr>
          <p:cNvPr id="22" name="TextBox 21"/>
          <p:cNvSpPr txBox="1"/>
          <p:nvPr/>
        </p:nvSpPr>
        <p:spPr>
          <a:xfrm>
            <a:off x="4023360" y="1408176"/>
            <a:ext cx="347472" cy="365760"/>
          </a:xfrm>
          <a:prstGeom prst="rect">
            <a:avLst/>
          </a:prstGeom>
          <a:noFill/>
        </p:spPr>
        <p:txBody>
          <a:bodyPr wrap="square" anchor="ctr" lIns="45720" rIns="45720" tIns="18288" bIns="18288">
            <a:spAutoFit/>
          </a:bodyPr>
          <a:lstStyle/>
          <a:p>
            <a:pPr algn="ctr">
              <a:lnSpc>
                <a:spcPct val="98000"/>
              </a:lnSpc>
            </a:pPr>
            <a:r>
              <a:rPr sz="1200" b="1" i="0">
                <a:solidFill>
                  <a:srgbClr val="2B8A3E"/>
                </a:solidFill>
                <a:latin typeface="Calibri"/>
              </a:rPr>
              <a:t>✓</a:t>
            </a:r>
          </a:p>
        </p:txBody>
      </p:sp>
      <p:sp>
        <p:nvSpPr>
          <p:cNvPr id="23" name="Rounded Rectangle 22"/>
          <p:cNvSpPr/>
          <p:nvPr/>
        </p:nvSpPr>
        <p:spPr>
          <a:xfrm>
            <a:off x="457200" y="1828800"/>
            <a:ext cx="3977639" cy="365760"/>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7200" y="1828800"/>
            <a:ext cx="329184" cy="365760"/>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1828800"/>
            <a:ext cx="329184" cy="365760"/>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O2</a:t>
            </a:r>
          </a:p>
        </p:txBody>
      </p:sp>
      <p:sp>
        <p:nvSpPr>
          <p:cNvPr id="26" name="TextBox 25"/>
          <p:cNvSpPr txBox="1"/>
          <p:nvPr/>
        </p:nvSpPr>
        <p:spPr>
          <a:xfrm>
            <a:off x="859536" y="1828800"/>
            <a:ext cx="1426464" cy="365760"/>
          </a:xfrm>
          <a:prstGeom prst="rect">
            <a:avLst/>
          </a:prstGeom>
          <a:noFill/>
        </p:spPr>
        <p:txBody>
          <a:bodyPr wrap="square" anchor="ctr" lIns="45720" rIns="45720" tIns="18288" bIns="18288">
            <a:spAutoFit/>
          </a:bodyPr>
          <a:lstStyle/>
          <a:p>
            <a:pPr algn="l">
              <a:lnSpc>
                <a:spcPct val="95000"/>
              </a:lnSpc>
            </a:pPr>
            <a:r>
              <a:rPr sz="800" b="1" i="0">
                <a:solidFill>
                  <a:srgbClr val="212529"/>
                </a:solidFill>
                <a:latin typeface="Calibri"/>
              </a:rPr>
              <a:t>Livrer sous contrôle</a:t>
            </a:r>
          </a:p>
        </p:txBody>
      </p:sp>
      <p:sp>
        <p:nvSpPr>
          <p:cNvPr id="27" name="TextBox 26"/>
          <p:cNvSpPr txBox="1"/>
          <p:nvPr/>
        </p:nvSpPr>
        <p:spPr>
          <a:xfrm>
            <a:off x="2286000" y="1828800"/>
            <a:ext cx="1700784" cy="365760"/>
          </a:xfrm>
          <a:prstGeom prst="rect">
            <a:avLst/>
          </a:prstGeom>
          <a:noFill/>
        </p:spPr>
        <p:txBody>
          <a:bodyPr wrap="square" anchor="ctr" lIns="45720" rIns="45720" tIns="18288" bIns="18288">
            <a:spAutoFit/>
          </a:bodyPr>
          <a:lstStyle/>
          <a:p>
            <a:pPr algn="l">
              <a:lnSpc>
                <a:spcPct val="95000"/>
              </a:lnSpc>
            </a:pPr>
            <a:r>
              <a:rPr sz="750" b="0" i="0">
                <a:solidFill>
                  <a:srgbClr val="495057"/>
                </a:solidFill>
                <a:latin typeface="Calibri"/>
              </a:rPr>
              <a:t>4 portes bloquantes</a:t>
            </a:r>
          </a:p>
        </p:txBody>
      </p:sp>
      <p:sp>
        <p:nvSpPr>
          <p:cNvPr id="28" name="TextBox 27"/>
          <p:cNvSpPr txBox="1"/>
          <p:nvPr/>
        </p:nvSpPr>
        <p:spPr>
          <a:xfrm>
            <a:off x="4023360" y="1828800"/>
            <a:ext cx="347472" cy="365760"/>
          </a:xfrm>
          <a:prstGeom prst="rect">
            <a:avLst/>
          </a:prstGeom>
          <a:noFill/>
        </p:spPr>
        <p:txBody>
          <a:bodyPr wrap="square" anchor="ctr" lIns="45720" rIns="45720" tIns="18288" bIns="18288">
            <a:spAutoFit/>
          </a:bodyPr>
          <a:lstStyle/>
          <a:p>
            <a:pPr algn="ctr">
              <a:lnSpc>
                <a:spcPct val="98000"/>
              </a:lnSpc>
            </a:pPr>
            <a:r>
              <a:rPr sz="1200" b="1" i="0">
                <a:solidFill>
                  <a:srgbClr val="2B8A3E"/>
                </a:solidFill>
                <a:latin typeface="Calibri"/>
              </a:rPr>
              <a:t>✓</a:t>
            </a:r>
          </a:p>
        </p:txBody>
      </p:sp>
      <p:sp>
        <p:nvSpPr>
          <p:cNvPr id="29" name="Rounded Rectangle 28"/>
          <p:cNvSpPr/>
          <p:nvPr/>
        </p:nvSpPr>
        <p:spPr>
          <a:xfrm>
            <a:off x="457200" y="2249424"/>
            <a:ext cx="3977639" cy="365760"/>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57200" y="2249424"/>
            <a:ext cx="329184" cy="365760"/>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2249424"/>
            <a:ext cx="329184" cy="365760"/>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O3</a:t>
            </a:r>
          </a:p>
        </p:txBody>
      </p:sp>
      <p:sp>
        <p:nvSpPr>
          <p:cNvPr id="32" name="TextBox 31"/>
          <p:cNvSpPr txBox="1"/>
          <p:nvPr/>
        </p:nvSpPr>
        <p:spPr>
          <a:xfrm>
            <a:off x="859536" y="2249424"/>
            <a:ext cx="1426464" cy="365760"/>
          </a:xfrm>
          <a:prstGeom prst="rect">
            <a:avLst/>
          </a:prstGeom>
          <a:noFill/>
        </p:spPr>
        <p:txBody>
          <a:bodyPr wrap="square" anchor="ctr" lIns="45720" rIns="45720" tIns="18288" bIns="18288">
            <a:spAutoFit/>
          </a:bodyPr>
          <a:lstStyle/>
          <a:p>
            <a:pPr algn="l">
              <a:lnSpc>
                <a:spcPct val="95000"/>
              </a:lnSpc>
            </a:pPr>
            <a:r>
              <a:rPr sz="800" b="1" i="0">
                <a:solidFill>
                  <a:srgbClr val="212529"/>
                </a:solidFill>
                <a:latin typeface="Calibri"/>
              </a:rPr>
              <a:t>Orchestrer</a:t>
            </a:r>
          </a:p>
        </p:txBody>
      </p:sp>
      <p:sp>
        <p:nvSpPr>
          <p:cNvPr id="33" name="TextBox 32"/>
          <p:cNvSpPr txBox="1"/>
          <p:nvPr/>
        </p:nvSpPr>
        <p:spPr>
          <a:xfrm>
            <a:off x="2286000" y="2249424"/>
            <a:ext cx="1700784" cy="365760"/>
          </a:xfrm>
          <a:prstGeom prst="rect">
            <a:avLst/>
          </a:prstGeom>
          <a:noFill/>
        </p:spPr>
        <p:txBody>
          <a:bodyPr wrap="square" anchor="ctr" lIns="45720" rIns="45720" tIns="18288" bIns="18288">
            <a:spAutoFit/>
          </a:bodyPr>
          <a:lstStyle/>
          <a:p>
            <a:pPr algn="l">
              <a:lnSpc>
                <a:spcPct val="95000"/>
              </a:lnSpc>
            </a:pPr>
            <a:r>
              <a:rPr sz="750" b="0" i="0">
                <a:solidFill>
                  <a:srgbClr val="495057"/>
                </a:solidFill>
                <a:latin typeface="Calibri"/>
              </a:rPr>
              <a:t>rolling + rollback auto</a:t>
            </a:r>
          </a:p>
        </p:txBody>
      </p:sp>
      <p:sp>
        <p:nvSpPr>
          <p:cNvPr id="34" name="TextBox 33"/>
          <p:cNvSpPr txBox="1"/>
          <p:nvPr/>
        </p:nvSpPr>
        <p:spPr>
          <a:xfrm>
            <a:off x="4023360" y="2249424"/>
            <a:ext cx="347472" cy="365760"/>
          </a:xfrm>
          <a:prstGeom prst="rect">
            <a:avLst/>
          </a:prstGeom>
          <a:noFill/>
        </p:spPr>
        <p:txBody>
          <a:bodyPr wrap="square" anchor="ctr" lIns="45720" rIns="45720" tIns="18288" bIns="18288">
            <a:spAutoFit/>
          </a:bodyPr>
          <a:lstStyle/>
          <a:p>
            <a:pPr algn="ctr">
              <a:lnSpc>
                <a:spcPct val="98000"/>
              </a:lnSpc>
            </a:pPr>
            <a:r>
              <a:rPr sz="1200" b="1" i="0">
                <a:solidFill>
                  <a:srgbClr val="2B8A3E"/>
                </a:solidFill>
                <a:latin typeface="Calibri"/>
              </a:rPr>
              <a:t>✓</a:t>
            </a:r>
          </a:p>
        </p:txBody>
      </p:sp>
      <p:sp>
        <p:nvSpPr>
          <p:cNvPr id="35" name="Rounded Rectangle 34"/>
          <p:cNvSpPr/>
          <p:nvPr/>
        </p:nvSpPr>
        <p:spPr>
          <a:xfrm>
            <a:off x="457200" y="2670048"/>
            <a:ext cx="3977639" cy="365760"/>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57200" y="2670048"/>
            <a:ext cx="329184" cy="365760"/>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2670048"/>
            <a:ext cx="329184" cy="365760"/>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O4</a:t>
            </a:r>
          </a:p>
        </p:txBody>
      </p:sp>
      <p:sp>
        <p:nvSpPr>
          <p:cNvPr id="38" name="TextBox 37"/>
          <p:cNvSpPr txBox="1"/>
          <p:nvPr/>
        </p:nvSpPr>
        <p:spPr>
          <a:xfrm>
            <a:off x="859536" y="2670048"/>
            <a:ext cx="1426464" cy="365760"/>
          </a:xfrm>
          <a:prstGeom prst="rect">
            <a:avLst/>
          </a:prstGeom>
          <a:noFill/>
        </p:spPr>
        <p:txBody>
          <a:bodyPr wrap="square" anchor="ctr" lIns="45720" rIns="45720" tIns="18288" bIns="18288">
            <a:spAutoFit/>
          </a:bodyPr>
          <a:lstStyle/>
          <a:p>
            <a:pPr algn="l">
              <a:lnSpc>
                <a:spcPct val="95000"/>
              </a:lnSpc>
            </a:pPr>
            <a:r>
              <a:rPr sz="800" b="1" i="0">
                <a:solidFill>
                  <a:srgbClr val="212529"/>
                </a:solidFill>
                <a:latin typeface="Calibri"/>
              </a:rPr>
              <a:t>Observer</a:t>
            </a:r>
          </a:p>
        </p:txBody>
      </p:sp>
      <p:sp>
        <p:nvSpPr>
          <p:cNvPr id="39" name="TextBox 38"/>
          <p:cNvSpPr txBox="1"/>
          <p:nvPr/>
        </p:nvSpPr>
        <p:spPr>
          <a:xfrm>
            <a:off x="2286000" y="2670048"/>
            <a:ext cx="1700784" cy="365760"/>
          </a:xfrm>
          <a:prstGeom prst="rect">
            <a:avLst/>
          </a:prstGeom>
          <a:noFill/>
        </p:spPr>
        <p:txBody>
          <a:bodyPr wrap="square" anchor="ctr" lIns="45720" rIns="45720" tIns="18288" bIns="18288">
            <a:spAutoFit/>
          </a:bodyPr>
          <a:lstStyle/>
          <a:p>
            <a:pPr algn="l">
              <a:lnSpc>
                <a:spcPct val="95000"/>
              </a:lnSpc>
            </a:pPr>
            <a:r>
              <a:rPr sz="750" b="0" i="0">
                <a:solidFill>
                  <a:srgbClr val="495057"/>
                </a:solidFill>
                <a:latin typeface="Calibri"/>
              </a:rPr>
              <a:t>10 règles, 2 canaux</a:t>
            </a:r>
          </a:p>
        </p:txBody>
      </p:sp>
      <p:sp>
        <p:nvSpPr>
          <p:cNvPr id="40" name="TextBox 39"/>
          <p:cNvSpPr txBox="1"/>
          <p:nvPr/>
        </p:nvSpPr>
        <p:spPr>
          <a:xfrm>
            <a:off x="4023360" y="2670048"/>
            <a:ext cx="347472" cy="365760"/>
          </a:xfrm>
          <a:prstGeom prst="rect">
            <a:avLst/>
          </a:prstGeom>
          <a:noFill/>
        </p:spPr>
        <p:txBody>
          <a:bodyPr wrap="square" anchor="ctr" lIns="45720" rIns="45720" tIns="18288" bIns="18288">
            <a:spAutoFit/>
          </a:bodyPr>
          <a:lstStyle/>
          <a:p>
            <a:pPr algn="ctr">
              <a:lnSpc>
                <a:spcPct val="98000"/>
              </a:lnSpc>
            </a:pPr>
            <a:r>
              <a:rPr sz="1200" b="1" i="0">
                <a:solidFill>
                  <a:srgbClr val="2B8A3E"/>
                </a:solidFill>
                <a:latin typeface="Calibri"/>
              </a:rPr>
              <a:t>✓</a:t>
            </a:r>
          </a:p>
        </p:txBody>
      </p:sp>
      <p:sp>
        <p:nvSpPr>
          <p:cNvPr id="41" name="Rounded Rectangle 40"/>
          <p:cNvSpPr/>
          <p:nvPr/>
        </p:nvSpPr>
        <p:spPr>
          <a:xfrm>
            <a:off x="457200" y="3090672"/>
            <a:ext cx="3977639" cy="365760"/>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 y="3090672"/>
            <a:ext cx="329184" cy="365760"/>
          </a:xfrm>
          <a:prstGeom prst="roundRect">
            <a:avLst>
              <a:gd name="adj" fmla="val 12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090672"/>
            <a:ext cx="329184" cy="365760"/>
          </a:xfrm>
          <a:prstGeom prst="rect">
            <a:avLst/>
          </a:prstGeom>
          <a:noFill/>
        </p:spPr>
        <p:txBody>
          <a:bodyPr wrap="square" anchor="ctr" lIns="45720" rIns="45720" tIns="18288" bIns="18288">
            <a:spAutoFit/>
          </a:bodyPr>
          <a:lstStyle/>
          <a:p>
            <a:pPr algn="ctr">
              <a:lnSpc>
                <a:spcPct val="98000"/>
              </a:lnSpc>
            </a:pPr>
            <a:r>
              <a:rPr sz="750" b="1" i="0">
                <a:solidFill>
                  <a:srgbClr val="FFFFFF"/>
                </a:solidFill>
                <a:latin typeface="Calibri"/>
              </a:rPr>
              <a:t>O5</a:t>
            </a:r>
          </a:p>
        </p:txBody>
      </p:sp>
      <p:sp>
        <p:nvSpPr>
          <p:cNvPr id="44" name="TextBox 43"/>
          <p:cNvSpPr txBox="1"/>
          <p:nvPr/>
        </p:nvSpPr>
        <p:spPr>
          <a:xfrm>
            <a:off x="859536" y="3090672"/>
            <a:ext cx="1426464" cy="365760"/>
          </a:xfrm>
          <a:prstGeom prst="rect">
            <a:avLst/>
          </a:prstGeom>
          <a:noFill/>
        </p:spPr>
        <p:txBody>
          <a:bodyPr wrap="square" anchor="ctr" lIns="45720" rIns="45720" tIns="18288" bIns="18288">
            <a:spAutoFit/>
          </a:bodyPr>
          <a:lstStyle/>
          <a:p>
            <a:pPr algn="l">
              <a:lnSpc>
                <a:spcPct val="95000"/>
              </a:lnSpc>
            </a:pPr>
            <a:r>
              <a:rPr sz="800" b="1" i="0">
                <a:solidFill>
                  <a:srgbClr val="212529"/>
                </a:solidFill>
                <a:latin typeface="Calibri"/>
              </a:rPr>
              <a:t>Sécurité &amp; sobriété</a:t>
            </a:r>
          </a:p>
        </p:txBody>
      </p:sp>
      <p:sp>
        <p:nvSpPr>
          <p:cNvPr id="45" name="TextBox 44"/>
          <p:cNvSpPr txBox="1"/>
          <p:nvPr/>
        </p:nvSpPr>
        <p:spPr>
          <a:xfrm>
            <a:off x="2286000" y="3090672"/>
            <a:ext cx="1700784" cy="365760"/>
          </a:xfrm>
          <a:prstGeom prst="rect">
            <a:avLst/>
          </a:prstGeom>
          <a:noFill/>
        </p:spPr>
        <p:txBody>
          <a:bodyPr wrap="square" anchor="ctr" lIns="45720" rIns="45720" tIns="18288" bIns="18288">
            <a:spAutoFit/>
          </a:bodyPr>
          <a:lstStyle/>
          <a:p>
            <a:pPr algn="l">
              <a:lnSpc>
                <a:spcPct val="95000"/>
              </a:lnSpc>
            </a:pPr>
            <a:r>
              <a:rPr sz="750" b="0" i="0">
                <a:solidFill>
                  <a:srgbClr val="495057"/>
                </a:solidFill>
                <a:latin typeface="Calibri"/>
              </a:rPr>
              <a:t>12 indicateurs suivis</a:t>
            </a:r>
          </a:p>
        </p:txBody>
      </p:sp>
      <p:sp>
        <p:nvSpPr>
          <p:cNvPr id="46" name="TextBox 45"/>
          <p:cNvSpPr txBox="1"/>
          <p:nvPr/>
        </p:nvSpPr>
        <p:spPr>
          <a:xfrm>
            <a:off x="4023360" y="3090672"/>
            <a:ext cx="347472" cy="365760"/>
          </a:xfrm>
          <a:prstGeom prst="rect">
            <a:avLst/>
          </a:prstGeom>
          <a:noFill/>
        </p:spPr>
        <p:txBody>
          <a:bodyPr wrap="square" anchor="ctr" lIns="45720" rIns="45720" tIns="18288" bIns="18288">
            <a:spAutoFit/>
          </a:bodyPr>
          <a:lstStyle/>
          <a:p>
            <a:pPr algn="ctr">
              <a:lnSpc>
                <a:spcPct val="98000"/>
              </a:lnSpc>
            </a:pPr>
            <a:r>
              <a:rPr sz="1200" b="1" i="0">
                <a:solidFill>
                  <a:srgbClr val="2B8A3E"/>
                </a:solidFill>
                <a:latin typeface="Calibri"/>
              </a:rPr>
              <a:t>✓</a:t>
            </a:r>
          </a:p>
        </p:txBody>
      </p:sp>
      <p:sp>
        <p:nvSpPr>
          <p:cNvPr id="47" name="TextBox 46"/>
          <p:cNvSpPr txBox="1"/>
          <p:nvPr/>
        </p:nvSpPr>
        <p:spPr>
          <a:xfrm>
            <a:off x="457200" y="358444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LES 3 HYPOTHÈSES, CONFIRMÉES</a:t>
            </a:r>
          </a:p>
        </p:txBody>
      </p:sp>
      <p:sp>
        <p:nvSpPr>
          <p:cNvPr id="48" name="TextBox 47"/>
          <p:cNvSpPr txBox="1"/>
          <p:nvPr/>
        </p:nvSpPr>
        <p:spPr>
          <a:xfrm>
            <a:off x="457200" y="3803904"/>
            <a:ext cx="3977639" cy="237744"/>
          </a:xfrm>
          <a:prstGeom prst="rect">
            <a:avLst/>
          </a:prstGeom>
          <a:noFill/>
        </p:spPr>
        <p:txBody>
          <a:bodyPr wrap="square" anchor="ctr" lIns="45720" rIns="45720" tIns="18288" bIns="18288">
            <a:spAutoFit/>
          </a:bodyPr>
          <a:lstStyle/>
          <a:p>
            <a:pPr algn="l">
              <a:lnSpc>
                <a:spcPct val="100000"/>
              </a:lnSpc>
            </a:pPr>
            <a:r>
              <a:rPr sz="750" b="1" i="0">
                <a:solidFill>
                  <a:srgbClr val="1971C2"/>
                </a:solidFill>
                <a:latin typeface="Calibri"/>
              </a:rPr>
              <a:t>H1  </a:t>
            </a:r>
            <a:r>
              <a:rPr sz="750" b="0" i="0">
                <a:solidFill>
                  <a:srgbClr val="495057"/>
                </a:solidFill>
                <a:latin typeface="Calibri"/>
              </a:rPr>
              <a:t>l’infrastructure en code fiabilise et accélère</a:t>
            </a:r>
          </a:p>
        </p:txBody>
      </p:sp>
      <p:sp>
        <p:nvSpPr>
          <p:cNvPr id="49" name="TextBox 48"/>
          <p:cNvSpPr txBox="1"/>
          <p:nvPr/>
        </p:nvSpPr>
        <p:spPr>
          <a:xfrm>
            <a:off x="457200" y="4059936"/>
            <a:ext cx="3977639" cy="237744"/>
          </a:xfrm>
          <a:prstGeom prst="rect">
            <a:avLst/>
          </a:prstGeom>
          <a:noFill/>
        </p:spPr>
        <p:txBody>
          <a:bodyPr wrap="square" anchor="ctr" lIns="45720" rIns="45720" tIns="18288" bIns="18288">
            <a:spAutoFit/>
          </a:bodyPr>
          <a:lstStyle/>
          <a:p>
            <a:pPr algn="l">
              <a:lnSpc>
                <a:spcPct val="100000"/>
              </a:lnSpc>
            </a:pPr>
            <a:r>
              <a:rPr sz="750" b="1" i="0">
                <a:solidFill>
                  <a:srgbClr val="1971C2"/>
                </a:solidFill>
                <a:latin typeface="Calibri"/>
              </a:rPr>
              <a:t>H2  </a:t>
            </a:r>
            <a:r>
              <a:rPr sz="750" b="0" i="0">
                <a:solidFill>
                  <a:srgbClr val="495057"/>
                </a:solidFill>
                <a:latin typeface="Calibri"/>
              </a:rPr>
              <a:t>un orchestrateur proportionné suffit, à coût moindre</a:t>
            </a:r>
          </a:p>
        </p:txBody>
      </p:sp>
      <p:sp>
        <p:nvSpPr>
          <p:cNvPr id="50" name="TextBox 49"/>
          <p:cNvSpPr txBox="1"/>
          <p:nvPr/>
        </p:nvSpPr>
        <p:spPr>
          <a:xfrm>
            <a:off x="457200" y="4315968"/>
            <a:ext cx="3977639" cy="237744"/>
          </a:xfrm>
          <a:prstGeom prst="rect">
            <a:avLst/>
          </a:prstGeom>
          <a:noFill/>
        </p:spPr>
        <p:txBody>
          <a:bodyPr wrap="square" anchor="ctr" lIns="45720" rIns="45720" tIns="18288" bIns="18288">
            <a:spAutoFit/>
          </a:bodyPr>
          <a:lstStyle/>
          <a:p>
            <a:pPr algn="l">
              <a:lnSpc>
                <a:spcPct val="100000"/>
              </a:lnSpc>
            </a:pPr>
            <a:r>
              <a:rPr sz="750" b="1" i="0">
                <a:solidFill>
                  <a:srgbClr val="1971C2"/>
                </a:solidFill>
                <a:latin typeface="Calibri"/>
              </a:rPr>
              <a:t>H3  </a:t>
            </a:r>
            <a:r>
              <a:rPr sz="750" b="0" i="0">
                <a:solidFill>
                  <a:srgbClr val="495057"/>
                </a:solidFill>
                <a:latin typeface="Calibri"/>
              </a:rPr>
              <a:t>l’énergie estimée suffit à piloter la sobriété</a:t>
            </a:r>
          </a:p>
        </p:txBody>
      </p:sp>
      <p:sp>
        <p:nvSpPr>
          <p:cNvPr id="51" name="TextBox 50"/>
          <p:cNvSpPr txBox="1"/>
          <p:nvPr/>
        </p:nvSpPr>
        <p:spPr>
          <a:xfrm>
            <a:off x="4709160" y="120700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2B8A3E"/>
                </a:solidFill>
                <a:latin typeface="Calibri"/>
              </a:rPr>
              <a:t>CE QUI A BIEN FONCTIONNÉ</a:t>
            </a:r>
          </a:p>
        </p:txBody>
      </p:sp>
      <p:sp>
        <p:nvSpPr>
          <p:cNvPr id="52" name="Rounded Rectangle 51"/>
          <p:cNvSpPr/>
          <p:nvPr/>
        </p:nvSpPr>
        <p:spPr>
          <a:xfrm>
            <a:off x="4709160" y="1408176"/>
            <a:ext cx="3977639" cy="402336"/>
          </a:xfrm>
          <a:prstGeom prst="roundRect">
            <a:avLst>
              <a:gd name="adj" fmla="val 1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64608" y="1408176"/>
            <a:ext cx="3703320" cy="402336"/>
          </a:xfrm>
          <a:prstGeom prst="rect">
            <a:avLst/>
          </a:prstGeom>
          <a:noFill/>
        </p:spPr>
        <p:txBody>
          <a:bodyPr wrap="square" anchor="ctr" lIns="45720" rIns="45720" tIns="18288" bIns="18288">
            <a:spAutoFit/>
          </a:bodyPr>
          <a:lstStyle/>
          <a:p>
            <a:pPr algn="l">
              <a:lnSpc>
                <a:spcPct val="98000"/>
              </a:lnSpc>
            </a:pPr>
            <a:r>
              <a:rPr sz="800" b="1" i="0">
                <a:solidFill>
                  <a:srgbClr val="2B8A3E"/>
                </a:solidFill>
                <a:latin typeface="Calibri"/>
              </a:rPr>
              <a:t>Cohérence de la chaîne  </a:t>
            </a:r>
            <a:r>
              <a:rPr sz="750" b="0" i="0">
                <a:solidFill>
                  <a:srgbClr val="495057"/>
                </a:solidFill>
                <a:latin typeface="Calibri"/>
              </a:rPr>
              <a:t>de la déclaration à l’observation, tout est versionné</a:t>
            </a:r>
          </a:p>
        </p:txBody>
      </p:sp>
      <p:sp>
        <p:nvSpPr>
          <p:cNvPr id="54" name="Rounded Rectangle 53"/>
          <p:cNvSpPr/>
          <p:nvPr/>
        </p:nvSpPr>
        <p:spPr>
          <a:xfrm>
            <a:off x="4709160" y="1865376"/>
            <a:ext cx="3977639" cy="402336"/>
          </a:xfrm>
          <a:prstGeom prst="roundRect">
            <a:avLst>
              <a:gd name="adj" fmla="val 1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864608" y="1865376"/>
            <a:ext cx="3703320" cy="402336"/>
          </a:xfrm>
          <a:prstGeom prst="rect">
            <a:avLst/>
          </a:prstGeom>
          <a:noFill/>
        </p:spPr>
        <p:txBody>
          <a:bodyPr wrap="square" anchor="ctr" lIns="45720" rIns="45720" tIns="18288" bIns="18288">
            <a:spAutoFit/>
          </a:bodyPr>
          <a:lstStyle/>
          <a:p>
            <a:pPr algn="l">
              <a:lnSpc>
                <a:spcPct val="98000"/>
              </a:lnSpc>
            </a:pPr>
            <a:r>
              <a:rPr sz="800" b="1" i="0">
                <a:solidFill>
                  <a:srgbClr val="2B8A3E"/>
                </a:solidFill>
                <a:latin typeface="Calibri"/>
              </a:rPr>
              <a:t>Sécurité intégrée tôt  </a:t>
            </a:r>
            <a:r>
              <a:rPr sz="750" b="0" i="0">
                <a:solidFill>
                  <a:srgbClr val="495057"/>
                </a:solidFill>
                <a:latin typeface="Calibri"/>
              </a:rPr>
              <a:t>portes dès le premier commit, pas en fin de projet</a:t>
            </a:r>
          </a:p>
        </p:txBody>
      </p:sp>
      <p:sp>
        <p:nvSpPr>
          <p:cNvPr id="56" name="Rounded Rectangle 55"/>
          <p:cNvSpPr/>
          <p:nvPr/>
        </p:nvSpPr>
        <p:spPr>
          <a:xfrm>
            <a:off x="4709160" y="2322576"/>
            <a:ext cx="3977639" cy="402336"/>
          </a:xfrm>
          <a:prstGeom prst="roundRect">
            <a:avLst>
              <a:gd name="adj" fmla="val 10000"/>
            </a:avLst>
          </a:prstGeom>
          <a:solidFill>
            <a:srgbClr val="EA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864608" y="2322576"/>
            <a:ext cx="3703320" cy="402336"/>
          </a:xfrm>
          <a:prstGeom prst="rect">
            <a:avLst/>
          </a:prstGeom>
          <a:noFill/>
        </p:spPr>
        <p:txBody>
          <a:bodyPr wrap="square" anchor="ctr" lIns="45720" rIns="45720" tIns="18288" bIns="18288">
            <a:spAutoFit/>
          </a:bodyPr>
          <a:lstStyle/>
          <a:p>
            <a:pPr algn="l">
              <a:lnSpc>
                <a:spcPct val="98000"/>
              </a:lnSpc>
            </a:pPr>
            <a:r>
              <a:rPr sz="800" b="1" i="0">
                <a:solidFill>
                  <a:srgbClr val="2B8A3E"/>
                </a:solidFill>
                <a:latin typeface="Calibri"/>
              </a:rPr>
              <a:t>Supervision énergétique  </a:t>
            </a:r>
            <a:r>
              <a:rPr sz="750" b="0" i="0">
                <a:solidFill>
                  <a:srgbClr val="495057"/>
                </a:solidFill>
                <a:latin typeface="Calibri"/>
              </a:rPr>
              <a:t>rare à cette échelle, et opérationnelle</a:t>
            </a:r>
          </a:p>
        </p:txBody>
      </p:sp>
      <p:sp>
        <p:nvSpPr>
          <p:cNvPr id="58" name="TextBox 57"/>
          <p:cNvSpPr txBox="1"/>
          <p:nvPr/>
        </p:nvSpPr>
        <p:spPr>
          <a:xfrm>
            <a:off x="4709160" y="2852928"/>
            <a:ext cx="3977639" cy="182880"/>
          </a:xfrm>
          <a:prstGeom prst="rect">
            <a:avLst/>
          </a:prstGeom>
          <a:noFill/>
        </p:spPr>
        <p:txBody>
          <a:bodyPr wrap="square" anchor="t" lIns="45720" rIns="45720" tIns="18288" bIns="18288">
            <a:spAutoFit/>
          </a:bodyPr>
          <a:lstStyle/>
          <a:p>
            <a:pPr algn="l">
              <a:lnSpc>
                <a:spcPct val="100000"/>
              </a:lnSpc>
            </a:pPr>
            <a:r>
              <a:rPr sz="750" b="1" i="0">
                <a:solidFill>
                  <a:srgbClr val="96590A"/>
                </a:solidFill>
                <a:latin typeface="Calibri"/>
              </a:rPr>
              <a:t>CE QUI RESTE À FAIRE, NOMMÉ ET CHIFFRÉ</a:t>
            </a:r>
          </a:p>
        </p:txBody>
      </p:sp>
      <p:sp>
        <p:nvSpPr>
          <p:cNvPr id="59" name="Rounded Rectangle 58"/>
          <p:cNvSpPr/>
          <p:nvPr/>
        </p:nvSpPr>
        <p:spPr>
          <a:xfrm>
            <a:off x="4709160" y="3054096"/>
            <a:ext cx="3977639" cy="329184"/>
          </a:xfrm>
          <a:prstGeom prst="roundRect">
            <a:avLst>
              <a:gd name="adj" fmla="val 10000"/>
            </a:avLst>
          </a:prstGeom>
          <a:solidFill>
            <a:srgbClr val="FE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64608" y="3054096"/>
            <a:ext cx="3703320" cy="329184"/>
          </a:xfrm>
          <a:prstGeom prst="rect">
            <a:avLst/>
          </a:prstGeom>
          <a:noFill/>
        </p:spPr>
        <p:txBody>
          <a:bodyPr wrap="square" anchor="ctr" lIns="45720" rIns="45720" tIns="18288" bIns="18288">
            <a:spAutoFit/>
          </a:bodyPr>
          <a:lstStyle/>
          <a:p>
            <a:pPr algn="l">
              <a:lnSpc>
                <a:spcPct val="98000"/>
              </a:lnSpc>
            </a:pPr>
            <a:r>
              <a:rPr sz="800" b="1" i="0">
                <a:solidFill>
                  <a:srgbClr val="96590A"/>
                </a:solidFill>
                <a:latin typeface="Calibri"/>
              </a:rPr>
              <a:t>Nœud proxy unique  </a:t>
            </a:r>
            <a:r>
              <a:rPr sz="750" b="0" i="0">
                <a:solidFill>
                  <a:srgbClr val="495057"/>
                </a:solidFill>
                <a:latin typeface="Calibri"/>
              </a:rPr>
              <a:t>haute disponibilité au palier suivant</a:t>
            </a:r>
          </a:p>
        </p:txBody>
      </p:sp>
      <p:sp>
        <p:nvSpPr>
          <p:cNvPr id="61" name="Rounded Rectangle 60"/>
          <p:cNvSpPr/>
          <p:nvPr/>
        </p:nvSpPr>
        <p:spPr>
          <a:xfrm>
            <a:off x="4709160" y="3438144"/>
            <a:ext cx="3977639" cy="329184"/>
          </a:xfrm>
          <a:prstGeom prst="roundRect">
            <a:avLst>
              <a:gd name="adj" fmla="val 10000"/>
            </a:avLst>
          </a:prstGeom>
          <a:solidFill>
            <a:srgbClr val="FE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64608" y="3438144"/>
            <a:ext cx="3703320" cy="329184"/>
          </a:xfrm>
          <a:prstGeom prst="rect">
            <a:avLst/>
          </a:prstGeom>
          <a:noFill/>
        </p:spPr>
        <p:txBody>
          <a:bodyPr wrap="square" anchor="ctr" lIns="45720" rIns="45720" tIns="18288" bIns="18288">
            <a:spAutoFit/>
          </a:bodyPr>
          <a:lstStyle/>
          <a:p>
            <a:pPr algn="l">
              <a:lnSpc>
                <a:spcPct val="98000"/>
              </a:lnSpc>
            </a:pPr>
            <a:r>
              <a:rPr sz="800" b="1" i="0">
                <a:solidFill>
                  <a:srgbClr val="96590A"/>
                </a:solidFill>
                <a:latin typeface="Calibri"/>
              </a:rPr>
              <a:t>Estimation, pas mesure  </a:t>
            </a:r>
            <a:r>
              <a:rPr sz="750" b="0" i="0">
                <a:solidFill>
                  <a:srgbClr val="495057"/>
                </a:solidFill>
                <a:latin typeface="Calibri"/>
              </a:rPr>
              <a:t>RAPL en bare-metal pour affiner</a:t>
            </a:r>
          </a:p>
        </p:txBody>
      </p:sp>
      <p:sp>
        <p:nvSpPr>
          <p:cNvPr id="63" name="Rounded Rectangle 62"/>
          <p:cNvSpPr/>
          <p:nvPr/>
        </p:nvSpPr>
        <p:spPr>
          <a:xfrm>
            <a:off x="4709160" y="3822191"/>
            <a:ext cx="3977639" cy="329184"/>
          </a:xfrm>
          <a:prstGeom prst="roundRect">
            <a:avLst>
              <a:gd name="adj" fmla="val 10000"/>
            </a:avLst>
          </a:prstGeom>
          <a:solidFill>
            <a:srgbClr val="FE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864608" y="3822191"/>
            <a:ext cx="3703320" cy="329184"/>
          </a:xfrm>
          <a:prstGeom prst="rect">
            <a:avLst/>
          </a:prstGeom>
          <a:noFill/>
        </p:spPr>
        <p:txBody>
          <a:bodyPr wrap="square" anchor="ctr" lIns="45720" rIns="45720" tIns="18288" bIns="18288">
            <a:spAutoFit/>
          </a:bodyPr>
          <a:lstStyle/>
          <a:p>
            <a:pPr algn="l">
              <a:lnSpc>
                <a:spcPct val="98000"/>
              </a:lnSpc>
            </a:pPr>
            <a:r>
              <a:rPr sz="800" b="1" i="0">
                <a:solidFill>
                  <a:srgbClr val="96590A"/>
                </a:solidFill>
                <a:latin typeface="Calibri"/>
              </a:rPr>
              <a:t>Escalade des alertes  </a:t>
            </a:r>
            <a:r>
              <a:rPr sz="750" b="0" i="0">
                <a:solidFill>
                  <a:srgbClr val="495057"/>
                </a:solidFill>
                <a:latin typeface="Calibri"/>
              </a:rPr>
              <a:t>canaux à enrichir</a:t>
            </a:r>
          </a:p>
        </p:txBody>
      </p:sp>
      <p:sp>
        <p:nvSpPr>
          <p:cNvPr id="65" name="Rounded Rectangle 64"/>
          <p:cNvSpPr/>
          <p:nvPr/>
        </p:nvSpPr>
        <p:spPr>
          <a:xfrm>
            <a:off x="4709160" y="4224528"/>
            <a:ext cx="3977639" cy="512064"/>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709160" y="4224528"/>
            <a:ext cx="64008" cy="512064"/>
          </a:xfrm>
          <a:prstGeom prst="rect">
            <a:avLst/>
          </a:prstGeom>
          <a:solidFill>
            <a:srgbClr val="C9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55464" y="4306824"/>
            <a:ext cx="3685031" cy="365760"/>
          </a:xfrm>
          <a:prstGeom prst="rect">
            <a:avLst/>
          </a:prstGeom>
          <a:noFill/>
        </p:spPr>
        <p:txBody>
          <a:bodyPr wrap="square" anchor="t" lIns="45720" rIns="45720" tIns="18288" bIns="18288">
            <a:spAutoFit/>
          </a:bodyPr>
          <a:lstStyle/>
          <a:p>
            <a:pPr algn="l">
              <a:lnSpc>
                <a:spcPct val="105000"/>
              </a:lnSpc>
              <a:spcAft>
                <a:spcPts val="200"/>
              </a:spcAft>
            </a:pPr>
            <a:r>
              <a:rPr sz="850" b="1" i="0">
                <a:solidFill>
                  <a:srgbClr val="C92A2A"/>
                </a:solidFill>
                <a:latin typeface="Calibri"/>
              </a:rPr>
              <a:t>Réserve assumée  </a:t>
            </a:r>
          </a:p>
          <a:p>
            <a:pPr algn="l">
              <a:lnSpc>
                <a:spcPct val="105000"/>
              </a:lnSpc>
              <a:spcAft>
                <a:spcPts val="200"/>
              </a:spcAft>
            </a:pPr>
            <a:r>
              <a:rPr sz="800" b="0" i="0">
                <a:solidFill>
                  <a:srgbClr val="495057"/>
                </a:solidFill>
                <a:latin typeface="Calibri"/>
              </a:rPr>
              <a:t>résultats établis en conditions de validation, pas sous charge réelle prolongée.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14630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97196"/>
            <a:ext cx="9144000" cy="146304"/>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7" name="TextBox 6"/>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8" name="Rounded Rectangle 7"/>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10" name="TextBox 9"/>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11" name="TextBox 10"/>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29 / 30</a:t>
            </a:r>
          </a:p>
        </p:txBody>
      </p:sp>
      <p:sp>
        <p:nvSpPr>
          <p:cNvPr id="12" name="TextBox 11"/>
          <p:cNvSpPr txBox="1"/>
          <p:nvPr/>
        </p:nvSpPr>
        <p:spPr>
          <a:xfrm>
            <a:off x="457200" y="384048"/>
            <a:ext cx="6400800" cy="256032"/>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6 · RÉSULTATS ET CONCLUSION</a:t>
            </a:r>
          </a:p>
        </p:txBody>
      </p:sp>
      <p:sp>
        <p:nvSpPr>
          <p:cNvPr id="13" name="TextBox 12"/>
          <p:cNvSpPr txBox="1"/>
          <p:nvPr/>
        </p:nvSpPr>
        <p:spPr>
          <a:xfrm>
            <a:off x="457200" y="603504"/>
            <a:ext cx="7315200" cy="47548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Conclusion</a:t>
            </a:r>
          </a:p>
        </p:txBody>
      </p:sp>
      <p:sp>
        <p:nvSpPr>
          <p:cNvPr id="14" name="Rectangle 13"/>
          <p:cNvSpPr/>
          <p:nvPr/>
        </p:nvSpPr>
        <p:spPr>
          <a:xfrm>
            <a:off x="475488" y="1170432"/>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57200" y="1316736"/>
            <a:ext cx="8229600" cy="402336"/>
          </a:xfrm>
          <a:prstGeom prst="roundRect">
            <a:avLst>
              <a:gd name="adj" fmla="val 10000"/>
            </a:avLst>
          </a:prstGeom>
          <a:solidFill>
            <a:srgbClr val="E1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1316736"/>
            <a:ext cx="7863840" cy="402336"/>
          </a:xfrm>
          <a:prstGeom prst="rect">
            <a:avLst/>
          </a:prstGeom>
          <a:noFill/>
        </p:spPr>
        <p:txBody>
          <a:bodyPr wrap="square" anchor="ctr" lIns="45720" rIns="45720" tIns="18288" bIns="18288">
            <a:spAutoFit/>
          </a:bodyPr>
          <a:lstStyle/>
          <a:p>
            <a:pPr algn="l">
              <a:lnSpc>
                <a:spcPct val="100000"/>
              </a:lnSpc>
            </a:pPr>
            <a:r>
              <a:rPr sz="1050" b="1" i="0">
                <a:solidFill>
                  <a:srgbClr val="212529"/>
                </a:solidFill>
                <a:latin typeface="Calibri"/>
              </a:rPr>
              <a:t>Les six exigences peuvent tenir ensemble.   </a:t>
            </a:r>
            <a:r>
              <a:rPr sz="1200" b="1" i="0">
                <a:solidFill>
                  <a:srgbClr val="2B8A3E"/>
                </a:solidFill>
                <a:latin typeface="Calibri"/>
              </a:rPr>
              <a:t>Oui, à trois conditions.</a:t>
            </a:r>
          </a:p>
        </p:txBody>
      </p:sp>
      <p:sp>
        <p:nvSpPr>
          <p:cNvPr id="17" name="TextBox 16"/>
          <p:cNvSpPr txBox="1"/>
          <p:nvPr/>
        </p:nvSpPr>
        <p:spPr>
          <a:xfrm>
            <a:off x="457200" y="1810512"/>
            <a:ext cx="4663440" cy="201168"/>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LES SIX EXIGENCES DE LA QUESTION, UNE PAR UNE</a:t>
            </a:r>
          </a:p>
        </p:txBody>
      </p:sp>
      <p:sp>
        <p:nvSpPr>
          <p:cNvPr id="18" name="Rounded Rectangle 17"/>
          <p:cNvSpPr/>
          <p:nvPr/>
        </p:nvSpPr>
        <p:spPr>
          <a:xfrm>
            <a:off x="457200" y="2011680"/>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011680"/>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2011680"/>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Automatisation</a:t>
            </a:r>
          </a:p>
        </p:txBody>
      </p:sp>
      <p:sp>
        <p:nvSpPr>
          <p:cNvPr id="21" name="TextBox 20"/>
          <p:cNvSpPr txBox="1"/>
          <p:nvPr/>
        </p:nvSpPr>
        <p:spPr>
          <a:xfrm>
            <a:off x="2029968" y="2011680"/>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tout décrit en code, zéro geste manuel</a:t>
            </a:r>
          </a:p>
        </p:txBody>
      </p:sp>
      <p:sp>
        <p:nvSpPr>
          <p:cNvPr id="22" name="TextBox 21"/>
          <p:cNvSpPr txBox="1"/>
          <p:nvPr/>
        </p:nvSpPr>
        <p:spPr>
          <a:xfrm>
            <a:off x="4517136" y="2011680"/>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20</a:t>
            </a:r>
          </a:p>
        </p:txBody>
      </p:sp>
      <p:sp>
        <p:nvSpPr>
          <p:cNvPr id="23" name="Rounded Rectangle 22"/>
          <p:cNvSpPr/>
          <p:nvPr/>
        </p:nvSpPr>
        <p:spPr>
          <a:xfrm>
            <a:off x="457200" y="2359152"/>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2359152"/>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359152"/>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Sécurité</a:t>
            </a:r>
          </a:p>
        </p:txBody>
      </p:sp>
      <p:sp>
        <p:nvSpPr>
          <p:cNvPr id="26" name="TextBox 25"/>
          <p:cNvSpPr txBox="1"/>
          <p:nvPr/>
        </p:nvSpPr>
        <p:spPr>
          <a:xfrm>
            <a:off x="2029968" y="2359152"/>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4 portes bloquantes, défense en profondeur</a:t>
            </a:r>
          </a:p>
        </p:txBody>
      </p:sp>
      <p:sp>
        <p:nvSpPr>
          <p:cNvPr id="27" name="TextBox 26"/>
          <p:cNvSpPr txBox="1"/>
          <p:nvPr/>
        </p:nvSpPr>
        <p:spPr>
          <a:xfrm>
            <a:off x="4517136" y="2359152"/>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21 · 27</a:t>
            </a:r>
          </a:p>
        </p:txBody>
      </p:sp>
      <p:sp>
        <p:nvSpPr>
          <p:cNvPr id="28" name="Rounded Rectangle 27"/>
          <p:cNvSpPr/>
          <p:nvPr/>
        </p:nvSpPr>
        <p:spPr>
          <a:xfrm>
            <a:off x="457200" y="2706624"/>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2706624"/>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2706624"/>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Éco-responsabilité</a:t>
            </a:r>
          </a:p>
        </p:txBody>
      </p:sp>
      <p:sp>
        <p:nvSpPr>
          <p:cNvPr id="31" name="TextBox 30"/>
          <p:cNvSpPr txBox="1"/>
          <p:nvPr/>
        </p:nvSpPr>
        <p:spPr>
          <a:xfrm>
            <a:off x="2029968" y="2706624"/>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énergie estimée, alertée, optimisée par IA</a:t>
            </a:r>
          </a:p>
        </p:txBody>
      </p:sp>
      <p:sp>
        <p:nvSpPr>
          <p:cNvPr id="32" name="TextBox 31"/>
          <p:cNvSpPr txBox="1"/>
          <p:nvPr/>
        </p:nvSpPr>
        <p:spPr>
          <a:xfrm>
            <a:off x="4517136" y="2706624"/>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24</a:t>
            </a:r>
          </a:p>
        </p:txBody>
      </p:sp>
      <p:sp>
        <p:nvSpPr>
          <p:cNvPr id="33" name="Rounded Rectangle 32"/>
          <p:cNvSpPr/>
          <p:nvPr/>
        </p:nvSpPr>
        <p:spPr>
          <a:xfrm>
            <a:off x="457200" y="3054096"/>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57200" y="3054096"/>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 y="3054096"/>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Qualité</a:t>
            </a:r>
          </a:p>
        </p:txBody>
      </p:sp>
      <p:sp>
        <p:nvSpPr>
          <p:cNvPr id="36" name="TextBox 35"/>
          <p:cNvSpPr txBox="1"/>
          <p:nvPr/>
        </p:nvSpPr>
        <p:spPr>
          <a:xfrm>
            <a:off x="2029968" y="3054096"/>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218 tests en porte de fusion, zéro échec</a:t>
            </a:r>
          </a:p>
        </p:txBody>
      </p:sp>
      <p:sp>
        <p:nvSpPr>
          <p:cNvPr id="37" name="TextBox 36"/>
          <p:cNvSpPr txBox="1"/>
          <p:nvPr/>
        </p:nvSpPr>
        <p:spPr>
          <a:xfrm>
            <a:off x="4517136" y="3054096"/>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18</a:t>
            </a:r>
          </a:p>
        </p:txBody>
      </p:sp>
      <p:sp>
        <p:nvSpPr>
          <p:cNvPr id="38" name="Rounded Rectangle 37"/>
          <p:cNvSpPr/>
          <p:nvPr/>
        </p:nvSpPr>
        <p:spPr>
          <a:xfrm>
            <a:off x="457200" y="3401568"/>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3401568"/>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 y="3401568"/>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Observabilité</a:t>
            </a:r>
          </a:p>
        </p:txBody>
      </p:sp>
      <p:sp>
        <p:nvSpPr>
          <p:cNvPr id="41" name="TextBox 40"/>
          <p:cNvSpPr txBox="1"/>
          <p:nvPr/>
        </p:nvSpPr>
        <p:spPr>
          <a:xfrm>
            <a:off x="2029968" y="3401568"/>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10 règles, dérive vue avant l’utilisateur</a:t>
            </a:r>
          </a:p>
        </p:txBody>
      </p:sp>
      <p:sp>
        <p:nvSpPr>
          <p:cNvPr id="42" name="TextBox 41"/>
          <p:cNvSpPr txBox="1"/>
          <p:nvPr/>
        </p:nvSpPr>
        <p:spPr>
          <a:xfrm>
            <a:off x="4517136" y="3401568"/>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23</a:t>
            </a:r>
          </a:p>
        </p:txBody>
      </p:sp>
      <p:sp>
        <p:nvSpPr>
          <p:cNvPr id="43" name="Rounded Rectangle 42"/>
          <p:cNvSpPr/>
          <p:nvPr/>
        </p:nvSpPr>
        <p:spPr>
          <a:xfrm>
            <a:off x="457200" y="3749039"/>
            <a:ext cx="4663440" cy="310896"/>
          </a:xfrm>
          <a:prstGeom prst="roundRect">
            <a:avLst>
              <a:gd name="adj" fmla="val 10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3749039"/>
            <a:ext cx="54864" cy="310896"/>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1792" y="3749039"/>
            <a:ext cx="1371600" cy="310896"/>
          </a:xfrm>
          <a:prstGeom prst="rect">
            <a:avLst/>
          </a:prstGeom>
          <a:noFill/>
        </p:spPr>
        <p:txBody>
          <a:bodyPr wrap="square" anchor="ctr" lIns="45720" rIns="45720" tIns="18288" bIns="18288">
            <a:spAutoFit/>
          </a:bodyPr>
          <a:lstStyle/>
          <a:p>
            <a:pPr algn="l">
              <a:lnSpc>
                <a:spcPct val="98000"/>
              </a:lnSpc>
            </a:pPr>
            <a:r>
              <a:rPr sz="850" b="1" i="0">
                <a:solidFill>
                  <a:srgbClr val="212529"/>
                </a:solidFill>
                <a:latin typeface="Calibri"/>
              </a:rPr>
              <a:t>Maîtrise des coûts</a:t>
            </a:r>
          </a:p>
        </p:txBody>
      </p:sp>
      <p:sp>
        <p:nvSpPr>
          <p:cNvPr id="46" name="TextBox 45"/>
          <p:cNvSpPr txBox="1"/>
          <p:nvPr/>
        </p:nvSpPr>
        <p:spPr>
          <a:xfrm>
            <a:off x="2029968" y="3749039"/>
            <a:ext cx="2487168" cy="310896"/>
          </a:xfrm>
          <a:prstGeom prst="rect">
            <a:avLst/>
          </a:prstGeom>
          <a:noFill/>
        </p:spPr>
        <p:txBody>
          <a:bodyPr wrap="square" anchor="ctr" lIns="45720" rIns="45720" tIns="18288" bIns="18288">
            <a:spAutoFit/>
          </a:bodyPr>
          <a:lstStyle/>
          <a:p>
            <a:pPr algn="l">
              <a:lnSpc>
                <a:spcPct val="98000"/>
              </a:lnSpc>
            </a:pPr>
            <a:r>
              <a:rPr sz="850" b="0" i="0">
                <a:solidFill>
                  <a:srgbClr val="495057"/>
                </a:solidFill>
                <a:latin typeface="Calibri"/>
              </a:rPr>
              <a:t>71 € par mois, budget alerté avant dépassement</a:t>
            </a:r>
          </a:p>
        </p:txBody>
      </p:sp>
      <p:sp>
        <p:nvSpPr>
          <p:cNvPr id="47" name="TextBox 46"/>
          <p:cNvSpPr txBox="1"/>
          <p:nvPr/>
        </p:nvSpPr>
        <p:spPr>
          <a:xfrm>
            <a:off x="4517136" y="3749039"/>
            <a:ext cx="548640" cy="310896"/>
          </a:xfrm>
          <a:prstGeom prst="rect">
            <a:avLst/>
          </a:prstGeom>
          <a:noFill/>
        </p:spPr>
        <p:txBody>
          <a:bodyPr wrap="square" anchor="ctr" lIns="45720" rIns="45720" tIns="18288" bIns="18288">
            <a:spAutoFit/>
          </a:bodyPr>
          <a:lstStyle/>
          <a:p>
            <a:pPr algn="r">
              <a:lnSpc>
                <a:spcPct val="100000"/>
              </a:lnSpc>
            </a:pPr>
            <a:r>
              <a:rPr sz="800" b="1" i="0">
                <a:solidFill>
                  <a:srgbClr val="2B8A3E"/>
                </a:solidFill>
                <a:latin typeface="Calibri"/>
              </a:rPr>
              <a:t>11</a:t>
            </a:r>
          </a:p>
        </p:txBody>
      </p:sp>
      <p:sp>
        <p:nvSpPr>
          <p:cNvPr id="48" name="TextBox 47"/>
          <p:cNvSpPr txBox="1"/>
          <p:nvPr/>
        </p:nvSpPr>
        <p:spPr>
          <a:xfrm>
            <a:off x="5394960" y="1810512"/>
            <a:ext cx="3291840" cy="201168"/>
          </a:xfrm>
          <a:prstGeom prst="rect">
            <a:avLst/>
          </a:prstGeom>
          <a:noFill/>
        </p:spPr>
        <p:txBody>
          <a:bodyPr wrap="square" anchor="t" lIns="45720" rIns="45720" tIns="18288" bIns="18288">
            <a:spAutoFit/>
          </a:bodyPr>
          <a:lstStyle/>
          <a:p>
            <a:pPr algn="l">
              <a:lnSpc>
                <a:spcPct val="100000"/>
              </a:lnSpc>
            </a:pPr>
            <a:r>
              <a:rPr sz="750" b="1" i="0">
                <a:solidFill>
                  <a:srgbClr val="868E96"/>
                </a:solidFill>
                <a:latin typeface="Calibri"/>
              </a:rPr>
              <a:t>LES TROIS CONDITIONS</a:t>
            </a:r>
          </a:p>
        </p:txBody>
      </p:sp>
      <p:sp>
        <p:nvSpPr>
          <p:cNvPr id="49" name="Rounded Rectangle 48"/>
          <p:cNvSpPr/>
          <p:nvPr/>
        </p:nvSpPr>
        <p:spPr>
          <a:xfrm>
            <a:off x="5394960" y="2011680"/>
            <a:ext cx="3291840" cy="62179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394960" y="2011680"/>
            <a:ext cx="64008" cy="6217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77840" y="2057400"/>
            <a:ext cx="3017520" cy="585216"/>
          </a:xfrm>
          <a:prstGeom prst="rect">
            <a:avLst/>
          </a:prstGeom>
          <a:noFill/>
        </p:spPr>
        <p:txBody>
          <a:bodyPr wrap="square" anchor="t" lIns="45720" rIns="45720" tIns="18288" bIns="18288">
            <a:spAutoFit/>
          </a:bodyPr>
          <a:lstStyle/>
          <a:p>
            <a:pPr algn="l">
              <a:lnSpc>
                <a:spcPct val="103000"/>
              </a:lnSpc>
              <a:spcAft>
                <a:spcPts val="100"/>
              </a:spcAft>
            </a:pPr>
            <a:r>
              <a:rPr sz="1000" b="1" i="0">
                <a:solidFill>
                  <a:srgbClr val="2B8A3E"/>
                </a:solidFill>
                <a:latin typeface="Calibri"/>
              </a:rPr>
              <a:t>1 · Bout en bout</a:t>
            </a:r>
          </a:p>
          <a:p>
            <a:pPr algn="l">
              <a:lnSpc>
                <a:spcPct val="103000"/>
              </a:lnSpc>
              <a:spcAft>
                <a:spcPts val="100"/>
              </a:spcAft>
            </a:pPr>
            <a:r>
              <a:rPr sz="850" b="0" i="0">
                <a:solidFill>
                  <a:srgbClr val="495057"/>
                </a:solidFill>
                <a:latin typeface="Calibri"/>
              </a:rPr>
              <a:t>un seul maillon manuel suffit à rompre la chaîne</a:t>
            </a:r>
          </a:p>
        </p:txBody>
      </p:sp>
      <p:sp>
        <p:nvSpPr>
          <p:cNvPr id="52" name="Rounded Rectangle 51"/>
          <p:cNvSpPr/>
          <p:nvPr/>
        </p:nvSpPr>
        <p:spPr>
          <a:xfrm>
            <a:off x="5394960" y="2706624"/>
            <a:ext cx="3291840" cy="62179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394960" y="2706624"/>
            <a:ext cx="64008" cy="6217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577840" y="2752344"/>
            <a:ext cx="3017520" cy="585216"/>
          </a:xfrm>
          <a:prstGeom prst="rect">
            <a:avLst/>
          </a:prstGeom>
          <a:noFill/>
        </p:spPr>
        <p:txBody>
          <a:bodyPr wrap="square" anchor="t" lIns="45720" rIns="45720" tIns="18288" bIns="18288">
            <a:spAutoFit/>
          </a:bodyPr>
          <a:lstStyle/>
          <a:p>
            <a:pPr algn="l">
              <a:lnSpc>
                <a:spcPct val="103000"/>
              </a:lnSpc>
              <a:spcAft>
                <a:spcPts val="100"/>
              </a:spcAft>
            </a:pPr>
            <a:r>
              <a:rPr sz="1000" b="1" i="0">
                <a:solidFill>
                  <a:srgbClr val="2B8A3E"/>
                </a:solidFill>
                <a:latin typeface="Calibri"/>
              </a:rPr>
              <a:t>2 · Dès la conception</a:t>
            </a:r>
          </a:p>
          <a:p>
            <a:pPr algn="l">
              <a:lnSpc>
                <a:spcPct val="103000"/>
              </a:lnSpc>
              <a:spcAft>
                <a:spcPts val="100"/>
              </a:spcAft>
            </a:pPr>
            <a:r>
              <a:rPr sz="850" b="0" i="0">
                <a:solidFill>
                  <a:srgbClr val="495057"/>
                </a:solidFill>
                <a:latin typeface="Calibri"/>
              </a:rPr>
              <a:t>sécurité et sobriété intégrées, jamais ajoutées après</a:t>
            </a:r>
          </a:p>
        </p:txBody>
      </p:sp>
      <p:sp>
        <p:nvSpPr>
          <p:cNvPr id="55" name="Rounded Rectangle 54"/>
          <p:cNvSpPr/>
          <p:nvPr/>
        </p:nvSpPr>
        <p:spPr>
          <a:xfrm>
            <a:off x="5394960" y="3401568"/>
            <a:ext cx="3291840" cy="621792"/>
          </a:xfrm>
          <a:prstGeom prst="roundRect">
            <a:avLst>
              <a:gd name="adj" fmla="val 6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394960" y="3401568"/>
            <a:ext cx="64008" cy="6217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577840" y="3447288"/>
            <a:ext cx="3017520" cy="585216"/>
          </a:xfrm>
          <a:prstGeom prst="rect">
            <a:avLst/>
          </a:prstGeom>
          <a:noFill/>
        </p:spPr>
        <p:txBody>
          <a:bodyPr wrap="square" anchor="t" lIns="45720" rIns="45720" tIns="18288" bIns="18288">
            <a:spAutoFit/>
          </a:bodyPr>
          <a:lstStyle/>
          <a:p>
            <a:pPr algn="l">
              <a:lnSpc>
                <a:spcPct val="103000"/>
              </a:lnSpc>
              <a:spcAft>
                <a:spcPts val="100"/>
              </a:spcAft>
            </a:pPr>
            <a:r>
              <a:rPr sz="1000" b="1" i="0">
                <a:solidFill>
                  <a:srgbClr val="2B8A3E"/>
                </a:solidFill>
                <a:latin typeface="Calibri"/>
              </a:rPr>
              <a:t>3 · Pilotable</a:t>
            </a:r>
          </a:p>
          <a:p>
            <a:pPr algn="l">
              <a:lnSpc>
                <a:spcPct val="103000"/>
              </a:lnSpc>
              <a:spcAft>
                <a:spcPts val="100"/>
              </a:spcAft>
            </a:pPr>
            <a:r>
              <a:rPr sz="850" b="0" i="0">
                <a:solidFill>
                  <a:srgbClr val="495057"/>
                </a:solidFill>
                <a:latin typeface="Calibri"/>
              </a:rPr>
              <a:t>l’observabilité rend l’ensemble mesurable, donc arbitrable</a:t>
            </a:r>
          </a:p>
        </p:txBody>
      </p:sp>
      <p:sp>
        <p:nvSpPr>
          <p:cNvPr id="58" name="Rounded Rectangle 57"/>
          <p:cNvSpPr/>
          <p:nvPr/>
        </p:nvSpPr>
        <p:spPr>
          <a:xfrm>
            <a:off x="457200" y="4133087"/>
            <a:ext cx="82296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7200" y="4133087"/>
            <a:ext cx="64008" cy="621792"/>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58368" y="4215383"/>
            <a:ext cx="7882127" cy="475488"/>
          </a:xfrm>
          <a:prstGeom prst="rect">
            <a:avLst/>
          </a:prstGeom>
          <a:noFill/>
        </p:spPr>
        <p:txBody>
          <a:bodyPr wrap="square" anchor="t" lIns="45720" rIns="45720" tIns="18288" bIns="18288">
            <a:spAutoFit/>
          </a:bodyPr>
          <a:lstStyle/>
          <a:p>
            <a:pPr algn="l">
              <a:lnSpc>
                <a:spcPct val="105000"/>
              </a:lnSpc>
              <a:spcAft>
                <a:spcPts val="200"/>
              </a:spcAft>
            </a:pPr>
            <a:r>
              <a:rPr sz="900" b="1" i="0">
                <a:solidFill>
                  <a:srgbClr val="2B8A3E"/>
                </a:solidFill>
                <a:latin typeface="Calibri"/>
              </a:rPr>
              <a:t>Ce que le dossier démontre  </a:t>
            </a:r>
          </a:p>
          <a:p>
            <a:pPr algn="l">
              <a:lnSpc>
                <a:spcPct val="105000"/>
              </a:lnSpc>
              <a:spcAft>
                <a:spcPts val="200"/>
              </a:spcAft>
            </a:pPr>
            <a:r>
              <a:rPr sz="850" b="0" i="0">
                <a:solidFill>
                  <a:srgbClr val="495057"/>
                </a:solidFill>
                <a:latin typeface="Calibri"/>
              </a:rPr>
              <a:t>La responsabilité d’un expert en systèmes d’information n’est pas de produire un logiciel, mais de construire et de maîtriser la chaîne industrielle, sûre et sobre, qui le porte jusqu’à ses utilisateurs.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5143500"/>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269480"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69480"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ÉCOLE</a:t>
            </a:r>
          </a:p>
        </p:txBody>
      </p:sp>
      <p:sp>
        <p:nvSpPr>
          <p:cNvPr id="5" name="TextBox 4"/>
          <p:cNvSpPr txBox="1"/>
          <p:nvPr/>
        </p:nvSpPr>
        <p:spPr>
          <a:xfrm>
            <a:off x="7242048"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La Plateforme</a:t>
            </a:r>
          </a:p>
        </p:txBody>
      </p:sp>
      <p:sp>
        <p:nvSpPr>
          <p:cNvPr id="6" name="Rounded Rectangle 5"/>
          <p:cNvSpPr/>
          <p:nvPr/>
        </p:nvSpPr>
        <p:spPr>
          <a:xfrm>
            <a:off x="8010144" y="128016"/>
            <a:ext cx="676656" cy="384048"/>
          </a:xfrm>
          <a:prstGeom prst="roundRect">
            <a:avLst>
              <a:gd name="adj" fmla="val 14000"/>
            </a:avLst>
          </a:prstGeom>
          <a:solidFill>
            <a:srgbClr val="FFFFFF"/>
          </a:solidFill>
          <a:ln w="12700">
            <a:solidFill>
              <a:srgbClr val="DE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10144" y="173736"/>
            <a:ext cx="676656" cy="109728"/>
          </a:xfrm>
          <a:prstGeom prst="rect">
            <a:avLst/>
          </a:prstGeom>
          <a:noFill/>
        </p:spPr>
        <p:txBody>
          <a:bodyPr wrap="square" anchor="t" lIns="45720" rIns="45720" tIns="18288" bIns="18288">
            <a:spAutoFit/>
          </a:bodyPr>
          <a:lstStyle/>
          <a:p>
            <a:pPr algn="ctr">
              <a:lnSpc>
                <a:spcPct val="100000"/>
              </a:lnSpc>
            </a:pPr>
            <a:r>
              <a:rPr sz="450" b="1" i="0">
                <a:solidFill>
                  <a:srgbClr val="868E96"/>
                </a:solidFill>
                <a:latin typeface="Calibri"/>
              </a:rPr>
              <a:t>ENTREPRISE</a:t>
            </a:r>
          </a:p>
        </p:txBody>
      </p:sp>
      <p:sp>
        <p:nvSpPr>
          <p:cNvPr id="8" name="TextBox 7"/>
          <p:cNvSpPr txBox="1"/>
          <p:nvPr/>
        </p:nvSpPr>
        <p:spPr>
          <a:xfrm>
            <a:off x="7982712" y="278892"/>
            <a:ext cx="731520" cy="182880"/>
          </a:xfrm>
          <a:prstGeom prst="rect">
            <a:avLst/>
          </a:prstGeom>
          <a:noFill/>
        </p:spPr>
        <p:txBody>
          <a:bodyPr wrap="square" anchor="t" lIns="45720" rIns="45720" tIns="18288" bIns="18288">
            <a:spAutoFit/>
          </a:bodyPr>
          <a:lstStyle/>
          <a:p>
            <a:pPr algn="ctr">
              <a:lnSpc>
                <a:spcPct val="100000"/>
              </a:lnSpc>
            </a:pPr>
            <a:r>
              <a:rPr sz="650" b="1" i="0">
                <a:solidFill>
                  <a:srgbClr val="212529"/>
                </a:solidFill>
                <a:latin typeface="Calibri"/>
              </a:rPr>
              <a:t>FDJ United</a:t>
            </a:r>
          </a:p>
        </p:txBody>
      </p:sp>
      <p:sp>
        <p:nvSpPr>
          <p:cNvPr id="9" name="TextBox 8"/>
          <p:cNvSpPr txBox="1"/>
          <p:nvPr/>
        </p:nvSpPr>
        <p:spPr>
          <a:xfrm>
            <a:off x="457200" y="246888"/>
            <a:ext cx="6675120" cy="237744"/>
          </a:xfrm>
          <a:prstGeom prst="rect">
            <a:avLst/>
          </a:prstGeom>
          <a:noFill/>
        </p:spPr>
        <p:txBody>
          <a:bodyPr wrap="square" anchor="t" lIns="45720" rIns="45720" tIns="18288" bIns="18288">
            <a:spAutoFit/>
          </a:bodyPr>
          <a:lstStyle/>
          <a:p>
            <a:pPr algn="l">
              <a:lnSpc>
                <a:spcPct val="100000"/>
              </a:lnSpc>
            </a:pPr>
            <a:r>
              <a:rPr sz="900" b="1" i="0">
                <a:solidFill>
                  <a:srgbClr val="2B8A3E"/>
                </a:solidFill>
                <a:latin typeface="Calibri"/>
              </a:rPr>
              <a:t>6 · RÉSULTATS ET CONCLUSION</a:t>
            </a:r>
          </a:p>
        </p:txBody>
      </p:sp>
      <p:sp>
        <p:nvSpPr>
          <p:cNvPr id="10" name="TextBox 9"/>
          <p:cNvSpPr txBox="1"/>
          <p:nvPr/>
        </p:nvSpPr>
        <p:spPr>
          <a:xfrm>
            <a:off x="457200" y="475488"/>
            <a:ext cx="6720840" cy="566928"/>
          </a:xfrm>
          <a:prstGeom prst="rect">
            <a:avLst/>
          </a:prstGeom>
          <a:noFill/>
        </p:spPr>
        <p:txBody>
          <a:bodyPr wrap="square" anchor="t" lIns="45720" rIns="45720" tIns="18288" bIns="18288">
            <a:spAutoFit/>
          </a:bodyPr>
          <a:lstStyle/>
          <a:p>
            <a:pPr algn="l">
              <a:lnSpc>
                <a:spcPct val="100000"/>
              </a:lnSpc>
            </a:pPr>
            <a:r>
              <a:rPr sz="2400" b="1" i="0">
                <a:solidFill>
                  <a:srgbClr val="212529"/>
                </a:solidFill>
                <a:latin typeface="Calibri"/>
              </a:rPr>
              <a:t>Remerciements</a:t>
            </a:r>
          </a:p>
        </p:txBody>
      </p:sp>
      <p:sp>
        <p:nvSpPr>
          <p:cNvPr id="11" name="Rectangle 10"/>
          <p:cNvSpPr/>
          <p:nvPr/>
        </p:nvSpPr>
        <p:spPr>
          <a:xfrm>
            <a:off x="475488" y="1069848"/>
            <a:ext cx="1051560" cy="41148"/>
          </a:xfrm>
          <a:prstGeom prst="rect">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4832604"/>
            <a:ext cx="1051560" cy="237744"/>
          </a:xfrm>
          <a:prstGeom prst="rect">
            <a:avLst/>
          </a:prstGeom>
          <a:noFill/>
        </p:spPr>
        <p:txBody>
          <a:bodyPr wrap="square" anchor="t" lIns="45720" rIns="45720" tIns="18288" bIns="18288">
            <a:spAutoFit/>
          </a:bodyPr>
          <a:lstStyle/>
          <a:p>
            <a:pPr algn="r">
              <a:lnSpc>
                <a:spcPct val="100000"/>
              </a:lnSpc>
            </a:pPr>
            <a:r>
              <a:rPr sz="850" b="1" i="0">
                <a:solidFill>
                  <a:srgbClr val="868E96"/>
                </a:solidFill>
                <a:latin typeface="Calibri"/>
              </a:rPr>
              <a:t>30 / 30</a:t>
            </a:r>
          </a:p>
        </p:txBody>
      </p:sp>
      <p:sp>
        <p:nvSpPr>
          <p:cNvPr id="13" name="TextBox 12"/>
          <p:cNvSpPr txBox="1"/>
          <p:nvPr/>
        </p:nvSpPr>
        <p:spPr>
          <a:xfrm>
            <a:off x="457200" y="1554480"/>
            <a:ext cx="8229600" cy="1188720"/>
          </a:xfrm>
          <a:prstGeom prst="rect">
            <a:avLst/>
          </a:prstGeom>
          <a:noFill/>
        </p:spPr>
        <p:txBody>
          <a:bodyPr wrap="square" anchor="t" lIns="45720" rIns="45720" tIns="18288" bIns="18288">
            <a:spAutoFit/>
          </a:bodyPr>
          <a:lstStyle/>
          <a:p>
            <a:pPr algn="ctr">
              <a:lnSpc>
                <a:spcPct val="140000"/>
              </a:lnSpc>
            </a:pPr>
            <a:r>
              <a:rPr sz="1200" b="0" i="0">
                <a:solidFill>
                  <a:srgbClr val="495057"/>
                </a:solidFill>
                <a:latin typeface="Calibri"/>
              </a:rPr>
              <a:t>École La Plateforme et Joris VERGULDEZOONE, référent de formation,</a:t>
            </a:r>
          </a:p>
          <a:p>
            <a:pPr algn="ctr">
              <a:lnSpc>
                <a:spcPct val="140000"/>
              </a:lnSpc>
            </a:pPr>
            <a:r>
              <a:rPr sz="1200" b="0" i="0">
                <a:solidFill>
                  <a:srgbClr val="495057"/>
                </a:solidFill>
                <a:latin typeface="Calibri"/>
              </a:rPr>
              <a:t>FDJ United et Philippe AMERIO, référent en entreprise,</a:t>
            </a:r>
          </a:p>
          <a:p>
            <a:pPr algn="ctr">
              <a:lnSpc>
                <a:spcPct val="140000"/>
              </a:lnSpc>
            </a:pPr>
            <a:r>
              <a:rPr sz="1200" b="0" i="0">
                <a:solidFill>
                  <a:srgbClr val="495057"/>
                </a:solidFill>
                <a:latin typeface="Calibri"/>
              </a:rPr>
              <a:t>et toutes les personnes ayant relu, testé et commenté ce travail.</a:t>
            </a:r>
          </a:p>
        </p:txBody>
      </p:sp>
      <p:sp>
        <p:nvSpPr>
          <p:cNvPr id="14" name="Rounded Rectangle 13"/>
          <p:cNvSpPr/>
          <p:nvPr/>
        </p:nvSpPr>
        <p:spPr>
          <a:xfrm>
            <a:off x="2468880" y="3017520"/>
            <a:ext cx="4206240" cy="914400"/>
          </a:xfrm>
          <a:prstGeom prst="roundRect">
            <a:avLst>
              <a:gd name="adj" fmla="val 6000"/>
            </a:avLst>
          </a:prstGeom>
          <a:solidFill>
            <a:srgbClr val="2B8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3017520"/>
            <a:ext cx="4206240" cy="914400"/>
          </a:xfrm>
          <a:prstGeom prst="rect">
            <a:avLst/>
          </a:prstGeom>
          <a:noFill/>
        </p:spPr>
        <p:txBody>
          <a:bodyPr wrap="square" anchor="ctr" lIns="45720" rIns="45720" tIns="18288" bIns="18288">
            <a:spAutoFit/>
          </a:bodyPr>
          <a:lstStyle/>
          <a:p>
            <a:pPr algn="ctr">
              <a:lnSpc>
                <a:spcPct val="130000"/>
              </a:lnSpc>
            </a:pPr>
            <a:r>
              <a:rPr sz="1500" b="1" i="0">
                <a:solidFill>
                  <a:srgbClr val="FFFFFF"/>
                </a:solidFill>
                <a:latin typeface="Calibri"/>
              </a:rPr>
              <a:t>Merci de votre attention</a:t>
            </a:r>
          </a:p>
          <a:p>
            <a:pPr algn="ctr">
              <a:lnSpc>
                <a:spcPct val="130000"/>
              </a:lnSpc>
            </a:pPr>
            <a:r>
              <a:rPr sz="1200" b="0" i="0">
                <a:solidFill>
                  <a:srgbClr val="A0CAA8"/>
                </a:solidFill>
                <a:latin typeface="Calibri"/>
              </a:rPr>
              <a:t>Avez-vous des questions ?</a:t>
            </a:r>
          </a:p>
        </p:txBody>
      </p:sp>
      <p:sp>
        <p:nvSpPr>
          <p:cNvPr id="16" name="TextBox 15"/>
          <p:cNvSpPr txBox="1"/>
          <p:nvPr/>
        </p:nvSpPr>
        <p:spPr>
          <a:xfrm>
            <a:off x="457200" y="4187952"/>
            <a:ext cx="8229600" cy="256032"/>
          </a:xfrm>
          <a:prstGeom prst="rect">
            <a:avLst/>
          </a:prstGeom>
          <a:noFill/>
        </p:spPr>
        <p:txBody>
          <a:bodyPr wrap="square" anchor="t" lIns="45720" rIns="45720" tIns="18288" bIns="18288">
            <a:spAutoFit/>
          </a:bodyPr>
          <a:lstStyle/>
          <a:p>
            <a:pPr algn="ctr">
              <a:lnSpc>
                <a:spcPct val="100000"/>
              </a:lnSpc>
            </a:pPr>
            <a:r>
              <a:rPr sz="850" b="0" i="0">
                <a:solidFill>
                  <a:srgbClr val="868E96"/>
                </a:solidFill>
                <a:latin typeface="Calibri"/>
              </a:rPr>
              <a:t>github.com/redjem-amir/dropicture   ·   wiki technique dans docs/wiki   ·   32 annexes A → Z dans le mémoire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